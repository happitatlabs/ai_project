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22"/>
  </p:notesMasterIdLst>
  <p:handoutMasterIdLst>
    <p:handoutMasterId r:id="rId23"/>
  </p:handoutMasterIdLst>
  <p:sldIdLst>
    <p:sldId id="585" r:id="rId5"/>
    <p:sldId id="583" r:id="rId6"/>
    <p:sldId id="586" r:id="rId7"/>
    <p:sldId id="671" r:id="rId8"/>
    <p:sldId id="673" r:id="rId9"/>
    <p:sldId id="1678" r:id="rId10"/>
    <p:sldId id="1679" r:id="rId11"/>
    <p:sldId id="1680" r:id="rId12"/>
    <p:sldId id="1681" r:id="rId13"/>
    <p:sldId id="1424" r:id="rId14"/>
    <p:sldId id="1682" r:id="rId15"/>
    <p:sldId id="681" r:id="rId16"/>
    <p:sldId id="1686" r:id="rId17"/>
    <p:sldId id="1455" r:id="rId18"/>
    <p:sldId id="1685" r:id="rId19"/>
    <p:sldId id="1683" r:id="rId20"/>
    <p:sldId id="1684" r:id="rId21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orient="horz" pos="4201" userDrawn="1">
          <p15:clr>
            <a:srgbClr val="A4A3A4"/>
          </p15:clr>
        </p15:guide>
        <p15:guide id="3" orient="horz" pos="527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6" orient="horz" pos="3339">
          <p15:clr>
            <a:srgbClr val="A4A3A4"/>
          </p15:clr>
        </p15:guide>
        <p15:guide id="7" orient="horz" pos="3249" userDrawn="1">
          <p15:clr>
            <a:srgbClr val="A4A3A4"/>
          </p15:clr>
        </p15:guide>
        <p15:guide id="8" pos="3120" userDrawn="1">
          <p15:clr>
            <a:srgbClr val="A4A3A4"/>
          </p15:clr>
        </p15:guide>
        <p15:guide id="13" pos="172" userDrawn="1">
          <p15:clr>
            <a:srgbClr val="A4A3A4"/>
          </p15:clr>
        </p15:guide>
        <p15:guide id="16" pos="5978" userDrawn="1">
          <p15:clr>
            <a:srgbClr val="A4A3A4"/>
          </p15:clr>
        </p15:guide>
        <p15:guide id="18" orient="horz" pos="3158" userDrawn="1">
          <p15:clr>
            <a:srgbClr val="A4A3A4"/>
          </p15:clr>
        </p15:guide>
        <p15:guide id="19" orient="horz" pos="845" userDrawn="1">
          <p15:clr>
            <a:srgbClr val="A4A3A4"/>
          </p15:clr>
        </p15:guide>
        <p15:guide id="20" orient="horz" pos="4065">
          <p15:clr>
            <a:srgbClr val="A4A3A4"/>
          </p15:clr>
        </p15:guide>
        <p15:guide id="23" orient="horz" pos="3430">
          <p15:clr>
            <a:srgbClr val="A4A3A4"/>
          </p15:clr>
        </p15:guide>
        <p15:guide id="24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3058"/>
    <a:srgbClr val="FFFFFF"/>
    <a:srgbClr val="C00000"/>
    <a:srgbClr val="B1CFFC"/>
    <a:srgbClr val="8EACD1"/>
    <a:srgbClr val="508CD2"/>
    <a:srgbClr val="00437A"/>
    <a:srgbClr val="BFBFBF"/>
    <a:srgbClr val="0145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5542" autoAdjust="0"/>
  </p:normalViewPr>
  <p:slideViewPr>
    <p:cSldViewPr>
      <p:cViewPr varScale="1">
        <p:scale>
          <a:sx n="106" d="100"/>
          <a:sy n="106" d="100"/>
        </p:scale>
        <p:origin x="540" y="108"/>
      </p:cViewPr>
      <p:guideLst>
        <p:guide orient="horz" pos="3022"/>
        <p:guide orient="horz" pos="4201"/>
        <p:guide orient="horz" pos="527"/>
        <p:guide orient="horz" pos="3974"/>
        <p:guide orient="horz" pos="3339"/>
        <p:guide orient="horz" pos="3249"/>
        <p:guide pos="3120"/>
        <p:guide pos="172"/>
        <p:guide pos="5978"/>
        <p:guide orient="horz" pos="3158"/>
        <p:guide orient="horz" pos="845"/>
        <p:guide orient="horz" pos="4065"/>
        <p:guide orient="horz" pos="3430"/>
        <p:guide orient="horz" pos="618"/>
      </p:guideLst>
    </p:cSldViewPr>
  </p:slideViewPr>
  <p:outlineViewPr>
    <p:cViewPr>
      <p:scale>
        <a:sx n="33" d="100"/>
        <a:sy n="33" d="100"/>
      </p:scale>
      <p:origin x="0" y="5376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200" d="100"/>
        <a:sy n="200" d="100"/>
      </p:scale>
      <p:origin x="0" y="5006"/>
    </p:cViewPr>
  </p:sorterViewPr>
  <p:notesViewPr>
    <p:cSldViewPr showGuides="1">
      <p:cViewPr varScale="1">
        <p:scale>
          <a:sx n="78" d="100"/>
          <a:sy n="78" d="100"/>
        </p:scale>
        <p:origin x="2934" y="102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997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2024-12-09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997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997" y="0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2024-12-09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90" tIns="45846" rIns="91690" bIns="4584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131" y="4715154"/>
            <a:ext cx="5439415" cy="4466987"/>
          </a:xfrm>
          <a:prstGeom prst="rect">
            <a:avLst/>
          </a:prstGeom>
        </p:spPr>
        <p:txBody>
          <a:bodyPr vert="horz" lIns="91690" tIns="45846" rIns="91690" bIns="45846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997" y="9428716"/>
            <a:ext cx="2946084" cy="496332"/>
          </a:xfrm>
          <a:prstGeom prst="rect">
            <a:avLst/>
          </a:prstGeom>
        </p:spPr>
        <p:txBody>
          <a:bodyPr vert="horz" lIns="91690" tIns="45846" rIns="91690" bIns="45846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90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914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914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3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111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780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862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75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067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914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108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560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772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936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520953" y="0"/>
            <a:ext cx="4994956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7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4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58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58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6536" y="798612"/>
            <a:ext cx="5760640" cy="4525963"/>
          </a:xfrm>
        </p:spPr>
        <p:txBody>
          <a:bodyPr>
            <a:normAutofit/>
          </a:bodyPr>
          <a:lstStyle>
            <a:lvl1pPr marL="400050" indent="-400050">
              <a:lnSpc>
                <a:spcPct val="120000"/>
              </a:lnSpc>
              <a:buFont typeface="+mj-lt"/>
              <a:buAutoNum type="romanUcPeriod"/>
              <a:defRPr sz="1800" b="1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defRPr>
            </a:lvl1pPr>
            <a:lvl2pPr>
              <a:defRPr sz="1800" b="1">
                <a:solidFill>
                  <a:srgbClr val="00B0F0"/>
                </a:solidFill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2" name="그룹 16"/>
          <p:cNvGrpSpPr/>
          <p:nvPr userDrawn="1"/>
        </p:nvGrpSpPr>
        <p:grpSpPr>
          <a:xfrm>
            <a:off x="6824603" y="908720"/>
            <a:ext cx="2187634" cy="1958589"/>
            <a:chOff x="6824603" y="908720"/>
            <a:chExt cx="2187634" cy="1958589"/>
          </a:xfrm>
          <a:solidFill>
            <a:srgbClr val="00437A"/>
          </a:solidFill>
        </p:grpSpPr>
        <p:grpSp>
          <p:nvGrpSpPr>
            <p:cNvPr id="4" name="그룹 17"/>
            <p:cNvGrpSpPr/>
            <p:nvPr/>
          </p:nvGrpSpPr>
          <p:grpSpPr>
            <a:xfrm>
              <a:off x="6825208" y="908720"/>
              <a:ext cx="2187029" cy="230399"/>
              <a:chOff x="7185248" y="1123952"/>
              <a:chExt cx="2187029" cy="230399"/>
            </a:xfrm>
            <a:grpFill/>
          </p:grpSpPr>
          <p:sp>
            <p:nvSpPr>
              <p:cNvPr id="23" name="직사각형 22"/>
              <p:cNvSpPr/>
              <p:nvPr/>
            </p:nvSpPr>
            <p:spPr bwMode="auto">
              <a:xfrm rot="5400000">
                <a:off x="8215185" y="94758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 rot="5400000">
                <a:off x="7139787" y="1178937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 rot="5400000">
                <a:off x="9196865" y="1178938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  <p:grpSp>
          <p:nvGrpSpPr>
            <p:cNvPr id="5" name="그룹 18"/>
            <p:cNvGrpSpPr/>
            <p:nvPr/>
          </p:nvGrpSpPr>
          <p:grpSpPr>
            <a:xfrm>
              <a:off x="6824603" y="2636912"/>
              <a:ext cx="2186617" cy="230397"/>
              <a:chOff x="7184643" y="2780929"/>
              <a:chExt cx="2186617" cy="230397"/>
            </a:xfrm>
            <a:grpFill/>
          </p:grpSpPr>
          <p:sp>
            <p:nvSpPr>
              <p:cNvPr id="20" name="직사각형 19"/>
              <p:cNvSpPr/>
              <p:nvPr/>
            </p:nvSpPr>
            <p:spPr bwMode="auto">
              <a:xfrm rot="16200000">
                <a:off x="8214443" y="1855251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 bwMode="auto">
              <a:xfrm rot="16200000">
                <a:off x="9195848" y="2826391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 bwMode="auto">
              <a:xfrm rot="16200000">
                <a:off x="7139182" y="2826390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084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621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F48F6-0499-4B03-AA7D-07684E6940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2" r:id="rId2"/>
    <p:sldLayoutId id="2147483901" r:id="rId3"/>
    <p:sldLayoutId id="2147483903" r:id="rId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1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dirty="0"/>
              <a:t>개요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rgbClr val="00437A"/>
                </a:solidFill>
              </a:rPr>
              <a:t>1.1 </a:t>
            </a:r>
            <a:r>
              <a:rPr lang="ko-KR" altLang="en-US" dirty="0">
                <a:solidFill>
                  <a:srgbClr val="00437A"/>
                </a:solidFill>
              </a:rPr>
              <a:t>이행계획 수립 개요</a:t>
            </a:r>
            <a:endParaRPr lang="en-US" altLang="ko-KR" dirty="0"/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추진계획 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목표시스템 구성도</a:t>
            </a:r>
            <a:r>
              <a:rPr lang="en-US" altLang="ko-KR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smtClean="0">
                <a:solidFill>
                  <a:srgbClr val="00437A"/>
                </a:solidFill>
              </a:rPr>
              <a:t>Ⅳ. </a:t>
            </a:r>
            <a:r>
              <a:rPr lang="ko-KR" altLang="en-US" sz="2400" b="1" spc="-300" dirty="0">
                <a:solidFill>
                  <a:srgbClr val="00437A"/>
                </a:solidFill>
              </a:rPr>
              <a:t>이행계획 수립</a:t>
            </a:r>
            <a:endParaRPr lang="en-US" altLang="ko-KR" sz="2400" b="1" spc="-300" dirty="0">
              <a:solidFill>
                <a:srgbClr val="0043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4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z="1600" smtClean="0"/>
              <a:t>미래의 최적화 모델을 목표로 </a:t>
            </a:r>
            <a:r>
              <a:rPr lang="en-US" altLang="ko-KR" sz="1600"/>
              <a:t>『 </a:t>
            </a:r>
            <a:r>
              <a:rPr lang="ko-KR" altLang="en-US" sz="1600" smtClean="0"/>
              <a:t>경영정보 </a:t>
            </a:r>
            <a:r>
              <a:rPr lang="ko-KR" altLang="en-US" sz="1600"/>
              <a:t>시스템 </a:t>
            </a:r>
            <a:r>
              <a:rPr lang="ko-KR" altLang="en-US" sz="1600" smtClean="0"/>
              <a:t>개선 </a:t>
            </a:r>
            <a:r>
              <a:rPr lang="en-US" altLang="ko-KR" sz="1600" dirty="0"/>
              <a:t>』</a:t>
            </a:r>
            <a:r>
              <a:rPr lang="ko-KR" altLang="en-US" sz="1600" dirty="0"/>
              <a:t>을 위한 추진 </a:t>
            </a:r>
            <a:r>
              <a:rPr lang="ko-KR" altLang="en-US" sz="1600"/>
              <a:t>로드맵을 </a:t>
            </a:r>
            <a:r>
              <a:rPr lang="ko-KR" altLang="en-US" sz="1600" smtClean="0"/>
              <a:t>수립함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이행계획 수립 </a:t>
            </a:r>
            <a:r>
              <a:rPr lang="ko-KR" altLang="en-US"/>
              <a:t>개요 </a:t>
            </a:r>
            <a:r>
              <a:rPr lang="en-US" altLang="ko-KR" smtClean="0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개요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이행계획 수립 개요</a:t>
            </a:r>
            <a:endParaRPr lang="en-US" altLang="ko-KR" dirty="0"/>
          </a:p>
        </p:txBody>
      </p:sp>
      <p:sp>
        <p:nvSpPr>
          <p:cNvPr id="28" name="직사각형 27"/>
          <p:cNvSpPr/>
          <p:nvPr/>
        </p:nvSpPr>
        <p:spPr bwMode="auto">
          <a:xfrm>
            <a:off x="263515" y="1268759"/>
            <a:ext cx="9252520" cy="343949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이행계획 수립 접근방법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marR="0" lvl="0" indent="-265113" defTabSz="91440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itchFamily="2" charset="2"/>
              <a:buChar char="q"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4" name="Rectangle 50"/>
          <p:cNvSpPr>
            <a:spLocks noChangeArrowheads="1"/>
          </p:cNvSpPr>
          <p:nvPr/>
        </p:nvSpPr>
        <p:spPr bwMode="auto">
          <a:xfrm>
            <a:off x="590367" y="3264094"/>
            <a:ext cx="8721269" cy="2965532"/>
          </a:xfrm>
          <a:prstGeom prst="rect">
            <a:avLst/>
          </a:prstGeom>
          <a:noFill/>
          <a:ln w="76200">
            <a:solidFill>
              <a:srgbClr val="4678B4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lIns="54000" tIns="0" rIns="54000" bIns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자유형 64"/>
          <p:cNvSpPr/>
          <p:nvPr/>
        </p:nvSpPr>
        <p:spPr>
          <a:xfrm>
            <a:off x="590367" y="2725152"/>
            <a:ext cx="8823030" cy="499513"/>
          </a:xfrm>
          <a:custGeom>
            <a:avLst/>
            <a:gdLst>
              <a:gd name="connsiteX0" fmla="*/ 5531223 w 8767482"/>
              <a:gd name="connsiteY0" fmla="*/ 0 h 493059"/>
              <a:gd name="connsiteX1" fmla="*/ 0 w 8767482"/>
              <a:gd name="connsiteY1" fmla="*/ 493059 h 493059"/>
              <a:gd name="connsiteX2" fmla="*/ 8767482 w 8767482"/>
              <a:gd name="connsiteY2" fmla="*/ 493059 h 493059"/>
              <a:gd name="connsiteX3" fmla="*/ 6615953 w 8767482"/>
              <a:gd name="connsiteY3" fmla="*/ 17930 h 493059"/>
              <a:gd name="connsiteX4" fmla="*/ 5531223 w 8767482"/>
              <a:gd name="connsiteY4" fmla="*/ 0 h 493059"/>
              <a:gd name="connsiteX0" fmla="*/ 5531223 w 8767482"/>
              <a:gd name="connsiteY0" fmla="*/ 6454 h 499513"/>
              <a:gd name="connsiteX1" fmla="*/ 0 w 8767482"/>
              <a:gd name="connsiteY1" fmla="*/ 499513 h 499513"/>
              <a:gd name="connsiteX2" fmla="*/ 8767482 w 8767482"/>
              <a:gd name="connsiteY2" fmla="*/ 499513 h 499513"/>
              <a:gd name="connsiteX3" fmla="*/ 7798577 w 8767482"/>
              <a:gd name="connsiteY3" fmla="*/ 0 h 499513"/>
              <a:gd name="connsiteX4" fmla="*/ 5531223 w 8767482"/>
              <a:gd name="connsiteY4" fmla="*/ 6454 h 499513"/>
              <a:gd name="connsiteX0" fmla="*/ 6067671 w 8767482"/>
              <a:gd name="connsiteY0" fmla="*/ 6454 h 499513"/>
              <a:gd name="connsiteX1" fmla="*/ 0 w 8767482"/>
              <a:gd name="connsiteY1" fmla="*/ 499513 h 499513"/>
              <a:gd name="connsiteX2" fmla="*/ 8767482 w 8767482"/>
              <a:gd name="connsiteY2" fmla="*/ 499513 h 499513"/>
              <a:gd name="connsiteX3" fmla="*/ 7798577 w 8767482"/>
              <a:gd name="connsiteY3" fmla="*/ 0 h 499513"/>
              <a:gd name="connsiteX4" fmla="*/ 6067671 w 8767482"/>
              <a:gd name="connsiteY4" fmla="*/ 6454 h 49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67482" h="499513">
                <a:moveTo>
                  <a:pt x="6067671" y="6454"/>
                </a:moveTo>
                <a:lnTo>
                  <a:pt x="0" y="499513"/>
                </a:lnTo>
                <a:lnTo>
                  <a:pt x="8767482" y="499513"/>
                </a:lnTo>
                <a:lnTo>
                  <a:pt x="7798577" y="0"/>
                </a:lnTo>
                <a:lnTo>
                  <a:pt x="6067671" y="6454"/>
                </a:lnTo>
                <a:close/>
              </a:path>
            </a:pathLst>
          </a:custGeom>
          <a:gradFill flip="none" rotWithShape="1">
            <a:gsLst>
              <a:gs pos="0">
                <a:srgbClr val="4678B4">
                  <a:lumMod val="60000"/>
                  <a:lumOff val="40000"/>
                  <a:tint val="66000"/>
                  <a:satMod val="160000"/>
                </a:srgbClr>
              </a:gs>
              <a:gs pos="50000">
                <a:srgbClr val="4678B4">
                  <a:lumMod val="60000"/>
                  <a:lumOff val="40000"/>
                  <a:tint val="44500"/>
                  <a:satMod val="160000"/>
                </a:srgbClr>
              </a:gs>
              <a:gs pos="100000">
                <a:srgbClr val="4678B4">
                  <a:lumMod val="60000"/>
                  <a:lumOff val="40000"/>
                  <a:tint val="23500"/>
                  <a:satMod val="160000"/>
                </a:srgbClr>
              </a:gs>
            </a:gsLst>
            <a:lin ang="5400000" scaled="1"/>
            <a:tileRect/>
          </a:gradFill>
          <a:ln w="6350" cap="flat" cmpd="sng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wrap="square" lIns="54000" tIns="0" rIns="54000" bIns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1640632" y="2075963"/>
            <a:ext cx="6978471" cy="648000"/>
            <a:chOff x="2678599" y="2075963"/>
            <a:chExt cx="4719362" cy="648000"/>
          </a:xfrm>
        </p:grpSpPr>
        <p:sp>
          <p:nvSpPr>
            <p:cNvPr id="67" name="AutoShape 40"/>
            <p:cNvSpPr>
              <a:spLocks noChangeArrowheads="1"/>
            </p:cNvSpPr>
            <p:nvPr/>
          </p:nvSpPr>
          <p:spPr bwMode="auto">
            <a:xfrm>
              <a:off x="2678599" y="2075963"/>
              <a:ext cx="1144384" cy="648000"/>
            </a:xfrm>
            <a:prstGeom prst="homePlate">
              <a:avLst>
                <a:gd name="adj" fmla="val 32238"/>
              </a:avLst>
            </a:prstGeom>
            <a:solidFill>
              <a:sysClr val="window" lastClr="FFFFFF"/>
            </a:solidFill>
            <a:ln w="6350" algn="ctr">
              <a:solidFill>
                <a:sysClr val="windowText" lastClr="000000">
                  <a:lumMod val="65000"/>
                  <a:lumOff val="35000"/>
                </a:sysClr>
              </a:solidFill>
              <a:miter lim="800000"/>
              <a:headEnd/>
              <a:tailEnd/>
            </a:ln>
            <a:effectLst>
              <a:outerShdw blurRad="38100" dist="25400" dir="2700000" algn="tl" rotWithShape="0">
                <a:sysClr val="window" lastClr="FFFFFF">
                  <a:lumMod val="50000"/>
                </a:sysClr>
              </a:outerShdw>
            </a:effectLst>
          </p:spPr>
          <p:txBody>
            <a:bodyPr wrap="none" lIns="72000" tIns="72000" rIns="72000" bIns="72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kern="0" noProof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맑은 고딕" pitchFamily="50" charset="-127"/>
                  <a:ea typeface="맑은 고딕" pitchFamily="50" charset="-127"/>
                </a:rPr>
                <a:t>환경분석</a:t>
              </a:r>
              <a:endPara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8" name="AutoShape 42"/>
            <p:cNvSpPr>
              <a:spLocks noChangeArrowheads="1"/>
            </p:cNvSpPr>
            <p:nvPr/>
          </p:nvSpPr>
          <p:spPr bwMode="auto">
            <a:xfrm>
              <a:off x="4926773" y="2075963"/>
              <a:ext cx="1258023" cy="648000"/>
            </a:xfrm>
            <a:prstGeom prst="chevron">
              <a:avLst>
                <a:gd name="adj" fmla="val 31499"/>
              </a:avLst>
            </a:prstGeom>
            <a:solidFill>
              <a:sysClr val="window" lastClr="FFFFFF"/>
            </a:solidFill>
            <a:ln w="6350" algn="ctr">
              <a:solidFill>
                <a:sysClr val="windowText" lastClr="000000">
                  <a:lumMod val="65000"/>
                  <a:lumOff val="35000"/>
                </a:sysClr>
              </a:solidFill>
              <a:miter lim="800000"/>
              <a:headEnd/>
              <a:tailEnd/>
            </a:ln>
            <a:effectLst>
              <a:outerShdw blurRad="38100" dist="25400" dir="2700000" algn="tl" rotWithShape="0">
                <a:sysClr val="window" lastClr="FFFFFF">
                  <a:lumMod val="50000"/>
                </a:sysClr>
              </a:outerShdw>
            </a:effectLst>
          </p:spPr>
          <p:txBody>
            <a:bodyPr wrap="none" lIns="72000" tIns="72000" rIns="72000" bIns="72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목표모델 설계</a:t>
              </a:r>
            </a:p>
          </p:txBody>
        </p:sp>
        <p:sp>
          <p:nvSpPr>
            <p:cNvPr id="69" name="AutoShape 43"/>
            <p:cNvSpPr>
              <a:spLocks noChangeArrowheads="1"/>
            </p:cNvSpPr>
            <p:nvPr/>
          </p:nvSpPr>
          <p:spPr bwMode="auto">
            <a:xfrm>
              <a:off x="6101961" y="2075963"/>
              <a:ext cx="1296000" cy="648000"/>
            </a:xfrm>
            <a:prstGeom prst="chevron">
              <a:avLst>
                <a:gd name="adj" fmla="val 31461"/>
              </a:avLst>
            </a:prstGeom>
            <a:solidFill>
              <a:srgbClr val="4678B4">
                <a:lumMod val="40000"/>
                <a:lumOff val="60000"/>
              </a:srgbClr>
            </a:solidFill>
            <a:ln w="6350" algn="ctr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sysClr val="windowText" lastClr="000000">
                  <a:lumMod val="50000"/>
                  <a:lumOff val="50000"/>
                </a:sysClr>
              </a:outerShdw>
            </a:effectLst>
          </p:spPr>
          <p:txBody>
            <a:bodyPr wrap="none" lIns="72000" tIns="0" rIns="0" bIns="72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이행계획 수립</a:t>
              </a:r>
            </a:p>
          </p:txBody>
        </p:sp>
        <p:sp>
          <p:nvSpPr>
            <p:cNvPr id="70" name="AutoShape 41"/>
            <p:cNvSpPr>
              <a:spLocks noChangeArrowheads="1"/>
            </p:cNvSpPr>
            <p:nvPr/>
          </p:nvSpPr>
          <p:spPr bwMode="auto">
            <a:xfrm>
              <a:off x="3751587" y="2075963"/>
              <a:ext cx="1246585" cy="648000"/>
            </a:xfrm>
            <a:prstGeom prst="chevron">
              <a:avLst>
                <a:gd name="adj" fmla="val 31384"/>
              </a:avLst>
            </a:prstGeom>
            <a:solidFill>
              <a:sysClr val="window" lastClr="FFFFFF"/>
            </a:solidFill>
            <a:ln w="6350" algn="ctr">
              <a:solidFill>
                <a:sysClr val="windowText" lastClr="000000">
                  <a:lumMod val="65000"/>
                  <a:lumOff val="35000"/>
                </a:sysClr>
              </a:solidFill>
              <a:miter lim="800000"/>
              <a:headEnd/>
              <a:tailEnd/>
            </a:ln>
            <a:effectLst>
              <a:outerShdw blurRad="38100" dist="25400" dir="2700000" algn="tl" rotWithShape="0">
                <a:sysClr val="window" lastClr="FFFFFF">
                  <a:lumMod val="50000"/>
                </a:sysClr>
              </a:outerShdw>
            </a:effectLst>
          </p:spPr>
          <p:txBody>
            <a:bodyPr wrap="none" lIns="72000" tIns="72000" rIns="72000" bIns="72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현황 및</a:t>
              </a:r>
              <a:r>
                <a:rPr kumimoji="0" lang="en-US" altLang="ko-KR" sz="13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요건 분석</a:t>
              </a:r>
            </a:p>
          </p:txBody>
        </p:sp>
      </p:grpSp>
      <p:sp>
        <p:nvSpPr>
          <p:cNvPr id="71" name="Rectangle 51"/>
          <p:cNvSpPr>
            <a:spLocks noChangeArrowheads="1"/>
          </p:cNvSpPr>
          <p:nvPr/>
        </p:nvSpPr>
        <p:spPr bwMode="auto">
          <a:xfrm>
            <a:off x="1256681" y="3732146"/>
            <a:ext cx="1512168" cy="75608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/>
          </a:ln>
          <a:effectLst>
            <a:outerShdw blurRad="50800" dist="25400" dir="2700000" algn="tl" rotWithShape="0">
              <a:sysClr val="windowText" lastClr="000000">
                <a:lumMod val="50000"/>
                <a:lumOff val="50000"/>
              </a:sysClr>
            </a:outerShdw>
          </a:effectLst>
        </p:spPr>
        <p:txBody>
          <a:bodyPr wrap="square" lIns="36000" tIns="36000" rIns="36000" bIns="36000" anchor="ctr" anchorCtr="1"/>
          <a:lstStyle/>
          <a:p>
            <a:pPr lvl="0" algn="ctr" latinLnBrk="0">
              <a:spcBef>
                <a:spcPts val="600"/>
              </a:spcBef>
              <a:defRPr/>
            </a:pPr>
            <a:r>
              <a:rPr lang="ko-KR" altLang="en-US" sz="11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추진계획 수립</a:t>
            </a:r>
          </a:p>
        </p:txBody>
      </p:sp>
      <p:cxnSp>
        <p:nvCxnSpPr>
          <p:cNvPr id="77" name="AutoShape 58"/>
          <p:cNvCxnSpPr>
            <a:cxnSpLocks noChangeShapeType="1"/>
            <a:stCxn id="71" idx="3"/>
            <a:endCxn id="84" idx="1"/>
          </p:cNvCxnSpPr>
          <p:nvPr/>
        </p:nvCxnSpPr>
        <p:spPr bwMode="auto">
          <a:xfrm>
            <a:off x="2768849" y="4110188"/>
            <a:ext cx="4272383" cy="0"/>
          </a:xfrm>
          <a:prstGeom prst="straightConnector1">
            <a:avLst/>
          </a:prstGeom>
          <a:noFill/>
          <a:ln w="6350">
            <a:solidFill>
              <a:sysClr val="windowText" lastClr="000000">
                <a:lumMod val="65000"/>
                <a:lumOff val="35000"/>
              </a:sysClr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83" name="AutoShape 64"/>
          <p:cNvSpPr>
            <a:spLocks noChangeArrowheads="1"/>
          </p:cNvSpPr>
          <p:nvPr/>
        </p:nvSpPr>
        <p:spPr bwMode="auto">
          <a:xfrm>
            <a:off x="1256681" y="4884274"/>
            <a:ext cx="1548004" cy="864096"/>
          </a:xfrm>
          <a:prstGeom prst="wedgeRectCallout">
            <a:avLst>
              <a:gd name="adj1" fmla="val 19640"/>
              <a:gd name="adj2" fmla="val -97078"/>
            </a:avLst>
          </a:prstGeom>
          <a:solidFill>
            <a:sysClr val="window" lastClr="FFFFFF"/>
          </a:solidFill>
          <a:ln w="63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/>
          </a:ln>
          <a:effectLst/>
        </p:spPr>
        <p:txBody>
          <a:bodyPr lIns="54000" tIns="36000" rIns="54000" bIns="36000" anchor="ctr"/>
          <a:lstStyle/>
          <a:p>
            <a:pPr lvl="0" latinLnBrk="0">
              <a:spcBef>
                <a:spcPts val="600"/>
              </a:spcBef>
              <a:buClr>
                <a:sysClr val="windowText" lastClr="000000"/>
              </a:buClr>
              <a:buSzPct val="80000"/>
              <a:defRPr/>
            </a:pPr>
            <a:r>
              <a:rPr lang="ko-KR" altLang="en-US" sz="900" b="1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맑은 고딕" pitchFamily="50" charset="-127"/>
                <a:ea typeface="맑은 고딕" pitchFamily="50" charset="-127"/>
              </a:rPr>
              <a:t>개선을 위한 부문별</a:t>
            </a:r>
            <a:r>
              <a:rPr lang="en-US" altLang="ko-KR" sz="900" b="1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900" b="1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맑은 고딕" pitchFamily="50" charset="-127"/>
                <a:ea typeface="맑은 고딕" pitchFamily="50" charset="-127"/>
              </a:rPr>
              <a:t> 단계별 </a:t>
            </a:r>
            <a:r>
              <a:rPr lang="ko-KR" altLang="en-US" sz="900" b="1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맑은 고딕" pitchFamily="50" charset="-127"/>
                <a:ea typeface="맑은 고딕" pitchFamily="50" charset="-127"/>
              </a:rPr>
              <a:t>추진 로드맵을 수립함</a:t>
            </a:r>
          </a:p>
        </p:txBody>
      </p:sp>
      <p:sp>
        <p:nvSpPr>
          <p:cNvPr id="84" name="Rectangle 51"/>
          <p:cNvSpPr>
            <a:spLocks noChangeArrowheads="1"/>
          </p:cNvSpPr>
          <p:nvPr/>
        </p:nvSpPr>
        <p:spPr bwMode="auto">
          <a:xfrm>
            <a:off x="7041232" y="3732146"/>
            <a:ext cx="1512168" cy="75608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/>
          </a:ln>
          <a:effectLst>
            <a:outerShdw blurRad="50800" dist="25400" dir="2700000" algn="tl" rotWithShape="0">
              <a:sysClr val="windowText" lastClr="000000">
                <a:lumMod val="50000"/>
                <a:lumOff val="50000"/>
              </a:sysClr>
            </a:outerShdw>
          </a:effectLst>
        </p:spPr>
        <p:txBody>
          <a:bodyPr wrap="square" lIns="36000" tIns="36000" rIns="36000" bIns="36000" anchor="ctr" anchorCtr="1"/>
          <a:lstStyle/>
          <a:p>
            <a:pPr lvl="0" algn="ctr" latinLnBrk="0">
              <a:spcBef>
                <a:spcPts val="600"/>
              </a:spcBef>
              <a:defRPr/>
            </a:pPr>
            <a:r>
              <a:rPr lang="ko-KR" altLang="en-US" sz="1100" b="1" kern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아키텍쳐 구성안</a:t>
            </a:r>
            <a:endParaRPr lang="ko-KR" altLang="en-US" sz="1100" b="1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AutoShape 64"/>
          <p:cNvSpPr>
            <a:spLocks noChangeArrowheads="1"/>
          </p:cNvSpPr>
          <p:nvPr/>
        </p:nvSpPr>
        <p:spPr bwMode="auto">
          <a:xfrm>
            <a:off x="7089238" y="4884274"/>
            <a:ext cx="1512000" cy="864096"/>
          </a:xfrm>
          <a:prstGeom prst="wedgeRectCallout">
            <a:avLst>
              <a:gd name="adj1" fmla="val 19640"/>
              <a:gd name="adj2" fmla="val -97078"/>
            </a:avLst>
          </a:prstGeom>
          <a:solidFill>
            <a:sysClr val="window" lastClr="FFFFFF"/>
          </a:solidFill>
          <a:ln w="63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/>
          </a:ln>
          <a:effectLst/>
        </p:spPr>
        <p:txBody>
          <a:bodyPr lIns="54000" tIns="36000" rIns="54000" bIns="36000" anchor="ctr"/>
          <a:lstStyle/>
          <a:p>
            <a:pPr lvl="0" latinLnBrk="0">
              <a:spcBef>
                <a:spcPts val="600"/>
              </a:spcBef>
              <a:buClr>
                <a:sysClr val="windowText" lastClr="000000"/>
              </a:buClr>
              <a:buSzPct val="80000"/>
              <a:defRPr/>
            </a:pPr>
            <a:r>
              <a:rPr lang="ko-KR" altLang="en-US" sz="900" b="1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맑은 고딕" pitchFamily="50" charset="-127"/>
                <a:ea typeface="맑은 고딕" pitchFamily="50" charset="-127"/>
              </a:rPr>
              <a:t>시스템의 아키텍쳐 구성도</a:t>
            </a:r>
            <a:endParaRPr lang="ko-KR" altLang="en-US" sz="900" b="1" kern="0" dirty="0">
              <a:solidFill>
                <a:sysClr val="windowText" lastClr="000000">
                  <a:lumMod val="65000"/>
                  <a:lumOff val="35000"/>
                </a:sys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Rectangle 51"/>
          <p:cNvSpPr>
            <a:spLocks noChangeArrowheads="1"/>
          </p:cNvSpPr>
          <p:nvPr/>
        </p:nvSpPr>
        <p:spPr bwMode="auto">
          <a:xfrm>
            <a:off x="4148957" y="3732146"/>
            <a:ext cx="1512168" cy="75608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/>
          </a:ln>
          <a:effectLst>
            <a:outerShdw blurRad="50800" dist="25400" dir="2700000" algn="tl" rotWithShape="0">
              <a:sysClr val="windowText" lastClr="000000">
                <a:lumMod val="50000"/>
                <a:lumOff val="50000"/>
              </a:sysClr>
            </a:outerShdw>
          </a:effectLst>
        </p:spPr>
        <p:txBody>
          <a:bodyPr wrap="square" lIns="36000" tIns="36000" rIns="36000" bIns="36000" anchor="ctr" anchorCtr="1"/>
          <a:lstStyle/>
          <a:p>
            <a:pPr lvl="0" algn="ctr" latinLnBrk="0">
              <a:spcBef>
                <a:spcPts val="600"/>
              </a:spcBef>
              <a:defRPr/>
            </a:pPr>
            <a:r>
              <a:rPr lang="ko-KR" altLang="en-US" sz="1100" b="1" kern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개선 업무 모형도</a:t>
            </a:r>
            <a:endParaRPr lang="ko-KR" altLang="en-US" sz="1100" b="1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AutoShape 64"/>
          <p:cNvSpPr>
            <a:spLocks noChangeArrowheads="1"/>
          </p:cNvSpPr>
          <p:nvPr/>
        </p:nvSpPr>
        <p:spPr bwMode="auto">
          <a:xfrm>
            <a:off x="4089072" y="4884274"/>
            <a:ext cx="1512000" cy="864096"/>
          </a:xfrm>
          <a:prstGeom prst="wedgeRectCallout">
            <a:avLst>
              <a:gd name="adj1" fmla="val 19640"/>
              <a:gd name="adj2" fmla="val -97078"/>
            </a:avLst>
          </a:prstGeom>
          <a:solidFill>
            <a:sysClr val="window" lastClr="FFFFFF"/>
          </a:solidFill>
          <a:ln w="63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/>
          </a:ln>
          <a:effectLst/>
        </p:spPr>
        <p:txBody>
          <a:bodyPr lIns="54000" tIns="36000" rIns="54000" bIns="36000" anchor="ctr"/>
          <a:lstStyle/>
          <a:p>
            <a:pPr lvl="0" latinLnBrk="0">
              <a:spcBef>
                <a:spcPts val="600"/>
              </a:spcBef>
              <a:buClr>
                <a:sysClr val="windowText" lastClr="000000"/>
              </a:buClr>
              <a:buSzPct val="80000"/>
              <a:defRPr/>
            </a:pPr>
            <a:r>
              <a:rPr lang="ko-KR" altLang="en-US" sz="900" b="1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맑은 고딕" pitchFamily="50" charset="-127"/>
                <a:ea typeface="맑은 고딕" pitchFamily="50" charset="-127"/>
              </a:rPr>
              <a:t>개선 대상 업무의 개선 후 상세 구성도  </a:t>
            </a:r>
            <a:endParaRPr lang="ko-KR" altLang="en-US" sz="900" b="1" kern="0" dirty="0">
              <a:solidFill>
                <a:sysClr val="windowText" lastClr="000000">
                  <a:lumMod val="65000"/>
                  <a:lumOff val="35000"/>
                </a:sys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51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개요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dirty="0"/>
              <a:t>추진 계획 수립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ko-KR"/>
              <a:t>2.1 </a:t>
            </a:r>
            <a:r>
              <a:rPr lang="ko-KR" altLang="en-US" smtClean="0"/>
              <a:t>최우선 이행과제 </a:t>
            </a:r>
            <a:r>
              <a:rPr lang="ko-KR" altLang="en-US" dirty="0"/>
              <a:t>정의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/>
              <a:t>2.2 </a:t>
            </a:r>
            <a:r>
              <a:rPr lang="ko-KR" altLang="en-US" smtClean="0"/>
              <a:t>이행과제의 추진방안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2.3 </a:t>
            </a:r>
            <a:r>
              <a:rPr lang="ko-KR" altLang="en-US" dirty="0"/>
              <a:t>추진 로드맵 정의</a:t>
            </a:r>
            <a:endParaRPr lang="en-US" altLang="ko-KR" dirty="0"/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목표시스템 구성도</a:t>
            </a:r>
            <a:r>
              <a:rPr lang="en-US" altLang="ko-KR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smtClean="0">
                <a:solidFill>
                  <a:srgbClr val="00437A"/>
                </a:solidFill>
              </a:rPr>
              <a:t>Ⅳ. </a:t>
            </a:r>
            <a:r>
              <a:rPr lang="ko-KR" altLang="en-US" sz="2400" b="1" spc="-300" smtClean="0">
                <a:solidFill>
                  <a:srgbClr val="00437A"/>
                </a:solidFill>
              </a:rPr>
              <a:t>이행계획 수립</a:t>
            </a:r>
            <a:endParaRPr lang="en-US" altLang="ko-KR" sz="2400" b="1" spc="-300" dirty="0">
              <a:solidFill>
                <a:srgbClr val="0043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4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smtClean="0"/>
              <a:t>시스템을 개선하기 위해 우선적으로 이행해야 할 과제를 순서대로 정의하고</a:t>
            </a:r>
            <a:r>
              <a:rPr lang="en-US" altLang="ko-KR" sz="1600" smtClean="0"/>
              <a:t>, </a:t>
            </a:r>
            <a:r>
              <a:rPr lang="ko-KR" altLang="en-US" sz="1600" smtClean="0"/>
              <a:t>이행과제를 순차적으로 추진하기 위한 방안을 제시함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추진 계획 </a:t>
            </a:r>
            <a:r>
              <a:rPr lang="ko-KR" altLang="en-US"/>
              <a:t>수립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1800" smtClean="0"/>
              <a:t>2.1 </a:t>
            </a:r>
            <a:r>
              <a:rPr lang="ko-KR" altLang="en-US" sz="1800" smtClean="0"/>
              <a:t>우선 이행과제 정의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/>
              <a:t>2.1 </a:t>
            </a:r>
            <a:r>
              <a:rPr lang="ko-KR" altLang="en-US" smtClean="0"/>
              <a:t>우선 이행과제 </a:t>
            </a:r>
            <a:r>
              <a:rPr lang="ko-KR" altLang="en-US" dirty="0"/>
              <a:t>정의</a:t>
            </a:r>
            <a:endParaRPr lang="en-US" altLang="ko-KR" dirty="0"/>
          </a:p>
        </p:txBody>
      </p:sp>
      <p:grpSp>
        <p:nvGrpSpPr>
          <p:cNvPr id="123" name="그룹 122"/>
          <p:cNvGrpSpPr/>
          <p:nvPr/>
        </p:nvGrpSpPr>
        <p:grpSpPr>
          <a:xfrm>
            <a:off x="2333899" y="1513231"/>
            <a:ext cx="2160000" cy="329005"/>
            <a:chOff x="2144688" y="1513231"/>
            <a:chExt cx="2160000" cy="329005"/>
          </a:xfrm>
        </p:grpSpPr>
        <p:sp>
          <p:nvSpPr>
            <p:cNvPr id="61" name="Text Box 4"/>
            <p:cNvSpPr txBox="1">
              <a:spLocks noChangeArrowheads="1"/>
            </p:cNvSpPr>
            <p:nvPr/>
          </p:nvSpPr>
          <p:spPr bwMode="auto">
            <a:xfrm>
              <a:off x="2774244" y="1513231"/>
              <a:ext cx="900889" cy="315984"/>
            </a:xfrm>
            <a:prstGeom prst="rect">
              <a:avLst/>
            </a:prstGeom>
            <a:noFill/>
            <a:ln w="12700" algn="ctr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fontAlgn="t" latinLnBrk="0" hangingPunct="0">
                <a:lnSpc>
                  <a:spcPct val="105000"/>
                </a:lnSpc>
                <a:spcBef>
                  <a:spcPct val="50000"/>
                </a:spcBef>
                <a:buClr>
                  <a:srgbClr val="008400"/>
                </a:buClr>
                <a:buNone/>
              </a:pPr>
              <a:r>
                <a:rPr lang="ko-KR" altLang="en-US" sz="1400" b="1" dirty="0">
                  <a:latin typeface="+mn-ea"/>
                </a:rPr>
                <a:t>세부과제</a:t>
              </a:r>
            </a:p>
          </p:txBody>
        </p:sp>
        <p:sp>
          <p:nvSpPr>
            <p:cNvPr id="62" name="Line 5"/>
            <p:cNvSpPr>
              <a:spLocks noChangeShapeType="1"/>
            </p:cNvSpPr>
            <p:nvPr/>
          </p:nvSpPr>
          <p:spPr bwMode="auto">
            <a:xfrm>
              <a:off x="2144688" y="1842236"/>
              <a:ext cx="2160000" cy="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lIns="90000" tIns="43200" rIns="90000" bIns="432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ko-KR" altLang="en-US" sz="18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grpSp>
        <p:nvGrpSpPr>
          <p:cNvPr id="63" name="그룹 47"/>
          <p:cNvGrpSpPr>
            <a:grpSpLocks/>
          </p:cNvGrpSpPr>
          <p:nvPr/>
        </p:nvGrpSpPr>
        <p:grpSpPr bwMode="auto">
          <a:xfrm>
            <a:off x="6841121" y="1527446"/>
            <a:ext cx="1906587" cy="318577"/>
            <a:chOff x="7545836" y="2024545"/>
            <a:chExt cx="1907161" cy="318795"/>
          </a:xfrm>
        </p:grpSpPr>
        <p:sp>
          <p:nvSpPr>
            <p:cNvPr id="64" name="Text Box 4"/>
            <p:cNvSpPr txBox="1">
              <a:spLocks noChangeArrowheads="1"/>
            </p:cNvSpPr>
            <p:nvPr/>
          </p:nvSpPr>
          <p:spPr bwMode="auto">
            <a:xfrm>
              <a:off x="7780437" y="2024545"/>
              <a:ext cx="1427196" cy="316200"/>
            </a:xfrm>
            <a:prstGeom prst="rect">
              <a:avLst/>
            </a:prstGeom>
            <a:noFill/>
            <a:ln w="12700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0488" tIns="44450" rIns="90488" bIns="44450">
              <a:spAutoFit/>
            </a:bodyPr>
            <a:lstStyle/>
            <a:p>
              <a:pPr algn="ctr" eaLnBrk="0" fontAlgn="t" latinLnBrk="0" hangingPunct="0">
                <a:lnSpc>
                  <a:spcPct val="105000"/>
                </a:lnSpc>
                <a:spcBef>
                  <a:spcPct val="50000"/>
                </a:spcBef>
                <a:buClr>
                  <a:srgbClr val="008400"/>
                </a:buClr>
                <a:buNone/>
              </a:pPr>
              <a:r>
                <a:rPr lang="ko-KR" altLang="en-US" sz="1400" b="1" dirty="0">
                  <a:latin typeface="+mn-ea"/>
                </a:rPr>
                <a:t>추진 내용</a:t>
              </a:r>
            </a:p>
          </p:txBody>
        </p:sp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7545836" y="2343340"/>
              <a:ext cx="1907161" cy="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lIns="90000" tIns="43200" rIns="90000" bIns="432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ko-KR" altLang="en-US" sz="18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531036" y="1513231"/>
            <a:ext cx="975658" cy="329005"/>
            <a:chOff x="691543" y="1513231"/>
            <a:chExt cx="975658" cy="329005"/>
          </a:xfrm>
        </p:grpSpPr>
        <p:sp>
          <p:nvSpPr>
            <p:cNvPr id="66" name="Text Box 4"/>
            <p:cNvSpPr txBox="1">
              <a:spLocks noChangeArrowheads="1"/>
            </p:cNvSpPr>
            <p:nvPr/>
          </p:nvSpPr>
          <p:spPr bwMode="auto">
            <a:xfrm>
              <a:off x="728928" y="1513231"/>
              <a:ext cx="900889" cy="315984"/>
            </a:xfrm>
            <a:prstGeom prst="rect">
              <a:avLst/>
            </a:prstGeom>
            <a:noFill/>
            <a:ln w="12700" algn="ctr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fontAlgn="t" latinLnBrk="0" hangingPunct="0">
                <a:lnSpc>
                  <a:spcPct val="105000"/>
                </a:lnSpc>
                <a:spcBef>
                  <a:spcPct val="50000"/>
                </a:spcBef>
                <a:buClr>
                  <a:srgbClr val="008400"/>
                </a:buClr>
                <a:buNone/>
              </a:pPr>
              <a:r>
                <a:rPr lang="ko-KR" altLang="en-US" sz="1400" b="1" dirty="0">
                  <a:latin typeface="+mn-ea"/>
                </a:rPr>
                <a:t>개선과제</a:t>
              </a:r>
            </a:p>
          </p:txBody>
        </p:sp>
        <p:sp>
          <p:nvSpPr>
            <p:cNvPr id="67" name="Line 5"/>
            <p:cNvSpPr>
              <a:spLocks noChangeShapeType="1"/>
            </p:cNvSpPr>
            <p:nvPr/>
          </p:nvSpPr>
          <p:spPr bwMode="auto">
            <a:xfrm>
              <a:off x="691543" y="1842236"/>
              <a:ext cx="975658" cy="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lIns="90000" tIns="43200" rIns="90000" bIns="432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ko-KR" altLang="en-US" sz="18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sp>
        <p:nvSpPr>
          <p:cNvPr id="75" name="Rectangle 5"/>
          <p:cNvSpPr>
            <a:spLocks noChangeArrowheads="1"/>
          </p:cNvSpPr>
          <p:nvPr/>
        </p:nvSpPr>
        <p:spPr bwMode="auto">
          <a:xfrm>
            <a:off x="301111" y="2088944"/>
            <a:ext cx="4857163" cy="1504346"/>
          </a:xfrm>
          <a:prstGeom prst="rect">
            <a:avLst/>
          </a:prstGeom>
          <a:pattFill prst="dkUpDiag">
            <a:fgClr>
              <a:srgbClr val="EAEAEA"/>
            </a:fgClr>
            <a:bgClr>
              <a:srgbClr val="FFFFFF"/>
            </a:bgClr>
          </a:pattFill>
          <a:ln w="6350" algn="ctr">
            <a:solidFill>
              <a:sysClr val="window" lastClr="FFFFFF">
                <a:lumMod val="85000"/>
              </a:sysClr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77" name="AutoShape 550" descr="박스1"/>
          <p:cNvSpPr>
            <a:spLocks noChangeArrowheads="1"/>
          </p:cNvSpPr>
          <p:nvPr/>
        </p:nvSpPr>
        <p:spPr bwMode="auto">
          <a:xfrm>
            <a:off x="1628120" y="2117773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en-US" altLang="ko-KR" sz="1000" b="1" kern="0" smtClean="0">
                <a:solidFill>
                  <a:sysClr val="windowText" lastClr="000000"/>
                </a:solidFill>
                <a:latin typeface="+mn-ea"/>
              </a:rPr>
              <a:t>DATABASE </a:t>
            </a: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기본 관리표준 준수 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8" name="AutoShape 550" descr="박스1"/>
          <p:cNvSpPr>
            <a:spLocks noChangeArrowheads="1"/>
          </p:cNvSpPr>
          <p:nvPr/>
        </p:nvSpPr>
        <p:spPr bwMode="auto">
          <a:xfrm>
            <a:off x="1628120" y="2414076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en-US" altLang="ko-KR" sz="1000" b="1" kern="0" smtClean="0">
                <a:solidFill>
                  <a:sysClr val="windowText" lastClr="000000"/>
                </a:solidFill>
                <a:latin typeface="+mn-ea"/>
              </a:rPr>
              <a:t>DATA </a:t>
            </a: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통합 및 정합성 유지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2" name="AutoShape 550" descr="박스1"/>
          <p:cNvSpPr>
            <a:spLocks noChangeArrowheads="1"/>
          </p:cNvSpPr>
          <p:nvPr/>
        </p:nvSpPr>
        <p:spPr bwMode="auto">
          <a:xfrm>
            <a:off x="1628476" y="2710379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기준정보의 통합 및 체계화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27392" y="2117773"/>
            <a:ext cx="1200906" cy="141921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36000" tIns="0" rIns="3600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ct val="90000"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uLnTx/>
                <a:uFillTx/>
                <a:latin typeface="+mn-ea"/>
              </a:rPr>
              <a:t>시스템 기본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ea"/>
              </a:rPr>
              <a:t/>
            </a:r>
            <a:b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ea"/>
              </a:rPr>
            </a:b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ea"/>
              </a:rPr>
              <a:t>체계 마련</a:t>
            </a:r>
          </a:p>
        </p:txBody>
      </p:sp>
      <p:sp>
        <p:nvSpPr>
          <p:cNvPr id="128" name="Rectangle 5"/>
          <p:cNvSpPr>
            <a:spLocks noChangeArrowheads="1"/>
          </p:cNvSpPr>
          <p:nvPr/>
        </p:nvSpPr>
        <p:spPr bwMode="auto">
          <a:xfrm>
            <a:off x="293746" y="3721026"/>
            <a:ext cx="4857163" cy="2055233"/>
          </a:xfrm>
          <a:prstGeom prst="rect">
            <a:avLst/>
          </a:prstGeom>
          <a:pattFill prst="dkUpDiag">
            <a:fgClr>
              <a:srgbClr val="EAEAEA"/>
            </a:fgClr>
            <a:bgClr>
              <a:srgbClr val="FFFFFF"/>
            </a:bgClr>
          </a:pattFill>
          <a:ln w="6350" algn="ctr">
            <a:solidFill>
              <a:sysClr val="window" lastClr="FFFFFF">
                <a:lumMod val="85000"/>
              </a:sysClr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132" name="AutoShape 550" descr="박스1"/>
          <p:cNvSpPr>
            <a:spLocks noChangeArrowheads="1"/>
          </p:cNvSpPr>
          <p:nvPr/>
        </p:nvSpPr>
        <p:spPr bwMode="auto">
          <a:xfrm>
            <a:off x="1620755" y="3762258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예산 관리 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3" name="AutoShape 550" descr="박스1"/>
          <p:cNvSpPr>
            <a:spLocks noChangeArrowheads="1"/>
          </p:cNvSpPr>
          <p:nvPr/>
        </p:nvSpPr>
        <p:spPr bwMode="auto">
          <a:xfrm>
            <a:off x="1620755" y="4056389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회계 관리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4" name="AutoShape 550" descr="박스1"/>
          <p:cNvSpPr>
            <a:spLocks noChangeArrowheads="1"/>
          </p:cNvSpPr>
          <p:nvPr/>
        </p:nvSpPr>
        <p:spPr bwMode="auto">
          <a:xfrm>
            <a:off x="1621111" y="4350520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구매 관리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5" name="AutoShape 550" descr="박스1"/>
          <p:cNvSpPr>
            <a:spLocks noChangeArrowheads="1"/>
          </p:cNvSpPr>
          <p:nvPr/>
        </p:nvSpPr>
        <p:spPr bwMode="auto">
          <a:xfrm>
            <a:off x="1621111" y="4644651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자산 관리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cxnSpLocks/>
            <a:stCxn id="77" idx="3"/>
            <a:endCxn id="85" idx="1"/>
          </p:cNvCxnSpPr>
          <p:nvPr/>
        </p:nvCxnSpPr>
        <p:spPr bwMode="auto">
          <a:xfrm flipV="1">
            <a:off x="5067234" y="2226417"/>
            <a:ext cx="854079" cy="835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sp>
        <p:nvSpPr>
          <p:cNvPr id="58" name="AutoShape 550" descr="박스1">
            <a:extLst>
              <a:ext uri="{FF2B5EF4-FFF2-40B4-BE49-F238E27FC236}">
                <a16:creationId xmlns:a16="http://schemas.microsoft.com/office/drawing/2014/main" xmlns="" id="{92037CD7-71FD-4215-A5C9-7100A6E67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120" y="3006682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업무 흐름을 반영하는 프로그램 기능 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9" name="AutoShape 550" descr="박스1">
            <a:extLst>
              <a:ext uri="{FF2B5EF4-FFF2-40B4-BE49-F238E27FC236}">
                <a16:creationId xmlns:a16="http://schemas.microsoft.com/office/drawing/2014/main" xmlns="" id="{83EBECD6-97A6-4F83-A011-0B5DBB786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476" y="3302984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사용자</a:t>
            </a:r>
            <a:r>
              <a:rPr lang="en-US" altLang="ko-KR" sz="1000" b="1" kern="0" smtClean="0">
                <a:solidFill>
                  <a:sysClr val="windowText" lastClr="000000"/>
                </a:solidFill>
                <a:latin typeface="+mn-ea"/>
              </a:rPr>
              <a:t> </a:t>
            </a: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중심의 </a:t>
            </a:r>
            <a:r>
              <a:rPr lang="en-US" altLang="ko-KR" sz="1000" b="1" kern="0" smtClean="0">
                <a:solidFill>
                  <a:sysClr val="windowText" lastClr="000000"/>
                </a:solidFill>
                <a:latin typeface="+mn-ea"/>
              </a:rPr>
              <a:t>UI-UX </a:t>
            </a: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표준 수립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3" name="AutoShape 550" descr="박스1">
            <a:extLst>
              <a:ext uri="{FF2B5EF4-FFF2-40B4-BE49-F238E27FC236}">
                <a16:creationId xmlns:a16="http://schemas.microsoft.com/office/drawing/2014/main" xmlns="" id="{54F04050-ED3D-47B8-BB58-83AD9FBAB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755" y="4941168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사업 관리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4" name="AutoShape 550" descr="박스1">
            <a:extLst>
              <a:ext uri="{FF2B5EF4-FFF2-40B4-BE49-F238E27FC236}">
                <a16:creationId xmlns:a16="http://schemas.microsoft.com/office/drawing/2014/main" xmlns="" id="{CE2599A8-D3B1-42C2-A70C-32BF55016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755" y="5242390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en-US" altLang="ko-KR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인사관리</a:t>
            </a:r>
            <a:r>
              <a:rPr lang="en-US" altLang="ko-KR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10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6" name="AutoShape 550" descr="박스1">
            <a:extLst>
              <a:ext uri="{FF2B5EF4-FFF2-40B4-BE49-F238E27FC236}">
                <a16:creationId xmlns:a16="http://schemas.microsoft.com/office/drawing/2014/main" xmlns="" id="{E94C83B9-1576-4B92-83C9-3A8E9CCF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111" y="5543611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en-US" altLang="ko-KR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급여관리</a:t>
            </a:r>
            <a:r>
              <a:rPr lang="en-US" altLang="ko-KR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10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9" name="AutoShape 550" descr="박스1">
            <a:extLst>
              <a:ext uri="{FF2B5EF4-FFF2-40B4-BE49-F238E27FC236}">
                <a16:creationId xmlns:a16="http://schemas.microsoft.com/office/drawing/2014/main" xmlns="" id="{3225198D-08D1-4600-907C-210EE4A1E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3488378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lvl="0" latinLnBrk="0"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4.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업무 흐름에 부합하는 프로그램 기능 설계</a:t>
            </a: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구축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0" name="AutoShape 550" descr="박스1">
            <a:extLst>
              <a:ext uri="{FF2B5EF4-FFF2-40B4-BE49-F238E27FC236}">
                <a16:creationId xmlns:a16="http://schemas.microsoft.com/office/drawing/2014/main" xmlns="" id="{01DDB0D1-25E2-4F19-A3E9-B5A85152C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4449296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6.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신기술 도입에 의한 시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스템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구축</a:t>
            </a: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운영 효율화  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1" name="AutoShape 550" descr="박스1">
            <a:extLst>
              <a:ext uri="{FF2B5EF4-FFF2-40B4-BE49-F238E27FC236}">
                <a16:creationId xmlns:a16="http://schemas.microsoft.com/office/drawing/2014/main" xmlns="" id="{A1152C97-1BBF-4612-A68B-020C5FBBC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3968837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5.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사용자 편의를 제공하는 </a:t>
            </a: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UI-UX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표준 설계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2" name="AutoShape 550" descr="박스1">
            <a:extLst>
              <a:ext uri="{FF2B5EF4-FFF2-40B4-BE49-F238E27FC236}">
                <a16:creationId xmlns:a16="http://schemas.microsoft.com/office/drawing/2014/main" xmlns="" id="{10767535-FE16-48BD-B1E7-67274564A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3007919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3.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기준정보 체계화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,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기준정보의 통합 설계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3" name="AutoShape 550" descr="박스1">
            <a:extLst>
              <a:ext uri="{FF2B5EF4-FFF2-40B4-BE49-F238E27FC236}">
                <a16:creationId xmlns:a16="http://schemas.microsoft.com/office/drawing/2014/main" xmlns="" id="{7E9BDB4B-0533-45A1-B86F-32882FAAF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4929755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7.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업무별 기본기능 구축 및 필수 연계사항 처리 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4" name="AutoShape 550" descr="박스1">
            <a:extLst>
              <a:ext uri="{FF2B5EF4-FFF2-40B4-BE49-F238E27FC236}">
                <a16:creationId xmlns:a16="http://schemas.microsoft.com/office/drawing/2014/main" xmlns="" id="{E94A0262-8499-4ACB-AE25-85C72372E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2527460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lvl="0" latinLnBrk="0">
              <a:defRPr/>
            </a:pP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2.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자산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,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회계 데이터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단일화 및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정합성 처리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85" name="AutoShape 550" descr="박스1">
            <a:extLst>
              <a:ext uri="{FF2B5EF4-FFF2-40B4-BE49-F238E27FC236}">
                <a16:creationId xmlns:a16="http://schemas.microsoft.com/office/drawing/2014/main" xmlns="" id="{E4199F39-19EE-4AAC-B999-0ED28B7FA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2047001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lvl="0" latinLnBrk="0">
              <a:defRPr/>
            </a:pP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1. DATABASE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설계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표준화 설계 반영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/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개선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 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87" name="AutoShape 550" descr="박스1">
            <a:extLst>
              <a:ext uri="{FF2B5EF4-FFF2-40B4-BE49-F238E27FC236}">
                <a16:creationId xmlns:a16="http://schemas.microsoft.com/office/drawing/2014/main" xmlns="" id="{B45C6569-4347-4C06-B6EA-CF245BCA3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5410214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lvl="0" latinLnBrk="0"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8.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업무별 기능 고도화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xmlns="" id="{EAECB3E1-FF03-4465-93AE-32FDBA8D0919}"/>
              </a:ext>
            </a:extLst>
          </p:cNvPr>
          <p:cNvCxnSpPr>
            <a:cxnSpLocks/>
            <a:stCxn id="133" idx="3"/>
            <a:endCxn id="84" idx="1"/>
          </p:cNvCxnSpPr>
          <p:nvPr/>
        </p:nvCxnSpPr>
        <p:spPr bwMode="auto">
          <a:xfrm flipV="1">
            <a:off x="5059869" y="2706876"/>
            <a:ext cx="861444" cy="146651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xmlns="" id="{0CFC9B51-BD6E-4760-8900-0E3611E6B84F}"/>
              </a:ext>
            </a:extLst>
          </p:cNvPr>
          <p:cNvCxnSpPr>
            <a:cxnSpLocks/>
            <a:endCxn id="82" idx="1"/>
          </p:cNvCxnSpPr>
          <p:nvPr/>
        </p:nvCxnSpPr>
        <p:spPr bwMode="auto">
          <a:xfrm>
            <a:off x="5067234" y="2216373"/>
            <a:ext cx="854079" cy="97096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78" idx="3"/>
            <a:endCxn id="84" idx="1"/>
          </p:cNvCxnSpPr>
          <p:nvPr/>
        </p:nvCxnSpPr>
        <p:spPr bwMode="auto">
          <a:xfrm>
            <a:off x="5067234" y="2531076"/>
            <a:ext cx="854079" cy="175800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xmlns="" id="{825A3D4C-3C88-48B3-B2DF-38CDAE361A13}"/>
              </a:ext>
            </a:extLst>
          </p:cNvPr>
          <p:cNvCxnSpPr>
            <a:cxnSpLocks/>
            <a:stCxn id="112" idx="3"/>
            <a:endCxn id="85" idx="1"/>
          </p:cNvCxnSpPr>
          <p:nvPr/>
        </p:nvCxnSpPr>
        <p:spPr bwMode="auto">
          <a:xfrm flipV="1">
            <a:off x="5067590" y="2226417"/>
            <a:ext cx="853723" cy="60096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58" idx="3"/>
            <a:endCxn id="81" idx="1"/>
          </p:cNvCxnSpPr>
          <p:nvPr/>
        </p:nvCxnSpPr>
        <p:spPr bwMode="auto">
          <a:xfrm>
            <a:off x="5067234" y="3123682"/>
            <a:ext cx="854079" cy="102457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xmlns="" id="{561B8A9D-2DA9-4BB1-BC0E-50EA795E8587}"/>
              </a:ext>
            </a:extLst>
          </p:cNvPr>
          <p:cNvCxnSpPr>
            <a:cxnSpLocks/>
            <a:stCxn id="59" idx="3"/>
            <a:endCxn id="81" idx="1"/>
          </p:cNvCxnSpPr>
          <p:nvPr/>
        </p:nvCxnSpPr>
        <p:spPr bwMode="auto">
          <a:xfrm>
            <a:off x="5067590" y="3419984"/>
            <a:ext cx="853723" cy="72826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xmlns="" id="{ADF17A5E-5A12-40B3-B88B-73905FA62BCA}"/>
              </a:ext>
            </a:extLst>
          </p:cNvPr>
          <p:cNvCxnSpPr>
            <a:cxnSpLocks/>
            <a:stCxn id="135" idx="3"/>
            <a:endCxn id="84" idx="1"/>
          </p:cNvCxnSpPr>
          <p:nvPr/>
        </p:nvCxnSpPr>
        <p:spPr bwMode="auto">
          <a:xfrm flipV="1">
            <a:off x="5060225" y="2706876"/>
            <a:ext cx="861088" cy="205477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xmlns="" id="{4A049F45-BC57-46AA-A85F-1E888F315383}"/>
              </a:ext>
            </a:extLst>
          </p:cNvPr>
          <p:cNvCxnSpPr>
            <a:cxnSpLocks/>
            <a:stCxn id="112" idx="3"/>
            <a:endCxn id="82" idx="1"/>
          </p:cNvCxnSpPr>
          <p:nvPr/>
        </p:nvCxnSpPr>
        <p:spPr bwMode="auto">
          <a:xfrm>
            <a:off x="5067590" y="2827379"/>
            <a:ext cx="853723" cy="35995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xmlns="" id="{0404A155-F2F7-46E8-BA97-57DB57B63BD3}"/>
              </a:ext>
            </a:extLst>
          </p:cNvPr>
          <p:cNvCxnSpPr>
            <a:cxnSpLocks/>
            <a:stCxn id="132" idx="3"/>
            <a:endCxn id="85" idx="1"/>
          </p:cNvCxnSpPr>
          <p:nvPr/>
        </p:nvCxnSpPr>
        <p:spPr bwMode="auto">
          <a:xfrm flipV="1">
            <a:off x="5059869" y="2226417"/>
            <a:ext cx="861444" cy="165284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xmlns="" id="{34E994AB-413E-4B7D-9DED-298025DE7618}"/>
              </a:ext>
            </a:extLst>
          </p:cNvPr>
          <p:cNvCxnSpPr>
            <a:cxnSpLocks/>
            <a:stCxn id="133" idx="3"/>
            <a:endCxn id="85" idx="1"/>
          </p:cNvCxnSpPr>
          <p:nvPr/>
        </p:nvCxnSpPr>
        <p:spPr bwMode="auto">
          <a:xfrm flipV="1">
            <a:off x="5059869" y="2226417"/>
            <a:ext cx="861444" cy="194697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xmlns="" id="{251753FC-77B0-447B-86C0-DF9018C10DD4}"/>
              </a:ext>
            </a:extLst>
          </p:cNvPr>
          <p:cNvCxnSpPr>
            <a:cxnSpLocks/>
            <a:stCxn id="134" idx="3"/>
            <a:endCxn id="85" idx="1"/>
          </p:cNvCxnSpPr>
          <p:nvPr/>
        </p:nvCxnSpPr>
        <p:spPr bwMode="auto">
          <a:xfrm flipV="1">
            <a:off x="5060225" y="2226417"/>
            <a:ext cx="861088" cy="224110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xmlns="" id="{E7CF2975-0CD3-4430-8444-17BC0FCE27C8}"/>
              </a:ext>
            </a:extLst>
          </p:cNvPr>
          <p:cNvCxnSpPr>
            <a:cxnSpLocks/>
            <a:stCxn id="135" idx="3"/>
            <a:endCxn id="85" idx="1"/>
          </p:cNvCxnSpPr>
          <p:nvPr/>
        </p:nvCxnSpPr>
        <p:spPr bwMode="auto">
          <a:xfrm flipV="1">
            <a:off x="5060225" y="2226417"/>
            <a:ext cx="861088" cy="253523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xmlns="" id="{BAB84ADC-62E7-4ACF-94A6-BEC6C3ACDE93}"/>
              </a:ext>
            </a:extLst>
          </p:cNvPr>
          <p:cNvCxnSpPr>
            <a:cxnSpLocks/>
            <a:stCxn id="73" idx="3"/>
            <a:endCxn id="85" idx="1"/>
          </p:cNvCxnSpPr>
          <p:nvPr/>
        </p:nvCxnSpPr>
        <p:spPr bwMode="auto">
          <a:xfrm flipV="1">
            <a:off x="5059869" y="2226417"/>
            <a:ext cx="861444" cy="283175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xmlns="" id="{6035CD46-5312-47DB-A6A5-06E9E28526CD}"/>
              </a:ext>
            </a:extLst>
          </p:cNvPr>
          <p:cNvCxnSpPr>
            <a:cxnSpLocks/>
            <a:stCxn id="74" idx="3"/>
            <a:endCxn id="85" idx="1"/>
          </p:cNvCxnSpPr>
          <p:nvPr/>
        </p:nvCxnSpPr>
        <p:spPr bwMode="auto">
          <a:xfrm flipV="1">
            <a:off x="5059869" y="2226417"/>
            <a:ext cx="861444" cy="313297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xmlns="" id="{8380B687-C308-4A89-9914-ABA682E5220A}"/>
              </a:ext>
            </a:extLst>
          </p:cNvPr>
          <p:cNvCxnSpPr>
            <a:cxnSpLocks/>
            <a:stCxn id="76" idx="3"/>
            <a:endCxn id="85" idx="1"/>
          </p:cNvCxnSpPr>
          <p:nvPr/>
        </p:nvCxnSpPr>
        <p:spPr bwMode="auto">
          <a:xfrm flipV="1">
            <a:off x="5060225" y="2226417"/>
            <a:ext cx="861088" cy="343419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419493" y="3762258"/>
            <a:ext cx="1200906" cy="200678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36000" tIns="0" rIns="3600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ct val="90000"/>
              <a:buFontTx/>
              <a:buNone/>
              <a:tabLst/>
              <a:defRPr/>
            </a:pPr>
            <a:r>
              <a:rPr lang="ko-KR" altLang="en-US" sz="1100" b="1" kern="0" noProof="0" smtClean="0">
                <a:latin typeface="+mn-ea"/>
              </a:rPr>
              <a:t>업무별 개선사항 처리 및 효율화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uLnTx/>
              <a:uFillTx/>
              <a:latin typeface="+mn-ea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endCxn id="79" idx="1"/>
          </p:cNvCxnSpPr>
          <p:nvPr/>
        </p:nvCxnSpPr>
        <p:spPr bwMode="auto">
          <a:xfrm>
            <a:off x="5074243" y="3133726"/>
            <a:ext cx="847070" cy="534068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59" idx="3"/>
            <a:endCxn id="80" idx="1"/>
          </p:cNvCxnSpPr>
          <p:nvPr/>
        </p:nvCxnSpPr>
        <p:spPr bwMode="auto">
          <a:xfrm>
            <a:off x="5067590" y="3419984"/>
            <a:ext cx="853723" cy="1208728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78" idx="3"/>
            <a:endCxn id="85" idx="1"/>
          </p:cNvCxnSpPr>
          <p:nvPr/>
        </p:nvCxnSpPr>
        <p:spPr bwMode="auto">
          <a:xfrm flipV="1">
            <a:off x="5067234" y="2226417"/>
            <a:ext cx="854079" cy="30465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58" idx="3"/>
            <a:endCxn id="83" idx="1"/>
          </p:cNvCxnSpPr>
          <p:nvPr/>
        </p:nvCxnSpPr>
        <p:spPr bwMode="auto">
          <a:xfrm>
            <a:off x="5067234" y="3123682"/>
            <a:ext cx="854079" cy="198548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xmlns="" id="{8380B687-C308-4A89-9914-ABA682E5220A}"/>
              </a:ext>
            </a:extLst>
          </p:cNvPr>
          <p:cNvCxnSpPr>
            <a:cxnSpLocks/>
            <a:stCxn id="76" idx="3"/>
            <a:endCxn id="82" idx="1"/>
          </p:cNvCxnSpPr>
          <p:nvPr/>
        </p:nvCxnSpPr>
        <p:spPr bwMode="auto">
          <a:xfrm flipV="1">
            <a:off x="5060225" y="3187335"/>
            <a:ext cx="861088" cy="247327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xmlns="" id="{8380B687-C308-4A89-9914-ABA682E5220A}"/>
              </a:ext>
            </a:extLst>
          </p:cNvPr>
          <p:cNvCxnSpPr>
            <a:cxnSpLocks/>
            <a:stCxn id="74" idx="3"/>
            <a:endCxn id="82" idx="1"/>
          </p:cNvCxnSpPr>
          <p:nvPr/>
        </p:nvCxnSpPr>
        <p:spPr bwMode="auto">
          <a:xfrm flipV="1">
            <a:off x="5059869" y="3187335"/>
            <a:ext cx="861444" cy="217205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xmlns="" id="{8380B687-C308-4A89-9914-ABA682E5220A}"/>
              </a:ext>
            </a:extLst>
          </p:cNvPr>
          <p:cNvCxnSpPr>
            <a:cxnSpLocks/>
            <a:stCxn id="73" idx="3"/>
            <a:endCxn id="82" idx="1"/>
          </p:cNvCxnSpPr>
          <p:nvPr/>
        </p:nvCxnSpPr>
        <p:spPr bwMode="auto">
          <a:xfrm flipV="1">
            <a:off x="5059869" y="3187335"/>
            <a:ext cx="861444" cy="187083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xmlns="" id="{8380B687-C308-4A89-9914-ABA682E5220A}"/>
              </a:ext>
            </a:extLst>
          </p:cNvPr>
          <p:cNvCxnSpPr>
            <a:cxnSpLocks/>
            <a:stCxn id="135" idx="3"/>
            <a:endCxn id="82" idx="1"/>
          </p:cNvCxnSpPr>
          <p:nvPr/>
        </p:nvCxnSpPr>
        <p:spPr bwMode="auto">
          <a:xfrm flipV="1">
            <a:off x="5060225" y="3187335"/>
            <a:ext cx="861088" cy="157431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xmlns="" id="{8380B687-C308-4A89-9914-ABA682E5220A}"/>
              </a:ext>
            </a:extLst>
          </p:cNvPr>
          <p:cNvCxnSpPr>
            <a:cxnSpLocks/>
            <a:stCxn id="134" idx="3"/>
            <a:endCxn id="82" idx="1"/>
          </p:cNvCxnSpPr>
          <p:nvPr/>
        </p:nvCxnSpPr>
        <p:spPr bwMode="auto">
          <a:xfrm flipV="1">
            <a:off x="5060225" y="3187335"/>
            <a:ext cx="861088" cy="128018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xmlns="" id="{8380B687-C308-4A89-9914-ABA682E5220A}"/>
              </a:ext>
            </a:extLst>
          </p:cNvPr>
          <p:cNvCxnSpPr>
            <a:cxnSpLocks/>
            <a:stCxn id="133" idx="3"/>
            <a:endCxn id="82" idx="1"/>
          </p:cNvCxnSpPr>
          <p:nvPr/>
        </p:nvCxnSpPr>
        <p:spPr bwMode="auto">
          <a:xfrm flipV="1">
            <a:off x="5059869" y="3187335"/>
            <a:ext cx="861444" cy="98605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xmlns="" id="{8380B687-C308-4A89-9914-ABA682E5220A}"/>
              </a:ext>
            </a:extLst>
          </p:cNvPr>
          <p:cNvCxnSpPr>
            <a:cxnSpLocks/>
            <a:stCxn id="132" idx="3"/>
            <a:endCxn id="82" idx="1"/>
          </p:cNvCxnSpPr>
          <p:nvPr/>
        </p:nvCxnSpPr>
        <p:spPr bwMode="auto">
          <a:xfrm flipV="1">
            <a:off x="5059869" y="3187335"/>
            <a:ext cx="861444" cy="69192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132" idx="3"/>
            <a:endCxn id="79" idx="1"/>
          </p:cNvCxnSpPr>
          <p:nvPr/>
        </p:nvCxnSpPr>
        <p:spPr bwMode="auto">
          <a:xfrm flipV="1">
            <a:off x="5059869" y="3667794"/>
            <a:ext cx="861444" cy="21146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133" idx="3"/>
            <a:endCxn id="79" idx="1"/>
          </p:cNvCxnSpPr>
          <p:nvPr/>
        </p:nvCxnSpPr>
        <p:spPr bwMode="auto">
          <a:xfrm flipV="1">
            <a:off x="5059869" y="3667794"/>
            <a:ext cx="861444" cy="50559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134" idx="3"/>
            <a:endCxn id="79" idx="1"/>
          </p:cNvCxnSpPr>
          <p:nvPr/>
        </p:nvCxnSpPr>
        <p:spPr bwMode="auto">
          <a:xfrm flipV="1">
            <a:off x="5060225" y="3667794"/>
            <a:ext cx="861088" cy="79972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135" idx="3"/>
            <a:endCxn id="79" idx="1"/>
          </p:cNvCxnSpPr>
          <p:nvPr/>
        </p:nvCxnSpPr>
        <p:spPr bwMode="auto">
          <a:xfrm flipV="1">
            <a:off x="5060225" y="3667794"/>
            <a:ext cx="861088" cy="109385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73" idx="3"/>
            <a:endCxn id="79" idx="1"/>
          </p:cNvCxnSpPr>
          <p:nvPr/>
        </p:nvCxnSpPr>
        <p:spPr bwMode="auto">
          <a:xfrm flipV="1">
            <a:off x="5059869" y="3667794"/>
            <a:ext cx="861444" cy="139037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74" idx="3"/>
            <a:endCxn id="79" idx="1"/>
          </p:cNvCxnSpPr>
          <p:nvPr/>
        </p:nvCxnSpPr>
        <p:spPr bwMode="auto">
          <a:xfrm flipV="1">
            <a:off x="5059869" y="3667794"/>
            <a:ext cx="861444" cy="169159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xmlns="" id="{1BC458F9-C41F-4B47-8B7B-D932F6E2773B}"/>
              </a:ext>
            </a:extLst>
          </p:cNvPr>
          <p:cNvCxnSpPr>
            <a:cxnSpLocks/>
            <a:stCxn id="76" idx="3"/>
            <a:endCxn id="79" idx="1"/>
          </p:cNvCxnSpPr>
          <p:nvPr/>
        </p:nvCxnSpPr>
        <p:spPr bwMode="auto">
          <a:xfrm flipV="1">
            <a:off x="5060225" y="3667794"/>
            <a:ext cx="861088" cy="199281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132" idx="3"/>
            <a:endCxn id="83" idx="1"/>
          </p:cNvCxnSpPr>
          <p:nvPr/>
        </p:nvCxnSpPr>
        <p:spPr bwMode="auto">
          <a:xfrm>
            <a:off x="5059869" y="3879258"/>
            <a:ext cx="861444" cy="122991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133" idx="3"/>
            <a:endCxn id="83" idx="1"/>
          </p:cNvCxnSpPr>
          <p:nvPr/>
        </p:nvCxnSpPr>
        <p:spPr bwMode="auto">
          <a:xfrm>
            <a:off x="5059869" y="4173389"/>
            <a:ext cx="861444" cy="93578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134" idx="3"/>
            <a:endCxn id="83" idx="1"/>
          </p:cNvCxnSpPr>
          <p:nvPr/>
        </p:nvCxnSpPr>
        <p:spPr bwMode="auto">
          <a:xfrm>
            <a:off x="5060225" y="4467520"/>
            <a:ext cx="861088" cy="64165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135" idx="3"/>
            <a:endCxn id="83" idx="1"/>
          </p:cNvCxnSpPr>
          <p:nvPr/>
        </p:nvCxnSpPr>
        <p:spPr bwMode="auto">
          <a:xfrm>
            <a:off x="5060225" y="4761651"/>
            <a:ext cx="861088" cy="347520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73" idx="3"/>
            <a:endCxn id="83" idx="1"/>
          </p:cNvCxnSpPr>
          <p:nvPr/>
        </p:nvCxnSpPr>
        <p:spPr bwMode="auto">
          <a:xfrm>
            <a:off x="5059869" y="5058168"/>
            <a:ext cx="861444" cy="5100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73" idx="3"/>
            <a:endCxn id="87" idx="1"/>
          </p:cNvCxnSpPr>
          <p:nvPr/>
        </p:nvCxnSpPr>
        <p:spPr bwMode="auto">
          <a:xfrm>
            <a:off x="5059869" y="5058168"/>
            <a:ext cx="861444" cy="53146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135" idx="3"/>
            <a:endCxn id="87" idx="1"/>
          </p:cNvCxnSpPr>
          <p:nvPr/>
        </p:nvCxnSpPr>
        <p:spPr bwMode="auto">
          <a:xfrm>
            <a:off x="5060225" y="4761651"/>
            <a:ext cx="861088" cy="82797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134" idx="3"/>
            <a:endCxn id="87" idx="1"/>
          </p:cNvCxnSpPr>
          <p:nvPr/>
        </p:nvCxnSpPr>
        <p:spPr bwMode="auto">
          <a:xfrm>
            <a:off x="5060225" y="4467520"/>
            <a:ext cx="861088" cy="1122110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endCxn id="87" idx="1"/>
          </p:cNvCxnSpPr>
          <p:nvPr/>
        </p:nvCxnSpPr>
        <p:spPr bwMode="auto">
          <a:xfrm>
            <a:off x="5073531" y="4187292"/>
            <a:ext cx="847782" cy="1402338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132" idx="3"/>
            <a:endCxn id="87" idx="1"/>
          </p:cNvCxnSpPr>
          <p:nvPr/>
        </p:nvCxnSpPr>
        <p:spPr bwMode="auto">
          <a:xfrm>
            <a:off x="5059869" y="3879258"/>
            <a:ext cx="861444" cy="171037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134" idx="3"/>
            <a:endCxn id="80" idx="1"/>
          </p:cNvCxnSpPr>
          <p:nvPr/>
        </p:nvCxnSpPr>
        <p:spPr bwMode="auto">
          <a:xfrm>
            <a:off x="5060225" y="4467520"/>
            <a:ext cx="861088" cy="16119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73" idx="3"/>
            <a:endCxn id="80" idx="1"/>
          </p:cNvCxnSpPr>
          <p:nvPr/>
        </p:nvCxnSpPr>
        <p:spPr bwMode="auto">
          <a:xfrm flipV="1">
            <a:off x="5059869" y="4628712"/>
            <a:ext cx="861444" cy="42945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xmlns="" id="{561B8A9D-2DA9-4BB1-BC0E-50EA795E8587}"/>
              </a:ext>
            </a:extLst>
          </p:cNvPr>
          <p:cNvCxnSpPr>
            <a:cxnSpLocks/>
            <a:stCxn id="132" idx="3"/>
            <a:endCxn id="81" idx="1"/>
          </p:cNvCxnSpPr>
          <p:nvPr/>
        </p:nvCxnSpPr>
        <p:spPr bwMode="auto">
          <a:xfrm>
            <a:off x="5059869" y="3879258"/>
            <a:ext cx="861444" cy="26899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xmlns="" id="{561B8A9D-2DA9-4BB1-BC0E-50EA795E8587}"/>
              </a:ext>
            </a:extLst>
          </p:cNvPr>
          <p:cNvCxnSpPr>
            <a:cxnSpLocks/>
            <a:stCxn id="133" idx="3"/>
            <a:endCxn id="81" idx="1"/>
          </p:cNvCxnSpPr>
          <p:nvPr/>
        </p:nvCxnSpPr>
        <p:spPr bwMode="auto">
          <a:xfrm flipV="1">
            <a:off x="5059869" y="4148253"/>
            <a:ext cx="861444" cy="2513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xmlns="" id="{561B8A9D-2DA9-4BB1-BC0E-50EA795E8587}"/>
              </a:ext>
            </a:extLst>
          </p:cNvPr>
          <p:cNvCxnSpPr>
            <a:cxnSpLocks/>
            <a:stCxn id="134" idx="3"/>
            <a:endCxn id="81" idx="1"/>
          </p:cNvCxnSpPr>
          <p:nvPr/>
        </p:nvCxnSpPr>
        <p:spPr bwMode="auto">
          <a:xfrm flipV="1">
            <a:off x="5060225" y="4148253"/>
            <a:ext cx="861088" cy="31926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xmlns="" id="{561B8A9D-2DA9-4BB1-BC0E-50EA795E8587}"/>
              </a:ext>
            </a:extLst>
          </p:cNvPr>
          <p:cNvCxnSpPr>
            <a:cxnSpLocks/>
            <a:stCxn id="135" idx="3"/>
            <a:endCxn id="81" idx="1"/>
          </p:cNvCxnSpPr>
          <p:nvPr/>
        </p:nvCxnSpPr>
        <p:spPr bwMode="auto">
          <a:xfrm flipV="1">
            <a:off x="5060225" y="4148253"/>
            <a:ext cx="861088" cy="613398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xmlns="" id="{561B8A9D-2DA9-4BB1-BC0E-50EA795E8587}"/>
              </a:ext>
            </a:extLst>
          </p:cNvPr>
          <p:cNvCxnSpPr>
            <a:cxnSpLocks/>
            <a:stCxn id="73" idx="3"/>
            <a:endCxn id="81" idx="1"/>
          </p:cNvCxnSpPr>
          <p:nvPr/>
        </p:nvCxnSpPr>
        <p:spPr bwMode="auto">
          <a:xfrm flipV="1">
            <a:off x="5059869" y="4148253"/>
            <a:ext cx="861444" cy="90991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xmlns="" id="{561B8A9D-2DA9-4BB1-BC0E-50EA795E8587}"/>
              </a:ext>
            </a:extLst>
          </p:cNvPr>
          <p:cNvCxnSpPr>
            <a:cxnSpLocks/>
            <a:stCxn id="133" idx="3"/>
            <a:endCxn id="80" idx="1"/>
          </p:cNvCxnSpPr>
          <p:nvPr/>
        </p:nvCxnSpPr>
        <p:spPr bwMode="auto">
          <a:xfrm>
            <a:off x="5059869" y="4173389"/>
            <a:ext cx="861444" cy="45532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74" idx="3"/>
            <a:endCxn id="83" idx="1"/>
          </p:cNvCxnSpPr>
          <p:nvPr/>
        </p:nvCxnSpPr>
        <p:spPr bwMode="auto">
          <a:xfrm flipV="1">
            <a:off x="5059869" y="5109171"/>
            <a:ext cx="861444" cy="25021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lgDash"/>
            <a:round/>
            <a:headEnd type="oval" w="med" len="med"/>
            <a:tailEnd type="triangle"/>
          </a:ln>
          <a:effectLst/>
        </p:spPr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xmlns="" id="{1598BC09-F3C7-4642-8309-9D5205C9902D}"/>
              </a:ext>
            </a:extLst>
          </p:cNvPr>
          <p:cNvCxnSpPr>
            <a:cxnSpLocks/>
            <a:stCxn id="76" idx="3"/>
            <a:endCxn id="83" idx="1"/>
          </p:cNvCxnSpPr>
          <p:nvPr/>
        </p:nvCxnSpPr>
        <p:spPr bwMode="auto">
          <a:xfrm flipV="1">
            <a:off x="5060225" y="5109171"/>
            <a:ext cx="861088" cy="551440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lgDash"/>
            <a:round/>
            <a:headEnd type="oval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7801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2.2 </a:t>
            </a:r>
            <a:r>
              <a:rPr lang="ko-KR" altLang="en-US" smtClean="0"/>
              <a:t>이행과제의 추진방안</a:t>
            </a:r>
            <a:r>
              <a:rPr lang="en-US" altLang="ko-KR" smtClean="0"/>
              <a:t>(1/5)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2.2 </a:t>
            </a:r>
            <a:r>
              <a:rPr lang="ko-KR" altLang="en-US" smtClean="0"/>
              <a:t>이행과제의 추진방안</a:t>
            </a:r>
            <a:endParaRPr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xmlns="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93025"/>
              </p:ext>
            </p:extLst>
          </p:nvPr>
        </p:nvGraphicFramePr>
        <p:xfrm>
          <a:off x="348871" y="988162"/>
          <a:ext cx="9136380" cy="532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:a16="http://schemas.microsoft.com/office/drawing/2014/main" xmlns="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xmlns="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09553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1222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DATABASE </a:t>
                      </a:r>
                      <a:r>
                        <a:rPr lang="ko-KR" altLang="en-US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설계</a:t>
                      </a: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표준화 설계 반영</a:t>
                      </a: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개선</a:t>
                      </a: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en-US" altLang="ko-KR" sz="1000" b="1" kern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r>
                        <a:rPr kumimoji="1" lang="en-US" altLang="ko-KR" sz="1000" b="1" kern="0" baseline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kern="0" baseline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표준화 적용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Ⅲ-3.7 DATABASE</a:t>
                      </a:r>
                      <a:r>
                        <a:rPr kumimoji="1" lang="en-US" altLang="ko-KR" sz="1000" b="1" kern="0" baseline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kern="0" baseline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표준화 적용 </a:t>
                      </a:r>
                      <a:r>
                        <a:rPr kumimoji="1" lang="ko-KR" altLang="en-US" sz="1000" kern="0" baseline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kumimoji="1" lang="en-US" altLang="ko-KR" sz="1000" kern="0" baseline="0" noProof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DATABASE </a:t>
                      </a:r>
                      <a:r>
                        <a:rPr lang="ko-KR" altLang="en-US" sz="1000" smtClean="0"/>
                        <a:t>설계와 개발을 표준화하고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전사적인 데이터 표준의 사용 및 재사용을 통해 시스템 간 상호 운용성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공유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시스템 통합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비즈니스 프로세스 개선 등을 지원 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1222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데이터 아키텍처</a:t>
                      </a:r>
                      <a:r>
                        <a:rPr lang="en-US" altLang="ko-KR" sz="1000" b="1" smtClean="0"/>
                        <a:t>(DA) </a:t>
                      </a:r>
                      <a:r>
                        <a:rPr lang="ko-KR" altLang="en-US" sz="1000" b="1" smtClean="0"/>
                        <a:t>표준 준수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Ⅲ-2.9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데이터 아키텍처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(DA)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표준 준수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데이터 품질 방침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관리 조직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품질지표 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구조관리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연계정보 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표준관리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품질관리 프로세스 준수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7204475"/>
                  </a:ext>
                </a:extLst>
              </a:tr>
              <a:tr h="611222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데이터관리체계 표준화 방안 수립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2.10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데이터관리체계 표준화 방안 수립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현행 </a:t>
                      </a:r>
                      <a:r>
                        <a:rPr lang="en-US" altLang="ko-KR" sz="1000" smtClean="0"/>
                        <a:t>DATABASE </a:t>
                      </a:r>
                      <a:r>
                        <a:rPr lang="ko-KR" altLang="en-US" sz="1000" smtClean="0"/>
                        <a:t>점검 결과 데이터품질관리체계를 강화하고 체계적인 품질관리 업무 지원을 위한 데이터 품질관리 표준화 방안 수립이 가장 우선 과제로 식별됨 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879302"/>
                  </a:ext>
                </a:extLst>
              </a:tr>
              <a:tr h="611222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자산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회계 데이터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단일화 및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정합성 처리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자산 데이터 일원화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2.6.2.1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시스템 자산목록과 회계 자산목록의 일치</a:t>
                      </a:r>
                      <a:r>
                        <a:rPr lang="ko-KR" altLang="en-US" sz="1000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kern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회계에서 감가상각을 위해 관리하는 자산 목록과 시스템에서 관리하는 실물 자산의 목록과 금액을 동일하게 처리하여 시스템에서 감가상각을 수행하고</a:t>
                      </a:r>
                      <a:r>
                        <a:rPr kumimoji="1" lang="en-US" altLang="ko-KR" sz="1000" kern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kern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감가상각 전표를 생성하는 기능 구축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83791880"/>
                  </a:ext>
                </a:extLst>
              </a:tr>
              <a:tr h="611222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회계 결산자료의 시스템 반영 및 결산 기능 구축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2.4.2.7 2022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년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,2023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년 결산자료의 시스템 반영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회계시스템과 결산장부가 일치할 수 있도록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2022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2023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년 미처리된 결의서 데이터를 전표화하고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각종 회계장부의 기능 확인 및 고도화와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결산 기능 구축에 의해 시스템으로 결산 처리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endParaRPr kumimoji="1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77657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업무처리를 위한 가장 기본적인 기능 구축 필요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Ⅱ-2.3.4.1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 운용성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분석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현행 </a:t>
                      </a:r>
                      <a:r>
                        <a:rPr lang="en-US" altLang="ko-KR" sz="1000" smtClean="0"/>
                        <a:t>ERP</a:t>
                      </a:r>
                      <a:r>
                        <a:rPr lang="ko-KR" altLang="en-US" sz="1000" smtClean="0"/>
                        <a:t>시스템에서 예산 업무 외에는 업무를 처리하기 위한 기본 기능이 결여된 상태이므로 업무별로 단일 업무의 시작점부터 종료점까지의 기본기능을 우선적으로 구축하여 단일화된 시스템에서 업무를 수행하여 데이터를 관리할 수 있도록 처리하는 사업이 필수적임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63845878"/>
                  </a:ext>
                </a:extLst>
              </a:tr>
              <a:tr h="107724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 체계화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기준정보의 통합 설계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기준정보의 통합 관리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-93663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kumimoji="1" lang="en-US" altLang="ko-KR" sz="1000" b="1" kern="0" smtClean="0">
                          <a:solidFill>
                            <a:srgbClr val="0000CC"/>
                          </a:solidFill>
                        </a:rPr>
                        <a:t>2.2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기준정보 관리체계 개선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b="1" smtClean="0">
                        <a:solidFill>
                          <a:srgbClr val="0000CC"/>
                        </a:solidFill>
                      </a:endParaRPr>
                    </a:p>
                    <a:p>
                      <a:pPr marL="0" marR="0" lvl="0" indent="0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각 업무별로 사용하고 있는 거래처코드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사업코드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사업장 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물품코드 등의 기준정보는 통합된 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TABLE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 관리하고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각 필요에 따라 입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출력 형태를 다르게 관리할 수 있도록 설계하고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</a:p>
                    <a:p>
                      <a:pPr marL="0" marR="0" lvl="0" indent="0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동일한 성격의 일반코드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결재진행구분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증빙구분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단위구분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국가코드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화폐코드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조달구분 등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은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DATABASE</a:t>
                      </a:r>
                      <a:r>
                        <a:rPr kumimoji="1" lang="en-US" altLang="ko-KR" sz="1000" kern="0" baseline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표준화에 의해 동일한 칼럼아이디를 사용하여 단일화하여 관리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01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2.2 </a:t>
            </a:r>
            <a:r>
              <a:rPr lang="ko-KR" altLang="en-US" smtClean="0"/>
              <a:t>이행과제의 추진방안</a:t>
            </a:r>
            <a:r>
              <a:rPr lang="en-US" altLang="ko-KR" smtClean="0"/>
              <a:t>(2/5)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2.2 </a:t>
            </a:r>
            <a:r>
              <a:rPr lang="ko-KR" altLang="en-US"/>
              <a:t>이행과제의 </a:t>
            </a:r>
            <a:r>
              <a:rPr lang="ko-KR" altLang="en-US" smtClean="0"/>
              <a:t>추진방안</a:t>
            </a:r>
            <a:endParaRPr lang="en-US" altLang="ko-KR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xmlns="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202477"/>
              </p:ext>
            </p:extLst>
          </p:nvPr>
        </p:nvGraphicFramePr>
        <p:xfrm>
          <a:off x="348871" y="988161"/>
          <a:ext cx="9136380" cy="54650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:a16="http://schemas.microsoft.com/office/drawing/2014/main" xmlns="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xmlns="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518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8822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 흐름에 부합하는 프로그램 기능 설계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/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구축</a:t>
                      </a:r>
                    </a:p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업무별 기본 기능 충족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Ⅲ-3.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업무별 개선안 설계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단위업무 분류별로 요구기능을 충족하고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업무 프로세스를 진행할 수 있는 최소한의 기능을 신속하게 구축하여 제공함으로써</a:t>
                      </a:r>
                      <a:r>
                        <a:rPr lang="en-US" altLang="ko-KR" sz="1000" smtClean="0"/>
                        <a:t>,</a:t>
                      </a:r>
                      <a:r>
                        <a:rPr lang="ko-KR" altLang="en-US" sz="1000" smtClean="0"/>
                        <a:t> 시스템 내에서 담당업무를 추진할 수 있다는 사용자의 신뢰를 바탕으로 코레일테크의 최적화시스템을 구현할 수 있음</a:t>
                      </a:r>
                      <a:r>
                        <a:rPr lang="en-US" altLang="ko-KR" sz="1000" smtClean="0"/>
                        <a:t> 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72665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사용자 중심의 기능 구축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Ⅱ- 2.3.5.5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이해관계자 인터뷰 결과 통계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이해관계자 요구 분석 결과 업무를 처리하는 기본기능 누락은 물론 사용하고 있는 기능에서도 사용자 중심의 업무흐름이 연결되지 않아서 업무처리에 대한 확신이 부족한 상태이며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이를 해소하기 위해서는 설계 및 테스트 시점에 사용자가 참여하여 단위 화면의 기능에서부터 후속 업무처리까지 확인할 수 있는 개발방법의 도입이 필요함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7204475"/>
                  </a:ext>
                </a:extLst>
              </a:tr>
              <a:tr h="880357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데이터 흐름에 의한 표준화 업무 처리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Ⅱ- 2.3.3.1 DATABASE/DATA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분석 개요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spc="-30" smtClean="0">
                          <a:latin typeface="+mn-ea"/>
                        </a:rPr>
                        <a:t>데이터베이스에서 제공하는 기능을 사용하여 업무처리의 신속성과 업무 정합성을 유지할 수 있도록  설계하여 후속 업무에 진행을 </a:t>
                      </a:r>
                      <a:r>
                        <a:rPr lang="en-US" altLang="ko-KR" sz="1000" spc="-30" smtClean="0">
                          <a:latin typeface="+mn-ea"/>
                        </a:rPr>
                        <a:t>PUSH</a:t>
                      </a:r>
                      <a:r>
                        <a:rPr lang="ko-KR" altLang="en-US" sz="1000" spc="-30" smtClean="0">
                          <a:latin typeface="+mn-ea"/>
                        </a:rPr>
                        <a:t>하는 데이터를 생성하거나</a:t>
                      </a:r>
                      <a:r>
                        <a:rPr lang="en-US" altLang="ko-KR" sz="1000" spc="-30" smtClean="0">
                          <a:latin typeface="+mn-ea"/>
                        </a:rPr>
                        <a:t>,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smtClean="0">
                          <a:latin typeface="+mn-ea"/>
                        </a:rPr>
                        <a:t>진행상태에 따라 자동으로 집계 및 자료생성을 처리하는 표준화된 기능을 구축하여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업무와 데이터의 흐름이 일관성있고 데이터의 정합성을 유지할 수 있도록 함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879302"/>
                  </a:ext>
                </a:extLst>
              </a:tr>
              <a:tr h="1026508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 편의를 제공하는 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 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 설계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기본적인 </a:t>
                      </a:r>
                      <a:r>
                        <a:rPr lang="en-US" altLang="ko-KR" sz="1000" b="1" smtClean="0"/>
                        <a:t>UI_UX</a:t>
                      </a:r>
                      <a:r>
                        <a:rPr lang="en-US" altLang="ko-KR" sz="1000" b="1" baseline="0" smtClean="0"/>
                        <a:t> </a:t>
                      </a:r>
                      <a:r>
                        <a:rPr lang="ko-KR" altLang="en-US" sz="1000" b="1" smtClean="0"/>
                        <a:t>기능 제공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Ⅱ- 2.3.5.5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이해관계자 인터뷰 결과 통계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시스템 현황 조사 결과 업무를 처리하는 개별 프로그램별의 기능이 기본적으로 인식하고 있는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UI-UX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수준에 미치지 못하고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이해관계자 요구 분석 결과 프로그램의 기본 기능 및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프로세스 처리 체계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사용자 중심의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UI-UX</a:t>
                      </a:r>
                      <a:r>
                        <a:rPr lang="en-US" altLang="ko-KR" sz="1000" kern="0" baseline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kern="0" baseline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등에 개한 요구사항이 가장 많은 것으로 조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사되었으며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이를 개선하기 위해서는 기본적인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UI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표준부터 새롭게 마련하고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업무 프로세스에 따르는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UX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를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설계하여 기본 업무처리에 누락된 부분이 없도록 표준을 준수하는 프로그래밍 체제의 도입을 권고함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83791880"/>
                  </a:ext>
                </a:extLst>
              </a:tr>
              <a:tr h="872665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중심의 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UI-UX 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Ⅱ-2.4.4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적용가능 기술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사용자가 요구하는 화면과 기능을 제공하기 위해서는 우선 화면 표준을 제시하고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사용자가 표준 내에서 화면의 구성이나 기능 구성을 직접 요청하는 방식으로 진행될 수 있도록 해야 하며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이를 가능하게 하는 개발방법을 도입하여 화면설계 및 테스트시점에 사용자가 직접 참여하여 의견을 제시하여 즉석에서 반영될 수 있도록 함으로써 사용자 중심의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를 구현함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endParaRPr kumimoji="1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8822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규직적이고 반복적인 업무의 자동화 필요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Ⅱ-2.4.4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적용가능 기술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연계되지 않는 시스템에서 자료를 취합하거나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내부시스템의 자료를 외부시스템에 입력하는 등의 규칙적이고 반복적인 업무를 처리하는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솔루션을 도입하여 신속한 정보제공 및 보고처리를 가능하게 함으로써 고급인력의 단순업무 처리를 최소화하고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업무처리 능률을 제고함</a:t>
                      </a:r>
                      <a:r>
                        <a:rPr lang="en-US" altLang="ko-KR" sz="1000" smtClean="0"/>
                        <a:t> 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6384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81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2.2 </a:t>
            </a:r>
            <a:r>
              <a:rPr lang="ko-KR" altLang="en-US"/>
              <a:t>이행과제의 </a:t>
            </a:r>
            <a:r>
              <a:rPr lang="ko-KR" altLang="en-US" smtClean="0"/>
              <a:t>추진방안</a:t>
            </a:r>
            <a:r>
              <a:rPr lang="en-US" altLang="ko-KR" smtClean="0"/>
              <a:t>(3/5)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2.2 </a:t>
            </a:r>
            <a:r>
              <a:rPr lang="ko-KR" altLang="en-US"/>
              <a:t>이행과제의 추진방안</a:t>
            </a:r>
            <a:endParaRPr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xmlns="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894331"/>
              </p:ext>
            </p:extLst>
          </p:nvPr>
        </p:nvGraphicFramePr>
        <p:xfrm>
          <a:off x="348871" y="988161"/>
          <a:ext cx="9136380" cy="5440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:a16="http://schemas.microsoft.com/office/drawing/2014/main" xmlns="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xmlns="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518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8822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ysClr val="windowText" lastClr="000000"/>
                          </a:solidFill>
                          <a:latin typeface="+mn-ea"/>
                        </a:rPr>
                        <a:t>예산관리 업무 개선 </a:t>
                      </a:r>
                    </a:p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예산관리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2.3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예산관리 개선 및 업무 효율화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lvl="0" indent="0" defTabSz="979488" latinLnBrk="0">
                        <a:spcBef>
                          <a:spcPct val="5000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예산편성</a:t>
                      </a:r>
                      <a:r>
                        <a:rPr kumimoji="1" lang="ko-KR" altLang="en-US" sz="1000" b="0" i="0" u="none" strike="noStrike" kern="0" cap="none" spc="0" normalizeH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업무를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 정형화되고 세분화된 입력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방식으로 전환하여 일관되고 명확한 예산편성과 분석 체계를 설계하고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예산 편성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배정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조정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집행통제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실적집계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예산결산 업무의 체계화와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예산편성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~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예산결산 전 과정의 신청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승인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확정 처리의 전자결재 연동 처리</a:t>
                      </a:r>
                      <a:endParaRPr kumimoji="1" lang="en-US" altLang="ko-KR" sz="1000" kern="0" smtClean="0">
                        <a:solidFill>
                          <a:prstClr val="black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31788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3.2.1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예산관리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1000" smtClean="0"/>
                        <a:t>수작업으로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처리하고 있는 중기사업계획을 시스템화하고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예산편성 효율화를 위해 각 부서에서 사업별 예산요구안을 정형화된 형태로 입력하여 신청하고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이를 취합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조정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심의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확정하는 처리와 예산 집행계획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배정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변경</a:t>
                      </a:r>
                      <a:r>
                        <a:rPr lang="en-US" altLang="ko-KR" sz="1000" smtClean="0"/>
                        <a:t>(</a:t>
                      </a:r>
                      <a:r>
                        <a:rPr lang="ko-KR" altLang="en-US" sz="1000" smtClean="0"/>
                        <a:t>전용</a:t>
                      </a:r>
                      <a:r>
                        <a:rPr lang="en-US" altLang="ko-KR" sz="1000" smtClean="0"/>
                        <a:t>,</a:t>
                      </a:r>
                      <a:r>
                        <a:rPr lang="ko-KR" altLang="en-US" sz="1000" smtClean="0"/>
                        <a:t>추경</a:t>
                      </a:r>
                      <a:r>
                        <a:rPr lang="en-US" altLang="ko-KR" sz="1000" smtClean="0"/>
                        <a:t>)/</a:t>
                      </a:r>
                      <a:r>
                        <a:rPr lang="ko-KR" altLang="en-US" sz="1000" smtClean="0"/>
                        <a:t>집행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결산하는 과정을 체계적으로 개선함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7204475"/>
                  </a:ext>
                </a:extLst>
              </a:tr>
              <a:tr h="880357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3.2.1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예산관리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예산편성 자료의 입력 및 확정처리 시스템화로 예산편성 세부내역과 편성차수별 이력을 관리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추가 요구기능의 도입 </a:t>
                      </a:r>
                      <a:r>
                        <a:rPr lang="en-US" altLang="ko-KR" sz="1000" spc="-30" smtClean="0">
                          <a:latin typeface="+mn-ea"/>
                        </a:rPr>
                        <a:t>–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예산통제기능 데이터화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중기사업계획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예산절감목표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예산이월처리</a:t>
                      </a:r>
                      <a:r>
                        <a:rPr lang="en-US" altLang="ko-KR" sz="1000" spc="-30" smtClean="0">
                          <a:latin typeface="+mn-ea"/>
                        </a:rPr>
                        <a:t>  </a:t>
                      </a: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 업무흐름의 전자결재 연동으로 신청</a:t>
                      </a:r>
                      <a:r>
                        <a:rPr lang="en-US" altLang="ko-KR" sz="1000" spc="-30" smtClean="0">
                          <a:latin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spc="-30" smtClean="0">
                          <a:latin typeface="+mn-ea"/>
                          <a:sym typeface="Wingdings" panose="05000000000000000000" pitchFamily="2" charset="2"/>
                        </a:rPr>
                        <a:t>승인</a:t>
                      </a:r>
                      <a:r>
                        <a:rPr lang="en-US" altLang="ko-KR" sz="1000" spc="-30" smtClean="0">
                          <a:latin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spc="-30" smtClean="0">
                          <a:latin typeface="+mn-ea"/>
                          <a:sym typeface="Wingdings" panose="05000000000000000000" pitchFamily="2" charset="2"/>
                        </a:rPr>
                        <a:t>예산파트 처리 흐름 유지</a:t>
                      </a:r>
                      <a:r>
                        <a:rPr lang="ko-KR" altLang="en-US" sz="1000" spc="-30" smtClean="0">
                          <a:latin typeface="+mn-ea"/>
                        </a:rPr>
                        <a:t>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879302"/>
                  </a:ext>
                </a:extLst>
              </a:tr>
              <a:tr h="1026508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회계관리 업무 개선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2.3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예산관리 개선 및 업무 효율화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r>
                        <a:rPr lang="ko-KR" altLang="en-US" sz="1000" smtClean="0"/>
                        <a:t>국제회계기준 도입에 의한 회계 전반적인 업무처리 기준을 개선하고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결의서의 기능 세분화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입출금 관리 개선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세무 전자신고 처리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마감제도 도입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결산처리 자동화 및 결산주석 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연결재무제표 자료 제공 등의 기능 고도화와 예산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자산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구매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사업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급여 등의 타 시스템에서 발생하는 재무변동사항을 전표형태로 용이하게 취합할 수 있는 구조로 개선하고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외부 시스템과의 긴밀한 연계를 통하여 업무의 정확성과 효율성을 강화하는 방향으로 개선하고자 함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83791880"/>
                  </a:ext>
                </a:extLst>
              </a:tr>
              <a:tr h="872665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3.3.1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회계관리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1000" smtClean="0"/>
                        <a:t>회계업무는 회계기준자료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결의서관리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전표관리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자금관리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결산관리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세무관리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부문으로 분류하고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각 업무구분별 세부기능을 추가 및 보완하여 예산을 집행하는 시점부터 예산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회계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자산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사업 등의 관련업무가 통합처리되어 결산처리까지 정보의 무결성을 유지하도록 함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8822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3.3.1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회계관리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결의서 세분화와 증빙관리 기능 도입으로</a:t>
                      </a:r>
                      <a:r>
                        <a:rPr lang="en-US" altLang="ko-KR" sz="1000" spc="-30" smtClean="0">
                          <a:latin typeface="+mn-ea"/>
                        </a:rPr>
                        <a:t>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예산집행 및 확정시 증빙 확인과</a:t>
                      </a:r>
                      <a:r>
                        <a:rPr lang="en-US" altLang="ko-KR" sz="1000" spc="-30" smtClean="0">
                          <a:latin typeface="+mn-ea"/>
                        </a:rPr>
                        <a:t> </a:t>
                      </a:r>
                      <a:r>
                        <a:rPr lang="ko-KR" altLang="en-US" sz="1000" spc="-30" smtClean="0">
                          <a:latin typeface="+mn-ea"/>
                        </a:rPr>
                        <a:t>전표 자동분개 처리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추가 요구기능의 도입 </a:t>
                      </a:r>
                      <a:r>
                        <a:rPr lang="en-US" altLang="ko-KR" sz="1000" spc="-30" smtClean="0">
                          <a:latin typeface="+mn-ea"/>
                        </a:rPr>
                        <a:t>– </a:t>
                      </a:r>
                      <a:r>
                        <a:rPr lang="ko-KR" altLang="en-US" sz="1000" spc="-30" smtClean="0">
                          <a:latin typeface="+mn-ea"/>
                        </a:rPr>
                        <a:t>마감관리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입출금관리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결산관리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세무전자신고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연결재무제표 처리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증빙관리 솔루션 도입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매출에 대한 전자세금계산서 발행 사이트 시스템 연계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6384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63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2.2 </a:t>
            </a:r>
            <a:r>
              <a:rPr lang="ko-KR" altLang="en-US" smtClean="0"/>
              <a:t>이행과제의 추진방안</a:t>
            </a:r>
            <a:r>
              <a:rPr lang="en-US" altLang="ko-KR" smtClean="0"/>
              <a:t>(4/5)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2.2 </a:t>
            </a:r>
            <a:r>
              <a:rPr lang="ko-KR" altLang="en-US"/>
              <a:t>이행과제의 추진방안</a:t>
            </a:r>
            <a:endParaRPr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xmlns="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607439"/>
              </p:ext>
            </p:extLst>
          </p:nvPr>
        </p:nvGraphicFramePr>
        <p:xfrm>
          <a:off x="348871" y="988161"/>
          <a:ext cx="9136380" cy="5479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:a16="http://schemas.microsoft.com/office/drawing/2014/main" xmlns="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xmlns="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4630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8735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ysClr val="windowText" lastClr="000000"/>
                          </a:solidFill>
                          <a:latin typeface="+mn-ea"/>
                        </a:rPr>
                        <a:t>구매관리 업무 개선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2.5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구매관리 개선 및 업무 효율화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예산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회계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자산관리 시스템과 추진 단계별로 연계하고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각 </a:t>
                      </a:r>
                      <a:r>
                        <a:rPr lang="ko-KR" altLang="en-US" sz="1000" smtClean="0">
                          <a:latin typeface="+mn-ea"/>
                        </a:rPr>
                        <a:t>단계별로 요구되는 승인요청 및 승인처리를 전자결재시스템과 연계하여 각종 문서를 처리할 수 있도록 하며</a:t>
                      </a:r>
                      <a:r>
                        <a:rPr lang="en-US" altLang="ko-KR" sz="1000" smtClean="0">
                          <a:latin typeface="+mn-ea"/>
                        </a:rPr>
                        <a:t> RPA</a:t>
                      </a:r>
                      <a:r>
                        <a:rPr lang="ko-KR" altLang="en-US" sz="1000" smtClean="0">
                          <a:latin typeface="+mn-ea"/>
                        </a:rPr>
                        <a:t>도입에 의해 단계별 진행현황을 실시간으로 추출하여 제공함으로써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사용자의 편의와 업무의 효율성을 제고</a:t>
                      </a:r>
                      <a:endParaRPr kumimoji="1" lang="en-US" altLang="ko-KR" sz="1000" kern="0" smtClean="0">
                        <a:solidFill>
                          <a:prstClr val="black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8717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3.4.1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구매관리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spcAft>
                          <a:spcPct val="30000"/>
                        </a:spcAft>
                        <a:buClr>
                          <a:srgbClr val="808080"/>
                        </a:buClr>
                      </a:pP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물품분류 및 물품코드를 관리하여 물품의 구매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수불 등의 기준을 관리하고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ko-KR" altLang="en-US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 대한 요청을 받아서 재고를 확인한 다음 출고처리하고 부족할 경우 구매 결정한다</a:t>
                      </a:r>
                      <a:r>
                        <a:rPr lang="en-US" altLang="ko-KR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나라장터 조달일 경우 사전규격을 등록하고</a:t>
                      </a:r>
                      <a:r>
                        <a:rPr lang="en-US" altLang="ko-KR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RPA </a:t>
                      </a:r>
                      <a:r>
                        <a:rPr lang="ko-KR" altLang="en-US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솔루션 도입으로 입찰</a:t>
                      </a:r>
                      <a:r>
                        <a:rPr lang="en-US" altLang="ko-KR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진행정보를 취합하고 입고가 되면 검수 처리하여 대금지급</a:t>
                      </a:r>
                      <a:r>
                        <a:rPr lang="en-US" altLang="ko-KR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지출결의</a:t>
                      </a:r>
                      <a:r>
                        <a:rPr lang="en-US" altLang="ko-KR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을 생성하고</a:t>
                      </a:r>
                      <a:r>
                        <a:rPr lang="en-US" altLang="ko-KR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수불대상일 경우 입고처리하여 물품수불을 관리한다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7204475"/>
                  </a:ext>
                </a:extLst>
              </a:tr>
              <a:tr h="456848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3.4.1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구매관리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물품코드 관리 </a:t>
                      </a:r>
                      <a:r>
                        <a:rPr lang="en-US" altLang="ko-KR" sz="1000" spc="-30" smtClean="0">
                          <a:latin typeface="+mn-ea"/>
                        </a:rPr>
                        <a:t>– RPA</a:t>
                      </a:r>
                      <a:r>
                        <a:rPr lang="ko-KR" altLang="en-US" sz="1000" spc="-30" smtClean="0">
                          <a:latin typeface="+mn-ea"/>
                        </a:rPr>
                        <a:t>에 의해 조달물품을 등록하고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물품 청구시 등록된 물품코드를 선택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입력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조달청에 사전규격 등록 후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입찰</a:t>
                      </a:r>
                      <a:r>
                        <a:rPr lang="en-US" altLang="ko-KR" sz="1000" spc="-30" smtClean="0">
                          <a:latin typeface="+mn-ea"/>
                        </a:rPr>
                        <a:t>~</a:t>
                      </a:r>
                      <a:r>
                        <a:rPr lang="ko-KR" altLang="en-US" sz="1000" spc="-30" smtClean="0">
                          <a:latin typeface="+mn-ea"/>
                        </a:rPr>
                        <a:t>계약 진행사항을 </a:t>
                      </a:r>
                      <a:r>
                        <a:rPr lang="en-US" altLang="ko-KR" sz="1000" spc="-30" smtClean="0">
                          <a:latin typeface="+mn-ea"/>
                        </a:rPr>
                        <a:t>RPA </a:t>
                      </a:r>
                      <a:r>
                        <a:rPr lang="ko-KR" altLang="en-US" sz="1000" spc="-30" smtClean="0">
                          <a:latin typeface="+mn-ea"/>
                        </a:rPr>
                        <a:t>솔루션 도입으로 실시간 파악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선금 및 입고시 대금지불 결의서 자동 생성 처리 및 결재처리의 전자결재 연동</a:t>
                      </a:r>
                      <a:r>
                        <a:rPr lang="en-US" altLang="ko-KR" sz="1000" spc="-30" smtClean="0">
                          <a:latin typeface="+mn-ea"/>
                        </a:rPr>
                        <a:t>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879302"/>
                  </a:ext>
                </a:extLst>
              </a:tr>
              <a:tr h="434979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자산관리 업무 개선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2.6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자산관리 개선 및 업무 효율화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lvl="0" indent="0" defTabSz="979488" latinLnBrk="0">
                        <a:spcBef>
                          <a:spcPct val="5000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회계의 자산목록과 시스템에서 관리하는 실물자산을 정비하여 일원화하여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시스템에서 감가상각 계산을 처리하며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자산 분류의 세분화와 자산분류별 표준 내용연수를 다르게 관리할 수 있도록 하고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자산 취득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처분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감가상각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자산결산 등의 전표를 자동생성하여 업무 효율성을 제고</a:t>
                      </a:r>
                      <a:endParaRPr kumimoji="1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83791880"/>
                  </a:ext>
                </a:extLst>
              </a:tr>
              <a:tr h="653673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3.5.1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자산관리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spcAft>
                          <a:spcPct val="30000"/>
                        </a:spcAft>
                        <a:buClr>
                          <a:schemeClr val="bg2"/>
                        </a:buClr>
                      </a:pP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자산의 취득에서부터 배치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후속지출 처리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자산의 이동과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자산 실사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자산의 불용과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처분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감가상각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자산 손상처리 등 각종 자산변동이력을 개별자산별로 관리하고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재무변동이 발생하는 자산의 취득과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처분 및 감가상각 결과와 결산시 건설중인자산 결산사항 등을 회계시스템에 결의서로 제공하고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자산 취득시 검수</a:t>
                      </a: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입고 데이터에 의해 자산으로 취득되는 물품정보와 가계정에 집계된 자산취득 금액을 산출하는 등 타 시스템과의 긴밀한 연계를 통하여 자산관리 담당자가 효율적으로 자산관리 업무를 처리할 수 있도록 지원함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53673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3.5.1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자산관리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자산 분류의 세분화 및 자산 분류에 의한 표준 내용연수 관리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자산 취득건별로 가계정번호를 부여하여 자산취득에 사용된 취득금액을 집계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취득 처리 세분화</a:t>
                      </a:r>
                      <a:r>
                        <a:rPr lang="en-US" altLang="ko-KR" sz="1000" spc="-30" smtClean="0">
                          <a:latin typeface="+mn-ea"/>
                        </a:rPr>
                        <a:t>(</a:t>
                      </a:r>
                      <a:r>
                        <a:rPr lang="ko-KR" altLang="en-US" sz="1000" spc="-30" smtClean="0">
                          <a:latin typeface="+mn-ea"/>
                        </a:rPr>
                        <a:t>구매자산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공사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용역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사용권자산</a:t>
                      </a:r>
                      <a:r>
                        <a:rPr lang="en-US" altLang="ko-KR" sz="1000" spc="-30" smtClean="0">
                          <a:latin typeface="+mn-ea"/>
                        </a:rPr>
                        <a:t>) </a:t>
                      </a:r>
                      <a:r>
                        <a:rPr lang="ko-KR" altLang="en-US" sz="1000" spc="-30" smtClean="0">
                          <a:latin typeface="+mn-ea"/>
                        </a:rPr>
                        <a:t>및 취득결의서</a:t>
                      </a:r>
                      <a:r>
                        <a:rPr lang="en-US" altLang="ko-KR" sz="1000" spc="-30" smtClean="0">
                          <a:latin typeface="+mn-ea"/>
                        </a:rPr>
                        <a:t>(</a:t>
                      </a:r>
                      <a:r>
                        <a:rPr lang="ko-KR" altLang="en-US" sz="1000" spc="-30" smtClean="0">
                          <a:latin typeface="+mn-ea"/>
                        </a:rPr>
                        <a:t>전표</a:t>
                      </a:r>
                      <a:r>
                        <a:rPr lang="en-US" altLang="ko-KR" sz="1000" spc="-30" smtClean="0">
                          <a:latin typeface="+mn-ea"/>
                        </a:rPr>
                        <a:t>) </a:t>
                      </a:r>
                      <a:r>
                        <a:rPr lang="ko-KR" altLang="en-US" sz="1000" spc="-30" smtClean="0">
                          <a:latin typeface="+mn-ea"/>
                        </a:rPr>
                        <a:t>자동 생성 처리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4) </a:t>
                      </a:r>
                      <a:r>
                        <a:rPr lang="ko-KR" altLang="en-US" sz="1000" spc="-30" smtClean="0">
                          <a:latin typeface="+mn-ea"/>
                        </a:rPr>
                        <a:t>자산 실사시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부착용 명패 인쇄 및 부착 처리와 일괄 자산이동 기능 구축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6384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69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2.2 </a:t>
            </a:r>
            <a:r>
              <a:rPr lang="ko-KR" altLang="en-US" smtClean="0"/>
              <a:t>이행과제의 추진방안</a:t>
            </a:r>
            <a:r>
              <a:rPr lang="en-US" altLang="ko-KR" smtClean="0"/>
              <a:t>(5/5)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2.2 </a:t>
            </a:r>
            <a:r>
              <a:rPr lang="ko-KR" altLang="en-US" smtClean="0"/>
              <a:t>이행과제의 추진방안</a:t>
            </a:r>
            <a:endParaRPr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xmlns="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228617"/>
              </p:ext>
            </p:extLst>
          </p:nvPr>
        </p:nvGraphicFramePr>
        <p:xfrm>
          <a:off x="348871" y="988161"/>
          <a:ext cx="9136380" cy="3520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:a16="http://schemas.microsoft.com/office/drawing/2014/main" xmlns="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xmlns="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8256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09067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ysClr val="windowText" lastClr="000000"/>
                          </a:solidFill>
                          <a:latin typeface="+mn-ea"/>
                        </a:rPr>
                        <a:t>사업관리 업무 개선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사업관리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2.7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사업관리 개선 및 업무 효율화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defTabSz="979488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수주계획부터 수주까지의 단계별 진행정보를 체계적으로 관리하여 수주 진행상태를 파악하고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사업부문 유형별 표준자료 관리에 의해 표준 일정과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표준투입계획 생성 후 현행화로 실행계획을 생성하고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실행계획 단위별로 실적을 세분화하여 입력하도록 구현하여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다양한 실적자료 제공 및 기성고 신청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사업별 원가계산 등 체계적이고 효율적인 관리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24590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3.6.1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사업관리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spcAft>
                          <a:spcPct val="30000"/>
                        </a:spcAft>
                        <a:buClr>
                          <a:srgbClr val="808080"/>
                        </a:buClr>
                      </a:pP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사업계획에서부터 사업종료까지의 사업단계별 정보를 표준화하고 체계적으로 관리하고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예산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회계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구매 등의 내부 시스템과 전자결재 연동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RPA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도입에 의한 수주대상 정보의 실시간 취득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표준자료에 의한 사업 실행계획 생성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세부공정별 실적 취합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취합된 자료의 각종 보고서 생성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기성고 신청관리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사업별 원가계산 등의 기능 구축을 통해서 현장중심의 사업관리 시스템을 구현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7204475"/>
                  </a:ext>
                </a:extLst>
              </a:tr>
              <a:tr h="1304736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3.6.1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사업관리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수주진행 관리 </a:t>
                      </a:r>
                      <a:r>
                        <a:rPr lang="en-US" altLang="ko-KR" sz="1000" spc="-30" smtClean="0">
                          <a:latin typeface="+mn-ea"/>
                        </a:rPr>
                        <a:t>– RPA</a:t>
                      </a:r>
                      <a:r>
                        <a:rPr lang="ko-KR" altLang="en-US" sz="1000" spc="-30" smtClean="0">
                          <a:latin typeface="+mn-ea"/>
                        </a:rPr>
                        <a:t>에 의해 수주대상 사업의 정보를 실시간 취합하여 공유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사업부문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유형별 표준자료 관리로 예산편성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일정계획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투입계획 자료 생성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실행계획 단위의 세부적인 실적자료 취합 및 보고서 생성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4) </a:t>
                      </a:r>
                      <a:r>
                        <a:rPr lang="ko-KR" altLang="en-US" sz="1000" spc="-30" smtClean="0">
                          <a:latin typeface="+mn-ea"/>
                        </a:rPr>
                        <a:t>사업부문별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부서별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계정별 원가배부기준 관리에 의한 합리적인 원가계산 체계 구축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5)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기성고 관리에서 발생하는 수입결의서와 사업 결산 전표의 처리 방안 제시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87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13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7992888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2.3 </a:t>
            </a:r>
            <a:r>
              <a:rPr lang="ko-KR" altLang="en-US" smtClean="0"/>
              <a:t>추진 로드맵 정의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1800" smtClean="0"/>
              <a:t>2.3.1 1</a:t>
            </a:r>
            <a:r>
              <a:rPr lang="ko-KR" altLang="en-US" sz="1800" smtClean="0"/>
              <a:t>안</a:t>
            </a:r>
            <a:r>
              <a:rPr lang="en-US" altLang="ko-KR" sz="1800" smtClean="0"/>
              <a:t>) </a:t>
            </a:r>
            <a:r>
              <a:rPr lang="ko-KR" altLang="en-US" sz="1800" smtClean="0"/>
              <a:t>시스템 개선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2.3 </a:t>
            </a:r>
            <a:r>
              <a:rPr lang="ko-KR" altLang="en-US" smtClean="0"/>
              <a:t>추진</a:t>
            </a:r>
            <a:r>
              <a:rPr lang="en-US" altLang="ko-KR" smtClean="0"/>
              <a:t> </a:t>
            </a:r>
            <a:r>
              <a:rPr lang="ko-KR" altLang="en-US" smtClean="0"/>
              <a:t>로드맵 정의</a:t>
            </a:r>
            <a:endParaRPr lang="en-US" altLang="ko-KR" dirty="0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xmlns="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859491"/>
              </p:ext>
            </p:extLst>
          </p:nvPr>
        </p:nvGraphicFramePr>
        <p:xfrm>
          <a:off x="272480" y="988161"/>
          <a:ext cx="9217024" cy="5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xmlns="" val="495227927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xmlns="" val="66421901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4056"/>
                <a:gridCol w="1270450"/>
                <a:gridCol w="457742"/>
                <a:gridCol w="432048"/>
              </a:tblGrid>
              <a:tr h="422863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준비사항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기간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수행시기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M/M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764">
                <a:tc rowSpan="7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1. DATABASE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설계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표준화 설계 반영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개선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DATABASE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설계와 개발을 표준화하고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전사적인 데이터 표준의 사용 및 재사용을 통해 시스템 간 상호 운용성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데이터 공유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시스템 통합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비즈니스 프로세스 개선 등을 지원 </a:t>
                      </a:r>
                      <a:endParaRPr kumimoji="1" lang="ko-KR" altLang="en-US" sz="1000" b="1" kern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DATABASE </a:t>
                      </a:r>
                      <a:r>
                        <a:rPr lang="ko-KR" altLang="en-US" sz="1000" smtClean="0"/>
                        <a:t>개발 표준 작성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6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현행 </a:t>
                      </a:r>
                      <a:r>
                        <a:rPr lang="en-US" altLang="ko-KR" sz="1000" smtClean="0"/>
                        <a:t>DB </a:t>
                      </a:r>
                      <a:r>
                        <a:rPr lang="ko-KR" altLang="en-US" sz="1000" smtClean="0"/>
                        <a:t>변경사항 도출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표준 완료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3) </a:t>
                      </a:r>
                      <a:r>
                        <a:rPr lang="ko-KR" altLang="en-US" sz="1000" smtClean="0"/>
                        <a:t>변경 영향도 분석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변경 설계 후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4) DATABASE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변경 구축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변경 도출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5) </a:t>
                      </a:r>
                      <a:r>
                        <a:rPr lang="ko-KR" altLang="en-US" sz="1000" baseline="0" smtClean="0"/>
                        <a:t>관련 기능</a:t>
                      </a:r>
                      <a:r>
                        <a:rPr lang="en-US" altLang="ko-KR" sz="1000" baseline="0" smtClean="0"/>
                        <a:t>/</a:t>
                      </a:r>
                      <a:r>
                        <a:rPr lang="ko-KR" altLang="en-US" sz="1000" baseline="0" smtClean="0"/>
                        <a:t>프로그램 수정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M+3 (</a:t>
                      </a:r>
                      <a:r>
                        <a:rPr lang="ko-KR" altLang="en-US" sz="1000" smtClean="0"/>
                        <a:t>영향 분석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6.0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6) </a:t>
                      </a:r>
                      <a:r>
                        <a:rPr lang="ko-KR" altLang="en-US" sz="1000" baseline="0" smtClean="0"/>
                        <a:t>마이그레이션</a:t>
                      </a:r>
                      <a:r>
                        <a:rPr lang="en-US" altLang="ko-KR" sz="1000" baseline="0" smtClean="0"/>
                        <a:t>, </a:t>
                      </a:r>
                      <a:r>
                        <a:rPr lang="ko-KR" altLang="en-US" sz="1000" baseline="0" smtClean="0"/>
                        <a:t>테스트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M+5 (</a:t>
                      </a:r>
                      <a:r>
                        <a:rPr lang="ko-KR" altLang="en-US" sz="1000" baseline="0" smtClean="0"/>
                        <a:t>변경 구축 후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M+5.5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7) </a:t>
                      </a:r>
                      <a:r>
                        <a:rPr lang="ko-KR" altLang="en-US" sz="1000" baseline="0" smtClean="0"/>
                        <a:t>현행시스템 적용</a:t>
                      </a:r>
                      <a:r>
                        <a:rPr lang="ko-KR" altLang="en-US" sz="1000" smtClean="0"/>
                        <a:t> 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M+5 (PGM</a:t>
                      </a:r>
                      <a:r>
                        <a:rPr lang="ko-KR" altLang="en-US" sz="1000" baseline="0" smtClean="0"/>
                        <a:t> 수정 후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M+5.5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0077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자산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회계 데이터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단일화 및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정합성 처리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회계에서 감가상각을 위해 관리하는 자산 목록과 시스템에서 관리하는 실물 자산의 목록과 금액을 동일하게 처리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</a:t>
                      </a:r>
                      <a:r>
                        <a:rPr lang="ko-KR" altLang="en-US" sz="1000" smtClean="0"/>
                        <a:t>감가상각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기능 확인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보완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회계 </a:t>
                      </a:r>
                      <a:r>
                        <a:rPr lang="en-US" altLang="ko-KR" sz="1000" smtClean="0"/>
                        <a:t>=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자산 데이터 일원화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3) </a:t>
                      </a:r>
                      <a:r>
                        <a:rPr lang="ko-KR" altLang="en-US" sz="1000" smtClean="0"/>
                        <a:t>감가상각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전표처리 테스트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M+0.5 (</a:t>
                      </a:r>
                      <a:r>
                        <a:rPr lang="ko-KR" altLang="en-US" sz="1000" smtClean="0"/>
                        <a:t>기능 확인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M+1.5 (</a:t>
                      </a:r>
                      <a:r>
                        <a:rPr lang="ko-KR" altLang="en-US" sz="1000" smtClean="0"/>
                        <a:t>일원화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M+0.5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7204475"/>
                  </a:ext>
                </a:extLst>
              </a:tr>
              <a:tr h="746734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 체계화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기준정보의 통합 설계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각 업무별로 사용하고 있는 거래처코드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사업장 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물품코드 등의 기준정보 통합과</a:t>
                      </a:r>
                      <a:r>
                        <a:rPr kumimoji="1" lang="ko-KR" altLang="en-US" sz="1000" b="1" kern="0" baseline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동일한 성격의 일반코드 단일화</a:t>
                      </a:r>
                      <a:endParaRPr kumimoji="1" lang="ko-KR" altLang="en-US" sz="1000" b="1" kern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기준정보 통합 영향도 분석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baseline="0" smtClean="0">
                          <a:latin typeface="+mn-ea"/>
                        </a:rPr>
                        <a:t>2) TABLE,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코드 생성 </a:t>
                      </a:r>
                      <a:endParaRPr lang="en-US" altLang="ko-KR" sz="10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대상 기능 및 프로그램 수정</a:t>
                      </a:r>
                      <a:endParaRPr lang="en-US" altLang="ko-KR" sz="10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baseline="0" smtClean="0">
                          <a:latin typeface="+mn-ea"/>
                        </a:rPr>
                        <a:t>4)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테스트 및 적용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영향 분석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코드 생성 </a:t>
                      </a:r>
                      <a:r>
                        <a:rPr lang="ko-KR" altLang="en-US" sz="1000" smtClean="0"/>
                        <a:t>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M+3  (</a:t>
                      </a:r>
                      <a:r>
                        <a:rPr lang="ko-KR" altLang="en-US" sz="1000" spc="-30" smtClean="0">
                          <a:latin typeface="+mn-ea"/>
                        </a:rPr>
                        <a:t>수정 완료 후</a:t>
                      </a:r>
                      <a:r>
                        <a:rPr lang="en-US" altLang="ko-KR" sz="1000" spc="-30" smtClean="0">
                          <a:latin typeface="+mn-ea"/>
                        </a:rPr>
                        <a:t>)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M+0.5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M+3.5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879302"/>
                  </a:ext>
                </a:extLst>
              </a:tr>
              <a:tr h="746734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 흐름에 부합하는 프로그램 기능 설계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/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구축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단위업무 분류별로 기본업무 프로세스를 진행할 수 있는 최소한의 기능을 신속하게 구축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업무 프로세스별 요구기능 조사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누락기능 설계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누락기능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구축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4) </a:t>
                      </a:r>
                      <a:r>
                        <a:rPr lang="ko-KR" altLang="en-US" sz="1000" spc="-30" smtClean="0">
                          <a:latin typeface="+mn-ea"/>
                        </a:rPr>
                        <a:t>테스트 및 적용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기능 조사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M+3 (</a:t>
                      </a:r>
                      <a:r>
                        <a:rPr lang="ko-KR" altLang="en-US" sz="1000" smtClean="0"/>
                        <a:t>설계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mtClean="0"/>
                        <a:t>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M+5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(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구축 후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)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M+6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0077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 편의를 제공하는 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 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 설계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사용자가 요구하는 화면과 기능 제공을</a:t>
                      </a: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위한  화면 표준을 제시한 후 사용자의 요청에 의한 사용자 중심의 </a:t>
                      </a: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구현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UI_UX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표준 작성</a:t>
                      </a:r>
                      <a:endParaRPr lang="en-US" altLang="ko-KR" sz="10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화면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기능별 화면 작성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사용자 검토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구현 및 테스트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적용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 smtClean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15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6734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업무별 개선사항 적용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업무별로 요구사항을 수렴하여 업무 프로세스를 확정하고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프로세스별 요구기능과 화면 설계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TABLE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DB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기능 설계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 및 테스트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업무매뉴얼 작성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운영지원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요구사항 수렴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프로세스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기능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화면</a:t>
                      </a:r>
                      <a:r>
                        <a:rPr lang="en-US" altLang="ko-KR" sz="1000" spc="-30" smtClean="0">
                          <a:latin typeface="+mn-ea"/>
                        </a:rPr>
                        <a:t>/DB </a:t>
                      </a:r>
                      <a:r>
                        <a:rPr lang="ko-KR" altLang="en-US" sz="1000" spc="-30" smtClean="0">
                          <a:latin typeface="+mn-ea"/>
                        </a:rPr>
                        <a:t>설계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구현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테스트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교육 및 운영지원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요구 수렴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M+5 (</a:t>
                      </a:r>
                      <a:r>
                        <a:rPr lang="ko-KR" altLang="en-US" sz="1000" smtClean="0"/>
                        <a:t>설계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mtClean="0"/>
                        <a:t>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M+9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(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구축 후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)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M+9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M+11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6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0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7992888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2.3 </a:t>
            </a:r>
            <a:r>
              <a:rPr lang="ko-KR" altLang="en-US" smtClean="0"/>
              <a:t>추진 로드맵 정의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1800" smtClean="0"/>
              <a:t>2.3.2 2</a:t>
            </a:r>
            <a:r>
              <a:rPr lang="ko-KR" altLang="en-US" sz="1800" smtClean="0"/>
              <a:t>안</a:t>
            </a:r>
            <a:r>
              <a:rPr lang="en-US" altLang="ko-KR" sz="1800" smtClean="0"/>
              <a:t>) </a:t>
            </a:r>
            <a:r>
              <a:rPr lang="ko-KR" altLang="en-US" sz="1800" smtClean="0"/>
              <a:t>시스템 재 구축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2.3 </a:t>
            </a:r>
            <a:r>
              <a:rPr lang="ko-KR" altLang="en-US" smtClean="0"/>
              <a:t>추진</a:t>
            </a:r>
            <a:r>
              <a:rPr lang="en-US" altLang="ko-KR" smtClean="0"/>
              <a:t> </a:t>
            </a:r>
            <a:r>
              <a:rPr lang="ko-KR" altLang="en-US" smtClean="0"/>
              <a:t>로드맵 정의</a:t>
            </a:r>
            <a:endParaRPr lang="en-US" altLang="ko-KR" dirty="0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xmlns="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015303"/>
              </p:ext>
            </p:extLst>
          </p:nvPr>
        </p:nvGraphicFramePr>
        <p:xfrm>
          <a:off x="272480" y="988158"/>
          <a:ext cx="9217024" cy="50486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xmlns="" val="495227927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xmlns="" val="66421901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4056"/>
                <a:gridCol w="1270450"/>
                <a:gridCol w="457742"/>
                <a:gridCol w="432048"/>
              </a:tblGrid>
              <a:tr h="42461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준비사항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기간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수행시기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M/M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3363">
                <a:tc rowSpan="4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1. DATABASE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설계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표준화에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의한 구축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DATABASE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설계와 개발을 표준화하고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전사적인 데이터 표준의 사용 및 재사용을 통해 시스템 간 상호 운용성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데이터 공유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시스템 통합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비즈니스 프로세스 개선 등을 지원 </a:t>
                      </a:r>
                      <a:endParaRPr kumimoji="1" lang="ko-KR" altLang="en-US" sz="1000" b="1" kern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DATABASE </a:t>
                      </a:r>
                      <a:r>
                        <a:rPr lang="ko-KR" altLang="en-US" sz="1000" smtClean="0"/>
                        <a:t>개발 표준 작성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0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DATABASE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구축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표준 작성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33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3) </a:t>
                      </a:r>
                      <a:r>
                        <a:rPr lang="ko-KR" altLang="en-US" sz="1000" baseline="0" smtClean="0"/>
                        <a:t>마이그레이션</a:t>
                      </a:r>
                      <a:r>
                        <a:rPr lang="en-US" altLang="ko-KR" sz="1000" baseline="0" smtClean="0"/>
                        <a:t>, </a:t>
                      </a:r>
                      <a:r>
                        <a:rPr lang="ko-KR" altLang="en-US" sz="1000" baseline="0" smtClean="0"/>
                        <a:t>테스트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M+2 (DB</a:t>
                      </a:r>
                      <a:r>
                        <a:rPr lang="ko-KR" altLang="en-US" sz="1000" baseline="0" smtClean="0"/>
                        <a:t> 구축 후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33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4) </a:t>
                      </a:r>
                      <a:r>
                        <a:rPr lang="ko-KR" altLang="en-US" sz="1000" baseline="0" smtClean="0"/>
                        <a:t>현행 시스템 적용</a:t>
                      </a:r>
                      <a:r>
                        <a:rPr lang="ko-KR" altLang="en-US" sz="1000" smtClean="0"/>
                        <a:t> </a:t>
                      </a:r>
                      <a:r>
                        <a:rPr lang="en-US" altLang="ko-KR" sz="1000" smtClean="0"/>
                        <a:t>(DBA)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9.0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M+7 (</a:t>
                      </a:r>
                      <a:r>
                        <a:rPr lang="ko-KR" altLang="en-US" sz="1000" baseline="0" smtClean="0"/>
                        <a:t>구현 지원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9.0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6331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자산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회계 데이터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단일화 및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정합성 처리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회계에서 감가상각을 위해 관리하는 자산 목록과 시스템에서 관리하는 실물 자산의 목록과 금액을 동일하게 처리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</a:t>
                      </a:r>
                      <a:r>
                        <a:rPr lang="ko-KR" altLang="en-US" sz="1000" smtClean="0"/>
                        <a:t>감가상각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기능 확인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보완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회계 </a:t>
                      </a:r>
                      <a:r>
                        <a:rPr lang="en-US" altLang="ko-KR" sz="1000" smtClean="0"/>
                        <a:t>=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자산 데이터 일원화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3) </a:t>
                      </a:r>
                      <a:r>
                        <a:rPr lang="ko-KR" altLang="en-US" sz="1000" smtClean="0"/>
                        <a:t>감가상각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전표처리 테스트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기능 확인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일원화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M+0.5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7204475"/>
                  </a:ext>
                </a:extLst>
              </a:tr>
              <a:tr h="769573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 체계화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기준정보의 통합 설계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각 업무별로 사용하고 있는 거래처코드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사업장 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물품코드 등의 기준정보 통합과</a:t>
                      </a:r>
                      <a:r>
                        <a:rPr kumimoji="1" lang="ko-KR" altLang="en-US" sz="1000" b="1" kern="0" baseline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동일한 성격의 일반코드 단일화</a:t>
                      </a:r>
                      <a:endParaRPr kumimoji="1" lang="ko-KR" altLang="en-US" sz="1000" b="1" kern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시스템</a:t>
                      </a:r>
                      <a:r>
                        <a:rPr lang="ko-KR" altLang="en-US" sz="1000" spc="-30" smtClean="0">
                          <a:latin typeface="+mn-ea"/>
                        </a:rPr>
                        <a:t> 재 구축 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pc="-30" baseline="0" smtClean="0">
                          <a:latin typeface="+mn-ea"/>
                        </a:rPr>
                        <a:t>   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-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표준을 반영한 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DATABASE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설계시</a:t>
                      </a:r>
                      <a:endParaRPr lang="en-US" altLang="ko-KR" sz="10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pc="-30" baseline="0" smtClean="0">
                          <a:latin typeface="+mn-ea"/>
                        </a:rPr>
                        <a:t>    포함하여 처리함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 smtClean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6879302"/>
                  </a:ext>
                </a:extLst>
              </a:tr>
              <a:tr h="597503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 흐름에 부합하는 프로그램 기능 설계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/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구축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단위업무 분류별로 기본업무 프로세스를 진행할 수 있는 최소한의 기능을 신속하게 구축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시스템 재 구축 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pc="-30" smtClean="0">
                          <a:latin typeface="+mn-ea"/>
                        </a:rPr>
                        <a:t>   </a:t>
                      </a:r>
                      <a:r>
                        <a:rPr lang="en-US" altLang="ko-KR" sz="1000" spc="-30" smtClean="0">
                          <a:latin typeface="+mn-ea"/>
                        </a:rPr>
                        <a:t>-</a:t>
                      </a:r>
                      <a:r>
                        <a:rPr lang="ko-KR" altLang="en-US" sz="1000" spc="-30" smtClean="0">
                          <a:latin typeface="+mn-ea"/>
                        </a:rPr>
                        <a:t> 요구사항 수렴</a:t>
                      </a:r>
                      <a:r>
                        <a:rPr lang="en-US" altLang="ko-KR" sz="1000" spc="-30" smtClean="0">
                          <a:latin typeface="+mn-ea"/>
                        </a:rPr>
                        <a:t>&gt;</a:t>
                      </a:r>
                      <a:r>
                        <a:rPr lang="ko-KR" altLang="en-US" sz="1000" spc="-30" smtClean="0">
                          <a:latin typeface="+mn-ea"/>
                        </a:rPr>
                        <a:t>설계</a:t>
                      </a:r>
                      <a:r>
                        <a:rPr lang="en-US" altLang="ko-KR" sz="1000" spc="-30" smtClean="0">
                          <a:latin typeface="+mn-ea"/>
                        </a:rPr>
                        <a:t>&gt;</a:t>
                      </a:r>
                      <a:r>
                        <a:rPr lang="ko-KR" altLang="en-US" sz="1000" spc="-30" smtClean="0">
                          <a:latin typeface="+mn-ea"/>
                        </a:rPr>
                        <a:t>구현에 포함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3656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 편의를 제공하는 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 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 설계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사용자가 요구하는 화면과 기능 제공을</a:t>
                      </a: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위한  화면 표준을 제시한 후 사용자의 요청에 의한 사용자 중심의 </a:t>
                      </a: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구현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시스템 재 구축 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pc="-30" smtClean="0">
                          <a:latin typeface="+mn-ea"/>
                        </a:rPr>
                        <a:t>   </a:t>
                      </a:r>
                      <a:r>
                        <a:rPr lang="en-US" altLang="ko-KR" sz="1000" spc="-30" smtClean="0">
                          <a:latin typeface="+mn-ea"/>
                        </a:rPr>
                        <a:t>-</a:t>
                      </a:r>
                      <a:r>
                        <a:rPr lang="ko-KR" altLang="en-US" sz="1000" spc="-30" smtClean="0">
                          <a:latin typeface="+mn-ea"/>
                        </a:rPr>
                        <a:t> </a:t>
                      </a:r>
                      <a:r>
                        <a:rPr lang="en-US" altLang="ko-KR" sz="1000" spc="-30" smtClean="0">
                          <a:latin typeface="+mn-ea"/>
                        </a:rPr>
                        <a:t>UI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표준 제시 및 설계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/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구현 지원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6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M+2 (</a:t>
                      </a:r>
                      <a:r>
                        <a:rPr lang="ko-KR" altLang="en-US" sz="1000" spc="-30" smtClean="0">
                          <a:latin typeface="+mn-ea"/>
                        </a:rPr>
                        <a:t>요구 수렴 중</a:t>
                      </a:r>
                      <a:r>
                        <a:rPr lang="en-US" altLang="ko-KR" sz="1000" spc="-30" smtClean="0">
                          <a:latin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6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72815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업무별 개선사항 적용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업무별로 요구사항을 수렴하여 업무 프로세스를 확정하고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프로세스별 요구기능과 화면 설계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TABLE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DB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기능 설계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 및 테스트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업무매뉴얼 작성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운영지원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요구사항 수렴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프로세스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기능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화면</a:t>
                      </a:r>
                      <a:r>
                        <a:rPr lang="en-US" altLang="ko-KR" sz="1000" spc="-30" smtClean="0">
                          <a:latin typeface="+mn-ea"/>
                        </a:rPr>
                        <a:t>/DB </a:t>
                      </a:r>
                      <a:r>
                        <a:rPr lang="ko-KR" altLang="en-US" sz="1000" spc="-30" smtClean="0">
                          <a:latin typeface="+mn-ea"/>
                        </a:rPr>
                        <a:t>설계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구현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테스트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교육 및 운영지원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요구 수렴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M+3 (</a:t>
                      </a:r>
                      <a:r>
                        <a:rPr lang="ko-KR" altLang="en-US" sz="1000" smtClean="0"/>
                        <a:t>설계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mtClean="0"/>
                        <a:t>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M+9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(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구축 후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)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M+9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M+11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12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808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>
                <a:latin typeface="+mn-ea"/>
                <a:ea typeface="+mn-ea"/>
              </a:rPr>
              <a:t>2.3 </a:t>
            </a:r>
            <a:r>
              <a:rPr lang="ko-KR" altLang="en-US" dirty="0">
                <a:latin typeface="+mn-ea"/>
                <a:ea typeface="+mn-ea"/>
              </a:rPr>
              <a:t>추진 로드맵 정의</a:t>
            </a:r>
            <a:r>
              <a:rPr lang="en-US" altLang="ko-KR">
                <a:latin typeface="+mn-ea"/>
                <a:ea typeface="+mn-ea"/>
              </a:rPr>
              <a:t/>
            </a:r>
            <a:br>
              <a:rPr lang="en-US" altLang="ko-KR">
                <a:latin typeface="+mn-ea"/>
                <a:ea typeface="+mn-ea"/>
              </a:rPr>
            </a:br>
            <a:r>
              <a:rPr lang="en-US" altLang="ko-KR" smtClean="0">
                <a:latin typeface="+mn-ea"/>
                <a:ea typeface="+mn-ea"/>
              </a:rPr>
              <a:t>2.3.3 </a:t>
            </a:r>
            <a:r>
              <a:rPr lang="ko-KR" altLang="en-US" dirty="0">
                <a:latin typeface="+mn-ea"/>
                <a:ea typeface="+mn-ea"/>
              </a:rPr>
              <a:t>단계별 </a:t>
            </a:r>
            <a:r>
              <a:rPr lang="ko-KR" altLang="en-US">
                <a:latin typeface="+mn-ea"/>
                <a:ea typeface="+mn-ea"/>
              </a:rPr>
              <a:t>추진 </a:t>
            </a:r>
            <a:r>
              <a:rPr lang="ko-KR" altLang="en-US" smtClean="0">
                <a:latin typeface="+mn-ea"/>
                <a:ea typeface="+mn-ea"/>
              </a:rPr>
              <a:t>계획표</a:t>
            </a:r>
            <a:r>
              <a:rPr lang="en-US" altLang="ko-KR" smtClean="0">
                <a:latin typeface="+mn-ea"/>
                <a:ea typeface="+mn-ea"/>
              </a:rPr>
              <a:t>(1</a:t>
            </a:r>
            <a:r>
              <a:rPr lang="ko-KR" altLang="en-US" smtClean="0">
                <a:latin typeface="+mn-ea"/>
                <a:ea typeface="+mn-ea"/>
              </a:rPr>
              <a:t>안</a:t>
            </a:r>
            <a:r>
              <a:rPr lang="en-US" altLang="ko-KR" smtClean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>
                <a:latin typeface="+mn-ea"/>
              </a:rPr>
              <a:t>Ⅳ. </a:t>
            </a:r>
            <a:r>
              <a:rPr lang="ko-KR" altLang="en-US" smtClean="0">
                <a:latin typeface="+mn-ea"/>
              </a:rPr>
              <a:t>이행계획 수립</a:t>
            </a:r>
            <a:endParaRPr lang="en-US" altLang="ko-KR" dirty="0">
              <a:latin typeface="+mn-ea"/>
            </a:endParaRPr>
          </a:p>
          <a:p>
            <a:pPr>
              <a:spcBef>
                <a:spcPct val="20000"/>
              </a:spcBef>
            </a:pPr>
            <a:r>
              <a:rPr lang="en-US" altLang="ko-KR" dirty="0">
                <a:latin typeface="+mn-ea"/>
              </a:rPr>
              <a:t>2. </a:t>
            </a:r>
            <a:r>
              <a:rPr lang="ko-KR" altLang="en-US" dirty="0">
                <a:latin typeface="+mn-ea"/>
              </a:rPr>
              <a:t>추진 계획 수립</a:t>
            </a:r>
            <a:endParaRPr lang="en-US" altLang="ko-KR" dirty="0">
              <a:latin typeface="+mn-ea"/>
            </a:endParaRPr>
          </a:p>
          <a:p>
            <a:pPr>
              <a:spcBef>
                <a:spcPct val="20000"/>
              </a:spcBef>
            </a:pPr>
            <a:r>
              <a:rPr lang="en-US" altLang="ko-KR" smtClean="0">
                <a:latin typeface="+mn-ea"/>
              </a:rPr>
              <a:t>2.3 </a:t>
            </a:r>
            <a:r>
              <a:rPr lang="ko-KR" altLang="en-US" dirty="0">
                <a:latin typeface="+mn-ea"/>
              </a:rPr>
              <a:t>추진 로드맵 정의</a:t>
            </a:r>
            <a:endParaRPr lang="en-US" altLang="ko-KR" dirty="0">
              <a:latin typeface="+mn-ea"/>
            </a:endParaRPr>
          </a:p>
        </p:txBody>
      </p:sp>
      <p:graphicFrame>
        <p:nvGraphicFramePr>
          <p:cNvPr id="571" name="표 5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409740"/>
              </p:ext>
            </p:extLst>
          </p:nvPr>
        </p:nvGraphicFramePr>
        <p:xfrm>
          <a:off x="264279" y="948992"/>
          <a:ext cx="8865182" cy="5403499"/>
        </p:xfrm>
        <a:graphic>
          <a:graphicData uri="http://schemas.openxmlformats.org/drawingml/2006/table">
            <a:tbl>
              <a:tblPr/>
              <a:tblGrid>
                <a:gridCol w="330702"/>
                <a:gridCol w="1255722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1464908"/>
              </a:tblGrid>
              <a:tr h="247107">
                <a:tc rowSpan="2"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 </a:t>
                      </a: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 </a:t>
                      </a: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</a:t>
                      </a: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개월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262821">
                <a:tc gridSpan="2" v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6E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M+2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M+4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M+5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M+6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M+7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M+8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M+9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M+10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M+12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13723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경영정보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템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개선</a:t>
                      </a:r>
                      <a:endParaRPr kumimoji="0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DATABASE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개선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1) DATABASE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개발 표준 작성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현행 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변경사항 도출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영향도 분석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4) DATABASE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구축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관련 기능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프로그램 수정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마이그레이션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현행시스템 적용</a:t>
                      </a:r>
                      <a:endParaRPr kumimoji="1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자산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회계 데이터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단일화 및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정합성 처리</a:t>
                      </a: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mtClean="0"/>
                        <a:t>1) </a:t>
                      </a:r>
                      <a:r>
                        <a:rPr lang="ko-KR" altLang="en-US" sz="800" smtClean="0"/>
                        <a:t>감가상각</a:t>
                      </a:r>
                      <a:r>
                        <a:rPr lang="en-US" altLang="ko-KR" sz="800" smtClean="0"/>
                        <a:t> </a:t>
                      </a:r>
                      <a:r>
                        <a:rPr lang="ko-KR" altLang="en-US" sz="800" smtClean="0"/>
                        <a:t>기능 확인</a:t>
                      </a:r>
                      <a:r>
                        <a:rPr lang="en-US" altLang="ko-KR" sz="800" smtClean="0"/>
                        <a:t>/</a:t>
                      </a:r>
                      <a:r>
                        <a:rPr lang="ko-KR" altLang="en-US" sz="800" smtClean="0"/>
                        <a:t>보완</a:t>
                      </a:r>
                      <a:endParaRPr lang="en-US" altLang="ko-KR" sz="8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mtClean="0"/>
                        <a:t>2) </a:t>
                      </a:r>
                      <a:r>
                        <a:rPr lang="ko-KR" altLang="en-US" sz="800" smtClean="0"/>
                        <a:t>회계</a:t>
                      </a:r>
                      <a:r>
                        <a:rPr lang="en-US" altLang="ko-KR" sz="800" smtClean="0"/>
                        <a:t>=</a:t>
                      </a:r>
                      <a:r>
                        <a:rPr lang="ko-KR" altLang="en-US" sz="800" baseline="0" smtClean="0"/>
                        <a:t>자산 데이터 일원화</a:t>
                      </a:r>
                      <a:endParaRPr lang="en-US" altLang="ko-KR" sz="8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mtClean="0"/>
                        <a:t>3) </a:t>
                      </a:r>
                      <a:r>
                        <a:rPr lang="ko-KR" altLang="en-US" sz="800" smtClean="0"/>
                        <a:t>감가상각</a:t>
                      </a:r>
                      <a:r>
                        <a:rPr lang="en-US" altLang="ko-KR" sz="800" smtClean="0"/>
                        <a:t>, </a:t>
                      </a:r>
                      <a:r>
                        <a:rPr lang="ko-KR" altLang="en-US" sz="800" smtClean="0"/>
                        <a:t>전표처리 테스트</a:t>
                      </a:r>
                      <a:endParaRPr kumimoji="1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4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기준정보 체계화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기준정보의 통합 설계</a:t>
                      </a:r>
                      <a:endParaRPr lang="ko-KR" altLang="en-US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1) </a:t>
                      </a:r>
                      <a:r>
                        <a:rPr lang="ko-KR" altLang="en-US" sz="800" spc="-30" smtClean="0">
                          <a:latin typeface="+mn-ea"/>
                        </a:rPr>
                        <a:t>기준정보 통합 영향도 분석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baseline="0" smtClean="0">
                          <a:latin typeface="+mn-ea"/>
                        </a:rPr>
                        <a:t>2) TABLE,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코드 생성 </a:t>
                      </a:r>
                      <a:endParaRPr lang="en-US" altLang="ko-KR" sz="8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3)</a:t>
                      </a:r>
                      <a:r>
                        <a:rPr lang="en-US" altLang="ko-KR" sz="8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대상 기능 및 프로그램 수정</a:t>
                      </a:r>
                      <a:endParaRPr lang="en-US" altLang="ko-KR" sz="8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baseline="0" smtClean="0">
                          <a:latin typeface="+mn-ea"/>
                        </a:rPr>
                        <a:t>4)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테스트 및 적용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4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 흐름에 부합하는 프로그램 기능 설계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/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구축</a:t>
                      </a:r>
                      <a:endParaRPr lang="ko-KR" altLang="en-US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1) </a:t>
                      </a:r>
                      <a:r>
                        <a:rPr lang="ko-KR" altLang="en-US" sz="800" spc="-30" smtClean="0">
                          <a:latin typeface="+mn-ea"/>
                        </a:rPr>
                        <a:t>프로세스별 요구기능 조사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2) </a:t>
                      </a:r>
                      <a:r>
                        <a:rPr lang="ko-KR" altLang="en-US" sz="800" spc="-30" smtClean="0">
                          <a:latin typeface="+mn-ea"/>
                        </a:rPr>
                        <a:t>누락기능 설계 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3) </a:t>
                      </a:r>
                      <a:r>
                        <a:rPr lang="ko-KR" altLang="en-US" sz="800" spc="-30" smtClean="0">
                          <a:latin typeface="+mn-ea"/>
                        </a:rPr>
                        <a:t>누락기능</a:t>
                      </a:r>
                      <a:r>
                        <a:rPr lang="en-US" altLang="ko-KR" sz="8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구축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4) </a:t>
                      </a:r>
                      <a:r>
                        <a:rPr lang="ko-KR" altLang="en-US" sz="800" spc="-30" smtClean="0">
                          <a:latin typeface="+mn-ea"/>
                        </a:rPr>
                        <a:t>테스트 및 적용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4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 편의를 제공하는 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 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 설계</a:t>
                      </a:r>
                      <a:endParaRPr lang="ko-KR" altLang="en-US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1)</a:t>
                      </a:r>
                      <a:r>
                        <a:rPr lang="en-US" altLang="ko-KR" sz="800" spc="-30" baseline="0" smtClean="0">
                          <a:latin typeface="+mn-ea"/>
                        </a:rPr>
                        <a:t> UI_UX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표준 작성</a:t>
                      </a:r>
                      <a:endParaRPr lang="en-US" altLang="ko-KR" sz="8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2) </a:t>
                      </a:r>
                      <a:r>
                        <a:rPr lang="ko-KR" altLang="en-US" sz="800" spc="-30" smtClean="0">
                          <a:latin typeface="+mn-ea"/>
                        </a:rPr>
                        <a:t>화면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기능별 화면 작성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   /</a:t>
                      </a:r>
                      <a:r>
                        <a:rPr lang="ko-KR" altLang="en-US" sz="800" spc="-30" smtClean="0">
                          <a:latin typeface="+mn-ea"/>
                        </a:rPr>
                        <a:t>사용자 검토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3) </a:t>
                      </a:r>
                      <a:r>
                        <a:rPr lang="ko-KR" altLang="en-US" sz="800" spc="-30" smtClean="0">
                          <a:latin typeface="+mn-ea"/>
                        </a:rPr>
                        <a:t>구현 및 테스트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적용 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4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업무별 개선사항 적용</a:t>
                      </a:r>
                      <a:endParaRPr lang="ko-KR" altLang="en-US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1) </a:t>
                      </a:r>
                      <a:r>
                        <a:rPr lang="ko-KR" altLang="en-US" sz="800" spc="-30" smtClean="0">
                          <a:latin typeface="+mn-ea"/>
                        </a:rPr>
                        <a:t>요구사항 수렴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2) </a:t>
                      </a:r>
                      <a:r>
                        <a:rPr lang="ko-KR" altLang="en-US" sz="800" spc="-30" smtClean="0">
                          <a:latin typeface="+mn-ea"/>
                        </a:rPr>
                        <a:t>프로세스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기능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화면</a:t>
                      </a:r>
                      <a:r>
                        <a:rPr lang="en-US" altLang="ko-KR" sz="800" spc="-30" smtClean="0">
                          <a:latin typeface="+mn-ea"/>
                        </a:rPr>
                        <a:t>/DB </a:t>
                      </a:r>
                      <a:r>
                        <a:rPr lang="ko-KR" altLang="en-US" sz="800" spc="-30" smtClean="0">
                          <a:latin typeface="+mn-ea"/>
                        </a:rPr>
                        <a:t>설계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3) </a:t>
                      </a:r>
                      <a:r>
                        <a:rPr lang="ko-KR" altLang="en-US" sz="800" spc="-30" smtClean="0">
                          <a:latin typeface="+mn-ea"/>
                        </a:rPr>
                        <a:t>구현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테스트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4)</a:t>
                      </a:r>
                      <a:r>
                        <a:rPr lang="en-US" altLang="ko-KR" sz="8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교육 및 운영지원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0465"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8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5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83" name="그룹 582"/>
          <p:cNvGrpSpPr/>
          <p:nvPr/>
        </p:nvGrpSpPr>
        <p:grpSpPr>
          <a:xfrm>
            <a:off x="1828081" y="1732423"/>
            <a:ext cx="2528666" cy="269406"/>
            <a:chOff x="2837899" y="2826766"/>
            <a:chExt cx="3343740" cy="371752"/>
          </a:xfrm>
        </p:grpSpPr>
        <p:sp>
          <p:nvSpPr>
            <p:cNvPr id="720" name="오른쪽 대괄호 719"/>
            <p:cNvSpPr/>
            <p:nvPr/>
          </p:nvSpPr>
          <p:spPr bwMode="auto">
            <a:xfrm rot="16200000">
              <a:off x="3575819" y="2780545"/>
              <a:ext cx="228441" cy="508051"/>
            </a:xfrm>
            <a:prstGeom prst="rightBracket">
              <a:avLst>
                <a:gd name="adj" fmla="val 46740"/>
              </a:avLst>
            </a:prstGeom>
            <a:solidFill>
              <a:srgbClr val="FFFFFF"/>
            </a:solidFill>
            <a:ln w="317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eaVert" lIns="0" tIns="0" rIns="0" bIns="0" anchor="ctr" anchorCtr="1">
              <a:normAutofit/>
            </a:bodyPr>
            <a:lstStyle/>
            <a:p>
              <a:pPr algn="ctr" defTabSz="846138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1" name="Rectangle 55"/>
            <p:cNvSpPr>
              <a:spLocks noChangeArrowheads="1"/>
            </p:cNvSpPr>
            <p:nvPr/>
          </p:nvSpPr>
          <p:spPr bwMode="auto">
            <a:xfrm>
              <a:off x="3485205" y="2826766"/>
              <a:ext cx="474814" cy="29728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>
              <a:lvl1pPr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mtClean="0">
                  <a:latin typeface="+mn-ea"/>
                  <a:ea typeface="+mn-ea"/>
                </a:rPr>
                <a:t>변경사항</a:t>
              </a:r>
              <a:endParaRPr lang="en-US" altLang="ko-KR" sz="700" kern="0" smtClean="0">
                <a:latin typeface="+mn-ea"/>
                <a:ea typeface="+mn-ea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mtClean="0">
                  <a:latin typeface="+mn-ea"/>
                  <a:ea typeface="+mn-ea"/>
                </a:rPr>
                <a:t>도출</a:t>
              </a:r>
              <a:endParaRPr lang="ko-KR" altLang="ko-KR" sz="700" kern="0" dirty="0" smtClean="0">
                <a:latin typeface="+mn-ea"/>
                <a:ea typeface="+mn-ea"/>
              </a:endParaRPr>
            </a:p>
          </p:txBody>
        </p:sp>
        <p:sp>
          <p:nvSpPr>
            <p:cNvPr id="722" name="오른쪽 대괄호 721"/>
            <p:cNvSpPr/>
            <p:nvPr/>
          </p:nvSpPr>
          <p:spPr bwMode="auto">
            <a:xfrm rot="16200000">
              <a:off x="3016596" y="2782915"/>
              <a:ext cx="229933" cy="504813"/>
            </a:xfrm>
            <a:prstGeom prst="rightBracket">
              <a:avLst>
                <a:gd name="adj" fmla="val 46740"/>
              </a:avLst>
            </a:prstGeom>
            <a:solidFill>
              <a:srgbClr val="FFFFFF"/>
            </a:solidFill>
            <a:ln w="317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eaVert" lIns="0" tIns="0" rIns="0" bIns="0" anchor="ctr" anchorCtr="1">
              <a:normAutofit/>
            </a:bodyPr>
            <a:lstStyle/>
            <a:p>
              <a:pPr algn="ctr" defTabSz="846138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3" name="Rectangle 55"/>
            <p:cNvSpPr>
              <a:spLocks noChangeArrowheads="1"/>
            </p:cNvSpPr>
            <p:nvPr/>
          </p:nvSpPr>
          <p:spPr bwMode="auto">
            <a:xfrm>
              <a:off x="2927715" y="2985594"/>
              <a:ext cx="474814" cy="1486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>
              <a:lvl1pPr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mtClean="0">
                  <a:latin typeface="+mn-ea"/>
                  <a:ea typeface="+mn-ea"/>
                </a:rPr>
                <a:t>표준정의</a:t>
              </a:r>
              <a:endParaRPr lang="en-US" altLang="ko-KR" sz="700" kern="0" dirty="0" smtClean="0">
                <a:latin typeface="+mn-ea"/>
                <a:ea typeface="+mn-ea"/>
              </a:endParaRPr>
            </a:p>
          </p:txBody>
        </p:sp>
        <p:cxnSp>
          <p:nvCxnSpPr>
            <p:cNvPr id="726" name="AutoShape 348"/>
            <p:cNvCxnSpPr>
              <a:cxnSpLocks noChangeShapeType="1"/>
            </p:cNvCxnSpPr>
            <p:nvPr/>
          </p:nvCxnSpPr>
          <p:spPr bwMode="auto">
            <a:xfrm flipV="1">
              <a:off x="2837899" y="3155214"/>
              <a:ext cx="3343740" cy="6894"/>
            </a:xfrm>
            <a:prstGeom prst="straightConnector1">
              <a:avLst/>
            </a:prstGeom>
            <a:noFill/>
            <a:ln w="2857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727" name="Picture 352" descr="블릿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5682" y="3106952"/>
              <a:ext cx="90000" cy="91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" name="Picture 352" descr="블릿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1775" y="3106953"/>
              <a:ext cx="90001" cy="91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49" name="AutoShape 348"/>
          <p:cNvCxnSpPr>
            <a:cxnSpLocks noChangeShapeType="1"/>
          </p:cNvCxnSpPr>
          <p:nvPr/>
        </p:nvCxnSpPr>
        <p:spPr bwMode="auto">
          <a:xfrm flipV="1">
            <a:off x="1856656" y="2653660"/>
            <a:ext cx="860306" cy="1655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1" name="Rectangle 55"/>
          <p:cNvSpPr>
            <a:spLocks noChangeArrowheads="1"/>
          </p:cNvSpPr>
          <p:nvPr/>
        </p:nvSpPr>
        <p:spPr bwMode="auto">
          <a:xfrm>
            <a:off x="3891606" y="1735385"/>
            <a:ext cx="269306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MIG/</a:t>
            </a: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656" name="Rectangle 55"/>
          <p:cNvSpPr>
            <a:spLocks noChangeArrowheads="1"/>
          </p:cNvSpPr>
          <p:nvPr/>
        </p:nvSpPr>
        <p:spPr bwMode="auto">
          <a:xfrm>
            <a:off x="2130049" y="2670910"/>
            <a:ext cx="269304" cy="26930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데이터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일원화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60" name="오른쪽 대괄호 659"/>
          <p:cNvSpPr/>
          <p:nvPr/>
        </p:nvSpPr>
        <p:spPr bwMode="auto">
          <a:xfrm rot="16200000" flipH="1">
            <a:off x="2205914" y="2544263"/>
            <a:ext cx="143490" cy="409957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1" name="오른쪽 대괄호 660"/>
          <p:cNvSpPr/>
          <p:nvPr/>
        </p:nvSpPr>
        <p:spPr bwMode="auto">
          <a:xfrm rot="16200000" flipH="1">
            <a:off x="2715974" y="1944968"/>
            <a:ext cx="130445" cy="21590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3" name="Rectangle 55"/>
          <p:cNvSpPr>
            <a:spLocks noChangeArrowheads="1"/>
          </p:cNvSpPr>
          <p:nvPr/>
        </p:nvSpPr>
        <p:spPr bwMode="auto">
          <a:xfrm>
            <a:off x="2676997" y="1737665"/>
            <a:ext cx="26930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영향도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분석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664" name="오른쪽 대괄호 593"/>
          <p:cNvSpPr>
            <a:spLocks/>
          </p:cNvSpPr>
          <p:nvPr/>
        </p:nvSpPr>
        <p:spPr bwMode="auto">
          <a:xfrm rot="16200000">
            <a:off x="3326764" y="1400738"/>
            <a:ext cx="154969" cy="99209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68" name="Rectangle 55"/>
          <p:cNvSpPr>
            <a:spLocks noChangeArrowheads="1"/>
          </p:cNvSpPr>
          <p:nvPr/>
        </p:nvSpPr>
        <p:spPr bwMode="auto">
          <a:xfrm>
            <a:off x="2617530" y="1997804"/>
            <a:ext cx="328771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DB</a:t>
            </a: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변경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88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56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9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954" y="1939805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0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105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1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965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1" name="Picture 352" descr="블릿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65" y="1936204"/>
            <a:ext cx="68062" cy="66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3" name="Rectangle 55"/>
          <p:cNvSpPr>
            <a:spLocks noChangeArrowheads="1"/>
          </p:cNvSpPr>
          <p:nvPr/>
        </p:nvSpPr>
        <p:spPr bwMode="auto">
          <a:xfrm>
            <a:off x="3075785" y="1747292"/>
            <a:ext cx="57066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>
                <a:latin typeface="+mn-ea"/>
                <a:ea typeface="+mn-ea"/>
              </a:rPr>
              <a:t>관련 기능</a:t>
            </a:r>
            <a:r>
              <a:rPr lang="en-US" altLang="ko-KR" sz="700" smtClean="0">
                <a:latin typeface="+mn-ea"/>
                <a:ea typeface="+mn-ea"/>
              </a:rPr>
              <a:t>/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smtClean="0">
                <a:latin typeface="+mn-ea"/>
                <a:ea typeface="+mn-ea"/>
              </a:rPr>
              <a:t>프로그램 </a:t>
            </a:r>
            <a:r>
              <a:rPr lang="ko-KR" altLang="en-US" sz="700">
                <a:latin typeface="+mn-ea"/>
                <a:ea typeface="+mn-ea"/>
              </a:rPr>
              <a:t>수정</a:t>
            </a:r>
            <a:endParaRPr lang="ko-KR" altLang="ko-KR" sz="600" kern="0" dirty="0" smtClean="0">
              <a:latin typeface="+mn-ea"/>
              <a:ea typeface="+mn-ea"/>
            </a:endParaRPr>
          </a:p>
        </p:txBody>
      </p:sp>
      <p:pic>
        <p:nvPicPr>
          <p:cNvPr id="738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707" y="191264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9" name="오른쪽 대괄호 593"/>
          <p:cNvSpPr>
            <a:spLocks/>
          </p:cNvSpPr>
          <p:nvPr/>
        </p:nvSpPr>
        <p:spPr bwMode="auto">
          <a:xfrm rot="16200000">
            <a:off x="2709996" y="1796998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760" name="Picture 352" descr="블릿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30901" y="3759489"/>
            <a:ext cx="2619" cy="2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5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406" y="193474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6" name="오른쪽 대괄호 593"/>
          <p:cNvSpPr>
            <a:spLocks/>
          </p:cNvSpPr>
          <p:nvPr/>
        </p:nvSpPr>
        <p:spPr bwMode="auto">
          <a:xfrm rot="16200000">
            <a:off x="3948311" y="1809006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27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431" y="194426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" name="Rectangle 55"/>
          <p:cNvSpPr>
            <a:spLocks noChangeArrowheads="1"/>
          </p:cNvSpPr>
          <p:nvPr/>
        </p:nvSpPr>
        <p:spPr bwMode="auto">
          <a:xfrm>
            <a:off x="4061943" y="2007510"/>
            <a:ext cx="328771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시스템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반영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30" name="오른쪽 대괄호 829"/>
          <p:cNvSpPr/>
          <p:nvPr/>
        </p:nvSpPr>
        <p:spPr bwMode="auto">
          <a:xfrm rot="16200000" flipH="1">
            <a:off x="4150957" y="1936923"/>
            <a:ext cx="130445" cy="210372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831" name="Rectangle 55"/>
          <p:cNvSpPr>
            <a:spLocks noChangeArrowheads="1"/>
          </p:cNvSpPr>
          <p:nvPr/>
        </p:nvSpPr>
        <p:spPr bwMode="auto">
          <a:xfrm>
            <a:off x="1857623" y="2421468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감가상각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기능확인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832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744" y="2638480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4" name="오른쪽 대괄호 593"/>
          <p:cNvSpPr>
            <a:spLocks/>
          </p:cNvSpPr>
          <p:nvPr/>
        </p:nvSpPr>
        <p:spPr bwMode="auto">
          <a:xfrm rot="16200000">
            <a:off x="1884943" y="2496138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38" name="Rectangle 55"/>
          <p:cNvSpPr>
            <a:spLocks noChangeArrowheads="1"/>
          </p:cNvSpPr>
          <p:nvPr/>
        </p:nvSpPr>
        <p:spPr bwMode="auto">
          <a:xfrm>
            <a:off x="2451771" y="2492985"/>
            <a:ext cx="2693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41" name="오른쪽 대괄호 593"/>
          <p:cNvSpPr>
            <a:spLocks/>
          </p:cNvSpPr>
          <p:nvPr/>
        </p:nvSpPr>
        <p:spPr bwMode="auto">
          <a:xfrm rot="16200000">
            <a:off x="2504440" y="2512745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cxnSp>
        <p:nvCxnSpPr>
          <p:cNvPr id="843" name="AutoShape 348"/>
          <p:cNvCxnSpPr>
            <a:cxnSpLocks noChangeShapeType="1"/>
          </p:cNvCxnSpPr>
          <p:nvPr/>
        </p:nvCxnSpPr>
        <p:spPr bwMode="auto">
          <a:xfrm flipV="1">
            <a:off x="1842847" y="3286462"/>
            <a:ext cx="1040971" cy="1655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4" name="Rectangle 55"/>
          <p:cNvSpPr>
            <a:spLocks noChangeArrowheads="1"/>
          </p:cNvSpPr>
          <p:nvPr/>
        </p:nvSpPr>
        <p:spPr bwMode="auto">
          <a:xfrm>
            <a:off x="2286809" y="3038474"/>
            <a:ext cx="397498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프로그램수정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45" name="오른쪽 대괄호 844"/>
          <p:cNvSpPr/>
          <p:nvPr/>
        </p:nvSpPr>
        <p:spPr bwMode="auto">
          <a:xfrm rot="16200000">
            <a:off x="2382313" y="3024022"/>
            <a:ext cx="162596" cy="409957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pic>
        <p:nvPicPr>
          <p:cNvPr id="846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507" y="326779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7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056" y="326779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8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16" y="326779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" name="Rectangle 55"/>
          <p:cNvSpPr>
            <a:spLocks noChangeArrowheads="1"/>
          </p:cNvSpPr>
          <p:nvPr/>
        </p:nvSpPr>
        <p:spPr bwMode="auto">
          <a:xfrm>
            <a:off x="1846289" y="3034448"/>
            <a:ext cx="26930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영향도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분석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850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695" y="327128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1" name="오른쪽 대괄호 593"/>
          <p:cNvSpPr>
            <a:spLocks/>
          </p:cNvSpPr>
          <p:nvPr/>
        </p:nvSpPr>
        <p:spPr bwMode="auto">
          <a:xfrm rot="16200000">
            <a:off x="1875418" y="3128940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52" name="Rectangle 55"/>
          <p:cNvSpPr>
            <a:spLocks noChangeArrowheads="1"/>
          </p:cNvSpPr>
          <p:nvPr/>
        </p:nvSpPr>
        <p:spPr bwMode="auto">
          <a:xfrm>
            <a:off x="2637722" y="3071926"/>
            <a:ext cx="26930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적용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53" name="오른쪽 대괄호 593"/>
          <p:cNvSpPr>
            <a:spLocks/>
          </p:cNvSpPr>
          <p:nvPr/>
        </p:nvSpPr>
        <p:spPr bwMode="auto">
          <a:xfrm rot="16200000">
            <a:off x="2690391" y="3145547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54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081" y="326593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5" name="Rectangle 55"/>
          <p:cNvSpPr>
            <a:spLocks noChangeArrowheads="1"/>
          </p:cNvSpPr>
          <p:nvPr/>
        </p:nvSpPr>
        <p:spPr bwMode="auto">
          <a:xfrm>
            <a:off x="1954054" y="3329867"/>
            <a:ext cx="39113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TABLE</a:t>
            </a: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코드 수정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57" name="오른쪽 대괄호 856"/>
          <p:cNvSpPr/>
          <p:nvPr/>
        </p:nvSpPr>
        <p:spPr bwMode="auto">
          <a:xfrm rot="16200000" flipH="1">
            <a:off x="2078736" y="3268116"/>
            <a:ext cx="130445" cy="210372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cxnSp>
        <p:nvCxnSpPr>
          <p:cNvPr id="858" name="AutoShape 348"/>
          <p:cNvCxnSpPr>
            <a:cxnSpLocks noChangeShapeType="1"/>
          </p:cNvCxnSpPr>
          <p:nvPr/>
        </p:nvCxnSpPr>
        <p:spPr bwMode="auto">
          <a:xfrm>
            <a:off x="1871422" y="3978793"/>
            <a:ext cx="2897351" cy="217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9" name="Rectangle 55"/>
          <p:cNvSpPr>
            <a:spLocks noChangeArrowheads="1"/>
          </p:cNvSpPr>
          <p:nvPr/>
        </p:nvSpPr>
        <p:spPr bwMode="auto">
          <a:xfrm>
            <a:off x="3440937" y="3724213"/>
            <a:ext cx="640175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누락 프로그램구축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60" name="오른쪽 대괄호 859"/>
          <p:cNvSpPr/>
          <p:nvPr/>
        </p:nvSpPr>
        <p:spPr bwMode="auto">
          <a:xfrm rot="16200000">
            <a:off x="3624878" y="3280788"/>
            <a:ext cx="153517" cy="1222642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pic>
        <p:nvPicPr>
          <p:cNvPr id="861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3943573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2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769" y="3943573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3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430" y="3943573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4" name="Rectangle 55"/>
          <p:cNvSpPr>
            <a:spLocks noChangeArrowheads="1"/>
          </p:cNvSpPr>
          <p:nvPr/>
        </p:nvSpPr>
        <p:spPr bwMode="auto">
          <a:xfrm>
            <a:off x="1908234" y="3718983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요구기능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 조사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865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28" y="3947059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6" name="오른쪽 대괄호 593"/>
          <p:cNvSpPr>
            <a:spLocks/>
          </p:cNvSpPr>
          <p:nvPr/>
        </p:nvSpPr>
        <p:spPr bwMode="auto">
          <a:xfrm rot="16200000">
            <a:off x="2006725" y="3735893"/>
            <a:ext cx="140881" cy="316053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67" name="Rectangle 55"/>
          <p:cNvSpPr>
            <a:spLocks noChangeArrowheads="1"/>
          </p:cNvSpPr>
          <p:nvPr/>
        </p:nvSpPr>
        <p:spPr bwMode="auto">
          <a:xfrm>
            <a:off x="4399154" y="3729213"/>
            <a:ext cx="26930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/</a:t>
            </a:r>
            <a:r>
              <a:rPr lang="ko-KR" altLang="en-US" sz="700" smtClean="0">
                <a:latin typeface="+mn-ea"/>
                <a:ea typeface="+mn-ea"/>
              </a:rPr>
              <a:t>적용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68" name="오른쪽 대괄호 593"/>
          <p:cNvSpPr>
            <a:spLocks/>
          </p:cNvSpPr>
          <p:nvPr/>
        </p:nvSpPr>
        <p:spPr bwMode="auto">
          <a:xfrm rot="16200000">
            <a:off x="4465798" y="3719314"/>
            <a:ext cx="140881" cy="38242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69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394171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" name="Rectangle 55"/>
          <p:cNvSpPr>
            <a:spLocks noChangeArrowheads="1"/>
          </p:cNvSpPr>
          <p:nvPr/>
        </p:nvSpPr>
        <p:spPr bwMode="auto">
          <a:xfrm>
            <a:off x="2535552" y="3718983"/>
            <a:ext cx="39113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누락 기능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71" name="오른쪽 대괄호 870"/>
          <p:cNvSpPr/>
          <p:nvPr/>
        </p:nvSpPr>
        <p:spPr bwMode="auto">
          <a:xfrm rot="16200000">
            <a:off x="2598437" y="3504225"/>
            <a:ext cx="160376" cy="798890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cxnSp>
        <p:nvCxnSpPr>
          <p:cNvPr id="882" name="AutoShape 348"/>
          <p:cNvCxnSpPr>
            <a:cxnSpLocks noChangeShapeType="1"/>
          </p:cNvCxnSpPr>
          <p:nvPr/>
        </p:nvCxnSpPr>
        <p:spPr bwMode="auto">
          <a:xfrm>
            <a:off x="1919139" y="4588479"/>
            <a:ext cx="2394505" cy="217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2" name="Rectangle 55"/>
          <p:cNvSpPr>
            <a:spLocks noChangeArrowheads="1"/>
          </p:cNvSpPr>
          <p:nvPr/>
        </p:nvSpPr>
        <p:spPr bwMode="auto">
          <a:xfrm>
            <a:off x="3440937" y="4334761"/>
            <a:ext cx="640175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700" spc="-30">
                <a:latin typeface="+mn-ea"/>
              </a:rPr>
              <a:t>구현 및 테스트</a:t>
            </a:r>
            <a:r>
              <a:rPr lang="en-US" altLang="ko-KR" sz="700" spc="-30">
                <a:latin typeface="+mn-ea"/>
              </a:rPr>
              <a:t>/</a:t>
            </a:r>
            <a:r>
              <a:rPr lang="ko-KR" altLang="en-US" sz="700" spc="-30">
                <a:latin typeface="+mn-ea"/>
              </a:rPr>
              <a:t>적용 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73" name="오른쪽 대괄호 872"/>
          <p:cNvSpPr/>
          <p:nvPr/>
        </p:nvSpPr>
        <p:spPr bwMode="auto">
          <a:xfrm rot="16200000">
            <a:off x="3624878" y="3891336"/>
            <a:ext cx="153517" cy="1222642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pic>
        <p:nvPicPr>
          <p:cNvPr id="874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455412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5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769" y="455412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430" y="455412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7" name="Rectangle 55"/>
          <p:cNvSpPr>
            <a:spLocks noChangeArrowheads="1"/>
          </p:cNvSpPr>
          <p:nvPr/>
        </p:nvSpPr>
        <p:spPr bwMode="auto">
          <a:xfrm>
            <a:off x="1908234" y="4318758"/>
            <a:ext cx="371897" cy="236988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altLang="ko-KR" sz="700" spc="-30" smtClean="0">
                <a:latin typeface="+mn-ea"/>
              </a:rPr>
              <a:t>UI_UX</a:t>
            </a:r>
          </a:p>
          <a:p>
            <a:pPr lvl="0" defTabSz="914400">
              <a:spcBef>
                <a:spcPct val="20000"/>
              </a:spcBef>
              <a:defRPr/>
            </a:pPr>
            <a:r>
              <a:rPr lang="ko-KR" altLang="en-US" sz="700" spc="-30" smtClean="0">
                <a:latin typeface="+mn-ea"/>
              </a:rPr>
              <a:t>표준 </a:t>
            </a:r>
            <a:r>
              <a:rPr lang="ko-KR" altLang="en-US" sz="700" spc="-30">
                <a:latin typeface="+mn-ea"/>
              </a:rPr>
              <a:t>작성</a:t>
            </a:r>
            <a:endParaRPr lang="en-US" altLang="ko-KR" sz="700" spc="-30">
              <a:latin typeface="+mn-ea"/>
            </a:endParaRPr>
          </a:p>
        </p:txBody>
      </p:sp>
      <p:sp>
        <p:nvSpPr>
          <p:cNvPr id="878" name="오른쪽 대괄호 593"/>
          <p:cNvSpPr>
            <a:spLocks/>
          </p:cNvSpPr>
          <p:nvPr/>
        </p:nvSpPr>
        <p:spPr bwMode="auto">
          <a:xfrm rot="16200000">
            <a:off x="2006725" y="4346441"/>
            <a:ext cx="140881" cy="316053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79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4552259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" name="Rectangle 55"/>
          <p:cNvSpPr>
            <a:spLocks noChangeArrowheads="1"/>
          </p:cNvSpPr>
          <p:nvPr/>
        </p:nvSpPr>
        <p:spPr bwMode="auto">
          <a:xfrm>
            <a:off x="2363048" y="4318758"/>
            <a:ext cx="657872" cy="236988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ko-KR" altLang="en-US" sz="700" spc="-30">
                <a:latin typeface="+mn-ea"/>
              </a:rPr>
              <a:t>기능별 화면 작성</a:t>
            </a:r>
            <a:endParaRPr lang="en-US" altLang="ko-KR" sz="700" spc="-30">
              <a:latin typeface="+mn-ea"/>
            </a:endParaRPr>
          </a:p>
          <a:p>
            <a:pPr lvl="0" defTabSz="914400">
              <a:spcBef>
                <a:spcPct val="20000"/>
              </a:spcBef>
              <a:defRPr/>
            </a:pPr>
            <a:r>
              <a:rPr lang="en-US" altLang="ko-KR" sz="700" spc="-30">
                <a:latin typeface="+mn-ea"/>
              </a:rPr>
              <a:t>     /</a:t>
            </a:r>
            <a:r>
              <a:rPr lang="ko-KR" altLang="en-US" sz="700" spc="-30">
                <a:latin typeface="+mn-ea"/>
              </a:rPr>
              <a:t>사용자 검토</a:t>
            </a:r>
            <a:endParaRPr lang="en-US" altLang="ko-KR" sz="700" spc="-30">
              <a:latin typeface="+mn-ea"/>
            </a:endParaRPr>
          </a:p>
        </p:txBody>
      </p:sp>
      <p:sp>
        <p:nvSpPr>
          <p:cNvPr id="881" name="오른쪽 대괄호 880"/>
          <p:cNvSpPr/>
          <p:nvPr/>
        </p:nvSpPr>
        <p:spPr bwMode="auto">
          <a:xfrm rot="16200000">
            <a:off x="2598437" y="4114773"/>
            <a:ext cx="160376" cy="798890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cxnSp>
        <p:nvCxnSpPr>
          <p:cNvPr id="883" name="AutoShape 348"/>
          <p:cNvCxnSpPr>
            <a:cxnSpLocks noChangeShapeType="1"/>
            <a:endCxn id="906" idx="1"/>
          </p:cNvCxnSpPr>
          <p:nvPr/>
        </p:nvCxnSpPr>
        <p:spPr bwMode="auto">
          <a:xfrm flipV="1">
            <a:off x="1825947" y="5220575"/>
            <a:ext cx="4980211" cy="7607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5" name="Rectangle 55"/>
          <p:cNvSpPr>
            <a:spLocks noChangeArrowheads="1"/>
          </p:cNvSpPr>
          <p:nvPr/>
        </p:nvSpPr>
        <p:spPr bwMode="auto">
          <a:xfrm>
            <a:off x="2006066" y="5094709"/>
            <a:ext cx="570670" cy="10772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요구사항 수집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886" name="AutoShape 348"/>
          <p:cNvCxnSpPr>
            <a:cxnSpLocks noChangeShapeType="1"/>
          </p:cNvCxnSpPr>
          <p:nvPr/>
        </p:nvCxnSpPr>
        <p:spPr bwMode="auto">
          <a:xfrm flipV="1">
            <a:off x="6000414" y="5221659"/>
            <a:ext cx="462818" cy="3748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87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754" y="5186060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9" name="Rectangle 55"/>
          <p:cNvSpPr>
            <a:spLocks noChangeArrowheads="1"/>
          </p:cNvSpPr>
          <p:nvPr/>
        </p:nvSpPr>
        <p:spPr bwMode="auto">
          <a:xfrm>
            <a:off x="2744616" y="5080406"/>
            <a:ext cx="10910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ko-KR" altLang="en-US" sz="700" spc="-30">
                <a:latin typeface="+mn-ea"/>
              </a:rPr>
              <a:t>프로세스</a:t>
            </a:r>
            <a:r>
              <a:rPr lang="en-US" altLang="ko-KR" sz="700" spc="-30">
                <a:latin typeface="+mn-ea"/>
              </a:rPr>
              <a:t>/</a:t>
            </a:r>
            <a:r>
              <a:rPr lang="ko-KR" altLang="en-US" sz="700" spc="-30">
                <a:latin typeface="+mn-ea"/>
              </a:rPr>
              <a:t>기능</a:t>
            </a:r>
            <a:r>
              <a:rPr lang="en-US" altLang="ko-KR" sz="700" spc="-30">
                <a:latin typeface="+mn-ea"/>
              </a:rPr>
              <a:t>/</a:t>
            </a:r>
            <a:r>
              <a:rPr lang="ko-KR" altLang="en-US" sz="700" spc="-30">
                <a:latin typeface="+mn-ea"/>
              </a:rPr>
              <a:t>화면</a:t>
            </a:r>
            <a:r>
              <a:rPr lang="en-US" altLang="ko-KR" sz="700" spc="-30">
                <a:latin typeface="+mn-ea"/>
              </a:rPr>
              <a:t>/DB </a:t>
            </a:r>
            <a:r>
              <a:rPr lang="ko-KR" altLang="en-US" sz="700" spc="-30">
                <a:latin typeface="+mn-ea"/>
              </a:rPr>
              <a:t>설계</a:t>
            </a:r>
            <a:endParaRPr lang="en-US" altLang="ko-KR" sz="700" spc="-30">
              <a:latin typeface="+mn-ea"/>
            </a:endParaRPr>
          </a:p>
        </p:txBody>
      </p:sp>
      <p:pic>
        <p:nvPicPr>
          <p:cNvPr id="890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614" y="5186060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" name="오른쪽 대괄호 593"/>
          <p:cNvSpPr>
            <a:spLocks/>
          </p:cNvSpPr>
          <p:nvPr/>
        </p:nvSpPr>
        <p:spPr bwMode="auto">
          <a:xfrm rot="16200000">
            <a:off x="2210158" y="4754849"/>
            <a:ext cx="140881" cy="77168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96" name="오른쪽 대괄호 593"/>
          <p:cNvSpPr>
            <a:spLocks/>
          </p:cNvSpPr>
          <p:nvPr/>
        </p:nvSpPr>
        <p:spPr bwMode="auto">
          <a:xfrm rot="16200000">
            <a:off x="4861083" y="4104849"/>
            <a:ext cx="164982" cy="209578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98" name="오른쪽 대괄호 897"/>
          <p:cNvSpPr/>
          <p:nvPr/>
        </p:nvSpPr>
        <p:spPr bwMode="auto">
          <a:xfrm rot="16200000">
            <a:off x="3209079" y="4533966"/>
            <a:ext cx="168228" cy="1231746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901" name="Rectangle 55"/>
          <p:cNvSpPr>
            <a:spLocks noChangeArrowheads="1"/>
          </p:cNvSpPr>
          <p:nvPr/>
        </p:nvSpPr>
        <p:spPr bwMode="auto">
          <a:xfrm>
            <a:off x="4588737" y="5083960"/>
            <a:ext cx="580287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  구현</a:t>
            </a:r>
            <a:r>
              <a:rPr lang="en-US" altLang="ko-KR" sz="700" smtClean="0">
                <a:latin typeface="+mn-ea"/>
                <a:ea typeface="+mn-ea"/>
              </a:rPr>
              <a:t>/</a:t>
            </a: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902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56" y="519296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3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880" y="519296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5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46" y="519296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6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158" y="5185355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6" name="오른쪽 대괄호 593"/>
          <p:cNvSpPr>
            <a:spLocks/>
          </p:cNvSpPr>
          <p:nvPr/>
        </p:nvSpPr>
        <p:spPr bwMode="auto">
          <a:xfrm rot="16200000">
            <a:off x="6366931" y="4706556"/>
            <a:ext cx="130421" cy="856892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918" name="Rectangle 55"/>
          <p:cNvSpPr>
            <a:spLocks noChangeArrowheads="1"/>
          </p:cNvSpPr>
          <p:nvPr/>
        </p:nvSpPr>
        <p:spPr bwMode="auto">
          <a:xfrm>
            <a:off x="6076553" y="5084772"/>
            <a:ext cx="724557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교육 및 운영지원</a:t>
            </a:r>
            <a:endParaRPr lang="en-US" altLang="ko-KR" sz="7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7801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>
                <a:latin typeface="+mn-ea"/>
                <a:ea typeface="+mn-ea"/>
              </a:rPr>
              <a:t>2.3 </a:t>
            </a:r>
            <a:r>
              <a:rPr lang="ko-KR" altLang="en-US" dirty="0">
                <a:latin typeface="+mn-ea"/>
                <a:ea typeface="+mn-ea"/>
              </a:rPr>
              <a:t>추진 로드맵 정의</a:t>
            </a:r>
            <a:r>
              <a:rPr lang="en-US" altLang="ko-KR">
                <a:latin typeface="+mn-ea"/>
                <a:ea typeface="+mn-ea"/>
              </a:rPr>
              <a:t/>
            </a:r>
            <a:br>
              <a:rPr lang="en-US" altLang="ko-KR">
                <a:latin typeface="+mn-ea"/>
                <a:ea typeface="+mn-ea"/>
              </a:rPr>
            </a:br>
            <a:r>
              <a:rPr lang="en-US" altLang="ko-KR" smtClean="0">
                <a:latin typeface="+mn-ea"/>
                <a:ea typeface="+mn-ea"/>
              </a:rPr>
              <a:t>2.3.3 </a:t>
            </a:r>
            <a:r>
              <a:rPr lang="ko-KR" altLang="en-US" dirty="0">
                <a:latin typeface="+mn-ea"/>
                <a:ea typeface="+mn-ea"/>
              </a:rPr>
              <a:t>단계별 </a:t>
            </a:r>
            <a:r>
              <a:rPr lang="ko-KR" altLang="en-US">
                <a:latin typeface="+mn-ea"/>
                <a:ea typeface="+mn-ea"/>
              </a:rPr>
              <a:t>추진 </a:t>
            </a:r>
            <a:r>
              <a:rPr lang="ko-KR" altLang="en-US" smtClean="0">
                <a:latin typeface="+mn-ea"/>
                <a:ea typeface="+mn-ea"/>
              </a:rPr>
              <a:t>계획표</a:t>
            </a:r>
            <a:r>
              <a:rPr lang="en-US" altLang="ko-KR" smtClean="0">
                <a:latin typeface="+mn-ea"/>
                <a:ea typeface="+mn-ea"/>
              </a:rPr>
              <a:t>(2</a:t>
            </a:r>
            <a:r>
              <a:rPr lang="ko-KR" altLang="en-US" smtClean="0">
                <a:latin typeface="+mn-ea"/>
                <a:ea typeface="+mn-ea"/>
              </a:rPr>
              <a:t>안</a:t>
            </a:r>
            <a:r>
              <a:rPr lang="en-US" altLang="ko-KR" smtClean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>
                <a:latin typeface="+mn-ea"/>
              </a:rPr>
              <a:t>Ⅳ. </a:t>
            </a:r>
            <a:r>
              <a:rPr lang="ko-KR" altLang="en-US" smtClean="0">
                <a:latin typeface="+mn-ea"/>
              </a:rPr>
              <a:t>이행계획 수립</a:t>
            </a:r>
            <a:endParaRPr lang="en-US" altLang="ko-KR" dirty="0">
              <a:latin typeface="+mn-ea"/>
            </a:endParaRPr>
          </a:p>
          <a:p>
            <a:pPr>
              <a:spcBef>
                <a:spcPct val="20000"/>
              </a:spcBef>
            </a:pPr>
            <a:r>
              <a:rPr lang="en-US" altLang="ko-KR" dirty="0">
                <a:latin typeface="+mn-ea"/>
              </a:rPr>
              <a:t>2. </a:t>
            </a:r>
            <a:r>
              <a:rPr lang="ko-KR" altLang="en-US" dirty="0">
                <a:latin typeface="+mn-ea"/>
              </a:rPr>
              <a:t>추진 계획 수립</a:t>
            </a:r>
            <a:endParaRPr lang="en-US" altLang="ko-KR" dirty="0">
              <a:latin typeface="+mn-ea"/>
            </a:endParaRPr>
          </a:p>
          <a:p>
            <a:pPr>
              <a:spcBef>
                <a:spcPct val="20000"/>
              </a:spcBef>
            </a:pPr>
            <a:r>
              <a:rPr lang="en-US" altLang="ko-KR" smtClean="0">
                <a:latin typeface="+mn-ea"/>
              </a:rPr>
              <a:t>2.3 </a:t>
            </a:r>
            <a:r>
              <a:rPr lang="ko-KR" altLang="en-US" dirty="0">
                <a:latin typeface="+mn-ea"/>
              </a:rPr>
              <a:t>추진 로드맵 정의</a:t>
            </a:r>
            <a:endParaRPr lang="en-US" altLang="ko-KR" dirty="0">
              <a:latin typeface="+mn-ea"/>
            </a:endParaRPr>
          </a:p>
        </p:txBody>
      </p:sp>
      <p:graphicFrame>
        <p:nvGraphicFramePr>
          <p:cNvPr id="571" name="표 570"/>
          <p:cNvGraphicFramePr>
            <a:graphicFrameLocks noGrp="1"/>
          </p:cNvGraphicFramePr>
          <p:nvPr>
            <p:extLst/>
          </p:nvPr>
        </p:nvGraphicFramePr>
        <p:xfrm>
          <a:off x="264279" y="948991"/>
          <a:ext cx="8865182" cy="5360329"/>
        </p:xfrm>
        <a:graphic>
          <a:graphicData uri="http://schemas.openxmlformats.org/drawingml/2006/table">
            <a:tbl>
              <a:tblPr/>
              <a:tblGrid>
                <a:gridCol w="330702"/>
                <a:gridCol w="1255722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1464908"/>
              </a:tblGrid>
              <a:tr h="255353">
                <a:tc rowSpan="2"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 </a:t>
                      </a: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 </a:t>
                      </a: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</a:t>
                      </a: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개월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271591">
                <a:tc gridSpan="2" v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6E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M+2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M+4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M+5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M+6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M+7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M+8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M+9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M+10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M+12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92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 단계</a:t>
                      </a:r>
                      <a:endParaRPr kumimoji="0" lang="ko-KR" alt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요구분석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테스트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이관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운영지원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/>
                        </a:buClr>
                        <a:buSzPts val="900"/>
                        <a:buFont typeface="굴림" pitchFamily="50" charset="-127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442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경영정보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템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축</a:t>
                      </a: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표준 정의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(DATABASE, UI)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표준 정의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표준에 의한 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PILOT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구축시 표준 반영 지원</a:t>
                      </a:r>
                      <a:endParaRPr kumimoji="1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5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시스템 구축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요구사항 수집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2) DB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업무흐름분석 결과로 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기능 구현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화면설계 및 구현테스트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구현기능의 사용자 참여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테스트 및 의견 즉석반영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사용자의 의견 반영 결과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전자증빙 시스템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계산서 발행 연계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7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조달청 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RPA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도입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데이터 전환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8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부문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품질 보증 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위험 관리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25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 훈련 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기술이전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75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 안정화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9178"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 및 산출물 계획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8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" name="오른쪽 대괄호 593"/>
          <p:cNvSpPr>
            <a:spLocks/>
          </p:cNvSpPr>
          <p:nvPr/>
        </p:nvSpPr>
        <p:spPr bwMode="auto">
          <a:xfrm rot="16200000">
            <a:off x="4255704" y="3011211"/>
            <a:ext cx="140881" cy="472714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75" name="오른쪽 대괄호 574"/>
          <p:cNvSpPr/>
          <p:nvPr/>
        </p:nvSpPr>
        <p:spPr bwMode="auto">
          <a:xfrm rot="16200000" flipH="1">
            <a:off x="5709930" y="3783161"/>
            <a:ext cx="130445" cy="1442904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576" name="오른쪽 대괄호 575"/>
          <p:cNvSpPr/>
          <p:nvPr/>
        </p:nvSpPr>
        <p:spPr bwMode="auto">
          <a:xfrm rot="16200000" flipH="1">
            <a:off x="4235336" y="3774294"/>
            <a:ext cx="130445" cy="1470129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577" name="오른쪽 대괄호 576"/>
          <p:cNvSpPr/>
          <p:nvPr/>
        </p:nvSpPr>
        <p:spPr bwMode="auto">
          <a:xfrm rot="16200000" flipH="1">
            <a:off x="2982258" y="4028183"/>
            <a:ext cx="130445" cy="952861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578" name="오른쪽 대괄호 593"/>
          <p:cNvSpPr>
            <a:spLocks/>
          </p:cNvSpPr>
          <p:nvPr/>
        </p:nvSpPr>
        <p:spPr bwMode="auto">
          <a:xfrm rot="16200000">
            <a:off x="2002447" y="4092824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79" name="오른쪽 대괄호 593"/>
          <p:cNvSpPr>
            <a:spLocks/>
          </p:cNvSpPr>
          <p:nvPr/>
        </p:nvSpPr>
        <p:spPr bwMode="auto">
          <a:xfrm rot="16200000">
            <a:off x="5473995" y="4079211"/>
            <a:ext cx="140881" cy="462818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80" name="오른쪽 대괄호 593"/>
          <p:cNvSpPr>
            <a:spLocks/>
          </p:cNvSpPr>
          <p:nvPr/>
        </p:nvSpPr>
        <p:spPr bwMode="auto">
          <a:xfrm rot="16200000">
            <a:off x="3023563" y="4392705"/>
            <a:ext cx="147223" cy="79779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81" name="오른쪽 대괄호 593"/>
          <p:cNvSpPr>
            <a:spLocks/>
          </p:cNvSpPr>
          <p:nvPr/>
        </p:nvSpPr>
        <p:spPr bwMode="auto">
          <a:xfrm rot="16200000">
            <a:off x="2392628" y="4562930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82" name="오른쪽 대괄호 593"/>
          <p:cNvSpPr>
            <a:spLocks/>
          </p:cNvSpPr>
          <p:nvPr/>
        </p:nvSpPr>
        <p:spPr bwMode="auto">
          <a:xfrm rot="16200000">
            <a:off x="6546519" y="4587661"/>
            <a:ext cx="140881" cy="38249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grpSp>
        <p:nvGrpSpPr>
          <p:cNvPr id="583" name="그룹 582"/>
          <p:cNvGrpSpPr/>
          <p:nvPr/>
        </p:nvGrpSpPr>
        <p:grpSpPr>
          <a:xfrm>
            <a:off x="1856654" y="1833836"/>
            <a:ext cx="5001004" cy="205180"/>
            <a:chOff x="2875682" y="2920350"/>
            <a:chExt cx="6612995" cy="283126"/>
          </a:xfrm>
        </p:grpSpPr>
        <p:sp>
          <p:nvSpPr>
            <p:cNvPr id="720" name="오른쪽 대괄호 719"/>
            <p:cNvSpPr/>
            <p:nvPr/>
          </p:nvSpPr>
          <p:spPr bwMode="auto">
            <a:xfrm rot="16200000">
              <a:off x="3575819" y="2780545"/>
              <a:ext cx="228441" cy="508051"/>
            </a:xfrm>
            <a:prstGeom prst="rightBracket">
              <a:avLst>
                <a:gd name="adj" fmla="val 46740"/>
              </a:avLst>
            </a:prstGeom>
            <a:solidFill>
              <a:srgbClr val="FFFFFF"/>
            </a:solidFill>
            <a:ln w="317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eaVert" lIns="0" tIns="0" rIns="0" bIns="0" anchor="ctr" anchorCtr="1">
              <a:normAutofit/>
            </a:bodyPr>
            <a:lstStyle/>
            <a:p>
              <a:pPr algn="ctr" defTabSz="846138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1" name="Rectangle 55"/>
            <p:cNvSpPr>
              <a:spLocks noChangeArrowheads="1"/>
            </p:cNvSpPr>
            <p:nvPr/>
          </p:nvSpPr>
          <p:spPr bwMode="auto">
            <a:xfrm>
              <a:off x="3439505" y="2972451"/>
              <a:ext cx="591398" cy="1486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>
              <a:lvl1pPr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kern="0" smtClean="0">
                  <a:latin typeface="+mn-ea"/>
                  <a:ea typeface="+mn-ea"/>
                </a:rPr>
                <a:t>PILOT </a:t>
              </a:r>
              <a:r>
                <a:rPr lang="ko-KR" altLang="en-US" sz="700" kern="0" smtClean="0">
                  <a:latin typeface="+mn-ea"/>
                  <a:ea typeface="+mn-ea"/>
                </a:rPr>
                <a:t>구축</a:t>
              </a:r>
              <a:endParaRPr lang="ko-KR" altLang="ko-KR" sz="700" kern="0" dirty="0" smtClean="0">
                <a:latin typeface="+mn-ea"/>
                <a:ea typeface="+mn-ea"/>
              </a:endParaRPr>
            </a:p>
          </p:txBody>
        </p:sp>
        <p:sp>
          <p:nvSpPr>
            <p:cNvPr id="722" name="오른쪽 대괄호 721"/>
            <p:cNvSpPr/>
            <p:nvPr/>
          </p:nvSpPr>
          <p:spPr bwMode="auto">
            <a:xfrm rot="16200000">
              <a:off x="3016596" y="2782915"/>
              <a:ext cx="229933" cy="504813"/>
            </a:xfrm>
            <a:prstGeom prst="rightBracket">
              <a:avLst>
                <a:gd name="adj" fmla="val 46740"/>
              </a:avLst>
            </a:prstGeom>
            <a:solidFill>
              <a:srgbClr val="FFFFFF"/>
            </a:solidFill>
            <a:ln w="317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eaVert" lIns="0" tIns="0" rIns="0" bIns="0" anchor="ctr" anchorCtr="1">
              <a:normAutofit/>
            </a:bodyPr>
            <a:lstStyle/>
            <a:p>
              <a:pPr algn="ctr" defTabSz="846138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3" name="Rectangle 55"/>
            <p:cNvSpPr>
              <a:spLocks noChangeArrowheads="1"/>
            </p:cNvSpPr>
            <p:nvPr/>
          </p:nvSpPr>
          <p:spPr bwMode="auto">
            <a:xfrm>
              <a:off x="2927715" y="2985594"/>
              <a:ext cx="474814" cy="1486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>
              <a:lvl1pPr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mtClean="0">
                  <a:latin typeface="+mn-ea"/>
                  <a:ea typeface="+mn-ea"/>
                </a:rPr>
                <a:t>표준정의</a:t>
              </a:r>
              <a:endParaRPr lang="en-US" altLang="ko-KR" sz="700" kern="0" dirty="0" smtClean="0">
                <a:latin typeface="+mn-ea"/>
                <a:ea typeface="+mn-ea"/>
              </a:endParaRPr>
            </a:p>
          </p:txBody>
        </p:sp>
        <p:cxnSp>
          <p:nvCxnSpPr>
            <p:cNvPr id="726" name="AutoShape 348"/>
            <p:cNvCxnSpPr>
              <a:cxnSpLocks noChangeShapeType="1"/>
            </p:cNvCxnSpPr>
            <p:nvPr/>
          </p:nvCxnSpPr>
          <p:spPr bwMode="auto">
            <a:xfrm flipV="1">
              <a:off x="2917267" y="3155214"/>
              <a:ext cx="6516000" cy="6894"/>
            </a:xfrm>
            <a:prstGeom prst="straightConnector1">
              <a:avLst/>
            </a:prstGeom>
            <a:noFill/>
            <a:ln w="2857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727" name="Picture 352" descr="블릿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5682" y="3106952"/>
              <a:ext cx="90000" cy="91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" name="Picture 352" descr="블릿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1775" y="3106953"/>
              <a:ext cx="90001" cy="91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0" name="Picture 352" descr="블릿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759" y="3106952"/>
              <a:ext cx="111918" cy="96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584" name="AutoShape 348"/>
          <p:cNvCxnSpPr>
            <a:cxnSpLocks noChangeShapeType="1"/>
          </p:cNvCxnSpPr>
          <p:nvPr/>
        </p:nvCxnSpPr>
        <p:spPr bwMode="auto">
          <a:xfrm>
            <a:off x="3496072" y="4037971"/>
            <a:ext cx="2205193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85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135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6" name="오른쪽 대괄호 647"/>
          <p:cNvSpPr>
            <a:spLocks/>
          </p:cNvSpPr>
          <p:nvPr/>
        </p:nvSpPr>
        <p:spPr bwMode="auto">
          <a:xfrm rot="16200000">
            <a:off x="4488497" y="3728281"/>
            <a:ext cx="140881" cy="444516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587" name="Rectangle 55"/>
          <p:cNvSpPr>
            <a:spLocks noChangeArrowheads="1"/>
          </p:cNvSpPr>
          <p:nvPr/>
        </p:nvSpPr>
        <p:spPr bwMode="auto">
          <a:xfrm>
            <a:off x="4382331" y="3799427"/>
            <a:ext cx="57066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마이그레이션 </a:t>
            </a:r>
            <a:endParaRPr lang="en-US" altLang="ko-KR" sz="700" smtClean="0">
              <a:latin typeface="+mn-ea"/>
              <a:ea typeface="+mn-ea"/>
            </a:endParaRPr>
          </a:p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스크립트 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588" name="오른쪽 대괄호 593"/>
          <p:cNvSpPr>
            <a:spLocks/>
          </p:cNvSpPr>
          <p:nvPr/>
        </p:nvSpPr>
        <p:spPr bwMode="auto">
          <a:xfrm rot="16200000">
            <a:off x="3633741" y="3713692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89" name="Rectangle 55"/>
          <p:cNvSpPr>
            <a:spLocks noChangeArrowheads="1"/>
          </p:cNvSpPr>
          <p:nvPr/>
        </p:nvSpPr>
        <p:spPr bwMode="auto">
          <a:xfrm>
            <a:off x="3306341" y="3906216"/>
            <a:ext cx="583478" cy="78066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요구사항수집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590" name="AutoShape 348"/>
          <p:cNvCxnSpPr>
            <a:cxnSpLocks noChangeShapeType="1"/>
            <a:stCxn id="594" idx="3"/>
            <a:endCxn id="592" idx="1"/>
          </p:cNvCxnSpPr>
          <p:nvPr/>
        </p:nvCxnSpPr>
        <p:spPr bwMode="auto">
          <a:xfrm>
            <a:off x="4803037" y="4037971"/>
            <a:ext cx="2498155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91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928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2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192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989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76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5" name="오른쪽 대괄호 647"/>
          <p:cNvSpPr>
            <a:spLocks/>
          </p:cNvSpPr>
          <p:nvPr/>
        </p:nvSpPr>
        <p:spPr bwMode="auto">
          <a:xfrm rot="16200000">
            <a:off x="5098996" y="3564519"/>
            <a:ext cx="140881" cy="772041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596" name="Rectangle 55"/>
          <p:cNvSpPr>
            <a:spLocks noChangeArrowheads="1"/>
          </p:cNvSpPr>
          <p:nvPr/>
        </p:nvSpPr>
        <p:spPr bwMode="auto">
          <a:xfrm>
            <a:off x="4866170" y="3798565"/>
            <a:ext cx="53860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1</a:t>
            </a:r>
            <a:r>
              <a:rPr lang="ko-KR" altLang="en-US" sz="700" smtClean="0">
                <a:latin typeface="+mn-ea"/>
                <a:ea typeface="+mn-ea"/>
              </a:rPr>
              <a:t>차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마이그레이션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597" name="오른쪽 대괄호 593"/>
          <p:cNvSpPr>
            <a:spLocks/>
          </p:cNvSpPr>
          <p:nvPr/>
        </p:nvSpPr>
        <p:spPr bwMode="auto">
          <a:xfrm rot="16200000">
            <a:off x="4058658" y="3753682"/>
            <a:ext cx="128074" cy="35561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98" name="Rectangle 55"/>
          <p:cNvSpPr>
            <a:spLocks noChangeArrowheads="1"/>
          </p:cNvSpPr>
          <p:nvPr/>
        </p:nvSpPr>
        <p:spPr bwMode="auto">
          <a:xfrm>
            <a:off x="3978796" y="3908000"/>
            <a:ext cx="248512" cy="78066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ko-KR" sz="700" dirty="0" smtClean="0">
                <a:latin typeface="+mn-ea"/>
                <a:ea typeface="+mn-ea"/>
              </a:rPr>
              <a:t>DB </a:t>
            </a:r>
            <a:r>
              <a:rPr lang="ko-KR" altLang="en-US" sz="700" dirty="0" smtClean="0">
                <a:latin typeface="+mn-ea"/>
                <a:ea typeface="+mn-ea"/>
              </a:rPr>
              <a:t>분석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599" name="오른쪽 대괄호 707"/>
          <p:cNvSpPr>
            <a:spLocks/>
          </p:cNvSpPr>
          <p:nvPr/>
        </p:nvSpPr>
        <p:spPr bwMode="auto">
          <a:xfrm rot="16200000">
            <a:off x="7156820" y="4856495"/>
            <a:ext cx="156534" cy="819758"/>
          </a:xfrm>
          <a:prstGeom prst="rightBracket">
            <a:avLst>
              <a:gd name="adj" fmla="val 46899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+mn-ea"/>
              <a:ea typeface="+mn-ea"/>
            </a:endParaRPr>
          </a:p>
        </p:txBody>
      </p:sp>
      <p:sp>
        <p:nvSpPr>
          <p:cNvPr id="600" name="Rectangle 55"/>
          <p:cNvSpPr>
            <a:spLocks noChangeArrowheads="1"/>
          </p:cNvSpPr>
          <p:nvPr/>
        </p:nvSpPr>
        <p:spPr bwMode="auto">
          <a:xfrm>
            <a:off x="6722049" y="5124807"/>
            <a:ext cx="1074906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시스템</a:t>
            </a:r>
            <a:r>
              <a:rPr lang="en-US" altLang="ko-KR" sz="700" dirty="0">
                <a:latin typeface="+mn-ea"/>
                <a:ea typeface="+mn-ea"/>
              </a:rPr>
              <a:t> </a:t>
            </a:r>
            <a:r>
              <a:rPr lang="ko-KR" altLang="en-US" sz="700" dirty="0" smtClean="0">
                <a:latin typeface="+mn-ea"/>
                <a:ea typeface="+mn-ea"/>
              </a:rPr>
              <a:t>및 </a:t>
            </a:r>
            <a:r>
              <a:rPr lang="ko-KR" altLang="en-US" sz="700" smtClean="0">
                <a:latin typeface="+mn-ea"/>
                <a:ea typeface="+mn-ea"/>
              </a:rPr>
              <a:t>서비스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안정화</a:t>
            </a:r>
            <a:endParaRPr lang="en-US" altLang="ko-KR" sz="700" dirty="0" smtClean="0">
              <a:latin typeface="+mn-ea"/>
              <a:ea typeface="+mn-ea"/>
            </a:endParaRPr>
          </a:p>
        </p:txBody>
      </p:sp>
      <p:cxnSp>
        <p:nvCxnSpPr>
          <p:cNvPr id="601" name="AutoShape 348"/>
          <p:cNvCxnSpPr>
            <a:cxnSpLocks noChangeShapeType="1"/>
          </p:cNvCxnSpPr>
          <p:nvPr/>
        </p:nvCxnSpPr>
        <p:spPr bwMode="auto">
          <a:xfrm>
            <a:off x="6825383" y="5340172"/>
            <a:ext cx="854396" cy="0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02" name="Picture 352" descr="블릿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919" y="5302017"/>
            <a:ext cx="8241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3" name="Picture 352" descr="블릿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296" y="5302017"/>
            <a:ext cx="8241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04" name="AutoShape 348"/>
          <p:cNvCxnSpPr>
            <a:cxnSpLocks noChangeShapeType="1"/>
          </p:cNvCxnSpPr>
          <p:nvPr/>
        </p:nvCxnSpPr>
        <p:spPr bwMode="auto">
          <a:xfrm flipV="1">
            <a:off x="3368824" y="4879979"/>
            <a:ext cx="3457525" cy="0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05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555" y="4843753"/>
            <a:ext cx="68743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6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407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7" name="Rectangle 55"/>
          <p:cNvSpPr>
            <a:spLocks noChangeArrowheads="1"/>
          </p:cNvSpPr>
          <p:nvPr/>
        </p:nvSpPr>
        <p:spPr bwMode="auto">
          <a:xfrm>
            <a:off x="2701702" y="4742650"/>
            <a:ext cx="836705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dirty="0">
                <a:latin typeface="+mn-ea"/>
                <a:ea typeface="+mn-ea"/>
              </a:rPr>
              <a:t>관리자</a:t>
            </a:r>
            <a:r>
              <a:rPr lang="en-US" altLang="ko-KR" sz="700" dirty="0">
                <a:latin typeface="+mn-ea"/>
                <a:ea typeface="+mn-ea"/>
              </a:rPr>
              <a:t>/</a:t>
            </a:r>
            <a:r>
              <a:rPr lang="ko-KR" altLang="en-US" sz="700" dirty="0">
                <a:latin typeface="+mn-ea"/>
                <a:ea typeface="+mn-ea"/>
              </a:rPr>
              <a:t>개발자 교육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09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892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0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642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1" name="Rectangle 55"/>
          <p:cNvSpPr>
            <a:spLocks noChangeArrowheads="1"/>
          </p:cNvSpPr>
          <p:nvPr/>
        </p:nvSpPr>
        <p:spPr bwMode="auto">
          <a:xfrm>
            <a:off x="6395263" y="4756536"/>
            <a:ext cx="375467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기술이전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12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13" name="AutoShape 348"/>
          <p:cNvCxnSpPr>
            <a:cxnSpLocks noChangeShapeType="1"/>
          </p:cNvCxnSpPr>
          <p:nvPr/>
        </p:nvCxnSpPr>
        <p:spPr bwMode="auto">
          <a:xfrm>
            <a:off x="2284273" y="4877919"/>
            <a:ext cx="435594" cy="0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" name="AutoShape 348"/>
          <p:cNvCxnSpPr>
            <a:cxnSpLocks noChangeShapeType="1"/>
          </p:cNvCxnSpPr>
          <p:nvPr/>
        </p:nvCxnSpPr>
        <p:spPr bwMode="auto">
          <a:xfrm flipV="1">
            <a:off x="2720752" y="4879979"/>
            <a:ext cx="734707" cy="3747"/>
          </a:xfrm>
          <a:prstGeom prst="straightConnector1">
            <a:avLst/>
          </a:prstGeom>
          <a:noFill/>
          <a:ln w="19050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15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552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7" name="Rectangle 55"/>
          <p:cNvSpPr>
            <a:spLocks noChangeArrowheads="1"/>
          </p:cNvSpPr>
          <p:nvPr/>
        </p:nvSpPr>
        <p:spPr bwMode="auto">
          <a:xfrm>
            <a:off x="2288704" y="4746622"/>
            <a:ext cx="390943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교육계획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18" name="오른쪽 대괄호 140"/>
          <p:cNvSpPr>
            <a:spLocks/>
          </p:cNvSpPr>
          <p:nvPr/>
        </p:nvSpPr>
        <p:spPr bwMode="auto">
          <a:xfrm rot="5400000" flipH="1" flipV="1">
            <a:off x="5778284" y="4652079"/>
            <a:ext cx="156749" cy="269523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3016250" indent="-73025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3473450" indent="-73025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930650" indent="-73025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4387850" indent="-73025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endParaRPr lang="ko-KR" altLang="en-US" sz="700">
              <a:latin typeface="+mn-ea"/>
              <a:ea typeface="+mn-ea"/>
            </a:endParaRPr>
          </a:p>
        </p:txBody>
      </p:sp>
      <p:sp>
        <p:nvSpPr>
          <p:cNvPr id="619" name="오른쪽 대괄호 647"/>
          <p:cNvSpPr>
            <a:spLocks/>
          </p:cNvSpPr>
          <p:nvPr/>
        </p:nvSpPr>
        <p:spPr bwMode="auto">
          <a:xfrm rot="16200000">
            <a:off x="5205749" y="4366794"/>
            <a:ext cx="140881" cy="812831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620" name="오른쪽 대괄호 593"/>
          <p:cNvSpPr>
            <a:spLocks/>
          </p:cNvSpPr>
          <p:nvPr/>
        </p:nvSpPr>
        <p:spPr bwMode="auto">
          <a:xfrm rot="16200000">
            <a:off x="6149002" y="4581962"/>
            <a:ext cx="140881" cy="38249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21" name="Rectangle 55"/>
          <p:cNvSpPr>
            <a:spLocks noChangeArrowheads="1"/>
          </p:cNvSpPr>
          <p:nvPr/>
        </p:nvSpPr>
        <p:spPr bwMode="auto">
          <a:xfrm>
            <a:off x="5962900" y="4656776"/>
            <a:ext cx="48589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사용자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교육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22" name="Rectangle 55"/>
          <p:cNvSpPr>
            <a:spLocks noChangeArrowheads="1"/>
          </p:cNvSpPr>
          <p:nvPr/>
        </p:nvSpPr>
        <p:spPr bwMode="auto">
          <a:xfrm>
            <a:off x="4896930" y="4666300"/>
            <a:ext cx="83863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사용자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>
                <a:latin typeface="+mn-ea"/>
                <a:ea typeface="+mn-ea"/>
              </a:rPr>
              <a:t>운영자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수시 </a:t>
            </a:r>
            <a:r>
              <a:rPr lang="ko-KR" altLang="en-US" sz="700" dirty="0">
                <a:latin typeface="+mn-ea"/>
                <a:ea typeface="+mn-ea"/>
              </a:rPr>
              <a:t>교육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23" name="Rectangle 55"/>
          <p:cNvSpPr>
            <a:spLocks noChangeArrowheads="1"/>
          </p:cNvSpPr>
          <p:nvPr/>
        </p:nvSpPr>
        <p:spPr bwMode="auto">
          <a:xfrm>
            <a:off x="5734003" y="4653136"/>
            <a:ext cx="26930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지침서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개발</a:t>
            </a:r>
            <a:endParaRPr lang="en-US" altLang="ko-KR" sz="700" dirty="0">
              <a:latin typeface="+mn-ea"/>
              <a:ea typeface="+mn-ea"/>
            </a:endParaRPr>
          </a:p>
        </p:txBody>
      </p:sp>
      <p:cxnSp>
        <p:nvCxnSpPr>
          <p:cNvPr id="624" name="AutoShape 348"/>
          <p:cNvCxnSpPr>
            <a:cxnSpLocks noChangeShapeType="1"/>
          </p:cNvCxnSpPr>
          <p:nvPr/>
        </p:nvCxnSpPr>
        <p:spPr bwMode="auto">
          <a:xfrm flipV="1">
            <a:off x="1853710" y="4412703"/>
            <a:ext cx="4655407" cy="3747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5" name="오른쪽 대괄호 624"/>
          <p:cNvSpPr/>
          <p:nvPr/>
        </p:nvSpPr>
        <p:spPr bwMode="auto">
          <a:xfrm rot="16200000">
            <a:off x="3729776" y="2820930"/>
            <a:ext cx="140881" cy="2967482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26" name="오른쪽 대괄호 625"/>
          <p:cNvSpPr/>
          <p:nvPr/>
        </p:nvSpPr>
        <p:spPr bwMode="auto">
          <a:xfrm rot="16200000">
            <a:off x="2992199" y="3603129"/>
            <a:ext cx="109922" cy="1452190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 lnSpcReduction="20000"/>
          </a:bodyPr>
          <a:lstStyle/>
          <a:p>
            <a:pPr defTabSz="846138">
              <a:defRPr/>
            </a:pPr>
            <a:endParaRPr lang="ko-KR" altLang="en-US" sz="600" dirty="0">
              <a:latin typeface="+mn-ea"/>
            </a:endParaRPr>
          </a:p>
        </p:txBody>
      </p:sp>
      <p:sp>
        <p:nvSpPr>
          <p:cNvPr id="627" name="Rectangle 55"/>
          <p:cNvSpPr>
            <a:spLocks noChangeArrowheads="1"/>
          </p:cNvSpPr>
          <p:nvPr/>
        </p:nvSpPr>
        <p:spPr bwMode="auto">
          <a:xfrm>
            <a:off x="2504728" y="4295322"/>
            <a:ext cx="86846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관리자</a:t>
            </a:r>
            <a:r>
              <a:rPr lang="en-US" altLang="ko-KR" sz="700" dirty="0">
                <a:latin typeface="+mn-ea"/>
                <a:ea typeface="+mn-ea"/>
              </a:rPr>
              <a:t>/</a:t>
            </a:r>
            <a:r>
              <a:rPr lang="ko-KR" altLang="en-US" sz="700" dirty="0">
                <a:latin typeface="+mn-ea"/>
                <a:ea typeface="+mn-ea"/>
              </a:rPr>
              <a:t>개발자 교육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28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56" y="4381476"/>
            <a:ext cx="732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9" name="Rectangle 55"/>
          <p:cNvSpPr>
            <a:spLocks noChangeArrowheads="1"/>
          </p:cNvSpPr>
          <p:nvPr/>
        </p:nvSpPr>
        <p:spPr bwMode="auto">
          <a:xfrm>
            <a:off x="1857187" y="4182510"/>
            <a:ext cx="41686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품질보증</a:t>
            </a:r>
            <a:endParaRPr lang="en-US" altLang="ko-KR" sz="700" dirty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활동계획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30" name="Rectangle 55"/>
          <p:cNvSpPr>
            <a:spLocks noChangeArrowheads="1"/>
          </p:cNvSpPr>
          <p:nvPr/>
        </p:nvSpPr>
        <p:spPr bwMode="auto">
          <a:xfrm>
            <a:off x="5385048" y="4454356"/>
            <a:ext cx="780871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서비스 수준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31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204" y="4381476"/>
            <a:ext cx="732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2" name="Rectangle 55"/>
          <p:cNvSpPr>
            <a:spLocks noChangeArrowheads="1"/>
          </p:cNvSpPr>
          <p:nvPr/>
        </p:nvSpPr>
        <p:spPr bwMode="auto">
          <a:xfrm>
            <a:off x="3993131" y="4461928"/>
            <a:ext cx="77564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설계 변경 정도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33" name="오른쪽 대괄호 632"/>
          <p:cNvSpPr/>
          <p:nvPr/>
        </p:nvSpPr>
        <p:spPr bwMode="auto">
          <a:xfrm rot="16200000" flipH="1">
            <a:off x="2238822" y="4275615"/>
            <a:ext cx="130445" cy="462818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34" name="Rectangle 55"/>
          <p:cNvSpPr>
            <a:spLocks noChangeArrowheads="1"/>
          </p:cNvSpPr>
          <p:nvPr/>
        </p:nvSpPr>
        <p:spPr bwMode="auto">
          <a:xfrm>
            <a:off x="1979209" y="4453448"/>
            <a:ext cx="668037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업무모델 수준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35" name="Rectangle 55"/>
          <p:cNvSpPr>
            <a:spLocks noChangeArrowheads="1"/>
          </p:cNvSpPr>
          <p:nvPr/>
        </p:nvSpPr>
        <p:spPr bwMode="auto">
          <a:xfrm>
            <a:off x="2881205" y="4454356"/>
            <a:ext cx="425136" cy="10772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요구 수준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36" name="Rectangle 55"/>
          <p:cNvSpPr>
            <a:spLocks noChangeArrowheads="1"/>
          </p:cNvSpPr>
          <p:nvPr/>
        </p:nvSpPr>
        <p:spPr bwMode="auto">
          <a:xfrm>
            <a:off x="3844305" y="4264058"/>
            <a:ext cx="14286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설계 리뷰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 dirty="0">
                <a:latin typeface="+mn-ea"/>
                <a:ea typeface="+mn-ea"/>
              </a:rPr>
              <a:t>형상관리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 dirty="0">
                <a:latin typeface="+mn-ea"/>
                <a:ea typeface="+mn-ea"/>
              </a:rPr>
              <a:t>품질관리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37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685" y="4381476"/>
            <a:ext cx="74503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8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024" y="4381476"/>
            <a:ext cx="74504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9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658" y="4381476"/>
            <a:ext cx="74504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0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039" y="4376479"/>
            <a:ext cx="732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1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024" y="4377728"/>
            <a:ext cx="73240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2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043" y="4377728"/>
            <a:ext cx="73240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3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731" y="4377728"/>
            <a:ext cx="73240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4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571" y="4376479"/>
            <a:ext cx="74503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767" y="4377728"/>
            <a:ext cx="73240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6" name="오른쪽 대괄호 593"/>
          <p:cNvSpPr>
            <a:spLocks/>
          </p:cNvSpPr>
          <p:nvPr/>
        </p:nvSpPr>
        <p:spPr bwMode="auto">
          <a:xfrm rot="16200000">
            <a:off x="5939308" y="4094060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47" name="Rectangle 55"/>
          <p:cNvSpPr>
            <a:spLocks noChangeArrowheads="1"/>
          </p:cNvSpPr>
          <p:nvPr/>
        </p:nvSpPr>
        <p:spPr bwMode="auto">
          <a:xfrm>
            <a:off x="5832081" y="4274227"/>
            <a:ext cx="38848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품질평가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48" name="Rectangle 55"/>
          <p:cNvSpPr>
            <a:spLocks noChangeArrowheads="1"/>
          </p:cNvSpPr>
          <p:nvPr/>
        </p:nvSpPr>
        <p:spPr bwMode="auto">
          <a:xfrm>
            <a:off x="5347307" y="4295398"/>
            <a:ext cx="430602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품질시험</a:t>
            </a:r>
            <a:endParaRPr lang="en-US" altLang="ko-KR" sz="700" dirty="0">
              <a:latin typeface="+mn-ea"/>
              <a:ea typeface="+mn-ea"/>
            </a:endParaRPr>
          </a:p>
        </p:txBody>
      </p:sp>
      <p:cxnSp>
        <p:nvCxnSpPr>
          <p:cNvPr id="649" name="AutoShape 348"/>
          <p:cNvCxnSpPr>
            <a:cxnSpLocks noChangeShapeType="1"/>
          </p:cNvCxnSpPr>
          <p:nvPr/>
        </p:nvCxnSpPr>
        <p:spPr bwMode="auto">
          <a:xfrm flipV="1">
            <a:off x="1882537" y="2653660"/>
            <a:ext cx="5787717" cy="1655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0" name="Rectangle 55"/>
          <p:cNvSpPr>
            <a:spLocks noChangeArrowheads="1"/>
          </p:cNvSpPr>
          <p:nvPr/>
        </p:nvSpPr>
        <p:spPr bwMode="auto">
          <a:xfrm>
            <a:off x="4376936" y="2846686"/>
            <a:ext cx="1542089" cy="107722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b="1" smtClean="0">
                <a:solidFill>
                  <a:srgbClr val="0000CC"/>
                </a:solidFill>
                <a:latin typeface="+mn-ea"/>
                <a:ea typeface="+mn-ea"/>
              </a:rPr>
              <a:t>화면 및 기능 테스트</a:t>
            </a:r>
            <a:r>
              <a:rPr lang="en-US" altLang="ko-KR" sz="700" b="1" smtClean="0">
                <a:solidFill>
                  <a:srgbClr val="0000CC"/>
                </a:solidFill>
                <a:latin typeface="+mn-ea"/>
                <a:ea typeface="+mn-ea"/>
              </a:rPr>
              <a:t>/</a:t>
            </a:r>
            <a:r>
              <a:rPr lang="ko-KR" altLang="en-US" sz="700" b="1" smtClean="0">
                <a:solidFill>
                  <a:srgbClr val="0000CC"/>
                </a:solidFill>
                <a:latin typeface="+mn-ea"/>
                <a:ea typeface="+mn-ea"/>
              </a:rPr>
              <a:t>사용자 의견 반영</a:t>
            </a:r>
            <a:endParaRPr lang="ko-KR" altLang="ko-KR" sz="700" b="1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651" name="Rectangle 55"/>
          <p:cNvSpPr>
            <a:spLocks noChangeArrowheads="1"/>
          </p:cNvSpPr>
          <p:nvPr/>
        </p:nvSpPr>
        <p:spPr bwMode="auto">
          <a:xfrm>
            <a:off x="3018309" y="2276872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메뉴구조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652" name="Rectangle 55"/>
          <p:cNvSpPr>
            <a:spLocks noChangeArrowheads="1"/>
          </p:cNvSpPr>
          <p:nvPr/>
        </p:nvSpPr>
        <p:spPr bwMode="auto">
          <a:xfrm>
            <a:off x="1888793" y="2377133"/>
            <a:ext cx="359073" cy="2693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요구사항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수집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653" name="AutoShape 348"/>
          <p:cNvCxnSpPr>
            <a:cxnSpLocks noChangeShapeType="1"/>
          </p:cNvCxnSpPr>
          <p:nvPr/>
        </p:nvCxnSpPr>
        <p:spPr bwMode="auto">
          <a:xfrm flipV="1">
            <a:off x="6000414" y="2663691"/>
            <a:ext cx="462818" cy="3748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55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754" y="262809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6" name="Rectangle 55"/>
          <p:cNvSpPr>
            <a:spLocks noChangeArrowheads="1"/>
          </p:cNvSpPr>
          <p:nvPr/>
        </p:nvSpPr>
        <p:spPr bwMode="auto">
          <a:xfrm>
            <a:off x="2293256" y="2689960"/>
            <a:ext cx="359073" cy="2693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업무흐름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</a:t>
            </a:r>
            <a:r>
              <a:rPr lang="ko-KR" altLang="en-US" sz="700" dirty="0" smtClean="0">
                <a:latin typeface="+mn-ea"/>
                <a:ea typeface="+mn-ea"/>
              </a:rPr>
              <a:t>분석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57" name="Rectangle 55"/>
          <p:cNvSpPr>
            <a:spLocks noChangeArrowheads="1"/>
          </p:cNvSpPr>
          <p:nvPr/>
        </p:nvSpPr>
        <p:spPr bwMode="auto">
          <a:xfrm>
            <a:off x="3591810" y="2707824"/>
            <a:ext cx="271545" cy="78066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화면설계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658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614" y="262809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9" name="오른쪽 대괄호 593"/>
          <p:cNvSpPr>
            <a:spLocks/>
          </p:cNvSpPr>
          <p:nvPr/>
        </p:nvSpPr>
        <p:spPr bwMode="auto">
          <a:xfrm rot="16200000">
            <a:off x="1988718" y="2384726"/>
            <a:ext cx="140881" cy="39599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60" name="오른쪽 대괄호 659"/>
          <p:cNvSpPr/>
          <p:nvPr/>
        </p:nvSpPr>
        <p:spPr bwMode="auto">
          <a:xfrm rot="16200000" flipH="1">
            <a:off x="2414005" y="2563313"/>
            <a:ext cx="143490" cy="409957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1" name="오른쪽 대괄호 660"/>
          <p:cNvSpPr/>
          <p:nvPr/>
        </p:nvSpPr>
        <p:spPr bwMode="auto">
          <a:xfrm rot="16200000" flipH="1">
            <a:off x="2833847" y="2575944"/>
            <a:ext cx="130445" cy="382495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3" name="Rectangle 55"/>
          <p:cNvSpPr>
            <a:spLocks noChangeArrowheads="1"/>
          </p:cNvSpPr>
          <p:nvPr/>
        </p:nvSpPr>
        <p:spPr bwMode="auto">
          <a:xfrm>
            <a:off x="2721736" y="2421669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프로세스</a:t>
            </a:r>
            <a:endParaRPr lang="en-US" altLang="ko-KR" sz="700" dirty="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정의 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664" name="오른쪽 대괄호 593"/>
          <p:cNvSpPr>
            <a:spLocks/>
          </p:cNvSpPr>
          <p:nvPr/>
        </p:nvSpPr>
        <p:spPr bwMode="auto">
          <a:xfrm rot="16200000">
            <a:off x="2812984" y="2391476"/>
            <a:ext cx="140881" cy="38249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65" name="오른쪽 대괄호 593"/>
          <p:cNvSpPr>
            <a:spLocks/>
          </p:cNvSpPr>
          <p:nvPr/>
        </p:nvSpPr>
        <p:spPr bwMode="auto">
          <a:xfrm rot="16200000">
            <a:off x="4566724" y="1232850"/>
            <a:ext cx="130421" cy="2689286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666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095" y="2631527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7" name="오른쪽 대괄호 666"/>
          <p:cNvSpPr/>
          <p:nvPr/>
        </p:nvSpPr>
        <p:spPr bwMode="auto">
          <a:xfrm rot="16200000" flipH="1">
            <a:off x="3646943" y="2128801"/>
            <a:ext cx="137381" cy="1231746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8" name="Rectangle 55"/>
          <p:cNvSpPr>
            <a:spLocks noChangeArrowheads="1"/>
          </p:cNvSpPr>
          <p:nvPr/>
        </p:nvSpPr>
        <p:spPr bwMode="auto">
          <a:xfrm>
            <a:off x="2682236" y="2689870"/>
            <a:ext cx="43759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DB</a:t>
            </a: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69" name="오른쪽 대괄호 668"/>
          <p:cNvSpPr/>
          <p:nvPr/>
        </p:nvSpPr>
        <p:spPr bwMode="auto">
          <a:xfrm rot="16200000" flipH="1">
            <a:off x="4470770" y="2569012"/>
            <a:ext cx="135822" cy="35848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0000CC"/>
            </a:solidFill>
            <a:prstDash val="dash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71" name="Rectangle 55"/>
          <p:cNvSpPr>
            <a:spLocks noChangeArrowheads="1"/>
          </p:cNvSpPr>
          <p:nvPr/>
        </p:nvSpPr>
        <p:spPr bwMode="auto">
          <a:xfrm>
            <a:off x="3946108" y="2525992"/>
            <a:ext cx="817531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 </a:t>
            </a:r>
            <a:r>
              <a:rPr lang="ko-KR" altLang="en-US" sz="700">
                <a:latin typeface="+mn-ea"/>
                <a:ea typeface="+mn-ea"/>
              </a:rPr>
              <a:t>시스템 </a:t>
            </a:r>
            <a:r>
              <a:rPr lang="ko-KR" altLang="en-US" sz="700" smtClean="0">
                <a:latin typeface="+mn-ea"/>
                <a:ea typeface="+mn-ea"/>
              </a:rPr>
              <a:t>구현</a:t>
            </a:r>
            <a:r>
              <a:rPr lang="en-US" altLang="ko-KR" sz="700" smtClean="0">
                <a:latin typeface="+mn-ea"/>
                <a:ea typeface="+mn-ea"/>
              </a:rPr>
              <a:t>/</a:t>
            </a: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72" name="Text Box 255"/>
          <p:cNvSpPr txBox="1">
            <a:spLocks noChangeArrowheads="1"/>
          </p:cNvSpPr>
          <p:nvPr/>
        </p:nvSpPr>
        <p:spPr bwMode="auto">
          <a:xfrm>
            <a:off x="1847131" y="5612788"/>
            <a:ext cx="593800" cy="15613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 사업수행계획서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착수보고서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3" name="Text Box 255"/>
          <p:cNvSpPr txBox="1">
            <a:spLocks noChangeArrowheads="1"/>
          </p:cNvSpPr>
          <p:nvPr/>
        </p:nvSpPr>
        <p:spPr bwMode="auto">
          <a:xfrm>
            <a:off x="2602285" y="5464274"/>
            <a:ext cx="934700" cy="75405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시스템 개발 표준 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요구사항기술서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업무흐름도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프로세스 계층도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인터페이스 정의서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인터페이스 테이블 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/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 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정의서</a:t>
            </a:r>
            <a:endParaRPr lang="ko-KR" altLang="en-US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4" name="Text Box 255"/>
          <p:cNvSpPr txBox="1">
            <a:spLocks noChangeArrowheads="1"/>
          </p:cNvSpPr>
          <p:nvPr/>
        </p:nvSpPr>
        <p:spPr bwMode="auto">
          <a:xfrm>
            <a:off x="3492792" y="5524076"/>
            <a:ext cx="855901" cy="64633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응용기능분해도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코드목록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코드정의서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시험계획서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시스템</a:t>
            </a: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데이터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eaLnBrk="1" hangingPunct="1"/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 전환 계획서</a:t>
            </a:r>
            <a:endParaRPr lang="ko-KR" altLang="en-US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5" name="Text Box 255"/>
          <p:cNvSpPr txBox="1">
            <a:spLocks noChangeArrowheads="1"/>
          </p:cNvSpPr>
          <p:nvPr/>
        </p:nvSpPr>
        <p:spPr bwMode="auto">
          <a:xfrm>
            <a:off x="4274870" y="5450647"/>
            <a:ext cx="710176" cy="624524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UI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설계서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모듈목록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모듈명세서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시스템 구성도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테이블 목록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err="1" smtClean="0">
                <a:solidFill>
                  <a:srgbClr val="000000"/>
                </a:solidFill>
                <a:latin typeface="+mn-ea"/>
                <a:ea typeface="+mn-ea"/>
              </a:rPr>
              <a:t>데이블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구조명세서 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인덱스 목록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err="1" smtClean="0">
                <a:solidFill>
                  <a:srgbClr val="000000"/>
                </a:solidFill>
                <a:latin typeface="+mn-ea"/>
                <a:ea typeface="+mn-ea"/>
              </a:rPr>
              <a:t>엔티티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관계도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6" name="Text Box 255"/>
          <p:cNvSpPr txBox="1">
            <a:spLocks noChangeArrowheads="1"/>
          </p:cNvSpPr>
          <p:nvPr/>
        </p:nvSpPr>
        <p:spPr bwMode="auto">
          <a:xfrm>
            <a:off x="6393160" y="5805264"/>
            <a:ext cx="998692" cy="2341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시스템 </a:t>
            </a:r>
            <a:r>
              <a:rPr lang="ko-KR" altLang="en-US" sz="700" dirty="0" err="1" smtClean="0">
                <a:solidFill>
                  <a:srgbClr val="000000"/>
                </a:solidFill>
                <a:latin typeface="+mn-ea"/>
                <a:ea typeface="+mn-ea"/>
              </a:rPr>
              <a:t>구현물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사용자 지침서</a:t>
            </a: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사용자매뉴얼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err="1" smtClean="0">
                <a:solidFill>
                  <a:srgbClr val="000000"/>
                </a:solidFill>
                <a:latin typeface="+mn-ea"/>
                <a:ea typeface="+mn-ea"/>
              </a:rPr>
              <a:t>운용자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지침서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사용자매뉴얼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7" name="Text Box 255"/>
          <p:cNvSpPr txBox="1">
            <a:spLocks noChangeArrowheads="1"/>
          </p:cNvSpPr>
          <p:nvPr/>
        </p:nvSpPr>
        <p:spPr bwMode="auto">
          <a:xfrm>
            <a:off x="5189568" y="5498289"/>
            <a:ext cx="797458" cy="15613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시스템시험설계서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시스템시험결과보고서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8" name="Text Box 255"/>
          <p:cNvSpPr txBox="1">
            <a:spLocks noChangeArrowheads="1"/>
          </p:cNvSpPr>
          <p:nvPr/>
        </p:nvSpPr>
        <p:spPr bwMode="auto">
          <a:xfrm>
            <a:off x="7699020" y="5489550"/>
            <a:ext cx="729572" cy="2341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 회의록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프로젝트진척보고서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프로젝트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현안목록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9" name="Text Box 255"/>
          <p:cNvSpPr txBox="1">
            <a:spLocks noChangeArrowheads="1"/>
          </p:cNvSpPr>
          <p:nvPr/>
        </p:nvSpPr>
        <p:spPr bwMode="auto">
          <a:xfrm>
            <a:off x="6404119" y="5612788"/>
            <a:ext cx="729572" cy="7806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프로젝트완료보고서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80" name="AutoShape 283"/>
          <p:cNvSpPr>
            <a:spLocks noChangeArrowheads="1"/>
          </p:cNvSpPr>
          <p:nvPr/>
        </p:nvSpPr>
        <p:spPr bwMode="auto">
          <a:xfrm>
            <a:off x="1856656" y="5392395"/>
            <a:ext cx="108898" cy="78267"/>
          </a:xfrm>
          <a:prstGeom prst="triangle">
            <a:avLst>
              <a:gd name="adj" fmla="val 4843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+mn-ea"/>
              <a:ea typeface="+mn-ea"/>
            </a:endParaRPr>
          </a:p>
        </p:txBody>
      </p:sp>
      <p:sp>
        <p:nvSpPr>
          <p:cNvPr id="681" name="Rectangle 282"/>
          <p:cNvSpPr>
            <a:spLocks noChangeArrowheads="1"/>
          </p:cNvSpPr>
          <p:nvPr/>
        </p:nvSpPr>
        <p:spPr bwMode="auto">
          <a:xfrm>
            <a:off x="1962564" y="5498289"/>
            <a:ext cx="271545" cy="7806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700" b="1" dirty="0" smtClean="0">
                <a:latin typeface="+mn-ea"/>
                <a:ea typeface="+mn-ea"/>
              </a:rPr>
              <a:t>착수보고</a:t>
            </a:r>
            <a:endParaRPr lang="ko-KR" altLang="en-US" sz="700" b="1" dirty="0">
              <a:latin typeface="+mn-ea"/>
              <a:ea typeface="+mn-ea"/>
            </a:endParaRPr>
          </a:p>
        </p:txBody>
      </p:sp>
      <p:sp>
        <p:nvSpPr>
          <p:cNvPr id="682" name="AutoShape 283"/>
          <p:cNvSpPr>
            <a:spLocks noChangeArrowheads="1"/>
          </p:cNvSpPr>
          <p:nvPr/>
        </p:nvSpPr>
        <p:spPr bwMode="auto">
          <a:xfrm>
            <a:off x="6716310" y="5379149"/>
            <a:ext cx="108898" cy="78267"/>
          </a:xfrm>
          <a:prstGeom prst="triangle">
            <a:avLst>
              <a:gd name="adj" fmla="val 4843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+mn-ea"/>
              <a:ea typeface="+mn-ea"/>
            </a:endParaRPr>
          </a:p>
        </p:txBody>
      </p:sp>
      <p:sp>
        <p:nvSpPr>
          <p:cNvPr id="683" name="Rectangle 282"/>
          <p:cNvSpPr>
            <a:spLocks noChangeArrowheads="1"/>
          </p:cNvSpPr>
          <p:nvPr/>
        </p:nvSpPr>
        <p:spPr bwMode="auto">
          <a:xfrm>
            <a:off x="6472442" y="5485043"/>
            <a:ext cx="271545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700" b="1" dirty="0">
                <a:latin typeface="+mn-ea"/>
                <a:ea typeface="+mn-ea"/>
              </a:rPr>
              <a:t>완료보고</a:t>
            </a:r>
          </a:p>
        </p:txBody>
      </p:sp>
      <p:cxnSp>
        <p:nvCxnSpPr>
          <p:cNvPr id="684" name="AutoShape 348"/>
          <p:cNvCxnSpPr>
            <a:cxnSpLocks noChangeShapeType="1"/>
          </p:cNvCxnSpPr>
          <p:nvPr/>
        </p:nvCxnSpPr>
        <p:spPr bwMode="auto">
          <a:xfrm>
            <a:off x="1964859" y="5439938"/>
            <a:ext cx="4776558" cy="0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85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664" y="5404963"/>
            <a:ext cx="769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735" y="5404963"/>
            <a:ext cx="769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7" name="Rectangle 55"/>
          <p:cNvSpPr>
            <a:spLocks noChangeArrowheads="1"/>
          </p:cNvSpPr>
          <p:nvPr/>
        </p:nvSpPr>
        <p:spPr bwMode="auto">
          <a:xfrm>
            <a:off x="3753551" y="5297811"/>
            <a:ext cx="945557" cy="9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ts val="300"/>
              </a:lnSpc>
              <a:spcBef>
                <a:spcPct val="50000"/>
              </a:spcBef>
            </a:pPr>
            <a:endParaRPr lang="en-US" altLang="ko-KR" sz="700" dirty="0">
              <a:latin typeface="+mn-ea"/>
              <a:ea typeface="+mn-ea"/>
            </a:endParaRPr>
          </a:p>
          <a:p>
            <a:pPr eaLnBrk="1" hangingPunct="1">
              <a:lnSpc>
                <a:spcPts val="300"/>
              </a:lnSpc>
              <a:spcBef>
                <a:spcPct val="50000"/>
              </a:spcBef>
            </a:pPr>
            <a:r>
              <a:rPr lang="ko-KR" altLang="en-US" sz="700" dirty="0">
                <a:latin typeface="+mn-ea"/>
                <a:ea typeface="+mn-ea"/>
              </a:rPr>
              <a:t>업무별 수시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 dirty="0">
                <a:latin typeface="+mn-ea"/>
                <a:ea typeface="+mn-ea"/>
              </a:rPr>
              <a:t>주간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 dirty="0">
                <a:latin typeface="+mn-ea"/>
                <a:ea typeface="+mn-ea"/>
              </a:rPr>
              <a:t>월간 보고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688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56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9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42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0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386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1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46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2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782" y="4843753"/>
            <a:ext cx="66412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1" name="Picture 352" descr="블릿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65" y="1969790"/>
            <a:ext cx="68062" cy="66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2" name="오른쪽 대괄호 731"/>
          <p:cNvSpPr/>
          <p:nvPr/>
        </p:nvSpPr>
        <p:spPr bwMode="auto">
          <a:xfrm rot="16200000">
            <a:off x="4273357" y="282485"/>
            <a:ext cx="101244" cy="3274267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62500" lnSpcReduction="20000"/>
          </a:bodyPr>
          <a:lstStyle/>
          <a:p>
            <a:pPr algn="ctr" defTabSz="846138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3" name="Rectangle 55"/>
          <p:cNvSpPr>
            <a:spLocks noChangeArrowheads="1"/>
          </p:cNvSpPr>
          <p:nvPr/>
        </p:nvSpPr>
        <p:spPr bwMode="auto">
          <a:xfrm>
            <a:off x="3630191" y="1881118"/>
            <a:ext cx="602729" cy="10772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latin typeface="+mn-ea"/>
                <a:ea typeface="+mn-ea"/>
              </a:rPr>
              <a:t>표준 이행 지원</a:t>
            </a:r>
            <a:endParaRPr lang="ko-KR" altLang="ko-KR" sz="700" kern="0" dirty="0" smtClean="0">
              <a:latin typeface="+mn-ea"/>
              <a:ea typeface="+mn-ea"/>
            </a:endParaRPr>
          </a:p>
        </p:txBody>
      </p:sp>
      <p:pic>
        <p:nvPicPr>
          <p:cNvPr id="734" name="Picture 352" descr="블릿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112" y="1969790"/>
            <a:ext cx="84637" cy="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5" name="오른쪽 대괄호 734"/>
          <p:cNvSpPr/>
          <p:nvPr/>
        </p:nvSpPr>
        <p:spPr bwMode="auto">
          <a:xfrm rot="16200000">
            <a:off x="6348357" y="1520982"/>
            <a:ext cx="120304" cy="813665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77500" lnSpcReduction="20000"/>
          </a:bodyPr>
          <a:lstStyle/>
          <a:p>
            <a:pPr algn="ctr" defTabSz="846138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6" name="Rectangle 55"/>
          <p:cNvSpPr>
            <a:spLocks noChangeArrowheads="1"/>
          </p:cNvSpPr>
          <p:nvPr/>
        </p:nvSpPr>
        <p:spPr bwMode="auto">
          <a:xfrm>
            <a:off x="6098274" y="1872889"/>
            <a:ext cx="602729" cy="10772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latin typeface="+mn-ea"/>
                <a:ea typeface="+mn-ea"/>
              </a:rPr>
              <a:t>표준 이행 점검</a:t>
            </a:r>
            <a:endParaRPr lang="ko-KR" altLang="ko-KR" sz="700" kern="0" dirty="0" smtClean="0">
              <a:latin typeface="+mn-ea"/>
              <a:ea typeface="+mn-ea"/>
            </a:endParaRPr>
          </a:p>
        </p:txBody>
      </p:sp>
      <p:pic>
        <p:nvPicPr>
          <p:cNvPr id="737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158" y="2627387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8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808" y="2627387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9" name="오른쪽 대괄호 593"/>
          <p:cNvSpPr>
            <a:spLocks/>
          </p:cNvSpPr>
          <p:nvPr/>
        </p:nvSpPr>
        <p:spPr bwMode="auto">
          <a:xfrm rot="16200000">
            <a:off x="3108761" y="2492127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740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941" y="263738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1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093" y="2634288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2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091" y="2627387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3" name="오른쪽 대괄호 742"/>
          <p:cNvSpPr/>
          <p:nvPr/>
        </p:nvSpPr>
        <p:spPr bwMode="auto">
          <a:xfrm rot="16200000" flipH="1">
            <a:off x="4886410" y="2569012"/>
            <a:ext cx="135822" cy="35848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0000CC"/>
            </a:solidFill>
            <a:prstDash val="dash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744" name="오른쪽 대괄호 743"/>
          <p:cNvSpPr/>
          <p:nvPr/>
        </p:nvSpPr>
        <p:spPr bwMode="auto">
          <a:xfrm rot="16200000" flipH="1">
            <a:off x="5300958" y="2569012"/>
            <a:ext cx="135822" cy="35848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0000CC"/>
            </a:solidFill>
            <a:prstDash val="dash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745" name="오른쪽 대괄호 744"/>
          <p:cNvSpPr/>
          <p:nvPr/>
        </p:nvSpPr>
        <p:spPr bwMode="auto">
          <a:xfrm rot="16200000" flipH="1">
            <a:off x="5713956" y="2569012"/>
            <a:ext cx="135822" cy="35848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0000CC"/>
            </a:solidFill>
            <a:prstDash val="dash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746" name="오른쪽 대괄호 593"/>
          <p:cNvSpPr>
            <a:spLocks/>
          </p:cNvSpPr>
          <p:nvPr/>
        </p:nvSpPr>
        <p:spPr bwMode="auto">
          <a:xfrm rot="16200000">
            <a:off x="6148732" y="2373093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47" name="오른쪽 대괄호 593"/>
          <p:cNvSpPr>
            <a:spLocks/>
          </p:cNvSpPr>
          <p:nvPr/>
        </p:nvSpPr>
        <p:spPr bwMode="auto">
          <a:xfrm rot="16200000">
            <a:off x="6550600" y="2377162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48" name="Rectangle 55"/>
          <p:cNvSpPr>
            <a:spLocks noChangeArrowheads="1"/>
          </p:cNvSpPr>
          <p:nvPr/>
        </p:nvSpPr>
        <p:spPr bwMode="auto">
          <a:xfrm>
            <a:off x="6065844" y="2363738"/>
            <a:ext cx="269304" cy="26930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통합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749" name="Rectangle 55"/>
          <p:cNvSpPr>
            <a:spLocks noChangeArrowheads="1"/>
          </p:cNvSpPr>
          <p:nvPr/>
        </p:nvSpPr>
        <p:spPr bwMode="auto">
          <a:xfrm>
            <a:off x="6390769" y="2526804"/>
            <a:ext cx="426400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교육</a:t>
            </a:r>
            <a:r>
              <a:rPr lang="en-US" altLang="ko-KR" sz="700" smtClean="0">
                <a:latin typeface="+mn-ea"/>
                <a:ea typeface="+mn-ea"/>
              </a:rPr>
              <a:t>/</a:t>
            </a:r>
            <a:r>
              <a:rPr lang="ko-KR" altLang="en-US" sz="700" smtClean="0">
                <a:latin typeface="+mn-ea"/>
                <a:ea typeface="+mn-ea"/>
              </a:rPr>
              <a:t>이관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750" name="오른쪽 대괄호 593"/>
          <p:cNvSpPr>
            <a:spLocks/>
          </p:cNvSpPr>
          <p:nvPr/>
        </p:nvSpPr>
        <p:spPr bwMode="auto">
          <a:xfrm rot="16200000">
            <a:off x="7181640" y="2202520"/>
            <a:ext cx="130421" cy="778990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51" name="Rectangle 55"/>
          <p:cNvSpPr>
            <a:spLocks noChangeArrowheads="1"/>
          </p:cNvSpPr>
          <p:nvPr/>
        </p:nvSpPr>
        <p:spPr bwMode="auto">
          <a:xfrm>
            <a:off x="7041232" y="2536329"/>
            <a:ext cx="39113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운영지원</a:t>
            </a:r>
            <a:endParaRPr lang="en-US" altLang="ko-KR" sz="700" dirty="0">
              <a:latin typeface="+mn-ea"/>
              <a:ea typeface="+mn-ea"/>
            </a:endParaRPr>
          </a:p>
        </p:txBody>
      </p:sp>
      <p:cxnSp>
        <p:nvCxnSpPr>
          <p:cNvPr id="752" name="AutoShape 348"/>
          <p:cNvCxnSpPr>
            <a:cxnSpLocks noChangeShapeType="1"/>
          </p:cNvCxnSpPr>
          <p:nvPr/>
        </p:nvCxnSpPr>
        <p:spPr bwMode="auto">
          <a:xfrm>
            <a:off x="4304928" y="3749939"/>
            <a:ext cx="2205193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53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071" y="37143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4" name="오른쪽 대괄호 647"/>
          <p:cNvSpPr>
            <a:spLocks/>
          </p:cNvSpPr>
          <p:nvPr/>
        </p:nvSpPr>
        <p:spPr bwMode="auto">
          <a:xfrm rot="16200000">
            <a:off x="5517781" y="3210351"/>
            <a:ext cx="128074" cy="866237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755" name="Rectangle 55"/>
          <p:cNvSpPr>
            <a:spLocks noChangeArrowheads="1"/>
          </p:cNvSpPr>
          <p:nvPr/>
        </p:nvSpPr>
        <p:spPr bwMode="auto">
          <a:xfrm>
            <a:off x="5421715" y="3603356"/>
            <a:ext cx="408766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RPA  </a:t>
            </a:r>
            <a:r>
              <a:rPr lang="ko-KR" altLang="en-US" sz="700" smtClean="0">
                <a:latin typeface="+mn-ea"/>
                <a:ea typeface="+mn-ea"/>
              </a:rPr>
              <a:t>개발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756" name="오른쪽 대괄호 593"/>
          <p:cNvSpPr>
            <a:spLocks/>
          </p:cNvSpPr>
          <p:nvPr/>
        </p:nvSpPr>
        <p:spPr bwMode="auto">
          <a:xfrm rot="16200000">
            <a:off x="4460677" y="3425660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57" name="Rectangle 55"/>
          <p:cNvSpPr>
            <a:spLocks noChangeArrowheads="1"/>
          </p:cNvSpPr>
          <p:nvPr/>
        </p:nvSpPr>
        <p:spPr bwMode="auto">
          <a:xfrm>
            <a:off x="4242445" y="3603356"/>
            <a:ext cx="583478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RPA </a:t>
            </a:r>
            <a:r>
              <a:rPr lang="ko-KR" altLang="en-US" sz="700" smtClean="0">
                <a:latin typeface="+mn-ea"/>
                <a:ea typeface="+mn-ea"/>
              </a:rPr>
              <a:t>발주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758" name="AutoShape 348"/>
          <p:cNvCxnSpPr>
            <a:cxnSpLocks noChangeShapeType="1"/>
          </p:cNvCxnSpPr>
          <p:nvPr/>
        </p:nvCxnSpPr>
        <p:spPr bwMode="auto">
          <a:xfrm>
            <a:off x="6472021" y="3749939"/>
            <a:ext cx="1171224" cy="10962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59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731" y="37143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0" name="Picture 352" descr="블릿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30901" y="3759489"/>
            <a:ext cx="2619" cy="2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1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925" y="37143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2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112" y="37143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5" name="오른쪽 대괄호 593"/>
          <p:cNvSpPr>
            <a:spLocks/>
          </p:cNvSpPr>
          <p:nvPr/>
        </p:nvSpPr>
        <p:spPr bwMode="auto">
          <a:xfrm rot="16200000">
            <a:off x="4883717" y="3447870"/>
            <a:ext cx="128074" cy="39117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66" name="Rectangle 55"/>
          <p:cNvSpPr>
            <a:spLocks noChangeArrowheads="1"/>
          </p:cNvSpPr>
          <p:nvPr/>
        </p:nvSpPr>
        <p:spPr bwMode="auto">
          <a:xfrm>
            <a:off x="4761691" y="3605140"/>
            <a:ext cx="376706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RPA </a:t>
            </a: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767" name="오른쪽 대괄호 593"/>
          <p:cNvSpPr>
            <a:spLocks/>
          </p:cNvSpPr>
          <p:nvPr/>
        </p:nvSpPr>
        <p:spPr bwMode="auto">
          <a:xfrm rot="16200000">
            <a:off x="6148732" y="3451949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768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110" y="3718600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1" name="Rectangle 55"/>
          <p:cNvSpPr>
            <a:spLocks noChangeArrowheads="1"/>
          </p:cNvSpPr>
          <p:nvPr/>
        </p:nvSpPr>
        <p:spPr bwMode="auto">
          <a:xfrm>
            <a:off x="6099835" y="3599785"/>
            <a:ext cx="2693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772" name="AutoShape 348"/>
          <p:cNvCxnSpPr>
            <a:cxnSpLocks noChangeShapeType="1"/>
          </p:cNvCxnSpPr>
          <p:nvPr/>
        </p:nvCxnSpPr>
        <p:spPr bwMode="auto">
          <a:xfrm>
            <a:off x="3496462" y="3317891"/>
            <a:ext cx="2205193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73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58" y="328229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4" name="오른쪽 대괄호 647"/>
          <p:cNvSpPr>
            <a:spLocks/>
          </p:cNvSpPr>
          <p:nvPr/>
        </p:nvSpPr>
        <p:spPr bwMode="auto">
          <a:xfrm rot="16200000">
            <a:off x="4687593" y="2817677"/>
            <a:ext cx="128074" cy="787488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775" name="Rectangle 55"/>
          <p:cNvSpPr>
            <a:spLocks noChangeArrowheads="1"/>
          </p:cNvSpPr>
          <p:nvPr/>
        </p:nvSpPr>
        <p:spPr bwMode="auto">
          <a:xfrm>
            <a:off x="4520952" y="3171308"/>
            <a:ext cx="570669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전자증빙 개발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776" name="오른쪽 대괄호 593"/>
          <p:cNvSpPr>
            <a:spLocks/>
          </p:cNvSpPr>
          <p:nvPr/>
        </p:nvSpPr>
        <p:spPr bwMode="auto">
          <a:xfrm rot="16200000">
            <a:off x="3659064" y="2993612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77" name="Rectangle 55"/>
          <p:cNvSpPr>
            <a:spLocks noChangeArrowheads="1"/>
          </p:cNvSpPr>
          <p:nvPr/>
        </p:nvSpPr>
        <p:spPr bwMode="auto">
          <a:xfrm>
            <a:off x="3450357" y="3040385"/>
            <a:ext cx="583478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전자증빙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발주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778" name="AutoShape 348"/>
          <p:cNvCxnSpPr>
            <a:cxnSpLocks noChangeShapeType="1"/>
          </p:cNvCxnSpPr>
          <p:nvPr/>
        </p:nvCxnSpPr>
        <p:spPr bwMode="auto">
          <a:xfrm>
            <a:off x="5663555" y="3317891"/>
            <a:ext cx="1171224" cy="10962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79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118" y="328229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1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312" y="328229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3" name="오른쪽 대괄호 593"/>
          <p:cNvSpPr>
            <a:spLocks/>
          </p:cNvSpPr>
          <p:nvPr/>
        </p:nvSpPr>
        <p:spPr bwMode="auto">
          <a:xfrm rot="16200000">
            <a:off x="4082104" y="3015822"/>
            <a:ext cx="128074" cy="39117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84" name="Rectangle 55"/>
          <p:cNvSpPr>
            <a:spLocks noChangeArrowheads="1"/>
          </p:cNvSpPr>
          <p:nvPr/>
        </p:nvSpPr>
        <p:spPr bwMode="auto">
          <a:xfrm>
            <a:off x="4008338" y="3025527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전자증빙</a:t>
            </a:r>
            <a:endParaRPr lang="en-US" altLang="ko-KR" sz="700" smtClean="0">
              <a:latin typeface="+mn-ea"/>
              <a:ea typeface="+mn-ea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 </a:t>
            </a: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785" name="오른쪽 대괄호 593"/>
          <p:cNvSpPr>
            <a:spLocks/>
          </p:cNvSpPr>
          <p:nvPr/>
        </p:nvSpPr>
        <p:spPr bwMode="auto">
          <a:xfrm rot="16200000">
            <a:off x="5328069" y="3019901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786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497" y="328655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7" name="Rectangle 55"/>
          <p:cNvSpPr>
            <a:spLocks noChangeArrowheads="1"/>
          </p:cNvSpPr>
          <p:nvPr/>
        </p:nvSpPr>
        <p:spPr bwMode="auto">
          <a:xfrm>
            <a:off x="5241032" y="3167737"/>
            <a:ext cx="2693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789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059" y="3284984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0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459" y="3284984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1" name="오른쪽 대괄호 593"/>
          <p:cNvSpPr>
            <a:spLocks/>
          </p:cNvSpPr>
          <p:nvPr/>
        </p:nvSpPr>
        <p:spPr bwMode="auto">
          <a:xfrm rot="16200000">
            <a:off x="6008194" y="3184945"/>
            <a:ext cx="130422" cy="18648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92" name="Rectangle 55"/>
          <p:cNvSpPr>
            <a:spLocks noChangeArrowheads="1"/>
          </p:cNvSpPr>
          <p:nvPr/>
        </p:nvSpPr>
        <p:spPr bwMode="auto">
          <a:xfrm>
            <a:off x="6051848" y="3025205"/>
            <a:ext cx="269304" cy="26930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통합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793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449" y="328498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94" name="AutoShape 348"/>
          <p:cNvCxnSpPr>
            <a:cxnSpLocks noChangeShapeType="1"/>
          </p:cNvCxnSpPr>
          <p:nvPr/>
        </p:nvCxnSpPr>
        <p:spPr bwMode="auto">
          <a:xfrm>
            <a:off x="5158155" y="3533915"/>
            <a:ext cx="1244775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6" name="오른쪽 대괄호 647"/>
          <p:cNvSpPr>
            <a:spLocks/>
          </p:cNvSpPr>
          <p:nvPr/>
        </p:nvSpPr>
        <p:spPr bwMode="auto">
          <a:xfrm rot="16200000">
            <a:off x="5504809" y="3033701"/>
            <a:ext cx="128074" cy="787488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797" name="Rectangle 55"/>
          <p:cNvSpPr>
            <a:spLocks noChangeArrowheads="1"/>
          </p:cNvSpPr>
          <p:nvPr/>
        </p:nvSpPr>
        <p:spPr bwMode="auto">
          <a:xfrm>
            <a:off x="5241032" y="3387332"/>
            <a:ext cx="660437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계산서발행 연계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800" name="AutoShape 348"/>
          <p:cNvCxnSpPr>
            <a:cxnSpLocks noChangeShapeType="1"/>
          </p:cNvCxnSpPr>
          <p:nvPr/>
        </p:nvCxnSpPr>
        <p:spPr bwMode="auto">
          <a:xfrm>
            <a:off x="6414701" y="3533915"/>
            <a:ext cx="410507" cy="10962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01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334" y="3498315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6" name="오른쪽 대괄호 593"/>
          <p:cNvSpPr>
            <a:spLocks/>
          </p:cNvSpPr>
          <p:nvPr/>
        </p:nvSpPr>
        <p:spPr bwMode="auto">
          <a:xfrm rot="16200000">
            <a:off x="6145285" y="3235925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07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713" y="350257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" name="Rectangle 55"/>
          <p:cNvSpPr>
            <a:spLocks noChangeArrowheads="1"/>
          </p:cNvSpPr>
          <p:nvPr/>
        </p:nvSpPr>
        <p:spPr bwMode="auto">
          <a:xfrm>
            <a:off x="6058248" y="3383761"/>
            <a:ext cx="2693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12" name="Rectangle 55"/>
          <p:cNvSpPr>
            <a:spLocks noChangeArrowheads="1"/>
          </p:cNvSpPr>
          <p:nvPr/>
        </p:nvSpPr>
        <p:spPr bwMode="auto">
          <a:xfrm>
            <a:off x="6869064" y="3241229"/>
            <a:ext cx="269304" cy="26930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통합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813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665" y="3501008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4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64" y="400663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5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112" y="3987513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6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110" y="399177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7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196" y="39955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8" name="Rectangle 55"/>
          <p:cNvSpPr>
            <a:spLocks noChangeArrowheads="1"/>
          </p:cNvSpPr>
          <p:nvPr/>
        </p:nvSpPr>
        <p:spPr bwMode="auto">
          <a:xfrm>
            <a:off x="5710535" y="3789040"/>
            <a:ext cx="53860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2</a:t>
            </a:r>
            <a:r>
              <a:rPr lang="ko-KR" altLang="en-US" sz="700" smtClean="0">
                <a:latin typeface="+mn-ea"/>
                <a:ea typeface="+mn-ea"/>
              </a:rPr>
              <a:t>차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마이그레이션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19" name="오른쪽 대괄호 593"/>
          <p:cNvSpPr>
            <a:spLocks/>
          </p:cNvSpPr>
          <p:nvPr/>
        </p:nvSpPr>
        <p:spPr bwMode="auto">
          <a:xfrm rot="16200000">
            <a:off x="5881438" y="3901007"/>
            <a:ext cx="130421" cy="115793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20" name="Rectangle 55"/>
          <p:cNvSpPr>
            <a:spLocks noChangeArrowheads="1"/>
          </p:cNvSpPr>
          <p:nvPr/>
        </p:nvSpPr>
        <p:spPr bwMode="auto">
          <a:xfrm>
            <a:off x="6537176" y="3822948"/>
            <a:ext cx="53860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3</a:t>
            </a:r>
            <a:r>
              <a:rPr lang="ko-KR" altLang="en-US" sz="700" smtClean="0">
                <a:latin typeface="+mn-ea"/>
                <a:ea typeface="+mn-ea"/>
              </a:rPr>
              <a:t>차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마이그레이션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21" name="오른쪽 대괄호 593"/>
          <p:cNvSpPr>
            <a:spLocks/>
          </p:cNvSpPr>
          <p:nvPr/>
        </p:nvSpPr>
        <p:spPr bwMode="auto">
          <a:xfrm rot="16200000">
            <a:off x="6708079" y="3934915"/>
            <a:ext cx="130421" cy="115793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22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694" y="400506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3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50" y="400506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4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00" y="4841393"/>
            <a:ext cx="66412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28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개요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추진 계획 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smtClean="0"/>
              <a:t>목표시스템 구성도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altLang="ko-KR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ko-KR"/>
              <a:t>3.1 </a:t>
            </a:r>
            <a:r>
              <a:rPr lang="ko-KR" altLang="en-US" smtClean="0"/>
              <a:t>자바 기반 표준 프레임워크</a:t>
            </a:r>
            <a:endParaRPr lang="en-US" altLang="ko-KR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mtClean="0"/>
              <a:t>     3.2 </a:t>
            </a:r>
            <a:r>
              <a:rPr lang="en-US" altLang="ko-KR"/>
              <a:t>ERP </a:t>
            </a:r>
            <a:r>
              <a:rPr lang="ko-KR" altLang="en-US"/>
              <a:t>업무</a:t>
            </a:r>
            <a:r>
              <a:rPr lang="en-US" altLang="ko-KR"/>
              <a:t> </a:t>
            </a:r>
            <a:r>
              <a:rPr lang="ko-KR" altLang="en-US"/>
              <a:t>구성도</a:t>
            </a:r>
            <a:r>
              <a:rPr lang="en-US" altLang="ko-KR"/>
              <a:t>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mtClean="0"/>
              <a:t>     3.3 </a:t>
            </a:r>
            <a:r>
              <a:rPr lang="en-US" altLang="ko-KR"/>
              <a:t>ERP </a:t>
            </a:r>
            <a:r>
              <a:rPr lang="ko-KR" altLang="en-US" smtClean="0"/>
              <a:t>서비스</a:t>
            </a:r>
            <a:r>
              <a:rPr lang="en-US" altLang="ko-KR" smtClean="0"/>
              <a:t>  </a:t>
            </a:r>
            <a:r>
              <a:rPr lang="ko-KR" altLang="en-US" smtClean="0"/>
              <a:t>구성도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smtClean="0">
                <a:solidFill>
                  <a:srgbClr val="00437A"/>
                </a:solidFill>
              </a:rPr>
              <a:t>Ⅳ. </a:t>
            </a:r>
            <a:r>
              <a:rPr lang="ko-KR" altLang="en-US" sz="2400" b="1" spc="-300" smtClean="0">
                <a:solidFill>
                  <a:srgbClr val="00437A"/>
                </a:solidFill>
              </a:rPr>
              <a:t>이행계획 수립</a:t>
            </a:r>
            <a:endParaRPr lang="en-US" altLang="ko-KR" sz="2400" b="1" spc="-300" dirty="0">
              <a:solidFill>
                <a:srgbClr val="0043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4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/>
              <a:t>3. </a:t>
            </a:r>
            <a:r>
              <a:rPr lang="ko-KR" altLang="en-US"/>
              <a:t>목표시스템 구성도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3.1 </a:t>
            </a:r>
            <a:r>
              <a:rPr lang="ko-KR" altLang="en-US">
                <a:latin typeface="나눔바른고딕" pitchFamily="50" charset="-127"/>
                <a:ea typeface="나눔바른고딕" pitchFamily="50" charset="-127"/>
              </a:rPr>
              <a:t>자바 기반 </a:t>
            </a:r>
            <a:r>
              <a:rPr lang="ko-KR" altLang="en-US" smtClean="0">
                <a:latin typeface="나눔바른고딕" pitchFamily="50" charset="-127"/>
                <a:ea typeface="나눔바른고딕" pitchFamily="50" charset="-127"/>
              </a:rPr>
              <a:t>표준 </a:t>
            </a:r>
            <a:r>
              <a:rPr lang="ko-KR" altLang="en-US">
                <a:latin typeface="나눔바른고딕" pitchFamily="50" charset="-127"/>
                <a:ea typeface="나눔바른고딕" pitchFamily="50" charset="-127"/>
              </a:rPr>
              <a:t>프레임워크</a:t>
            </a:r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/>
          </a:p>
          <a:p>
            <a:pPr>
              <a:spcBef>
                <a:spcPct val="20000"/>
              </a:spcBef>
            </a:pPr>
            <a:r>
              <a:rPr lang="en-US" altLang="ko-KR"/>
              <a:t>3. </a:t>
            </a:r>
            <a:r>
              <a:rPr lang="ko-KR" altLang="en-US"/>
              <a:t>목표시스템 구성도</a:t>
            </a:r>
            <a:endParaRPr lang="en-US" altLang="ko-KR"/>
          </a:p>
          <a:p>
            <a:pPr>
              <a:spcBef>
                <a:spcPct val="20000"/>
              </a:spcBef>
            </a:pPr>
            <a:r>
              <a:rPr lang="en-US" altLang="ko-KR" smtClean="0"/>
              <a:t>3.1 </a:t>
            </a:r>
            <a:r>
              <a:rPr lang="ko-KR" altLang="en-US">
                <a:latin typeface="나눔바른고딕" pitchFamily="50" charset="-127"/>
                <a:ea typeface="나눔바른고딕" pitchFamily="50" charset="-127"/>
              </a:rPr>
              <a:t>자바 기반 표준 프레임워크</a:t>
            </a:r>
            <a:endParaRPr lang="en-US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200472" y="981075"/>
            <a:ext cx="9289603" cy="5184229"/>
            <a:chOff x="453088" y="2992315"/>
            <a:chExt cx="13695951" cy="6743725"/>
          </a:xfrm>
        </p:grpSpPr>
        <p:grpSp>
          <p:nvGrpSpPr>
            <p:cNvPr id="561" name="그룹 71"/>
            <p:cNvGrpSpPr>
              <a:grpSpLocks/>
            </p:cNvGrpSpPr>
            <p:nvPr/>
          </p:nvGrpSpPr>
          <p:grpSpPr bwMode="auto">
            <a:xfrm>
              <a:off x="6243346" y="3016470"/>
              <a:ext cx="5900508" cy="4388065"/>
              <a:chOff x="2743558" y="11882717"/>
              <a:chExt cx="1712847" cy="5655514"/>
            </a:xfrm>
          </p:grpSpPr>
          <p:sp>
            <p:nvSpPr>
              <p:cNvPr id="648" name="모서리가 둥근 직사각형 647"/>
              <p:cNvSpPr/>
              <p:nvPr/>
            </p:nvSpPr>
            <p:spPr bwMode="auto">
              <a:xfrm>
                <a:off x="2743558" y="11882717"/>
                <a:ext cx="1712847" cy="5655514"/>
              </a:xfrm>
              <a:prstGeom prst="roundRect">
                <a:avLst>
                  <a:gd name="adj" fmla="val 3261"/>
                </a:avLst>
              </a:prstGeom>
              <a:solidFill>
                <a:srgbClr val="F9FBFD"/>
              </a:solidFill>
              <a:ln>
                <a:solidFill>
                  <a:schemeClr val="tx2">
                    <a:alpha val="3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0" rIns="72000" bIns="0"/>
              <a:lstStyle/>
              <a:p>
                <a:pPr>
                  <a:lnSpc>
                    <a:spcPts val="1220"/>
                  </a:lnSpc>
                  <a:defRPr/>
                </a:pPr>
                <a:endParaRPr lang="ko-KR" altLang="en-US" sz="80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649" name="모서리가 둥근 직사각형 648"/>
              <p:cNvSpPr/>
              <p:nvPr/>
            </p:nvSpPr>
            <p:spPr>
              <a:xfrm>
                <a:off x="2763224" y="11964446"/>
                <a:ext cx="1662892" cy="516883"/>
              </a:xfrm>
              <a:prstGeom prst="roundRect">
                <a:avLst>
                  <a:gd name="adj" fmla="val 21537"/>
                </a:avLst>
              </a:prstGeom>
              <a:solidFill>
                <a:srgbClr val="455D8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anchor="ctr"/>
              <a:lstStyle/>
              <a:p>
                <a:pPr algn="ctr">
                  <a:defRPr/>
                </a:pPr>
                <a:r>
                  <a:rPr lang="en-US" altLang="ko-KR" sz="1000" b="1" dirty="0">
                    <a:latin typeface="+mn-ea"/>
                  </a:rPr>
                  <a:t>Web Application  Server[JEUS/Tomcat]</a:t>
                </a:r>
              </a:p>
            </p:txBody>
          </p:sp>
        </p:grpSp>
        <p:sp>
          <p:nvSpPr>
            <p:cNvPr id="562" name="Rectangle 254"/>
            <p:cNvSpPr>
              <a:spLocks noChangeArrowheads="1"/>
            </p:cNvSpPr>
            <p:nvPr/>
          </p:nvSpPr>
          <p:spPr bwMode="auto">
            <a:xfrm>
              <a:off x="6392306" y="3873745"/>
              <a:ext cx="5533863" cy="3395847"/>
            </a:xfrm>
            <a:prstGeom prst="roundRect">
              <a:avLst>
                <a:gd name="adj" fmla="val 2810"/>
              </a:avLst>
            </a:prstGeom>
            <a:ln>
              <a:solidFill>
                <a:srgbClr val="C0C0C0"/>
              </a:solidFill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360000" tIns="36000" rIns="0" bIns="36000" anchor="ctr"/>
            <a:lstStyle/>
            <a:p>
              <a:pPr algn="ctr" eaLnBrk="1" latinLnBrk="1" hangingPunct="1">
                <a:defRPr/>
              </a:pPr>
              <a:endParaRPr lang="ko-KR" altLang="en-US" sz="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63" name="Rectangle 254"/>
            <p:cNvSpPr>
              <a:spLocks noChangeArrowheads="1"/>
            </p:cNvSpPr>
            <p:nvPr/>
          </p:nvSpPr>
          <p:spPr bwMode="auto">
            <a:xfrm>
              <a:off x="995836" y="8242125"/>
              <a:ext cx="3814785" cy="1493915"/>
            </a:xfrm>
            <a:prstGeom prst="roundRect">
              <a:avLst>
                <a:gd name="adj" fmla="val 6446"/>
              </a:avLst>
            </a:prstGeom>
            <a:noFill/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08000" tIns="72000" rIns="108000" bIns="72000" anchor="ctr"/>
            <a:lstStyle/>
            <a:p>
              <a:pPr marL="96821" indent="-96821" eaLnBrk="1" latinLnBrk="1" hangingPunct="1">
                <a:spcAft>
                  <a:spcPts val="333"/>
                </a:spcAft>
                <a:buFont typeface="Wingdings" pitchFamily="2" charset="2"/>
                <a:buChar char="§"/>
                <a:defRPr/>
              </a:pPr>
              <a:r>
                <a:rPr lang="en-US" altLang="ko-KR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Struts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와 </a:t>
              </a:r>
              <a:r>
                <a:rPr lang="en-US" altLang="ko-KR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Spring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의 통합을 통한 완벽한 </a:t>
              </a:r>
              <a:r>
                <a:rPr lang="en-US" altLang="ko-KR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MVC 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모델 아키텍처 제공</a:t>
              </a:r>
            </a:p>
            <a:p>
              <a:pPr marL="96821" indent="-96821" eaLnBrk="1" latinLnBrk="1" hangingPunct="1">
                <a:spcAft>
                  <a:spcPts val="333"/>
                </a:spcAft>
                <a:buFont typeface="Wingdings" pitchFamily="2" charset="2"/>
                <a:buChar char="§"/>
                <a:defRPr/>
              </a:pPr>
              <a:r>
                <a:rPr lang="en-US" altLang="ko-KR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Framework 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사용을 통해 코드 위험성이 감소되고 코드가 </a:t>
              </a:r>
              <a:r>
                <a:rPr lang="ko-KR" altLang="en-US" sz="1000" dirty="0" err="1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간략화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 </a:t>
              </a:r>
              <a:r>
                <a:rPr lang="ko-KR" altLang="en-US" sz="1000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됨</a:t>
              </a:r>
              <a:endParaRPr lang="en-US" altLang="ko-KR" sz="10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</a:endParaRPr>
            </a:p>
            <a:p>
              <a:pPr marL="96821" indent="-96821" eaLnBrk="1" latinLnBrk="1" hangingPunct="1">
                <a:spcAft>
                  <a:spcPts val="333"/>
                </a:spcAft>
                <a:buFont typeface="Wingdings" pitchFamily="2" charset="2"/>
                <a:buChar char="§"/>
                <a:defRPr/>
              </a:pPr>
              <a:r>
                <a:rPr lang="en-US" altLang="ko-KR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  <a:sym typeface="Wingdings" pitchFamily="2" charset="2"/>
                </a:rPr>
                <a:t>SQL Maps 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  <a:sym typeface="Wingdings" pitchFamily="2" charset="2"/>
                </a:rPr>
                <a:t>사용을 통해 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파라미터 입력</a:t>
              </a:r>
              <a:r>
                <a:rPr lang="en-US" altLang="ko-KR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, 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결과 객체를 받아오는 것이 용이</a:t>
              </a:r>
            </a:p>
            <a:p>
              <a:pPr marL="96821" indent="-96821" eaLnBrk="1" latinLnBrk="1" hangingPunct="1">
                <a:spcAft>
                  <a:spcPts val="333"/>
                </a:spcAft>
                <a:buFont typeface="Wingdings" pitchFamily="2" charset="2"/>
                <a:buChar char="§"/>
                <a:defRPr/>
              </a:pPr>
              <a:r>
                <a:rPr lang="ko-KR" altLang="en-US" sz="1000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유지관리가 </a:t>
              </a:r>
              <a:r>
                <a:rPr lang="ko-KR" altLang="en-US" sz="10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n-ea"/>
                </a:rPr>
                <a:t>용이</a:t>
              </a:r>
            </a:p>
          </p:txBody>
        </p:sp>
        <p:sp>
          <p:nvSpPr>
            <p:cNvPr id="564" name="AutoShape 113"/>
            <p:cNvSpPr>
              <a:spLocks noChangeArrowheads="1"/>
            </p:cNvSpPr>
            <p:nvPr/>
          </p:nvSpPr>
          <p:spPr bwMode="auto">
            <a:xfrm>
              <a:off x="6524655" y="4420657"/>
              <a:ext cx="1473656" cy="2360436"/>
            </a:xfrm>
            <a:prstGeom prst="roundRect">
              <a:avLst>
                <a:gd name="adj" fmla="val 4037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  <a:prstDash val="sysDash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36000" rIns="36000" bIns="36000" anchor="ctr"/>
            <a:lstStyle>
              <a:lvl1pPr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</a:pPr>
              <a:endParaRPr lang="ko-KR" altLang="en-US" sz="1000">
                <a:latin typeface="+mn-ea"/>
                <a:ea typeface="+mn-ea"/>
              </a:endParaRPr>
            </a:p>
          </p:txBody>
        </p:sp>
        <p:sp>
          <p:nvSpPr>
            <p:cNvPr id="565" name="Rectangle 21"/>
            <p:cNvSpPr>
              <a:spLocks noChangeArrowheads="1"/>
            </p:cNvSpPr>
            <p:nvPr/>
          </p:nvSpPr>
          <p:spPr bwMode="auto">
            <a:xfrm>
              <a:off x="4899167" y="2992315"/>
              <a:ext cx="1321318" cy="35764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52595" tIns="26298" rIns="52595" bIns="26298">
              <a:spAutoFit/>
            </a:bodyPr>
            <a:lstStyle/>
            <a:p>
              <a:pPr algn="ctr">
                <a:defRPr/>
              </a:pPr>
              <a:r>
                <a:rPr kumimoji="0" lang="en-US" altLang="ko-KR" sz="1000" b="1" dirty="0">
                  <a:solidFill>
                    <a:srgbClr val="FFFFFF"/>
                  </a:solidFill>
                  <a:latin typeface="+mn-ea"/>
                </a:rPr>
                <a:t>Web Server</a:t>
              </a:r>
              <a:endParaRPr kumimoji="0" lang="en-US" altLang="ko-KR" sz="1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</a:endParaRPr>
            </a:p>
          </p:txBody>
        </p:sp>
        <p:sp>
          <p:nvSpPr>
            <p:cNvPr id="566" name="AutoShape 112"/>
            <p:cNvSpPr>
              <a:spLocks noChangeArrowheads="1"/>
            </p:cNvSpPr>
            <p:nvPr/>
          </p:nvSpPr>
          <p:spPr bwMode="auto">
            <a:xfrm>
              <a:off x="6641077" y="4589972"/>
              <a:ext cx="1263134" cy="336409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defRPr/>
              </a:pPr>
              <a:r>
                <a:rPr lang="en-US" altLang="ko-KR" sz="800" b="1" dirty="0">
                  <a:solidFill>
                    <a:schemeClr val="bg1"/>
                  </a:solidFill>
                  <a:latin typeface="+mn-ea"/>
                </a:rPr>
                <a:t>Front Controller</a:t>
              </a:r>
            </a:p>
          </p:txBody>
        </p:sp>
        <p:sp>
          <p:nvSpPr>
            <p:cNvPr id="567" name="AutoShape 114"/>
            <p:cNvSpPr>
              <a:spLocks noChangeArrowheads="1"/>
            </p:cNvSpPr>
            <p:nvPr/>
          </p:nvSpPr>
          <p:spPr bwMode="auto">
            <a:xfrm>
              <a:off x="8098519" y="4420657"/>
              <a:ext cx="1473656" cy="2360436"/>
            </a:xfrm>
            <a:prstGeom prst="roundRect">
              <a:avLst>
                <a:gd name="adj" fmla="val 4037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  <a:prstDash val="sysDash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36000" rIns="36000" bIns="36000" anchor="ctr"/>
            <a:lstStyle>
              <a:lvl1pPr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</a:pPr>
              <a:endParaRPr lang="ko-KR" altLang="en-US" sz="1000">
                <a:latin typeface="+mn-ea"/>
                <a:ea typeface="+mn-ea"/>
              </a:endParaRPr>
            </a:p>
          </p:txBody>
        </p:sp>
        <p:sp>
          <p:nvSpPr>
            <p:cNvPr id="568" name="AutoShape 115"/>
            <p:cNvSpPr>
              <a:spLocks noChangeArrowheads="1"/>
            </p:cNvSpPr>
            <p:nvPr/>
          </p:nvSpPr>
          <p:spPr bwMode="auto">
            <a:xfrm>
              <a:off x="9672384" y="4420657"/>
              <a:ext cx="1473656" cy="2360436"/>
            </a:xfrm>
            <a:prstGeom prst="roundRect">
              <a:avLst>
                <a:gd name="adj" fmla="val 4037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  <a:prstDash val="sysDash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36000" rIns="36000" bIns="36000" anchor="ctr"/>
            <a:lstStyle>
              <a:lvl1pPr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</a:pPr>
              <a:endParaRPr lang="ko-KR" altLang="en-US" sz="1000">
                <a:latin typeface="+mn-ea"/>
                <a:ea typeface="+mn-ea"/>
              </a:endParaRPr>
            </a:p>
          </p:txBody>
        </p:sp>
        <p:sp>
          <p:nvSpPr>
            <p:cNvPr id="569" name="AutoShape 116"/>
            <p:cNvSpPr>
              <a:spLocks noChangeArrowheads="1"/>
            </p:cNvSpPr>
            <p:nvPr/>
          </p:nvSpPr>
          <p:spPr bwMode="auto">
            <a:xfrm>
              <a:off x="6732519" y="6821491"/>
              <a:ext cx="1050893" cy="541839"/>
            </a:xfrm>
            <a:prstGeom prst="flowChartDocument">
              <a:avLst/>
            </a:prstGeom>
            <a:solidFill>
              <a:schemeClr val="accent3"/>
            </a:solidFill>
            <a:ln w="12700">
              <a:solidFill>
                <a:srgbClr val="9092E8"/>
              </a:solidFill>
              <a:miter lim="800000"/>
              <a:headEnd/>
              <a:tailEnd/>
            </a:ln>
          </p:spPr>
          <p:txBody>
            <a:bodyPr wrap="none" lIns="50531" tIns="33689" rIns="50531" bIns="33689" anchor="ctr">
              <a:spAutoFit/>
            </a:bodyPr>
            <a:lstStyle/>
            <a:p>
              <a:pPr algn="ctr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None/>
                <a:defRPr/>
              </a:pPr>
              <a:r>
                <a:rPr lang="en-US" altLang="ko-KR" sz="1050" dirty="0">
                  <a:latin typeface="+mn-ea"/>
                </a:rPr>
                <a:t>XML conf.</a:t>
              </a:r>
            </a:p>
          </p:txBody>
        </p:sp>
        <p:sp>
          <p:nvSpPr>
            <p:cNvPr id="570" name="AutoShape 117"/>
            <p:cNvSpPr>
              <a:spLocks noChangeArrowheads="1"/>
            </p:cNvSpPr>
            <p:nvPr/>
          </p:nvSpPr>
          <p:spPr bwMode="auto">
            <a:xfrm>
              <a:off x="8337407" y="6821491"/>
              <a:ext cx="1050893" cy="541839"/>
            </a:xfrm>
            <a:prstGeom prst="flowChartDocument">
              <a:avLst/>
            </a:prstGeom>
            <a:solidFill>
              <a:schemeClr val="accent3"/>
            </a:solidFill>
            <a:ln w="12700">
              <a:solidFill>
                <a:srgbClr val="9092E8"/>
              </a:solidFill>
              <a:miter lim="800000"/>
              <a:headEnd/>
              <a:tailEnd/>
            </a:ln>
          </p:spPr>
          <p:txBody>
            <a:bodyPr wrap="none" lIns="50531" tIns="33689" rIns="50531" bIns="33689" anchor="ctr">
              <a:spAutoFit/>
            </a:bodyPr>
            <a:lstStyle/>
            <a:p>
              <a:pPr algn="ctr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None/>
                <a:defRPr/>
              </a:pPr>
              <a:r>
                <a:rPr lang="en-US" altLang="ko-KR" sz="1050" dirty="0">
                  <a:latin typeface="+mn-ea"/>
                </a:rPr>
                <a:t>XML conf.</a:t>
              </a:r>
            </a:p>
          </p:txBody>
        </p:sp>
        <p:sp>
          <p:nvSpPr>
            <p:cNvPr id="571" name="AutoShape 118"/>
            <p:cNvSpPr>
              <a:spLocks noChangeArrowheads="1"/>
            </p:cNvSpPr>
            <p:nvPr/>
          </p:nvSpPr>
          <p:spPr bwMode="auto">
            <a:xfrm>
              <a:off x="9903605" y="6821491"/>
              <a:ext cx="1050893" cy="541839"/>
            </a:xfrm>
            <a:prstGeom prst="flowChartDocument">
              <a:avLst/>
            </a:prstGeom>
            <a:solidFill>
              <a:schemeClr val="accent3"/>
            </a:solidFill>
            <a:ln w="12700">
              <a:solidFill>
                <a:srgbClr val="9092E8"/>
              </a:solidFill>
              <a:miter lim="800000"/>
              <a:headEnd/>
              <a:tailEnd/>
            </a:ln>
          </p:spPr>
          <p:txBody>
            <a:bodyPr wrap="none" lIns="50531" tIns="33689" rIns="50531" bIns="33689" anchor="ctr">
              <a:spAutoFit/>
            </a:bodyPr>
            <a:lstStyle/>
            <a:p>
              <a:pPr algn="ctr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None/>
                <a:defRPr/>
              </a:pPr>
              <a:r>
                <a:rPr lang="en-US" altLang="ko-KR" sz="1050">
                  <a:latin typeface="+mn-ea"/>
                </a:rPr>
                <a:t>XML conf.</a:t>
              </a:r>
            </a:p>
          </p:txBody>
        </p:sp>
        <p:sp>
          <p:nvSpPr>
            <p:cNvPr id="572" name="AutoShape 119"/>
            <p:cNvSpPr>
              <a:spLocks noChangeArrowheads="1"/>
            </p:cNvSpPr>
            <p:nvPr/>
          </p:nvSpPr>
          <p:spPr bwMode="auto">
            <a:xfrm>
              <a:off x="6650765" y="5011878"/>
              <a:ext cx="1263134" cy="336408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defRPr/>
              </a:pPr>
              <a:r>
                <a:rPr lang="en-US" altLang="ko-KR" sz="900" b="1" dirty="0">
                  <a:solidFill>
                    <a:schemeClr val="bg1"/>
                  </a:solidFill>
                  <a:latin typeface="+mn-ea"/>
                </a:rPr>
                <a:t>Action</a:t>
              </a:r>
            </a:p>
          </p:txBody>
        </p:sp>
        <p:sp>
          <p:nvSpPr>
            <p:cNvPr id="573" name="AutoShape 120"/>
            <p:cNvSpPr>
              <a:spLocks noChangeArrowheads="1"/>
            </p:cNvSpPr>
            <p:nvPr/>
          </p:nvSpPr>
          <p:spPr bwMode="auto">
            <a:xfrm>
              <a:off x="6650765" y="5433782"/>
              <a:ext cx="1263134" cy="336409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defRPr/>
              </a:pPr>
              <a:r>
                <a:rPr lang="en-US" altLang="ko-KR" sz="900" b="1" dirty="0" err="1">
                  <a:solidFill>
                    <a:schemeClr val="bg1"/>
                  </a:solidFill>
                  <a:latin typeface="+mn-ea"/>
                </a:rPr>
                <a:t>ActionForm</a:t>
              </a:r>
              <a:endParaRPr lang="en-US" altLang="ko-KR" sz="9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74" name="AutoShape 121"/>
            <p:cNvSpPr>
              <a:spLocks noChangeArrowheads="1"/>
            </p:cNvSpPr>
            <p:nvPr/>
          </p:nvSpPr>
          <p:spPr bwMode="auto">
            <a:xfrm>
              <a:off x="6650765" y="5853829"/>
              <a:ext cx="1263134" cy="336409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defRPr/>
              </a:pPr>
              <a:r>
                <a:rPr lang="en-US" altLang="ko-KR" sz="900" b="1" dirty="0">
                  <a:solidFill>
                    <a:schemeClr val="bg1"/>
                  </a:solidFill>
                  <a:latin typeface="+mn-ea"/>
                </a:rPr>
                <a:t>View</a:t>
              </a:r>
            </a:p>
          </p:txBody>
        </p:sp>
        <p:sp>
          <p:nvSpPr>
            <p:cNvPr id="575" name="AutoShape 123"/>
            <p:cNvSpPr>
              <a:spLocks noChangeArrowheads="1"/>
            </p:cNvSpPr>
            <p:nvPr/>
          </p:nvSpPr>
          <p:spPr bwMode="auto">
            <a:xfrm>
              <a:off x="8224496" y="4568787"/>
              <a:ext cx="1239946" cy="999933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Service</a:t>
              </a:r>
            </a:p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Component</a:t>
              </a:r>
            </a:p>
          </p:txBody>
        </p:sp>
        <p:sp>
          <p:nvSpPr>
            <p:cNvPr id="576" name="AutoShape 125"/>
            <p:cNvSpPr>
              <a:spLocks noChangeArrowheads="1"/>
            </p:cNvSpPr>
            <p:nvPr/>
          </p:nvSpPr>
          <p:spPr bwMode="auto">
            <a:xfrm>
              <a:off x="9791350" y="4584956"/>
              <a:ext cx="1239946" cy="999933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Data</a:t>
              </a:r>
            </a:p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Access</a:t>
              </a:r>
            </a:p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Object</a:t>
              </a:r>
            </a:p>
          </p:txBody>
        </p:sp>
        <p:sp>
          <p:nvSpPr>
            <p:cNvPr id="577" name="Text Box 128"/>
            <p:cNvSpPr txBox="1">
              <a:spLocks noChangeArrowheads="1"/>
            </p:cNvSpPr>
            <p:nvPr/>
          </p:nvSpPr>
          <p:spPr bwMode="auto">
            <a:xfrm>
              <a:off x="6729580" y="3971264"/>
              <a:ext cx="1024896" cy="52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531" tIns="33689" rIns="50531" bIns="33689">
              <a:spAutoFit/>
            </a:bodyPr>
            <a:lstStyle>
              <a:lvl1pPr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latinLnBrk="1" hangingPunct="1">
                <a:lnSpc>
                  <a:spcPct val="60000"/>
                </a:lnSpc>
                <a:spcAft>
                  <a:spcPct val="40000"/>
                </a:spcAft>
                <a:buFont typeface="Wingdings" pitchFamily="2" charset="2"/>
                <a:buNone/>
              </a:pPr>
              <a:r>
                <a: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rPr>
                <a:t>Servlet</a:t>
              </a:r>
            </a:p>
            <a:p>
              <a:pPr algn="ctr" eaLnBrk="1" latinLnBrk="1" hangingPunct="1">
                <a:lnSpc>
                  <a:spcPct val="60000"/>
                </a:lnSpc>
                <a:spcAft>
                  <a:spcPct val="40000"/>
                </a:spcAft>
                <a:buFont typeface="Wingdings" pitchFamily="2" charset="2"/>
                <a:buNone/>
              </a:pPr>
              <a:r>
                <a: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rPr>
                <a:t>Container</a:t>
              </a:r>
            </a:p>
          </p:txBody>
        </p:sp>
        <p:sp>
          <p:nvSpPr>
            <p:cNvPr id="578" name="Text Box 129"/>
            <p:cNvSpPr txBox="1">
              <a:spLocks noChangeArrowheads="1"/>
            </p:cNvSpPr>
            <p:nvPr/>
          </p:nvSpPr>
          <p:spPr bwMode="auto">
            <a:xfrm>
              <a:off x="7926387" y="3971264"/>
              <a:ext cx="1826074" cy="52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531" tIns="33689" rIns="50531" bIns="33689">
              <a:spAutoFit/>
            </a:bodyPr>
            <a:lstStyle>
              <a:lvl1pPr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latinLnBrk="1" hangingPunct="1">
                <a:lnSpc>
                  <a:spcPct val="60000"/>
                </a:lnSpc>
                <a:spcAft>
                  <a:spcPct val="40000"/>
                </a:spcAft>
                <a:buFont typeface="Wingdings" pitchFamily="2" charset="2"/>
                <a:buNone/>
              </a:pPr>
              <a:r>
                <a: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rPr>
                <a:t>Spring lightweight</a:t>
              </a:r>
            </a:p>
            <a:p>
              <a:pPr algn="ctr" eaLnBrk="1" latinLnBrk="1" hangingPunct="1">
                <a:lnSpc>
                  <a:spcPct val="60000"/>
                </a:lnSpc>
                <a:spcAft>
                  <a:spcPct val="40000"/>
                </a:spcAft>
                <a:buFont typeface="Wingdings" pitchFamily="2" charset="2"/>
                <a:buNone/>
              </a:pPr>
              <a:r>
                <a: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rPr>
                <a:t>Container</a:t>
              </a:r>
            </a:p>
          </p:txBody>
        </p:sp>
        <p:sp>
          <p:nvSpPr>
            <p:cNvPr id="579" name="Text Box 130"/>
            <p:cNvSpPr txBox="1">
              <a:spLocks noChangeArrowheads="1"/>
            </p:cNvSpPr>
            <p:nvPr/>
          </p:nvSpPr>
          <p:spPr bwMode="auto">
            <a:xfrm>
              <a:off x="9840592" y="4054904"/>
              <a:ext cx="1055621" cy="267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531" tIns="33689" rIns="50531" bIns="33689">
              <a:spAutoFit/>
            </a:bodyPr>
            <a:lstStyle>
              <a:lvl1pPr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just" eaLnBrk="1" latinLnBrk="1" hangingPunct="1">
                <a:lnSpc>
                  <a:spcPct val="60000"/>
                </a:lnSpc>
                <a:spcAft>
                  <a:spcPct val="40000"/>
                </a:spcAft>
                <a:buFont typeface="Wingdings" pitchFamily="2" charset="2"/>
                <a:buNone/>
              </a:pPr>
              <a:r>
                <a:rPr lang="en-US" altLang="ko-KR" sz="1000" b="1" dirty="0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rPr>
                <a:t>SQL Maps</a:t>
              </a:r>
            </a:p>
          </p:txBody>
        </p:sp>
        <p:cxnSp>
          <p:nvCxnSpPr>
            <p:cNvPr id="580" name="AutoShape 133"/>
            <p:cNvCxnSpPr>
              <a:cxnSpLocks noChangeShapeType="1"/>
            </p:cNvCxnSpPr>
            <p:nvPr/>
          </p:nvCxnSpPr>
          <p:spPr bwMode="auto">
            <a:xfrm flipV="1">
              <a:off x="7849847" y="5100909"/>
              <a:ext cx="378940" cy="79920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1" name="AutoShape 134"/>
            <p:cNvCxnSpPr>
              <a:cxnSpLocks noChangeShapeType="1"/>
            </p:cNvCxnSpPr>
            <p:nvPr/>
          </p:nvCxnSpPr>
          <p:spPr bwMode="auto">
            <a:xfrm>
              <a:off x="9437081" y="5100909"/>
              <a:ext cx="364234" cy="0"/>
            </a:xfrm>
            <a:prstGeom prst="straightConnector1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2" name="AutoShape 135"/>
            <p:cNvCxnSpPr>
              <a:cxnSpLocks noChangeShapeType="1"/>
            </p:cNvCxnSpPr>
            <p:nvPr/>
          </p:nvCxnSpPr>
          <p:spPr bwMode="auto">
            <a:xfrm flipV="1">
              <a:off x="10858653" y="5645481"/>
              <a:ext cx="463149" cy="561463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3" name="위쪽 화살표 582"/>
            <p:cNvSpPr/>
            <p:nvPr/>
          </p:nvSpPr>
          <p:spPr bwMode="auto">
            <a:xfrm>
              <a:off x="8640313" y="3474261"/>
              <a:ext cx="614161" cy="260206"/>
            </a:xfrm>
            <a:prstGeom prst="upArrow">
              <a:avLst>
                <a:gd name="adj1" fmla="val 65238"/>
                <a:gd name="adj2" fmla="val 50000"/>
              </a:avLst>
            </a:prstGeom>
            <a:gradFill flip="none" rotWithShape="1">
              <a:gsLst>
                <a:gs pos="0">
                  <a:srgbClr val="2C5494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50531" tIns="33689" rIns="50531" bIns="33689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 dirty="0">
                <a:latin typeface="+mn-ea"/>
              </a:endParaRPr>
            </a:p>
          </p:txBody>
        </p:sp>
        <p:sp>
          <p:nvSpPr>
            <p:cNvPr id="584" name="위쪽 화살표 583"/>
            <p:cNvSpPr/>
            <p:nvPr/>
          </p:nvSpPr>
          <p:spPr bwMode="auto">
            <a:xfrm rot="10800000">
              <a:off x="6129423" y="7530021"/>
              <a:ext cx="614161" cy="314105"/>
            </a:xfrm>
            <a:prstGeom prst="upArrow">
              <a:avLst>
                <a:gd name="adj1" fmla="val 65238"/>
                <a:gd name="adj2" fmla="val 50000"/>
              </a:avLst>
            </a:prstGeom>
            <a:gradFill flip="none" rotWithShape="1">
              <a:gsLst>
                <a:gs pos="0">
                  <a:srgbClr val="2C5494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50531" tIns="33689" rIns="50531" bIns="33689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 dirty="0">
                <a:latin typeface="+mn-ea"/>
              </a:endParaRPr>
            </a:p>
          </p:txBody>
        </p:sp>
        <p:sp>
          <p:nvSpPr>
            <p:cNvPr id="585" name="위쪽 화살표 584"/>
            <p:cNvSpPr/>
            <p:nvPr/>
          </p:nvSpPr>
          <p:spPr bwMode="auto">
            <a:xfrm rot="10800000">
              <a:off x="9558647" y="7530021"/>
              <a:ext cx="614161" cy="314105"/>
            </a:xfrm>
            <a:prstGeom prst="upArrow">
              <a:avLst>
                <a:gd name="adj1" fmla="val 65238"/>
                <a:gd name="adj2" fmla="val 50000"/>
              </a:avLst>
            </a:prstGeom>
            <a:gradFill flip="none" rotWithShape="1">
              <a:gsLst>
                <a:gs pos="0">
                  <a:srgbClr val="2C5494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50531" tIns="33689" rIns="50531" bIns="33689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 dirty="0">
                <a:latin typeface="+mn-ea"/>
              </a:endParaRPr>
            </a:p>
          </p:txBody>
        </p:sp>
        <p:sp>
          <p:nvSpPr>
            <p:cNvPr id="586" name="위쪽 화살표 585"/>
            <p:cNvSpPr/>
            <p:nvPr/>
          </p:nvSpPr>
          <p:spPr bwMode="auto">
            <a:xfrm rot="10800000">
              <a:off x="12977966" y="7530021"/>
              <a:ext cx="614160" cy="314105"/>
            </a:xfrm>
            <a:prstGeom prst="upArrow">
              <a:avLst>
                <a:gd name="adj1" fmla="val 65238"/>
                <a:gd name="adj2" fmla="val 50000"/>
              </a:avLst>
            </a:prstGeom>
            <a:gradFill flip="none" rotWithShape="1">
              <a:gsLst>
                <a:gs pos="0">
                  <a:srgbClr val="2C5494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50531" tIns="33689" rIns="50531" bIns="33689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 dirty="0">
                <a:latin typeface="+mn-ea"/>
              </a:endParaRPr>
            </a:p>
          </p:txBody>
        </p:sp>
        <p:sp>
          <p:nvSpPr>
            <p:cNvPr id="587" name="AutoShape 123"/>
            <p:cNvSpPr>
              <a:spLocks noChangeArrowheads="1"/>
            </p:cNvSpPr>
            <p:nvPr/>
          </p:nvSpPr>
          <p:spPr bwMode="auto">
            <a:xfrm>
              <a:off x="8224496" y="5686565"/>
              <a:ext cx="1239946" cy="999933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Business</a:t>
              </a:r>
            </a:p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Object</a:t>
              </a:r>
            </a:p>
          </p:txBody>
        </p:sp>
        <p:sp>
          <p:nvSpPr>
            <p:cNvPr id="588" name="AutoShape 125"/>
            <p:cNvSpPr>
              <a:spLocks noChangeArrowheads="1"/>
            </p:cNvSpPr>
            <p:nvPr/>
          </p:nvSpPr>
          <p:spPr bwMode="auto">
            <a:xfrm>
              <a:off x="9791350" y="5669837"/>
              <a:ext cx="1239946" cy="999933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Persistence</a:t>
              </a:r>
            </a:p>
            <a:p>
              <a:pPr algn="ctr" eaLnBrk="1" latinLnBrk="1" hangingPunct="1"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Engine</a:t>
              </a:r>
            </a:p>
          </p:txBody>
        </p:sp>
        <p:sp>
          <p:nvSpPr>
            <p:cNvPr id="589" name="AutoShape 121"/>
            <p:cNvSpPr>
              <a:spLocks noChangeArrowheads="1"/>
            </p:cNvSpPr>
            <p:nvPr/>
          </p:nvSpPr>
          <p:spPr bwMode="auto">
            <a:xfrm>
              <a:off x="6650765" y="6316639"/>
              <a:ext cx="1263134" cy="336409"/>
            </a:xfrm>
            <a:prstGeom prst="roundRect">
              <a:avLst>
                <a:gd name="adj" fmla="val 16667"/>
              </a:avLst>
            </a:prstGeom>
            <a:solidFill>
              <a:srgbClr val="83AFE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algn="ctr" eaLnBrk="1" latinLnBrk="1" hangingPunct="1">
                <a:buFont typeface="Wingdings" pitchFamily="2" charset="2"/>
                <a:buNone/>
                <a:defRPr/>
              </a:pPr>
              <a:r>
                <a:rPr lang="en-US" altLang="ko-KR" sz="900" b="1" dirty="0">
                  <a:solidFill>
                    <a:schemeClr val="bg1"/>
                  </a:solidFill>
                  <a:latin typeface="+mn-ea"/>
                </a:rPr>
                <a:t>Cache Engine</a:t>
              </a:r>
            </a:p>
          </p:txBody>
        </p:sp>
        <p:sp>
          <p:nvSpPr>
            <p:cNvPr id="590" name="Rectangle 254"/>
            <p:cNvSpPr>
              <a:spLocks noChangeArrowheads="1"/>
            </p:cNvSpPr>
            <p:nvPr/>
          </p:nvSpPr>
          <p:spPr bwMode="auto">
            <a:xfrm>
              <a:off x="11305542" y="4431994"/>
              <a:ext cx="495131" cy="2406270"/>
            </a:xfrm>
            <a:prstGeom prst="roundRect">
              <a:avLst>
                <a:gd name="adj" fmla="val 16732"/>
              </a:avLst>
            </a:prstGeom>
            <a:solidFill>
              <a:srgbClr val="456599"/>
            </a:solidFill>
            <a:ln w="25400">
              <a:noFill/>
              <a:headEnd/>
              <a:tailEnd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360000" tIns="36000" rIns="0" bIns="36000" anchor="ctr"/>
            <a:lstStyle/>
            <a:p>
              <a:pPr algn="ctr" eaLnBrk="1" latinLnBrk="1" hangingPunct="1">
                <a:defRPr/>
              </a:pPr>
              <a:endParaRPr lang="ko-KR" altLang="en-US" sz="9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91" name="Text Box 52"/>
            <p:cNvSpPr txBox="1">
              <a:spLocks noChangeArrowheads="1"/>
            </p:cNvSpPr>
            <p:nvPr/>
          </p:nvSpPr>
          <p:spPr bwMode="auto">
            <a:xfrm>
              <a:off x="11378738" y="4786805"/>
              <a:ext cx="348734" cy="2231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defTabSz="1279525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50000"/>
                </a:spcBef>
                <a:buClr>
                  <a:srgbClr val="0033CC"/>
                </a:buClr>
                <a:buSzPct val="80000"/>
                <a:buFont typeface="Arial" charset="0"/>
                <a:buNone/>
              </a:pPr>
              <a:r>
                <a:rPr kumimoji="0" lang="en-US" altLang="ko-KR" sz="900" b="1" dirty="0">
                  <a:solidFill>
                    <a:schemeClr val="bg1"/>
                  </a:solidFill>
                  <a:latin typeface="+mn-ea"/>
                  <a:ea typeface="+mn-ea"/>
                </a:rPr>
                <a:t>J</a:t>
              </a:r>
            </a:p>
            <a:p>
              <a:pPr algn="ctr">
                <a:lnSpc>
                  <a:spcPct val="150000"/>
                </a:lnSpc>
                <a:spcBef>
                  <a:spcPct val="50000"/>
                </a:spcBef>
                <a:buClr>
                  <a:srgbClr val="0033CC"/>
                </a:buClr>
                <a:buSzPct val="80000"/>
                <a:buFont typeface="Arial" charset="0"/>
                <a:buNone/>
              </a:pPr>
              <a:r>
                <a:rPr kumimoji="0" lang="en-US" altLang="ko-KR" sz="900" b="1" dirty="0">
                  <a:solidFill>
                    <a:schemeClr val="bg1"/>
                  </a:solidFill>
                  <a:latin typeface="+mn-ea"/>
                  <a:ea typeface="+mn-ea"/>
                </a:rPr>
                <a:t>D</a:t>
              </a:r>
            </a:p>
            <a:p>
              <a:pPr algn="ctr">
                <a:lnSpc>
                  <a:spcPct val="150000"/>
                </a:lnSpc>
                <a:spcBef>
                  <a:spcPct val="50000"/>
                </a:spcBef>
                <a:buClr>
                  <a:srgbClr val="0033CC"/>
                </a:buClr>
                <a:buSzPct val="80000"/>
                <a:buFont typeface="Arial" charset="0"/>
                <a:buNone/>
              </a:pPr>
              <a:r>
                <a:rPr kumimoji="0" lang="en-US" altLang="ko-KR" sz="900" b="1" dirty="0">
                  <a:solidFill>
                    <a:schemeClr val="bg1"/>
                  </a:solidFill>
                  <a:latin typeface="+mn-ea"/>
                  <a:ea typeface="+mn-ea"/>
                </a:rPr>
                <a:t>B</a:t>
              </a:r>
            </a:p>
            <a:p>
              <a:pPr algn="ctr">
                <a:lnSpc>
                  <a:spcPct val="150000"/>
                </a:lnSpc>
                <a:spcBef>
                  <a:spcPct val="50000"/>
                </a:spcBef>
                <a:buClr>
                  <a:srgbClr val="0033CC"/>
                </a:buClr>
                <a:buSzPct val="80000"/>
                <a:buFont typeface="Arial" charset="0"/>
                <a:buNone/>
              </a:pPr>
              <a:r>
                <a:rPr kumimoji="0" lang="en-US" altLang="ko-KR" sz="900" b="1" dirty="0">
                  <a:solidFill>
                    <a:schemeClr val="bg1"/>
                  </a:solidFill>
                  <a:latin typeface="+mn-ea"/>
                  <a:ea typeface="+mn-ea"/>
                </a:rPr>
                <a:t>C1</a:t>
              </a:r>
              <a:endParaRPr kumimoji="0" lang="ko-KR" altLang="en-US" sz="9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592" name="그룹 71"/>
            <p:cNvGrpSpPr>
              <a:grpSpLocks/>
            </p:cNvGrpSpPr>
            <p:nvPr/>
          </p:nvGrpSpPr>
          <p:grpSpPr bwMode="auto">
            <a:xfrm>
              <a:off x="607694" y="3016470"/>
              <a:ext cx="3339437" cy="4388065"/>
              <a:chOff x="2743558" y="11882717"/>
              <a:chExt cx="1712847" cy="5655514"/>
            </a:xfrm>
          </p:grpSpPr>
          <p:sp>
            <p:nvSpPr>
              <p:cNvPr id="646" name="모서리가 둥근 직사각형 645"/>
              <p:cNvSpPr/>
              <p:nvPr/>
            </p:nvSpPr>
            <p:spPr bwMode="auto">
              <a:xfrm>
                <a:off x="2743558" y="11882717"/>
                <a:ext cx="1712847" cy="5655514"/>
              </a:xfrm>
              <a:prstGeom prst="roundRect">
                <a:avLst>
                  <a:gd name="adj" fmla="val 3261"/>
                </a:avLst>
              </a:prstGeom>
              <a:solidFill>
                <a:srgbClr val="F9FBFD"/>
              </a:solidFill>
              <a:ln>
                <a:solidFill>
                  <a:schemeClr val="tx2">
                    <a:alpha val="3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0" rIns="72000" bIns="0"/>
              <a:lstStyle/>
              <a:p>
                <a:pPr>
                  <a:lnSpc>
                    <a:spcPts val="1220"/>
                  </a:lnSpc>
                  <a:defRPr/>
                </a:pPr>
                <a:endParaRPr lang="ko-KR" altLang="en-US" sz="80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647" name="모서리가 둥근 직사각형 646"/>
              <p:cNvSpPr/>
              <p:nvPr/>
            </p:nvSpPr>
            <p:spPr>
              <a:xfrm>
                <a:off x="2763224" y="11964446"/>
                <a:ext cx="1662892" cy="516883"/>
              </a:xfrm>
              <a:prstGeom prst="roundRect">
                <a:avLst>
                  <a:gd name="adj" fmla="val 21537"/>
                </a:avLst>
              </a:prstGeom>
              <a:solidFill>
                <a:srgbClr val="455D8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anchor="ctr"/>
              <a:lstStyle/>
              <a:p>
                <a:pPr algn="ctr">
                  <a:defRPr/>
                </a:pPr>
                <a:r>
                  <a:rPr lang="ko-KR" altLang="en-US" sz="1000" b="1">
                    <a:latin typeface="+mn-ea"/>
                  </a:rPr>
                  <a:t>시스템아키텍처</a:t>
                </a:r>
                <a:endParaRPr lang="ko-KR" altLang="en-US" sz="1000" b="1" dirty="0">
                  <a:latin typeface="+mn-ea"/>
                </a:endParaRPr>
              </a:p>
            </p:txBody>
          </p:sp>
        </p:grpSp>
        <p:sp>
          <p:nvSpPr>
            <p:cNvPr id="593" name="Rectangle 89"/>
            <p:cNvSpPr>
              <a:spLocks noChangeArrowheads="1"/>
            </p:cNvSpPr>
            <p:nvPr/>
          </p:nvSpPr>
          <p:spPr bwMode="auto">
            <a:xfrm>
              <a:off x="696962" y="4963469"/>
              <a:ext cx="3115729" cy="407693"/>
            </a:xfrm>
            <a:prstGeom prst="rect">
              <a:avLst/>
            </a:prstGeom>
            <a:solidFill>
              <a:srgbClr val="4D90E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900" b="1" dirty="0">
                  <a:solidFill>
                    <a:schemeClr val="bg1"/>
                  </a:solidFill>
                  <a:latin typeface="+mn-ea"/>
                </a:rPr>
                <a:t>Struts Based Framework </a:t>
              </a:r>
            </a:p>
          </p:txBody>
        </p:sp>
        <p:sp>
          <p:nvSpPr>
            <p:cNvPr id="594" name="Rectangle 78"/>
            <p:cNvSpPr>
              <a:spLocks noChangeArrowheads="1"/>
            </p:cNvSpPr>
            <p:nvPr/>
          </p:nvSpPr>
          <p:spPr bwMode="auto">
            <a:xfrm>
              <a:off x="696963" y="4514831"/>
              <a:ext cx="3115729" cy="407693"/>
            </a:xfrm>
            <a:prstGeom prst="rect">
              <a:avLst/>
            </a:prstGeom>
            <a:solidFill>
              <a:srgbClr val="4D90E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800" b="1" dirty="0">
                  <a:solidFill>
                    <a:schemeClr val="bg1"/>
                  </a:solidFill>
                  <a:latin typeface="+mn-ea"/>
                </a:rPr>
                <a:t>HTTP, XML, JSON, SOAP, Java Script</a:t>
              </a:r>
            </a:p>
          </p:txBody>
        </p:sp>
        <p:sp>
          <p:nvSpPr>
            <p:cNvPr id="595" name="Rectangle 80"/>
            <p:cNvSpPr>
              <a:spLocks noChangeArrowheads="1"/>
            </p:cNvSpPr>
            <p:nvPr/>
          </p:nvSpPr>
          <p:spPr bwMode="auto">
            <a:xfrm>
              <a:off x="696962" y="4097209"/>
              <a:ext cx="1000211" cy="384617"/>
            </a:xfrm>
            <a:prstGeom prst="rect">
              <a:avLst/>
            </a:prstGeom>
            <a:solidFill>
              <a:srgbClr val="4D90E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900" b="1" dirty="0">
                  <a:solidFill>
                    <a:schemeClr val="bg1"/>
                  </a:solidFill>
                  <a:latin typeface="+mn-ea"/>
                </a:rPr>
                <a:t>HTML5</a:t>
              </a:r>
            </a:p>
          </p:txBody>
        </p:sp>
        <p:sp>
          <p:nvSpPr>
            <p:cNvPr id="596" name="Rectangle 81"/>
            <p:cNvSpPr>
              <a:spLocks noChangeArrowheads="1"/>
            </p:cNvSpPr>
            <p:nvPr/>
          </p:nvSpPr>
          <p:spPr bwMode="auto">
            <a:xfrm>
              <a:off x="1755988" y="4097209"/>
              <a:ext cx="644076" cy="384617"/>
            </a:xfrm>
            <a:prstGeom prst="rect">
              <a:avLst/>
            </a:prstGeom>
            <a:solidFill>
              <a:srgbClr val="4D90E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900" b="1" dirty="0">
                  <a:solidFill>
                    <a:schemeClr val="bg1"/>
                  </a:solidFill>
                  <a:latin typeface="+mn-ea"/>
                </a:rPr>
                <a:t>JSP</a:t>
              </a:r>
            </a:p>
          </p:txBody>
        </p:sp>
        <p:sp>
          <p:nvSpPr>
            <p:cNvPr id="597" name="Rectangle 90"/>
            <p:cNvSpPr>
              <a:spLocks noChangeArrowheads="1"/>
            </p:cNvSpPr>
            <p:nvPr/>
          </p:nvSpPr>
          <p:spPr bwMode="auto">
            <a:xfrm>
              <a:off x="2458879" y="4097209"/>
              <a:ext cx="1356349" cy="384617"/>
            </a:xfrm>
            <a:prstGeom prst="rect">
              <a:avLst/>
            </a:prstGeom>
            <a:solidFill>
              <a:srgbClr val="4D90E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900" b="1" dirty="0">
                  <a:solidFill>
                    <a:schemeClr val="bg1"/>
                  </a:solidFill>
                  <a:latin typeface="+mn-ea"/>
                </a:rPr>
                <a:t>Open API /RSS</a:t>
              </a:r>
            </a:p>
          </p:txBody>
        </p:sp>
        <p:sp>
          <p:nvSpPr>
            <p:cNvPr id="598" name="Rectangle 82"/>
            <p:cNvSpPr>
              <a:spLocks noChangeArrowheads="1"/>
            </p:cNvSpPr>
            <p:nvPr/>
          </p:nvSpPr>
          <p:spPr bwMode="auto">
            <a:xfrm>
              <a:off x="696962" y="3685799"/>
              <a:ext cx="3115729" cy="375000"/>
            </a:xfrm>
            <a:prstGeom prst="rect">
              <a:avLst/>
            </a:prstGeom>
            <a:solidFill>
              <a:srgbClr val="4D90E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1100" b="1" smtClean="0">
                  <a:solidFill>
                    <a:srgbClr val="FFFF00"/>
                  </a:solidFill>
                  <a:latin typeface="+mn-ea"/>
                </a:rPr>
                <a:t>Presentation </a:t>
              </a:r>
              <a:r>
                <a:rPr kumimoji="0" lang="en-US" altLang="ko-KR" sz="1100" b="1" dirty="0">
                  <a:solidFill>
                    <a:srgbClr val="FFFF00"/>
                  </a:solidFill>
                  <a:latin typeface="+mn-ea"/>
                </a:rPr>
                <a:t>Layer</a:t>
              </a:r>
            </a:p>
          </p:txBody>
        </p:sp>
        <p:sp>
          <p:nvSpPr>
            <p:cNvPr id="599" name="Rectangle 16"/>
            <p:cNvSpPr>
              <a:spLocks noChangeArrowheads="1"/>
            </p:cNvSpPr>
            <p:nvPr/>
          </p:nvSpPr>
          <p:spPr bwMode="auto">
            <a:xfrm>
              <a:off x="703974" y="6875567"/>
              <a:ext cx="3115729" cy="394026"/>
            </a:xfrm>
            <a:prstGeom prst="rect">
              <a:avLst/>
            </a:prstGeom>
            <a:solidFill>
              <a:srgbClr val="23B5D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900" dirty="0" err="1">
                  <a:solidFill>
                    <a:schemeClr val="bg1"/>
                  </a:solidFill>
                  <a:latin typeface="+mn-ea"/>
                </a:rPr>
                <a:t>iBATIS</a:t>
              </a:r>
              <a:r>
                <a:rPr kumimoji="0" lang="en-US" altLang="ko-KR" sz="900" dirty="0">
                  <a:solidFill>
                    <a:schemeClr val="bg1"/>
                  </a:solidFill>
                  <a:latin typeface="+mn-ea"/>
                </a:rPr>
                <a:t> Based Framework</a:t>
              </a:r>
            </a:p>
          </p:txBody>
        </p:sp>
        <p:sp>
          <p:nvSpPr>
            <p:cNvPr id="600" name="Rectangle 17"/>
            <p:cNvSpPr>
              <a:spLocks noChangeArrowheads="1"/>
            </p:cNvSpPr>
            <p:nvPr/>
          </p:nvSpPr>
          <p:spPr bwMode="auto">
            <a:xfrm>
              <a:off x="703974" y="6443093"/>
              <a:ext cx="3115729" cy="396191"/>
            </a:xfrm>
            <a:prstGeom prst="rect">
              <a:avLst/>
            </a:prstGeom>
            <a:solidFill>
              <a:srgbClr val="23B5D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1100" b="1" smtClean="0">
                  <a:solidFill>
                    <a:srgbClr val="FFFF00"/>
                  </a:solidFill>
                  <a:latin typeface="+mn-ea"/>
                </a:rPr>
                <a:t>Data </a:t>
              </a:r>
              <a:r>
                <a:rPr kumimoji="0" lang="en-US" altLang="ko-KR" sz="1100" b="1" dirty="0">
                  <a:solidFill>
                    <a:srgbClr val="FFFF00"/>
                  </a:solidFill>
                  <a:latin typeface="+mn-ea"/>
                </a:rPr>
                <a:t>Access Layer</a:t>
              </a:r>
            </a:p>
          </p:txBody>
        </p:sp>
        <p:sp>
          <p:nvSpPr>
            <p:cNvPr id="601" name="Rectangle 18"/>
            <p:cNvSpPr>
              <a:spLocks noChangeArrowheads="1"/>
            </p:cNvSpPr>
            <p:nvPr/>
          </p:nvSpPr>
          <p:spPr bwMode="auto">
            <a:xfrm>
              <a:off x="703976" y="5924815"/>
              <a:ext cx="3115729" cy="392167"/>
            </a:xfrm>
            <a:prstGeom prst="rect">
              <a:avLst/>
            </a:prstGeom>
            <a:solidFill>
              <a:srgbClr val="67B1E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900" dirty="0">
                  <a:solidFill>
                    <a:schemeClr val="bg1"/>
                  </a:solidFill>
                  <a:latin typeface="+mn-ea"/>
                </a:rPr>
                <a:t>Spring Based Framework</a:t>
              </a:r>
            </a:p>
          </p:txBody>
        </p:sp>
        <p:sp>
          <p:nvSpPr>
            <p:cNvPr id="602" name="Rectangle 19"/>
            <p:cNvSpPr>
              <a:spLocks noChangeArrowheads="1"/>
            </p:cNvSpPr>
            <p:nvPr/>
          </p:nvSpPr>
          <p:spPr bwMode="auto">
            <a:xfrm>
              <a:off x="702767" y="5497334"/>
              <a:ext cx="3115729" cy="401460"/>
            </a:xfrm>
            <a:prstGeom prst="rect">
              <a:avLst/>
            </a:prstGeom>
            <a:solidFill>
              <a:srgbClr val="67B1E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flatTx/>
            </a:bodyPr>
            <a:lstStyle/>
            <a:p>
              <a:pPr algn="ctr">
                <a:defRPr/>
              </a:pPr>
              <a:r>
                <a:rPr kumimoji="0" lang="en-US" altLang="ko-KR" sz="1100" b="1" smtClean="0">
                  <a:solidFill>
                    <a:srgbClr val="FFFF00"/>
                  </a:solidFill>
                  <a:latin typeface="+mn-ea"/>
                </a:rPr>
                <a:t>Business </a:t>
              </a:r>
              <a:r>
                <a:rPr kumimoji="0" lang="en-US" altLang="ko-KR" sz="1100" b="1" dirty="0">
                  <a:solidFill>
                    <a:srgbClr val="FFFF00"/>
                  </a:solidFill>
                  <a:latin typeface="+mn-ea"/>
                </a:rPr>
                <a:t>Layer</a:t>
              </a:r>
            </a:p>
          </p:txBody>
        </p:sp>
        <p:grpSp>
          <p:nvGrpSpPr>
            <p:cNvPr id="603" name="그룹 71"/>
            <p:cNvGrpSpPr>
              <a:grpSpLocks/>
            </p:cNvGrpSpPr>
            <p:nvPr/>
          </p:nvGrpSpPr>
          <p:grpSpPr bwMode="auto">
            <a:xfrm>
              <a:off x="4197234" y="3016470"/>
              <a:ext cx="1804199" cy="4388065"/>
              <a:chOff x="2743558" y="11882717"/>
              <a:chExt cx="1712847" cy="5655514"/>
            </a:xfrm>
          </p:grpSpPr>
          <p:sp>
            <p:nvSpPr>
              <p:cNvPr id="644" name="모서리가 둥근 직사각형 643"/>
              <p:cNvSpPr/>
              <p:nvPr/>
            </p:nvSpPr>
            <p:spPr bwMode="auto">
              <a:xfrm>
                <a:off x="2743558" y="11882717"/>
                <a:ext cx="1712847" cy="5655514"/>
              </a:xfrm>
              <a:prstGeom prst="roundRect">
                <a:avLst>
                  <a:gd name="adj" fmla="val 4278"/>
                </a:avLst>
              </a:prstGeom>
              <a:solidFill>
                <a:srgbClr val="F9FBFD"/>
              </a:solidFill>
              <a:ln>
                <a:solidFill>
                  <a:schemeClr val="tx2">
                    <a:alpha val="3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0" rIns="72000" bIns="0"/>
              <a:lstStyle/>
              <a:p>
                <a:pPr>
                  <a:lnSpc>
                    <a:spcPts val="1220"/>
                  </a:lnSpc>
                  <a:defRPr/>
                </a:pPr>
                <a:endParaRPr lang="ko-KR" altLang="en-US" sz="80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645" name="모서리가 둥근 직사각형 644"/>
              <p:cNvSpPr/>
              <p:nvPr/>
            </p:nvSpPr>
            <p:spPr>
              <a:xfrm>
                <a:off x="2802864" y="11964446"/>
                <a:ext cx="1598903" cy="516883"/>
              </a:xfrm>
              <a:prstGeom prst="roundRect">
                <a:avLst>
                  <a:gd name="adj" fmla="val 17505"/>
                </a:avLst>
              </a:prstGeom>
              <a:solidFill>
                <a:srgbClr val="455D8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anchor="ctr"/>
              <a:lstStyle/>
              <a:p>
                <a:pPr algn="ctr">
                  <a:defRPr/>
                </a:pPr>
                <a:r>
                  <a:rPr lang="en-US" altLang="ko-KR" sz="1000" b="1" dirty="0">
                    <a:latin typeface="+mn-ea"/>
                  </a:rPr>
                  <a:t>Web Server</a:t>
                </a:r>
              </a:p>
            </p:txBody>
          </p:sp>
        </p:grpSp>
        <p:sp>
          <p:nvSpPr>
            <p:cNvPr id="604" name="AutoShape 74"/>
            <p:cNvSpPr>
              <a:spLocks/>
            </p:cNvSpPr>
            <p:nvPr/>
          </p:nvSpPr>
          <p:spPr bwMode="auto">
            <a:xfrm rot="5400000">
              <a:off x="4982537" y="3365030"/>
              <a:ext cx="200522" cy="1015205"/>
            </a:xfrm>
            <a:prstGeom prst="leftBracket">
              <a:avLst>
                <a:gd name="adj" fmla="val 106503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0000" endA="300" endPos="55000" dir="5400000" sy="-100000" algn="bl" rotWithShape="0"/>
            </a:effectLst>
          </p:spPr>
          <p:txBody>
            <a:bodyPr wrap="none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>
                <a:latin typeface="+mn-ea"/>
              </a:endParaRPr>
            </a:p>
          </p:txBody>
        </p:sp>
        <p:sp>
          <p:nvSpPr>
            <p:cNvPr id="605" name="Line 131"/>
            <p:cNvSpPr>
              <a:spLocks noChangeShapeType="1"/>
            </p:cNvSpPr>
            <p:nvPr/>
          </p:nvSpPr>
          <p:spPr bwMode="auto">
            <a:xfrm>
              <a:off x="5776813" y="4521703"/>
              <a:ext cx="811777" cy="16102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50531" tIns="33689" rIns="50531" bIns="33689" anchor="ctr">
              <a:spAutoFit/>
            </a:bodyPr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06" name="Line 132"/>
            <p:cNvSpPr>
              <a:spLocks noChangeShapeType="1"/>
            </p:cNvSpPr>
            <p:nvPr/>
          </p:nvSpPr>
          <p:spPr bwMode="auto">
            <a:xfrm flipH="1">
              <a:off x="5776813" y="6020922"/>
              <a:ext cx="898960" cy="220403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50531" tIns="33689" rIns="50531" bIns="33689" anchor="ctr">
              <a:spAutoFit/>
            </a:bodyPr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07" name="위쪽 화살표 606"/>
            <p:cNvSpPr/>
            <p:nvPr/>
          </p:nvSpPr>
          <p:spPr bwMode="auto">
            <a:xfrm>
              <a:off x="4773855" y="3493813"/>
              <a:ext cx="614160" cy="260206"/>
            </a:xfrm>
            <a:prstGeom prst="upArrow">
              <a:avLst>
                <a:gd name="adj1" fmla="val 65238"/>
                <a:gd name="adj2" fmla="val 50000"/>
              </a:avLst>
            </a:prstGeom>
            <a:gradFill flip="none" rotWithShape="1">
              <a:gsLst>
                <a:gs pos="0">
                  <a:srgbClr val="2C5494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50531" tIns="33689" rIns="50531" bIns="33689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 dirty="0">
                <a:latin typeface="+mn-ea"/>
              </a:endParaRPr>
            </a:p>
          </p:txBody>
        </p:sp>
        <p:sp>
          <p:nvSpPr>
            <p:cNvPr id="608" name="Rectangle 254"/>
            <p:cNvSpPr>
              <a:spLocks noChangeArrowheads="1"/>
            </p:cNvSpPr>
            <p:nvPr/>
          </p:nvSpPr>
          <p:spPr bwMode="auto">
            <a:xfrm>
              <a:off x="4351296" y="3979927"/>
              <a:ext cx="1425518" cy="1358897"/>
            </a:xfrm>
            <a:prstGeom prst="roundRect">
              <a:avLst>
                <a:gd name="adj" fmla="val 6446"/>
              </a:avLst>
            </a:prstGeom>
            <a:solidFill>
              <a:srgbClr val="F9E187"/>
            </a:solidFill>
            <a:ln>
              <a:noFill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900" dirty="0">
                  <a:solidFill>
                    <a:srgbClr val="000000"/>
                  </a:solidFill>
                  <a:latin typeface="+mn-ea"/>
                </a:rPr>
                <a:t>HTTP</a:t>
              </a:r>
            </a:p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900" dirty="0">
                  <a:solidFill>
                    <a:srgbClr val="000000"/>
                  </a:solidFill>
                  <a:latin typeface="+mn-ea"/>
                </a:rPr>
                <a:t>XML</a:t>
              </a:r>
            </a:p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900" dirty="0">
                  <a:solidFill>
                    <a:srgbClr val="000000"/>
                  </a:solidFill>
                  <a:latin typeface="+mn-ea"/>
                </a:rPr>
                <a:t>JSON</a:t>
              </a:r>
            </a:p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900" dirty="0">
                  <a:solidFill>
                    <a:srgbClr val="000000"/>
                  </a:solidFill>
                  <a:latin typeface="+mn-ea"/>
                </a:rPr>
                <a:t>SOAP</a:t>
              </a:r>
              <a:endParaRPr kumimoji="0" lang="ko-KR" altLang="en-US" sz="9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09" name="Rectangle 254"/>
            <p:cNvSpPr>
              <a:spLocks noChangeArrowheads="1"/>
            </p:cNvSpPr>
            <p:nvPr/>
          </p:nvSpPr>
          <p:spPr bwMode="auto">
            <a:xfrm>
              <a:off x="4351296" y="5499260"/>
              <a:ext cx="1425518" cy="1484130"/>
            </a:xfrm>
            <a:prstGeom prst="roundRect">
              <a:avLst>
                <a:gd name="adj" fmla="val 6446"/>
              </a:avLst>
            </a:prstGeom>
            <a:solidFill>
              <a:srgbClr val="F9E187"/>
            </a:solidFill>
            <a:ln>
              <a:noFill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900" dirty="0">
                  <a:solidFill>
                    <a:srgbClr val="000000"/>
                  </a:solidFill>
                  <a:latin typeface="+mn-ea"/>
                </a:rPr>
                <a:t>HTML5</a:t>
              </a:r>
            </a:p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900" dirty="0">
                  <a:solidFill>
                    <a:srgbClr val="000000"/>
                  </a:solidFill>
                  <a:latin typeface="+mn-ea"/>
                </a:rPr>
                <a:t>JSP</a:t>
              </a:r>
            </a:p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900" dirty="0">
                  <a:solidFill>
                    <a:srgbClr val="000000"/>
                  </a:solidFill>
                  <a:latin typeface="+mn-ea"/>
                </a:rPr>
                <a:t>Open API</a:t>
              </a:r>
            </a:p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900" dirty="0">
                  <a:solidFill>
                    <a:srgbClr val="000000"/>
                  </a:solidFill>
                  <a:latin typeface="+mn-ea"/>
                </a:rPr>
                <a:t>RSS</a:t>
              </a:r>
            </a:p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  <a:defRPr/>
              </a:pPr>
              <a:r>
                <a:rPr kumimoji="0" lang="en-US" altLang="ko-KR" sz="800" dirty="0">
                  <a:solidFill>
                    <a:srgbClr val="000000"/>
                  </a:solidFill>
                  <a:latin typeface="+mn-ea"/>
                </a:rPr>
                <a:t>Java Script</a:t>
              </a:r>
              <a:endParaRPr kumimoji="0" lang="ko-KR" altLang="en-US" sz="800" dirty="0">
                <a:solidFill>
                  <a:srgbClr val="000000"/>
                </a:solidFill>
                <a:latin typeface="+mn-ea"/>
              </a:endParaRPr>
            </a:p>
          </p:txBody>
        </p:sp>
        <p:grpSp>
          <p:nvGrpSpPr>
            <p:cNvPr id="610" name="그룹 71"/>
            <p:cNvGrpSpPr>
              <a:grpSpLocks/>
            </p:cNvGrpSpPr>
            <p:nvPr/>
          </p:nvGrpSpPr>
          <p:grpSpPr bwMode="auto">
            <a:xfrm>
              <a:off x="12344840" y="3016470"/>
              <a:ext cx="1804199" cy="4388065"/>
              <a:chOff x="2743558" y="11882717"/>
              <a:chExt cx="1712847" cy="5655514"/>
            </a:xfrm>
          </p:grpSpPr>
          <p:sp>
            <p:nvSpPr>
              <p:cNvPr id="642" name="모서리가 둥근 직사각형 641"/>
              <p:cNvSpPr/>
              <p:nvPr/>
            </p:nvSpPr>
            <p:spPr bwMode="auto">
              <a:xfrm>
                <a:off x="2743558" y="11882717"/>
                <a:ext cx="1712847" cy="5655514"/>
              </a:xfrm>
              <a:prstGeom prst="roundRect">
                <a:avLst>
                  <a:gd name="adj" fmla="val 4278"/>
                </a:avLst>
              </a:prstGeom>
              <a:solidFill>
                <a:srgbClr val="F9FBFD"/>
              </a:solidFill>
              <a:ln>
                <a:solidFill>
                  <a:schemeClr val="tx2">
                    <a:alpha val="3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0" rIns="72000" bIns="0"/>
              <a:lstStyle/>
              <a:p>
                <a:pPr>
                  <a:lnSpc>
                    <a:spcPts val="1220"/>
                  </a:lnSpc>
                  <a:defRPr/>
                </a:pPr>
                <a:endParaRPr lang="ko-KR" altLang="en-US" sz="80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643" name="모서리가 둥근 직사각형 642"/>
              <p:cNvSpPr/>
              <p:nvPr/>
            </p:nvSpPr>
            <p:spPr>
              <a:xfrm>
                <a:off x="2802864" y="11964446"/>
                <a:ext cx="1598903" cy="516883"/>
              </a:xfrm>
              <a:prstGeom prst="roundRect">
                <a:avLst>
                  <a:gd name="adj" fmla="val 17505"/>
                </a:avLst>
              </a:prstGeom>
              <a:solidFill>
                <a:srgbClr val="455D8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anchor="ctr"/>
              <a:lstStyle/>
              <a:p>
                <a:pPr algn="ctr">
                  <a:defRPr/>
                </a:pPr>
                <a:r>
                  <a:rPr lang="en-US" altLang="ko-KR" sz="1000" b="1" dirty="0">
                    <a:latin typeface="+mn-ea"/>
                  </a:rPr>
                  <a:t>DB Server</a:t>
                </a:r>
              </a:p>
            </p:txBody>
          </p:sp>
        </p:grpSp>
        <p:sp>
          <p:nvSpPr>
            <p:cNvPr id="611" name="Rectangle 254"/>
            <p:cNvSpPr>
              <a:spLocks noChangeArrowheads="1"/>
            </p:cNvSpPr>
            <p:nvPr/>
          </p:nvSpPr>
          <p:spPr bwMode="auto">
            <a:xfrm>
              <a:off x="12684377" y="4284688"/>
              <a:ext cx="1142439" cy="565546"/>
            </a:xfrm>
            <a:prstGeom prst="roundRect">
              <a:avLst>
                <a:gd name="adj" fmla="val 17882"/>
              </a:avLst>
            </a:prstGeom>
            <a:solidFill>
              <a:srgbClr val="F9E187"/>
            </a:solidFill>
            <a:ln>
              <a:noFill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</a:pPr>
              <a:r>
                <a:rPr kumimoji="0" lang="en-US" altLang="ko-KR" sz="1000" dirty="0">
                  <a:solidFill>
                    <a:srgbClr val="000000"/>
                  </a:solidFill>
                  <a:latin typeface="+mn-ea"/>
                </a:rPr>
                <a:t>DBMS</a:t>
              </a:r>
              <a:endParaRPr kumimoji="0" lang="ko-KR" altLang="en-US" sz="10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12" name="Rectangle 254"/>
            <p:cNvSpPr>
              <a:spLocks noChangeArrowheads="1"/>
            </p:cNvSpPr>
            <p:nvPr/>
          </p:nvSpPr>
          <p:spPr bwMode="auto">
            <a:xfrm>
              <a:off x="12684377" y="5302360"/>
              <a:ext cx="1142439" cy="565546"/>
            </a:xfrm>
            <a:prstGeom prst="roundRect">
              <a:avLst>
                <a:gd name="adj" fmla="val 17882"/>
              </a:avLst>
            </a:prstGeom>
            <a:solidFill>
              <a:srgbClr val="F9E187"/>
            </a:solidFill>
            <a:ln>
              <a:noFill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</a:pPr>
              <a:r>
                <a:rPr kumimoji="0" lang="en-US" altLang="ko-KR" sz="1000" dirty="0">
                  <a:solidFill>
                    <a:srgbClr val="000000"/>
                  </a:solidFill>
                  <a:latin typeface="+mn-ea"/>
                </a:rPr>
                <a:t>DBMS</a:t>
              </a:r>
              <a:endParaRPr kumimoji="0" lang="ko-KR" altLang="en-US" sz="10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13" name="Rectangle 254"/>
            <p:cNvSpPr>
              <a:spLocks noChangeArrowheads="1"/>
            </p:cNvSpPr>
            <p:nvPr/>
          </p:nvSpPr>
          <p:spPr bwMode="auto">
            <a:xfrm>
              <a:off x="12684377" y="6314025"/>
              <a:ext cx="1142439" cy="565546"/>
            </a:xfrm>
            <a:prstGeom prst="roundRect">
              <a:avLst>
                <a:gd name="adj" fmla="val 15023"/>
              </a:avLst>
            </a:prstGeom>
            <a:solidFill>
              <a:srgbClr val="F9E187"/>
            </a:solidFill>
            <a:ln>
              <a:noFill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72000" tIns="36000" rIns="72000" bIns="36000" anchor="ctr"/>
            <a:lstStyle/>
            <a:p>
              <a:pPr algn="ctr">
                <a:spcBef>
                  <a:spcPts val="665"/>
                </a:spcBef>
                <a:buClr>
                  <a:srgbClr val="0033CC"/>
                </a:buClr>
                <a:buSzPct val="80000"/>
              </a:pPr>
              <a:r>
                <a:rPr kumimoji="0" lang="en-US" altLang="ko-KR" sz="1000" dirty="0">
                  <a:solidFill>
                    <a:srgbClr val="000000"/>
                  </a:solidFill>
                  <a:latin typeface="+mn-ea"/>
                </a:rPr>
                <a:t>DBMS</a:t>
              </a:r>
              <a:endParaRPr kumimoji="0" lang="ko-KR" altLang="en-US" sz="10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14" name="AutoShape 74"/>
            <p:cNvSpPr>
              <a:spLocks/>
            </p:cNvSpPr>
            <p:nvPr/>
          </p:nvSpPr>
          <p:spPr bwMode="auto">
            <a:xfrm rot="5400000">
              <a:off x="13147727" y="3365030"/>
              <a:ext cx="200522" cy="1015205"/>
            </a:xfrm>
            <a:prstGeom prst="leftBracket">
              <a:avLst>
                <a:gd name="adj" fmla="val 106503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0000" endA="300" endPos="55000" dir="5400000" sy="-100000" algn="bl" rotWithShape="0"/>
            </a:effectLst>
          </p:spPr>
          <p:txBody>
            <a:bodyPr wrap="none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>
                <a:latin typeface="+mn-ea"/>
              </a:endParaRPr>
            </a:p>
          </p:txBody>
        </p:sp>
        <p:sp>
          <p:nvSpPr>
            <p:cNvPr id="615" name="위쪽 화살표 614"/>
            <p:cNvSpPr/>
            <p:nvPr/>
          </p:nvSpPr>
          <p:spPr bwMode="auto">
            <a:xfrm>
              <a:off x="12939045" y="3493813"/>
              <a:ext cx="614160" cy="260206"/>
            </a:xfrm>
            <a:prstGeom prst="upArrow">
              <a:avLst>
                <a:gd name="adj1" fmla="val 65238"/>
                <a:gd name="adj2" fmla="val 50000"/>
              </a:avLst>
            </a:prstGeom>
            <a:gradFill flip="none" rotWithShape="1">
              <a:gsLst>
                <a:gs pos="0">
                  <a:srgbClr val="2C5494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50531" tIns="33689" rIns="50531" bIns="33689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 dirty="0">
                <a:latin typeface="+mn-ea"/>
              </a:endParaRPr>
            </a:p>
          </p:txBody>
        </p:sp>
        <p:sp>
          <p:nvSpPr>
            <p:cNvPr id="616" name="AutoShape 137"/>
            <p:cNvSpPr>
              <a:spLocks/>
            </p:cNvSpPr>
            <p:nvPr/>
          </p:nvSpPr>
          <p:spPr bwMode="auto">
            <a:xfrm rot="5400000">
              <a:off x="9035919" y="1198623"/>
              <a:ext cx="200522" cy="5272209"/>
            </a:xfrm>
            <a:prstGeom prst="leftBracket">
              <a:avLst>
                <a:gd name="adj" fmla="val 384626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0000" endA="300" endPos="55000" dir="5400000" sy="-100000" algn="bl" rotWithShape="0"/>
            </a:effectLst>
          </p:spPr>
          <p:txBody>
            <a:bodyPr wrap="none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>
                <a:latin typeface="+mn-ea"/>
              </a:endParaRPr>
            </a:p>
          </p:txBody>
        </p:sp>
        <p:sp>
          <p:nvSpPr>
            <p:cNvPr id="617" name="AutoShape 68"/>
            <p:cNvSpPr>
              <a:spLocks/>
            </p:cNvSpPr>
            <p:nvPr/>
          </p:nvSpPr>
          <p:spPr bwMode="auto">
            <a:xfrm rot="16200000">
              <a:off x="6361103" y="5985720"/>
              <a:ext cx="164221" cy="3001850"/>
            </a:xfrm>
            <a:prstGeom prst="leftBracket">
              <a:avLst>
                <a:gd name="adj" fmla="val 238437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0000" endA="300" endPos="55000" dir="5400000" sy="-100000" algn="bl" rotWithShape="0"/>
            </a:effectLst>
          </p:spPr>
          <p:txBody>
            <a:bodyPr wrap="none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>
                <a:latin typeface="+mn-ea"/>
              </a:endParaRPr>
            </a:p>
          </p:txBody>
        </p:sp>
        <p:sp>
          <p:nvSpPr>
            <p:cNvPr id="618" name="AutoShape 69"/>
            <p:cNvSpPr>
              <a:spLocks/>
            </p:cNvSpPr>
            <p:nvPr/>
          </p:nvSpPr>
          <p:spPr bwMode="auto">
            <a:xfrm rot="16200000">
              <a:off x="13169423" y="6959366"/>
              <a:ext cx="164222" cy="1054559"/>
            </a:xfrm>
            <a:prstGeom prst="leftBracket">
              <a:avLst>
                <a:gd name="adj" fmla="val 141875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0000" endA="300" endPos="55000" dir="5400000" sy="-100000" algn="bl" rotWithShape="0"/>
            </a:effectLst>
          </p:spPr>
          <p:txBody>
            <a:bodyPr wrap="none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>
                <a:latin typeface="+mn-ea"/>
              </a:endParaRPr>
            </a:p>
          </p:txBody>
        </p:sp>
        <p:sp>
          <p:nvSpPr>
            <p:cNvPr id="619" name="AutoShape 70"/>
            <p:cNvSpPr>
              <a:spLocks/>
            </p:cNvSpPr>
            <p:nvPr/>
          </p:nvSpPr>
          <p:spPr bwMode="auto">
            <a:xfrm rot="16200000">
              <a:off x="9883284" y="5537718"/>
              <a:ext cx="176072" cy="3909702"/>
            </a:xfrm>
            <a:prstGeom prst="leftBracket">
              <a:avLst>
                <a:gd name="adj" fmla="val 300852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  <a:reflection blurRad="6350" stA="50000" endA="300" endPos="55000" dir="5400000" sy="-100000" algn="bl" rotWithShape="0"/>
            </a:effectLst>
          </p:spPr>
          <p:txBody>
            <a:bodyPr wrap="none" anchor="ctr"/>
            <a:lstStyle/>
            <a:p>
              <a:pPr algn="just" eaLnBrk="1" latinLnBrk="1" hangingPunct="1">
                <a:lnSpc>
                  <a:spcPct val="120000"/>
                </a:lnSpc>
                <a:spcAft>
                  <a:spcPct val="40000"/>
                </a:spcAft>
                <a:buFont typeface="Wingdings" pitchFamily="2" charset="2"/>
                <a:buChar char="§"/>
                <a:defRPr/>
              </a:pPr>
              <a:endParaRPr lang="ko-KR" altLang="en-US" sz="1100" dirty="0">
                <a:latin typeface="+mn-ea"/>
              </a:endParaRPr>
            </a:p>
          </p:txBody>
        </p:sp>
        <p:sp>
          <p:nvSpPr>
            <p:cNvPr id="620" name="Line 85"/>
            <p:cNvSpPr>
              <a:spLocks noChangeShapeType="1"/>
            </p:cNvSpPr>
            <p:nvPr/>
          </p:nvSpPr>
          <p:spPr bwMode="auto">
            <a:xfrm flipV="1">
              <a:off x="11804760" y="4521703"/>
              <a:ext cx="827020" cy="5048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86222" tIns="43111" rIns="86222" bIns="43111">
              <a:spAutoFit/>
            </a:bodyPr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21" name="Line 86"/>
            <p:cNvSpPr>
              <a:spLocks noChangeShapeType="1"/>
            </p:cNvSpPr>
            <p:nvPr/>
          </p:nvSpPr>
          <p:spPr bwMode="auto">
            <a:xfrm>
              <a:off x="11804760" y="5026563"/>
              <a:ext cx="879617" cy="5763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86222" tIns="43111" rIns="86222" bIns="43111">
              <a:spAutoFit/>
            </a:bodyPr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22" name="Line 85"/>
            <p:cNvSpPr>
              <a:spLocks noChangeShapeType="1"/>
            </p:cNvSpPr>
            <p:nvPr/>
          </p:nvSpPr>
          <p:spPr bwMode="auto">
            <a:xfrm flipV="1">
              <a:off x="11804759" y="5645483"/>
              <a:ext cx="879617" cy="4460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86222" tIns="43111" rIns="86222" bIns="43111">
              <a:spAutoFit/>
            </a:bodyPr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23" name="Line 86"/>
            <p:cNvSpPr>
              <a:spLocks noChangeShapeType="1"/>
            </p:cNvSpPr>
            <p:nvPr/>
          </p:nvSpPr>
          <p:spPr bwMode="auto">
            <a:xfrm>
              <a:off x="11804759" y="6091549"/>
              <a:ext cx="919495" cy="5614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86222" tIns="43111" rIns="86222" bIns="43111">
              <a:spAutoFit/>
            </a:bodyPr>
            <a:lstStyle/>
            <a:p>
              <a:endParaRPr lang="ko-KR" altLang="en-US" sz="1100">
                <a:latin typeface="+mn-ea"/>
              </a:endParaRPr>
            </a:p>
          </p:txBody>
        </p:sp>
        <p:grpSp>
          <p:nvGrpSpPr>
            <p:cNvPr id="624" name="그룹 623"/>
            <p:cNvGrpSpPr/>
            <p:nvPr/>
          </p:nvGrpSpPr>
          <p:grpSpPr>
            <a:xfrm>
              <a:off x="453088" y="7584926"/>
              <a:ext cx="815419" cy="719779"/>
              <a:chOff x="445780" y="7025933"/>
              <a:chExt cx="697197" cy="646113"/>
            </a:xfrm>
          </p:grpSpPr>
          <p:pic>
            <p:nvPicPr>
              <p:cNvPr id="640" name="그림 25" descr="Untitled-4.png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992" y="7025933"/>
                <a:ext cx="643985" cy="646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41" name="Picture 2" descr="E:\클립아트코리아\심플아이콘\픽토\ti122d4122.jpg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776" t="52027" r="43576" b="40182"/>
              <a:stretch/>
            </p:blipFill>
            <p:spPr bwMode="auto">
              <a:xfrm>
                <a:off x="445780" y="7112000"/>
                <a:ext cx="680482" cy="4505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25" name="그룹 5"/>
            <p:cNvGrpSpPr>
              <a:grpSpLocks/>
            </p:cNvGrpSpPr>
            <p:nvPr/>
          </p:nvGrpSpPr>
          <p:grpSpPr bwMode="auto">
            <a:xfrm>
              <a:off x="4728472" y="7955413"/>
              <a:ext cx="3472696" cy="1394307"/>
              <a:chOff x="2092150" y="3222713"/>
              <a:chExt cx="4500000" cy="1251336"/>
            </a:xfrm>
          </p:grpSpPr>
          <p:sp>
            <p:nvSpPr>
              <p:cNvPr id="637" name="모서리가 둥근 직사각형 636"/>
              <p:cNvSpPr/>
              <p:nvPr/>
            </p:nvSpPr>
            <p:spPr bwMode="auto">
              <a:xfrm>
                <a:off x="2092150" y="3222713"/>
                <a:ext cx="4500000" cy="1251336"/>
              </a:xfrm>
              <a:prstGeom prst="roundRect">
                <a:avLst>
                  <a:gd name="adj" fmla="val 4665"/>
                </a:avLst>
              </a:prstGeom>
              <a:solidFill>
                <a:schemeClr val="bg1">
                  <a:alpha val="50000"/>
                </a:schemeClr>
              </a:solidFill>
              <a:ln>
                <a:solidFill>
                  <a:srgbClr val="519FCF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432000" rIns="0" bIns="0"/>
              <a:lstStyle>
                <a:defPPr>
                  <a:defRPr lang="ko-KR"/>
                </a:defPPr>
                <a:lvl1pPr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53154" indent="-153154" algn="l">
                  <a:spcAft>
                    <a:spcPts val="222"/>
                  </a:spcAft>
                  <a:buFontTx/>
                  <a:buChar char="•"/>
                  <a:defRPr/>
                </a:pPr>
                <a:r>
                  <a:rPr lang="en-US" altLang="ko-KR" sz="1000" dirty="0">
                    <a:solidFill>
                      <a:prstClr val="black"/>
                    </a:solidFill>
                    <a:latin typeface="+mn-ea"/>
                  </a:rPr>
                  <a:t>JSP, HTML5 , RSS</a:t>
                </a:r>
              </a:p>
              <a:p>
                <a:pPr marL="153154" indent="-153154" algn="l">
                  <a:spcAft>
                    <a:spcPts val="222"/>
                  </a:spcAft>
                  <a:buFontTx/>
                  <a:buChar char="•"/>
                  <a:defRPr/>
                </a:pPr>
                <a:r>
                  <a:rPr lang="en-US" altLang="ko-KR" sz="1000" dirty="0">
                    <a:solidFill>
                      <a:prstClr val="black"/>
                    </a:solidFill>
                    <a:latin typeface="+mn-ea"/>
                  </a:rPr>
                  <a:t>Java Script</a:t>
                </a:r>
              </a:p>
              <a:p>
                <a:pPr marL="153154" indent="-153154" algn="l">
                  <a:spcAft>
                    <a:spcPts val="222"/>
                  </a:spcAft>
                  <a:buFontTx/>
                  <a:buChar char="•"/>
                  <a:defRPr/>
                </a:pPr>
                <a:r>
                  <a:rPr lang="en-US" altLang="ko-KR" sz="1000" dirty="0">
                    <a:solidFill>
                      <a:prstClr val="black"/>
                    </a:solidFill>
                    <a:latin typeface="+mn-ea"/>
                  </a:rPr>
                  <a:t>Struts Based Framework</a:t>
                </a:r>
              </a:p>
            </p:txBody>
          </p:sp>
          <p:cxnSp>
            <p:nvCxnSpPr>
              <p:cNvPr id="638" name="직선 연결선 637"/>
              <p:cNvCxnSpPr/>
              <p:nvPr/>
            </p:nvCxnSpPr>
            <p:spPr>
              <a:xfrm>
                <a:off x="2257591" y="3554428"/>
                <a:ext cx="4169118" cy="0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9" name="직사각형 638"/>
              <p:cNvSpPr/>
              <p:nvPr/>
            </p:nvSpPr>
            <p:spPr>
              <a:xfrm>
                <a:off x="2096287" y="3230648"/>
                <a:ext cx="4495863" cy="323780"/>
              </a:xfrm>
              <a:prstGeom prst="rect">
                <a:avLst/>
              </a:prstGeom>
              <a:gradFill flip="none" rotWithShape="1">
                <a:gsLst>
                  <a:gs pos="833">
                    <a:schemeClr val="bg1">
                      <a:alpha val="0"/>
                    </a:schemeClr>
                  </a:gs>
                  <a:gs pos="5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200" b="1" kern="0" dirty="0">
                    <a:solidFill>
                      <a:srgbClr val="002060"/>
                    </a:solidFill>
                    <a:latin typeface="+mn-ea"/>
                  </a:rPr>
                  <a:t>Presentation Layer</a:t>
                </a:r>
              </a:p>
            </p:txBody>
          </p:sp>
        </p:grpSp>
        <p:grpSp>
          <p:nvGrpSpPr>
            <p:cNvPr id="626" name="그룹 5"/>
            <p:cNvGrpSpPr>
              <a:grpSpLocks/>
            </p:cNvGrpSpPr>
            <p:nvPr/>
          </p:nvGrpSpPr>
          <p:grpSpPr bwMode="auto">
            <a:xfrm>
              <a:off x="8300243" y="7955413"/>
              <a:ext cx="3472696" cy="1394307"/>
              <a:chOff x="2092150" y="3222713"/>
              <a:chExt cx="4500000" cy="1251336"/>
            </a:xfrm>
          </p:grpSpPr>
          <p:sp>
            <p:nvSpPr>
              <p:cNvPr id="634" name="모서리가 둥근 직사각형 633"/>
              <p:cNvSpPr/>
              <p:nvPr/>
            </p:nvSpPr>
            <p:spPr bwMode="auto">
              <a:xfrm>
                <a:off x="2092150" y="3222713"/>
                <a:ext cx="4500000" cy="1251336"/>
              </a:xfrm>
              <a:prstGeom prst="roundRect">
                <a:avLst>
                  <a:gd name="adj" fmla="val 4665"/>
                </a:avLst>
              </a:prstGeom>
              <a:solidFill>
                <a:schemeClr val="bg1">
                  <a:alpha val="50000"/>
                </a:schemeClr>
              </a:solidFill>
              <a:ln>
                <a:solidFill>
                  <a:srgbClr val="519FCF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432000" rIns="0" bIns="0"/>
              <a:lstStyle>
                <a:defPPr>
                  <a:defRPr lang="ko-KR"/>
                </a:defPPr>
                <a:lvl1pPr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53154" indent="-153154" algn="l">
                  <a:spcAft>
                    <a:spcPts val="222"/>
                  </a:spcAft>
                  <a:buFontTx/>
                  <a:buChar char="•"/>
                  <a:defRPr/>
                </a:pPr>
                <a:r>
                  <a:rPr lang="en-US" altLang="ko-KR" sz="1000" dirty="0">
                    <a:solidFill>
                      <a:prstClr val="black"/>
                    </a:solidFill>
                    <a:latin typeface="+mn-ea"/>
                  </a:rPr>
                  <a:t>Spring Based Framework</a:t>
                </a:r>
              </a:p>
              <a:p>
                <a:pPr marL="153154" indent="-153154" algn="l">
                  <a:spcAft>
                    <a:spcPts val="222"/>
                  </a:spcAft>
                  <a:buFontTx/>
                  <a:buChar char="•"/>
                  <a:defRPr/>
                </a:pPr>
                <a:r>
                  <a:rPr lang="en-US" altLang="ko-KR" sz="1000" dirty="0" err="1">
                    <a:solidFill>
                      <a:prstClr val="black"/>
                    </a:solidFill>
                    <a:latin typeface="+mn-ea"/>
                  </a:rPr>
                  <a:t>iBATIS</a:t>
                </a:r>
                <a:r>
                  <a:rPr lang="en-US" altLang="ko-KR" sz="1000" dirty="0">
                    <a:solidFill>
                      <a:prstClr val="black"/>
                    </a:solidFill>
                    <a:latin typeface="+mn-ea"/>
                  </a:rPr>
                  <a:t> Based Framework</a:t>
                </a:r>
              </a:p>
            </p:txBody>
          </p:sp>
          <p:cxnSp>
            <p:nvCxnSpPr>
              <p:cNvPr id="635" name="직선 연결선 634"/>
              <p:cNvCxnSpPr/>
              <p:nvPr/>
            </p:nvCxnSpPr>
            <p:spPr>
              <a:xfrm>
                <a:off x="2257591" y="3554428"/>
                <a:ext cx="4169118" cy="0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6" name="직사각형 635"/>
              <p:cNvSpPr/>
              <p:nvPr/>
            </p:nvSpPr>
            <p:spPr>
              <a:xfrm>
                <a:off x="2096287" y="3230648"/>
                <a:ext cx="4495863" cy="323780"/>
              </a:xfrm>
              <a:prstGeom prst="rect">
                <a:avLst/>
              </a:prstGeom>
              <a:gradFill flip="none" rotWithShape="1">
                <a:gsLst>
                  <a:gs pos="833">
                    <a:schemeClr val="bg1">
                      <a:alpha val="0"/>
                    </a:schemeClr>
                  </a:gs>
                  <a:gs pos="5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>
                  <a:defRPr/>
                </a:pPr>
                <a:r>
                  <a:rPr lang="en-US" altLang="ko-KR" sz="1200" b="1" kern="0" dirty="0">
                    <a:solidFill>
                      <a:srgbClr val="002060"/>
                    </a:solidFill>
                    <a:latin typeface="+mn-ea"/>
                  </a:rPr>
                  <a:t>Business / Data Access Layer</a:t>
                </a:r>
              </a:p>
            </p:txBody>
          </p:sp>
        </p:grpSp>
        <p:grpSp>
          <p:nvGrpSpPr>
            <p:cNvPr id="627" name="그룹 5"/>
            <p:cNvGrpSpPr>
              <a:grpSpLocks/>
            </p:cNvGrpSpPr>
            <p:nvPr/>
          </p:nvGrpSpPr>
          <p:grpSpPr bwMode="auto">
            <a:xfrm>
              <a:off x="11872014" y="7955413"/>
              <a:ext cx="2274700" cy="1394307"/>
              <a:chOff x="2092150" y="3222713"/>
              <a:chExt cx="4500000" cy="1251336"/>
            </a:xfrm>
          </p:grpSpPr>
          <p:sp>
            <p:nvSpPr>
              <p:cNvPr id="631" name="모서리가 둥근 직사각형 630"/>
              <p:cNvSpPr/>
              <p:nvPr/>
            </p:nvSpPr>
            <p:spPr bwMode="auto">
              <a:xfrm>
                <a:off x="2092150" y="3222713"/>
                <a:ext cx="4500000" cy="1251336"/>
              </a:xfrm>
              <a:prstGeom prst="roundRect">
                <a:avLst>
                  <a:gd name="adj" fmla="val 4665"/>
                </a:avLst>
              </a:prstGeom>
              <a:solidFill>
                <a:schemeClr val="bg1">
                  <a:alpha val="50000"/>
                </a:schemeClr>
              </a:solidFill>
              <a:ln>
                <a:solidFill>
                  <a:srgbClr val="519FCF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432000" rIns="0" bIns="0"/>
              <a:lstStyle>
                <a:defPPr>
                  <a:defRPr lang="ko-KR"/>
                </a:defPPr>
                <a:lvl1pPr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1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53154" indent="-153154" algn="l">
                  <a:spcAft>
                    <a:spcPts val="222"/>
                  </a:spcAft>
                  <a:buFontTx/>
                  <a:buChar char="•"/>
                  <a:defRPr/>
                </a:pPr>
                <a:r>
                  <a:rPr lang="en-US" altLang="ko-KR" sz="1000" dirty="0">
                    <a:solidFill>
                      <a:prstClr val="black"/>
                    </a:solidFill>
                    <a:latin typeface="+mn-ea"/>
                  </a:rPr>
                  <a:t>RDBMS</a:t>
                </a:r>
              </a:p>
              <a:p>
                <a:pPr marL="153154" indent="-153154" algn="l">
                  <a:spcAft>
                    <a:spcPts val="222"/>
                  </a:spcAft>
                  <a:buFontTx/>
                  <a:buChar char="•"/>
                  <a:defRPr/>
                </a:pPr>
                <a:r>
                  <a:rPr lang="en-US" altLang="ko-KR" sz="1000" dirty="0">
                    <a:solidFill>
                      <a:prstClr val="black"/>
                    </a:solidFill>
                    <a:latin typeface="+mn-ea"/>
                  </a:rPr>
                  <a:t>VSAM</a:t>
                </a:r>
              </a:p>
              <a:p>
                <a:pPr marL="153154" indent="-153154" algn="l">
                  <a:spcAft>
                    <a:spcPts val="222"/>
                  </a:spcAft>
                  <a:buFontTx/>
                  <a:buChar char="•"/>
                  <a:defRPr/>
                </a:pPr>
                <a:r>
                  <a:rPr lang="ko-KR" altLang="en-US" sz="1000" dirty="0">
                    <a:solidFill>
                      <a:prstClr val="black"/>
                    </a:solidFill>
                    <a:latin typeface="+mn-ea"/>
                  </a:rPr>
                  <a:t>파일 구조</a:t>
                </a:r>
              </a:p>
            </p:txBody>
          </p:sp>
          <p:cxnSp>
            <p:nvCxnSpPr>
              <p:cNvPr id="632" name="직선 연결선 631"/>
              <p:cNvCxnSpPr/>
              <p:nvPr/>
            </p:nvCxnSpPr>
            <p:spPr>
              <a:xfrm>
                <a:off x="2257591" y="3554428"/>
                <a:ext cx="4169118" cy="0"/>
              </a:xfrm>
              <a:prstGeom prst="line">
                <a:avLst/>
              </a:prstGeom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3" name="직사각형 632"/>
              <p:cNvSpPr/>
              <p:nvPr/>
            </p:nvSpPr>
            <p:spPr>
              <a:xfrm>
                <a:off x="2096287" y="3230648"/>
                <a:ext cx="4495863" cy="323780"/>
              </a:xfrm>
              <a:prstGeom prst="rect">
                <a:avLst/>
              </a:prstGeom>
              <a:gradFill flip="none" rotWithShape="1">
                <a:gsLst>
                  <a:gs pos="833">
                    <a:schemeClr val="bg1">
                      <a:alpha val="0"/>
                    </a:schemeClr>
                  </a:gs>
                  <a:gs pos="5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>
                  <a:defRPr/>
                </a:pPr>
                <a:r>
                  <a:rPr lang="en-US" altLang="ko-KR" sz="1200" b="1" kern="0" dirty="0">
                    <a:solidFill>
                      <a:srgbClr val="002060"/>
                    </a:solidFill>
                    <a:latin typeface="+mn-ea"/>
                  </a:rPr>
                  <a:t>Data Layer</a:t>
                </a:r>
              </a:p>
            </p:txBody>
          </p:sp>
        </p:grpSp>
        <p:cxnSp>
          <p:nvCxnSpPr>
            <p:cNvPr id="628" name="직선 연결선 627"/>
            <p:cNvCxnSpPr/>
            <p:nvPr/>
          </p:nvCxnSpPr>
          <p:spPr>
            <a:xfrm>
              <a:off x="1197067" y="8072306"/>
              <a:ext cx="3318138" cy="0"/>
            </a:xfrm>
            <a:prstGeom prst="line">
              <a:avLst/>
            </a:prstGeom>
            <a:ln>
              <a:solidFill>
                <a:srgbClr val="E77588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9" name="직선 연결선 628"/>
            <p:cNvCxnSpPr/>
            <p:nvPr/>
          </p:nvCxnSpPr>
          <p:spPr>
            <a:xfrm>
              <a:off x="1197067" y="8605887"/>
              <a:ext cx="3318138" cy="0"/>
            </a:xfrm>
            <a:prstGeom prst="line">
              <a:avLst/>
            </a:prstGeom>
            <a:ln>
              <a:solidFill>
                <a:srgbClr val="E77588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30" name="직선 연결선 629"/>
            <p:cNvCxnSpPr/>
            <p:nvPr/>
          </p:nvCxnSpPr>
          <p:spPr>
            <a:xfrm>
              <a:off x="1197067" y="9107130"/>
              <a:ext cx="3318138" cy="0"/>
            </a:xfrm>
            <a:prstGeom prst="line">
              <a:avLst/>
            </a:prstGeom>
            <a:ln>
              <a:solidFill>
                <a:srgbClr val="E77588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8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3</a:t>
            </a:r>
            <a:r>
              <a:rPr lang="en-US" altLang="ko-KR"/>
              <a:t>. </a:t>
            </a:r>
            <a:r>
              <a:rPr lang="ko-KR" altLang="en-US" smtClean="0"/>
              <a:t>목표시스템 구성도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3.2 ERP </a:t>
            </a:r>
            <a:r>
              <a:rPr lang="ko-KR" altLang="en-US" smtClean="0"/>
              <a:t>업무 구성도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3. </a:t>
            </a:r>
            <a:r>
              <a:rPr lang="ko-KR" altLang="en-US" smtClean="0"/>
              <a:t>목표시스템 구성도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3.2 ERP </a:t>
            </a:r>
            <a:r>
              <a:rPr lang="ko-KR" altLang="en-US" smtClean="0"/>
              <a:t>업무 구성도</a:t>
            </a:r>
            <a:endParaRPr lang="en-US" altLang="ko-KR" dirty="0"/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273050" y="863467"/>
            <a:ext cx="7778627" cy="5444103"/>
          </a:xfrm>
          <a:prstGeom prst="roundRect">
            <a:avLst>
              <a:gd name="adj" fmla="val 1713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solidFill>
              <a:srgbClr val="A6D2EC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b="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AutoShape 16"/>
          <p:cNvSpPr>
            <a:spLocks noChangeArrowheads="1"/>
          </p:cNvSpPr>
          <p:nvPr/>
        </p:nvSpPr>
        <p:spPr bwMode="auto">
          <a:xfrm>
            <a:off x="352424" y="1125847"/>
            <a:ext cx="7636717" cy="5120462"/>
          </a:xfrm>
          <a:prstGeom prst="roundRect">
            <a:avLst>
              <a:gd name="adj" fmla="val 1579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8016" tIns="64008" rIns="128016" bIns="64008" anchor="ctr"/>
          <a:lstStyle/>
          <a:p>
            <a:pPr>
              <a:defRPr/>
            </a:pPr>
            <a:endParaRPr lang="ko-KR" altLang="ko-KR" sz="1600" dirty="0">
              <a:latin typeface="+mn-ea"/>
            </a:endParaRPr>
          </a:p>
        </p:txBody>
      </p:sp>
      <p:sp>
        <p:nvSpPr>
          <p:cNvPr id="10" name="Rectangle 88"/>
          <p:cNvSpPr>
            <a:spLocks noChangeArrowheads="1"/>
          </p:cNvSpPr>
          <p:nvPr/>
        </p:nvSpPr>
        <p:spPr bwMode="auto">
          <a:xfrm>
            <a:off x="549655" y="879649"/>
            <a:ext cx="7261495" cy="21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경영정보시스템</a:t>
            </a:r>
            <a:endParaRPr lang="ko-KR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58856" y="1200507"/>
            <a:ext cx="7471956" cy="2895430"/>
          </a:xfrm>
          <a:prstGeom prst="rect">
            <a:avLst/>
          </a:prstGeom>
          <a:ln w="3175"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8489435" y="863467"/>
            <a:ext cx="929635" cy="5445258"/>
          </a:xfrm>
          <a:prstGeom prst="roundRect">
            <a:avLst>
              <a:gd name="adj" fmla="val 11388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solidFill>
              <a:srgbClr val="A6D2EC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8550769" y="1125847"/>
            <a:ext cx="810574" cy="5121618"/>
          </a:xfrm>
          <a:prstGeom prst="roundRect">
            <a:avLst>
              <a:gd name="adj" fmla="val 8643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8016" tIns="64008" rIns="128016" bIns="64008" anchor="ctr"/>
          <a:lstStyle/>
          <a:p>
            <a:pPr>
              <a:defRPr/>
            </a:pPr>
            <a:endParaRPr lang="ko-KR" altLang="ko-KR" sz="1600" dirty="0">
              <a:latin typeface="+mn-ea"/>
            </a:endParaRPr>
          </a:p>
        </p:txBody>
      </p:sp>
      <p:sp>
        <p:nvSpPr>
          <p:cNvPr id="17" name="Rectangle 88"/>
          <p:cNvSpPr>
            <a:spLocks noChangeArrowheads="1"/>
          </p:cNvSpPr>
          <p:nvPr/>
        </p:nvSpPr>
        <p:spPr bwMode="auto">
          <a:xfrm>
            <a:off x="8517096" y="879649"/>
            <a:ext cx="877922" cy="21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외부연계</a:t>
            </a:r>
          </a:p>
        </p:txBody>
      </p:sp>
      <p:sp>
        <p:nvSpPr>
          <p:cNvPr id="18" name="AutoShape 29"/>
          <p:cNvSpPr>
            <a:spLocks noChangeArrowheads="1"/>
          </p:cNvSpPr>
          <p:nvPr/>
        </p:nvSpPr>
        <p:spPr bwMode="auto">
          <a:xfrm rot="5400000">
            <a:off x="4052533" y="1306408"/>
            <a:ext cx="218458" cy="7476767"/>
          </a:xfrm>
          <a:prstGeom prst="can">
            <a:avLst>
              <a:gd name="adj" fmla="val 34874"/>
            </a:avLst>
          </a:prstGeom>
          <a:gradFill rotWithShape="0">
            <a:gsLst>
              <a:gs pos="0">
                <a:srgbClr val="B2B2B2"/>
              </a:gs>
              <a:gs pos="50000">
                <a:srgbClr val="FFFFFF"/>
              </a:gs>
              <a:gs pos="100000">
                <a:srgbClr val="B2B2B2"/>
              </a:gs>
            </a:gsLst>
            <a:lin ang="0" scaled="1"/>
          </a:gradFill>
          <a:ln w="28575">
            <a:solidFill>
              <a:srgbClr val="B2B2B2"/>
            </a:solidFill>
            <a:round/>
            <a:headEnd/>
            <a:tailEnd/>
          </a:ln>
        </p:spPr>
        <p:txBody>
          <a:bodyPr wrap="none" lIns="81835" tIns="40917" rIns="81835" bIns="40917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ko-KR" sz="800">
              <a:latin typeface="+mn-ea"/>
              <a:ea typeface="+mn-ea"/>
            </a:endParaRPr>
          </a:p>
        </p:txBody>
      </p:sp>
      <p:sp>
        <p:nvSpPr>
          <p:cNvPr id="19" name="AutoShape 60"/>
          <p:cNvSpPr>
            <a:spLocks noChangeArrowheads="1"/>
          </p:cNvSpPr>
          <p:nvPr/>
        </p:nvSpPr>
        <p:spPr bwMode="auto">
          <a:xfrm>
            <a:off x="6980131" y="4908978"/>
            <a:ext cx="928432" cy="26238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lIns="0" tIns="64008" rIns="0" bIns="64008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ko-KR" altLang="en-US" b="1" kern="0" dirty="0" smtClean="0">
                <a:latin typeface="+mn-ea"/>
                <a:ea typeface="+mn-ea"/>
              </a:rPr>
              <a:t>내부연계</a:t>
            </a:r>
            <a:endParaRPr lang="ko-KR" altLang="en-US" b="1" kern="0" dirty="0">
              <a:latin typeface="+mn-ea"/>
              <a:ea typeface="+mn-ea"/>
            </a:endParaRP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546047" y="5189429"/>
            <a:ext cx="989767" cy="210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ko-KR" altLang="en-US" sz="1050">
                <a:solidFill>
                  <a:srgbClr val="FFFFFF"/>
                </a:solidFill>
                <a:latin typeface="+mn-ea"/>
                <a:ea typeface="+mn-ea"/>
              </a:rPr>
              <a:t>전자증빙</a:t>
            </a:r>
          </a:p>
        </p:txBody>
      </p:sp>
      <p:grpSp>
        <p:nvGrpSpPr>
          <p:cNvPr id="21" name="그룹 3"/>
          <p:cNvGrpSpPr>
            <a:grpSpLocks/>
          </p:cNvGrpSpPr>
          <p:nvPr/>
        </p:nvGrpSpPr>
        <p:grpSpPr bwMode="auto">
          <a:xfrm>
            <a:off x="6061320" y="5217300"/>
            <a:ext cx="1227888" cy="985087"/>
            <a:chOff x="8045200" y="7593525"/>
            <a:chExt cx="2025250" cy="1352727"/>
          </a:xfrm>
        </p:grpSpPr>
        <p:sp>
          <p:nvSpPr>
            <p:cNvPr id="445" name="AutoShape 4"/>
            <p:cNvSpPr>
              <a:spLocks noChangeArrowheads="1"/>
            </p:cNvSpPr>
            <p:nvPr/>
          </p:nvSpPr>
          <p:spPr bwMode="gray">
            <a:xfrm>
              <a:off x="8045200" y="7603452"/>
              <a:ext cx="2003430" cy="1342800"/>
            </a:xfrm>
            <a:prstGeom prst="roundRect">
              <a:avLst>
                <a:gd name="adj" fmla="val 2352"/>
              </a:avLst>
            </a:prstGeom>
            <a:ln>
              <a:noFill/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9pPr>
            </a:lstStyle>
            <a:p>
              <a:pPr>
                <a:spcBef>
                  <a:spcPct val="20000"/>
                </a:spcBef>
                <a:defRPr/>
              </a:pPr>
              <a:endParaRPr lang="ko-KR" altLang="ko-KR" sz="110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446" name="AutoShape 5"/>
            <p:cNvSpPr>
              <a:spLocks noChangeArrowheads="1"/>
            </p:cNvSpPr>
            <p:nvPr/>
          </p:nvSpPr>
          <p:spPr bwMode="auto">
            <a:xfrm>
              <a:off x="8086856" y="7868521"/>
              <a:ext cx="1912185" cy="1047574"/>
            </a:xfrm>
            <a:prstGeom prst="roundRect">
              <a:avLst>
                <a:gd name="adj" fmla="val 238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81835" tIns="40917" rIns="81835" bIns="40917" anchor="ctr"/>
            <a:lstStyle/>
            <a:p>
              <a:pPr algn="ctr">
                <a:spcBef>
                  <a:spcPts val="600"/>
                </a:spcBef>
                <a:defRPr/>
              </a:pPr>
              <a:endParaRPr lang="ko-KR" altLang="ko-KR" sz="11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47" name="Rectangle 9"/>
            <p:cNvSpPr>
              <a:spLocks noChangeArrowheads="1"/>
            </p:cNvSpPr>
            <p:nvPr/>
          </p:nvSpPr>
          <p:spPr bwMode="auto">
            <a:xfrm>
              <a:off x="8289841" y="7593525"/>
              <a:ext cx="1633658" cy="288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ko-KR" altLang="en-US" sz="1050">
                  <a:solidFill>
                    <a:srgbClr val="00B050"/>
                  </a:solidFill>
                  <a:latin typeface="+mn-ea"/>
                  <a:ea typeface="+mn-ea"/>
                </a:rPr>
                <a:t>홈페이지</a:t>
              </a:r>
            </a:p>
          </p:txBody>
        </p:sp>
        <p:sp>
          <p:nvSpPr>
            <p:cNvPr id="448" name="Rectangle 200"/>
            <p:cNvSpPr>
              <a:spLocks noChangeArrowheads="1"/>
            </p:cNvSpPr>
            <p:nvPr/>
          </p:nvSpPr>
          <p:spPr bwMode="auto">
            <a:xfrm>
              <a:off x="8082405" y="7868369"/>
              <a:ext cx="1988045" cy="40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marL="101600" indent="-101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채용정보</a:t>
              </a:r>
              <a:r>
                <a:rPr lang="en-US" altLang="ko-KR" sz="70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인사발령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입찰공고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사규</a:t>
              </a:r>
              <a:r>
                <a:rPr lang="en-US" altLang="ko-KR" sz="70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규정</a:t>
              </a:r>
              <a:r>
                <a:rPr lang="en-US" altLang="ko-KR" sz="70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홍보정보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사회공헌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경영정보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2209288" y="5180182"/>
            <a:ext cx="944066" cy="210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ko-KR" altLang="en-US" sz="1050">
                <a:solidFill>
                  <a:srgbClr val="FFFFFF"/>
                </a:solidFill>
                <a:latin typeface="+mn-ea"/>
                <a:ea typeface="+mn-ea"/>
              </a:rPr>
              <a:t>그룹웨어</a:t>
            </a:r>
          </a:p>
        </p:txBody>
      </p:sp>
      <p:grpSp>
        <p:nvGrpSpPr>
          <p:cNvPr id="23" name="그룹 2285"/>
          <p:cNvGrpSpPr>
            <a:grpSpLocks/>
          </p:cNvGrpSpPr>
          <p:nvPr/>
        </p:nvGrpSpPr>
        <p:grpSpPr bwMode="auto">
          <a:xfrm>
            <a:off x="8606090" y="1169770"/>
            <a:ext cx="709553" cy="709698"/>
            <a:chOff x="11288652" y="1711160"/>
            <a:chExt cx="936000" cy="974725"/>
          </a:xfrm>
        </p:grpSpPr>
        <p:sp>
          <p:nvSpPr>
            <p:cNvPr id="440" name="AutoShape 295"/>
            <p:cNvSpPr>
              <a:spLocks noChangeArrowheads="1"/>
            </p:cNvSpPr>
            <p:nvPr/>
          </p:nvSpPr>
          <p:spPr bwMode="auto">
            <a:xfrm>
              <a:off x="11288652" y="1857210"/>
              <a:ext cx="936000" cy="828675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grpSp>
          <p:nvGrpSpPr>
            <p:cNvPr id="441" name="그룹 1097"/>
            <p:cNvGrpSpPr>
              <a:grpSpLocks/>
            </p:cNvGrpSpPr>
            <p:nvPr/>
          </p:nvGrpSpPr>
          <p:grpSpPr bwMode="auto">
            <a:xfrm>
              <a:off x="11294741" y="1711160"/>
              <a:ext cx="911575" cy="288925"/>
              <a:chOff x="4384576" y="5818120"/>
              <a:chExt cx="1094011" cy="433264"/>
            </a:xfrm>
          </p:grpSpPr>
          <p:pic>
            <p:nvPicPr>
              <p:cNvPr id="443" name="Picture 160" descr="아이콘6"/>
              <p:cNvPicPr preferRelativeResize="0"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03083" y="5818120"/>
                <a:ext cx="1075504" cy="433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Text Box 161"/>
              <p:cNvSpPr txBox="1">
                <a:spLocks noChangeArrowheads="1"/>
              </p:cNvSpPr>
              <p:nvPr/>
            </p:nvSpPr>
            <p:spPr bwMode="auto">
              <a:xfrm>
                <a:off x="4384576" y="5944306"/>
                <a:ext cx="1080120" cy="216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lnSpc>
                    <a:spcPct val="125000"/>
                  </a:lnSpc>
                </a:pPr>
                <a:r>
                  <a:rPr lang="en-US" altLang="ko-KR" sz="900" smtClean="0">
                    <a:solidFill>
                      <a:srgbClr val="FEFFFB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4</a:t>
                </a:r>
                <a:r>
                  <a:rPr lang="ko-KR" altLang="en-US" sz="900" smtClean="0">
                    <a:solidFill>
                      <a:srgbClr val="FEFFFB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대보험</a:t>
                </a:r>
                <a:endParaRPr lang="ko-KR" altLang="en-US" sz="900">
                  <a:solidFill>
                    <a:srgbClr val="FEFFFB"/>
                  </a:solidFill>
                  <a:latin typeface="+mn-ea"/>
                  <a:ea typeface="+mn-ea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442" name="Picture 194" descr="사람-돋보기_1-[Converted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1706" y="2112178"/>
              <a:ext cx="612182" cy="489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" name="Group 66"/>
          <p:cNvGrpSpPr>
            <a:grpSpLocks/>
          </p:cNvGrpSpPr>
          <p:nvPr/>
        </p:nvGrpSpPr>
        <p:grpSpPr bwMode="auto">
          <a:xfrm rot="16200000">
            <a:off x="7188154" y="5497057"/>
            <a:ext cx="681958" cy="518334"/>
            <a:chOff x="1119" y="2790"/>
            <a:chExt cx="2082" cy="511"/>
          </a:xfrm>
        </p:grpSpPr>
        <p:sp>
          <p:nvSpPr>
            <p:cNvPr id="438" name="AutoShape 142"/>
            <p:cNvSpPr>
              <a:spLocks noChangeAspect="1" noChangeArrowheads="1"/>
            </p:cNvSpPr>
            <p:nvPr/>
          </p:nvSpPr>
          <p:spPr bwMode="auto">
            <a:xfrm rot="5400000">
              <a:off x="1906" y="2003"/>
              <a:ext cx="507" cy="2082"/>
            </a:xfrm>
            <a:prstGeom prst="leftArrow">
              <a:avLst>
                <a:gd name="adj1" fmla="val 73602"/>
                <a:gd name="adj2" fmla="val 32954"/>
              </a:avLst>
            </a:prstGeom>
            <a:gradFill rotWithShape="1">
              <a:gsLst>
                <a:gs pos="0">
                  <a:srgbClr val="336699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439" name="AutoShape 143"/>
            <p:cNvSpPr>
              <a:spLocks noChangeAspect="1" noChangeArrowheads="1"/>
            </p:cNvSpPr>
            <p:nvPr/>
          </p:nvSpPr>
          <p:spPr bwMode="auto">
            <a:xfrm rot="5400000">
              <a:off x="1917" y="2325"/>
              <a:ext cx="486" cy="1466"/>
            </a:xfrm>
            <a:prstGeom prst="leftArrow">
              <a:avLst>
                <a:gd name="adj1" fmla="val 100000"/>
                <a:gd name="adj2" fmla="val 25514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endParaRPr lang="ko-KR" altLang="ko-KR" sz="1200">
                <a:latin typeface="+mn-ea"/>
                <a:ea typeface="+mn-ea"/>
              </a:endParaRPr>
            </a:p>
          </p:txBody>
        </p:sp>
      </p:grpSp>
      <p:grpSp>
        <p:nvGrpSpPr>
          <p:cNvPr id="25" name="그룹 2291"/>
          <p:cNvGrpSpPr>
            <a:grpSpLocks/>
          </p:cNvGrpSpPr>
          <p:nvPr/>
        </p:nvGrpSpPr>
        <p:grpSpPr bwMode="auto">
          <a:xfrm>
            <a:off x="7407066" y="5551637"/>
            <a:ext cx="482255" cy="421889"/>
            <a:chOff x="9782657" y="7846189"/>
            <a:chExt cx="796925" cy="728115"/>
          </a:xfrm>
        </p:grpSpPr>
        <p:grpSp>
          <p:nvGrpSpPr>
            <p:cNvPr id="434" name="Group 177"/>
            <p:cNvGrpSpPr>
              <a:grpSpLocks noChangeAspect="1"/>
            </p:cNvGrpSpPr>
            <p:nvPr/>
          </p:nvGrpSpPr>
          <p:grpSpPr bwMode="auto">
            <a:xfrm>
              <a:off x="9782657" y="7846189"/>
              <a:ext cx="796925" cy="728115"/>
              <a:chOff x="1303" y="4163"/>
              <a:chExt cx="672" cy="614"/>
            </a:xfrm>
          </p:grpSpPr>
          <p:pic>
            <p:nvPicPr>
              <p:cNvPr id="436" name="Picture 170" descr="도형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3" y="4534"/>
                <a:ext cx="672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7" name="Picture 172" descr="볼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63" t="42601" r="19640"/>
              <a:stretch>
                <a:fillRect/>
              </a:stretch>
            </p:blipFill>
            <p:spPr bwMode="auto">
              <a:xfrm>
                <a:off x="1361" y="4163"/>
                <a:ext cx="548" cy="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35" name="Picture 141" descr="2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7343" y="7940976"/>
              <a:ext cx="528637" cy="56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" name="Group 66"/>
          <p:cNvGrpSpPr>
            <a:grpSpLocks/>
          </p:cNvGrpSpPr>
          <p:nvPr/>
        </p:nvGrpSpPr>
        <p:grpSpPr bwMode="auto">
          <a:xfrm rot="16200000">
            <a:off x="5059494" y="5497057"/>
            <a:ext cx="681958" cy="518334"/>
            <a:chOff x="1119" y="2790"/>
            <a:chExt cx="2082" cy="511"/>
          </a:xfrm>
        </p:grpSpPr>
        <p:sp>
          <p:nvSpPr>
            <p:cNvPr id="432" name="AutoShape 142"/>
            <p:cNvSpPr>
              <a:spLocks noChangeAspect="1" noChangeArrowheads="1"/>
            </p:cNvSpPr>
            <p:nvPr/>
          </p:nvSpPr>
          <p:spPr bwMode="auto">
            <a:xfrm rot="5400000">
              <a:off x="1906" y="2003"/>
              <a:ext cx="507" cy="2082"/>
            </a:xfrm>
            <a:prstGeom prst="leftArrow">
              <a:avLst>
                <a:gd name="adj1" fmla="val 73602"/>
                <a:gd name="adj2" fmla="val 32954"/>
              </a:avLst>
            </a:prstGeom>
            <a:gradFill rotWithShape="1">
              <a:gsLst>
                <a:gs pos="0">
                  <a:srgbClr val="336699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433" name="AutoShape 143"/>
            <p:cNvSpPr>
              <a:spLocks noChangeAspect="1" noChangeArrowheads="1"/>
            </p:cNvSpPr>
            <p:nvPr/>
          </p:nvSpPr>
          <p:spPr bwMode="auto">
            <a:xfrm rot="5400000">
              <a:off x="1917" y="2325"/>
              <a:ext cx="486" cy="1466"/>
            </a:xfrm>
            <a:prstGeom prst="leftArrow">
              <a:avLst>
                <a:gd name="adj1" fmla="val 100000"/>
                <a:gd name="adj2" fmla="val 25514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endParaRPr lang="ko-KR" altLang="ko-KR" sz="1200">
                <a:latin typeface="+mn-ea"/>
                <a:ea typeface="+mn-ea"/>
              </a:endParaRPr>
            </a:p>
          </p:txBody>
        </p:sp>
      </p:grpSp>
      <p:grpSp>
        <p:nvGrpSpPr>
          <p:cNvPr id="27" name="그룹 2290"/>
          <p:cNvGrpSpPr>
            <a:grpSpLocks/>
          </p:cNvGrpSpPr>
          <p:nvPr/>
        </p:nvGrpSpPr>
        <p:grpSpPr bwMode="auto">
          <a:xfrm>
            <a:off x="5280812" y="5543545"/>
            <a:ext cx="493079" cy="432292"/>
            <a:chOff x="6756003" y="7843189"/>
            <a:chExt cx="796925" cy="728115"/>
          </a:xfrm>
        </p:grpSpPr>
        <p:grpSp>
          <p:nvGrpSpPr>
            <p:cNvPr id="428" name="Group 177"/>
            <p:cNvGrpSpPr>
              <a:grpSpLocks noChangeAspect="1"/>
            </p:cNvGrpSpPr>
            <p:nvPr/>
          </p:nvGrpSpPr>
          <p:grpSpPr bwMode="auto">
            <a:xfrm>
              <a:off x="6756003" y="7843189"/>
              <a:ext cx="796925" cy="728115"/>
              <a:chOff x="1303" y="4163"/>
              <a:chExt cx="672" cy="614"/>
            </a:xfrm>
          </p:grpSpPr>
          <p:pic>
            <p:nvPicPr>
              <p:cNvPr id="430" name="Picture 170" descr="도형6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3" y="4534"/>
                <a:ext cx="672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1" name="Picture 172" descr="볼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63" t="42601" r="19640"/>
              <a:stretch>
                <a:fillRect/>
              </a:stretch>
            </p:blipFill>
            <p:spPr bwMode="auto">
              <a:xfrm>
                <a:off x="1361" y="4163"/>
                <a:ext cx="548" cy="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29" name="Picture 144" descr="파일검색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65" t="14285" r="7465" b="19257"/>
            <a:stretch>
              <a:fillRect/>
            </a:stretch>
          </p:blipFill>
          <p:spPr bwMode="auto">
            <a:xfrm>
              <a:off x="6920677" y="7920079"/>
              <a:ext cx="495855" cy="488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" name="직사각형 27"/>
          <p:cNvSpPr/>
          <p:nvPr/>
        </p:nvSpPr>
        <p:spPr>
          <a:xfrm>
            <a:off x="5233909" y="5985084"/>
            <a:ext cx="692716" cy="172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내부사용자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7357758" y="5985084"/>
            <a:ext cx="692716" cy="172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외부사용자</a:t>
            </a:r>
          </a:p>
        </p:txBody>
      </p:sp>
      <p:grpSp>
        <p:nvGrpSpPr>
          <p:cNvPr id="30" name="그룹 1708"/>
          <p:cNvGrpSpPr>
            <a:grpSpLocks/>
          </p:cNvGrpSpPr>
          <p:nvPr/>
        </p:nvGrpSpPr>
        <p:grpSpPr bwMode="auto">
          <a:xfrm>
            <a:off x="4132297" y="4896264"/>
            <a:ext cx="790130" cy="293589"/>
            <a:chOff x="3640126" y="7269283"/>
            <a:chExt cx="1041608" cy="462555"/>
          </a:xfrm>
        </p:grpSpPr>
        <p:grpSp>
          <p:nvGrpSpPr>
            <p:cNvPr id="424" name="그룹 1709"/>
            <p:cNvGrpSpPr>
              <a:grpSpLocks noChangeAspect="1"/>
            </p:cNvGrpSpPr>
            <p:nvPr/>
          </p:nvGrpSpPr>
          <p:grpSpPr bwMode="auto">
            <a:xfrm>
              <a:off x="3640126" y="7269283"/>
              <a:ext cx="1041608" cy="462555"/>
              <a:chOff x="6603507" y="2471671"/>
              <a:chExt cx="869051" cy="527254"/>
            </a:xfrm>
          </p:grpSpPr>
          <p:sp>
            <p:nvSpPr>
              <p:cNvPr id="426" name="Freeform 30"/>
              <p:cNvSpPr>
                <a:spLocks/>
              </p:cNvSpPr>
              <p:nvPr/>
            </p:nvSpPr>
            <p:spPr bwMode="auto">
              <a:xfrm rot="3377044" flipH="1">
                <a:off x="7138882" y="2665248"/>
                <a:ext cx="457548" cy="20980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  <p:sp>
            <p:nvSpPr>
              <p:cNvPr id="427" name="Freeform 31"/>
              <p:cNvSpPr>
                <a:spLocks/>
              </p:cNvSpPr>
              <p:nvPr/>
            </p:nvSpPr>
            <p:spPr bwMode="auto">
              <a:xfrm rot="4493605" flipV="1">
                <a:off x="6447245" y="2627933"/>
                <a:ext cx="507280" cy="19475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</p:grpSp>
        <p:sp>
          <p:nvSpPr>
            <p:cNvPr id="425" name="직사각형 424"/>
            <p:cNvSpPr/>
            <p:nvPr/>
          </p:nvSpPr>
          <p:spPr>
            <a:xfrm>
              <a:off x="3687688" y="7369443"/>
              <a:ext cx="914776" cy="238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chemeClr val="tx1"/>
                  </a:solidFill>
                  <a:latin typeface="+mn-ea"/>
                </a:rPr>
                <a:t>SSO</a:t>
              </a: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1" name="그룹 1723"/>
          <p:cNvGrpSpPr>
            <a:grpSpLocks/>
          </p:cNvGrpSpPr>
          <p:nvPr/>
        </p:nvGrpSpPr>
        <p:grpSpPr bwMode="auto">
          <a:xfrm>
            <a:off x="2352401" y="4896264"/>
            <a:ext cx="692716" cy="293589"/>
            <a:chOff x="3687646" y="7269284"/>
            <a:chExt cx="914400" cy="462556"/>
          </a:xfrm>
        </p:grpSpPr>
        <p:grpSp>
          <p:nvGrpSpPr>
            <p:cNvPr id="420" name="그룹 1724"/>
            <p:cNvGrpSpPr>
              <a:grpSpLocks noChangeAspect="1"/>
            </p:cNvGrpSpPr>
            <p:nvPr/>
          </p:nvGrpSpPr>
          <p:grpSpPr bwMode="auto">
            <a:xfrm>
              <a:off x="3803827" y="7269284"/>
              <a:ext cx="689611" cy="462556"/>
              <a:chOff x="6740098" y="2471671"/>
              <a:chExt cx="575368" cy="527255"/>
            </a:xfrm>
          </p:grpSpPr>
          <p:sp>
            <p:nvSpPr>
              <p:cNvPr id="422" name="Freeform 30"/>
              <p:cNvSpPr>
                <a:spLocks/>
              </p:cNvSpPr>
              <p:nvPr/>
            </p:nvSpPr>
            <p:spPr bwMode="auto">
              <a:xfrm rot="3377044" flipH="1">
                <a:off x="6981790" y="2665249"/>
                <a:ext cx="457548" cy="20980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  <p:sp>
            <p:nvSpPr>
              <p:cNvPr id="423" name="Freeform 31"/>
              <p:cNvSpPr>
                <a:spLocks/>
              </p:cNvSpPr>
              <p:nvPr/>
            </p:nvSpPr>
            <p:spPr bwMode="auto">
              <a:xfrm rot="4493605" flipV="1">
                <a:off x="6583836" y="2627933"/>
                <a:ext cx="507280" cy="19475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</p:grpSp>
        <p:sp>
          <p:nvSpPr>
            <p:cNvPr id="421" name="직사각형 420"/>
            <p:cNvSpPr/>
            <p:nvPr/>
          </p:nvSpPr>
          <p:spPr>
            <a:xfrm>
              <a:off x="3687646" y="7369444"/>
              <a:ext cx="914400" cy="238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2" name="그룹 1728"/>
          <p:cNvGrpSpPr>
            <a:grpSpLocks/>
          </p:cNvGrpSpPr>
          <p:nvPr/>
        </p:nvGrpSpPr>
        <p:grpSpPr bwMode="auto">
          <a:xfrm>
            <a:off x="696377" y="4896264"/>
            <a:ext cx="692716" cy="293589"/>
            <a:chOff x="3687646" y="7269284"/>
            <a:chExt cx="914400" cy="462556"/>
          </a:xfrm>
        </p:grpSpPr>
        <p:grpSp>
          <p:nvGrpSpPr>
            <p:cNvPr id="416" name="그룹 1729"/>
            <p:cNvGrpSpPr>
              <a:grpSpLocks noChangeAspect="1"/>
            </p:cNvGrpSpPr>
            <p:nvPr/>
          </p:nvGrpSpPr>
          <p:grpSpPr bwMode="auto">
            <a:xfrm>
              <a:off x="3803827" y="7269284"/>
              <a:ext cx="689611" cy="462556"/>
              <a:chOff x="6740098" y="2471671"/>
              <a:chExt cx="575368" cy="527255"/>
            </a:xfrm>
          </p:grpSpPr>
          <p:sp>
            <p:nvSpPr>
              <p:cNvPr id="418" name="Freeform 30"/>
              <p:cNvSpPr>
                <a:spLocks/>
              </p:cNvSpPr>
              <p:nvPr/>
            </p:nvSpPr>
            <p:spPr bwMode="auto">
              <a:xfrm rot="3377044" flipH="1">
                <a:off x="6981790" y="2665249"/>
                <a:ext cx="457548" cy="20980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  <p:sp>
            <p:nvSpPr>
              <p:cNvPr id="419" name="Freeform 31"/>
              <p:cNvSpPr>
                <a:spLocks/>
              </p:cNvSpPr>
              <p:nvPr/>
            </p:nvSpPr>
            <p:spPr bwMode="auto">
              <a:xfrm rot="4493605" flipV="1">
                <a:off x="6583836" y="2627933"/>
                <a:ext cx="507280" cy="19475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</p:grpSp>
        <p:sp>
          <p:nvSpPr>
            <p:cNvPr id="417" name="직사각형 416"/>
            <p:cNvSpPr/>
            <p:nvPr/>
          </p:nvSpPr>
          <p:spPr>
            <a:xfrm>
              <a:off x="3687646" y="7369444"/>
              <a:ext cx="914400" cy="238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3" name="그룹 1733"/>
          <p:cNvGrpSpPr>
            <a:grpSpLocks/>
          </p:cNvGrpSpPr>
          <p:nvPr/>
        </p:nvGrpSpPr>
        <p:grpSpPr bwMode="auto">
          <a:xfrm>
            <a:off x="3404705" y="5448765"/>
            <a:ext cx="692716" cy="502800"/>
            <a:chOff x="3843942" y="7657913"/>
            <a:chExt cx="914400" cy="690989"/>
          </a:xfrm>
        </p:grpSpPr>
        <p:grpSp>
          <p:nvGrpSpPr>
            <p:cNvPr id="412" name="그룹 1734"/>
            <p:cNvGrpSpPr>
              <a:grpSpLocks noChangeAspect="1"/>
            </p:cNvGrpSpPr>
            <p:nvPr/>
          </p:nvGrpSpPr>
          <p:grpSpPr bwMode="auto">
            <a:xfrm>
              <a:off x="4065886" y="7657913"/>
              <a:ext cx="445032" cy="690989"/>
              <a:chOff x="6958711" y="2914660"/>
              <a:chExt cx="371305" cy="787640"/>
            </a:xfrm>
          </p:grpSpPr>
          <p:sp>
            <p:nvSpPr>
              <p:cNvPr id="414" name="Freeform 30"/>
              <p:cNvSpPr>
                <a:spLocks/>
              </p:cNvSpPr>
              <p:nvPr/>
            </p:nvSpPr>
            <p:spPr bwMode="auto">
              <a:xfrm rot="8224719" flipH="1">
                <a:off x="6994728" y="3415664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600">
                  <a:latin typeface="+mn-ea"/>
                </a:endParaRPr>
              </a:p>
            </p:txBody>
          </p:sp>
          <p:sp>
            <p:nvSpPr>
              <p:cNvPr id="415" name="Freeform 31"/>
              <p:cNvSpPr>
                <a:spLocks/>
              </p:cNvSpPr>
              <p:nvPr/>
            </p:nvSpPr>
            <p:spPr bwMode="auto">
              <a:xfrm rot="8812549" flipV="1">
                <a:off x="6958711" y="2914660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600">
                  <a:latin typeface="+mn-ea"/>
                </a:endParaRPr>
              </a:p>
            </p:txBody>
          </p:sp>
        </p:grpSp>
        <p:sp>
          <p:nvSpPr>
            <p:cNvPr id="413" name="직사각형 412"/>
            <p:cNvSpPr/>
            <p:nvPr/>
          </p:nvSpPr>
          <p:spPr>
            <a:xfrm>
              <a:off x="3843942" y="7875535"/>
              <a:ext cx="914400" cy="2382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chemeClr val="tx1"/>
                  </a:solidFill>
                  <a:latin typeface="+mn-ea"/>
                </a:rPr>
                <a:t>SSO</a:t>
              </a:r>
            </a:p>
            <a:p>
              <a:pPr algn="ctr"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4" name="그룹 1738"/>
          <p:cNvGrpSpPr>
            <a:grpSpLocks/>
          </p:cNvGrpSpPr>
          <p:nvPr/>
        </p:nvGrpSpPr>
        <p:grpSpPr bwMode="auto">
          <a:xfrm>
            <a:off x="6315076" y="4896264"/>
            <a:ext cx="692716" cy="293589"/>
            <a:chOff x="3687646" y="7269284"/>
            <a:chExt cx="914400" cy="462556"/>
          </a:xfrm>
        </p:grpSpPr>
        <p:grpSp>
          <p:nvGrpSpPr>
            <p:cNvPr id="408" name="그룹 1739"/>
            <p:cNvGrpSpPr>
              <a:grpSpLocks noChangeAspect="1"/>
            </p:cNvGrpSpPr>
            <p:nvPr/>
          </p:nvGrpSpPr>
          <p:grpSpPr bwMode="auto">
            <a:xfrm>
              <a:off x="3803827" y="7269284"/>
              <a:ext cx="689611" cy="462556"/>
              <a:chOff x="6740098" y="2471671"/>
              <a:chExt cx="575368" cy="527255"/>
            </a:xfrm>
          </p:grpSpPr>
          <p:sp>
            <p:nvSpPr>
              <p:cNvPr id="410" name="Freeform 30"/>
              <p:cNvSpPr>
                <a:spLocks/>
              </p:cNvSpPr>
              <p:nvPr/>
            </p:nvSpPr>
            <p:spPr bwMode="auto">
              <a:xfrm rot="3377044" flipH="1">
                <a:off x="6981790" y="2665249"/>
                <a:ext cx="457548" cy="20980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  <p:sp>
            <p:nvSpPr>
              <p:cNvPr id="411" name="Freeform 31"/>
              <p:cNvSpPr>
                <a:spLocks/>
              </p:cNvSpPr>
              <p:nvPr/>
            </p:nvSpPr>
            <p:spPr bwMode="auto">
              <a:xfrm rot="4493605" flipV="1">
                <a:off x="6583836" y="2627933"/>
                <a:ext cx="507280" cy="19475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</p:grpSp>
        <p:sp>
          <p:nvSpPr>
            <p:cNvPr id="409" name="직사각형 408"/>
            <p:cNvSpPr/>
            <p:nvPr/>
          </p:nvSpPr>
          <p:spPr>
            <a:xfrm>
              <a:off x="3687646" y="7369444"/>
              <a:ext cx="914400" cy="238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5" name="그룹 1743"/>
          <p:cNvGrpSpPr>
            <a:grpSpLocks/>
          </p:cNvGrpSpPr>
          <p:nvPr/>
        </p:nvGrpSpPr>
        <p:grpSpPr bwMode="auto">
          <a:xfrm>
            <a:off x="7930211" y="1326967"/>
            <a:ext cx="692716" cy="535164"/>
            <a:chOff x="3843942" y="7630495"/>
            <a:chExt cx="914400" cy="734532"/>
          </a:xfrm>
        </p:grpSpPr>
        <p:grpSp>
          <p:nvGrpSpPr>
            <p:cNvPr id="404" name="그룹 1744"/>
            <p:cNvGrpSpPr>
              <a:grpSpLocks noChangeAspect="1"/>
            </p:cNvGrpSpPr>
            <p:nvPr/>
          </p:nvGrpSpPr>
          <p:grpSpPr bwMode="auto">
            <a:xfrm>
              <a:off x="4065886" y="7630495"/>
              <a:ext cx="445032" cy="734532"/>
              <a:chOff x="6958711" y="2883406"/>
              <a:chExt cx="371305" cy="837273"/>
            </a:xfrm>
          </p:grpSpPr>
          <p:sp>
            <p:nvSpPr>
              <p:cNvPr id="406" name="Freeform 30"/>
              <p:cNvSpPr>
                <a:spLocks/>
              </p:cNvSpPr>
              <p:nvPr/>
            </p:nvSpPr>
            <p:spPr bwMode="auto">
              <a:xfrm rot="8720867" flipH="1">
                <a:off x="6994728" y="3434043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407" name="Freeform 31"/>
              <p:cNvSpPr>
                <a:spLocks/>
              </p:cNvSpPr>
              <p:nvPr/>
            </p:nvSpPr>
            <p:spPr bwMode="auto">
              <a:xfrm rot="9228400" flipV="1">
                <a:off x="6958711" y="2883406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405" name="직사각형 404"/>
            <p:cNvSpPr/>
            <p:nvPr/>
          </p:nvSpPr>
          <p:spPr>
            <a:xfrm>
              <a:off x="3843942" y="7876397"/>
              <a:ext cx="914400" cy="2379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smtClean="0">
                  <a:solidFill>
                    <a:schemeClr val="tx1"/>
                  </a:solidFill>
                  <a:latin typeface="+mn-ea"/>
                </a:rPr>
                <a:t>가입</a:t>
              </a:r>
              <a:r>
                <a:rPr lang="en-US" altLang="ko-KR" sz="700" smtClean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700" smtClean="0">
                  <a:solidFill>
                    <a:schemeClr val="tx1"/>
                  </a:solidFill>
                  <a:latin typeface="+mn-ea"/>
                </a:rPr>
                <a:t>탈퇴</a:t>
              </a: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6" name="그룹 1758"/>
          <p:cNvGrpSpPr>
            <a:grpSpLocks/>
          </p:cNvGrpSpPr>
          <p:nvPr/>
        </p:nvGrpSpPr>
        <p:grpSpPr bwMode="auto">
          <a:xfrm>
            <a:off x="7930211" y="2007769"/>
            <a:ext cx="692716" cy="535163"/>
            <a:chOff x="3843942" y="7630495"/>
            <a:chExt cx="914400" cy="734532"/>
          </a:xfrm>
        </p:grpSpPr>
        <p:grpSp>
          <p:nvGrpSpPr>
            <p:cNvPr id="400" name="그룹 1759"/>
            <p:cNvGrpSpPr>
              <a:grpSpLocks noChangeAspect="1"/>
            </p:cNvGrpSpPr>
            <p:nvPr/>
          </p:nvGrpSpPr>
          <p:grpSpPr bwMode="auto">
            <a:xfrm>
              <a:off x="4065886" y="7630495"/>
              <a:ext cx="445032" cy="734532"/>
              <a:chOff x="6958711" y="2883406"/>
              <a:chExt cx="371305" cy="837273"/>
            </a:xfrm>
          </p:grpSpPr>
          <p:sp>
            <p:nvSpPr>
              <p:cNvPr id="402" name="Freeform 30"/>
              <p:cNvSpPr>
                <a:spLocks/>
              </p:cNvSpPr>
              <p:nvPr/>
            </p:nvSpPr>
            <p:spPr bwMode="auto">
              <a:xfrm rot="8720867" flipH="1">
                <a:off x="6994728" y="3434043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403" name="Freeform 31"/>
              <p:cNvSpPr>
                <a:spLocks/>
              </p:cNvSpPr>
              <p:nvPr/>
            </p:nvSpPr>
            <p:spPr bwMode="auto">
              <a:xfrm rot="9228400" flipV="1">
                <a:off x="6958711" y="2883406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401" name="직사각형 400"/>
            <p:cNvSpPr/>
            <p:nvPr/>
          </p:nvSpPr>
          <p:spPr>
            <a:xfrm>
              <a:off x="3843942" y="7876396"/>
              <a:ext cx="914400" cy="2379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입찰공고</a:t>
              </a:r>
              <a:endParaRPr lang="en-US" altLang="ko-KR" sz="7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입찰결과</a:t>
              </a:r>
            </a:p>
          </p:txBody>
        </p:sp>
      </p:grpSp>
      <p:grpSp>
        <p:nvGrpSpPr>
          <p:cNvPr id="38" name="그룹 1768"/>
          <p:cNvGrpSpPr>
            <a:grpSpLocks/>
          </p:cNvGrpSpPr>
          <p:nvPr/>
        </p:nvGrpSpPr>
        <p:grpSpPr bwMode="auto">
          <a:xfrm>
            <a:off x="7930211" y="3414451"/>
            <a:ext cx="692716" cy="534008"/>
            <a:chOff x="3843942" y="7630495"/>
            <a:chExt cx="914400" cy="734532"/>
          </a:xfrm>
        </p:grpSpPr>
        <p:grpSp>
          <p:nvGrpSpPr>
            <p:cNvPr id="392" name="그룹 1769"/>
            <p:cNvGrpSpPr>
              <a:grpSpLocks noChangeAspect="1"/>
            </p:cNvGrpSpPr>
            <p:nvPr/>
          </p:nvGrpSpPr>
          <p:grpSpPr bwMode="auto">
            <a:xfrm>
              <a:off x="4065886" y="7630495"/>
              <a:ext cx="445032" cy="734532"/>
              <a:chOff x="6958711" y="2883406"/>
              <a:chExt cx="371305" cy="837273"/>
            </a:xfrm>
          </p:grpSpPr>
          <p:sp>
            <p:nvSpPr>
              <p:cNvPr id="394" name="Freeform 30"/>
              <p:cNvSpPr>
                <a:spLocks/>
              </p:cNvSpPr>
              <p:nvPr/>
            </p:nvSpPr>
            <p:spPr bwMode="auto">
              <a:xfrm rot="8720867" flipH="1">
                <a:off x="6994728" y="3434043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395" name="Freeform 31"/>
              <p:cNvSpPr>
                <a:spLocks/>
              </p:cNvSpPr>
              <p:nvPr/>
            </p:nvSpPr>
            <p:spPr bwMode="auto">
              <a:xfrm rot="9228400" flipV="1">
                <a:off x="6958711" y="2883406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393" name="직사각형 392"/>
            <p:cNvSpPr/>
            <p:nvPr/>
          </p:nvSpPr>
          <p:spPr>
            <a:xfrm>
              <a:off x="3843942" y="7875339"/>
              <a:ext cx="914400" cy="2384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출금의뢰</a:t>
              </a:r>
              <a:endParaRPr lang="en-US" altLang="ko-KR" sz="7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defRPr/>
              </a:pPr>
              <a:r>
                <a:rPr lang="ko-KR" altLang="en-US" sz="700" smtClean="0">
                  <a:solidFill>
                    <a:schemeClr val="tx1"/>
                  </a:solidFill>
                  <a:latin typeface="+mn-ea"/>
                </a:rPr>
                <a:t>예금주조회</a:t>
              </a: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9" name="그룹 1813"/>
          <p:cNvGrpSpPr>
            <a:grpSpLocks/>
          </p:cNvGrpSpPr>
          <p:nvPr/>
        </p:nvGrpSpPr>
        <p:grpSpPr bwMode="auto">
          <a:xfrm>
            <a:off x="7930211" y="4148422"/>
            <a:ext cx="692716" cy="534008"/>
            <a:chOff x="3843942" y="7630495"/>
            <a:chExt cx="914400" cy="734532"/>
          </a:xfrm>
        </p:grpSpPr>
        <p:grpSp>
          <p:nvGrpSpPr>
            <p:cNvPr id="388" name="그룹 1814"/>
            <p:cNvGrpSpPr>
              <a:grpSpLocks noChangeAspect="1"/>
            </p:cNvGrpSpPr>
            <p:nvPr/>
          </p:nvGrpSpPr>
          <p:grpSpPr bwMode="auto">
            <a:xfrm>
              <a:off x="4065886" y="7630495"/>
              <a:ext cx="445032" cy="734532"/>
              <a:chOff x="6958711" y="2883406"/>
              <a:chExt cx="371305" cy="837273"/>
            </a:xfrm>
          </p:grpSpPr>
          <p:sp>
            <p:nvSpPr>
              <p:cNvPr id="390" name="Freeform 30"/>
              <p:cNvSpPr>
                <a:spLocks/>
              </p:cNvSpPr>
              <p:nvPr/>
            </p:nvSpPr>
            <p:spPr bwMode="auto">
              <a:xfrm rot="8720867" flipH="1">
                <a:off x="6994728" y="3434043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391" name="Freeform 31"/>
              <p:cNvSpPr>
                <a:spLocks/>
              </p:cNvSpPr>
              <p:nvPr/>
            </p:nvSpPr>
            <p:spPr bwMode="auto">
              <a:xfrm rot="9228400" flipV="1">
                <a:off x="6958711" y="2883406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389" name="직사각형 388"/>
            <p:cNvSpPr/>
            <p:nvPr/>
          </p:nvSpPr>
          <p:spPr>
            <a:xfrm>
              <a:off x="3843942" y="7875339"/>
              <a:ext cx="914400" cy="2384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원천</a:t>
              </a: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부가세</a:t>
              </a:r>
              <a:endParaRPr lang="en-US" altLang="ko-KR" sz="7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세금계산서</a:t>
              </a:r>
            </a:p>
          </p:txBody>
        </p:sp>
      </p:grpSp>
      <p:grpSp>
        <p:nvGrpSpPr>
          <p:cNvPr id="40" name="그룹 1818"/>
          <p:cNvGrpSpPr>
            <a:grpSpLocks/>
          </p:cNvGrpSpPr>
          <p:nvPr/>
        </p:nvGrpSpPr>
        <p:grpSpPr bwMode="auto">
          <a:xfrm>
            <a:off x="7930211" y="2830752"/>
            <a:ext cx="692716" cy="447318"/>
            <a:chOff x="3843942" y="7693579"/>
            <a:chExt cx="914400" cy="614036"/>
          </a:xfrm>
        </p:grpSpPr>
        <p:grpSp>
          <p:nvGrpSpPr>
            <p:cNvPr id="384" name="그룹 1819"/>
            <p:cNvGrpSpPr>
              <a:grpSpLocks noChangeAspect="1"/>
            </p:cNvGrpSpPr>
            <p:nvPr/>
          </p:nvGrpSpPr>
          <p:grpSpPr bwMode="auto">
            <a:xfrm>
              <a:off x="4065886" y="7693579"/>
              <a:ext cx="445032" cy="614036"/>
              <a:chOff x="6958711" y="2955314"/>
              <a:chExt cx="371305" cy="699923"/>
            </a:xfrm>
          </p:grpSpPr>
          <p:sp>
            <p:nvSpPr>
              <p:cNvPr id="386" name="Freeform 30"/>
              <p:cNvSpPr>
                <a:spLocks/>
              </p:cNvSpPr>
              <p:nvPr/>
            </p:nvSpPr>
            <p:spPr bwMode="auto">
              <a:xfrm rot="8720867" flipH="1">
                <a:off x="6994728" y="3368601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387" name="Freeform 31"/>
              <p:cNvSpPr>
                <a:spLocks/>
              </p:cNvSpPr>
              <p:nvPr/>
            </p:nvSpPr>
            <p:spPr bwMode="auto">
              <a:xfrm rot="9228400" flipV="1">
                <a:off x="6958711" y="2955314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385" name="직사각형 384"/>
            <p:cNvSpPr/>
            <p:nvPr/>
          </p:nvSpPr>
          <p:spPr>
            <a:xfrm>
              <a:off x="3843942" y="7876044"/>
              <a:ext cx="914400" cy="237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smtClean="0">
                  <a:solidFill>
                    <a:schemeClr val="tx1"/>
                  </a:solidFill>
                  <a:latin typeface="+mn-ea"/>
                </a:rPr>
                <a:t>법인카드</a:t>
              </a: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42" name="그룹 2286"/>
          <p:cNvGrpSpPr>
            <a:grpSpLocks/>
          </p:cNvGrpSpPr>
          <p:nvPr/>
        </p:nvGrpSpPr>
        <p:grpSpPr bwMode="auto">
          <a:xfrm>
            <a:off x="8597672" y="1877156"/>
            <a:ext cx="708350" cy="708543"/>
            <a:chOff x="11277077" y="2712872"/>
            <a:chExt cx="936000" cy="973138"/>
          </a:xfrm>
        </p:grpSpPr>
        <p:sp>
          <p:nvSpPr>
            <p:cNvPr id="373" name="AutoShape 295"/>
            <p:cNvSpPr>
              <a:spLocks noChangeArrowheads="1"/>
            </p:cNvSpPr>
            <p:nvPr/>
          </p:nvSpPr>
          <p:spPr bwMode="auto">
            <a:xfrm>
              <a:off x="11277077" y="2858922"/>
              <a:ext cx="936000" cy="827088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grpSp>
          <p:nvGrpSpPr>
            <p:cNvPr id="374" name="그룹 1444"/>
            <p:cNvGrpSpPr>
              <a:grpSpLocks/>
            </p:cNvGrpSpPr>
            <p:nvPr/>
          </p:nvGrpSpPr>
          <p:grpSpPr bwMode="auto">
            <a:xfrm>
              <a:off x="11294739" y="2712872"/>
              <a:ext cx="900000" cy="287338"/>
              <a:chOff x="4384576" y="5818120"/>
              <a:chExt cx="1080120" cy="433264"/>
            </a:xfrm>
          </p:grpSpPr>
          <p:pic>
            <p:nvPicPr>
              <p:cNvPr id="378" name="Picture 160" descr="아이콘6"/>
              <p:cNvPicPr preferRelativeResize="0"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9192" y="5818120"/>
                <a:ext cx="1075504" cy="433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" name="Text Box 161"/>
              <p:cNvSpPr txBox="1">
                <a:spLocks noChangeArrowheads="1"/>
              </p:cNvSpPr>
              <p:nvPr/>
            </p:nvSpPr>
            <p:spPr bwMode="auto">
              <a:xfrm>
                <a:off x="4384576" y="5926949"/>
                <a:ext cx="1080120" cy="216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lnSpc>
                    <a:spcPct val="125000"/>
                  </a:lnSpc>
                </a:pPr>
                <a:r>
                  <a:rPr lang="ko-KR" altLang="en-US" sz="900">
                    <a:solidFill>
                      <a:srgbClr val="FEFFFB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나라장터</a:t>
                </a:r>
              </a:p>
            </p:txBody>
          </p:sp>
        </p:grpSp>
        <p:grpSp>
          <p:nvGrpSpPr>
            <p:cNvPr id="375" name="그룹 2277"/>
            <p:cNvGrpSpPr>
              <a:grpSpLocks/>
            </p:cNvGrpSpPr>
            <p:nvPr/>
          </p:nvGrpSpPr>
          <p:grpSpPr bwMode="auto">
            <a:xfrm>
              <a:off x="11440292" y="3050661"/>
              <a:ext cx="612182" cy="569912"/>
              <a:chOff x="11442427" y="3050661"/>
              <a:chExt cx="612182" cy="569912"/>
            </a:xfrm>
          </p:grpSpPr>
          <p:pic>
            <p:nvPicPr>
              <p:cNvPr id="376" name="Picture 194" descr="사람-돋보기_1-[Converted]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42427" y="3131004"/>
                <a:ext cx="612182" cy="489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7" name="Picture 188" descr="building10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32" t="37270" r="37549" b="39886"/>
              <a:stretch>
                <a:fillRect/>
              </a:stretch>
            </p:blipFill>
            <p:spPr bwMode="auto">
              <a:xfrm>
                <a:off x="11490265" y="3050661"/>
                <a:ext cx="526031" cy="557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4" name="그룹 2288"/>
          <p:cNvGrpSpPr>
            <a:grpSpLocks/>
          </p:cNvGrpSpPr>
          <p:nvPr/>
        </p:nvGrpSpPr>
        <p:grpSpPr bwMode="auto">
          <a:xfrm>
            <a:off x="8597672" y="3289618"/>
            <a:ext cx="708350" cy="708543"/>
            <a:chOff x="11277077" y="4738522"/>
            <a:chExt cx="936000" cy="973138"/>
          </a:xfrm>
        </p:grpSpPr>
        <p:sp>
          <p:nvSpPr>
            <p:cNvPr id="255" name="AutoShape 295"/>
            <p:cNvSpPr>
              <a:spLocks noChangeArrowheads="1"/>
            </p:cNvSpPr>
            <p:nvPr/>
          </p:nvSpPr>
          <p:spPr bwMode="auto">
            <a:xfrm>
              <a:off x="11277077" y="4884572"/>
              <a:ext cx="936000" cy="827088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grpSp>
          <p:nvGrpSpPr>
            <p:cNvPr id="256" name="그룹 1452"/>
            <p:cNvGrpSpPr>
              <a:grpSpLocks/>
            </p:cNvGrpSpPr>
            <p:nvPr/>
          </p:nvGrpSpPr>
          <p:grpSpPr bwMode="auto">
            <a:xfrm>
              <a:off x="11294739" y="4738522"/>
              <a:ext cx="900000" cy="287338"/>
              <a:chOff x="4384576" y="5818120"/>
              <a:chExt cx="1080120" cy="433264"/>
            </a:xfrm>
          </p:grpSpPr>
          <p:pic>
            <p:nvPicPr>
              <p:cNvPr id="260" name="Picture 160" descr="아이콘6"/>
              <p:cNvPicPr preferRelativeResize="0"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9192" y="5818120"/>
                <a:ext cx="1075504" cy="433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1" name="Text Box 161"/>
              <p:cNvSpPr txBox="1">
                <a:spLocks noChangeArrowheads="1"/>
              </p:cNvSpPr>
              <p:nvPr/>
            </p:nvSpPr>
            <p:spPr bwMode="auto">
              <a:xfrm>
                <a:off x="4384576" y="5926949"/>
                <a:ext cx="1080120" cy="216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lnSpc>
                    <a:spcPct val="125000"/>
                  </a:lnSpc>
                </a:pPr>
                <a:r>
                  <a:rPr lang="ko-KR" altLang="en-US" sz="900">
                    <a:solidFill>
                      <a:srgbClr val="FEFFFB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금융기관</a:t>
                </a:r>
              </a:p>
            </p:txBody>
          </p:sp>
        </p:grpSp>
        <p:grpSp>
          <p:nvGrpSpPr>
            <p:cNvPr id="257" name="그룹 2279"/>
            <p:cNvGrpSpPr>
              <a:grpSpLocks/>
            </p:cNvGrpSpPr>
            <p:nvPr/>
          </p:nvGrpSpPr>
          <p:grpSpPr bwMode="auto">
            <a:xfrm>
              <a:off x="11424121" y="5000723"/>
              <a:ext cx="644525" cy="641748"/>
              <a:chOff x="11439287" y="5000723"/>
              <a:chExt cx="644525" cy="641748"/>
            </a:xfrm>
          </p:grpSpPr>
          <p:pic>
            <p:nvPicPr>
              <p:cNvPr id="258" name="Picture 194" descr="사람-돋보기_1-[Converted]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61311" y="5147940"/>
                <a:ext cx="612182" cy="489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" name="Picture 15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39287" y="5000723"/>
                <a:ext cx="644525" cy="641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</p:pic>
        </p:grpSp>
      </p:grpSp>
      <p:grpSp>
        <p:nvGrpSpPr>
          <p:cNvPr id="45" name="그룹 3"/>
          <p:cNvGrpSpPr>
            <a:grpSpLocks/>
          </p:cNvGrpSpPr>
          <p:nvPr/>
        </p:nvGrpSpPr>
        <p:grpSpPr bwMode="auto">
          <a:xfrm>
            <a:off x="8597672" y="3995849"/>
            <a:ext cx="708350" cy="709698"/>
            <a:chOff x="11358563" y="5732463"/>
            <a:chExt cx="935037" cy="974725"/>
          </a:xfrm>
        </p:grpSpPr>
        <p:grpSp>
          <p:nvGrpSpPr>
            <p:cNvPr id="247" name="그룹 2289"/>
            <p:cNvGrpSpPr>
              <a:grpSpLocks/>
            </p:cNvGrpSpPr>
            <p:nvPr/>
          </p:nvGrpSpPr>
          <p:grpSpPr bwMode="auto">
            <a:xfrm>
              <a:off x="11358563" y="5732463"/>
              <a:ext cx="935037" cy="974725"/>
              <a:chOff x="11277077" y="5751347"/>
              <a:chExt cx="936000" cy="974725"/>
            </a:xfrm>
          </p:grpSpPr>
          <p:sp>
            <p:nvSpPr>
              <p:cNvPr id="251" name="AutoShape 295"/>
              <p:cNvSpPr>
                <a:spLocks noChangeArrowheads="1"/>
              </p:cNvSpPr>
              <p:nvPr/>
            </p:nvSpPr>
            <p:spPr bwMode="auto">
              <a:xfrm>
                <a:off x="11277077" y="5897397"/>
                <a:ext cx="936000" cy="828675"/>
              </a:xfrm>
              <a:prstGeom prst="roundRect">
                <a:avLst>
                  <a:gd name="adj" fmla="val 1023"/>
                </a:avLst>
              </a:prstGeom>
              <a:gradFill rotWithShape="0">
                <a:gsLst>
                  <a:gs pos="0">
                    <a:srgbClr val="D7EBF5"/>
                  </a:gs>
                  <a:gs pos="100000">
                    <a:srgbClr val="EDF4F8"/>
                  </a:gs>
                </a:gsLst>
                <a:lin ang="5400000" scaled="1"/>
              </a:gradFill>
              <a:ln w="9525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/>
                <a:endParaRPr lang="ko-KR" altLang="en-US" sz="11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252" name="그룹 1457"/>
              <p:cNvGrpSpPr>
                <a:grpSpLocks/>
              </p:cNvGrpSpPr>
              <p:nvPr/>
            </p:nvGrpSpPr>
            <p:grpSpPr bwMode="auto">
              <a:xfrm>
                <a:off x="11294739" y="5751347"/>
                <a:ext cx="900000" cy="287338"/>
                <a:chOff x="4384576" y="5818120"/>
                <a:chExt cx="1080120" cy="433264"/>
              </a:xfrm>
            </p:grpSpPr>
            <p:pic>
              <p:nvPicPr>
                <p:cNvPr id="253" name="Picture 160" descr="아이콘6"/>
                <p:cNvPicPr preferRelativeResize="0"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89192" y="5818120"/>
                  <a:ext cx="1075504" cy="433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4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4384576" y="5944403"/>
                  <a:ext cx="1080120" cy="2160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eaLnBrk="1" hangingPunct="1">
                    <a:lnSpc>
                      <a:spcPct val="125000"/>
                    </a:lnSpc>
                  </a:pPr>
                  <a:r>
                    <a:rPr lang="ko-KR" altLang="en-US" sz="900">
                      <a:solidFill>
                        <a:srgbClr val="FEFFFB"/>
                      </a:solidFill>
                      <a:latin typeface="+mn-ea"/>
                      <a:ea typeface="+mn-ea"/>
                      <a:cs typeface="Arial" panose="020B0604020202020204" pitchFamily="34" charset="0"/>
                    </a:rPr>
                    <a:t>국세청</a:t>
                  </a:r>
                </a:p>
              </p:txBody>
            </p:sp>
          </p:grpSp>
        </p:grpSp>
        <p:grpSp>
          <p:nvGrpSpPr>
            <p:cNvPr id="248" name="그룹 463"/>
            <p:cNvGrpSpPr>
              <a:grpSpLocks/>
            </p:cNvGrpSpPr>
            <p:nvPr/>
          </p:nvGrpSpPr>
          <p:grpSpPr bwMode="auto">
            <a:xfrm>
              <a:off x="11536876" y="6059488"/>
              <a:ext cx="611552" cy="558047"/>
              <a:chOff x="7417781" y="6370835"/>
              <a:chExt cx="611552" cy="558047"/>
            </a:xfrm>
          </p:grpSpPr>
          <p:pic>
            <p:nvPicPr>
              <p:cNvPr id="249" name="Picture 194" descr="사람-돋보기_1-[Converted]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17781" y="6434312"/>
                <a:ext cx="611552" cy="489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0" name="Picture 193" descr="b1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5325" y="6370835"/>
                <a:ext cx="534755" cy="5580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6" name="그룹 2"/>
          <p:cNvGrpSpPr>
            <a:grpSpLocks/>
          </p:cNvGrpSpPr>
          <p:nvPr/>
        </p:nvGrpSpPr>
        <p:grpSpPr bwMode="auto">
          <a:xfrm>
            <a:off x="8597672" y="2564904"/>
            <a:ext cx="708350" cy="750153"/>
            <a:chOff x="11358563" y="6797675"/>
            <a:chExt cx="935037" cy="1030288"/>
          </a:xfrm>
        </p:grpSpPr>
        <p:sp>
          <p:nvSpPr>
            <p:cNvPr id="241" name="AutoShape 295"/>
            <p:cNvSpPr>
              <a:spLocks noChangeArrowheads="1"/>
            </p:cNvSpPr>
            <p:nvPr/>
          </p:nvSpPr>
          <p:spPr bwMode="auto">
            <a:xfrm>
              <a:off x="11358563" y="6999141"/>
              <a:ext cx="935037" cy="828822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42" name="AutoShape 295"/>
            <p:cNvSpPr>
              <a:spLocks noChangeArrowheads="1"/>
            </p:cNvSpPr>
            <p:nvPr/>
          </p:nvSpPr>
          <p:spPr bwMode="auto">
            <a:xfrm>
              <a:off x="11484839" y="6944749"/>
              <a:ext cx="685094" cy="568258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pic>
          <p:nvPicPr>
            <p:cNvPr id="243" name="Picture 160" descr="아이콘6"/>
            <p:cNvPicPr preferRelativeResize="0"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80049" y="6797675"/>
              <a:ext cx="895232" cy="387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4" name="Text Box 161"/>
            <p:cNvSpPr txBox="1">
              <a:spLocks noChangeArrowheads="1"/>
            </p:cNvSpPr>
            <p:nvPr/>
          </p:nvSpPr>
          <p:spPr bwMode="auto">
            <a:xfrm>
              <a:off x="11376205" y="6904491"/>
              <a:ext cx="899074" cy="193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lnSpc>
                  <a:spcPts val="1000"/>
                </a:lnSpc>
              </a:pPr>
              <a:r>
                <a:rPr lang="ko-KR" altLang="en-US" sz="900" smtClean="0">
                  <a:solidFill>
                    <a:srgbClr val="FEFFFB"/>
                  </a:solidFill>
                  <a:latin typeface="+mn-ea"/>
                  <a:ea typeface="+mn-ea"/>
                  <a:cs typeface="Arial" panose="020B0604020202020204" pitchFamily="34" charset="0"/>
                </a:rPr>
                <a:t>카드사</a:t>
              </a:r>
              <a:endParaRPr lang="ko-KR" altLang="en-US" sz="900">
                <a:solidFill>
                  <a:srgbClr val="FEFFFB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45" name="Picture 194" descr="사람-돋보기_1-[Converted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13368" y="7263359"/>
              <a:ext cx="611552" cy="489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" name="Picture 169" descr="C:\Users\Administrator\AppData\Local\Microsoft\Windows\Temporary Internet Files\Content.IE5\3RJFPI9I\MC900202496[1].wmf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0007" y="7220464"/>
              <a:ext cx="570912" cy="4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6375207" y="4178475"/>
            <a:ext cx="1453982" cy="665776"/>
          </a:xfrm>
          <a:prstGeom prst="rect">
            <a:avLst/>
          </a:prstGeom>
          <a:ln w="3175"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52" name="Rectangle 63"/>
          <p:cNvSpPr>
            <a:spLocks noChangeArrowheads="1"/>
          </p:cNvSpPr>
          <p:nvPr/>
        </p:nvSpPr>
        <p:spPr bwMode="auto">
          <a:xfrm>
            <a:off x="6597694" y="4178475"/>
            <a:ext cx="1007806" cy="14679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dirty="0">
                <a:latin typeface="+mn-ea"/>
              </a:rPr>
              <a:t>시스템운영관리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53" name="Rectangle 63"/>
          <p:cNvSpPr>
            <a:spLocks noChangeArrowheads="1"/>
          </p:cNvSpPr>
          <p:nvPr/>
        </p:nvSpPr>
        <p:spPr bwMode="auto">
          <a:xfrm>
            <a:off x="6475026" y="4606143"/>
            <a:ext cx="620558" cy="180314"/>
          </a:xfrm>
          <a:prstGeom prst="rect">
            <a:avLst/>
          </a:prstGeom>
          <a:solidFill>
            <a:schemeClr val="bg1"/>
          </a:solidFill>
          <a:ln w="3175"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schemeClr val="tx1"/>
                </a:solidFill>
                <a:latin typeface="+mn-ea"/>
              </a:rPr>
              <a:t>정보자산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4" name="Rectangle 63"/>
          <p:cNvSpPr>
            <a:spLocks noChangeArrowheads="1"/>
          </p:cNvSpPr>
          <p:nvPr/>
        </p:nvSpPr>
        <p:spPr bwMode="auto">
          <a:xfrm>
            <a:off x="7114826" y="4415426"/>
            <a:ext cx="620558" cy="181470"/>
          </a:xfrm>
          <a:prstGeom prst="rect">
            <a:avLst/>
          </a:prstGeom>
          <a:solidFill>
            <a:schemeClr val="bg1"/>
          </a:solidFill>
          <a:ln w="3175"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schemeClr val="tx1"/>
                </a:solidFill>
                <a:latin typeface="+mn-ea"/>
              </a:rPr>
              <a:t>메뉴권한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Rectangle 63"/>
          <p:cNvSpPr>
            <a:spLocks noChangeArrowheads="1"/>
          </p:cNvSpPr>
          <p:nvPr/>
        </p:nvSpPr>
        <p:spPr bwMode="auto">
          <a:xfrm>
            <a:off x="7114826" y="4606143"/>
            <a:ext cx="620558" cy="180314"/>
          </a:xfrm>
          <a:prstGeom prst="rect">
            <a:avLst/>
          </a:prstGeom>
          <a:solidFill>
            <a:schemeClr val="bg1"/>
          </a:solidFill>
          <a:ln w="3175"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schemeClr val="tx1"/>
                </a:solidFill>
                <a:latin typeface="+mn-ea"/>
              </a:rPr>
              <a:t>현황관리</a:t>
            </a:r>
            <a:endParaRPr kumimoji="0" lang="en-US" altLang="ko-KR" sz="900" dirty="0">
              <a:latin typeface="+mn-ea"/>
            </a:endParaRPr>
          </a:p>
        </p:txBody>
      </p:sp>
      <p:pic>
        <p:nvPicPr>
          <p:cNvPr id="56" name="Picture 2" descr="D:\r2_Work\00 제안서\국회의사당2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217" y="1444864"/>
            <a:ext cx="394463" cy="283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429392" y="5243022"/>
            <a:ext cx="1206240" cy="920065"/>
          </a:xfrm>
          <a:prstGeom prst="rect">
            <a:avLst/>
          </a:prstGeom>
          <a:ln w="3175">
            <a:solidFill>
              <a:srgbClr val="3281A8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58" name="Rectangle 63"/>
          <p:cNvSpPr>
            <a:spLocks noChangeArrowheads="1"/>
          </p:cNvSpPr>
          <p:nvPr/>
        </p:nvSpPr>
        <p:spPr bwMode="auto">
          <a:xfrm>
            <a:off x="528008" y="5230308"/>
            <a:ext cx="1009008" cy="157197"/>
          </a:xfrm>
          <a:prstGeom prst="rect">
            <a:avLst/>
          </a:prstGeom>
          <a:solidFill>
            <a:srgbClr val="3281A8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dirty="0">
                <a:latin typeface="+mn-ea"/>
              </a:rPr>
              <a:t>전자증빙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59" name="Rectangle 200"/>
          <p:cNvSpPr>
            <a:spLocks noChangeArrowheads="1"/>
          </p:cNvSpPr>
          <p:nvPr/>
        </p:nvSpPr>
        <p:spPr bwMode="auto">
          <a:xfrm>
            <a:off x="515982" y="5440674"/>
            <a:ext cx="1030656" cy="29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스캔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뷰어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증빙관리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문서출력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첨부파일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1727032" y="5230308"/>
            <a:ext cx="1854459" cy="920065"/>
          </a:xfrm>
          <a:prstGeom prst="rect">
            <a:avLst/>
          </a:prstGeom>
          <a:ln w="3175">
            <a:solidFill>
              <a:srgbClr val="3281A8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61" name="Rectangle 63"/>
          <p:cNvSpPr>
            <a:spLocks noChangeArrowheads="1"/>
          </p:cNvSpPr>
          <p:nvPr/>
        </p:nvSpPr>
        <p:spPr bwMode="auto">
          <a:xfrm>
            <a:off x="2196059" y="5217593"/>
            <a:ext cx="1009009" cy="157197"/>
          </a:xfrm>
          <a:prstGeom prst="rect">
            <a:avLst/>
          </a:prstGeom>
          <a:solidFill>
            <a:srgbClr val="3281A8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dirty="0">
                <a:latin typeface="+mn-ea"/>
              </a:rPr>
              <a:t>그룹웨어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62" name="Rectangle 200"/>
          <p:cNvSpPr>
            <a:spLocks noChangeArrowheads="1"/>
          </p:cNvSpPr>
          <p:nvPr/>
        </p:nvSpPr>
        <p:spPr bwMode="auto">
          <a:xfrm>
            <a:off x="1712640" y="5350074"/>
            <a:ext cx="839076" cy="71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전자문서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문서수발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자원관리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게시판관리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일정관리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3" name="Rectangle 200"/>
          <p:cNvSpPr>
            <a:spLocks noChangeArrowheads="1"/>
          </p:cNvSpPr>
          <p:nvPr/>
        </p:nvSpPr>
        <p:spPr bwMode="auto">
          <a:xfrm>
            <a:off x="2364428" y="5347763"/>
            <a:ext cx="751642" cy="71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전자결재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웹메일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메신저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SMS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설문조사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4" name="Rectangle 200"/>
          <p:cNvSpPr>
            <a:spLocks noChangeArrowheads="1"/>
          </p:cNvSpPr>
          <p:nvPr/>
        </p:nvSpPr>
        <p:spPr bwMode="auto">
          <a:xfrm>
            <a:off x="2887573" y="5347763"/>
            <a:ext cx="892353" cy="71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커뮤니티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조직도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My page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사용자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권한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시스템관리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5" name="Rectangle 4"/>
          <p:cNvSpPr>
            <a:spLocks noChangeArrowheads="1"/>
          </p:cNvSpPr>
          <p:nvPr/>
        </p:nvSpPr>
        <p:spPr bwMode="auto">
          <a:xfrm>
            <a:off x="3914621" y="5230308"/>
            <a:ext cx="1226685" cy="920065"/>
          </a:xfrm>
          <a:prstGeom prst="rect">
            <a:avLst/>
          </a:prstGeom>
          <a:ln w="3175">
            <a:solidFill>
              <a:srgbClr val="3281A8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66" name="Rectangle 63"/>
          <p:cNvSpPr>
            <a:spLocks noChangeArrowheads="1"/>
          </p:cNvSpPr>
          <p:nvPr/>
        </p:nvSpPr>
        <p:spPr bwMode="auto">
          <a:xfrm>
            <a:off x="4194834" y="5217593"/>
            <a:ext cx="667461" cy="157197"/>
          </a:xfrm>
          <a:prstGeom prst="rect">
            <a:avLst/>
          </a:prstGeom>
          <a:solidFill>
            <a:srgbClr val="3281A8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>
                <a:latin typeface="+mn-ea"/>
              </a:rPr>
              <a:t>포털시스템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67" name="Rectangle 200"/>
          <p:cNvSpPr>
            <a:spLocks noChangeArrowheads="1"/>
          </p:cNvSpPr>
          <p:nvPr/>
        </p:nvSpPr>
        <p:spPr bwMode="auto">
          <a:xfrm>
            <a:off x="3840512" y="5389816"/>
            <a:ext cx="1412758" cy="29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SSO 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통합로그인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다양한 포틀릿 제공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전자결재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전자문서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정보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메일정보 및 관리기능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2" name="Rectangle 4"/>
          <p:cNvSpPr>
            <a:spLocks noChangeArrowheads="1"/>
          </p:cNvSpPr>
          <p:nvPr/>
        </p:nvSpPr>
        <p:spPr bwMode="auto">
          <a:xfrm>
            <a:off x="2139535" y="4178475"/>
            <a:ext cx="2813465" cy="665776"/>
          </a:xfrm>
          <a:prstGeom prst="rect">
            <a:avLst/>
          </a:prstGeom>
          <a:ln w="3175"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73" name="Rectangle 63"/>
          <p:cNvSpPr>
            <a:spLocks noChangeArrowheads="1"/>
          </p:cNvSpPr>
          <p:nvPr/>
        </p:nvSpPr>
        <p:spPr bwMode="auto">
          <a:xfrm>
            <a:off x="3008784" y="4178475"/>
            <a:ext cx="1010211" cy="14679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smtClean="0">
                <a:latin typeface="+mn-ea"/>
              </a:rPr>
              <a:t>지속가능 경영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74" name="Rectangle 63"/>
          <p:cNvSpPr>
            <a:spLocks noChangeArrowheads="1"/>
          </p:cNvSpPr>
          <p:nvPr/>
        </p:nvSpPr>
        <p:spPr bwMode="auto">
          <a:xfrm>
            <a:off x="2244164" y="4415426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경영공시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Rectangle 63"/>
          <p:cNvSpPr>
            <a:spLocks noChangeArrowheads="1"/>
          </p:cNvSpPr>
          <p:nvPr/>
        </p:nvSpPr>
        <p:spPr bwMode="auto">
          <a:xfrm>
            <a:off x="2876749" y="4415426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홍보관리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Rectangle 63"/>
          <p:cNvSpPr>
            <a:spLocks noChangeArrowheads="1"/>
          </p:cNvSpPr>
          <p:nvPr/>
        </p:nvSpPr>
        <p:spPr bwMode="auto">
          <a:xfrm>
            <a:off x="3510537" y="4415426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비서행정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Rectangle 63"/>
          <p:cNvSpPr>
            <a:spLocks noChangeArrowheads="1"/>
          </p:cNvSpPr>
          <p:nvPr/>
        </p:nvSpPr>
        <p:spPr bwMode="auto">
          <a:xfrm>
            <a:off x="2244164" y="4604987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smtClean="0">
                <a:solidFill>
                  <a:schemeClr val="tx1"/>
                </a:solidFill>
                <a:latin typeface="+mn-ea"/>
              </a:rPr>
              <a:t>경영평가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Rectangle 63"/>
          <p:cNvSpPr>
            <a:spLocks noChangeArrowheads="1"/>
          </p:cNvSpPr>
          <p:nvPr/>
        </p:nvSpPr>
        <p:spPr bwMode="auto">
          <a:xfrm>
            <a:off x="2876749" y="4604987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사회가치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Rectangle 63"/>
          <p:cNvSpPr>
            <a:spLocks noChangeArrowheads="1"/>
          </p:cNvSpPr>
          <p:nvPr/>
        </p:nvSpPr>
        <p:spPr bwMode="auto">
          <a:xfrm>
            <a:off x="3510537" y="4604987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국정감사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Rectangle 63"/>
          <p:cNvSpPr>
            <a:spLocks noChangeArrowheads="1"/>
          </p:cNvSpPr>
          <p:nvPr/>
        </p:nvSpPr>
        <p:spPr bwMode="auto">
          <a:xfrm>
            <a:off x="4161744" y="4604987"/>
            <a:ext cx="624166" cy="181470"/>
          </a:xfrm>
          <a:prstGeom prst="rect">
            <a:avLst/>
          </a:prstGeom>
          <a:ln w="3175">
            <a:noFill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900" smtClean="0">
                <a:solidFill>
                  <a:schemeClr val="tx1"/>
                </a:solidFill>
                <a:latin typeface="+mn-ea"/>
              </a:rPr>
              <a:t>VOC/CS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Rectangle 63"/>
          <p:cNvSpPr>
            <a:spLocks noChangeArrowheads="1"/>
          </p:cNvSpPr>
          <p:nvPr/>
        </p:nvSpPr>
        <p:spPr bwMode="auto">
          <a:xfrm>
            <a:off x="6472620" y="4413114"/>
            <a:ext cx="622964" cy="181470"/>
          </a:xfrm>
          <a:prstGeom prst="rect">
            <a:avLst/>
          </a:prstGeom>
          <a:solidFill>
            <a:schemeClr val="bg1"/>
          </a:solidFill>
          <a:ln w="3175"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latin typeface="+mn-ea"/>
              </a:rPr>
              <a:t>보안신청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87" name="모서리가 둥근 직사각형 86"/>
          <p:cNvSpPr/>
          <p:nvPr/>
        </p:nvSpPr>
        <p:spPr bwMode="auto">
          <a:xfrm>
            <a:off x="579721" y="1365111"/>
            <a:ext cx="1197474" cy="1289939"/>
          </a:xfrm>
          <a:prstGeom prst="roundRect">
            <a:avLst>
              <a:gd name="adj" fmla="val 6702"/>
            </a:avLst>
          </a:prstGeom>
          <a:solidFill>
            <a:schemeClr val="lt1"/>
          </a:solidFill>
          <a:ln w="31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+mn-ea"/>
            </a:endParaRPr>
          </a:p>
        </p:txBody>
      </p:sp>
      <p:sp>
        <p:nvSpPr>
          <p:cNvPr id="94" name="Text Box 121"/>
          <p:cNvSpPr txBox="1">
            <a:spLocks noChangeArrowheads="1"/>
          </p:cNvSpPr>
          <p:nvPr/>
        </p:nvSpPr>
        <p:spPr bwMode="auto">
          <a:xfrm>
            <a:off x="671337" y="1370916"/>
            <a:ext cx="1014897" cy="170311"/>
          </a:xfrm>
          <a:prstGeom prst="rect">
            <a:avLst/>
          </a:prstGeom>
          <a:ln w="3175">
            <a:noFill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0" anchor="ctr"/>
          <a:lstStyle/>
          <a:p>
            <a:pPr algn="ctr" fontAlgn="auto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latin typeface="+mn-ea"/>
              </a:rPr>
              <a:t>예산관리</a:t>
            </a:r>
          </a:p>
        </p:txBody>
      </p:sp>
      <p:sp>
        <p:nvSpPr>
          <p:cNvPr id="222" name="Rectangle 63"/>
          <p:cNvSpPr>
            <a:spLocks noChangeArrowheads="1"/>
          </p:cNvSpPr>
          <p:nvPr/>
        </p:nvSpPr>
        <p:spPr bwMode="auto">
          <a:xfrm>
            <a:off x="648618" y="1567388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예산기준정보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3" name="Rectangle 63"/>
          <p:cNvSpPr>
            <a:spLocks noChangeArrowheads="1"/>
          </p:cNvSpPr>
          <p:nvPr/>
        </p:nvSpPr>
        <p:spPr bwMode="auto">
          <a:xfrm>
            <a:off x="648618" y="1714182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중기사업계획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4" name="Rectangle 63"/>
          <p:cNvSpPr>
            <a:spLocks noChangeArrowheads="1"/>
          </p:cNvSpPr>
          <p:nvPr/>
        </p:nvSpPr>
        <p:spPr bwMode="auto">
          <a:xfrm>
            <a:off x="648618" y="1860976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예산편성관리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5" name="Rectangle 63"/>
          <p:cNvSpPr>
            <a:spLocks noChangeArrowheads="1"/>
          </p:cNvSpPr>
          <p:nvPr/>
        </p:nvSpPr>
        <p:spPr bwMode="auto">
          <a:xfrm>
            <a:off x="648618" y="2006615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smtClean="0">
                <a:latin typeface="+mn-ea"/>
              </a:rPr>
              <a:t>예산배정관리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6" name="Rectangle 63"/>
          <p:cNvSpPr>
            <a:spLocks noChangeArrowheads="1"/>
          </p:cNvSpPr>
          <p:nvPr/>
        </p:nvSpPr>
        <p:spPr bwMode="auto">
          <a:xfrm>
            <a:off x="648618" y="2153409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절감목표관리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7" name="Rectangle 63"/>
          <p:cNvSpPr>
            <a:spLocks noChangeArrowheads="1"/>
          </p:cNvSpPr>
          <p:nvPr/>
        </p:nvSpPr>
        <p:spPr bwMode="auto">
          <a:xfrm>
            <a:off x="648618" y="2300203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예산변경관리</a:t>
            </a:r>
            <a:endParaRPr kumimoji="0" lang="en-US" altLang="ko-KR" sz="900" dirty="0">
              <a:latin typeface="+mn-ea"/>
            </a:endParaRPr>
          </a:p>
        </p:txBody>
      </p:sp>
      <p:grpSp>
        <p:nvGrpSpPr>
          <p:cNvPr id="450" name="그룹 449"/>
          <p:cNvGrpSpPr/>
          <p:nvPr/>
        </p:nvGrpSpPr>
        <p:grpSpPr>
          <a:xfrm>
            <a:off x="1942530" y="2751954"/>
            <a:ext cx="1527343" cy="1301363"/>
            <a:chOff x="-1829151" y="-298220"/>
            <a:chExt cx="1527343" cy="1301363"/>
          </a:xfrm>
        </p:grpSpPr>
        <p:sp>
          <p:nvSpPr>
            <p:cNvPr id="86" name="모서리가 둥근 직사각형 85"/>
            <p:cNvSpPr/>
            <p:nvPr/>
          </p:nvSpPr>
          <p:spPr bwMode="auto">
            <a:xfrm>
              <a:off x="-1829151" y="-296701"/>
              <a:ext cx="1527343" cy="1299844"/>
            </a:xfrm>
            <a:prstGeom prst="roundRect">
              <a:avLst>
                <a:gd name="adj" fmla="val 6702"/>
              </a:avLst>
            </a:prstGeom>
            <a:solidFill>
              <a:schemeClr val="lt1"/>
            </a:solidFill>
            <a:ln w="31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dirty="0">
                <a:latin typeface="+mn-ea"/>
              </a:endParaRPr>
            </a:p>
          </p:txBody>
        </p:sp>
        <p:sp>
          <p:nvSpPr>
            <p:cNvPr id="96" name="Text Box 121"/>
            <p:cNvSpPr txBox="1">
              <a:spLocks noChangeArrowheads="1"/>
            </p:cNvSpPr>
            <p:nvPr/>
          </p:nvSpPr>
          <p:spPr bwMode="auto">
            <a:xfrm>
              <a:off x="-1771010" y="-298220"/>
              <a:ext cx="1404000" cy="169200"/>
            </a:xfrm>
            <a:prstGeom prst="rect">
              <a:avLst/>
            </a:prstGeom>
            <a:ln w="3175">
              <a:noFill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0" anchor="ctr"/>
            <a:lstStyle/>
            <a:p>
              <a:pPr algn="ctr" fontAlgn="auto" latinLnBrk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latin typeface="+mn-ea"/>
                </a:rPr>
                <a:t>자산관리</a:t>
              </a:r>
            </a:p>
          </p:txBody>
        </p:sp>
        <p:grpSp>
          <p:nvGrpSpPr>
            <p:cNvPr id="103" name="그룹 561"/>
            <p:cNvGrpSpPr>
              <a:grpSpLocks/>
            </p:cNvGrpSpPr>
            <p:nvPr/>
          </p:nvGrpSpPr>
          <p:grpSpPr bwMode="auto">
            <a:xfrm>
              <a:off x="-1778641" y="-94425"/>
              <a:ext cx="711958" cy="891168"/>
              <a:chOff x="776330" y="2628168"/>
              <a:chExt cx="939758" cy="1224136"/>
            </a:xfrm>
          </p:grpSpPr>
          <p:sp>
            <p:nvSpPr>
              <p:cNvPr id="210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기초정보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1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자산이동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2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 err="1">
                    <a:latin typeface="+mn-ea"/>
                  </a:rPr>
                  <a:t>후속적지출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3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불용</a:t>
                </a:r>
                <a:r>
                  <a:rPr kumimoji="0" lang="en-US" altLang="ko-KR" sz="900" smtClean="0">
                    <a:latin typeface="+mn-ea"/>
                  </a:rPr>
                  <a:t>/</a:t>
                </a:r>
                <a:r>
                  <a:rPr kumimoji="0" lang="ko-KR" altLang="en-US" sz="900" smtClean="0">
                    <a:latin typeface="+mn-ea"/>
                  </a:rPr>
                  <a:t>처분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4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손상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환입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5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자산명세서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104" name="그룹 568"/>
            <p:cNvGrpSpPr>
              <a:grpSpLocks/>
            </p:cNvGrpSpPr>
            <p:nvPr/>
          </p:nvGrpSpPr>
          <p:grpSpPr bwMode="auto">
            <a:xfrm>
              <a:off x="-1065479" y="-94425"/>
              <a:ext cx="711958" cy="891168"/>
              <a:chOff x="776330" y="2628168"/>
              <a:chExt cx="939758" cy="1224136"/>
            </a:xfrm>
          </p:grpSpPr>
          <p:sp>
            <p:nvSpPr>
              <p:cNvPr id="204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자산취득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5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자산실사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6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합병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분할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7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감가상각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8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자산이력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9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자산결산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</p:grpSp>
      <p:grpSp>
        <p:nvGrpSpPr>
          <p:cNvPr id="470" name="그룹 469"/>
          <p:cNvGrpSpPr/>
          <p:nvPr/>
        </p:nvGrpSpPr>
        <p:grpSpPr>
          <a:xfrm>
            <a:off x="6176316" y="1376460"/>
            <a:ext cx="1610783" cy="1155860"/>
            <a:chOff x="5152984" y="2744752"/>
            <a:chExt cx="1610783" cy="1155860"/>
          </a:xfrm>
        </p:grpSpPr>
        <p:sp>
          <p:nvSpPr>
            <p:cNvPr id="89" name="모서리가 둥근 직사각형 88"/>
            <p:cNvSpPr/>
            <p:nvPr/>
          </p:nvSpPr>
          <p:spPr bwMode="auto">
            <a:xfrm>
              <a:off x="5152984" y="2744752"/>
              <a:ext cx="1610783" cy="1155860"/>
            </a:xfrm>
            <a:prstGeom prst="roundRect">
              <a:avLst>
                <a:gd name="adj" fmla="val 6702"/>
              </a:avLst>
            </a:prstGeom>
            <a:solidFill>
              <a:schemeClr val="lt1"/>
            </a:solidFill>
            <a:ln w="31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dirty="0">
                <a:latin typeface="+mn-ea"/>
              </a:endParaRPr>
            </a:p>
          </p:txBody>
        </p:sp>
        <p:sp>
          <p:nvSpPr>
            <p:cNvPr id="97" name="Text Box 121"/>
            <p:cNvSpPr txBox="1">
              <a:spLocks noChangeArrowheads="1"/>
            </p:cNvSpPr>
            <p:nvPr/>
          </p:nvSpPr>
          <p:spPr bwMode="auto">
            <a:xfrm>
              <a:off x="5247573" y="2762143"/>
              <a:ext cx="1404000" cy="169200"/>
            </a:xfrm>
            <a:prstGeom prst="rect">
              <a:avLst/>
            </a:prstGeom>
            <a:ln w="3175">
              <a:noFill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0" anchor="ctr"/>
            <a:lstStyle/>
            <a:p>
              <a:pPr algn="ctr" fontAlgn="auto" latinLnBrk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인사관리</a:t>
              </a:r>
            </a:p>
          </p:txBody>
        </p:sp>
        <p:grpSp>
          <p:nvGrpSpPr>
            <p:cNvPr id="105" name="그룹 575"/>
            <p:cNvGrpSpPr>
              <a:grpSpLocks/>
            </p:cNvGrpSpPr>
            <p:nvPr/>
          </p:nvGrpSpPr>
          <p:grpSpPr bwMode="auto">
            <a:xfrm>
              <a:off x="5235862" y="2947028"/>
              <a:ext cx="711958" cy="891168"/>
              <a:chOff x="819054" y="2628168"/>
              <a:chExt cx="939758" cy="1224136"/>
            </a:xfrm>
          </p:grpSpPr>
          <p:sp>
            <p:nvSpPr>
              <p:cNvPr id="198" name="Rectangle 63"/>
              <p:cNvSpPr>
                <a:spLocks noChangeArrowheads="1"/>
              </p:cNvSpPr>
              <p:nvPr/>
            </p:nvSpPr>
            <p:spPr bwMode="auto">
              <a:xfrm>
                <a:off x="819054" y="2628168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기초정보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9" name="Rectangle 63"/>
              <p:cNvSpPr>
                <a:spLocks noChangeArrowheads="1"/>
              </p:cNvSpPr>
              <p:nvPr/>
            </p:nvSpPr>
            <p:spPr bwMode="auto">
              <a:xfrm>
                <a:off x="819054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개인신청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0" name="Rectangle 63"/>
              <p:cNvSpPr>
                <a:spLocks noChangeArrowheads="1"/>
              </p:cNvSpPr>
              <p:nvPr/>
            </p:nvSpPr>
            <p:spPr bwMode="auto">
              <a:xfrm>
                <a:off x="819054" y="3031450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포상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징계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1" name="Rectangle 63"/>
              <p:cNvSpPr>
                <a:spLocks noChangeArrowheads="1"/>
              </p:cNvSpPr>
              <p:nvPr/>
            </p:nvSpPr>
            <p:spPr bwMode="auto">
              <a:xfrm>
                <a:off x="819054" y="323150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역량평가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2" name="Rectangle 63"/>
              <p:cNvSpPr>
                <a:spLocks noChangeArrowheads="1"/>
              </p:cNvSpPr>
              <p:nvPr/>
            </p:nvSpPr>
            <p:spPr bwMode="auto">
              <a:xfrm>
                <a:off x="819054" y="3433145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근무평정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3" name="Rectangle 63"/>
              <p:cNvSpPr>
                <a:spLocks noChangeArrowheads="1"/>
              </p:cNvSpPr>
              <p:nvPr/>
            </p:nvSpPr>
            <p:spPr bwMode="auto">
              <a:xfrm>
                <a:off x="819054" y="3634785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종합평가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106" name="그룹 582"/>
            <p:cNvGrpSpPr>
              <a:grpSpLocks/>
            </p:cNvGrpSpPr>
            <p:nvPr/>
          </p:nvGrpSpPr>
          <p:grpSpPr bwMode="auto">
            <a:xfrm>
              <a:off x="5950226" y="2947028"/>
              <a:ext cx="711958" cy="891168"/>
              <a:chOff x="819054" y="2628168"/>
              <a:chExt cx="939758" cy="1224136"/>
            </a:xfrm>
          </p:grpSpPr>
          <p:sp>
            <p:nvSpPr>
              <p:cNvPr id="192" name="Rectangle 63"/>
              <p:cNvSpPr>
                <a:spLocks noChangeArrowheads="1"/>
              </p:cNvSpPr>
              <p:nvPr/>
            </p:nvSpPr>
            <p:spPr bwMode="auto">
              <a:xfrm>
                <a:off x="819054" y="2628168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채용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조직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3" name="Rectangle 63"/>
              <p:cNvSpPr>
                <a:spLocks noChangeArrowheads="1"/>
              </p:cNvSpPr>
              <p:nvPr/>
            </p:nvSpPr>
            <p:spPr bwMode="auto">
              <a:xfrm>
                <a:off x="819054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발령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기록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4" name="Rectangle 63"/>
              <p:cNvSpPr>
                <a:spLocks noChangeArrowheads="1"/>
              </p:cNvSpPr>
              <p:nvPr/>
            </p:nvSpPr>
            <p:spPr bwMode="auto">
              <a:xfrm>
                <a:off x="819054" y="3031450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통계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교육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5" name="Rectangle 63"/>
              <p:cNvSpPr>
                <a:spLocks noChangeArrowheads="1"/>
              </p:cNvSpPr>
              <p:nvPr/>
            </p:nvSpPr>
            <p:spPr bwMode="auto">
              <a:xfrm>
                <a:off x="819054" y="323150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업적평가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6" name="Rectangle 63"/>
              <p:cNvSpPr>
                <a:spLocks noChangeArrowheads="1"/>
              </p:cNvSpPr>
              <p:nvPr/>
            </p:nvSpPr>
            <p:spPr bwMode="auto">
              <a:xfrm>
                <a:off x="819054" y="3433145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평가진행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7" name="Rectangle 63"/>
              <p:cNvSpPr>
                <a:spLocks noChangeArrowheads="1"/>
              </p:cNvSpPr>
              <p:nvPr/>
            </p:nvSpPr>
            <p:spPr bwMode="auto">
              <a:xfrm>
                <a:off x="819054" y="3634785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근태관리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</p:grpSp>
      <p:sp>
        <p:nvSpPr>
          <p:cNvPr id="90" name="모서리가 둥근 직사각형 89"/>
          <p:cNvSpPr/>
          <p:nvPr/>
        </p:nvSpPr>
        <p:spPr bwMode="auto">
          <a:xfrm>
            <a:off x="3607853" y="2750753"/>
            <a:ext cx="2251317" cy="1302564"/>
          </a:xfrm>
          <a:prstGeom prst="roundRect">
            <a:avLst>
              <a:gd name="adj" fmla="val 6702"/>
            </a:avLst>
          </a:prstGeom>
          <a:solidFill>
            <a:schemeClr val="lt1"/>
          </a:solidFill>
          <a:ln w="31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+mn-ea"/>
            </a:endParaRPr>
          </a:p>
        </p:txBody>
      </p:sp>
      <p:sp>
        <p:nvSpPr>
          <p:cNvPr id="99" name="Text Box 121"/>
          <p:cNvSpPr txBox="1">
            <a:spLocks noChangeArrowheads="1"/>
          </p:cNvSpPr>
          <p:nvPr/>
        </p:nvSpPr>
        <p:spPr bwMode="auto">
          <a:xfrm>
            <a:off x="3662748" y="2763253"/>
            <a:ext cx="2160000" cy="169200"/>
          </a:xfrm>
          <a:prstGeom prst="rect">
            <a:avLst/>
          </a:prstGeom>
          <a:ln w="3175">
            <a:noFill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0" anchor="ctr"/>
          <a:lstStyle/>
          <a:p>
            <a:pPr algn="ctr" fontAlgn="auto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smtClean="0">
                <a:latin typeface="+mn-ea"/>
              </a:rPr>
              <a:t>사업관리</a:t>
            </a:r>
            <a:endParaRPr kumimoji="0" lang="ko-KR" altLang="en-US" sz="1000" dirty="0">
              <a:latin typeface="+mn-ea"/>
            </a:endParaRPr>
          </a:p>
        </p:txBody>
      </p:sp>
      <p:grpSp>
        <p:nvGrpSpPr>
          <p:cNvPr id="107" name="그룹 589"/>
          <p:cNvGrpSpPr>
            <a:grpSpLocks/>
          </p:cNvGrpSpPr>
          <p:nvPr/>
        </p:nvGrpSpPr>
        <p:grpSpPr bwMode="auto">
          <a:xfrm>
            <a:off x="4379491" y="2953696"/>
            <a:ext cx="711958" cy="891168"/>
            <a:chOff x="776330" y="2628168"/>
            <a:chExt cx="939758" cy="1224136"/>
          </a:xfrm>
        </p:grpSpPr>
        <p:sp>
          <p:nvSpPr>
            <p:cNvPr id="186" name="Rectangle 63"/>
            <p:cNvSpPr>
              <a:spLocks noChangeArrowheads="1"/>
            </p:cNvSpPr>
            <p:nvPr/>
          </p:nvSpPr>
          <p:spPr bwMode="auto">
            <a:xfrm>
              <a:off x="776330" y="2628168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900">
                  <a:latin typeface="+mn-ea"/>
                </a:rPr>
                <a:t>실행계획관리</a:t>
              </a:r>
              <a:endParaRPr lang="en-US" altLang="ko-KR" sz="900" dirty="0">
                <a:latin typeface="+mn-ea"/>
              </a:endParaRPr>
            </a:p>
          </p:txBody>
        </p:sp>
        <p:sp>
          <p:nvSpPr>
            <p:cNvPr id="187" name="Rectangle 63"/>
            <p:cNvSpPr>
              <a:spLocks noChangeArrowheads="1"/>
            </p:cNvSpPr>
            <p:nvPr/>
          </p:nvSpPr>
          <p:spPr bwMode="auto">
            <a:xfrm>
              <a:off x="776330" y="2829809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투입계획관리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8" name="Rectangle 63"/>
            <p:cNvSpPr>
              <a:spLocks noChangeArrowheads="1"/>
            </p:cNvSpPr>
            <p:nvPr/>
          </p:nvSpPr>
          <p:spPr bwMode="auto">
            <a:xfrm>
              <a:off x="776330" y="3031450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사업실적관리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9" name="Rectangle 63"/>
            <p:cNvSpPr>
              <a:spLocks noChangeArrowheads="1"/>
            </p:cNvSpPr>
            <p:nvPr/>
          </p:nvSpPr>
          <p:spPr bwMode="auto">
            <a:xfrm>
              <a:off x="776330" y="3231504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실적자료관리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90" name="Rectangle 63"/>
            <p:cNvSpPr>
              <a:spLocks noChangeArrowheads="1"/>
            </p:cNvSpPr>
            <p:nvPr/>
          </p:nvSpPr>
          <p:spPr bwMode="auto">
            <a:xfrm>
              <a:off x="776330" y="3433144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실적통계관리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91" name="Rectangle 63"/>
            <p:cNvSpPr>
              <a:spLocks noChangeArrowheads="1"/>
            </p:cNvSpPr>
            <p:nvPr/>
          </p:nvSpPr>
          <p:spPr bwMode="auto">
            <a:xfrm>
              <a:off x="776330" y="3634786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품질정보관리</a:t>
              </a:r>
              <a:endParaRPr kumimoji="0" lang="en-US" altLang="ko-KR" sz="900" dirty="0">
                <a:latin typeface="+mn-ea"/>
              </a:endParaRPr>
            </a:p>
          </p:txBody>
        </p:sp>
      </p:grpSp>
      <p:grpSp>
        <p:nvGrpSpPr>
          <p:cNvPr id="108" name="그룹 596"/>
          <p:cNvGrpSpPr>
            <a:grpSpLocks/>
          </p:cNvGrpSpPr>
          <p:nvPr/>
        </p:nvGrpSpPr>
        <p:grpSpPr bwMode="auto">
          <a:xfrm>
            <a:off x="5110039" y="2953696"/>
            <a:ext cx="711958" cy="891168"/>
            <a:chOff x="776330" y="2628168"/>
            <a:chExt cx="939758" cy="1224136"/>
          </a:xfrm>
        </p:grpSpPr>
        <p:sp>
          <p:nvSpPr>
            <p:cNvPr id="180" name="Rectangle 63"/>
            <p:cNvSpPr>
              <a:spLocks noChangeArrowheads="1"/>
            </p:cNvSpPr>
            <p:nvPr/>
          </p:nvSpPr>
          <p:spPr bwMode="auto">
            <a:xfrm>
              <a:off x="776330" y="2628168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원가기준관리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1" name="Rectangle 63"/>
            <p:cNvSpPr>
              <a:spLocks noChangeArrowheads="1"/>
            </p:cNvSpPr>
            <p:nvPr/>
          </p:nvSpPr>
          <p:spPr bwMode="auto">
            <a:xfrm>
              <a:off x="776330" y="2829809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원가계산관리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2" name="Rectangle 63"/>
            <p:cNvSpPr>
              <a:spLocks noChangeArrowheads="1"/>
            </p:cNvSpPr>
            <p:nvPr/>
          </p:nvSpPr>
          <p:spPr bwMode="auto">
            <a:xfrm>
              <a:off x="776330" y="3031450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원가분석관리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3" name="Rectangle 63"/>
            <p:cNvSpPr>
              <a:spLocks noChangeArrowheads="1"/>
            </p:cNvSpPr>
            <p:nvPr/>
          </p:nvSpPr>
          <p:spPr bwMode="auto">
            <a:xfrm>
              <a:off x="776330" y="3231504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900">
                  <a:latin typeface="+mn-ea"/>
                </a:rPr>
                <a:t>기성신청관리</a:t>
              </a:r>
              <a:endParaRPr lang="en-US" altLang="ko-KR" sz="900" dirty="0">
                <a:latin typeface="+mn-ea"/>
              </a:endParaRPr>
            </a:p>
          </p:txBody>
        </p:sp>
        <p:sp>
          <p:nvSpPr>
            <p:cNvPr id="184" name="Rectangle 63"/>
            <p:cNvSpPr>
              <a:spLocks noChangeArrowheads="1"/>
            </p:cNvSpPr>
            <p:nvPr/>
          </p:nvSpPr>
          <p:spPr bwMode="auto">
            <a:xfrm>
              <a:off x="776330" y="3433144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>
                <a:defRPr/>
              </a:pPr>
              <a:r>
                <a:rPr lang="ko-KR" altLang="en-US" sz="900" smtClean="0">
                  <a:latin typeface="+mn-ea"/>
                </a:rPr>
                <a:t>사업결산관리</a:t>
              </a:r>
              <a:endParaRPr lang="en-US" altLang="ko-KR" sz="900">
                <a:latin typeface="+mn-ea"/>
              </a:endParaRPr>
            </a:p>
          </p:txBody>
        </p:sp>
        <p:sp>
          <p:nvSpPr>
            <p:cNvPr id="185" name="Rectangle 63"/>
            <p:cNvSpPr>
              <a:spLocks noChangeArrowheads="1"/>
            </p:cNvSpPr>
            <p:nvPr/>
          </p:nvSpPr>
          <p:spPr bwMode="auto">
            <a:xfrm>
              <a:off x="776330" y="3634786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900" dirty="0">
                <a:latin typeface="+mn-ea"/>
              </a:endParaRPr>
            </a:p>
          </p:txBody>
        </p:sp>
      </p:grpSp>
      <p:sp>
        <p:nvSpPr>
          <p:cNvPr id="469" name="Rectangle 63"/>
          <p:cNvSpPr>
            <a:spLocks noChangeArrowheads="1"/>
          </p:cNvSpPr>
          <p:nvPr/>
        </p:nvSpPr>
        <p:spPr bwMode="auto">
          <a:xfrm>
            <a:off x="648618" y="2456922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예산결산관리</a:t>
            </a:r>
            <a:endParaRPr kumimoji="0" lang="en-US" altLang="ko-KR" sz="900" dirty="0">
              <a:latin typeface="+mn-ea"/>
            </a:endParaRPr>
          </a:p>
        </p:txBody>
      </p:sp>
      <p:grpSp>
        <p:nvGrpSpPr>
          <p:cNvPr id="531" name="그룹 530"/>
          <p:cNvGrpSpPr/>
          <p:nvPr/>
        </p:nvGrpSpPr>
        <p:grpSpPr>
          <a:xfrm>
            <a:off x="1935171" y="1375636"/>
            <a:ext cx="3924000" cy="1296295"/>
            <a:chOff x="1935171" y="1375636"/>
            <a:chExt cx="3924000" cy="1296295"/>
          </a:xfrm>
        </p:grpSpPr>
        <p:sp>
          <p:nvSpPr>
            <p:cNvPr id="453" name="모서리가 둥근 직사각형 452"/>
            <p:cNvSpPr/>
            <p:nvPr/>
          </p:nvSpPr>
          <p:spPr bwMode="auto">
            <a:xfrm>
              <a:off x="1935171" y="1375636"/>
              <a:ext cx="3924000" cy="1296295"/>
            </a:xfrm>
            <a:prstGeom prst="roundRect">
              <a:avLst>
                <a:gd name="adj" fmla="val 6702"/>
              </a:avLst>
            </a:prstGeom>
            <a:solidFill>
              <a:schemeClr val="lt1"/>
            </a:solidFill>
            <a:ln w="31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dirty="0">
                <a:latin typeface="+mn-ea"/>
              </a:endParaRPr>
            </a:p>
          </p:txBody>
        </p:sp>
        <p:sp>
          <p:nvSpPr>
            <p:cNvPr id="454" name="Text Box 121"/>
            <p:cNvSpPr txBox="1">
              <a:spLocks noChangeArrowheads="1"/>
            </p:cNvSpPr>
            <p:nvPr/>
          </p:nvSpPr>
          <p:spPr bwMode="auto">
            <a:xfrm>
              <a:off x="2072680" y="1392666"/>
              <a:ext cx="3636000" cy="169200"/>
            </a:xfrm>
            <a:prstGeom prst="rect">
              <a:avLst/>
            </a:prstGeom>
            <a:ln w="3175">
              <a:noFill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0" anchor="ctr"/>
            <a:lstStyle/>
            <a:p>
              <a:pPr algn="ctr" fontAlgn="auto" latinLnBrk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>
                  <a:latin typeface="+mn-ea"/>
                </a:rPr>
                <a:t>회</a:t>
              </a:r>
              <a:r>
                <a:rPr kumimoji="0" lang="ko-KR" altLang="en-US" sz="1000" b="1" smtClean="0">
                  <a:latin typeface="+mn-ea"/>
                </a:rPr>
                <a:t>계관리</a:t>
              </a:r>
              <a:endParaRPr kumimoji="0" lang="ko-KR" altLang="en-US" sz="1000" b="1" dirty="0">
                <a:latin typeface="+mn-ea"/>
              </a:endParaRPr>
            </a:p>
          </p:txBody>
        </p:sp>
        <p:grpSp>
          <p:nvGrpSpPr>
            <p:cNvPr id="455" name="그룹 561"/>
            <p:cNvGrpSpPr>
              <a:grpSpLocks/>
            </p:cNvGrpSpPr>
            <p:nvPr/>
          </p:nvGrpSpPr>
          <p:grpSpPr bwMode="auto">
            <a:xfrm>
              <a:off x="3534183" y="1737652"/>
              <a:ext cx="711958" cy="891168"/>
              <a:chOff x="776330" y="2628168"/>
              <a:chExt cx="939758" cy="1224136"/>
            </a:xfrm>
          </p:grpSpPr>
          <p:sp>
            <p:nvSpPr>
              <p:cNvPr id="463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결산전표생성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4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결산마감관리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5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재무제표관리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6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 smtClean="0">
                    <a:latin typeface="+mn-ea"/>
                  </a:rPr>
                  <a:t>주석</a:t>
                </a:r>
                <a:r>
                  <a:rPr kumimoji="0" lang="ko-KR" altLang="en-US" sz="900" smtClean="0">
                    <a:latin typeface="+mn-ea"/>
                  </a:rPr>
                  <a:t>자료관리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7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결산주석관리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8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연결재무제표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456" name="그룹 568"/>
            <p:cNvGrpSpPr>
              <a:grpSpLocks/>
            </p:cNvGrpSpPr>
            <p:nvPr/>
          </p:nvGrpSpPr>
          <p:grpSpPr bwMode="auto">
            <a:xfrm>
              <a:off x="4270447" y="1737652"/>
              <a:ext cx="711958" cy="891168"/>
              <a:chOff x="776330" y="2628168"/>
              <a:chExt cx="939758" cy="1224136"/>
            </a:xfrm>
          </p:grpSpPr>
          <p:sp>
            <p:nvSpPr>
              <p:cNvPr id="457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자금기초자료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58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보유계좌관리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59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입</a:t>
                </a:r>
                <a:r>
                  <a:rPr kumimoji="0" lang="en-US" altLang="ko-KR" sz="900" smtClean="0">
                    <a:latin typeface="+mn-ea"/>
                  </a:rPr>
                  <a:t>.</a:t>
                </a:r>
                <a:r>
                  <a:rPr kumimoji="0" lang="ko-KR" altLang="en-US" sz="900" smtClean="0">
                    <a:latin typeface="+mn-ea"/>
                  </a:rPr>
                  <a:t>출금  현황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0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자금집행관리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1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자금현황관리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2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법인카드관리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488" name="그룹 561"/>
            <p:cNvGrpSpPr>
              <a:grpSpLocks/>
            </p:cNvGrpSpPr>
            <p:nvPr/>
          </p:nvGrpSpPr>
          <p:grpSpPr bwMode="auto">
            <a:xfrm>
              <a:off x="2061117" y="1735314"/>
              <a:ext cx="711958" cy="891168"/>
              <a:chOff x="776330" y="2628168"/>
              <a:chExt cx="939758" cy="1224136"/>
            </a:xfrm>
          </p:grpSpPr>
          <p:sp>
            <p:nvSpPr>
              <p:cNvPr id="489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>
                    <a:latin typeface="+mn-ea"/>
                  </a:rPr>
                  <a:t>회</a:t>
                </a:r>
                <a:r>
                  <a:rPr kumimoji="0" lang="ko-KR" altLang="en-US" sz="900" smtClean="0">
                    <a:latin typeface="+mn-ea"/>
                  </a:rPr>
                  <a:t>계기준자료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0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지출결의서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1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수입결의서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2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대체결의서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3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 smtClean="0">
                    <a:latin typeface="+mn-ea"/>
                  </a:rPr>
                  <a:t>수납   관리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494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결의서 확정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495" name="그룹 561"/>
            <p:cNvGrpSpPr>
              <a:grpSpLocks/>
            </p:cNvGrpSpPr>
            <p:nvPr/>
          </p:nvGrpSpPr>
          <p:grpSpPr bwMode="auto">
            <a:xfrm>
              <a:off x="2798739" y="1736565"/>
              <a:ext cx="711958" cy="891168"/>
              <a:chOff x="776330" y="2628168"/>
              <a:chExt cx="939758" cy="1224136"/>
            </a:xfrm>
          </p:grpSpPr>
          <p:sp>
            <p:nvSpPr>
              <p:cNvPr id="496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전표현황관리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7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전표마감관리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8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재무장부관리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9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결산전표생성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500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 smtClean="0">
                    <a:latin typeface="+mn-ea"/>
                  </a:rPr>
                  <a:t>결산마감관리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501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재무제표관리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518" name="그룹 568"/>
            <p:cNvGrpSpPr>
              <a:grpSpLocks/>
            </p:cNvGrpSpPr>
            <p:nvPr/>
          </p:nvGrpSpPr>
          <p:grpSpPr bwMode="auto">
            <a:xfrm>
              <a:off x="5006741" y="1728474"/>
              <a:ext cx="711958" cy="451941"/>
              <a:chOff x="776330" y="2628168"/>
              <a:chExt cx="939758" cy="620800"/>
            </a:xfrm>
          </p:grpSpPr>
          <p:sp>
            <p:nvSpPr>
              <p:cNvPr id="519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 smtClean="0">
                    <a:latin typeface="+mn-ea"/>
                  </a:rPr>
                  <a:t>부가세 신고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520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원천세 신고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521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법</a:t>
                </a:r>
                <a:r>
                  <a:rPr lang="ko-KR" altLang="en-US" sz="900" smtClean="0">
                    <a:latin typeface="+mn-ea"/>
                  </a:rPr>
                  <a:t>인세 자료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</p:grpSp>
      <p:sp>
        <p:nvSpPr>
          <p:cNvPr id="526" name="순서도: 처리 525"/>
          <p:cNvSpPr/>
          <p:nvPr/>
        </p:nvSpPr>
        <p:spPr>
          <a:xfrm>
            <a:off x="2064588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결의서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27" name="순서도: 처리 526"/>
          <p:cNvSpPr/>
          <p:nvPr/>
        </p:nvSpPr>
        <p:spPr>
          <a:xfrm>
            <a:off x="2799653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전표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28" name="순서도: 처리 527"/>
          <p:cNvSpPr/>
          <p:nvPr/>
        </p:nvSpPr>
        <p:spPr>
          <a:xfrm>
            <a:off x="3534718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결산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29" name="순서도: 처리 528"/>
          <p:cNvSpPr/>
          <p:nvPr/>
        </p:nvSpPr>
        <p:spPr>
          <a:xfrm>
            <a:off x="4269783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자금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30" name="순서도: 처리 529"/>
          <p:cNvSpPr/>
          <p:nvPr/>
        </p:nvSpPr>
        <p:spPr>
          <a:xfrm>
            <a:off x="5004847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세</a:t>
            </a:r>
            <a:r>
              <a:rPr lang="ko-KR" altLang="en-US" sz="900" smtClean="0">
                <a:solidFill>
                  <a:schemeClr val="tx1"/>
                </a:solidFill>
              </a:rPr>
              <a:t>무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32" name="모서리가 둥근 직사각형 531"/>
          <p:cNvSpPr/>
          <p:nvPr/>
        </p:nvSpPr>
        <p:spPr bwMode="auto">
          <a:xfrm>
            <a:off x="592926" y="2763541"/>
            <a:ext cx="1197474" cy="1289939"/>
          </a:xfrm>
          <a:prstGeom prst="roundRect">
            <a:avLst>
              <a:gd name="adj" fmla="val 6702"/>
            </a:avLst>
          </a:prstGeom>
          <a:solidFill>
            <a:schemeClr val="lt1"/>
          </a:solidFill>
          <a:ln w="31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+mn-ea"/>
            </a:endParaRPr>
          </a:p>
        </p:txBody>
      </p:sp>
      <p:sp>
        <p:nvSpPr>
          <p:cNvPr id="533" name="Text Box 121"/>
          <p:cNvSpPr txBox="1">
            <a:spLocks noChangeArrowheads="1"/>
          </p:cNvSpPr>
          <p:nvPr/>
        </p:nvSpPr>
        <p:spPr bwMode="auto">
          <a:xfrm>
            <a:off x="684542" y="2769346"/>
            <a:ext cx="1014897" cy="170311"/>
          </a:xfrm>
          <a:prstGeom prst="rect">
            <a:avLst/>
          </a:prstGeom>
          <a:ln w="3175">
            <a:noFill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0" anchor="ctr"/>
          <a:lstStyle/>
          <a:p>
            <a:pPr algn="ctr" fontAlgn="auto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b="1" smtClean="0">
                <a:latin typeface="+mn-ea"/>
              </a:rPr>
              <a:t>구매</a:t>
            </a:r>
            <a:r>
              <a:rPr kumimoji="0" lang="ko-KR" altLang="en-US" sz="1000" b="1" smtClean="0">
                <a:latin typeface="+mn-ea"/>
              </a:rPr>
              <a:t>관리</a:t>
            </a:r>
            <a:endParaRPr kumimoji="0" lang="ko-KR" altLang="en-US" sz="1000" b="1" dirty="0">
              <a:latin typeface="+mn-ea"/>
            </a:endParaRPr>
          </a:p>
        </p:txBody>
      </p:sp>
      <p:sp>
        <p:nvSpPr>
          <p:cNvPr id="534" name="Rectangle 63"/>
          <p:cNvSpPr>
            <a:spLocks noChangeArrowheads="1"/>
          </p:cNvSpPr>
          <p:nvPr/>
        </p:nvSpPr>
        <p:spPr bwMode="auto">
          <a:xfrm>
            <a:off x="661823" y="2965818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구매기초자료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5" name="Rectangle 63"/>
          <p:cNvSpPr>
            <a:spLocks noChangeArrowheads="1"/>
          </p:cNvSpPr>
          <p:nvPr/>
        </p:nvSpPr>
        <p:spPr bwMode="auto">
          <a:xfrm>
            <a:off x="661823" y="3112612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물품청구관리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6" name="Rectangle 63"/>
          <p:cNvSpPr>
            <a:spLocks noChangeArrowheads="1"/>
          </p:cNvSpPr>
          <p:nvPr/>
        </p:nvSpPr>
        <p:spPr bwMode="auto">
          <a:xfrm>
            <a:off x="661823" y="3259406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수리계약관리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7" name="Rectangle 63"/>
          <p:cNvSpPr>
            <a:spLocks noChangeArrowheads="1"/>
          </p:cNvSpPr>
          <p:nvPr/>
        </p:nvSpPr>
        <p:spPr bwMode="auto">
          <a:xfrm>
            <a:off x="661823" y="3405045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smtClean="0">
                <a:latin typeface="+mn-ea"/>
              </a:rPr>
              <a:t>물품구매관리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8" name="Rectangle 63"/>
          <p:cNvSpPr>
            <a:spLocks noChangeArrowheads="1"/>
          </p:cNvSpPr>
          <p:nvPr/>
        </p:nvSpPr>
        <p:spPr bwMode="auto">
          <a:xfrm>
            <a:off x="661823" y="3551839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구매진행관리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9" name="Rectangle 63"/>
          <p:cNvSpPr>
            <a:spLocks noChangeArrowheads="1"/>
          </p:cNvSpPr>
          <p:nvPr/>
        </p:nvSpPr>
        <p:spPr bwMode="auto">
          <a:xfrm>
            <a:off x="661823" y="3698633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행정   서비스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40" name="Rectangle 63"/>
          <p:cNvSpPr>
            <a:spLocks noChangeArrowheads="1"/>
          </p:cNvSpPr>
          <p:nvPr/>
        </p:nvSpPr>
        <p:spPr bwMode="auto">
          <a:xfrm>
            <a:off x="661823" y="3855352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차량운행관리</a:t>
            </a:r>
            <a:endParaRPr kumimoji="0" lang="en-US" altLang="ko-KR" sz="900" dirty="0">
              <a:latin typeface="+mn-ea"/>
            </a:endParaRPr>
          </a:p>
        </p:txBody>
      </p:sp>
      <p:grpSp>
        <p:nvGrpSpPr>
          <p:cNvPr id="549" name="그룹 589"/>
          <p:cNvGrpSpPr>
            <a:grpSpLocks/>
          </p:cNvGrpSpPr>
          <p:nvPr/>
        </p:nvGrpSpPr>
        <p:grpSpPr bwMode="auto">
          <a:xfrm>
            <a:off x="3648764" y="2953696"/>
            <a:ext cx="711958" cy="891168"/>
            <a:chOff x="776330" y="2628168"/>
            <a:chExt cx="939758" cy="1224136"/>
          </a:xfrm>
        </p:grpSpPr>
        <p:sp>
          <p:nvSpPr>
            <p:cNvPr id="550" name="Rectangle 63"/>
            <p:cNvSpPr>
              <a:spLocks noChangeArrowheads="1"/>
            </p:cNvSpPr>
            <p:nvPr/>
          </p:nvSpPr>
          <p:spPr bwMode="auto">
            <a:xfrm>
              <a:off x="776330" y="2628168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사업코드관리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1" name="Rectangle 63"/>
            <p:cNvSpPr>
              <a:spLocks noChangeArrowheads="1"/>
            </p:cNvSpPr>
            <p:nvPr/>
          </p:nvSpPr>
          <p:spPr bwMode="auto">
            <a:xfrm>
              <a:off x="776330" y="2829809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사업기획관리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2" name="Rectangle 63"/>
            <p:cNvSpPr>
              <a:spLocks noChangeArrowheads="1"/>
            </p:cNvSpPr>
            <p:nvPr/>
          </p:nvSpPr>
          <p:spPr bwMode="auto">
            <a:xfrm>
              <a:off x="776330" y="3031450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사업전략관리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3" name="Rectangle 63"/>
            <p:cNvSpPr>
              <a:spLocks noChangeArrowheads="1"/>
            </p:cNvSpPr>
            <p:nvPr/>
          </p:nvSpPr>
          <p:spPr bwMode="auto">
            <a:xfrm>
              <a:off x="776330" y="3231504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수주진행관리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4" name="Rectangle 63"/>
            <p:cNvSpPr>
              <a:spLocks noChangeArrowheads="1"/>
            </p:cNvSpPr>
            <p:nvPr/>
          </p:nvSpPr>
          <p:spPr bwMode="auto">
            <a:xfrm>
              <a:off x="776330" y="3433144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입찰정보관리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5" name="Rectangle 63"/>
            <p:cNvSpPr>
              <a:spLocks noChangeArrowheads="1"/>
            </p:cNvSpPr>
            <p:nvPr/>
          </p:nvSpPr>
          <p:spPr bwMode="auto">
            <a:xfrm>
              <a:off x="776330" y="3634786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입찰결과과리</a:t>
              </a:r>
              <a:endParaRPr kumimoji="0" lang="en-US" altLang="ko-KR" sz="900" dirty="0">
                <a:latin typeface="+mn-ea"/>
              </a:endParaRPr>
            </a:p>
          </p:txBody>
        </p:sp>
      </p:grpSp>
      <p:sp>
        <p:nvSpPr>
          <p:cNvPr id="556" name="Rectangle 63"/>
          <p:cNvSpPr>
            <a:spLocks noChangeArrowheads="1"/>
          </p:cNvSpPr>
          <p:nvPr/>
        </p:nvSpPr>
        <p:spPr bwMode="auto">
          <a:xfrm>
            <a:off x="5008854" y="2166370"/>
            <a:ext cx="711958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계산서 발행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57" name="Rectangle 63"/>
          <p:cNvSpPr>
            <a:spLocks noChangeArrowheads="1"/>
          </p:cNvSpPr>
          <p:nvPr/>
        </p:nvSpPr>
        <p:spPr bwMode="auto">
          <a:xfrm>
            <a:off x="5008854" y="2334543"/>
            <a:ext cx="711958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전자증빙관리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58" name="모서리가 둥근 직사각형 557"/>
          <p:cNvSpPr/>
          <p:nvPr/>
        </p:nvSpPr>
        <p:spPr bwMode="auto">
          <a:xfrm>
            <a:off x="6989501" y="2741710"/>
            <a:ext cx="803359" cy="1271446"/>
          </a:xfrm>
          <a:prstGeom prst="roundRect">
            <a:avLst>
              <a:gd name="adj" fmla="val 6702"/>
            </a:avLst>
          </a:prstGeom>
          <a:solidFill>
            <a:schemeClr val="lt1"/>
          </a:solidFill>
          <a:ln w="31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+mn-ea"/>
            </a:endParaRPr>
          </a:p>
        </p:txBody>
      </p:sp>
      <p:sp>
        <p:nvSpPr>
          <p:cNvPr id="559" name="Text Box 121"/>
          <p:cNvSpPr txBox="1">
            <a:spLocks noChangeArrowheads="1"/>
          </p:cNvSpPr>
          <p:nvPr/>
        </p:nvSpPr>
        <p:spPr bwMode="auto">
          <a:xfrm>
            <a:off x="7050487" y="2750820"/>
            <a:ext cx="681893" cy="169200"/>
          </a:xfrm>
          <a:prstGeom prst="rect">
            <a:avLst/>
          </a:prstGeom>
          <a:ln w="3175">
            <a:noFill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0" anchor="ctr"/>
          <a:lstStyle/>
          <a:p>
            <a:pPr algn="ctr" fontAlgn="auto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latin typeface="+mn-ea"/>
              </a:rPr>
              <a:t>급여관리</a:t>
            </a:r>
          </a:p>
        </p:txBody>
      </p:sp>
      <p:grpSp>
        <p:nvGrpSpPr>
          <p:cNvPr id="560" name="그룹 672"/>
          <p:cNvGrpSpPr>
            <a:grpSpLocks/>
          </p:cNvGrpSpPr>
          <p:nvPr/>
        </p:nvGrpSpPr>
        <p:grpSpPr bwMode="auto">
          <a:xfrm>
            <a:off x="7023930" y="2950921"/>
            <a:ext cx="711958" cy="892324"/>
            <a:chOff x="776330" y="2628168"/>
            <a:chExt cx="939758" cy="1224136"/>
          </a:xfrm>
        </p:grpSpPr>
        <p:sp>
          <p:nvSpPr>
            <p:cNvPr id="561" name="Rectangle 63"/>
            <p:cNvSpPr>
              <a:spLocks noChangeArrowheads="1"/>
            </p:cNvSpPr>
            <p:nvPr/>
          </p:nvSpPr>
          <p:spPr bwMode="auto">
            <a:xfrm>
              <a:off x="776330" y="2628168"/>
              <a:ext cx="939758" cy="217236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가족수당신청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2" name="Rectangle 63"/>
            <p:cNvSpPr>
              <a:spLocks noChangeArrowheads="1"/>
            </p:cNvSpPr>
            <p:nvPr/>
          </p:nvSpPr>
          <p:spPr bwMode="auto">
            <a:xfrm>
              <a:off x="776330" y="2829547"/>
              <a:ext cx="939758" cy="217237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학자금지원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3" name="Rectangle 63"/>
            <p:cNvSpPr>
              <a:spLocks noChangeArrowheads="1"/>
            </p:cNvSpPr>
            <p:nvPr/>
          </p:nvSpPr>
          <p:spPr bwMode="auto">
            <a:xfrm>
              <a:off x="776330" y="3030928"/>
              <a:ext cx="939758" cy="217236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급여</a:t>
              </a:r>
              <a:r>
                <a:rPr kumimoji="0" lang="en-US" altLang="ko-KR" sz="900" dirty="0">
                  <a:latin typeface="+mn-ea"/>
                </a:rPr>
                <a:t>/</a:t>
              </a:r>
              <a:r>
                <a:rPr kumimoji="0" lang="ko-KR" altLang="en-US" sz="900" dirty="0">
                  <a:latin typeface="+mn-ea"/>
                </a:rPr>
                <a:t>상여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4" name="Rectangle 63"/>
            <p:cNvSpPr>
              <a:spLocks noChangeArrowheads="1"/>
            </p:cNvSpPr>
            <p:nvPr/>
          </p:nvSpPr>
          <p:spPr bwMode="auto">
            <a:xfrm>
              <a:off x="776330" y="3232307"/>
              <a:ext cx="939758" cy="217237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연말정산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5" name="Rectangle 63"/>
            <p:cNvSpPr>
              <a:spLocks noChangeArrowheads="1"/>
            </p:cNvSpPr>
            <p:nvPr/>
          </p:nvSpPr>
          <p:spPr bwMode="auto">
            <a:xfrm>
              <a:off x="776330" y="3433688"/>
              <a:ext cx="939758" cy="217236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퇴직금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6" name="Rectangle 63"/>
            <p:cNvSpPr>
              <a:spLocks noChangeArrowheads="1"/>
            </p:cNvSpPr>
            <p:nvPr/>
          </p:nvSpPr>
          <p:spPr bwMode="auto">
            <a:xfrm>
              <a:off x="776330" y="3635067"/>
              <a:ext cx="939758" cy="217237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급여정보</a:t>
              </a:r>
              <a:endParaRPr kumimoji="0" lang="en-US" altLang="ko-KR" sz="900" dirty="0">
                <a:latin typeface="+mn-ea"/>
              </a:endParaRPr>
            </a:p>
          </p:txBody>
        </p:sp>
      </p:grpSp>
      <p:sp>
        <p:nvSpPr>
          <p:cNvPr id="567" name="Rectangle 4"/>
          <p:cNvSpPr>
            <a:spLocks noChangeArrowheads="1"/>
          </p:cNvSpPr>
          <p:nvPr/>
        </p:nvSpPr>
        <p:spPr bwMode="auto">
          <a:xfrm>
            <a:off x="571542" y="4162230"/>
            <a:ext cx="1472022" cy="665776"/>
          </a:xfrm>
          <a:prstGeom prst="rect">
            <a:avLst/>
          </a:prstGeom>
          <a:ln w="3175"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568" name="Rectangle 63"/>
          <p:cNvSpPr>
            <a:spLocks noChangeArrowheads="1"/>
          </p:cNvSpPr>
          <p:nvPr/>
        </p:nvSpPr>
        <p:spPr bwMode="auto">
          <a:xfrm>
            <a:off x="892645" y="4162230"/>
            <a:ext cx="1009008" cy="14679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smtClean="0">
                <a:latin typeface="+mn-ea"/>
              </a:rPr>
              <a:t>E H S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569" name="Rectangle 63"/>
          <p:cNvSpPr>
            <a:spLocks noChangeArrowheads="1"/>
          </p:cNvSpPr>
          <p:nvPr/>
        </p:nvSpPr>
        <p:spPr bwMode="auto">
          <a:xfrm>
            <a:off x="679779" y="4589898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안전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0" name="Rectangle 63"/>
          <p:cNvSpPr>
            <a:spLocks noChangeArrowheads="1"/>
          </p:cNvSpPr>
          <p:nvPr/>
        </p:nvSpPr>
        <p:spPr bwMode="auto">
          <a:xfrm>
            <a:off x="679779" y="4400337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smtClean="0">
                <a:solidFill>
                  <a:schemeClr val="tx1"/>
                </a:solidFill>
                <a:latin typeface="+mn-ea"/>
              </a:rPr>
              <a:t>환경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1" name="Rectangle 63"/>
          <p:cNvSpPr>
            <a:spLocks noChangeArrowheads="1"/>
          </p:cNvSpPr>
          <p:nvPr/>
        </p:nvSpPr>
        <p:spPr bwMode="auto">
          <a:xfrm>
            <a:off x="1318377" y="4589898"/>
            <a:ext cx="624166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현황관리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2" name="Rectangle 63"/>
          <p:cNvSpPr>
            <a:spLocks noChangeArrowheads="1"/>
          </p:cNvSpPr>
          <p:nvPr/>
        </p:nvSpPr>
        <p:spPr bwMode="auto">
          <a:xfrm>
            <a:off x="1318377" y="4400337"/>
            <a:ext cx="624166" cy="181470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보건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3" name="Rectangle 63"/>
          <p:cNvSpPr>
            <a:spLocks noChangeArrowheads="1"/>
          </p:cNvSpPr>
          <p:nvPr/>
        </p:nvSpPr>
        <p:spPr bwMode="auto">
          <a:xfrm>
            <a:off x="4161744" y="4415426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규정관리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5" name="순서도: 처리 574"/>
          <p:cNvSpPr/>
          <p:nvPr/>
        </p:nvSpPr>
        <p:spPr>
          <a:xfrm>
            <a:off x="6116245" y="1206762"/>
            <a:ext cx="1805444" cy="2904367"/>
          </a:xfrm>
          <a:prstGeom prst="flowChartProcess">
            <a:avLst/>
          </a:prstGeom>
          <a:solidFill>
            <a:srgbClr val="FFFFFF">
              <a:alpha val="50196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900" smtClean="0">
              <a:solidFill>
                <a:schemeClr val="tx1"/>
              </a:solidFill>
            </a:endParaRPr>
          </a:p>
        </p:txBody>
      </p:sp>
      <p:sp>
        <p:nvSpPr>
          <p:cNvPr id="576" name="순서도: 처리 575"/>
          <p:cNvSpPr/>
          <p:nvPr/>
        </p:nvSpPr>
        <p:spPr>
          <a:xfrm>
            <a:off x="450373" y="4119076"/>
            <a:ext cx="7471316" cy="2083312"/>
          </a:xfrm>
          <a:prstGeom prst="flowChartProcess">
            <a:avLst/>
          </a:prstGeom>
          <a:solidFill>
            <a:srgbClr val="FFFFFF">
              <a:alpha val="50196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9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3</a:t>
            </a:r>
            <a:r>
              <a:rPr lang="en-US" altLang="ko-KR"/>
              <a:t>. </a:t>
            </a:r>
            <a:r>
              <a:rPr lang="ko-KR" altLang="en-US" smtClean="0"/>
              <a:t>목표시스템 구성도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3.3 ERP </a:t>
            </a:r>
            <a:r>
              <a:rPr lang="ko-KR" altLang="en-US" smtClean="0"/>
              <a:t>서비스 구성도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3. </a:t>
            </a:r>
            <a:r>
              <a:rPr lang="ko-KR" altLang="en-US" smtClean="0"/>
              <a:t>목표시스템 구성도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3.3 ERP</a:t>
            </a:r>
            <a:r>
              <a:rPr lang="ko-KR" altLang="en-US" smtClean="0"/>
              <a:t> 서비스 구성도</a:t>
            </a:r>
            <a:endParaRPr lang="en-US" altLang="ko-KR" dirty="0"/>
          </a:p>
        </p:txBody>
      </p:sp>
      <p:sp>
        <p:nvSpPr>
          <p:cNvPr id="295" name="AutoShape 15"/>
          <p:cNvSpPr>
            <a:spLocks noChangeArrowheads="1"/>
          </p:cNvSpPr>
          <p:nvPr/>
        </p:nvSpPr>
        <p:spPr bwMode="auto">
          <a:xfrm>
            <a:off x="2741121" y="2668669"/>
            <a:ext cx="980483" cy="2832717"/>
          </a:xfrm>
          <a:prstGeom prst="roundRect">
            <a:avLst>
              <a:gd name="adj" fmla="val 3149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96" name="모서리가 둥근 직사각형 295"/>
          <p:cNvSpPr/>
          <p:nvPr/>
        </p:nvSpPr>
        <p:spPr>
          <a:xfrm>
            <a:off x="3233771" y="5164128"/>
            <a:ext cx="219224" cy="310080"/>
          </a:xfrm>
          <a:prstGeom prst="roundRect">
            <a:avLst>
              <a:gd name="adj" fmla="val 11556"/>
            </a:avLst>
          </a:prstGeom>
          <a:gradFill>
            <a:gsLst>
              <a:gs pos="0">
                <a:srgbClr val="1992AF">
                  <a:lumMod val="66000"/>
                </a:srgb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  <a:lumMod val="82000"/>
                  <a:lumOff val="18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3465040" y="5164128"/>
            <a:ext cx="219224" cy="310080"/>
          </a:xfrm>
          <a:prstGeom prst="roundRect">
            <a:avLst>
              <a:gd name="adj" fmla="val 11556"/>
            </a:avLst>
          </a:prstGeom>
          <a:gradFill>
            <a:gsLst>
              <a:gs pos="0">
                <a:schemeClr val="accent4">
                  <a:shade val="51000"/>
                  <a:satMod val="130000"/>
                  <a:lumMod val="8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36000" rIns="0" bIns="3600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8" name="모서리가 둥근 직사각형 297"/>
          <p:cNvSpPr/>
          <p:nvPr/>
        </p:nvSpPr>
        <p:spPr>
          <a:xfrm>
            <a:off x="2771234" y="5164128"/>
            <a:ext cx="219224" cy="310080"/>
          </a:xfrm>
          <a:prstGeom prst="roundRect">
            <a:avLst>
              <a:gd name="adj" fmla="val 11556"/>
            </a:avLst>
          </a:prstGeom>
          <a:gradFill>
            <a:gsLst>
              <a:gs pos="0">
                <a:schemeClr val="accent6">
                  <a:shade val="51000"/>
                  <a:satMod val="130000"/>
                  <a:lumMod val="75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36000" rIns="0" bIns="3600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9" name="모서리가 둥근 직사각형 298"/>
          <p:cNvSpPr/>
          <p:nvPr/>
        </p:nvSpPr>
        <p:spPr>
          <a:xfrm>
            <a:off x="3002503" y="5164128"/>
            <a:ext cx="219224" cy="310080"/>
          </a:xfrm>
          <a:prstGeom prst="roundRect">
            <a:avLst>
              <a:gd name="adj" fmla="val 11556"/>
            </a:avLst>
          </a:prstGeom>
          <a:gradFill>
            <a:gsLst>
              <a:gs pos="0">
                <a:schemeClr val="accent3">
                  <a:shade val="51000"/>
                  <a:satMod val="130000"/>
                  <a:lumMod val="71000"/>
                </a:schemeClr>
              </a:gs>
              <a:gs pos="8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36000" rIns="0" bIns="3600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6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0" name="AutoShape 15"/>
          <p:cNvSpPr>
            <a:spLocks noChangeArrowheads="1"/>
          </p:cNvSpPr>
          <p:nvPr/>
        </p:nvSpPr>
        <p:spPr bwMode="auto">
          <a:xfrm>
            <a:off x="297139" y="4564971"/>
            <a:ext cx="2364483" cy="929003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01" name="AutoShape 123"/>
          <p:cNvSpPr>
            <a:spLocks noChangeArrowheads="1"/>
          </p:cNvSpPr>
          <p:nvPr/>
        </p:nvSpPr>
        <p:spPr bwMode="auto">
          <a:xfrm>
            <a:off x="1942521" y="4602032"/>
            <a:ext cx="687784" cy="856115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02" name="AutoShape 15"/>
          <p:cNvSpPr>
            <a:spLocks noChangeArrowheads="1"/>
          </p:cNvSpPr>
          <p:nvPr/>
        </p:nvSpPr>
        <p:spPr bwMode="auto">
          <a:xfrm>
            <a:off x="293526" y="1052797"/>
            <a:ext cx="5216797" cy="1398445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03" name="AutoShape 123"/>
          <p:cNvSpPr>
            <a:spLocks noChangeArrowheads="1"/>
          </p:cNvSpPr>
          <p:nvPr/>
        </p:nvSpPr>
        <p:spPr bwMode="auto">
          <a:xfrm>
            <a:off x="317617" y="1091094"/>
            <a:ext cx="3382306" cy="1326794"/>
          </a:xfrm>
          <a:prstGeom prst="roundRect">
            <a:avLst>
              <a:gd name="adj" fmla="val 4278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304" name="그림 59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9" y="865020"/>
            <a:ext cx="1039505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5" name="Rectangle 88"/>
          <p:cNvSpPr>
            <a:spLocks noChangeArrowheads="1"/>
          </p:cNvSpPr>
          <p:nvPr/>
        </p:nvSpPr>
        <p:spPr bwMode="auto">
          <a:xfrm>
            <a:off x="426460" y="905627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예산관리</a:t>
            </a:r>
          </a:p>
        </p:txBody>
      </p:sp>
      <p:sp>
        <p:nvSpPr>
          <p:cNvPr id="306" name="모서리가 둥근 직사각형 305"/>
          <p:cNvSpPr/>
          <p:nvPr/>
        </p:nvSpPr>
        <p:spPr>
          <a:xfrm>
            <a:off x="351344" y="1737195"/>
            <a:ext cx="611899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중장기예산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07" name="모서리가 둥근 직사각형 306"/>
          <p:cNvSpPr/>
          <p:nvPr/>
        </p:nvSpPr>
        <p:spPr>
          <a:xfrm>
            <a:off x="998234" y="1529652"/>
            <a:ext cx="661164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단년도예산편성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08" name="모서리가 둥근 직사각형 307"/>
          <p:cNvSpPr/>
          <p:nvPr/>
        </p:nvSpPr>
        <p:spPr>
          <a:xfrm>
            <a:off x="1028287" y="1737195"/>
            <a:ext cx="611899" cy="1408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예산안승인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09" name="모서리가 둥근 직사각형 308"/>
          <p:cNvSpPr/>
          <p:nvPr/>
        </p:nvSpPr>
        <p:spPr>
          <a:xfrm>
            <a:off x="1706434" y="1737195"/>
            <a:ext cx="611899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예산마감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0" name="모서리가 둥근 직사각형 309"/>
          <p:cNvSpPr/>
          <p:nvPr/>
        </p:nvSpPr>
        <p:spPr>
          <a:xfrm>
            <a:off x="1706434" y="209669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예산서출력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1" name="모서리가 둥근 직사각형 310"/>
          <p:cNvSpPr/>
          <p:nvPr/>
        </p:nvSpPr>
        <p:spPr>
          <a:xfrm>
            <a:off x="1706434" y="2257289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예실대비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2" name="모서리가 둥근 직사각형 311"/>
          <p:cNvSpPr/>
          <p:nvPr/>
        </p:nvSpPr>
        <p:spPr>
          <a:xfrm>
            <a:off x="2366513" y="1529652"/>
            <a:ext cx="601058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추경예산신청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3" name="모서리가 둥근 직사각형 312"/>
          <p:cNvSpPr/>
          <p:nvPr/>
        </p:nvSpPr>
        <p:spPr>
          <a:xfrm>
            <a:off x="2366513" y="1737195"/>
            <a:ext cx="611899" cy="1408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예산안승인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4" name="모서리가 둥근 직사각형 313"/>
          <p:cNvSpPr/>
          <p:nvPr/>
        </p:nvSpPr>
        <p:spPr>
          <a:xfrm>
            <a:off x="2714621" y="209669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월별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`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집행계획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5" name="모서리가 둥근 직사각형 314"/>
          <p:cNvSpPr/>
          <p:nvPr/>
        </p:nvSpPr>
        <p:spPr>
          <a:xfrm>
            <a:off x="1028287" y="2257289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연간예산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6" name="모서리가 둥근 직사각형 315"/>
          <p:cNvSpPr/>
          <p:nvPr/>
        </p:nvSpPr>
        <p:spPr>
          <a:xfrm>
            <a:off x="2366513" y="2257289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추경예산편성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7" name="모서리가 둥근 직사각형 316"/>
          <p:cNvSpPr/>
          <p:nvPr/>
        </p:nvSpPr>
        <p:spPr>
          <a:xfrm>
            <a:off x="3051888" y="2257289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전용예산내역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8" name="이등변 삼각형 317"/>
          <p:cNvSpPr/>
          <p:nvPr/>
        </p:nvSpPr>
        <p:spPr>
          <a:xfrm rot="16200000">
            <a:off x="1649667" y="1383693"/>
            <a:ext cx="60533" cy="33727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19" name="이등변 삼각형 318"/>
          <p:cNvSpPr/>
          <p:nvPr/>
        </p:nvSpPr>
        <p:spPr>
          <a:xfrm rot="10800000">
            <a:off x="1293282" y="1480237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0" name="이등변 삼각형 319"/>
          <p:cNvSpPr/>
          <p:nvPr/>
        </p:nvSpPr>
        <p:spPr>
          <a:xfrm rot="10800000">
            <a:off x="1293282" y="1687780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1" name="이등변 삼각형 320"/>
          <p:cNvSpPr/>
          <p:nvPr/>
        </p:nvSpPr>
        <p:spPr>
          <a:xfrm rot="10800000">
            <a:off x="1293282" y="1894088"/>
            <a:ext cx="59021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2" name="이등변 삼각형 321"/>
          <p:cNvSpPr/>
          <p:nvPr/>
        </p:nvSpPr>
        <p:spPr>
          <a:xfrm rot="5400000">
            <a:off x="1642425" y="1786441"/>
            <a:ext cx="61769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3" name="이등변 삼각형 322"/>
          <p:cNvSpPr/>
          <p:nvPr/>
        </p:nvSpPr>
        <p:spPr>
          <a:xfrm rot="5400000">
            <a:off x="1643043" y="2151494"/>
            <a:ext cx="60533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4" name="이등변 삼각형 323"/>
          <p:cNvSpPr/>
          <p:nvPr/>
        </p:nvSpPr>
        <p:spPr>
          <a:xfrm rot="5400000">
            <a:off x="1643043" y="2314563"/>
            <a:ext cx="60533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5" name="이등변 삼각형 324"/>
          <p:cNvSpPr/>
          <p:nvPr/>
        </p:nvSpPr>
        <p:spPr>
          <a:xfrm rot="5400000">
            <a:off x="2981270" y="2314563"/>
            <a:ext cx="60533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6" name="이등변 삼각형 325"/>
          <p:cNvSpPr/>
          <p:nvPr/>
        </p:nvSpPr>
        <p:spPr>
          <a:xfrm rot="10800000">
            <a:off x="2647168" y="1687780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7" name="이등변 삼각형 326"/>
          <p:cNvSpPr/>
          <p:nvPr/>
        </p:nvSpPr>
        <p:spPr>
          <a:xfrm rot="10800000">
            <a:off x="3333747" y="1682839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8" name="이등변 삼각형 327"/>
          <p:cNvSpPr/>
          <p:nvPr/>
        </p:nvSpPr>
        <p:spPr>
          <a:xfrm rot="10800000">
            <a:off x="3333747" y="1894088"/>
            <a:ext cx="59021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9" name="이등변 삼각형 328"/>
          <p:cNvSpPr/>
          <p:nvPr/>
        </p:nvSpPr>
        <p:spPr>
          <a:xfrm rot="10800000">
            <a:off x="2647168" y="1894088"/>
            <a:ext cx="60226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30" name="직사각형 329"/>
          <p:cNvSpPr/>
          <p:nvPr/>
        </p:nvSpPr>
        <p:spPr>
          <a:xfrm>
            <a:off x="324844" y="1099741"/>
            <a:ext cx="3381101" cy="18036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31" name="Rectangle 88"/>
          <p:cNvSpPr>
            <a:spLocks noChangeArrowheads="1"/>
          </p:cNvSpPr>
          <p:nvPr/>
        </p:nvSpPr>
        <p:spPr bwMode="auto">
          <a:xfrm>
            <a:off x="1590799" y="1104683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예산편성</a:t>
            </a:r>
          </a:p>
        </p:txBody>
      </p:sp>
      <p:sp>
        <p:nvSpPr>
          <p:cNvPr id="332" name="AutoShape 123"/>
          <p:cNvSpPr>
            <a:spLocks noChangeArrowheads="1"/>
          </p:cNvSpPr>
          <p:nvPr/>
        </p:nvSpPr>
        <p:spPr bwMode="auto">
          <a:xfrm>
            <a:off x="3733650" y="1091094"/>
            <a:ext cx="663693" cy="1326794"/>
          </a:xfrm>
          <a:prstGeom prst="roundRect">
            <a:avLst>
              <a:gd name="adj" fmla="val 4278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33" name="직사각형 332"/>
          <p:cNvSpPr/>
          <p:nvPr/>
        </p:nvSpPr>
        <p:spPr>
          <a:xfrm>
            <a:off x="3734854" y="1099741"/>
            <a:ext cx="655262" cy="18036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34" name="Rectangle 88"/>
          <p:cNvSpPr>
            <a:spLocks noChangeArrowheads="1"/>
          </p:cNvSpPr>
          <p:nvPr/>
        </p:nvSpPr>
        <p:spPr bwMode="auto">
          <a:xfrm>
            <a:off x="3745695" y="1104683"/>
            <a:ext cx="628762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예산배정</a:t>
            </a:r>
          </a:p>
        </p:txBody>
      </p:sp>
      <p:sp>
        <p:nvSpPr>
          <p:cNvPr id="335" name="모서리가 둥근 직사각형 334"/>
          <p:cNvSpPr/>
          <p:nvPr/>
        </p:nvSpPr>
        <p:spPr>
          <a:xfrm>
            <a:off x="3762558" y="1727312"/>
            <a:ext cx="601058" cy="13959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분기배정신청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36" name="꺾인 연결선 335"/>
          <p:cNvCxnSpPr/>
          <p:nvPr/>
        </p:nvCxnSpPr>
        <p:spPr>
          <a:xfrm rot="16200000" flipH="1">
            <a:off x="770582" y="1373528"/>
            <a:ext cx="139597" cy="301131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351344" y="1318403"/>
            <a:ext cx="611899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사업코드</a:t>
            </a:r>
          </a:p>
        </p:txBody>
      </p:sp>
      <p:sp>
        <p:nvSpPr>
          <p:cNvPr id="338" name="모서리가 둥근 직사각형 337"/>
          <p:cNvSpPr/>
          <p:nvPr/>
        </p:nvSpPr>
        <p:spPr>
          <a:xfrm>
            <a:off x="1028287" y="1318403"/>
            <a:ext cx="611899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예산과목</a:t>
            </a:r>
          </a:p>
        </p:txBody>
      </p:sp>
      <p:sp>
        <p:nvSpPr>
          <p:cNvPr id="339" name="모서리가 둥근 직사각형 338"/>
          <p:cNvSpPr/>
          <p:nvPr/>
        </p:nvSpPr>
        <p:spPr>
          <a:xfrm>
            <a:off x="1706434" y="1318403"/>
            <a:ext cx="611899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예산항목분류</a:t>
            </a:r>
          </a:p>
        </p:txBody>
      </p:sp>
      <p:cxnSp>
        <p:nvCxnSpPr>
          <p:cNvPr id="340" name="직선 연결선 339"/>
          <p:cNvCxnSpPr/>
          <p:nvPr/>
        </p:nvCxnSpPr>
        <p:spPr>
          <a:xfrm>
            <a:off x="652475" y="1448117"/>
            <a:ext cx="0" cy="244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이등변 삼각형 340"/>
          <p:cNvSpPr/>
          <p:nvPr/>
        </p:nvSpPr>
        <p:spPr>
          <a:xfrm rot="10800000">
            <a:off x="623566" y="1687780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2" name="이등변 삼각형 341"/>
          <p:cNvSpPr/>
          <p:nvPr/>
        </p:nvSpPr>
        <p:spPr>
          <a:xfrm rot="5400000">
            <a:off x="966100" y="1585692"/>
            <a:ext cx="60533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43" name="꺾인 연결선 342"/>
          <p:cNvCxnSpPr/>
          <p:nvPr/>
        </p:nvCxnSpPr>
        <p:spPr>
          <a:xfrm rot="5400000">
            <a:off x="1759822" y="1335307"/>
            <a:ext cx="161834" cy="355335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꺾인 연결선 343"/>
          <p:cNvCxnSpPr/>
          <p:nvPr/>
        </p:nvCxnSpPr>
        <p:spPr>
          <a:xfrm rot="16200000" flipH="1">
            <a:off x="1424623" y="1931037"/>
            <a:ext cx="140833" cy="328836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모서리가 둥근 직사각형 344"/>
          <p:cNvSpPr/>
          <p:nvPr/>
        </p:nvSpPr>
        <p:spPr>
          <a:xfrm>
            <a:off x="1028287" y="1938562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연간예산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46" name="꺾인 연결선 345"/>
          <p:cNvCxnSpPr/>
          <p:nvPr/>
        </p:nvCxnSpPr>
        <p:spPr>
          <a:xfrm rot="5400000">
            <a:off x="2435545" y="1924227"/>
            <a:ext cx="163070" cy="327631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모서리가 둥근 직사각형 346"/>
          <p:cNvSpPr/>
          <p:nvPr/>
        </p:nvSpPr>
        <p:spPr>
          <a:xfrm>
            <a:off x="2366513" y="1938562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추경예산편성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48" name="이등변 삼각형 347"/>
          <p:cNvSpPr/>
          <p:nvPr/>
        </p:nvSpPr>
        <p:spPr>
          <a:xfrm rot="16200000">
            <a:off x="2318781" y="2151494"/>
            <a:ext cx="60533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49" name="꺾인 연결선 348"/>
          <p:cNvCxnSpPr/>
          <p:nvPr/>
        </p:nvCxnSpPr>
        <p:spPr>
          <a:xfrm rot="16200000" flipH="1">
            <a:off x="747695" y="1776599"/>
            <a:ext cx="139598" cy="327631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이등변 삼각형 349"/>
          <p:cNvSpPr/>
          <p:nvPr/>
        </p:nvSpPr>
        <p:spPr>
          <a:xfrm rot="5400000">
            <a:off x="966100" y="1999542"/>
            <a:ext cx="60534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51" name="이등변 삼각형 350"/>
          <p:cNvSpPr/>
          <p:nvPr/>
        </p:nvSpPr>
        <p:spPr>
          <a:xfrm rot="16200000">
            <a:off x="1633993" y="1583839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52" name="꺾인 연결선 351"/>
          <p:cNvCxnSpPr>
            <a:stCxn id="314" idx="3"/>
            <a:endCxn id="356" idx="1"/>
          </p:cNvCxnSpPr>
          <p:nvPr/>
        </p:nvCxnSpPr>
        <p:spPr>
          <a:xfrm flipV="1">
            <a:off x="3326520" y="1600069"/>
            <a:ext cx="436038" cy="565802"/>
          </a:xfrm>
          <a:prstGeom prst="bentConnector3">
            <a:avLst>
              <a:gd name="adj1" fmla="val 65929"/>
            </a:avLst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모서리가 둥근 직사각형 352"/>
          <p:cNvSpPr/>
          <p:nvPr/>
        </p:nvSpPr>
        <p:spPr>
          <a:xfrm>
            <a:off x="3051888" y="1737195"/>
            <a:ext cx="611899" cy="1408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예산전용승인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54" name="모서리가 둥근 직사각형 353"/>
          <p:cNvSpPr/>
          <p:nvPr/>
        </p:nvSpPr>
        <p:spPr>
          <a:xfrm>
            <a:off x="3051888" y="1938562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전용예산내역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55" name="꺾인 연결선 354"/>
          <p:cNvCxnSpPr/>
          <p:nvPr/>
        </p:nvCxnSpPr>
        <p:spPr>
          <a:xfrm rot="10800000" flipH="1">
            <a:off x="3762558" y="1540771"/>
            <a:ext cx="83112" cy="789405"/>
          </a:xfrm>
          <a:prstGeom prst="bentConnector4">
            <a:avLst>
              <a:gd name="adj1" fmla="val -93106"/>
              <a:gd name="adj2" fmla="val 92315"/>
            </a:avLst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모서리가 둥근 직사각형 355"/>
          <p:cNvSpPr/>
          <p:nvPr/>
        </p:nvSpPr>
        <p:spPr>
          <a:xfrm>
            <a:off x="3762558" y="1529652"/>
            <a:ext cx="601058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연간월별배정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57" name="모서리가 둥근 직사각형 356"/>
          <p:cNvSpPr/>
          <p:nvPr/>
        </p:nvSpPr>
        <p:spPr>
          <a:xfrm>
            <a:off x="3762558" y="2257289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절감 목표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58" name="이등변 삼각형 357"/>
          <p:cNvSpPr/>
          <p:nvPr/>
        </p:nvSpPr>
        <p:spPr>
          <a:xfrm rot="5400000">
            <a:off x="3716030" y="1585692"/>
            <a:ext cx="60533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59" name="AutoShape 123"/>
          <p:cNvSpPr>
            <a:spLocks noChangeArrowheads="1"/>
          </p:cNvSpPr>
          <p:nvPr/>
        </p:nvSpPr>
        <p:spPr bwMode="auto">
          <a:xfrm>
            <a:off x="4435887" y="1091094"/>
            <a:ext cx="1039505" cy="1326794"/>
          </a:xfrm>
          <a:prstGeom prst="roundRect">
            <a:avLst>
              <a:gd name="adj" fmla="val 4278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60" name="모서리가 둥근 직사각형 359"/>
          <p:cNvSpPr/>
          <p:nvPr/>
        </p:nvSpPr>
        <p:spPr>
          <a:xfrm>
            <a:off x="4464796" y="2257289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 한도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61" name="직선 연결선 360"/>
          <p:cNvCxnSpPr/>
          <p:nvPr/>
        </p:nvCxnSpPr>
        <p:spPr>
          <a:xfrm>
            <a:off x="4774359" y="1721136"/>
            <a:ext cx="0" cy="487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이등변 삼각형 361"/>
          <p:cNvSpPr/>
          <p:nvPr/>
        </p:nvSpPr>
        <p:spPr>
          <a:xfrm rot="10800000">
            <a:off x="4745451" y="2214050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363" name="그룹 458"/>
          <p:cNvGrpSpPr>
            <a:grpSpLocks/>
          </p:cNvGrpSpPr>
          <p:nvPr/>
        </p:nvGrpSpPr>
        <p:grpSpPr bwMode="auto">
          <a:xfrm>
            <a:off x="3029002" y="940378"/>
            <a:ext cx="537218" cy="550978"/>
            <a:chOff x="4005363" y="2738998"/>
            <a:chExt cx="708151" cy="708151"/>
          </a:xfrm>
        </p:grpSpPr>
        <p:pic>
          <p:nvPicPr>
            <p:cNvPr id="954" name="그림 95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55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7" cy="237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그룹</a:t>
              </a:r>
              <a:endParaRPr lang="en-US" altLang="ko-KR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웨어</a:t>
              </a:r>
            </a:p>
          </p:txBody>
        </p:sp>
      </p:grpSp>
      <p:cxnSp>
        <p:nvCxnSpPr>
          <p:cNvPr id="364" name="직선 연결선 363"/>
          <p:cNvCxnSpPr/>
          <p:nvPr/>
        </p:nvCxnSpPr>
        <p:spPr>
          <a:xfrm>
            <a:off x="5183898" y="1420939"/>
            <a:ext cx="0" cy="5040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꺾인 연결선 364"/>
          <p:cNvCxnSpPr/>
          <p:nvPr/>
        </p:nvCxnSpPr>
        <p:spPr>
          <a:xfrm flipV="1">
            <a:off x="4333503" y="1936091"/>
            <a:ext cx="816668" cy="244604"/>
          </a:xfrm>
          <a:prstGeom prst="bentConnector4">
            <a:avLst>
              <a:gd name="adj1" fmla="val 44542"/>
              <a:gd name="adj2" fmla="val 172750"/>
            </a:avLst>
          </a:prstGeom>
          <a:ln w="9525">
            <a:solidFill>
              <a:srgbClr val="EC46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모서리가 둥근 직사각형 365"/>
          <p:cNvSpPr/>
          <p:nvPr/>
        </p:nvSpPr>
        <p:spPr>
          <a:xfrm>
            <a:off x="3755331" y="209669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 배정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367" name="그룹 52"/>
          <p:cNvGrpSpPr>
            <a:grpSpLocks/>
          </p:cNvGrpSpPr>
          <p:nvPr/>
        </p:nvGrpSpPr>
        <p:grpSpPr bwMode="auto">
          <a:xfrm>
            <a:off x="4537067" y="1542006"/>
            <a:ext cx="554081" cy="300197"/>
            <a:chOff x="4817293" y="5090031"/>
            <a:chExt cx="730444" cy="385994"/>
          </a:xfrm>
        </p:grpSpPr>
        <p:pic>
          <p:nvPicPr>
            <p:cNvPr id="952" name="Picture 434" descr="db02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4F9F3"/>
                </a:clrFrom>
                <a:clrTo>
                  <a:srgbClr val="F4F9F3">
                    <a:alpha val="0"/>
                  </a:srgbClr>
                </a:clrTo>
              </a:clrChange>
              <a:lum brigh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7293" y="5090031"/>
              <a:ext cx="730444" cy="385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3" name="Rectangle 435"/>
            <p:cNvSpPr>
              <a:spLocks noChangeArrowheads="1"/>
            </p:cNvSpPr>
            <p:nvPr/>
          </p:nvSpPr>
          <p:spPr bwMode="auto">
            <a:xfrm>
              <a:off x="4932298" y="5287284"/>
              <a:ext cx="418944" cy="16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412" tIns="44206" rIns="88412" bIns="44206" anchor="ctr"/>
            <a:lstStyle>
              <a:lvl1pPr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lnSpc>
                  <a:spcPct val="60000"/>
                </a:lnSpc>
              </a:pPr>
              <a:r>
                <a:rPr kumimoji="0" lang="ko-KR" altLang="en-US" sz="700" b="1">
                  <a:solidFill>
                    <a:srgbClr val="FFFFFF"/>
                  </a:solidFill>
                  <a:latin typeface="+mn-ea"/>
                  <a:ea typeface="+mn-ea"/>
                </a:rPr>
                <a:t>배정</a:t>
              </a:r>
            </a:p>
          </p:txBody>
        </p:sp>
      </p:grpSp>
      <p:cxnSp>
        <p:nvCxnSpPr>
          <p:cNvPr id="368" name="꺾인 연결선 367"/>
          <p:cNvCxnSpPr>
            <a:stCxn id="371" idx="3"/>
          </p:cNvCxnSpPr>
          <p:nvPr/>
        </p:nvCxnSpPr>
        <p:spPr>
          <a:xfrm flipV="1">
            <a:off x="4366025" y="1691487"/>
            <a:ext cx="171043" cy="261900"/>
          </a:xfrm>
          <a:prstGeom prst="bentConnector3">
            <a:avLst>
              <a:gd name="adj1" fmla="val 50000"/>
            </a:avLst>
          </a:prstGeom>
          <a:ln w="9525">
            <a:solidFill>
              <a:srgbClr val="EC46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AutoShape 636"/>
          <p:cNvSpPr>
            <a:spLocks noChangeArrowheads="1"/>
          </p:cNvSpPr>
          <p:nvPr/>
        </p:nvSpPr>
        <p:spPr bwMode="auto">
          <a:xfrm>
            <a:off x="4882766" y="1921267"/>
            <a:ext cx="602262" cy="287842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가용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한도</a:t>
            </a:r>
          </a:p>
        </p:txBody>
      </p:sp>
      <p:sp>
        <p:nvSpPr>
          <p:cNvPr id="370" name="모서리가 둥근 직사각형 369"/>
          <p:cNvSpPr/>
          <p:nvPr/>
        </p:nvSpPr>
        <p:spPr>
          <a:xfrm>
            <a:off x="3051888" y="1529652"/>
            <a:ext cx="601058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예산전용신청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71" name="모서리가 둥근 직사각형 370"/>
          <p:cNvSpPr/>
          <p:nvPr/>
        </p:nvSpPr>
        <p:spPr>
          <a:xfrm>
            <a:off x="3754126" y="1882970"/>
            <a:ext cx="611899" cy="140833"/>
          </a:xfrm>
          <a:prstGeom prst="roundRect">
            <a:avLst/>
          </a:prstGeom>
          <a:ln/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수시배정신청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72" name="모서리가 둥근 직사각형 371"/>
          <p:cNvSpPr/>
          <p:nvPr/>
        </p:nvSpPr>
        <p:spPr>
          <a:xfrm>
            <a:off x="3466245" y="1309755"/>
            <a:ext cx="383039" cy="139598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990033"/>
                </a:solidFill>
                <a:latin typeface="+mn-ea"/>
              </a:rPr>
              <a:t>전자결재</a:t>
            </a:r>
            <a:endParaRPr kumimoji="0" lang="en-US" altLang="ko-KR" sz="700" kern="0" dirty="0">
              <a:solidFill>
                <a:srgbClr val="990033"/>
              </a:solidFill>
              <a:latin typeface="+mn-ea"/>
            </a:endParaRPr>
          </a:p>
        </p:txBody>
      </p:sp>
      <p:sp>
        <p:nvSpPr>
          <p:cNvPr id="380" name="AutoShape 15"/>
          <p:cNvSpPr>
            <a:spLocks noChangeArrowheads="1"/>
          </p:cNvSpPr>
          <p:nvPr/>
        </p:nvSpPr>
        <p:spPr bwMode="auto">
          <a:xfrm>
            <a:off x="297139" y="2668669"/>
            <a:ext cx="2369301" cy="1063659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81" name="AutoShape 123"/>
          <p:cNvSpPr>
            <a:spLocks noChangeArrowheads="1"/>
          </p:cNvSpPr>
          <p:nvPr/>
        </p:nvSpPr>
        <p:spPr bwMode="auto">
          <a:xfrm>
            <a:off x="321230" y="2704495"/>
            <a:ext cx="2313893" cy="994477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382" name="그림 90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02" y="2475950"/>
            <a:ext cx="1039505" cy="206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3" name="Rectangle 88"/>
          <p:cNvSpPr>
            <a:spLocks noChangeArrowheads="1"/>
          </p:cNvSpPr>
          <p:nvPr/>
        </p:nvSpPr>
        <p:spPr bwMode="auto">
          <a:xfrm>
            <a:off x="429974" y="2511031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총무</a:t>
            </a:r>
            <a:r>
              <a:rPr lang="en-US" altLang="ko-KR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/</a:t>
            </a: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급여관리</a:t>
            </a:r>
          </a:p>
        </p:txBody>
      </p:sp>
      <p:sp>
        <p:nvSpPr>
          <p:cNvPr id="396" name="AutoShape 123"/>
          <p:cNvSpPr>
            <a:spLocks noChangeArrowheads="1"/>
          </p:cNvSpPr>
          <p:nvPr/>
        </p:nvSpPr>
        <p:spPr bwMode="auto">
          <a:xfrm>
            <a:off x="2776052" y="2704495"/>
            <a:ext cx="913030" cy="2345978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97" name="Rectangle 63"/>
          <p:cNvSpPr>
            <a:spLocks noChangeArrowheads="1"/>
          </p:cNvSpPr>
          <p:nvPr/>
        </p:nvSpPr>
        <p:spPr bwMode="auto">
          <a:xfrm>
            <a:off x="2826642" y="3539609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교육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훈련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8" name="Rectangle 63"/>
          <p:cNvSpPr>
            <a:spLocks noChangeArrowheads="1"/>
          </p:cNvSpPr>
          <p:nvPr/>
        </p:nvSpPr>
        <p:spPr bwMode="auto">
          <a:xfrm>
            <a:off x="2826642" y="3157877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학력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병력사항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9" name="Rectangle 63"/>
          <p:cNvSpPr>
            <a:spLocks noChangeArrowheads="1"/>
          </p:cNvSpPr>
          <p:nvPr/>
        </p:nvSpPr>
        <p:spPr bwMode="auto">
          <a:xfrm>
            <a:off x="2826642" y="3030634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가족사항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9" name="Rectangle 63"/>
          <p:cNvSpPr>
            <a:spLocks noChangeArrowheads="1"/>
          </p:cNvSpPr>
          <p:nvPr/>
        </p:nvSpPr>
        <p:spPr bwMode="auto">
          <a:xfrm>
            <a:off x="2826642" y="3290063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병역사항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1" name="Rectangle 63"/>
          <p:cNvSpPr>
            <a:spLocks noChangeArrowheads="1"/>
          </p:cNvSpPr>
          <p:nvPr/>
        </p:nvSpPr>
        <p:spPr bwMode="auto">
          <a:xfrm>
            <a:off x="2826642" y="3418542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자격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면허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2" name="Rectangle 63"/>
          <p:cNvSpPr>
            <a:spLocks noChangeArrowheads="1"/>
          </p:cNvSpPr>
          <p:nvPr/>
        </p:nvSpPr>
        <p:spPr bwMode="auto">
          <a:xfrm>
            <a:off x="2826642" y="3661911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인사발령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1" name="Rectangle 63"/>
          <p:cNvSpPr>
            <a:spLocks noChangeArrowheads="1"/>
          </p:cNvSpPr>
          <p:nvPr/>
        </p:nvSpPr>
        <p:spPr bwMode="auto">
          <a:xfrm>
            <a:off x="2826642" y="3784213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건강검진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2" name="Rectangle 63"/>
          <p:cNvSpPr>
            <a:spLocks noChangeArrowheads="1"/>
          </p:cNvSpPr>
          <p:nvPr/>
        </p:nvSpPr>
        <p:spPr bwMode="auto">
          <a:xfrm>
            <a:off x="2826642" y="3908986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산업재해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3" name="Rectangle 63"/>
          <p:cNvSpPr>
            <a:spLocks noChangeArrowheads="1"/>
          </p:cNvSpPr>
          <p:nvPr/>
        </p:nvSpPr>
        <p:spPr bwMode="auto">
          <a:xfrm>
            <a:off x="2826642" y="4031288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포상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징계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4" name="Rectangle 63"/>
          <p:cNvSpPr>
            <a:spLocks noChangeArrowheads="1"/>
          </p:cNvSpPr>
          <p:nvPr/>
        </p:nvSpPr>
        <p:spPr bwMode="auto">
          <a:xfrm>
            <a:off x="2826642" y="4154826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증빙관리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5" name="Rectangle 63"/>
          <p:cNvSpPr>
            <a:spLocks noChangeArrowheads="1"/>
          </p:cNvSpPr>
          <p:nvPr/>
        </p:nvSpPr>
        <p:spPr bwMode="auto">
          <a:xfrm>
            <a:off x="2826642" y="2783559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조직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직무관리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6" name="Rectangle 63"/>
          <p:cNvSpPr>
            <a:spLocks noChangeArrowheads="1"/>
          </p:cNvSpPr>
          <p:nvPr/>
        </p:nvSpPr>
        <p:spPr bwMode="auto">
          <a:xfrm>
            <a:off x="2826642" y="4527909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인사검색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7" name="Rectangle 63"/>
          <p:cNvSpPr>
            <a:spLocks noChangeArrowheads="1"/>
          </p:cNvSpPr>
          <p:nvPr/>
        </p:nvSpPr>
        <p:spPr bwMode="auto">
          <a:xfrm>
            <a:off x="2826642" y="4279599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인사기록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8" name="Rectangle 63"/>
          <p:cNvSpPr>
            <a:spLocks noChangeArrowheads="1"/>
          </p:cNvSpPr>
          <p:nvPr/>
        </p:nvSpPr>
        <p:spPr bwMode="auto">
          <a:xfrm>
            <a:off x="2826642" y="4650211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대사우업무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9" name="Rectangle 63"/>
          <p:cNvSpPr>
            <a:spLocks noChangeArrowheads="1"/>
          </p:cNvSpPr>
          <p:nvPr/>
        </p:nvSpPr>
        <p:spPr bwMode="auto">
          <a:xfrm>
            <a:off x="2826642" y="4401901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조직도검색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0" name="Rectangle 63"/>
          <p:cNvSpPr>
            <a:spLocks noChangeArrowheads="1"/>
          </p:cNvSpPr>
          <p:nvPr/>
        </p:nvSpPr>
        <p:spPr bwMode="auto">
          <a:xfrm>
            <a:off x="2826642" y="4896051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근무평가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1" name="Rectangle 63"/>
          <p:cNvSpPr>
            <a:spLocks noChangeArrowheads="1"/>
          </p:cNvSpPr>
          <p:nvPr/>
        </p:nvSpPr>
        <p:spPr bwMode="auto">
          <a:xfrm>
            <a:off x="2826642" y="2902155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채용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 err="1">
                <a:solidFill>
                  <a:srgbClr val="000000"/>
                </a:solidFill>
                <a:latin typeface="+mn-ea"/>
              </a:rPr>
              <a:t>인적관리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2" name="Rectangle 63"/>
          <p:cNvSpPr>
            <a:spLocks noChangeArrowheads="1"/>
          </p:cNvSpPr>
          <p:nvPr/>
        </p:nvSpPr>
        <p:spPr bwMode="auto">
          <a:xfrm>
            <a:off x="2826642" y="4776220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외부인력관리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483" name="직선 연결선 482"/>
          <p:cNvCxnSpPr/>
          <p:nvPr/>
        </p:nvCxnSpPr>
        <p:spPr>
          <a:xfrm>
            <a:off x="2777257" y="2914509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직선 연결선 483"/>
          <p:cNvCxnSpPr/>
          <p:nvPr/>
        </p:nvCxnSpPr>
        <p:spPr>
          <a:xfrm>
            <a:off x="2777257" y="3040517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직선 연결선 484"/>
          <p:cNvCxnSpPr/>
          <p:nvPr/>
        </p:nvCxnSpPr>
        <p:spPr>
          <a:xfrm>
            <a:off x="2777257" y="3167760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직선 연결선 485"/>
          <p:cNvCxnSpPr/>
          <p:nvPr/>
        </p:nvCxnSpPr>
        <p:spPr>
          <a:xfrm>
            <a:off x="2777257" y="3286356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직선 연결선 486"/>
          <p:cNvCxnSpPr/>
          <p:nvPr/>
        </p:nvCxnSpPr>
        <p:spPr>
          <a:xfrm>
            <a:off x="2777257" y="3413601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직선 연결선 501"/>
          <p:cNvCxnSpPr/>
          <p:nvPr/>
        </p:nvCxnSpPr>
        <p:spPr>
          <a:xfrm>
            <a:off x="2777257" y="3540844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직선 연결선 502"/>
          <p:cNvCxnSpPr/>
          <p:nvPr/>
        </p:nvCxnSpPr>
        <p:spPr>
          <a:xfrm>
            <a:off x="2777257" y="3659440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직선 연결선 503"/>
          <p:cNvCxnSpPr/>
          <p:nvPr/>
        </p:nvCxnSpPr>
        <p:spPr>
          <a:xfrm>
            <a:off x="2777257" y="3786684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직선 연결선 504"/>
          <p:cNvCxnSpPr/>
          <p:nvPr/>
        </p:nvCxnSpPr>
        <p:spPr>
          <a:xfrm>
            <a:off x="2777257" y="3913927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직선 연결선 505"/>
          <p:cNvCxnSpPr/>
          <p:nvPr/>
        </p:nvCxnSpPr>
        <p:spPr>
          <a:xfrm>
            <a:off x="2777257" y="4023876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직선 연결선 506"/>
          <p:cNvCxnSpPr/>
          <p:nvPr/>
        </p:nvCxnSpPr>
        <p:spPr>
          <a:xfrm>
            <a:off x="2777257" y="4151120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직선 연결선 507"/>
          <p:cNvCxnSpPr/>
          <p:nvPr/>
        </p:nvCxnSpPr>
        <p:spPr>
          <a:xfrm>
            <a:off x="2777257" y="4278364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직선 연결선 508"/>
          <p:cNvCxnSpPr/>
          <p:nvPr/>
        </p:nvCxnSpPr>
        <p:spPr>
          <a:xfrm>
            <a:off x="2777257" y="4396960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직선 연결선 509"/>
          <p:cNvCxnSpPr/>
          <p:nvPr/>
        </p:nvCxnSpPr>
        <p:spPr>
          <a:xfrm>
            <a:off x="2777257" y="4522968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직선 연결선 510"/>
          <p:cNvCxnSpPr/>
          <p:nvPr/>
        </p:nvCxnSpPr>
        <p:spPr>
          <a:xfrm>
            <a:off x="2777257" y="4650211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직선 연결선 511"/>
          <p:cNvCxnSpPr/>
          <p:nvPr/>
        </p:nvCxnSpPr>
        <p:spPr>
          <a:xfrm>
            <a:off x="2777257" y="4768807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직선 연결선 512"/>
          <p:cNvCxnSpPr/>
          <p:nvPr/>
        </p:nvCxnSpPr>
        <p:spPr>
          <a:xfrm>
            <a:off x="2777257" y="4896051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직선 연결선 513"/>
          <p:cNvCxnSpPr/>
          <p:nvPr/>
        </p:nvCxnSpPr>
        <p:spPr>
          <a:xfrm>
            <a:off x="1280032" y="2818149"/>
            <a:ext cx="3830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모서리가 둥근 직사각형 514"/>
          <p:cNvSpPr/>
          <p:nvPr/>
        </p:nvSpPr>
        <p:spPr>
          <a:xfrm>
            <a:off x="359775" y="2737850"/>
            <a:ext cx="982892" cy="149481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prstClr val="white"/>
                </a:solidFill>
                <a:latin typeface="+mn-ea"/>
              </a:rPr>
              <a:t>급여 기초자료</a:t>
            </a:r>
            <a:endParaRPr kumimoji="0" lang="en-US" altLang="ko-KR" sz="7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16" name="이등변 삼각형 515"/>
          <p:cNvSpPr/>
          <p:nvPr/>
        </p:nvSpPr>
        <p:spPr>
          <a:xfrm rot="5400000">
            <a:off x="1562926" y="2809332"/>
            <a:ext cx="61769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517" name="꺾인 연결선 516"/>
          <p:cNvCxnSpPr/>
          <p:nvPr/>
        </p:nvCxnSpPr>
        <p:spPr>
          <a:xfrm rot="5400000">
            <a:off x="1205571" y="2754121"/>
            <a:ext cx="223603" cy="354130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모서리가 둥근 직사각형 521"/>
          <p:cNvSpPr/>
          <p:nvPr/>
        </p:nvSpPr>
        <p:spPr>
          <a:xfrm>
            <a:off x="359775" y="2926863"/>
            <a:ext cx="982892" cy="252017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복무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근태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)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수당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공제 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3" name="모서리가 둥근 직사각형 522"/>
          <p:cNvSpPr/>
          <p:nvPr/>
        </p:nvSpPr>
        <p:spPr>
          <a:xfrm>
            <a:off x="1608868" y="2735379"/>
            <a:ext cx="982892" cy="60419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급여관리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연말정산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퇴직관리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4" name="모서리가 둥근 직사각형 523"/>
          <p:cNvSpPr/>
          <p:nvPr/>
        </p:nvSpPr>
        <p:spPr>
          <a:xfrm>
            <a:off x="1752280" y="3476697"/>
            <a:ext cx="812307" cy="153190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동호회관리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525" name="꺾인 연결선 524"/>
          <p:cNvCxnSpPr/>
          <p:nvPr/>
        </p:nvCxnSpPr>
        <p:spPr>
          <a:xfrm rot="5400000">
            <a:off x="1107359" y="3080878"/>
            <a:ext cx="420028" cy="354130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모서리가 둥근 직사각형 540"/>
          <p:cNvSpPr/>
          <p:nvPr/>
        </p:nvSpPr>
        <p:spPr>
          <a:xfrm>
            <a:off x="359775" y="3210999"/>
            <a:ext cx="982892" cy="464501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가족수당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학자금지원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출장관리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출입증관리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542" name="직선 연결선 541"/>
          <p:cNvCxnSpPr/>
          <p:nvPr/>
        </p:nvCxnSpPr>
        <p:spPr>
          <a:xfrm>
            <a:off x="1494437" y="3230765"/>
            <a:ext cx="0" cy="327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직선 연결선 542"/>
          <p:cNvCxnSpPr/>
          <p:nvPr/>
        </p:nvCxnSpPr>
        <p:spPr>
          <a:xfrm>
            <a:off x="1494437" y="3561846"/>
            <a:ext cx="2505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AutoShape 15"/>
          <p:cNvSpPr>
            <a:spLocks noChangeArrowheads="1"/>
          </p:cNvSpPr>
          <p:nvPr/>
        </p:nvSpPr>
        <p:spPr bwMode="auto">
          <a:xfrm>
            <a:off x="297139" y="3921340"/>
            <a:ext cx="2364483" cy="442265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546" name="AutoShape 123"/>
          <p:cNvSpPr>
            <a:spLocks noChangeArrowheads="1"/>
          </p:cNvSpPr>
          <p:nvPr/>
        </p:nvSpPr>
        <p:spPr bwMode="auto">
          <a:xfrm>
            <a:off x="321230" y="3958401"/>
            <a:ext cx="2309075" cy="378025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547" name="그림 10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02" y="3734798"/>
            <a:ext cx="1039505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8" name="Rectangle 88"/>
          <p:cNvSpPr>
            <a:spLocks noChangeArrowheads="1"/>
          </p:cNvSpPr>
          <p:nvPr/>
        </p:nvSpPr>
        <p:spPr bwMode="auto">
          <a:xfrm>
            <a:off x="429974" y="3757348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smtClean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지속가능경영</a:t>
            </a:r>
            <a:endParaRPr lang="ko-KR" altLang="en-US" sz="900" b="1" dirty="0">
              <a:solidFill>
                <a:prstClr val="white"/>
              </a:solidFill>
              <a:effectLst>
                <a:glow rad="63500">
                  <a:srgbClr val="1F497D">
                    <a:alpha val="40000"/>
                  </a:srgbClr>
                </a:glow>
              </a:effectLst>
              <a:latin typeface="+mn-ea"/>
            </a:endParaRPr>
          </a:p>
        </p:txBody>
      </p:sp>
      <p:sp>
        <p:nvSpPr>
          <p:cNvPr id="574" name="모서리가 둥근 직사각형 573"/>
          <p:cNvSpPr/>
          <p:nvPr/>
        </p:nvSpPr>
        <p:spPr>
          <a:xfrm>
            <a:off x="344488" y="3994227"/>
            <a:ext cx="50858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경영공시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3" name="모서리가 둥근 직사각형 582"/>
          <p:cNvSpPr/>
          <p:nvPr/>
        </p:nvSpPr>
        <p:spPr>
          <a:xfrm>
            <a:off x="344488" y="4154826"/>
            <a:ext cx="50858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경영평가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4" name="모서리가 둥근 직사각형 583"/>
          <p:cNvSpPr/>
          <p:nvPr/>
        </p:nvSpPr>
        <p:spPr>
          <a:xfrm>
            <a:off x="931901" y="3994227"/>
            <a:ext cx="50858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홍보관리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5" name="모서리가 둥근 직사각형 584"/>
          <p:cNvSpPr/>
          <p:nvPr/>
        </p:nvSpPr>
        <p:spPr>
          <a:xfrm>
            <a:off x="931901" y="4154826"/>
            <a:ext cx="50858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사회가치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7" name="AutoShape 123"/>
          <p:cNvSpPr>
            <a:spLocks noChangeArrowheads="1"/>
          </p:cNvSpPr>
          <p:nvPr/>
        </p:nvSpPr>
        <p:spPr bwMode="auto">
          <a:xfrm>
            <a:off x="321230" y="4602032"/>
            <a:ext cx="1589973" cy="856115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588" name="그림 10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02" y="4367311"/>
            <a:ext cx="1039505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9" name="Rectangle 88"/>
          <p:cNvSpPr>
            <a:spLocks noChangeArrowheads="1"/>
          </p:cNvSpPr>
          <p:nvPr/>
        </p:nvSpPr>
        <p:spPr bwMode="auto">
          <a:xfrm>
            <a:off x="429974" y="4400907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시스템관리</a:t>
            </a:r>
          </a:p>
        </p:txBody>
      </p:sp>
      <p:sp>
        <p:nvSpPr>
          <p:cNvPr id="590" name="모서리가 둥근 직사각형 589"/>
          <p:cNvSpPr/>
          <p:nvPr/>
        </p:nvSpPr>
        <p:spPr>
          <a:xfrm>
            <a:off x="351344" y="4823164"/>
            <a:ext cx="76487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사용자 정보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1" name="모서리가 둥근 직사각형 590"/>
          <p:cNvSpPr/>
          <p:nvPr/>
        </p:nvSpPr>
        <p:spPr>
          <a:xfrm>
            <a:off x="351344" y="4984999"/>
            <a:ext cx="76487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사용자 직무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2" name="모서리가 둥근 직사각형 591"/>
          <p:cNvSpPr/>
          <p:nvPr/>
        </p:nvSpPr>
        <p:spPr>
          <a:xfrm>
            <a:off x="1973838" y="4823164"/>
            <a:ext cx="614308" cy="140833"/>
          </a:xfrm>
          <a:prstGeom prst="roundRect">
            <a:avLst>
              <a:gd name="adj" fmla="val 11007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각종보안신청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3" name="직사각형 592"/>
          <p:cNvSpPr/>
          <p:nvPr/>
        </p:nvSpPr>
        <p:spPr>
          <a:xfrm>
            <a:off x="309185" y="4610679"/>
            <a:ext cx="1639359" cy="17913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94" name="Rectangle 88"/>
          <p:cNvSpPr>
            <a:spLocks noChangeArrowheads="1"/>
          </p:cNvSpPr>
          <p:nvPr/>
        </p:nvSpPr>
        <p:spPr bwMode="auto">
          <a:xfrm>
            <a:off x="716314" y="4606974"/>
            <a:ext cx="837145" cy="1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전산운영</a:t>
            </a:r>
          </a:p>
        </p:txBody>
      </p:sp>
      <p:sp>
        <p:nvSpPr>
          <p:cNvPr id="595" name="모서리가 둥근 직사각형 594"/>
          <p:cNvSpPr/>
          <p:nvPr/>
        </p:nvSpPr>
        <p:spPr>
          <a:xfrm>
            <a:off x="1973838" y="4984999"/>
            <a:ext cx="614308" cy="139597"/>
          </a:xfrm>
          <a:prstGeom prst="roundRect">
            <a:avLst>
              <a:gd name="adj" fmla="val 11007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정보자산관리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6" name="모서리가 둥근 직사각형 595"/>
          <p:cNvSpPr/>
          <p:nvPr/>
        </p:nvSpPr>
        <p:spPr>
          <a:xfrm>
            <a:off x="1973838" y="5145597"/>
            <a:ext cx="614308" cy="139597"/>
          </a:xfrm>
          <a:prstGeom prst="roundRect">
            <a:avLst>
              <a:gd name="adj" fmla="val 11007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시스템정보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7" name="모서리가 둥근 직사각형 596"/>
          <p:cNvSpPr/>
          <p:nvPr/>
        </p:nvSpPr>
        <p:spPr>
          <a:xfrm>
            <a:off x="1973838" y="5306196"/>
            <a:ext cx="614308" cy="140833"/>
          </a:xfrm>
          <a:prstGeom prst="roundRect">
            <a:avLst>
              <a:gd name="adj" fmla="val 11007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사용현황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통계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8" name="모서리가 둥근 직사각형 597"/>
          <p:cNvSpPr/>
          <p:nvPr/>
        </p:nvSpPr>
        <p:spPr>
          <a:xfrm>
            <a:off x="351344" y="5145597"/>
            <a:ext cx="76487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프로그램 정보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9" name="모서리가 둥근 직사각형 598"/>
          <p:cNvSpPr/>
          <p:nvPr/>
        </p:nvSpPr>
        <p:spPr>
          <a:xfrm>
            <a:off x="1171625" y="4823164"/>
            <a:ext cx="709466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600" kern="0" dirty="0">
                <a:solidFill>
                  <a:srgbClr val="000000"/>
                </a:solidFill>
                <a:latin typeface="+mn-ea"/>
              </a:rPr>
              <a:t>코드사용항목</a:t>
            </a:r>
            <a:endParaRPr kumimoji="0" lang="en-US" altLang="ko-KR" sz="6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0" name="모서리가 둥근 직사각형 599"/>
          <p:cNvSpPr/>
          <p:nvPr/>
        </p:nvSpPr>
        <p:spPr>
          <a:xfrm>
            <a:off x="1171625" y="4984999"/>
            <a:ext cx="709466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항목별 코드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1" name="직사각형 600"/>
          <p:cNvSpPr/>
          <p:nvPr/>
        </p:nvSpPr>
        <p:spPr>
          <a:xfrm>
            <a:off x="1911203" y="4610679"/>
            <a:ext cx="764874" cy="17913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02" name="Rectangle 88"/>
          <p:cNvSpPr>
            <a:spLocks noChangeArrowheads="1"/>
          </p:cNvSpPr>
          <p:nvPr/>
        </p:nvSpPr>
        <p:spPr bwMode="auto">
          <a:xfrm>
            <a:off x="1864227" y="4600796"/>
            <a:ext cx="837144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보안관리</a:t>
            </a:r>
          </a:p>
        </p:txBody>
      </p:sp>
      <p:sp>
        <p:nvSpPr>
          <p:cNvPr id="603" name="AutoShape 15"/>
          <p:cNvSpPr>
            <a:spLocks noChangeArrowheads="1"/>
          </p:cNvSpPr>
          <p:nvPr/>
        </p:nvSpPr>
        <p:spPr bwMode="auto">
          <a:xfrm>
            <a:off x="3808330" y="2663727"/>
            <a:ext cx="1710425" cy="1457743"/>
          </a:xfrm>
          <a:prstGeom prst="roundRect">
            <a:avLst>
              <a:gd name="adj" fmla="val 4151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604" name="AutoShape 123"/>
          <p:cNvSpPr>
            <a:spLocks noChangeArrowheads="1"/>
          </p:cNvSpPr>
          <p:nvPr/>
        </p:nvSpPr>
        <p:spPr bwMode="auto">
          <a:xfrm>
            <a:off x="3832421" y="2711907"/>
            <a:ext cx="1652608" cy="1290967"/>
          </a:xfrm>
          <a:prstGeom prst="roundRect">
            <a:avLst>
              <a:gd name="adj" fmla="val 3954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05" name="모서리가 둥근 직사각형 604"/>
          <p:cNvSpPr/>
          <p:nvPr/>
        </p:nvSpPr>
        <p:spPr>
          <a:xfrm>
            <a:off x="3869761" y="2734144"/>
            <a:ext cx="667307" cy="111184"/>
          </a:xfrm>
          <a:prstGeom prst="roundRect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990033"/>
                </a:solidFill>
                <a:latin typeface="+mn-ea"/>
              </a:rPr>
              <a:t>자금시재</a:t>
            </a:r>
            <a:endParaRPr kumimoji="0" lang="en-US" altLang="ko-KR" sz="700" kern="0" dirty="0">
              <a:solidFill>
                <a:srgbClr val="990033"/>
              </a:solidFill>
              <a:latin typeface="+mn-ea"/>
            </a:endParaRPr>
          </a:p>
        </p:txBody>
      </p:sp>
      <p:sp>
        <p:nvSpPr>
          <p:cNvPr id="606" name="모서리가 둥근 직사각형 605"/>
          <p:cNvSpPr/>
          <p:nvPr/>
        </p:nvSpPr>
        <p:spPr>
          <a:xfrm>
            <a:off x="4761109" y="2735379"/>
            <a:ext cx="667307" cy="471914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자금수지계획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7" name="모서리가 둥근 직사각형 606"/>
          <p:cNvSpPr/>
          <p:nvPr/>
        </p:nvSpPr>
        <p:spPr>
          <a:xfrm>
            <a:off x="5016468" y="2893507"/>
            <a:ext cx="383039" cy="1395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자금조달</a:t>
            </a:r>
          </a:p>
        </p:txBody>
      </p:sp>
      <p:sp>
        <p:nvSpPr>
          <p:cNvPr id="608" name="모서리가 둥근 직사각형 607"/>
          <p:cNvSpPr/>
          <p:nvPr/>
        </p:nvSpPr>
        <p:spPr>
          <a:xfrm>
            <a:off x="5016468" y="3052871"/>
            <a:ext cx="383039" cy="1395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자금운용</a:t>
            </a:r>
          </a:p>
        </p:txBody>
      </p:sp>
      <p:sp>
        <p:nvSpPr>
          <p:cNvPr id="609" name="AutoShape 369"/>
          <p:cNvSpPr>
            <a:spLocks noChangeArrowheads="1"/>
          </p:cNvSpPr>
          <p:nvPr/>
        </p:nvSpPr>
        <p:spPr bwMode="auto">
          <a:xfrm>
            <a:off x="4757496" y="2862623"/>
            <a:ext cx="271018" cy="171717"/>
          </a:xfrm>
          <a:prstGeom prst="flowChartDecision">
            <a:avLst/>
          </a:prstGeom>
          <a:solidFill>
            <a:srgbClr val="FFFF00"/>
          </a:solidFill>
          <a:ln w="9525">
            <a:solidFill>
              <a:srgbClr val="76B7D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>
                <a:solidFill>
                  <a:srgbClr val="000000"/>
                </a:solidFill>
                <a:latin typeface="+mn-ea"/>
                <a:ea typeface="+mn-ea"/>
              </a:rPr>
              <a:t>부족</a:t>
            </a:r>
          </a:p>
        </p:txBody>
      </p:sp>
      <p:sp>
        <p:nvSpPr>
          <p:cNvPr id="610" name="AutoShape 369"/>
          <p:cNvSpPr>
            <a:spLocks noChangeArrowheads="1"/>
          </p:cNvSpPr>
          <p:nvPr/>
        </p:nvSpPr>
        <p:spPr bwMode="auto">
          <a:xfrm>
            <a:off x="4757496" y="3040517"/>
            <a:ext cx="271018" cy="170482"/>
          </a:xfrm>
          <a:prstGeom prst="flowChartDecision">
            <a:avLst/>
          </a:prstGeom>
          <a:solidFill>
            <a:srgbClr val="FFFF00"/>
          </a:solidFill>
          <a:ln w="9525">
            <a:solidFill>
              <a:srgbClr val="76B7D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>
                <a:solidFill>
                  <a:srgbClr val="000000"/>
                </a:solidFill>
                <a:latin typeface="+mn-ea"/>
                <a:ea typeface="+mn-ea"/>
              </a:rPr>
              <a:t>여유</a:t>
            </a:r>
          </a:p>
        </p:txBody>
      </p:sp>
      <p:sp>
        <p:nvSpPr>
          <p:cNvPr id="611" name="모서리가 둥근 직사각형 610"/>
          <p:cNvSpPr/>
          <p:nvPr/>
        </p:nvSpPr>
        <p:spPr>
          <a:xfrm>
            <a:off x="4761109" y="3256707"/>
            <a:ext cx="667307" cy="139598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조달운용확정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2" name="모서리가 둥근 직사각형 611"/>
          <p:cNvSpPr/>
          <p:nvPr/>
        </p:nvSpPr>
        <p:spPr>
          <a:xfrm>
            <a:off x="4761109" y="3444485"/>
            <a:ext cx="667307" cy="14083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자금교부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3" name="모서리가 둥근 직사각형 612"/>
          <p:cNvSpPr/>
          <p:nvPr/>
        </p:nvSpPr>
        <p:spPr>
          <a:xfrm>
            <a:off x="4761109" y="3841041"/>
            <a:ext cx="667307" cy="14083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자금예실대비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4" name="이등변 삼각형 613"/>
          <p:cNvSpPr/>
          <p:nvPr/>
        </p:nvSpPr>
        <p:spPr>
          <a:xfrm rot="10800000">
            <a:off x="5067058" y="3222117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15" name="이등변 삼각형 614"/>
          <p:cNvSpPr/>
          <p:nvPr/>
        </p:nvSpPr>
        <p:spPr>
          <a:xfrm rot="10800000">
            <a:off x="5067058" y="3407423"/>
            <a:ext cx="59022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16" name="이등변 삼각형 615"/>
          <p:cNvSpPr/>
          <p:nvPr/>
        </p:nvSpPr>
        <p:spPr>
          <a:xfrm rot="10800000">
            <a:off x="5067058" y="3799038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617" name="그룹 576"/>
          <p:cNvGrpSpPr>
            <a:grpSpLocks/>
          </p:cNvGrpSpPr>
          <p:nvPr/>
        </p:nvGrpSpPr>
        <p:grpSpPr bwMode="auto">
          <a:xfrm>
            <a:off x="4361207" y="2846563"/>
            <a:ext cx="397493" cy="60534"/>
            <a:chOff x="8627942" y="5265370"/>
            <a:chExt cx="525082" cy="78202"/>
          </a:xfrm>
        </p:grpSpPr>
        <p:cxnSp>
          <p:nvCxnSpPr>
            <p:cNvPr id="950" name="직선 연결선 949"/>
            <p:cNvCxnSpPr/>
            <p:nvPr/>
          </p:nvCxnSpPr>
          <p:spPr>
            <a:xfrm>
              <a:off x="8627942" y="5305269"/>
              <a:ext cx="5043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1" name="이등변 삼각형 950"/>
            <p:cNvSpPr/>
            <p:nvPr/>
          </p:nvSpPr>
          <p:spPr>
            <a:xfrm rot="5400000">
              <a:off x="9090852" y="5281399"/>
              <a:ext cx="78202" cy="46143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618" name="직선 연결선 617"/>
          <p:cNvCxnSpPr/>
          <p:nvPr/>
        </p:nvCxnSpPr>
        <p:spPr>
          <a:xfrm>
            <a:off x="4637043" y="2876212"/>
            <a:ext cx="0" cy="770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직선 연결선 618"/>
          <p:cNvCxnSpPr/>
          <p:nvPr/>
        </p:nvCxnSpPr>
        <p:spPr>
          <a:xfrm>
            <a:off x="4502137" y="3648322"/>
            <a:ext cx="1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직선 연결선 619"/>
          <p:cNvCxnSpPr/>
          <p:nvPr/>
        </p:nvCxnSpPr>
        <p:spPr>
          <a:xfrm>
            <a:off x="4502137" y="3308593"/>
            <a:ext cx="1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1" name="모서리가 둥근 직사각형 620"/>
          <p:cNvSpPr/>
          <p:nvPr/>
        </p:nvSpPr>
        <p:spPr>
          <a:xfrm>
            <a:off x="3869761" y="3204849"/>
            <a:ext cx="667307" cy="139597"/>
          </a:xfrm>
          <a:prstGeom prst="roundRect">
            <a:avLst>
              <a:gd name="adj" fmla="val 39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전도금 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22" name="직선 연결선 621"/>
          <p:cNvCxnSpPr/>
          <p:nvPr/>
        </p:nvCxnSpPr>
        <p:spPr>
          <a:xfrm>
            <a:off x="4502137" y="3167760"/>
            <a:ext cx="1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직선 연결선 622"/>
          <p:cNvCxnSpPr/>
          <p:nvPr/>
        </p:nvCxnSpPr>
        <p:spPr>
          <a:xfrm>
            <a:off x="4502137" y="3038046"/>
            <a:ext cx="1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4" name="그룹 1202"/>
          <p:cNvGrpSpPr>
            <a:grpSpLocks/>
          </p:cNvGrpSpPr>
          <p:nvPr/>
        </p:nvGrpSpPr>
        <p:grpSpPr bwMode="auto">
          <a:xfrm rot="20898489">
            <a:off x="4363616" y="3787919"/>
            <a:ext cx="397493" cy="61769"/>
            <a:chOff x="8627941" y="5265370"/>
            <a:chExt cx="525082" cy="78202"/>
          </a:xfrm>
        </p:grpSpPr>
        <p:cxnSp>
          <p:nvCxnSpPr>
            <p:cNvPr id="948" name="직선 연결선 947"/>
            <p:cNvCxnSpPr/>
            <p:nvPr/>
          </p:nvCxnSpPr>
          <p:spPr>
            <a:xfrm>
              <a:off x="8627833" y="5303942"/>
              <a:ext cx="5043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9" name="이등변 삼각형 948"/>
            <p:cNvSpPr/>
            <p:nvPr/>
          </p:nvSpPr>
          <p:spPr>
            <a:xfrm rot="5400000">
              <a:off x="9074817" y="5258171"/>
              <a:ext cx="78202" cy="46143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625" name="모서리가 둥근 직사각형 624"/>
          <p:cNvSpPr/>
          <p:nvPr/>
        </p:nvSpPr>
        <p:spPr>
          <a:xfrm>
            <a:off x="3869761" y="3757035"/>
            <a:ext cx="667307" cy="224838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월간자금계획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연간자금계획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626" name="그룹 577"/>
          <p:cNvGrpSpPr>
            <a:grpSpLocks/>
          </p:cNvGrpSpPr>
          <p:nvPr/>
        </p:nvGrpSpPr>
        <p:grpSpPr bwMode="auto">
          <a:xfrm>
            <a:off x="4537060" y="2930573"/>
            <a:ext cx="220434" cy="272370"/>
            <a:chOff x="8922866" y="5215503"/>
            <a:chExt cx="290955" cy="350483"/>
          </a:xfrm>
        </p:grpSpPr>
        <p:cxnSp>
          <p:nvCxnSpPr>
            <p:cNvPr id="944" name="AutoShape 377"/>
            <p:cNvCxnSpPr>
              <a:cxnSpLocks noChangeShapeType="1"/>
              <a:stCxn id="610" idx="1"/>
              <a:endCxn id="888" idx="3"/>
            </p:cNvCxnSpPr>
            <p:nvPr/>
          </p:nvCxnSpPr>
          <p:spPr bwMode="auto">
            <a:xfrm flipH="1" flipV="1">
              <a:off x="8922866" y="5215503"/>
              <a:ext cx="290947" cy="251167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5" name="AutoShape 378"/>
            <p:cNvCxnSpPr>
              <a:cxnSpLocks noChangeShapeType="1"/>
              <a:stCxn id="610" idx="1"/>
              <a:endCxn id="886" idx="3"/>
            </p:cNvCxnSpPr>
            <p:nvPr/>
          </p:nvCxnSpPr>
          <p:spPr bwMode="auto">
            <a:xfrm flipH="1" flipV="1">
              <a:off x="8922866" y="5432086"/>
              <a:ext cx="290947" cy="34584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6" name="AutoShape 379"/>
            <p:cNvCxnSpPr>
              <a:cxnSpLocks noChangeShapeType="1"/>
              <a:stCxn id="610" idx="1"/>
            </p:cNvCxnSpPr>
            <p:nvPr/>
          </p:nvCxnSpPr>
          <p:spPr bwMode="auto">
            <a:xfrm flipH="1" flipV="1">
              <a:off x="8922874" y="5243284"/>
              <a:ext cx="290945" cy="88440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7" name="AutoShape 380"/>
            <p:cNvCxnSpPr>
              <a:cxnSpLocks noChangeShapeType="1"/>
              <a:stCxn id="610" idx="1"/>
            </p:cNvCxnSpPr>
            <p:nvPr/>
          </p:nvCxnSpPr>
          <p:spPr bwMode="auto">
            <a:xfrm flipH="1">
              <a:off x="8922874" y="5331731"/>
              <a:ext cx="290947" cy="234255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27" name="그룹 1213"/>
          <p:cNvGrpSpPr>
            <a:grpSpLocks/>
          </p:cNvGrpSpPr>
          <p:nvPr/>
        </p:nvGrpSpPr>
        <p:grpSpPr bwMode="auto">
          <a:xfrm>
            <a:off x="4537068" y="2843632"/>
            <a:ext cx="220432" cy="255258"/>
            <a:chOff x="5939881" y="5006474"/>
            <a:chExt cx="291439" cy="328528"/>
          </a:xfrm>
        </p:grpSpPr>
        <p:cxnSp>
          <p:nvCxnSpPr>
            <p:cNvPr id="941" name="AutoShape 374"/>
            <p:cNvCxnSpPr>
              <a:cxnSpLocks noChangeShapeType="1"/>
              <a:stCxn id="609" idx="1"/>
              <a:endCxn id="888" idx="3"/>
            </p:cNvCxnSpPr>
            <p:nvPr/>
          </p:nvCxnSpPr>
          <p:spPr bwMode="auto">
            <a:xfrm flipH="1" flipV="1">
              <a:off x="5939881" y="5118366"/>
              <a:ext cx="291434" cy="2305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" name="AutoShape 375"/>
            <p:cNvCxnSpPr>
              <a:cxnSpLocks noChangeShapeType="1"/>
              <a:stCxn id="609" idx="1"/>
              <a:endCxn id="886" idx="3"/>
            </p:cNvCxnSpPr>
            <p:nvPr/>
          </p:nvCxnSpPr>
          <p:spPr bwMode="auto">
            <a:xfrm flipH="1">
              <a:off x="5939881" y="5141430"/>
              <a:ext cx="291434" cy="19357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" name="AutoShape 376"/>
            <p:cNvCxnSpPr>
              <a:cxnSpLocks noChangeShapeType="1"/>
              <a:stCxn id="609" idx="1"/>
            </p:cNvCxnSpPr>
            <p:nvPr/>
          </p:nvCxnSpPr>
          <p:spPr bwMode="auto">
            <a:xfrm flipH="1">
              <a:off x="5939886" y="5006474"/>
              <a:ext cx="291434" cy="13970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628" name="AutoShape 380"/>
          <p:cNvCxnSpPr>
            <a:cxnSpLocks noChangeShapeType="1"/>
            <a:stCxn id="612" idx="1"/>
            <a:endCxn id="621" idx="3"/>
          </p:cNvCxnSpPr>
          <p:nvPr/>
        </p:nvCxnSpPr>
        <p:spPr bwMode="auto">
          <a:xfrm flipH="1" flipV="1">
            <a:off x="4537068" y="3274648"/>
            <a:ext cx="224041" cy="240254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9" name="AutoShape 15"/>
          <p:cNvSpPr>
            <a:spLocks noChangeArrowheads="1"/>
          </p:cNvSpPr>
          <p:nvPr/>
        </p:nvSpPr>
        <p:spPr bwMode="auto">
          <a:xfrm>
            <a:off x="3807125" y="4232654"/>
            <a:ext cx="1709221" cy="1274908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630" name="AutoShape 123"/>
          <p:cNvSpPr>
            <a:spLocks noChangeArrowheads="1"/>
          </p:cNvSpPr>
          <p:nvPr/>
        </p:nvSpPr>
        <p:spPr bwMode="auto">
          <a:xfrm>
            <a:off x="3832421" y="4269716"/>
            <a:ext cx="1652608" cy="1204492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631" name="그림 12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693" y="4033759"/>
            <a:ext cx="1039505" cy="206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2" name="Rectangle 88"/>
          <p:cNvSpPr>
            <a:spLocks noChangeArrowheads="1"/>
          </p:cNvSpPr>
          <p:nvPr/>
        </p:nvSpPr>
        <p:spPr bwMode="auto">
          <a:xfrm>
            <a:off x="3940304" y="4068096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구매관리</a:t>
            </a:r>
          </a:p>
        </p:txBody>
      </p:sp>
      <p:sp>
        <p:nvSpPr>
          <p:cNvPr id="633" name="모서리가 둥근 직사각형 632"/>
          <p:cNvSpPr/>
          <p:nvPr/>
        </p:nvSpPr>
        <p:spPr>
          <a:xfrm>
            <a:off x="5033332" y="4073291"/>
            <a:ext cx="381835" cy="139597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990033"/>
                </a:solidFill>
                <a:latin typeface="+mn-ea"/>
              </a:rPr>
              <a:t>전자결재</a:t>
            </a:r>
            <a:endParaRPr kumimoji="0" lang="en-US" altLang="ko-KR" sz="700" kern="0" dirty="0">
              <a:solidFill>
                <a:srgbClr val="990033"/>
              </a:solidFill>
              <a:latin typeface="+mn-ea"/>
            </a:endParaRPr>
          </a:p>
        </p:txBody>
      </p:sp>
      <p:cxnSp>
        <p:nvCxnSpPr>
          <p:cNvPr id="634" name="AutoShape 592"/>
          <p:cNvCxnSpPr>
            <a:cxnSpLocks noChangeShapeType="1"/>
          </p:cNvCxnSpPr>
          <p:nvPr/>
        </p:nvCxnSpPr>
        <p:spPr bwMode="auto">
          <a:xfrm flipV="1">
            <a:off x="4537067" y="4227713"/>
            <a:ext cx="539627" cy="1136546"/>
          </a:xfrm>
          <a:prstGeom prst="curvedConnector2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5" name="모서리가 둥근 직사각형 634"/>
          <p:cNvSpPr/>
          <p:nvPr/>
        </p:nvSpPr>
        <p:spPr>
          <a:xfrm>
            <a:off x="3869761" y="4303071"/>
            <a:ext cx="667307" cy="139597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구매요청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6" name="이등변 삼각형 635"/>
          <p:cNvSpPr/>
          <p:nvPr/>
        </p:nvSpPr>
        <p:spPr>
          <a:xfrm rot="10800000">
            <a:off x="4182937" y="4459963"/>
            <a:ext cx="59022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37" name="모서리가 둥근 직사각형 636"/>
          <p:cNvSpPr/>
          <p:nvPr/>
        </p:nvSpPr>
        <p:spPr>
          <a:xfrm>
            <a:off x="3869761" y="4505673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구매접수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8" name="이등변 삼각형 637"/>
          <p:cNvSpPr/>
          <p:nvPr/>
        </p:nvSpPr>
        <p:spPr>
          <a:xfrm rot="10800000">
            <a:off x="4182937" y="4662565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39" name="이등변 삼각형 638"/>
          <p:cNvSpPr/>
          <p:nvPr/>
        </p:nvSpPr>
        <p:spPr>
          <a:xfrm rot="10800000">
            <a:off x="4182937" y="4866402"/>
            <a:ext cx="59022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0" name="모서리가 둥근 직사각형 639"/>
          <p:cNvSpPr/>
          <p:nvPr/>
        </p:nvSpPr>
        <p:spPr>
          <a:xfrm>
            <a:off x="3869761" y="4912111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견적의뢰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1" name="이등변 삼각형 640"/>
          <p:cNvSpPr/>
          <p:nvPr/>
        </p:nvSpPr>
        <p:spPr>
          <a:xfrm rot="10800000">
            <a:off x="4182937" y="5069004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2" name="모서리가 둥근 직사각형 641"/>
          <p:cNvSpPr/>
          <p:nvPr/>
        </p:nvSpPr>
        <p:spPr>
          <a:xfrm>
            <a:off x="3869761" y="5302490"/>
            <a:ext cx="667307" cy="139598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수입부대비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3" name="이등변 삼각형 642"/>
          <p:cNvSpPr/>
          <p:nvPr/>
        </p:nvSpPr>
        <p:spPr>
          <a:xfrm rot="10800000">
            <a:off x="5016468" y="4662565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4" name="이등변 삼각형 643"/>
          <p:cNvSpPr/>
          <p:nvPr/>
        </p:nvSpPr>
        <p:spPr>
          <a:xfrm rot="10800000">
            <a:off x="5016468" y="4866402"/>
            <a:ext cx="60226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5" name="이등변 삼각형 644"/>
          <p:cNvSpPr/>
          <p:nvPr/>
        </p:nvSpPr>
        <p:spPr>
          <a:xfrm rot="10800000">
            <a:off x="5016468" y="5069004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6" name="모서리가 둥근 직사각형 645"/>
          <p:cNvSpPr/>
          <p:nvPr/>
        </p:nvSpPr>
        <p:spPr>
          <a:xfrm>
            <a:off x="4703292" y="5302490"/>
            <a:ext cx="667307" cy="139598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수불관리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7" name="이등변 삼각형 646"/>
          <p:cNvSpPr/>
          <p:nvPr/>
        </p:nvSpPr>
        <p:spPr>
          <a:xfrm rot="10800000">
            <a:off x="5016468" y="5264193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648" name="그룹 1292"/>
          <p:cNvGrpSpPr>
            <a:grpSpLocks/>
          </p:cNvGrpSpPr>
          <p:nvPr/>
        </p:nvGrpSpPr>
        <p:grpSpPr bwMode="auto">
          <a:xfrm>
            <a:off x="4587657" y="4553852"/>
            <a:ext cx="115634" cy="60534"/>
            <a:chOff x="8999687" y="5265370"/>
            <a:chExt cx="153337" cy="78202"/>
          </a:xfrm>
        </p:grpSpPr>
        <p:cxnSp>
          <p:nvCxnSpPr>
            <p:cNvPr id="939" name="직선 연결선 938"/>
            <p:cNvCxnSpPr/>
            <p:nvPr/>
          </p:nvCxnSpPr>
          <p:spPr>
            <a:xfrm>
              <a:off x="8999687" y="5305269"/>
              <a:ext cx="1437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0" name="이등변 삼각형 939"/>
            <p:cNvSpPr/>
            <p:nvPr/>
          </p:nvSpPr>
          <p:spPr>
            <a:xfrm rot="5400000">
              <a:off x="9090763" y="5281310"/>
              <a:ext cx="78202" cy="46320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649" name="직선 연결선 648"/>
          <p:cNvCxnSpPr/>
          <p:nvPr/>
        </p:nvCxnSpPr>
        <p:spPr>
          <a:xfrm>
            <a:off x="4591271" y="4579795"/>
            <a:ext cx="0" cy="196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직선 연결선 649"/>
          <p:cNvCxnSpPr/>
          <p:nvPr/>
        </p:nvCxnSpPr>
        <p:spPr>
          <a:xfrm>
            <a:off x="4457569" y="4779926"/>
            <a:ext cx="1373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1" name="모서리가 둥근 직사각형 650"/>
          <p:cNvSpPr/>
          <p:nvPr/>
        </p:nvSpPr>
        <p:spPr>
          <a:xfrm>
            <a:off x="3869761" y="4709509"/>
            <a:ext cx="667307" cy="139598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조달구분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652" name="그룹 1298"/>
          <p:cNvGrpSpPr>
            <a:grpSpLocks/>
          </p:cNvGrpSpPr>
          <p:nvPr/>
        </p:nvGrpSpPr>
        <p:grpSpPr bwMode="auto">
          <a:xfrm>
            <a:off x="4622589" y="4757689"/>
            <a:ext cx="81908" cy="60533"/>
            <a:chOff x="9045593" y="5265370"/>
            <a:chExt cx="108000" cy="78202"/>
          </a:xfrm>
        </p:grpSpPr>
        <p:cxnSp>
          <p:nvCxnSpPr>
            <p:cNvPr id="937" name="직선 연결선 936"/>
            <p:cNvCxnSpPr/>
            <p:nvPr/>
          </p:nvCxnSpPr>
          <p:spPr>
            <a:xfrm>
              <a:off x="9045593" y="5305269"/>
              <a:ext cx="10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8" name="이등변 삼각형 937"/>
            <p:cNvSpPr/>
            <p:nvPr/>
          </p:nvSpPr>
          <p:spPr>
            <a:xfrm rot="5400000">
              <a:off x="9091462" y="5281442"/>
              <a:ext cx="78202" cy="46059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653" name="직선 연결선 652"/>
          <p:cNvCxnSpPr/>
          <p:nvPr/>
        </p:nvCxnSpPr>
        <p:spPr>
          <a:xfrm>
            <a:off x="4621384" y="4783632"/>
            <a:ext cx="0" cy="391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직선 연결선 653"/>
          <p:cNvCxnSpPr/>
          <p:nvPr/>
        </p:nvCxnSpPr>
        <p:spPr>
          <a:xfrm>
            <a:off x="4490091" y="5182659"/>
            <a:ext cx="1373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" name="모서리가 둥근 직사각형 654"/>
          <p:cNvSpPr/>
          <p:nvPr/>
        </p:nvSpPr>
        <p:spPr>
          <a:xfrm>
            <a:off x="3869761" y="5107300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견적접수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56" name="AutoShape 592"/>
          <p:cNvCxnSpPr>
            <a:cxnSpLocks noChangeShapeType="1"/>
          </p:cNvCxnSpPr>
          <p:nvPr/>
        </p:nvCxnSpPr>
        <p:spPr bwMode="auto">
          <a:xfrm flipV="1">
            <a:off x="4544295" y="4205476"/>
            <a:ext cx="472174" cy="18530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7" name="모서리가 둥근 직사각형 656"/>
          <p:cNvSpPr/>
          <p:nvPr/>
        </p:nvSpPr>
        <p:spPr>
          <a:xfrm>
            <a:off x="4605726" y="4305542"/>
            <a:ext cx="381834" cy="139597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6600"/>
                </a:solidFill>
                <a:latin typeface="+mn-ea"/>
              </a:rPr>
              <a:t>구매품의</a:t>
            </a:r>
            <a:endParaRPr kumimoji="0" lang="en-US" altLang="ko-KR" sz="700" kern="0" dirty="0">
              <a:solidFill>
                <a:srgbClr val="006600"/>
              </a:solidFill>
              <a:latin typeface="+mn-ea"/>
            </a:endParaRPr>
          </a:p>
        </p:txBody>
      </p:sp>
      <p:cxnSp>
        <p:nvCxnSpPr>
          <p:cNvPr id="658" name="AutoShape 592"/>
          <p:cNvCxnSpPr>
            <a:cxnSpLocks noChangeShapeType="1"/>
          </p:cNvCxnSpPr>
          <p:nvPr/>
        </p:nvCxnSpPr>
        <p:spPr bwMode="auto">
          <a:xfrm flipH="1" flipV="1">
            <a:off x="5142944" y="4227713"/>
            <a:ext cx="234882" cy="954946"/>
          </a:xfrm>
          <a:prstGeom prst="curvedConnector4">
            <a:avLst>
              <a:gd name="adj1" fmla="val -28130"/>
              <a:gd name="adj2" fmla="val 5663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9" name="모서리가 둥근 직사각형 658"/>
          <p:cNvSpPr/>
          <p:nvPr/>
        </p:nvSpPr>
        <p:spPr>
          <a:xfrm>
            <a:off x="4703292" y="4505673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조달의뢰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0" name="모서리가 둥근 직사각형 659"/>
          <p:cNvSpPr/>
          <p:nvPr/>
        </p:nvSpPr>
        <p:spPr>
          <a:xfrm>
            <a:off x="4703292" y="4709509"/>
            <a:ext cx="667307" cy="139598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업체선정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1" name="모서리가 둥근 직사각형 660"/>
          <p:cNvSpPr/>
          <p:nvPr/>
        </p:nvSpPr>
        <p:spPr>
          <a:xfrm>
            <a:off x="4703292" y="4912111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계약등록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2" name="모서리가 둥근 직사각형 661"/>
          <p:cNvSpPr/>
          <p:nvPr/>
        </p:nvSpPr>
        <p:spPr>
          <a:xfrm>
            <a:off x="4703292" y="5107300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검수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입고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3" name="모서리가 둥근 직사각형 662"/>
          <p:cNvSpPr/>
          <p:nvPr/>
        </p:nvSpPr>
        <p:spPr>
          <a:xfrm>
            <a:off x="5034537" y="4305542"/>
            <a:ext cx="383039" cy="139597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6600"/>
                </a:solidFill>
                <a:latin typeface="+mn-ea"/>
              </a:rPr>
              <a:t>구매결의</a:t>
            </a:r>
            <a:endParaRPr kumimoji="0" lang="en-US" altLang="ko-KR" sz="700" kern="0" dirty="0">
              <a:solidFill>
                <a:srgbClr val="006600"/>
              </a:solidFill>
              <a:latin typeface="+mn-ea"/>
            </a:endParaRPr>
          </a:p>
        </p:txBody>
      </p:sp>
      <p:pic>
        <p:nvPicPr>
          <p:cNvPr id="664" name="그림 464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529" y="5272841"/>
            <a:ext cx="191519" cy="119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" name="그림 465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753" y="5283959"/>
            <a:ext cx="218019" cy="111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6" name="그림 70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112" y="5214778"/>
            <a:ext cx="157792" cy="21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7" name="그림 70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154" y="5219720"/>
            <a:ext cx="157792" cy="21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9" name="AutoShape 15"/>
          <p:cNvSpPr>
            <a:spLocks noChangeArrowheads="1"/>
          </p:cNvSpPr>
          <p:nvPr/>
        </p:nvSpPr>
        <p:spPr bwMode="auto">
          <a:xfrm>
            <a:off x="8445751" y="1292460"/>
            <a:ext cx="1044323" cy="3556647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670" name="AutoShape 123"/>
          <p:cNvSpPr>
            <a:spLocks noChangeArrowheads="1"/>
          </p:cNvSpPr>
          <p:nvPr/>
        </p:nvSpPr>
        <p:spPr bwMode="auto">
          <a:xfrm>
            <a:off x="8468637" y="1527181"/>
            <a:ext cx="988915" cy="486531"/>
          </a:xfrm>
          <a:prstGeom prst="roundRect">
            <a:avLst>
              <a:gd name="adj" fmla="val 2620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671" name="그림 137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5363" y="1092329"/>
            <a:ext cx="819077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2" name="Rectangle 88"/>
          <p:cNvSpPr>
            <a:spLocks noChangeArrowheads="1"/>
          </p:cNvSpPr>
          <p:nvPr/>
        </p:nvSpPr>
        <p:spPr bwMode="auto">
          <a:xfrm>
            <a:off x="8656298" y="1131680"/>
            <a:ext cx="640842" cy="15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자산관리</a:t>
            </a:r>
          </a:p>
        </p:txBody>
      </p:sp>
      <p:sp>
        <p:nvSpPr>
          <p:cNvPr id="673" name="모서리가 둥근 직사각형 672"/>
          <p:cNvSpPr/>
          <p:nvPr/>
        </p:nvSpPr>
        <p:spPr>
          <a:xfrm>
            <a:off x="8490318" y="1329521"/>
            <a:ext cx="955189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예산항목분류</a:t>
            </a:r>
          </a:p>
        </p:txBody>
      </p:sp>
      <p:sp>
        <p:nvSpPr>
          <p:cNvPr id="674" name="Rectangle 63"/>
          <p:cNvSpPr>
            <a:spLocks noChangeArrowheads="1"/>
          </p:cNvSpPr>
          <p:nvPr/>
        </p:nvSpPr>
        <p:spPr bwMode="auto">
          <a:xfrm>
            <a:off x="8566204" y="1745843"/>
            <a:ext cx="805827" cy="182836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solidFill>
                  <a:srgbClr val="000000"/>
                </a:solidFill>
                <a:latin typeface="+mn-ea"/>
              </a:rPr>
              <a:t>구매</a:t>
            </a:r>
            <a:r>
              <a:rPr lang="en-US" altLang="ko-KR" sz="700" kern="0" smtClean="0">
                <a:solidFill>
                  <a:srgbClr val="000000"/>
                </a:solidFill>
                <a:latin typeface="+mn-ea"/>
              </a:rPr>
              <a:t>.</a:t>
            </a:r>
            <a:r>
              <a:rPr lang="ko-KR" altLang="en-US" sz="700" kern="0" smtClean="0">
                <a:solidFill>
                  <a:srgbClr val="000000"/>
                </a:solidFill>
                <a:latin typeface="+mn-ea"/>
              </a:rPr>
              <a:t>공사용역</a:t>
            </a:r>
            <a:r>
              <a:rPr lang="en-US" altLang="ko-KR" sz="700" kern="0" smtClean="0">
                <a:solidFill>
                  <a:srgbClr val="000000"/>
                </a:solidFill>
                <a:latin typeface="+mn-ea"/>
              </a:rPr>
              <a:t>.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사용권 자산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75" name="직사각형 674"/>
          <p:cNvSpPr/>
          <p:nvPr/>
        </p:nvSpPr>
        <p:spPr>
          <a:xfrm>
            <a:off x="8475864" y="1533359"/>
            <a:ext cx="984097" cy="17912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76" name="Rectangle 88"/>
          <p:cNvSpPr>
            <a:spLocks noChangeArrowheads="1"/>
          </p:cNvSpPr>
          <p:nvPr/>
        </p:nvSpPr>
        <p:spPr bwMode="auto">
          <a:xfrm>
            <a:off x="8633657" y="1524711"/>
            <a:ext cx="667307" cy="17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자산취득</a:t>
            </a:r>
          </a:p>
        </p:txBody>
      </p:sp>
      <p:sp>
        <p:nvSpPr>
          <p:cNvPr id="677" name="AutoShape 123"/>
          <p:cNvSpPr>
            <a:spLocks noChangeArrowheads="1"/>
          </p:cNvSpPr>
          <p:nvPr/>
        </p:nvSpPr>
        <p:spPr bwMode="auto">
          <a:xfrm>
            <a:off x="8468637" y="2129836"/>
            <a:ext cx="988915" cy="1006832"/>
          </a:xfrm>
          <a:prstGeom prst="roundRect">
            <a:avLst>
              <a:gd name="adj" fmla="val 2620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8" name="Rectangle 63"/>
          <p:cNvSpPr>
            <a:spLocks noChangeArrowheads="1"/>
          </p:cNvSpPr>
          <p:nvPr/>
        </p:nvSpPr>
        <p:spPr bwMode="auto">
          <a:xfrm>
            <a:off x="8566204" y="2465859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후속적지출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79" name="Rectangle 63"/>
          <p:cNvSpPr>
            <a:spLocks noChangeArrowheads="1"/>
          </p:cNvSpPr>
          <p:nvPr/>
        </p:nvSpPr>
        <p:spPr bwMode="auto">
          <a:xfrm>
            <a:off x="8566204" y="2339850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자산이동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80" name="Rectangle 63"/>
          <p:cNvSpPr>
            <a:spLocks noChangeArrowheads="1"/>
          </p:cNvSpPr>
          <p:nvPr/>
        </p:nvSpPr>
        <p:spPr bwMode="auto">
          <a:xfrm>
            <a:off x="8566204" y="2593103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재물조사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81" name="직선 연결선 680"/>
          <p:cNvCxnSpPr/>
          <p:nvPr/>
        </p:nvCxnSpPr>
        <p:spPr>
          <a:xfrm>
            <a:off x="8515614" y="2465859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직선 연결선 681"/>
          <p:cNvCxnSpPr/>
          <p:nvPr/>
        </p:nvCxnSpPr>
        <p:spPr>
          <a:xfrm>
            <a:off x="8515614" y="2593103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3" name="직사각형 682"/>
          <p:cNvSpPr/>
          <p:nvPr/>
        </p:nvSpPr>
        <p:spPr>
          <a:xfrm>
            <a:off x="8475864" y="2138484"/>
            <a:ext cx="984097" cy="17912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84" name="Rectangle 88"/>
          <p:cNvSpPr>
            <a:spLocks noChangeArrowheads="1"/>
          </p:cNvSpPr>
          <p:nvPr/>
        </p:nvSpPr>
        <p:spPr bwMode="auto">
          <a:xfrm>
            <a:off x="8633657" y="2129836"/>
            <a:ext cx="667307" cy="17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자산변동</a:t>
            </a:r>
          </a:p>
        </p:txBody>
      </p:sp>
      <p:sp>
        <p:nvSpPr>
          <p:cNvPr id="685" name="Rectangle 63"/>
          <p:cNvSpPr>
            <a:spLocks noChangeArrowheads="1"/>
          </p:cNvSpPr>
          <p:nvPr/>
        </p:nvSpPr>
        <p:spPr bwMode="auto">
          <a:xfrm>
            <a:off x="8566204" y="2728994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불용처리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86" name="직선 연결선 685"/>
          <p:cNvCxnSpPr/>
          <p:nvPr/>
        </p:nvCxnSpPr>
        <p:spPr>
          <a:xfrm>
            <a:off x="8515614" y="2727758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Rectangle 63"/>
          <p:cNvSpPr>
            <a:spLocks noChangeArrowheads="1"/>
          </p:cNvSpPr>
          <p:nvPr/>
        </p:nvSpPr>
        <p:spPr bwMode="auto">
          <a:xfrm>
            <a:off x="8566204" y="2863650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매각처분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88" name="직선 연결선 687"/>
          <p:cNvCxnSpPr/>
          <p:nvPr/>
        </p:nvCxnSpPr>
        <p:spPr>
          <a:xfrm>
            <a:off x="8515614" y="2863650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9" name="Rectangle 63"/>
          <p:cNvSpPr>
            <a:spLocks noChangeArrowheads="1"/>
          </p:cNvSpPr>
          <p:nvPr/>
        </p:nvSpPr>
        <p:spPr bwMode="auto">
          <a:xfrm>
            <a:off x="8566204" y="2999541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solidFill>
                  <a:srgbClr val="000000"/>
                </a:solidFill>
                <a:latin typeface="+mn-ea"/>
              </a:rPr>
              <a:t>부외자산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90" name="직선 연결선 689"/>
          <p:cNvCxnSpPr/>
          <p:nvPr/>
        </p:nvCxnSpPr>
        <p:spPr>
          <a:xfrm>
            <a:off x="8515614" y="2999541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1" name="AutoShape 123"/>
          <p:cNvSpPr>
            <a:spLocks noChangeArrowheads="1"/>
          </p:cNvSpPr>
          <p:nvPr/>
        </p:nvSpPr>
        <p:spPr bwMode="auto">
          <a:xfrm>
            <a:off x="8468637" y="3266167"/>
            <a:ext cx="988915" cy="882058"/>
          </a:xfrm>
          <a:prstGeom prst="roundRect">
            <a:avLst>
              <a:gd name="adj" fmla="val 2620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92" name="Rectangle 63"/>
          <p:cNvSpPr>
            <a:spLocks noChangeArrowheads="1"/>
          </p:cNvSpPr>
          <p:nvPr/>
        </p:nvSpPr>
        <p:spPr bwMode="auto">
          <a:xfrm>
            <a:off x="8566204" y="3602189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IFRS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감가상각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93" name="Rectangle 63"/>
          <p:cNvSpPr>
            <a:spLocks noChangeArrowheads="1"/>
          </p:cNvSpPr>
          <p:nvPr/>
        </p:nvSpPr>
        <p:spPr bwMode="auto">
          <a:xfrm>
            <a:off x="8566204" y="3476180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상각시뮬레이션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94" name="Rectangle 63"/>
          <p:cNvSpPr>
            <a:spLocks noChangeArrowheads="1"/>
          </p:cNvSpPr>
          <p:nvPr/>
        </p:nvSpPr>
        <p:spPr bwMode="auto">
          <a:xfrm>
            <a:off x="8566204" y="3729433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95" name="직선 연결선 694"/>
          <p:cNvCxnSpPr/>
          <p:nvPr/>
        </p:nvCxnSpPr>
        <p:spPr>
          <a:xfrm>
            <a:off x="8515614" y="3602189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직선 연결선 695"/>
          <p:cNvCxnSpPr/>
          <p:nvPr/>
        </p:nvCxnSpPr>
        <p:spPr>
          <a:xfrm>
            <a:off x="8515614" y="3729433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7" name="직사각형 696"/>
          <p:cNvSpPr/>
          <p:nvPr/>
        </p:nvSpPr>
        <p:spPr>
          <a:xfrm>
            <a:off x="8475864" y="3276050"/>
            <a:ext cx="984097" cy="17913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98" name="Rectangle 88"/>
          <p:cNvSpPr>
            <a:spLocks noChangeArrowheads="1"/>
          </p:cNvSpPr>
          <p:nvPr/>
        </p:nvSpPr>
        <p:spPr bwMode="auto">
          <a:xfrm>
            <a:off x="8633657" y="3266167"/>
            <a:ext cx="667307" cy="17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자산평가</a:t>
            </a:r>
          </a:p>
        </p:txBody>
      </p:sp>
      <p:sp>
        <p:nvSpPr>
          <p:cNvPr id="699" name="Rectangle 63"/>
          <p:cNvSpPr>
            <a:spLocks noChangeArrowheads="1"/>
          </p:cNvSpPr>
          <p:nvPr/>
        </p:nvSpPr>
        <p:spPr bwMode="auto">
          <a:xfrm>
            <a:off x="8566204" y="3739595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자산손상처리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00" name="직선 연결선 699"/>
          <p:cNvCxnSpPr/>
          <p:nvPr/>
        </p:nvCxnSpPr>
        <p:spPr>
          <a:xfrm>
            <a:off x="8515614" y="3865324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1" name="Rectangle 63"/>
          <p:cNvSpPr>
            <a:spLocks noChangeArrowheads="1"/>
          </p:cNvSpPr>
          <p:nvPr/>
        </p:nvSpPr>
        <p:spPr bwMode="auto">
          <a:xfrm>
            <a:off x="8566204" y="3875486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자산재평가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02" name="직선 연결선 701"/>
          <p:cNvCxnSpPr/>
          <p:nvPr/>
        </p:nvCxnSpPr>
        <p:spPr>
          <a:xfrm>
            <a:off x="8515614" y="4001215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5" name="AutoShape 123"/>
          <p:cNvSpPr>
            <a:spLocks noChangeArrowheads="1"/>
          </p:cNvSpPr>
          <p:nvPr/>
        </p:nvSpPr>
        <p:spPr bwMode="auto">
          <a:xfrm>
            <a:off x="8468637" y="4292241"/>
            <a:ext cx="988915" cy="480562"/>
          </a:xfrm>
          <a:prstGeom prst="roundRect">
            <a:avLst>
              <a:gd name="adj" fmla="val 2620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16" name="Rectangle 63"/>
          <p:cNvSpPr>
            <a:spLocks noChangeArrowheads="1"/>
          </p:cNvSpPr>
          <p:nvPr/>
        </p:nvSpPr>
        <p:spPr bwMode="auto">
          <a:xfrm>
            <a:off x="8566204" y="4648029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solidFill>
                  <a:srgbClr val="000000"/>
                </a:solidFill>
                <a:latin typeface="+mn-ea"/>
              </a:rPr>
              <a:t>자산명세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17" name="Rectangle 63"/>
          <p:cNvSpPr>
            <a:spLocks noChangeArrowheads="1"/>
          </p:cNvSpPr>
          <p:nvPr/>
        </p:nvSpPr>
        <p:spPr bwMode="auto">
          <a:xfrm>
            <a:off x="8566204" y="4502254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자산이력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18" name="직선 연결선 717"/>
          <p:cNvCxnSpPr/>
          <p:nvPr/>
        </p:nvCxnSpPr>
        <p:spPr>
          <a:xfrm>
            <a:off x="8515614" y="4628263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직사각형 718"/>
          <p:cNvSpPr/>
          <p:nvPr/>
        </p:nvSpPr>
        <p:spPr>
          <a:xfrm>
            <a:off x="8475864" y="4300889"/>
            <a:ext cx="984097" cy="18036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20" name="Rectangle 88"/>
          <p:cNvSpPr>
            <a:spLocks noChangeArrowheads="1"/>
          </p:cNvSpPr>
          <p:nvPr/>
        </p:nvSpPr>
        <p:spPr bwMode="auto">
          <a:xfrm>
            <a:off x="8633657" y="4292241"/>
            <a:ext cx="667307" cy="17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자산관리</a:t>
            </a:r>
          </a:p>
        </p:txBody>
      </p:sp>
      <p:grpSp>
        <p:nvGrpSpPr>
          <p:cNvPr id="721" name="그룹 707"/>
          <p:cNvGrpSpPr>
            <a:grpSpLocks/>
          </p:cNvGrpSpPr>
          <p:nvPr/>
        </p:nvGrpSpPr>
        <p:grpSpPr bwMode="auto">
          <a:xfrm>
            <a:off x="2877232" y="5070239"/>
            <a:ext cx="697420" cy="64240"/>
            <a:chOff x="4286250" y="7853363"/>
            <a:chExt cx="919163" cy="82550"/>
          </a:xfrm>
        </p:grpSpPr>
        <p:cxnSp>
          <p:nvCxnSpPr>
            <p:cNvPr id="931" name="AutoShape 380"/>
            <p:cNvCxnSpPr>
              <a:cxnSpLocks noChangeShapeType="1"/>
            </p:cNvCxnSpPr>
            <p:nvPr/>
          </p:nvCxnSpPr>
          <p:spPr bwMode="auto">
            <a:xfrm flipH="1">
              <a:off x="4286250" y="7853363"/>
              <a:ext cx="460375" cy="82550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2" name="AutoShape 380"/>
            <p:cNvCxnSpPr>
              <a:cxnSpLocks noChangeShapeType="1"/>
            </p:cNvCxnSpPr>
            <p:nvPr/>
          </p:nvCxnSpPr>
          <p:spPr bwMode="auto">
            <a:xfrm flipH="1">
              <a:off x="4584700" y="7853363"/>
              <a:ext cx="161925" cy="79375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3" name="AutoShape 380"/>
            <p:cNvCxnSpPr>
              <a:cxnSpLocks noChangeShapeType="1"/>
            </p:cNvCxnSpPr>
            <p:nvPr/>
          </p:nvCxnSpPr>
          <p:spPr bwMode="auto">
            <a:xfrm>
              <a:off x="4746625" y="7853363"/>
              <a:ext cx="458788" cy="79375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4" name="AutoShape 380"/>
            <p:cNvCxnSpPr>
              <a:cxnSpLocks noChangeShapeType="1"/>
            </p:cNvCxnSpPr>
            <p:nvPr/>
          </p:nvCxnSpPr>
          <p:spPr bwMode="auto">
            <a:xfrm>
              <a:off x="4746625" y="7853363"/>
              <a:ext cx="144463" cy="79375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22" name="모서리가 둥근 직사각형 721"/>
          <p:cNvSpPr/>
          <p:nvPr/>
        </p:nvSpPr>
        <p:spPr>
          <a:xfrm>
            <a:off x="5238101" y="5212308"/>
            <a:ext cx="381835" cy="139597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6600"/>
                </a:solidFill>
                <a:latin typeface="+mn-ea"/>
              </a:rPr>
              <a:t>출고전표</a:t>
            </a:r>
            <a:endParaRPr kumimoji="0" lang="en-US" altLang="ko-KR" sz="700" kern="0" dirty="0">
              <a:solidFill>
                <a:srgbClr val="006600"/>
              </a:solidFill>
              <a:latin typeface="+mn-ea"/>
            </a:endParaRPr>
          </a:p>
        </p:txBody>
      </p:sp>
      <p:sp>
        <p:nvSpPr>
          <p:cNvPr id="723" name="AutoShape 15"/>
          <p:cNvSpPr>
            <a:spLocks noChangeArrowheads="1"/>
          </p:cNvSpPr>
          <p:nvPr/>
        </p:nvSpPr>
        <p:spPr bwMode="auto">
          <a:xfrm>
            <a:off x="5978884" y="1292460"/>
            <a:ext cx="2335574" cy="4231162"/>
          </a:xfrm>
          <a:prstGeom prst="roundRect">
            <a:avLst>
              <a:gd name="adj" fmla="val 2383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724" name="AutoShape 123"/>
          <p:cNvSpPr>
            <a:spLocks noChangeArrowheads="1"/>
          </p:cNvSpPr>
          <p:nvPr/>
        </p:nvSpPr>
        <p:spPr bwMode="auto">
          <a:xfrm>
            <a:off x="6019838" y="1323345"/>
            <a:ext cx="2250053" cy="3095852"/>
          </a:xfrm>
          <a:prstGeom prst="roundRect">
            <a:avLst>
              <a:gd name="adj" fmla="val 1685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725" name="그림 157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315" y="1092329"/>
            <a:ext cx="1039505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6" name="Rectangle 88"/>
          <p:cNvSpPr>
            <a:spLocks noChangeArrowheads="1"/>
          </p:cNvSpPr>
          <p:nvPr/>
        </p:nvSpPr>
        <p:spPr bwMode="auto">
          <a:xfrm>
            <a:off x="6142552" y="1130003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회계관리</a:t>
            </a:r>
          </a:p>
        </p:txBody>
      </p:sp>
      <p:grpSp>
        <p:nvGrpSpPr>
          <p:cNvPr id="727" name="그룹 1578"/>
          <p:cNvGrpSpPr>
            <a:grpSpLocks/>
          </p:cNvGrpSpPr>
          <p:nvPr/>
        </p:nvGrpSpPr>
        <p:grpSpPr bwMode="auto">
          <a:xfrm>
            <a:off x="6228220" y="1338169"/>
            <a:ext cx="537218" cy="550978"/>
            <a:chOff x="4005363" y="2738998"/>
            <a:chExt cx="708151" cy="708151"/>
          </a:xfrm>
        </p:grpSpPr>
        <p:pic>
          <p:nvPicPr>
            <p:cNvPr id="929" name="그림 9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30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7" cy="237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전자</a:t>
              </a:r>
              <a:endParaRPr lang="en-US" altLang="ko-KR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증빙</a:t>
              </a:r>
            </a:p>
          </p:txBody>
        </p:sp>
      </p:grpSp>
      <p:sp>
        <p:nvSpPr>
          <p:cNvPr id="728" name="모서리가 둥근 직사각형 727"/>
          <p:cNvSpPr/>
          <p:nvPr/>
        </p:nvSpPr>
        <p:spPr>
          <a:xfrm>
            <a:off x="6308924" y="1859498"/>
            <a:ext cx="383039" cy="139597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800080"/>
                </a:solidFill>
                <a:latin typeface="+mn-ea"/>
              </a:rPr>
              <a:t>각종증빙</a:t>
            </a:r>
            <a:endParaRPr kumimoji="0" lang="en-US" altLang="ko-KR" sz="700" kern="0" dirty="0">
              <a:solidFill>
                <a:srgbClr val="800080"/>
              </a:solidFill>
              <a:latin typeface="+mn-ea"/>
            </a:endParaRPr>
          </a:p>
        </p:txBody>
      </p:sp>
      <p:sp>
        <p:nvSpPr>
          <p:cNvPr id="729" name="AutoShape 123"/>
          <p:cNvSpPr>
            <a:spLocks noChangeArrowheads="1"/>
          </p:cNvSpPr>
          <p:nvPr/>
        </p:nvSpPr>
        <p:spPr bwMode="auto">
          <a:xfrm>
            <a:off x="6021042" y="4646506"/>
            <a:ext cx="2251258" cy="843761"/>
          </a:xfrm>
          <a:prstGeom prst="roundRect">
            <a:avLst>
              <a:gd name="adj" fmla="val 2838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730" name="그룹 1649"/>
          <p:cNvGrpSpPr>
            <a:grpSpLocks/>
          </p:cNvGrpSpPr>
          <p:nvPr/>
        </p:nvGrpSpPr>
        <p:grpSpPr bwMode="auto">
          <a:xfrm>
            <a:off x="6883482" y="4261068"/>
            <a:ext cx="537218" cy="550978"/>
            <a:chOff x="4005363" y="2738998"/>
            <a:chExt cx="708151" cy="708151"/>
          </a:xfrm>
        </p:grpSpPr>
        <p:pic>
          <p:nvPicPr>
            <p:cNvPr id="927" name="그림 9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28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7" cy="237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은행</a:t>
              </a:r>
              <a:endParaRPr lang="en-US" altLang="ko-KR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en-US" altLang="ko-KR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CMS</a:t>
              </a:r>
              <a:endParaRPr lang="ko-KR" altLang="en-US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</p:txBody>
        </p:sp>
      </p:grpSp>
      <p:sp>
        <p:nvSpPr>
          <p:cNvPr id="731" name="모서리가 둥근 직사각형 730"/>
          <p:cNvSpPr/>
          <p:nvPr/>
        </p:nvSpPr>
        <p:spPr>
          <a:xfrm>
            <a:off x="6123427" y="4678625"/>
            <a:ext cx="764873" cy="139597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입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출금 내역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2" name="모서리가 둥근 직사각형 731"/>
          <p:cNvSpPr/>
          <p:nvPr/>
        </p:nvSpPr>
        <p:spPr>
          <a:xfrm>
            <a:off x="6123427" y="4839224"/>
            <a:ext cx="764873" cy="14083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대체거래내역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3" name="모서리가 둥근 직사각형 732"/>
          <p:cNvSpPr/>
          <p:nvPr/>
        </p:nvSpPr>
        <p:spPr>
          <a:xfrm>
            <a:off x="6123427" y="5007235"/>
            <a:ext cx="764873" cy="14083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지급전표처리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4" name="모서리가 둥근 직사각형 733"/>
          <p:cNvSpPr/>
          <p:nvPr/>
        </p:nvSpPr>
        <p:spPr>
          <a:xfrm>
            <a:off x="6123427" y="5176481"/>
            <a:ext cx="764873" cy="139598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카드승인내역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5" name="모서리가 둥근 직사각형 734"/>
          <p:cNvSpPr/>
          <p:nvPr/>
        </p:nvSpPr>
        <p:spPr>
          <a:xfrm>
            <a:off x="6123427" y="5337080"/>
            <a:ext cx="764873" cy="139598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카드청구내역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6" name="모서리가 둥근 직사각형 735"/>
          <p:cNvSpPr/>
          <p:nvPr/>
        </p:nvSpPr>
        <p:spPr>
          <a:xfrm>
            <a:off x="7397815" y="4678625"/>
            <a:ext cx="764873" cy="139597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입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출금 전표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7" name="모서리가 둥근 직사각형 736"/>
          <p:cNvSpPr/>
          <p:nvPr/>
        </p:nvSpPr>
        <p:spPr>
          <a:xfrm>
            <a:off x="7397815" y="4839224"/>
            <a:ext cx="764873" cy="140833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대체거래전표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8" name="모서리가 둥근 직사각형 737"/>
          <p:cNvSpPr/>
          <p:nvPr/>
        </p:nvSpPr>
        <p:spPr>
          <a:xfrm>
            <a:off x="7397815" y="5007235"/>
            <a:ext cx="764873" cy="140833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지급의뢰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9" name="모서리가 둥근 직사각형 738"/>
          <p:cNvSpPr/>
          <p:nvPr/>
        </p:nvSpPr>
        <p:spPr>
          <a:xfrm>
            <a:off x="7397815" y="5176481"/>
            <a:ext cx="764873" cy="139598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승인결의연결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0" name="모서리가 둥근 직사각형 739"/>
          <p:cNvSpPr/>
          <p:nvPr/>
        </p:nvSpPr>
        <p:spPr>
          <a:xfrm>
            <a:off x="7397815" y="5337080"/>
            <a:ext cx="764873" cy="139598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청구승인연결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41" name="직선 연결선 740"/>
          <p:cNvCxnSpPr>
            <a:stCxn id="731" idx="3"/>
            <a:endCxn id="736" idx="1"/>
          </p:cNvCxnSpPr>
          <p:nvPr/>
        </p:nvCxnSpPr>
        <p:spPr bwMode="auto">
          <a:xfrm>
            <a:off x="6888300" y="4749041"/>
            <a:ext cx="50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직선 연결선 741"/>
          <p:cNvCxnSpPr>
            <a:stCxn id="732" idx="3"/>
            <a:endCxn id="737" idx="1"/>
          </p:cNvCxnSpPr>
          <p:nvPr/>
        </p:nvCxnSpPr>
        <p:spPr bwMode="auto">
          <a:xfrm>
            <a:off x="6888300" y="4909640"/>
            <a:ext cx="50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직선 연결선 742"/>
          <p:cNvCxnSpPr>
            <a:stCxn id="733" idx="3"/>
            <a:endCxn id="738" idx="1"/>
          </p:cNvCxnSpPr>
          <p:nvPr/>
        </p:nvCxnSpPr>
        <p:spPr bwMode="auto">
          <a:xfrm>
            <a:off x="6888300" y="5077651"/>
            <a:ext cx="50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4" name="이등변 삼각형 743"/>
          <p:cNvSpPr/>
          <p:nvPr/>
        </p:nvSpPr>
        <p:spPr bwMode="auto">
          <a:xfrm rot="5400000">
            <a:off x="7351287" y="5058333"/>
            <a:ext cx="60534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45" name="이등변 삼각형 744"/>
          <p:cNvSpPr/>
          <p:nvPr/>
        </p:nvSpPr>
        <p:spPr>
          <a:xfrm rot="16200000">
            <a:off x="6875499" y="5058333"/>
            <a:ext cx="60534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46" name="꺾인 연결선 745"/>
          <p:cNvCxnSpPr>
            <a:stCxn id="740" idx="1"/>
            <a:endCxn id="734" idx="3"/>
          </p:cNvCxnSpPr>
          <p:nvPr/>
        </p:nvCxnSpPr>
        <p:spPr>
          <a:xfrm rot="10800000">
            <a:off x="6888300" y="5246898"/>
            <a:ext cx="509514" cy="160599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모서리가 둥근 직사각형 746"/>
          <p:cNvSpPr/>
          <p:nvPr/>
        </p:nvSpPr>
        <p:spPr>
          <a:xfrm>
            <a:off x="7352043" y="4247479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결산주석관리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8" name="이등변 삼각형 747"/>
          <p:cNvSpPr/>
          <p:nvPr/>
        </p:nvSpPr>
        <p:spPr>
          <a:xfrm rot="10800000">
            <a:off x="7712195" y="3799038"/>
            <a:ext cx="59022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49" name="직선 연결선 748"/>
          <p:cNvCxnSpPr/>
          <p:nvPr/>
        </p:nvCxnSpPr>
        <p:spPr>
          <a:xfrm>
            <a:off x="6918414" y="2773676"/>
            <a:ext cx="4372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직선 연결선 749"/>
          <p:cNvCxnSpPr/>
          <p:nvPr/>
        </p:nvCxnSpPr>
        <p:spPr>
          <a:xfrm>
            <a:off x="6918414" y="3232000"/>
            <a:ext cx="4372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직선 연결선 750"/>
          <p:cNvCxnSpPr/>
          <p:nvPr/>
        </p:nvCxnSpPr>
        <p:spPr>
          <a:xfrm>
            <a:off x="7075002" y="2621724"/>
            <a:ext cx="27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연결선 751"/>
          <p:cNvCxnSpPr/>
          <p:nvPr/>
        </p:nvCxnSpPr>
        <p:spPr>
          <a:xfrm>
            <a:off x="7075002" y="2935510"/>
            <a:ext cx="27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연결선 752"/>
          <p:cNvCxnSpPr/>
          <p:nvPr/>
        </p:nvCxnSpPr>
        <p:spPr>
          <a:xfrm>
            <a:off x="7075002" y="3078813"/>
            <a:ext cx="27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직선 연결선 753"/>
          <p:cNvCxnSpPr/>
          <p:nvPr/>
        </p:nvCxnSpPr>
        <p:spPr>
          <a:xfrm>
            <a:off x="7075002" y="3392599"/>
            <a:ext cx="27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5" name="모서리가 둥근 직사각형 754"/>
          <p:cNvSpPr/>
          <p:nvPr/>
        </p:nvSpPr>
        <p:spPr>
          <a:xfrm>
            <a:off x="7352043" y="2552543"/>
            <a:ext cx="763669" cy="139598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일일마감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6" name="모서리가 둥근 직사각형 755"/>
          <p:cNvSpPr/>
          <p:nvPr/>
        </p:nvSpPr>
        <p:spPr>
          <a:xfrm>
            <a:off x="7352043" y="2704495"/>
            <a:ext cx="763669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마감장부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7" name="모서리가 둥근 직사각형 756"/>
          <p:cNvSpPr/>
          <p:nvPr/>
        </p:nvSpPr>
        <p:spPr>
          <a:xfrm>
            <a:off x="7352043" y="2856446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재무제표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8" name="모서리가 둥근 직사각형 757"/>
          <p:cNvSpPr/>
          <p:nvPr/>
        </p:nvSpPr>
        <p:spPr>
          <a:xfrm>
            <a:off x="7352043" y="3009632"/>
            <a:ext cx="763669" cy="139598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원천세신고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9" name="모서리가 둥근 직사각형 758"/>
          <p:cNvSpPr/>
          <p:nvPr/>
        </p:nvSpPr>
        <p:spPr>
          <a:xfrm>
            <a:off x="7352043" y="3161584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부가세신고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60" name="모서리가 둥근 직사각형 759"/>
          <p:cNvSpPr/>
          <p:nvPr/>
        </p:nvSpPr>
        <p:spPr>
          <a:xfrm>
            <a:off x="7352043" y="3314771"/>
            <a:ext cx="763669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법인세자료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61" name="직선 연결선 760"/>
          <p:cNvCxnSpPr/>
          <p:nvPr/>
        </p:nvCxnSpPr>
        <p:spPr>
          <a:xfrm>
            <a:off x="7078615" y="2620489"/>
            <a:ext cx="0" cy="313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직선 연결선 761"/>
          <p:cNvCxnSpPr/>
          <p:nvPr/>
        </p:nvCxnSpPr>
        <p:spPr>
          <a:xfrm>
            <a:off x="7078615" y="3078813"/>
            <a:ext cx="0" cy="313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직선 연결선 762"/>
          <p:cNvCxnSpPr/>
          <p:nvPr/>
        </p:nvCxnSpPr>
        <p:spPr>
          <a:xfrm>
            <a:off x="6493216" y="2435183"/>
            <a:ext cx="0" cy="252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직선 연결선 763"/>
          <p:cNvCxnSpPr/>
          <p:nvPr/>
        </p:nvCxnSpPr>
        <p:spPr>
          <a:xfrm>
            <a:off x="6493216" y="2836680"/>
            <a:ext cx="0" cy="308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직선 연결선 764"/>
          <p:cNvCxnSpPr/>
          <p:nvPr/>
        </p:nvCxnSpPr>
        <p:spPr>
          <a:xfrm>
            <a:off x="6493216" y="3303652"/>
            <a:ext cx="0" cy="699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직선 연결선 765"/>
          <p:cNvCxnSpPr/>
          <p:nvPr/>
        </p:nvCxnSpPr>
        <p:spPr>
          <a:xfrm flipH="1">
            <a:off x="6493216" y="4026347"/>
            <a:ext cx="1205" cy="179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7" name="모서리가 둥근 직사각형 766"/>
          <p:cNvSpPr/>
          <p:nvPr/>
        </p:nvSpPr>
        <p:spPr>
          <a:xfrm>
            <a:off x="6111382" y="2417888"/>
            <a:ext cx="764873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>
                <a:solidFill>
                  <a:srgbClr val="000000"/>
                </a:solidFill>
                <a:latin typeface="+mn-ea"/>
              </a:rPr>
              <a:t>회계전표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68" name="모서리가 둥근 직사각형 767"/>
          <p:cNvSpPr/>
          <p:nvPr/>
        </p:nvSpPr>
        <p:spPr>
          <a:xfrm>
            <a:off x="6111382" y="2704495"/>
            <a:ext cx="764873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재무관리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70" name="모서리가 둥근 직사각형 769"/>
          <p:cNvSpPr/>
          <p:nvPr/>
        </p:nvSpPr>
        <p:spPr>
          <a:xfrm>
            <a:off x="6111382" y="4021405"/>
            <a:ext cx="764873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결산마감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71" name="모서리가 둥근 직사각형 770"/>
          <p:cNvSpPr/>
          <p:nvPr/>
        </p:nvSpPr>
        <p:spPr>
          <a:xfrm>
            <a:off x="6111382" y="3161584"/>
            <a:ext cx="764873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세무관리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73" name="직선 연결선 772"/>
          <p:cNvCxnSpPr/>
          <p:nvPr/>
        </p:nvCxnSpPr>
        <p:spPr>
          <a:xfrm>
            <a:off x="6076450" y="4178298"/>
            <a:ext cx="4119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5" name="이등변 삼각형 774"/>
          <p:cNvSpPr/>
          <p:nvPr/>
        </p:nvSpPr>
        <p:spPr>
          <a:xfrm rot="5400000">
            <a:off x="6139518" y="3790884"/>
            <a:ext cx="61769" cy="38545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776" name="그룹 1828"/>
          <p:cNvGrpSpPr>
            <a:grpSpLocks/>
          </p:cNvGrpSpPr>
          <p:nvPr/>
        </p:nvGrpSpPr>
        <p:grpSpPr bwMode="auto">
          <a:xfrm>
            <a:off x="7945873" y="1036738"/>
            <a:ext cx="537218" cy="550978"/>
            <a:chOff x="4005363" y="2738998"/>
            <a:chExt cx="708151" cy="708151"/>
          </a:xfrm>
        </p:grpSpPr>
        <p:pic>
          <p:nvPicPr>
            <p:cNvPr id="923" name="그림 9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24" name="Text Box 26"/>
            <p:cNvSpPr txBox="1">
              <a:spLocks noChangeArrowheads="1"/>
            </p:cNvSpPr>
            <p:nvPr/>
          </p:nvSpPr>
          <p:spPr bwMode="auto">
            <a:xfrm>
              <a:off x="4096681" y="2954791"/>
              <a:ext cx="544037" cy="237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그룹</a:t>
              </a:r>
              <a:endParaRPr lang="en-US" altLang="ko-KR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웨어</a:t>
              </a:r>
            </a:p>
          </p:txBody>
        </p:sp>
      </p:grpSp>
      <p:sp>
        <p:nvSpPr>
          <p:cNvPr id="777" name="모서리가 둥근 직사각형 776"/>
          <p:cNvSpPr/>
          <p:nvPr/>
        </p:nvSpPr>
        <p:spPr>
          <a:xfrm>
            <a:off x="7555607" y="1271459"/>
            <a:ext cx="383039" cy="140833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600" kern="0" dirty="0">
                <a:solidFill>
                  <a:srgbClr val="990033"/>
                </a:solidFill>
                <a:latin typeface="+mn-ea"/>
              </a:rPr>
              <a:t>전자결재</a:t>
            </a:r>
            <a:endParaRPr kumimoji="0" lang="en-US" altLang="ko-KR" sz="600" kern="0" dirty="0">
              <a:solidFill>
                <a:srgbClr val="990033"/>
              </a:solidFill>
              <a:latin typeface="+mn-ea"/>
            </a:endParaRPr>
          </a:p>
        </p:txBody>
      </p:sp>
      <p:sp>
        <p:nvSpPr>
          <p:cNvPr id="778" name="모서리가 둥근 직사각형 777"/>
          <p:cNvSpPr/>
          <p:nvPr/>
        </p:nvSpPr>
        <p:spPr>
          <a:xfrm>
            <a:off x="6777484" y="3470428"/>
            <a:ext cx="464947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결산작업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79" name="직선 연결선 778"/>
          <p:cNvCxnSpPr/>
          <p:nvPr/>
        </p:nvCxnSpPr>
        <p:spPr>
          <a:xfrm>
            <a:off x="7250862" y="3534667"/>
            <a:ext cx="4914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직선 연결선 779"/>
          <p:cNvCxnSpPr/>
          <p:nvPr/>
        </p:nvCxnSpPr>
        <p:spPr>
          <a:xfrm>
            <a:off x="6926845" y="4088116"/>
            <a:ext cx="8190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1" name="이등변 삼각형 780"/>
          <p:cNvSpPr/>
          <p:nvPr/>
        </p:nvSpPr>
        <p:spPr>
          <a:xfrm rot="16200000">
            <a:off x="6880904" y="4070650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82" name="직선 연결선 781"/>
          <p:cNvCxnSpPr/>
          <p:nvPr/>
        </p:nvCxnSpPr>
        <p:spPr>
          <a:xfrm>
            <a:off x="7741104" y="3866983"/>
            <a:ext cx="0" cy="22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3" name="모서리가 둥근 직사각형 782"/>
          <p:cNvSpPr/>
          <p:nvPr/>
        </p:nvSpPr>
        <p:spPr>
          <a:xfrm>
            <a:off x="7352043" y="3847217"/>
            <a:ext cx="763669" cy="139598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결산조정작업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84" name="직선 연결선 783"/>
          <p:cNvCxnSpPr/>
          <p:nvPr/>
        </p:nvCxnSpPr>
        <p:spPr>
          <a:xfrm>
            <a:off x="7741104" y="3631027"/>
            <a:ext cx="0" cy="168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5" name="모서리가 둥근 직사각형 784"/>
          <p:cNvSpPr/>
          <p:nvPr/>
        </p:nvSpPr>
        <p:spPr>
          <a:xfrm>
            <a:off x="7352043" y="3622379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결산일정관리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86" name="직선 연결선 785"/>
          <p:cNvCxnSpPr/>
          <p:nvPr/>
        </p:nvCxnSpPr>
        <p:spPr>
          <a:xfrm>
            <a:off x="7741104" y="3530961"/>
            <a:ext cx="0" cy="56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7" name="이등변 삼각형 786"/>
          <p:cNvSpPr/>
          <p:nvPr/>
        </p:nvSpPr>
        <p:spPr>
          <a:xfrm rot="10800000">
            <a:off x="7712195" y="3577905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88" name="직선 연결선 787"/>
          <p:cNvCxnSpPr/>
          <p:nvPr/>
        </p:nvCxnSpPr>
        <p:spPr>
          <a:xfrm>
            <a:off x="6926845" y="2484598"/>
            <a:ext cx="8190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직선 연결선 788"/>
          <p:cNvCxnSpPr/>
          <p:nvPr/>
        </p:nvCxnSpPr>
        <p:spPr>
          <a:xfrm>
            <a:off x="7741104" y="2260995"/>
            <a:ext cx="0" cy="22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직선 연결선 789"/>
          <p:cNvCxnSpPr/>
          <p:nvPr/>
        </p:nvCxnSpPr>
        <p:spPr>
          <a:xfrm>
            <a:off x="7782058" y="1816259"/>
            <a:ext cx="0" cy="279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1" name="모서리가 둥근 직사각형 790"/>
          <p:cNvSpPr/>
          <p:nvPr/>
        </p:nvSpPr>
        <p:spPr>
          <a:xfrm>
            <a:off x="7352043" y="2144869"/>
            <a:ext cx="763669" cy="139598"/>
          </a:xfrm>
          <a:prstGeom prst="roundRect">
            <a:avLst/>
          </a:prstGeom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>
                <a:solidFill>
                  <a:srgbClr val="000000"/>
                </a:solidFill>
                <a:latin typeface="+mn-ea"/>
              </a:rPr>
              <a:t>원인행위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2" name="모서리가 둥근 직사각형 791"/>
          <p:cNvSpPr/>
          <p:nvPr/>
        </p:nvSpPr>
        <p:spPr>
          <a:xfrm>
            <a:off x="7352043" y="2305468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자동분개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3" name="이등변 삼각형 792"/>
          <p:cNvSpPr/>
          <p:nvPr/>
        </p:nvSpPr>
        <p:spPr>
          <a:xfrm rot="10800000">
            <a:off x="7756763" y="2099161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94" name="AutoShape 598"/>
          <p:cNvCxnSpPr>
            <a:cxnSpLocks noChangeShapeType="1"/>
          </p:cNvCxnSpPr>
          <p:nvPr/>
        </p:nvCxnSpPr>
        <p:spPr bwMode="auto">
          <a:xfrm rot="16200000" flipH="1">
            <a:off x="7639085" y="1919951"/>
            <a:ext cx="742460" cy="186702"/>
          </a:xfrm>
          <a:prstGeom prst="bentConnector4">
            <a:avLst>
              <a:gd name="adj1" fmla="val 2954"/>
              <a:gd name="adj2" fmla="val 155829"/>
            </a:avLst>
          </a:prstGeom>
          <a:noFill/>
          <a:ln w="9525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5" name="모서리가 둥근 직사각형 794"/>
          <p:cNvSpPr/>
          <p:nvPr/>
        </p:nvSpPr>
        <p:spPr>
          <a:xfrm>
            <a:off x="7349634" y="1460471"/>
            <a:ext cx="764873" cy="381731"/>
          </a:xfrm>
          <a:prstGeom prst="roundRect">
            <a:avLst>
              <a:gd name="adj" fmla="val 10000"/>
            </a:avLst>
          </a:prstGeom>
          <a:solidFill>
            <a:srgbClr val="EEFCDC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lnSpc>
                <a:spcPts val="1200"/>
              </a:lnSpc>
              <a:defRPr/>
            </a:pPr>
            <a:endParaRPr kumimoji="0" lang="en-US" altLang="ko-KR" sz="6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6" name="모서리가 둥근 직사각형 795"/>
          <p:cNvSpPr/>
          <p:nvPr/>
        </p:nvSpPr>
        <p:spPr>
          <a:xfrm>
            <a:off x="7394201" y="1509886"/>
            <a:ext cx="682966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결의서 입력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7" name="모서리가 둥근 직사각형 796"/>
          <p:cNvSpPr/>
          <p:nvPr/>
        </p:nvSpPr>
        <p:spPr>
          <a:xfrm>
            <a:off x="7394201" y="1668014"/>
            <a:ext cx="682966" cy="139598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kern="0">
                <a:solidFill>
                  <a:srgbClr val="000000"/>
                </a:solidFill>
                <a:latin typeface="+mn-ea"/>
              </a:rPr>
              <a:t>자동생성 결의</a:t>
            </a:r>
            <a:endParaRPr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98" name="직선 연결선 797"/>
          <p:cNvCxnSpPr/>
          <p:nvPr/>
        </p:nvCxnSpPr>
        <p:spPr>
          <a:xfrm>
            <a:off x="6492012" y="2275819"/>
            <a:ext cx="0" cy="112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" name="이등변 삼각형 798"/>
          <p:cNvSpPr/>
          <p:nvPr/>
        </p:nvSpPr>
        <p:spPr>
          <a:xfrm rot="10800000">
            <a:off x="6463103" y="2367237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00" name="직선 연결선 799"/>
          <p:cNvCxnSpPr/>
          <p:nvPr/>
        </p:nvCxnSpPr>
        <p:spPr>
          <a:xfrm>
            <a:off x="5775319" y="2277055"/>
            <a:ext cx="7178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직선 연결선 800"/>
          <p:cNvCxnSpPr/>
          <p:nvPr/>
        </p:nvCxnSpPr>
        <p:spPr>
          <a:xfrm>
            <a:off x="5775319" y="2065805"/>
            <a:ext cx="2409" cy="212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직선 연결선 801"/>
          <p:cNvCxnSpPr>
            <a:stCxn id="369" idx="3"/>
          </p:cNvCxnSpPr>
          <p:nvPr/>
        </p:nvCxnSpPr>
        <p:spPr>
          <a:xfrm>
            <a:off x="5485029" y="2065805"/>
            <a:ext cx="2926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이등변 삼각형 802"/>
          <p:cNvSpPr/>
          <p:nvPr/>
        </p:nvSpPr>
        <p:spPr>
          <a:xfrm rot="5400000">
            <a:off x="7489807" y="1344825"/>
            <a:ext cx="60533" cy="37340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04" name="이등변 삼각형 803"/>
          <p:cNvSpPr/>
          <p:nvPr/>
        </p:nvSpPr>
        <p:spPr>
          <a:xfrm rot="5400000">
            <a:off x="7277208" y="1618476"/>
            <a:ext cx="60533" cy="38545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05" name="꺾인 연결선 804"/>
          <p:cNvCxnSpPr/>
          <p:nvPr/>
        </p:nvCxnSpPr>
        <p:spPr>
          <a:xfrm rot="5400000" flipH="1" flipV="1">
            <a:off x="7236520" y="1362672"/>
            <a:ext cx="280431" cy="273428"/>
          </a:xfrm>
          <a:prstGeom prst="bentConnector3">
            <a:avLst>
              <a:gd name="adj1" fmla="val 98483"/>
            </a:avLst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6" name="직선 연결선 805"/>
          <p:cNvCxnSpPr/>
          <p:nvPr/>
        </p:nvCxnSpPr>
        <p:spPr>
          <a:xfrm>
            <a:off x="7238817" y="1639601"/>
            <a:ext cx="5420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7" name="직선 연결선 806"/>
          <p:cNvCxnSpPr/>
          <p:nvPr/>
        </p:nvCxnSpPr>
        <p:spPr>
          <a:xfrm>
            <a:off x="8374684" y="1607481"/>
            <a:ext cx="0" cy="364930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직선 연결선 807"/>
          <p:cNvCxnSpPr/>
          <p:nvPr/>
        </p:nvCxnSpPr>
        <p:spPr>
          <a:xfrm>
            <a:off x="8209664" y="5246898"/>
            <a:ext cx="163815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직선 연결선 808"/>
          <p:cNvCxnSpPr/>
          <p:nvPr/>
        </p:nvCxnSpPr>
        <p:spPr>
          <a:xfrm>
            <a:off x="8209664" y="5078887"/>
            <a:ext cx="163815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직선 연결선 809"/>
          <p:cNvCxnSpPr/>
          <p:nvPr/>
        </p:nvCxnSpPr>
        <p:spPr>
          <a:xfrm>
            <a:off x="8122939" y="1606245"/>
            <a:ext cx="245723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직선 연결선 810"/>
          <p:cNvCxnSpPr/>
          <p:nvPr/>
        </p:nvCxnSpPr>
        <p:spPr>
          <a:xfrm>
            <a:off x="8374684" y="1606245"/>
            <a:ext cx="81908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직선 연결선 811"/>
          <p:cNvCxnSpPr/>
          <p:nvPr/>
        </p:nvCxnSpPr>
        <p:spPr>
          <a:xfrm>
            <a:off x="8374684" y="2068085"/>
            <a:ext cx="81908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직선 연결선 812"/>
          <p:cNvCxnSpPr/>
          <p:nvPr/>
        </p:nvCxnSpPr>
        <p:spPr>
          <a:xfrm>
            <a:off x="8374684" y="3212941"/>
            <a:ext cx="81908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직선 연결선 815"/>
          <p:cNvCxnSpPr/>
          <p:nvPr/>
        </p:nvCxnSpPr>
        <p:spPr>
          <a:xfrm>
            <a:off x="8374684" y="4236417"/>
            <a:ext cx="81908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7" name="이등변 삼각형 816"/>
          <p:cNvSpPr/>
          <p:nvPr/>
        </p:nvSpPr>
        <p:spPr>
          <a:xfrm rot="16200000">
            <a:off x="8177127" y="5228197"/>
            <a:ext cx="49415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18" name="이등변 삼각형 817"/>
          <p:cNvSpPr/>
          <p:nvPr/>
        </p:nvSpPr>
        <p:spPr>
          <a:xfrm rot="16200000">
            <a:off x="8177127" y="5058951"/>
            <a:ext cx="49415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19" name="꺾인 연결선 818"/>
          <p:cNvCxnSpPr>
            <a:endCxn id="820" idx="3"/>
          </p:cNvCxnSpPr>
          <p:nvPr/>
        </p:nvCxnSpPr>
        <p:spPr>
          <a:xfrm rot="10800000">
            <a:off x="2608623" y="2915744"/>
            <a:ext cx="157792" cy="58063"/>
          </a:xfrm>
          <a:prstGeom prst="bentConnector3">
            <a:avLst>
              <a:gd name="adj1" fmla="val 50000"/>
            </a:avLst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" name="이등변 삼각형 819"/>
          <p:cNvSpPr/>
          <p:nvPr/>
        </p:nvSpPr>
        <p:spPr>
          <a:xfrm rot="16200000">
            <a:off x="2561493" y="2899498"/>
            <a:ext cx="60534" cy="33727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21" name="AutoShape 496"/>
          <p:cNvCxnSpPr>
            <a:cxnSpLocks noChangeShapeType="1"/>
            <a:stCxn id="883" idx="3"/>
          </p:cNvCxnSpPr>
          <p:nvPr/>
        </p:nvCxnSpPr>
        <p:spPr bwMode="auto">
          <a:xfrm>
            <a:off x="4537068" y="3548552"/>
            <a:ext cx="2346414" cy="988004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" name="AutoShape 497"/>
          <p:cNvCxnSpPr>
            <a:cxnSpLocks noChangeShapeType="1"/>
            <a:stCxn id="612" idx="3"/>
          </p:cNvCxnSpPr>
          <p:nvPr/>
        </p:nvCxnSpPr>
        <p:spPr bwMode="auto">
          <a:xfrm>
            <a:off x="5428416" y="3514901"/>
            <a:ext cx="1455066" cy="1021655"/>
          </a:xfrm>
          <a:prstGeom prst="curvedConnector3">
            <a:avLst>
              <a:gd name="adj1" fmla="val 16222"/>
            </a:avLst>
          </a:prstGeom>
          <a:noFill/>
          <a:ln w="9525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3" name="모서리가 둥근 직사각형 822"/>
          <p:cNvSpPr/>
          <p:nvPr/>
        </p:nvSpPr>
        <p:spPr>
          <a:xfrm>
            <a:off x="4761109" y="3645851"/>
            <a:ext cx="667307" cy="139597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자금실적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824" name="AutoShape 543"/>
          <p:cNvCxnSpPr>
            <a:cxnSpLocks noChangeShapeType="1"/>
          </p:cNvCxnSpPr>
          <p:nvPr/>
        </p:nvCxnSpPr>
        <p:spPr bwMode="auto">
          <a:xfrm flipV="1">
            <a:off x="5370599" y="2504364"/>
            <a:ext cx="740783" cy="2885838"/>
          </a:xfrm>
          <a:prstGeom prst="bentConnector3">
            <a:avLst>
              <a:gd name="adj1" fmla="val 61707"/>
            </a:avLst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AutoShape 543"/>
          <p:cNvCxnSpPr>
            <a:cxnSpLocks noChangeShapeType="1"/>
          </p:cNvCxnSpPr>
          <p:nvPr/>
        </p:nvCxnSpPr>
        <p:spPr bwMode="auto">
          <a:xfrm rot="5400000" flipH="1" flipV="1">
            <a:off x="4370996" y="4024135"/>
            <a:ext cx="3219389" cy="261382"/>
          </a:xfrm>
          <a:prstGeom prst="bentConnector2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6" name="AutoShape 15"/>
          <p:cNvSpPr>
            <a:spLocks noChangeArrowheads="1"/>
          </p:cNvSpPr>
          <p:nvPr/>
        </p:nvSpPr>
        <p:spPr bwMode="auto">
          <a:xfrm>
            <a:off x="483841" y="5531035"/>
            <a:ext cx="8994188" cy="778285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827" name="AutoShape 123"/>
          <p:cNvSpPr>
            <a:spLocks noChangeArrowheads="1"/>
          </p:cNvSpPr>
          <p:nvPr/>
        </p:nvSpPr>
        <p:spPr bwMode="auto">
          <a:xfrm>
            <a:off x="507932" y="5568096"/>
            <a:ext cx="8937575" cy="718986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829" name="그림 1933"/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49" y="5523622"/>
            <a:ext cx="219224" cy="67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0" name="Rectangle 88"/>
          <p:cNvSpPr>
            <a:spLocks noChangeArrowheads="1"/>
          </p:cNvSpPr>
          <p:nvPr/>
        </p:nvSpPr>
        <p:spPr bwMode="auto">
          <a:xfrm>
            <a:off x="296914" y="5585130"/>
            <a:ext cx="194185" cy="550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사</a:t>
            </a:r>
            <a:endParaRPr lang="en-US" altLang="ko-KR" sz="900" b="1" dirty="0">
              <a:solidFill>
                <a:prstClr val="white"/>
              </a:solidFill>
              <a:effectLst>
                <a:glow rad="63500">
                  <a:srgbClr val="1F497D">
                    <a:alpha val="40000"/>
                  </a:srgbClr>
                </a:glow>
              </a:effectLst>
              <a:latin typeface="+mn-ea"/>
            </a:endParaRPr>
          </a:p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업</a:t>
            </a:r>
            <a:endParaRPr lang="en-US" altLang="ko-KR" sz="900" b="1" dirty="0">
              <a:solidFill>
                <a:prstClr val="white"/>
              </a:solidFill>
              <a:effectLst>
                <a:glow rad="63500">
                  <a:srgbClr val="1F497D">
                    <a:alpha val="40000"/>
                  </a:srgbClr>
                </a:glow>
              </a:effectLst>
              <a:latin typeface="+mn-ea"/>
            </a:endParaRPr>
          </a:p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관</a:t>
            </a:r>
            <a:endParaRPr lang="en-US" altLang="ko-KR" sz="900" b="1" dirty="0">
              <a:solidFill>
                <a:prstClr val="white"/>
              </a:solidFill>
              <a:effectLst>
                <a:glow rad="63500">
                  <a:srgbClr val="1F497D">
                    <a:alpha val="40000"/>
                  </a:srgbClr>
                </a:glow>
              </a:effectLst>
              <a:latin typeface="+mn-ea"/>
            </a:endParaRPr>
          </a:p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리</a:t>
            </a:r>
          </a:p>
        </p:txBody>
      </p:sp>
      <p:sp>
        <p:nvSpPr>
          <p:cNvPr id="844" name="모서리가 둥근 직사각형 843"/>
          <p:cNvSpPr/>
          <p:nvPr/>
        </p:nvSpPr>
        <p:spPr>
          <a:xfrm>
            <a:off x="2341633" y="5556837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차량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45" name="모서리가 둥근 직사각형 844"/>
          <p:cNvSpPr/>
          <p:nvPr/>
        </p:nvSpPr>
        <p:spPr>
          <a:xfrm>
            <a:off x="3757363" y="5556837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시설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46" name="모서리가 둥근 직사각형 845"/>
          <p:cNvSpPr/>
          <p:nvPr/>
        </p:nvSpPr>
        <p:spPr>
          <a:xfrm>
            <a:off x="925903" y="5556837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인증 </a:t>
            </a:r>
            <a:r>
              <a:rPr kumimoji="0" lang="en-US" altLang="ko-KR" sz="700" kern="0" smtClean="0">
                <a:solidFill>
                  <a:srgbClr val="000000"/>
                </a:solidFill>
                <a:latin typeface="+mn-ea"/>
              </a:rPr>
              <a:t>. </a:t>
            </a: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면허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873" name="그룹 1859"/>
          <p:cNvGrpSpPr>
            <a:grpSpLocks/>
          </p:cNvGrpSpPr>
          <p:nvPr/>
        </p:nvGrpSpPr>
        <p:grpSpPr bwMode="auto">
          <a:xfrm>
            <a:off x="5381440" y="3864512"/>
            <a:ext cx="537218" cy="550978"/>
            <a:chOff x="4005363" y="2738998"/>
            <a:chExt cx="708151" cy="708151"/>
          </a:xfrm>
        </p:grpSpPr>
        <p:pic>
          <p:nvPicPr>
            <p:cNvPr id="915" name="그림 9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16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7" cy="2769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7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그룹</a:t>
              </a:r>
              <a:endParaRPr lang="en-US" altLang="ko-KR" sz="7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7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웨어</a:t>
              </a:r>
            </a:p>
          </p:txBody>
        </p:sp>
      </p:grpSp>
      <p:grpSp>
        <p:nvGrpSpPr>
          <p:cNvPr id="874" name="그룹 1862"/>
          <p:cNvGrpSpPr>
            <a:grpSpLocks/>
          </p:cNvGrpSpPr>
          <p:nvPr/>
        </p:nvGrpSpPr>
        <p:grpSpPr bwMode="auto">
          <a:xfrm>
            <a:off x="5382644" y="4399430"/>
            <a:ext cx="538423" cy="550978"/>
            <a:chOff x="4005363" y="2738998"/>
            <a:chExt cx="708151" cy="708151"/>
          </a:xfrm>
        </p:grpSpPr>
        <p:pic>
          <p:nvPicPr>
            <p:cNvPr id="913" name="그림 9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14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6" cy="2769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7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나라</a:t>
              </a:r>
              <a:endParaRPr lang="en-US" altLang="ko-KR" sz="7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7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장터</a:t>
              </a:r>
            </a:p>
          </p:txBody>
        </p:sp>
      </p:grpSp>
      <p:cxnSp>
        <p:nvCxnSpPr>
          <p:cNvPr id="875" name="AutoShape 579"/>
          <p:cNvCxnSpPr>
            <a:cxnSpLocks noChangeShapeType="1"/>
            <a:stCxn id="523" idx="0"/>
            <a:endCxn id="360" idx="2"/>
          </p:cNvCxnSpPr>
          <p:nvPr/>
        </p:nvCxnSpPr>
        <p:spPr bwMode="auto">
          <a:xfrm rot="5400000" flipH="1" flipV="1">
            <a:off x="3266284" y="1230917"/>
            <a:ext cx="338493" cy="2670432"/>
          </a:xfrm>
          <a:prstGeom prst="bentConnector3">
            <a:avLst>
              <a:gd name="adj1" fmla="val 50000"/>
            </a:avLst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6" name="이등변 삼각형 875"/>
          <p:cNvSpPr/>
          <p:nvPr/>
        </p:nvSpPr>
        <p:spPr>
          <a:xfrm rot="16200000">
            <a:off x="6875499" y="5227580"/>
            <a:ext cx="60533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77" name="이등변 삼각형 876"/>
          <p:cNvSpPr/>
          <p:nvPr/>
        </p:nvSpPr>
        <p:spPr>
          <a:xfrm rot="5400000">
            <a:off x="7346469" y="5385708"/>
            <a:ext cx="60533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78" name="이등변 삼각형 877"/>
          <p:cNvSpPr/>
          <p:nvPr/>
        </p:nvSpPr>
        <p:spPr bwMode="auto">
          <a:xfrm rot="5400000">
            <a:off x="7350669" y="4894646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79" name="이등변 삼각형 878"/>
          <p:cNvSpPr/>
          <p:nvPr/>
        </p:nvSpPr>
        <p:spPr bwMode="auto">
          <a:xfrm rot="5400000">
            <a:off x="7351287" y="4727252"/>
            <a:ext cx="60534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80" name="AutoShape 543"/>
          <p:cNvCxnSpPr>
            <a:cxnSpLocks noChangeShapeType="1"/>
            <a:endCxn id="795" idx="2"/>
          </p:cNvCxnSpPr>
          <p:nvPr/>
        </p:nvCxnSpPr>
        <p:spPr bwMode="auto">
          <a:xfrm>
            <a:off x="4770745" y="1842203"/>
            <a:ext cx="2961927" cy="9883"/>
          </a:xfrm>
          <a:prstGeom prst="bentConnector4">
            <a:avLst>
              <a:gd name="adj1" fmla="val 43543"/>
              <a:gd name="adj2" fmla="val -1700000"/>
            </a:avLst>
          </a:prstGeom>
          <a:ln>
            <a:headE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1" name="모서리가 둥근 직사각형 880"/>
          <p:cNvSpPr/>
          <p:nvPr/>
        </p:nvSpPr>
        <p:spPr>
          <a:xfrm>
            <a:off x="6111382" y="2027509"/>
            <a:ext cx="764873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b="1">
                <a:solidFill>
                  <a:prstClr val="white"/>
                </a:solidFill>
                <a:latin typeface="+mn-ea"/>
              </a:rPr>
              <a:t>회계기준관리</a:t>
            </a:r>
            <a:endParaRPr lang="ko-KR" altLang="en-US" sz="700" b="1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82" name="AutoShape 543"/>
          <p:cNvCxnSpPr>
            <a:cxnSpLocks noChangeShapeType="1"/>
          </p:cNvCxnSpPr>
          <p:nvPr/>
        </p:nvCxnSpPr>
        <p:spPr bwMode="auto">
          <a:xfrm rot="10800000" flipV="1">
            <a:off x="5428416" y="2463596"/>
            <a:ext cx="682966" cy="1210668"/>
          </a:xfrm>
          <a:prstGeom prst="bentConnector3">
            <a:avLst>
              <a:gd name="adj1" fmla="val 44921"/>
            </a:avLst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3" name="모서리가 둥근 직사각형 882"/>
          <p:cNvSpPr/>
          <p:nvPr/>
        </p:nvSpPr>
        <p:spPr>
          <a:xfrm>
            <a:off x="3869761" y="3436750"/>
            <a:ext cx="667307" cy="223603"/>
          </a:xfrm>
          <a:prstGeom prst="roundRect">
            <a:avLst>
              <a:gd name="adj" fmla="val 7123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C00000"/>
                </a:solidFill>
                <a:latin typeface="+mn-ea"/>
              </a:rPr>
              <a:t>미수금 수납</a:t>
            </a:r>
            <a:endParaRPr kumimoji="0" lang="en-US" altLang="ko-KR" sz="700" kern="0" dirty="0">
              <a:solidFill>
                <a:srgbClr val="C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C00000"/>
                </a:solidFill>
                <a:latin typeface="+mn-ea"/>
              </a:rPr>
              <a:t>미지급 지불</a:t>
            </a:r>
            <a:endParaRPr kumimoji="0" lang="en-US" altLang="ko-KR" sz="700" kern="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884" name="그룹 1202"/>
          <p:cNvGrpSpPr>
            <a:grpSpLocks/>
          </p:cNvGrpSpPr>
          <p:nvPr/>
        </p:nvGrpSpPr>
        <p:grpSpPr bwMode="auto">
          <a:xfrm rot="5400000">
            <a:off x="4806113" y="2518106"/>
            <a:ext cx="302667" cy="60226"/>
            <a:chOff x="8627941" y="5265370"/>
            <a:chExt cx="525082" cy="78202"/>
          </a:xfrm>
        </p:grpSpPr>
        <p:cxnSp>
          <p:nvCxnSpPr>
            <p:cNvPr id="911" name="직선 연결선 910"/>
            <p:cNvCxnSpPr/>
            <p:nvPr/>
          </p:nvCxnSpPr>
          <p:spPr>
            <a:xfrm>
              <a:off x="8627942" y="5304471"/>
              <a:ext cx="5036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2" name="이등변 삼각형 911"/>
            <p:cNvSpPr/>
            <p:nvPr/>
          </p:nvSpPr>
          <p:spPr>
            <a:xfrm rot="5400000">
              <a:off x="9090348" y="5280896"/>
              <a:ext cx="78202" cy="47150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886" name="모서리가 둥근 직사각형 885"/>
          <p:cNvSpPr/>
          <p:nvPr/>
        </p:nvSpPr>
        <p:spPr>
          <a:xfrm>
            <a:off x="3869761" y="3028465"/>
            <a:ext cx="667307" cy="140833"/>
          </a:xfrm>
          <a:prstGeom prst="roundRect">
            <a:avLst>
              <a:gd name="adj" fmla="val 39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금융상품관리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88" name="모서리가 둥근 직사각형 887"/>
          <p:cNvSpPr/>
          <p:nvPr/>
        </p:nvSpPr>
        <p:spPr>
          <a:xfrm>
            <a:off x="3869761" y="2860152"/>
            <a:ext cx="667307" cy="140833"/>
          </a:xfrm>
          <a:prstGeom prst="roundRect">
            <a:avLst>
              <a:gd name="adj" fmla="val 39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적금 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889" name="그룹 8"/>
          <p:cNvGrpSpPr>
            <a:grpSpLocks/>
          </p:cNvGrpSpPr>
          <p:nvPr/>
        </p:nvGrpSpPr>
        <p:grpSpPr bwMode="auto">
          <a:xfrm>
            <a:off x="2826642" y="2473479"/>
            <a:ext cx="837145" cy="205072"/>
            <a:chOff x="3686175" y="4368552"/>
            <a:chExt cx="1103406" cy="263525"/>
          </a:xfrm>
        </p:grpSpPr>
        <p:pic>
          <p:nvPicPr>
            <p:cNvPr id="909" name="그림 938"/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6175" y="4368552"/>
              <a:ext cx="1079500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0" name="Rectangle 88"/>
            <p:cNvSpPr>
              <a:spLocks noChangeArrowheads="1"/>
            </p:cNvSpPr>
            <p:nvPr/>
          </p:nvSpPr>
          <p:spPr bwMode="auto">
            <a:xfrm>
              <a:off x="3686268" y="4413880"/>
              <a:ext cx="1103313" cy="2047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700" b="1" dirty="0">
                  <a:solidFill>
                    <a:prstClr val="white"/>
                  </a:solidFill>
                  <a:effectLst>
                    <a:glow rad="63500">
                      <a:srgbClr val="1F497D">
                        <a:alpha val="40000"/>
                      </a:srgbClr>
                    </a:glow>
                  </a:effectLst>
                  <a:latin typeface="+mn-ea"/>
                </a:rPr>
                <a:t>인사관리</a:t>
              </a:r>
            </a:p>
          </p:txBody>
        </p:sp>
      </p:grpSp>
      <p:pic>
        <p:nvPicPr>
          <p:cNvPr id="890" name="그림 11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306" y="2468538"/>
            <a:ext cx="1039505" cy="206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" name="Rectangle 88"/>
          <p:cNvSpPr>
            <a:spLocks noChangeArrowheads="1"/>
          </p:cNvSpPr>
          <p:nvPr/>
        </p:nvSpPr>
        <p:spPr bwMode="auto">
          <a:xfrm>
            <a:off x="3948736" y="2504159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자금관리</a:t>
            </a:r>
          </a:p>
        </p:txBody>
      </p:sp>
      <p:sp>
        <p:nvSpPr>
          <p:cNvPr id="892" name="직사각형 891"/>
          <p:cNvSpPr/>
          <p:nvPr/>
        </p:nvSpPr>
        <p:spPr>
          <a:xfrm>
            <a:off x="4437092" y="1099741"/>
            <a:ext cx="1038301" cy="18036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93" name="Rectangle 88"/>
          <p:cNvSpPr>
            <a:spLocks noChangeArrowheads="1"/>
          </p:cNvSpPr>
          <p:nvPr/>
        </p:nvSpPr>
        <p:spPr bwMode="auto">
          <a:xfrm>
            <a:off x="4447933" y="1091094"/>
            <a:ext cx="1010597" cy="1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예산집행</a:t>
            </a:r>
          </a:p>
        </p:txBody>
      </p:sp>
      <p:sp>
        <p:nvSpPr>
          <p:cNvPr id="894" name="이등변 삼각형 893"/>
          <p:cNvSpPr/>
          <p:nvPr/>
        </p:nvSpPr>
        <p:spPr>
          <a:xfrm rot="5400000">
            <a:off x="4497751" y="1674685"/>
            <a:ext cx="61769" cy="38545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95" name="이등변 삼각형 894"/>
          <p:cNvSpPr/>
          <p:nvPr/>
        </p:nvSpPr>
        <p:spPr>
          <a:xfrm rot="16200000">
            <a:off x="4359848" y="1933496"/>
            <a:ext cx="60534" cy="38545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96" name="AutoShape 158"/>
          <p:cNvCxnSpPr>
            <a:cxnSpLocks noChangeShapeType="1"/>
            <a:stCxn id="370" idx="0"/>
            <a:endCxn id="372" idx="2"/>
          </p:cNvCxnSpPr>
          <p:nvPr/>
        </p:nvCxnSpPr>
        <p:spPr bwMode="auto">
          <a:xfrm rot="5400000" flipH="1" flipV="1">
            <a:off x="3465242" y="1337130"/>
            <a:ext cx="80299" cy="304744"/>
          </a:xfrm>
          <a:prstGeom prst="curvedConnector3">
            <a:avLst>
              <a:gd name="adj1" fmla="val 34583"/>
            </a:avLst>
          </a:prstGeom>
          <a:noFill/>
          <a:ln w="952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7" name="AutoShape 158"/>
          <p:cNvCxnSpPr>
            <a:cxnSpLocks noChangeShapeType="1"/>
            <a:stCxn id="371" idx="1"/>
            <a:endCxn id="372" idx="2"/>
          </p:cNvCxnSpPr>
          <p:nvPr/>
        </p:nvCxnSpPr>
        <p:spPr bwMode="auto">
          <a:xfrm rot="10800000">
            <a:off x="3657764" y="1449353"/>
            <a:ext cx="96362" cy="504033"/>
          </a:xfrm>
          <a:prstGeom prst="curvedConnector2">
            <a:avLst/>
          </a:prstGeom>
          <a:noFill/>
          <a:ln w="952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8" name="이등변 삼각형 897"/>
          <p:cNvSpPr/>
          <p:nvPr/>
        </p:nvSpPr>
        <p:spPr>
          <a:xfrm rot="10800000">
            <a:off x="6463103" y="2663727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99" name="이등변 삼각형 898"/>
          <p:cNvSpPr/>
          <p:nvPr/>
        </p:nvSpPr>
        <p:spPr>
          <a:xfrm rot="10800000">
            <a:off x="6463103" y="3120816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0" name="이등변 삼각형 899"/>
          <p:cNvSpPr/>
          <p:nvPr/>
        </p:nvSpPr>
        <p:spPr>
          <a:xfrm rot="16200000">
            <a:off x="6880904" y="2464661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1" name="이등변 삼각형 900"/>
          <p:cNvSpPr/>
          <p:nvPr/>
        </p:nvSpPr>
        <p:spPr>
          <a:xfrm rot="16200000">
            <a:off x="6880904" y="2757446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2" name="이등변 삼각형 901"/>
          <p:cNvSpPr/>
          <p:nvPr/>
        </p:nvSpPr>
        <p:spPr>
          <a:xfrm rot="16200000">
            <a:off x="6881522" y="3215152"/>
            <a:ext cx="60534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4" name="이등변 삼각형 903"/>
          <p:cNvSpPr/>
          <p:nvPr/>
        </p:nvSpPr>
        <p:spPr>
          <a:xfrm rot="10800000">
            <a:off x="6463103" y="3976932"/>
            <a:ext cx="59021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5" name="이등변 삼각형 904"/>
          <p:cNvSpPr/>
          <p:nvPr/>
        </p:nvSpPr>
        <p:spPr>
          <a:xfrm rot="16200000">
            <a:off x="8097474" y="1585074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906" name="그룹 53"/>
          <p:cNvGrpSpPr>
            <a:grpSpLocks/>
          </p:cNvGrpSpPr>
          <p:nvPr/>
        </p:nvGrpSpPr>
        <p:grpSpPr bwMode="auto">
          <a:xfrm>
            <a:off x="4940584" y="1327051"/>
            <a:ext cx="554081" cy="301432"/>
            <a:chOff x="4817293" y="5813918"/>
            <a:chExt cx="730444" cy="385994"/>
          </a:xfrm>
        </p:grpSpPr>
        <p:pic>
          <p:nvPicPr>
            <p:cNvPr id="907" name="Picture 434" descr="db02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4F9F3"/>
                </a:clrFrom>
                <a:clrTo>
                  <a:srgbClr val="F4F9F3">
                    <a:alpha val="0"/>
                  </a:srgbClr>
                </a:clrTo>
              </a:clrChange>
              <a:lum brigh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7293" y="5813918"/>
              <a:ext cx="730444" cy="385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8" name="Rectangle 435"/>
            <p:cNvSpPr>
              <a:spLocks noChangeArrowheads="1"/>
            </p:cNvSpPr>
            <p:nvPr/>
          </p:nvSpPr>
          <p:spPr bwMode="auto">
            <a:xfrm>
              <a:off x="4932298" y="6005741"/>
              <a:ext cx="418944" cy="16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412" tIns="44206" rIns="88412" bIns="44206" anchor="ctr"/>
            <a:lstStyle>
              <a:lvl1pPr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lnSpc>
                  <a:spcPct val="60000"/>
                </a:lnSpc>
              </a:pPr>
              <a:r>
                <a:rPr kumimoji="0" lang="ko-KR" altLang="en-US" sz="700" b="1">
                  <a:solidFill>
                    <a:srgbClr val="FFFFFF"/>
                  </a:solidFill>
                  <a:latin typeface="+mn-ea"/>
                  <a:ea typeface="+mn-ea"/>
                </a:rPr>
                <a:t>계약</a:t>
              </a:r>
            </a:p>
          </p:txBody>
        </p:sp>
      </p:grpSp>
      <p:sp>
        <p:nvSpPr>
          <p:cNvPr id="959" name="모서리가 둥근 직사각형 958"/>
          <p:cNvSpPr/>
          <p:nvPr/>
        </p:nvSpPr>
        <p:spPr>
          <a:xfrm>
            <a:off x="5173093" y="5556837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경비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60" name="모서리가 둥근 직사각형 959"/>
          <p:cNvSpPr/>
          <p:nvPr/>
        </p:nvSpPr>
        <p:spPr>
          <a:xfrm>
            <a:off x="6588823" y="5556837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전기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61" name="모서리가 둥근 직사각형 960"/>
          <p:cNvSpPr/>
          <p:nvPr/>
        </p:nvSpPr>
        <p:spPr>
          <a:xfrm>
            <a:off x="8004551" y="5556837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환경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6871" y="6061473"/>
            <a:ext cx="8938635" cy="215444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700"/>
              <a:t>친환경청소 </a:t>
            </a:r>
            <a:r>
              <a:rPr lang="ko-KR" altLang="en-US" sz="700" smtClean="0"/>
              <a:t>인증</a:t>
            </a:r>
            <a:r>
              <a:rPr lang="en-US" altLang="ko-KR" sz="700" smtClean="0"/>
              <a:t>,  </a:t>
            </a:r>
            <a:r>
              <a:rPr lang="ko-KR" altLang="en-US" sz="700" smtClean="0"/>
              <a:t>안전보건경영시스템 </a:t>
            </a:r>
            <a:r>
              <a:rPr lang="ko-KR" altLang="en-US" sz="700"/>
              <a:t>인증</a:t>
            </a:r>
            <a:r>
              <a:rPr lang="en-US" altLang="ko-KR" sz="700"/>
              <a:t>(ISO-45001</a:t>
            </a:r>
            <a:r>
              <a:rPr lang="en-US" altLang="ko-KR" sz="700" smtClean="0"/>
              <a:t>),  </a:t>
            </a:r>
            <a:r>
              <a:rPr lang="ko-KR" altLang="en-US" sz="700" smtClean="0"/>
              <a:t>시설경비업</a:t>
            </a:r>
            <a:r>
              <a:rPr lang="en-US" altLang="ko-KR" sz="700"/>
              <a:t>,</a:t>
            </a:r>
            <a:r>
              <a:rPr lang="ko-KR" altLang="en-US" sz="700"/>
              <a:t>건물</a:t>
            </a:r>
            <a:r>
              <a:rPr lang="en-US" altLang="ko-KR" sz="700"/>
              <a:t>(</a:t>
            </a:r>
            <a:r>
              <a:rPr lang="ko-KR" altLang="en-US" sz="700"/>
              <a:t>시설</a:t>
            </a:r>
            <a:r>
              <a:rPr lang="en-US" altLang="ko-KR" sz="700"/>
              <a:t>)</a:t>
            </a:r>
            <a:r>
              <a:rPr lang="ko-KR" altLang="en-US" sz="700"/>
              <a:t>관리 용역업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건물위생관리업 </a:t>
            </a:r>
            <a:r>
              <a:rPr lang="en-US" altLang="ko-KR" sz="700" smtClean="0"/>
              <a:t>,   </a:t>
            </a:r>
            <a:r>
              <a:rPr lang="ko-KR" altLang="en-US" sz="700" smtClean="0"/>
              <a:t>소독업</a:t>
            </a:r>
            <a:r>
              <a:rPr lang="en-US" altLang="ko-KR" sz="700" smtClean="0"/>
              <a:t>,   </a:t>
            </a:r>
            <a:r>
              <a:rPr lang="ko-KR" altLang="en-US" sz="700" smtClean="0"/>
              <a:t>금속구조물</a:t>
            </a:r>
            <a:r>
              <a:rPr lang="en-US" altLang="ko-KR" sz="700"/>
              <a:t>, </a:t>
            </a:r>
            <a:r>
              <a:rPr lang="en-US" altLang="ko-KR" sz="700" smtClean="0"/>
              <a:t>  </a:t>
            </a:r>
            <a:r>
              <a:rPr lang="ko-KR" altLang="en-US" sz="700" smtClean="0"/>
              <a:t>창호공사업</a:t>
            </a:r>
            <a:r>
              <a:rPr lang="en-US" altLang="ko-KR" sz="700" smtClean="0"/>
              <a:t>,   </a:t>
            </a:r>
            <a:r>
              <a:rPr lang="ko-KR" altLang="en-US" sz="700" smtClean="0"/>
              <a:t>유해화학물질 </a:t>
            </a:r>
            <a:r>
              <a:rPr lang="ko-KR" altLang="en-US" sz="700"/>
              <a:t>판매업</a:t>
            </a:r>
            <a:r>
              <a:rPr lang="en-US" altLang="ko-KR" sz="700" smtClean="0"/>
              <a:t>,   </a:t>
            </a:r>
            <a:r>
              <a:rPr lang="ko-KR" altLang="en-US" sz="700" smtClean="0"/>
              <a:t>무역업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전문감리업</a:t>
            </a:r>
            <a:r>
              <a:rPr lang="en-US" altLang="ko-KR" sz="700" smtClean="0"/>
              <a:t>,   </a:t>
            </a:r>
            <a:r>
              <a:rPr lang="ko-KR" altLang="en-US" sz="700" smtClean="0"/>
              <a:t>전문설계업</a:t>
            </a:r>
            <a:r>
              <a:rPr lang="en-US" altLang="ko-KR" sz="700" smtClean="0"/>
              <a:t>,  </a:t>
            </a:r>
          </a:p>
          <a:p>
            <a:r>
              <a:rPr lang="ko-KR" altLang="en-US" sz="700" smtClean="0"/>
              <a:t>철근콘크리트공사업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품질경영시스템 </a:t>
            </a:r>
            <a:r>
              <a:rPr lang="ko-KR" altLang="en-US" sz="700"/>
              <a:t>인증</a:t>
            </a:r>
            <a:r>
              <a:rPr lang="en-US" altLang="ko-KR" sz="700"/>
              <a:t>(KS ISO 9001</a:t>
            </a:r>
            <a:r>
              <a:rPr lang="en-US" altLang="ko-KR" sz="700" smtClean="0"/>
              <a:t>),  </a:t>
            </a:r>
            <a:r>
              <a:rPr lang="ko-KR" altLang="en-US" sz="700" smtClean="0"/>
              <a:t>품질경영시스템 </a:t>
            </a:r>
            <a:r>
              <a:rPr lang="ko-KR" altLang="en-US" sz="700"/>
              <a:t>인증</a:t>
            </a:r>
            <a:r>
              <a:rPr lang="en-US" altLang="ko-KR" sz="700"/>
              <a:t>(KS ISO 14001</a:t>
            </a:r>
            <a:r>
              <a:rPr lang="en-US" altLang="ko-KR" sz="700" smtClean="0"/>
              <a:t>),  </a:t>
            </a:r>
            <a:r>
              <a:rPr lang="ko-KR" altLang="en-US" sz="700" smtClean="0"/>
              <a:t>전문소방시설공사업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경비업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전기공사업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정보통신공사업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시설물유지관리업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안전진단전문기관</a:t>
            </a:r>
            <a:r>
              <a:rPr lang="en-US" altLang="ko-KR" sz="700"/>
              <a:t>(</a:t>
            </a:r>
            <a:r>
              <a:rPr lang="ko-KR" altLang="en-US" sz="700"/>
              <a:t>교량 및 터널</a:t>
            </a:r>
            <a:r>
              <a:rPr lang="en-US" altLang="ko-KR" sz="700"/>
              <a:t>)</a:t>
            </a:r>
            <a:endParaRPr lang="ko-KR" altLang="en-US" sz="700" dirty="0" err="1" smtClean="0"/>
          </a:p>
        </p:txBody>
      </p:sp>
      <p:cxnSp>
        <p:nvCxnSpPr>
          <p:cNvPr id="7" name="꺾인 연결선 6"/>
          <p:cNvCxnSpPr>
            <a:stCxn id="846" idx="1"/>
          </p:cNvCxnSpPr>
          <p:nvPr/>
        </p:nvCxnSpPr>
        <p:spPr>
          <a:xfrm rot="10800000" flipV="1">
            <a:off x="623567" y="5627253"/>
            <a:ext cx="302337" cy="322571"/>
          </a:xfrm>
          <a:prstGeom prst="bentConnector2">
            <a:avLst/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01900" y="5772861"/>
            <a:ext cx="822908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/>
              <a:t>철도차량 유지보수</a:t>
            </a:r>
            <a:endParaRPr lang="ko-KR" altLang="en-US" sz="700" dirty="0" err="1" smtClean="0"/>
          </a:p>
        </p:txBody>
      </p:sp>
      <p:cxnSp>
        <p:nvCxnSpPr>
          <p:cNvPr id="14" name="꺾인 연결선 13"/>
          <p:cNvCxnSpPr>
            <a:stCxn id="844" idx="1"/>
            <a:endCxn id="12" idx="1"/>
          </p:cNvCxnSpPr>
          <p:nvPr/>
        </p:nvCxnSpPr>
        <p:spPr>
          <a:xfrm rot="10800000" flipH="1" flipV="1">
            <a:off x="2341632" y="5627254"/>
            <a:ext cx="60267" cy="199468"/>
          </a:xfrm>
          <a:prstGeom prst="bentConnector3">
            <a:avLst>
              <a:gd name="adj1" fmla="val -379312"/>
            </a:avLst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2" name="TextBox 961"/>
          <p:cNvSpPr txBox="1"/>
          <p:nvPr/>
        </p:nvSpPr>
        <p:spPr>
          <a:xfrm>
            <a:off x="3776364" y="5945899"/>
            <a:ext cx="2688804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/>
              <a:t>건축물 및 부대시설 유지보수</a:t>
            </a:r>
            <a:r>
              <a:rPr lang="en-US" altLang="ko-KR" sz="700"/>
              <a:t>,  </a:t>
            </a:r>
            <a:r>
              <a:rPr lang="ko-KR" altLang="en-US" sz="700"/>
              <a:t>철도궤도공사</a:t>
            </a:r>
            <a:r>
              <a:rPr lang="en-US" altLang="ko-KR" sz="700"/>
              <a:t>, </a:t>
            </a:r>
            <a:r>
              <a:rPr lang="ko-KR" altLang="en-US" sz="700"/>
              <a:t>터널방재</a:t>
            </a:r>
            <a:r>
              <a:rPr lang="en-US" altLang="ko-KR" sz="700"/>
              <a:t>, </a:t>
            </a:r>
            <a:r>
              <a:rPr lang="ko-KR" altLang="en-US" sz="700"/>
              <a:t>안전진단</a:t>
            </a:r>
            <a:endParaRPr lang="ko-KR" altLang="en-US" sz="700" dirty="0" err="1" smtClean="0"/>
          </a:p>
        </p:txBody>
      </p:sp>
      <p:cxnSp>
        <p:nvCxnSpPr>
          <p:cNvPr id="41" name="꺾인 연결선 40"/>
          <p:cNvCxnSpPr>
            <a:stCxn id="845" idx="1"/>
            <a:endCxn id="962" idx="1"/>
          </p:cNvCxnSpPr>
          <p:nvPr/>
        </p:nvCxnSpPr>
        <p:spPr>
          <a:xfrm rot="10800000" flipH="1" flipV="1">
            <a:off x="3757362" y="5627254"/>
            <a:ext cx="19001" cy="372506"/>
          </a:xfrm>
          <a:prstGeom prst="bentConnector3">
            <a:avLst>
              <a:gd name="adj1" fmla="val -1203095"/>
            </a:avLst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" name="TextBox 962"/>
          <p:cNvSpPr txBox="1"/>
          <p:nvPr/>
        </p:nvSpPr>
        <p:spPr>
          <a:xfrm>
            <a:off x="5246637" y="5833431"/>
            <a:ext cx="2098899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/>
              <a:t>철도 건널목</a:t>
            </a:r>
            <a:r>
              <a:rPr lang="en-US" altLang="ko-KR" sz="700"/>
              <a:t>, </a:t>
            </a:r>
            <a:r>
              <a:rPr lang="ko-KR" altLang="en-US" sz="700"/>
              <a:t>철도 차량 정비단</a:t>
            </a:r>
            <a:r>
              <a:rPr lang="en-US" altLang="ko-KR" sz="700"/>
              <a:t>, </a:t>
            </a:r>
            <a:r>
              <a:rPr lang="ko-KR" altLang="en-US" sz="700"/>
              <a:t>철도기관 사옥관리</a:t>
            </a:r>
            <a:endParaRPr lang="ko-KR" altLang="en-US" sz="700" dirty="0" err="1" smtClean="0"/>
          </a:p>
        </p:txBody>
      </p:sp>
      <p:cxnSp>
        <p:nvCxnSpPr>
          <p:cNvPr id="47" name="꺾인 연결선 46"/>
          <p:cNvCxnSpPr>
            <a:stCxn id="959" idx="1"/>
            <a:endCxn id="963" idx="1"/>
          </p:cNvCxnSpPr>
          <p:nvPr/>
        </p:nvCxnSpPr>
        <p:spPr>
          <a:xfrm rot="10800000" flipH="1" flipV="1">
            <a:off x="5173093" y="5627254"/>
            <a:ext cx="73544" cy="260038"/>
          </a:xfrm>
          <a:prstGeom prst="bentConnector3">
            <a:avLst>
              <a:gd name="adj1" fmla="val -310834"/>
            </a:avLst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7" name="TextBox 966"/>
          <p:cNvSpPr txBox="1"/>
          <p:nvPr/>
        </p:nvSpPr>
        <p:spPr>
          <a:xfrm>
            <a:off x="6629588" y="5717037"/>
            <a:ext cx="1925775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/>
              <a:t>전철전력</a:t>
            </a:r>
            <a:r>
              <a:rPr lang="en-US" altLang="ko-KR" sz="700"/>
              <a:t>, </a:t>
            </a:r>
            <a:r>
              <a:rPr lang="ko-KR" altLang="en-US" sz="700"/>
              <a:t>정보통신</a:t>
            </a:r>
            <a:r>
              <a:rPr lang="en-US" altLang="ko-KR" sz="700"/>
              <a:t>,  </a:t>
            </a:r>
            <a:r>
              <a:rPr lang="ko-KR" altLang="en-US" sz="700"/>
              <a:t>전기</a:t>
            </a:r>
            <a:r>
              <a:rPr lang="en-US" altLang="ko-KR" sz="700"/>
              <a:t>·</a:t>
            </a:r>
            <a:r>
              <a:rPr lang="ko-KR" altLang="en-US" sz="700"/>
              <a:t>통신공사</a:t>
            </a:r>
            <a:r>
              <a:rPr lang="en-US" altLang="ko-KR" sz="700"/>
              <a:t>,  </a:t>
            </a:r>
            <a:r>
              <a:rPr lang="ko-KR" altLang="en-US" sz="700"/>
              <a:t>신호제어</a:t>
            </a:r>
            <a:endParaRPr lang="ko-KR" altLang="en-US" sz="700" dirty="0" err="1" smtClean="0"/>
          </a:p>
        </p:txBody>
      </p:sp>
      <p:cxnSp>
        <p:nvCxnSpPr>
          <p:cNvPr id="50" name="꺾인 연결선 49"/>
          <p:cNvCxnSpPr>
            <a:stCxn id="960" idx="1"/>
            <a:endCxn id="967" idx="1"/>
          </p:cNvCxnSpPr>
          <p:nvPr/>
        </p:nvCxnSpPr>
        <p:spPr>
          <a:xfrm rot="10800000" flipH="1" flipV="1">
            <a:off x="6588822" y="5627254"/>
            <a:ext cx="40765" cy="143644"/>
          </a:xfrm>
          <a:prstGeom prst="bentConnector3">
            <a:avLst>
              <a:gd name="adj1" fmla="val -560775"/>
            </a:avLst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8" name="TextBox 967"/>
          <p:cNvSpPr txBox="1"/>
          <p:nvPr/>
        </p:nvSpPr>
        <p:spPr>
          <a:xfrm>
            <a:off x="8583220" y="5853469"/>
            <a:ext cx="752376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 smtClean="0"/>
              <a:t>차량환경</a:t>
            </a:r>
            <a:r>
              <a:rPr lang="en-US" altLang="ko-KR" sz="700" smtClean="0"/>
              <a:t>, </a:t>
            </a:r>
            <a:r>
              <a:rPr lang="ko-KR" altLang="en-US" sz="700" smtClean="0"/>
              <a:t>역환경</a:t>
            </a:r>
            <a:endParaRPr lang="ko-KR" altLang="en-US" sz="700" dirty="0" err="1" smtClean="0"/>
          </a:p>
        </p:txBody>
      </p:sp>
      <p:cxnSp>
        <p:nvCxnSpPr>
          <p:cNvPr id="69" name="꺾인 연결선 68"/>
          <p:cNvCxnSpPr>
            <a:stCxn id="961" idx="3"/>
            <a:endCxn id="968" idx="0"/>
          </p:cNvCxnSpPr>
          <p:nvPr/>
        </p:nvCxnSpPr>
        <p:spPr>
          <a:xfrm>
            <a:off x="8769424" y="5627254"/>
            <a:ext cx="189984" cy="226215"/>
          </a:xfrm>
          <a:prstGeom prst="bentConnector2">
            <a:avLst/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5" name="모서리가 둥근 직사각형 984"/>
          <p:cNvSpPr/>
          <p:nvPr/>
        </p:nvSpPr>
        <p:spPr>
          <a:xfrm>
            <a:off x="1529423" y="3998901"/>
            <a:ext cx="50858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비서행정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6" name="모서리가 둥근 직사각형 985"/>
          <p:cNvSpPr/>
          <p:nvPr/>
        </p:nvSpPr>
        <p:spPr>
          <a:xfrm>
            <a:off x="1529423" y="4159500"/>
            <a:ext cx="50858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국정감사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7" name="모서리가 둥근 직사각형 986"/>
          <p:cNvSpPr/>
          <p:nvPr/>
        </p:nvSpPr>
        <p:spPr>
          <a:xfrm>
            <a:off x="2116836" y="3998901"/>
            <a:ext cx="50858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규정관리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8" name="모서리가 둥근 직사각형 987"/>
          <p:cNvSpPr/>
          <p:nvPr/>
        </p:nvSpPr>
        <p:spPr>
          <a:xfrm>
            <a:off x="2116836" y="4159500"/>
            <a:ext cx="50858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smtClean="0">
                <a:solidFill>
                  <a:srgbClr val="000000"/>
                </a:solidFill>
                <a:latin typeface="+mn-ea"/>
              </a:rPr>
              <a:t>VOC/CS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" name="꺾인 연결선 5"/>
          <p:cNvCxnSpPr>
            <a:stCxn id="770" idx="2"/>
            <a:endCxn id="747" idx="1"/>
          </p:cNvCxnSpPr>
          <p:nvPr/>
        </p:nvCxnSpPr>
        <p:spPr>
          <a:xfrm rot="16200000" flipH="1">
            <a:off x="6844484" y="3810337"/>
            <a:ext cx="156894" cy="858224"/>
          </a:xfrm>
          <a:prstGeom prst="bentConnector2">
            <a:avLst/>
          </a:prstGeom>
          <a:ln w="63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3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사용자 지정 1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sz="9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0F89B1-6918-4E93-BEE7-D22E1D86D6BD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4A00E14-E36D-45A2-BDFD-A782D62A32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E596667-FA45-4F74-9119-1A6024EAD1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34656</TotalTime>
  <Words>4387</Words>
  <Application>Microsoft Office PowerPoint</Application>
  <PresentationFormat>A4 용지(210x297mm)</PresentationFormat>
  <Paragraphs>1238</Paragraphs>
  <Slides>17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굴림</vt:lpstr>
      <vt:lpstr>나눔고딕</vt:lpstr>
      <vt:lpstr>나눔바른고딕</vt:lpstr>
      <vt:lpstr>맑은 고딕</vt:lpstr>
      <vt:lpstr>Arial</vt:lpstr>
      <vt:lpstr>Times New Roman</vt:lpstr>
      <vt:lpstr>Wingdings</vt:lpstr>
      <vt:lpstr>blank</vt:lpstr>
      <vt:lpstr>PowerPoint 프레젠테이션</vt:lpstr>
      <vt:lpstr>1.1 이행계획 수립 개요  </vt:lpstr>
      <vt:lpstr>PowerPoint 프레젠테이션</vt:lpstr>
      <vt:lpstr>2. 추진 계획 수립  2.1 우선 이행과제 정의</vt:lpstr>
      <vt:lpstr>2.2 이행과제의 추진방안(1/5)</vt:lpstr>
      <vt:lpstr>2.2 이행과제의 추진방안(2/5)</vt:lpstr>
      <vt:lpstr>2.2 이행과제의 추진방안(3/5)</vt:lpstr>
      <vt:lpstr>2.2 이행과제의 추진방안(4/5)</vt:lpstr>
      <vt:lpstr>2.2 이행과제의 추진방안(5/5)</vt:lpstr>
      <vt:lpstr>2.3 추진 로드맵 정의 2.3.1 1안) 시스템 개선</vt:lpstr>
      <vt:lpstr>2.3 추진 로드맵 정의 2.3.2 2안) 시스템 재 구축</vt:lpstr>
      <vt:lpstr>2.3 추진 로드맵 정의 2.3.3 단계별 추진 계획표(1안)</vt:lpstr>
      <vt:lpstr>2.3 추진 로드맵 정의 2.3.3 단계별 추진 계획표(2안)</vt:lpstr>
      <vt:lpstr>PowerPoint 프레젠테이션</vt:lpstr>
      <vt:lpstr>3. 목표시스템 구성도 3.1 자바 기반 표준 프레임워크</vt:lpstr>
      <vt:lpstr>3. 목표시스템 구성도 3.2 ERP 업무 구성도</vt:lpstr>
      <vt:lpstr>3. 목표시스템 구성도 3.3 ERP 서비스 구성도</vt:lpstr>
    </vt:vector>
  </TitlesOfParts>
  <Company>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SDS</dc:creator>
  <cp:lastModifiedBy>R2SOFT</cp:lastModifiedBy>
  <cp:revision>2633</cp:revision>
  <cp:lastPrinted>2018-12-20T07:15:58Z</cp:lastPrinted>
  <dcterms:created xsi:type="dcterms:W3CDTF">2013-11-13T01:08:07Z</dcterms:created>
  <dcterms:modified xsi:type="dcterms:W3CDTF">2024-12-09T13:33:14Z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D5CDD505-2E9C-101B-9397-08002B2CF9AE}" pid="3" name="DeliveryID">
    <vt:lpwstr>244b6fc4-4b4e-4117-b7bb-efd330097824</vt:lpwstr>
  </property>
  <property fmtid="{D5CDD505-2E9C-101B-9397-08002B2CF9AE}" pid="4" name="NSCPROP_SA">
    <vt:lpwstr>D:\블록체인\템플릿예시_PowerPoint.pptx</vt:lpwstr>
  </property>
  <property fmtid="{5C58129F-E5B8-477A-9B38-B3E54BFA04C8}" pid="2">
    <vt:lpwstr>EA5DF722F2DDC2B5142607E7171F90C7D4A6F050E5311B308FB269B1E25EFBC7</vt:lpwstr>
  </property>
</Properties>
</file>