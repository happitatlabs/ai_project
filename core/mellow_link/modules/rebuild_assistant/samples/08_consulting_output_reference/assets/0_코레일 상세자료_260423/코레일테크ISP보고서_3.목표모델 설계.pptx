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notesSlides/notesSlide47.xml" ContentType="application/vnd.openxmlformats-officedocument.presentationml.notesSlide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notesSlides/notesSlide48.xml" ContentType="application/vnd.openxmlformats-officedocument.presentationml.notesSlide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1" r:id="rId4"/>
  </p:sldMasterIdLst>
  <p:notesMasterIdLst>
    <p:notesMasterId r:id="rId214"/>
  </p:notesMasterIdLst>
  <p:handoutMasterIdLst>
    <p:handoutMasterId r:id="rId215"/>
  </p:handoutMasterIdLst>
  <p:sldIdLst>
    <p:sldId id="2012" r:id="rId5"/>
    <p:sldId id="2013" r:id="rId6"/>
    <p:sldId id="2014" r:id="rId7"/>
    <p:sldId id="2015" r:id="rId8"/>
    <p:sldId id="2022" r:id="rId9"/>
    <p:sldId id="2291" r:id="rId10"/>
    <p:sldId id="2289" r:id="rId11"/>
    <p:sldId id="2292" r:id="rId12"/>
    <p:sldId id="2293" r:id="rId13"/>
    <p:sldId id="2294" r:id="rId14"/>
    <p:sldId id="2295" r:id="rId15"/>
    <p:sldId id="2296" r:id="rId16"/>
    <p:sldId id="2288" r:id="rId17"/>
    <p:sldId id="2290" r:id="rId18"/>
    <p:sldId id="2024" r:id="rId19"/>
    <p:sldId id="2023" r:id="rId20"/>
    <p:sldId id="2297" r:id="rId21"/>
    <p:sldId id="2298" r:id="rId22"/>
    <p:sldId id="2299" r:id="rId23"/>
    <p:sldId id="2300" r:id="rId24"/>
    <p:sldId id="2301" r:id="rId25"/>
    <p:sldId id="2302" r:id="rId26"/>
    <p:sldId id="2304" r:id="rId27"/>
    <p:sldId id="2305" r:id="rId28"/>
    <p:sldId id="2306" r:id="rId29"/>
    <p:sldId id="2307" r:id="rId30"/>
    <p:sldId id="2310" r:id="rId31"/>
    <p:sldId id="2311" r:id="rId32"/>
    <p:sldId id="2312" r:id="rId33"/>
    <p:sldId id="2313" r:id="rId34"/>
    <p:sldId id="2314" r:id="rId35"/>
    <p:sldId id="2315" r:id="rId36"/>
    <p:sldId id="2316" r:id="rId37"/>
    <p:sldId id="2317" r:id="rId38"/>
    <p:sldId id="2320" r:id="rId39"/>
    <p:sldId id="2318" r:id="rId40"/>
    <p:sldId id="2319" r:id="rId41"/>
    <p:sldId id="2021" r:id="rId42"/>
    <p:sldId id="2322" r:id="rId43"/>
    <p:sldId id="2323" r:id="rId44"/>
    <p:sldId id="2324" r:id="rId45"/>
    <p:sldId id="2325" r:id="rId46"/>
    <p:sldId id="2326" r:id="rId47"/>
    <p:sldId id="2321" r:id="rId48"/>
    <p:sldId id="2327" r:id="rId49"/>
    <p:sldId id="2328" r:id="rId50"/>
    <p:sldId id="2330" r:id="rId51"/>
    <p:sldId id="2329" r:id="rId52"/>
    <p:sldId id="2331" r:id="rId53"/>
    <p:sldId id="2334" r:id="rId54"/>
    <p:sldId id="2278" r:id="rId55"/>
    <p:sldId id="2332" r:id="rId56"/>
    <p:sldId id="2333" r:id="rId57"/>
    <p:sldId id="2336" r:id="rId58"/>
    <p:sldId id="2338" r:id="rId59"/>
    <p:sldId id="2335" r:id="rId60"/>
    <p:sldId id="2337" r:id="rId61"/>
    <p:sldId id="2025" r:id="rId62"/>
    <p:sldId id="2026" r:id="rId63"/>
    <p:sldId id="2027" r:id="rId64"/>
    <p:sldId id="2028" r:id="rId65"/>
    <p:sldId id="2029" r:id="rId66"/>
    <p:sldId id="2030" r:id="rId67"/>
    <p:sldId id="2031" r:id="rId68"/>
    <p:sldId id="2032" r:id="rId69"/>
    <p:sldId id="2033" r:id="rId70"/>
    <p:sldId id="2034" r:id="rId71"/>
    <p:sldId id="2035" r:id="rId72"/>
    <p:sldId id="2036" r:id="rId73"/>
    <p:sldId id="2037" r:id="rId74"/>
    <p:sldId id="2038" r:id="rId75"/>
    <p:sldId id="2040" r:id="rId76"/>
    <p:sldId id="2041" r:id="rId77"/>
    <p:sldId id="2042" r:id="rId78"/>
    <p:sldId id="2043" r:id="rId79"/>
    <p:sldId id="2044" r:id="rId80"/>
    <p:sldId id="2045" r:id="rId81"/>
    <p:sldId id="2046" r:id="rId82"/>
    <p:sldId id="2047" r:id="rId83"/>
    <p:sldId id="2048" r:id="rId84"/>
    <p:sldId id="2049" r:id="rId85"/>
    <p:sldId id="2050" r:id="rId86"/>
    <p:sldId id="2051" r:id="rId87"/>
    <p:sldId id="2052" r:id="rId88"/>
    <p:sldId id="2053" r:id="rId89"/>
    <p:sldId id="2054" r:id="rId90"/>
    <p:sldId id="2055" r:id="rId91"/>
    <p:sldId id="2056" r:id="rId92"/>
    <p:sldId id="2057" r:id="rId93"/>
    <p:sldId id="2058" r:id="rId94"/>
    <p:sldId id="2059" r:id="rId95"/>
    <p:sldId id="2060" r:id="rId96"/>
    <p:sldId id="2065" r:id="rId97"/>
    <p:sldId id="2066" r:id="rId98"/>
    <p:sldId id="2099" r:id="rId99"/>
    <p:sldId id="2100" r:id="rId100"/>
    <p:sldId id="2116" r:id="rId101"/>
    <p:sldId id="2117" r:id="rId102"/>
    <p:sldId id="2118" r:id="rId103"/>
    <p:sldId id="2119" r:id="rId104"/>
    <p:sldId id="2120" r:id="rId105"/>
    <p:sldId id="2121" r:id="rId106"/>
    <p:sldId id="1501" r:id="rId107"/>
    <p:sldId id="1606" r:id="rId108"/>
    <p:sldId id="1924" r:id="rId109"/>
    <p:sldId id="1502" r:id="rId110"/>
    <p:sldId id="1975" r:id="rId111"/>
    <p:sldId id="1507" r:id="rId112"/>
    <p:sldId id="1972" r:id="rId113"/>
    <p:sldId id="1970" r:id="rId114"/>
    <p:sldId id="1830" r:id="rId115"/>
    <p:sldId id="1836" r:id="rId116"/>
    <p:sldId id="1976" r:id="rId117"/>
    <p:sldId id="1838" r:id="rId118"/>
    <p:sldId id="1841" r:id="rId119"/>
    <p:sldId id="1978" r:id="rId120"/>
    <p:sldId id="1979" r:id="rId121"/>
    <p:sldId id="1980" r:id="rId122"/>
    <p:sldId id="1981" r:id="rId123"/>
    <p:sldId id="1982" r:id="rId124"/>
    <p:sldId id="1983" r:id="rId125"/>
    <p:sldId id="1984" r:id="rId126"/>
    <p:sldId id="1985" r:id="rId127"/>
    <p:sldId id="1986" r:id="rId128"/>
    <p:sldId id="1987" r:id="rId129"/>
    <p:sldId id="1988" r:id="rId130"/>
    <p:sldId id="1989" r:id="rId131"/>
    <p:sldId id="1990" r:id="rId132"/>
    <p:sldId id="1991" r:id="rId133"/>
    <p:sldId id="1992" r:id="rId134"/>
    <p:sldId id="1993" r:id="rId135"/>
    <p:sldId id="1994" r:id="rId136"/>
    <p:sldId id="1995" r:id="rId137"/>
    <p:sldId id="1996" r:id="rId138"/>
    <p:sldId id="1997" r:id="rId139"/>
    <p:sldId id="1998" r:id="rId140"/>
    <p:sldId id="1999" r:id="rId141"/>
    <p:sldId id="2000" r:id="rId142"/>
    <p:sldId id="2001" r:id="rId143"/>
    <p:sldId id="2002" r:id="rId144"/>
    <p:sldId id="2003" r:id="rId145"/>
    <p:sldId id="2004" r:id="rId146"/>
    <p:sldId id="2005" r:id="rId147"/>
    <p:sldId id="2006" r:id="rId148"/>
    <p:sldId id="2007" r:id="rId149"/>
    <p:sldId id="2279" r:id="rId150"/>
    <p:sldId id="2280" r:id="rId151"/>
    <p:sldId id="2281" r:id="rId152"/>
    <p:sldId id="2282" r:id="rId153"/>
    <p:sldId id="2283" r:id="rId154"/>
    <p:sldId id="2284" r:id="rId155"/>
    <p:sldId id="2285" r:id="rId156"/>
    <p:sldId id="2286" r:id="rId157"/>
    <p:sldId id="2287" r:id="rId158"/>
    <p:sldId id="2202" r:id="rId159"/>
    <p:sldId id="2203" r:id="rId160"/>
    <p:sldId id="2204" r:id="rId161"/>
    <p:sldId id="2205" r:id="rId162"/>
    <p:sldId id="2206" r:id="rId163"/>
    <p:sldId id="2207" r:id="rId164"/>
    <p:sldId id="2208" r:id="rId165"/>
    <p:sldId id="2209" r:id="rId166"/>
    <p:sldId id="2210" r:id="rId167"/>
    <p:sldId id="2211" r:id="rId168"/>
    <p:sldId id="2212" r:id="rId169"/>
    <p:sldId id="2213" r:id="rId170"/>
    <p:sldId id="2214" r:id="rId171"/>
    <p:sldId id="2215" r:id="rId172"/>
    <p:sldId id="2216" r:id="rId173"/>
    <p:sldId id="2218" r:id="rId174"/>
    <p:sldId id="2219" r:id="rId175"/>
    <p:sldId id="2220" r:id="rId176"/>
    <p:sldId id="2221" r:id="rId177"/>
    <p:sldId id="2222" r:id="rId178"/>
    <p:sldId id="2223" r:id="rId179"/>
    <p:sldId id="2224" r:id="rId180"/>
    <p:sldId id="2225" r:id="rId181"/>
    <p:sldId id="2226" r:id="rId182"/>
    <p:sldId id="2227" r:id="rId183"/>
    <p:sldId id="2228" r:id="rId184"/>
    <p:sldId id="2229" r:id="rId185"/>
    <p:sldId id="2230" r:id="rId186"/>
    <p:sldId id="2231" r:id="rId187"/>
    <p:sldId id="2232" r:id="rId188"/>
    <p:sldId id="2233" r:id="rId189"/>
    <p:sldId id="2274" r:id="rId190"/>
    <p:sldId id="2234" r:id="rId191"/>
    <p:sldId id="2238" r:id="rId192"/>
    <p:sldId id="2241" r:id="rId193"/>
    <p:sldId id="2250" r:id="rId194"/>
    <p:sldId id="2253" r:id="rId195"/>
    <p:sldId id="2339" r:id="rId196"/>
    <p:sldId id="2254" r:id="rId197"/>
    <p:sldId id="2255" r:id="rId198"/>
    <p:sldId id="2256" r:id="rId199"/>
    <p:sldId id="2257" r:id="rId200"/>
    <p:sldId id="2258" r:id="rId201"/>
    <p:sldId id="2259" r:id="rId202"/>
    <p:sldId id="2260" r:id="rId203"/>
    <p:sldId id="2261" r:id="rId204"/>
    <p:sldId id="2262" r:id="rId205"/>
    <p:sldId id="2263" r:id="rId206"/>
    <p:sldId id="2267" r:id="rId207"/>
    <p:sldId id="2268" r:id="rId208"/>
    <p:sldId id="2269" r:id="rId209"/>
    <p:sldId id="2270" r:id="rId210"/>
    <p:sldId id="2271" r:id="rId211"/>
    <p:sldId id="2272" r:id="rId212"/>
    <p:sldId id="2273" r:id="rId213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158" userDrawn="1">
          <p15:clr>
            <a:srgbClr val="A4A3A4"/>
          </p15:clr>
        </p15:guide>
        <p15:guide id="2" orient="horz" pos="3929" userDrawn="1">
          <p15:clr>
            <a:srgbClr val="A4A3A4"/>
          </p15:clr>
        </p15:guide>
        <p15:guide id="3" orient="horz" pos="550" userDrawn="1">
          <p15:clr>
            <a:srgbClr val="A4A3A4"/>
          </p15:clr>
        </p15:guide>
        <p15:guide id="5" orient="horz" pos="1026" userDrawn="1">
          <p15:clr>
            <a:srgbClr val="A4A3A4"/>
          </p15:clr>
        </p15:guide>
        <p15:guide id="6" orient="horz" pos="3339">
          <p15:clr>
            <a:srgbClr val="A4A3A4"/>
          </p15:clr>
        </p15:guide>
        <p15:guide id="7" orient="horz" pos="3249" userDrawn="1">
          <p15:clr>
            <a:srgbClr val="A4A3A4"/>
          </p15:clr>
        </p15:guide>
        <p15:guide id="8" pos="3120" userDrawn="1">
          <p15:clr>
            <a:srgbClr val="A4A3A4"/>
          </p15:clr>
        </p15:guide>
        <p15:guide id="13" pos="217" userDrawn="1">
          <p15:clr>
            <a:srgbClr val="A4A3A4"/>
          </p15:clr>
        </p15:guide>
        <p15:guide id="16" pos="6023" userDrawn="1">
          <p15:clr>
            <a:srgbClr val="A4A3A4"/>
          </p15:clr>
        </p15:guide>
        <p15:guide id="17" orient="horz" pos="1253" userDrawn="1">
          <p15:clr>
            <a:srgbClr val="A4A3A4"/>
          </p15:clr>
        </p15:guide>
        <p15:guide id="18" orient="horz" pos="2160" userDrawn="1">
          <p15:clr>
            <a:srgbClr val="A4A3A4"/>
          </p15:clr>
        </p15:guide>
        <p15:guide id="19" orient="horz" pos="1434">
          <p15:clr>
            <a:srgbClr val="A4A3A4"/>
          </p15:clr>
        </p15:guide>
        <p15:guide id="21" orient="horz" pos="1344" userDrawn="1">
          <p15:clr>
            <a:srgbClr val="A4A3A4"/>
          </p15:clr>
        </p15:guide>
        <p15:guide id="23" orient="horz" pos="3998" userDrawn="1">
          <p15:clr>
            <a:srgbClr val="A4A3A4"/>
          </p15:clr>
        </p15:guide>
        <p15:guide id="24" orient="horz" pos="120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 userDrawn="1">
          <p15:clr>
            <a:srgbClr val="A4A3A4"/>
          </p15:clr>
        </p15:guide>
        <p15:guide id="2" pos="2142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CC"/>
    <a:srgbClr val="BFBFBF"/>
    <a:srgbClr val="FFFFFF"/>
    <a:srgbClr val="508CD2"/>
    <a:srgbClr val="233C5A"/>
    <a:srgbClr val="B1CFFC"/>
    <a:srgbClr val="003058"/>
    <a:srgbClr val="00437A"/>
    <a:srgbClr val="01458C"/>
    <a:srgbClr val="015EB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B4B98B0-60AC-42C2-AFA5-B58CD77FA1E5}" styleName="밝은 스타일 1 - 강조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3C2FFA5D-87B4-456A-9821-1D502468CF0F}" styleName="테마 스타일 1 - 강조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8893" autoAdjust="0"/>
    <p:restoredTop sz="95916" autoAdjust="0"/>
  </p:normalViewPr>
  <p:slideViewPr>
    <p:cSldViewPr>
      <p:cViewPr varScale="1">
        <p:scale>
          <a:sx n="106" d="100"/>
          <a:sy n="106" d="100"/>
        </p:scale>
        <p:origin x="870" y="114"/>
      </p:cViewPr>
      <p:guideLst>
        <p:guide orient="horz" pos="3158"/>
        <p:guide orient="horz" pos="3929"/>
        <p:guide orient="horz" pos="550"/>
        <p:guide orient="horz" pos="1026"/>
        <p:guide orient="horz" pos="3339"/>
        <p:guide orient="horz" pos="3249"/>
        <p:guide pos="3120"/>
        <p:guide pos="217"/>
        <p:guide pos="6023"/>
        <p:guide orient="horz" pos="1253"/>
        <p:guide orient="horz" pos="2160"/>
        <p:guide orient="horz" pos="1434"/>
        <p:guide orient="horz" pos="1344"/>
        <p:guide orient="horz" pos="3998"/>
        <p:guide orient="horz" pos="120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3" d="100"/>
        <a:sy n="33" d="100"/>
      </p:scale>
      <p:origin x="0" y="0"/>
    </p:cViewPr>
  </p:notesTextViewPr>
  <p:sorterViewPr>
    <p:cViewPr>
      <p:scale>
        <a:sx n="100" d="100"/>
        <a:sy n="100" d="100"/>
      </p:scale>
      <p:origin x="0" y="42966"/>
    </p:cViewPr>
  </p:sorterViewPr>
  <p:notesViewPr>
    <p:cSldViewPr showGuides="1">
      <p:cViewPr varScale="1">
        <p:scale>
          <a:sx n="78" d="100"/>
          <a:sy n="78" d="100"/>
        </p:scale>
        <p:origin x="1776" y="102"/>
      </p:cViewPr>
      <p:guideLst>
        <p:guide orient="horz" pos="3127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149" Type="http://schemas.openxmlformats.org/officeDocument/2006/relationships/slide" Target="slides/slide145.xml"/><Relationship Id="rId5" Type="http://schemas.openxmlformats.org/officeDocument/2006/relationships/slide" Target="slides/slide1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181" Type="http://schemas.openxmlformats.org/officeDocument/2006/relationships/slide" Target="slides/slide177.xml"/><Relationship Id="rId216" Type="http://schemas.openxmlformats.org/officeDocument/2006/relationships/presProps" Target="presProps.xml"/><Relationship Id="rId22" Type="http://schemas.openxmlformats.org/officeDocument/2006/relationships/slide" Target="slides/slide18.xml"/><Relationship Id="rId43" Type="http://schemas.openxmlformats.org/officeDocument/2006/relationships/slide" Target="slides/slide39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139" Type="http://schemas.openxmlformats.org/officeDocument/2006/relationships/slide" Target="slides/slide135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71" Type="http://schemas.openxmlformats.org/officeDocument/2006/relationships/slide" Target="slides/slide167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viewProps" Target="viewProps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theme" Target="theme/theme1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189" Type="http://schemas.openxmlformats.org/officeDocument/2006/relationships/slide" Target="slides/slide185.xml"/><Relationship Id="rId219" Type="http://schemas.openxmlformats.org/officeDocument/2006/relationships/tableStyles" Target="tableStyles.xml"/><Relationship Id="rId3" Type="http://schemas.openxmlformats.org/officeDocument/2006/relationships/customXml" Target="../customXml/item3.xml"/><Relationship Id="rId214" Type="http://schemas.openxmlformats.org/officeDocument/2006/relationships/notesMaster" Target="notesMasters/notesMaster1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79" Type="http://schemas.openxmlformats.org/officeDocument/2006/relationships/slide" Target="slides/slide175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48" Type="http://schemas.openxmlformats.org/officeDocument/2006/relationships/slide" Target="slides/slide144.xml"/><Relationship Id="rId164" Type="http://schemas.openxmlformats.org/officeDocument/2006/relationships/slide" Target="slides/slide160.xml"/><Relationship Id="rId169" Type="http://schemas.openxmlformats.org/officeDocument/2006/relationships/slide" Target="slides/slide165.xml"/><Relationship Id="rId185" Type="http://schemas.openxmlformats.org/officeDocument/2006/relationships/slide" Target="slides/slide18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80" Type="http://schemas.openxmlformats.org/officeDocument/2006/relationships/slide" Target="slides/slide176.xml"/><Relationship Id="rId210" Type="http://schemas.openxmlformats.org/officeDocument/2006/relationships/slide" Target="slides/slide206.xml"/><Relationship Id="rId215" Type="http://schemas.openxmlformats.org/officeDocument/2006/relationships/handoutMaster" Target="handoutMasters/handoutMaster1.xml"/><Relationship Id="rId26" Type="http://schemas.openxmlformats.org/officeDocument/2006/relationships/slide" Target="slides/slide22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202" Type="http://schemas.openxmlformats.org/officeDocument/2006/relationships/slide" Target="slides/slide198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/>
            </a:lvl1pPr>
          </a:lstStyle>
          <a:p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/>
            </a:lvl1pPr>
          </a:lstStyle>
          <a:p>
            <a:fld id="{BBE509C9-7006-4EEF-AE0A-F60A68CFABC4}" type="datetimeFigureOut">
              <a:rPr lang="ko-KR" altLang="en-US" smtClean="0">
                <a:latin typeface="맑은 고딕" pitchFamily="50" charset="-127"/>
                <a:ea typeface="맑은 고딕" pitchFamily="50" charset="-127"/>
              </a:rPr>
              <a:pPr/>
              <a:t>2024-12-09</a:t>
            </a:fld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/>
            </a:lvl1pPr>
          </a:lstStyle>
          <a:p>
            <a:fld id="{FB5D320A-A8AF-4B3E-BD67-EE5ADA87D3BF}" type="slidenum">
              <a:rPr lang="ko-KR" altLang="en-US" smtClean="0">
                <a:latin typeface="맑은 고딕" pitchFamily="50" charset="-127"/>
                <a:ea typeface="맑은 고딕" pitchFamily="50" charset="-127"/>
              </a:rPr>
              <a:pPr/>
              <a:t>‹#›</a:t>
            </a:fld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0864253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10D8B3E8-78D5-42AF-92B2-138AC5B36093}" type="datetimeFigureOut">
              <a:rPr lang="ko-KR" altLang="en-US" smtClean="0"/>
              <a:pPr/>
              <a:t>2024-12-09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1200" y="744538"/>
            <a:ext cx="537527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690" tIns="45846" rIns="91690" bIns="45846" rtlCol="0" anchor="ctr"/>
          <a:lstStyle/>
          <a:p>
            <a:endParaRPr lang="ko-KR" altLang="en-US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131" y="4715154"/>
            <a:ext cx="5439415" cy="4466987"/>
          </a:xfrm>
          <a:prstGeom prst="rect">
            <a:avLst/>
          </a:prstGeom>
        </p:spPr>
        <p:txBody>
          <a:bodyPr vert="horz" lIns="91690" tIns="45846" rIns="91690" bIns="45846" rtlCol="0"/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l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>
                <a:latin typeface="맑은 고딕" pitchFamily="50" charset="-127"/>
                <a:ea typeface="맑은 고딕" pitchFamily="50" charset="-127"/>
              </a:defRPr>
            </a:lvl1pPr>
          </a:lstStyle>
          <a:p>
            <a:fld id="{EFB921B9-838A-44D3-89D5-5DB0505CE71D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5052705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맑은 고딕" pitchFamily="50" charset="-127"/>
        <a:ea typeface="맑은 고딕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40428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994621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454200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3125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045914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394186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184028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767204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540169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639463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168919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56467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045644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2387425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70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9103245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71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3412576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991970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8483916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832868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5016119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6949235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4236434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279457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953163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47599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0548025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3387140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190796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514508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5013928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5204392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2286556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9083584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646711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6657661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0627469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108094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659818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985054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6394709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5029953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262238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9206468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7517878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4285036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567021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1938686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24350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just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lang="ko-KR" altLang="en-US" sz="1600" b="1" kern="1200" cap="none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  <a:prstGeom prst="rect">
            <a:avLst/>
          </a:prstGeom>
        </p:spPr>
        <p:txBody>
          <a:bodyPr lIns="0" anchor="ctr" anchorCtr="0">
            <a:norm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kumimoji="1" lang="ko-KR" altLang="en-US" sz="2000" b="1" kern="0" cap="none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6281401" y="0"/>
            <a:ext cx="3234507" cy="782680"/>
          </a:xfrm>
          <a:prstGeom prst="rect">
            <a:avLst/>
          </a:prstGeom>
        </p:spPr>
        <p:txBody>
          <a:bodyPr lIns="0" rIns="0" anchor="ctr">
            <a:noAutofit/>
          </a:bodyPr>
          <a:lstStyle>
            <a:lvl1pPr marL="0" indent="0" algn="r">
              <a:buNone/>
              <a:defRPr sz="12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2068" y="6567155"/>
            <a:ext cx="54186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t>Ⅲ 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t>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14" name="바닥글 개체 틀 5"/>
          <p:cNvSpPr txBox="1">
            <a:spLocks noGrp="1"/>
          </p:cNvSpPr>
          <p:nvPr userDrawn="1"/>
        </p:nvSpPr>
        <p:spPr bwMode="auto">
          <a:xfrm>
            <a:off x="1846537" y="6479800"/>
            <a:ext cx="2763157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© 2024 DAEYEON I&amp;T </a:t>
            </a: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All Right Reserved</a:t>
            </a:r>
          </a:p>
        </p:txBody>
      </p:sp>
      <p:pic>
        <p:nvPicPr>
          <p:cNvPr id="15" name="그림 1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12925" y="6492991"/>
            <a:ext cx="1152128" cy="244753"/>
          </a:xfrm>
          <a:prstGeom prst="rect">
            <a:avLst/>
          </a:prstGeom>
        </p:spPr>
      </p:pic>
      <p:pic>
        <p:nvPicPr>
          <p:cNvPr id="16" name="그림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5368" y="6551973"/>
            <a:ext cx="1235860" cy="189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  <a:prstGeom prst="rect">
            <a:avLst/>
          </a:prstGeom>
        </p:spPr>
        <p:txBody>
          <a:bodyPr lIns="0" anchor="ctr" anchorCtr="0">
            <a:norm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kumimoji="1" lang="ko-KR" altLang="en-US" sz="2000" b="1" kern="0" cap="none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6281401" y="0"/>
            <a:ext cx="3234507" cy="782680"/>
          </a:xfrm>
          <a:prstGeom prst="rect">
            <a:avLst/>
          </a:prstGeom>
        </p:spPr>
        <p:txBody>
          <a:bodyPr lIns="0" rIns="0" anchor="ctr">
            <a:noAutofit/>
          </a:bodyPr>
          <a:lstStyle>
            <a:lvl1pPr marL="0" indent="0" algn="r">
              <a:buNone/>
              <a:defRPr sz="12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5273" y="6567155"/>
            <a:ext cx="53545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t>Ⅳ 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  <a:cs typeface="Times New Roman" panose="02020603050405020304" pitchFamily="18" charset="0"/>
            </a:endParaRPr>
          </a:p>
        </p:txBody>
      </p:sp>
      <p:sp>
        <p:nvSpPr>
          <p:cNvPr id="12" name="바닥글 개체 틀 5"/>
          <p:cNvSpPr txBox="1">
            <a:spLocks noGrp="1"/>
          </p:cNvSpPr>
          <p:nvPr userDrawn="1"/>
        </p:nvSpPr>
        <p:spPr bwMode="auto">
          <a:xfrm>
            <a:off x="1846537" y="6479800"/>
            <a:ext cx="2763157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© 2024 DAEYEON I&amp;T </a:t>
            </a: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All Right Reserved</a:t>
            </a:r>
          </a:p>
        </p:txBody>
      </p:sp>
      <p:pic>
        <p:nvPicPr>
          <p:cNvPr id="14" name="그림 13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12925" y="6492991"/>
            <a:ext cx="1152128" cy="244753"/>
          </a:xfrm>
          <a:prstGeom prst="rect">
            <a:avLst/>
          </a:prstGeom>
        </p:spPr>
      </p:pic>
      <p:pic>
        <p:nvPicPr>
          <p:cNvPr id="15" name="그림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5368" y="6551973"/>
            <a:ext cx="1235860" cy="189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목차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776536" y="798612"/>
            <a:ext cx="5760640" cy="4525963"/>
          </a:xfrm>
          <a:prstGeom prst="rect">
            <a:avLst/>
          </a:prstGeom>
        </p:spPr>
        <p:txBody>
          <a:bodyPr>
            <a:normAutofit/>
          </a:bodyPr>
          <a:lstStyle>
            <a:lvl1pPr marL="400050" indent="-400050">
              <a:lnSpc>
                <a:spcPct val="120000"/>
              </a:lnSpc>
              <a:buFont typeface="+mj-lt"/>
              <a:buAutoNum type="romanUcPeriod"/>
              <a:defRPr sz="1800" b="1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defRPr>
            </a:lvl1pPr>
            <a:lvl2pPr>
              <a:defRPr sz="1800" b="1">
                <a:solidFill>
                  <a:srgbClr val="00B0F0"/>
                </a:solidFill>
              </a:defRPr>
            </a:lvl2pPr>
            <a:lvl3pPr>
              <a:defRPr sz="1800" b="1">
                <a:solidFill>
                  <a:srgbClr val="00B0F0"/>
                </a:solidFill>
              </a:defRPr>
            </a:lvl3pPr>
            <a:lvl4pPr>
              <a:defRPr sz="1800" b="1">
                <a:solidFill>
                  <a:srgbClr val="00B0F0"/>
                </a:solidFill>
              </a:defRPr>
            </a:lvl4pPr>
            <a:lvl5pPr>
              <a:defRPr sz="1800" b="1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grpSp>
        <p:nvGrpSpPr>
          <p:cNvPr id="2" name="그룹 16"/>
          <p:cNvGrpSpPr/>
          <p:nvPr userDrawn="1"/>
        </p:nvGrpSpPr>
        <p:grpSpPr>
          <a:xfrm>
            <a:off x="6824603" y="908720"/>
            <a:ext cx="2187634" cy="1958589"/>
            <a:chOff x="6824603" y="908720"/>
            <a:chExt cx="2187634" cy="1958589"/>
          </a:xfrm>
          <a:solidFill>
            <a:srgbClr val="00437A"/>
          </a:solidFill>
        </p:grpSpPr>
        <p:grpSp>
          <p:nvGrpSpPr>
            <p:cNvPr id="4" name="그룹 17"/>
            <p:cNvGrpSpPr/>
            <p:nvPr/>
          </p:nvGrpSpPr>
          <p:grpSpPr>
            <a:xfrm>
              <a:off x="6825208" y="908720"/>
              <a:ext cx="2187029" cy="230399"/>
              <a:chOff x="7185248" y="1123952"/>
              <a:chExt cx="2187029" cy="230399"/>
            </a:xfrm>
            <a:grpFill/>
          </p:grpSpPr>
          <p:sp>
            <p:nvSpPr>
              <p:cNvPr id="23" name="직사각형 22"/>
              <p:cNvSpPr/>
              <p:nvPr/>
            </p:nvSpPr>
            <p:spPr bwMode="auto">
              <a:xfrm rot="5400000">
                <a:off x="8215185" y="94758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4" name="직사각형 23"/>
              <p:cNvSpPr/>
              <p:nvPr/>
            </p:nvSpPr>
            <p:spPr bwMode="auto">
              <a:xfrm rot="5400000">
                <a:off x="7139787" y="1178937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" name="직사각형 24"/>
              <p:cNvSpPr/>
              <p:nvPr/>
            </p:nvSpPr>
            <p:spPr bwMode="auto">
              <a:xfrm rot="5400000">
                <a:off x="9196865" y="1178938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5" name="그룹 18"/>
            <p:cNvGrpSpPr/>
            <p:nvPr/>
          </p:nvGrpSpPr>
          <p:grpSpPr>
            <a:xfrm>
              <a:off x="6824603" y="2636912"/>
              <a:ext cx="2186617" cy="230397"/>
              <a:chOff x="7184643" y="2780929"/>
              <a:chExt cx="2186617" cy="230397"/>
            </a:xfrm>
            <a:grpFill/>
          </p:grpSpPr>
          <p:sp>
            <p:nvSpPr>
              <p:cNvPr id="20" name="직사각형 19"/>
              <p:cNvSpPr/>
              <p:nvPr/>
            </p:nvSpPr>
            <p:spPr bwMode="auto">
              <a:xfrm rot="16200000">
                <a:off x="8214443" y="1855251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1" name="직사각형 20"/>
              <p:cNvSpPr/>
              <p:nvPr/>
            </p:nvSpPr>
            <p:spPr bwMode="auto">
              <a:xfrm rot="16200000">
                <a:off x="9195848" y="2826391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2" name="직사각형 21"/>
              <p:cNvSpPr/>
              <p:nvPr/>
            </p:nvSpPr>
            <p:spPr bwMode="auto">
              <a:xfrm rot="16200000">
                <a:off x="7139182" y="2826390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08437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900" r:id="rId1"/>
    <p:sldLayoutId id="2147483983" r:id="rId2"/>
    <p:sldLayoutId id="2147483982" r:id="rId3"/>
  </p:sldLayoutIdLst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맑은 고딕" pitchFamily="50" charset="-127"/>
          <a:ea typeface="맑은 고딕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tags" Target="../tags/tag13.xml"/><Relationship Id="rId18" Type="http://schemas.openxmlformats.org/officeDocument/2006/relationships/slideLayout" Target="../slideLayouts/slideLayout1.xml"/><Relationship Id="rId3" Type="http://schemas.openxmlformats.org/officeDocument/2006/relationships/tags" Target="../tags/tag3.xml"/><Relationship Id="rId7" Type="http://schemas.openxmlformats.org/officeDocument/2006/relationships/tags" Target="../tags/tag7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10" Type="http://schemas.openxmlformats.org/officeDocument/2006/relationships/tags" Target="../tags/tag10.xml"/><Relationship Id="rId19" Type="http://schemas.openxmlformats.org/officeDocument/2006/relationships/notesSlide" Target="../notesSlides/notesSlide9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13" Type="http://schemas.openxmlformats.org/officeDocument/2006/relationships/image" Target="../media/image18.png"/><Relationship Id="rId3" Type="http://schemas.openxmlformats.org/officeDocument/2006/relationships/image" Target="../media/image9.png"/><Relationship Id="rId7" Type="http://schemas.openxmlformats.org/officeDocument/2006/relationships/image" Target="../media/image12.png"/><Relationship Id="rId12" Type="http://schemas.openxmlformats.org/officeDocument/2006/relationships/image" Target="../media/image1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16.png"/><Relationship Id="rId5" Type="http://schemas.openxmlformats.org/officeDocument/2006/relationships/image" Target="../media/image10.png"/><Relationship Id="rId10" Type="http://schemas.openxmlformats.org/officeDocument/2006/relationships/image" Target="../media/image15.png"/><Relationship Id="rId4" Type="http://schemas.microsoft.com/office/2007/relationships/hdphoto" Target="../media/hdphoto1.wdp"/><Relationship Id="rId9" Type="http://schemas.openxmlformats.org/officeDocument/2006/relationships/image" Target="../media/image14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20.png"/><Relationship Id="rId7" Type="http://schemas.openxmlformats.org/officeDocument/2006/relationships/image" Target="../media/image23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10.pn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tags" Target="../tags/tag25.xml"/><Relationship Id="rId13" Type="http://schemas.openxmlformats.org/officeDocument/2006/relationships/tags" Target="../tags/tag30.xml"/><Relationship Id="rId18" Type="http://schemas.openxmlformats.org/officeDocument/2006/relationships/slideLayout" Target="../slideLayouts/slideLayout1.xml"/><Relationship Id="rId3" Type="http://schemas.openxmlformats.org/officeDocument/2006/relationships/tags" Target="../tags/tag20.xml"/><Relationship Id="rId7" Type="http://schemas.openxmlformats.org/officeDocument/2006/relationships/tags" Target="../tags/tag24.xml"/><Relationship Id="rId12" Type="http://schemas.openxmlformats.org/officeDocument/2006/relationships/tags" Target="../tags/tag29.xml"/><Relationship Id="rId17" Type="http://schemas.openxmlformats.org/officeDocument/2006/relationships/tags" Target="../tags/tag34.xml"/><Relationship Id="rId2" Type="http://schemas.openxmlformats.org/officeDocument/2006/relationships/tags" Target="../tags/tag19.xml"/><Relationship Id="rId16" Type="http://schemas.openxmlformats.org/officeDocument/2006/relationships/tags" Target="../tags/tag33.xml"/><Relationship Id="rId1" Type="http://schemas.openxmlformats.org/officeDocument/2006/relationships/tags" Target="../tags/tag18.xml"/><Relationship Id="rId6" Type="http://schemas.openxmlformats.org/officeDocument/2006/relationships/tags" Target="../tags/tag23.xml"/><Relationship Id="rId11" Type="http://schemas.openxmlformats.org/officeDocument/2006/relationships/tags" Target="../tags/tag28.xml"/><Relationship Id="rId5" Type="http://schemas.openxmlformats.org/officeDocument/2006/relationships/tags" Target="../tags/tag22.xml"/><Relationship Id="rId15" Type="http://schemas.openxmlformats.org/officeDocument/2006/relationships/tags" Target="../tags/tag32.xml"/><Relationship Id="rId10" Type="http://schemas.openxmlformats.org/officeDocument/2006/relationships/tags" Target="../tags/tag27.xml"/><Relationship Id="rId4" Type="http://schemas.openxmlformats.org/officeDocument/2006/relationships/tags" Target="../tags/tag21.xml"/><Relationship Id="rId9" Type="http://schemas.openxmlformats.org/officeDocument/2006/relationships/tags" Target="../tags/tag26.xml"/><Relationship Id="rId14" Type="http://schemas.openxmlformats.org/officeDocument/2006/relationships/tags" Target="../tags/tag3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tags" Target="../tags/tag42.xml"/><Relationship Id="rId13" Type="http://schemas.openxmlformats.org/officeDocument/2006/relationships/tags" Target="../tags/tag47.xml"/><Relationship Id="rId18" Type="http://schemas.openxmlformats.org/officeDocument/2006/relationships/tags" Target="../tags/tag52.xml"/><Relationship Id="rId26" Type="http://schemas.openxmlformats.org/officeDocument/2006/relationships/tags" Target="../tags/tag60.xml"/><Relationship Id="rId3" Type="http://schemas.openxmlformats.org/officeDocument/2006/relationships/tags" Target="../tags/tag37.xml"/><Relationship Id="rId21" Type="http://schemas.openxmlformats.org/officeDocument/2006/relationships/tags" Target="../tags/tag55.xml"/><Relationship Id="rId7" Type="http://schemas.openxmlformats.org/officeDocument/2006/relationships/tags" Target="../tags/tag41.xml"/><Relationship Id="rId12" Type="http://schemas.openxmlformats.org/officeDocument/2006/relationships/tags" Target="../tags/tag46.xml"/><Relationship Id="rId17" Type="http://schemas.openxmlformats.org/officeDocument/2006/relationships/tags" Target="../tags/tag51.xml"/><Relationship Id="rId25" Type="http://schemas.openxmlformats.org/officeDocument/2006/relationships/tags" Target="../tags/tag59.xml"/><Relationship Id="rId2" Type="http://schemas.openxmlformats.org/officeDocument/2006/relationships/tags" Target="../tags/tag36.xml"/><Relationship Id="rId16" Type="http://schemas.openxmlformats.org/officeDocument/2006/relationships/tags" Target="../tags/tag50.xml"/><Relationship Id="rId20" Type="http://schemas.openxmlformats.org/officeDocument/2006/relationships/tags" Target="../tags/tag54.xml"/><Relationship Id="rId1" Type="http://schemas.openxmlformats.org/officeDocument/2006/relationships/tags" Target="../tags/tag35.xml"/><Relationship Id="rId6" Type="http://schemas.openxmlformats.org/officeDocument/2006/relationships/tags" Target="../tags/tag40.xml"/><Relationship Id="rId11" Type="http://schemas.openxmlformats.org/officeDocument/2006/relationships/tags" Target="../tags/tag45.xml"/><Relationship Id="rId24" Type="http://schemas.openxmlformats.org/officeDocument/2006/relationships/tags" Target="../tags/tag58.xml"/><Relationship Id="rId5" Type="http://schemas.openxmlformats.org/officeDocument/2006/relationships/tags" Target="../tags/tag39.xml"/><Relationship Id="rId15" Type="http://schemas.openxmlformats.org/officeDocument/2006/relationships/tags" Target="../tags/tag49.xml"/><Relationship Id="rId23" Type="http://schemas.openxmlformats.org/officeDocument/2006/relationships/tags" Target="../tags/tag57.xml"/><Relationship Id="rId10" Type="http://schemas.openxmlformats.org/officeDocument/2006/relationships/tags" Target="../tags/tag44.xml"/><Relationship Id="rId19" Type="http://schemas.openxmlformats.org/officeDocument/2006/relationships/tags" Target="../tags/tag53.xml"/><Relationship Id="rId4" Type="http://schemas.openxmlformats.org/officeDocument/2006/relationships/tags" Target="../tags/tag38.xml"/><Relationship Id="rId9" Type="http://schemas.openxmlformats.org/officeDocument/2006/relationships/tags" Target="../tags/tag43.xml"/><Relationship Id="rId14" Type="http://schemas.openxmlformats.org/officeDocument/2006/relationships/tags" Target="../tags/tag48.xml"/><Relationship Id="rId22" Type="http://schemas.openxmlformats.org/officeDocument/2006/relationships/tags" Target="../tags/tag56.xml"/><Relationship Id="rId27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3" Type="http://schemas.openxmlformats.org/officeDocument/2006/relationships/tags" Target="../tags/tag73.xml"/><Relationship Id="rId18" Type="http://schemas.openxmlformats.org/officeDocument/2006/relationships/tags" Target="../tags/tag78.xml"/><Relationship Id="rId26" Type="http://schemas.openxmlformats.org/officeDocument/2006/relationships/tags" Target="../tags/tag86.xml"/><Relationship Id="rId3" Type="http://schemas.openxmlformats.org/officeDocument/2006/relationships/tags" Target="../tags/tag63.xml"/><Relationship Id="rId21" Type="http://schemas.openxmlformats.org/officeDocument/2006/relationships/tags" Target="../tags/tag81.xml"/><Relationship Id="rId34" Type="http://schemas.openxmlformats.org/officeDocument/2006/relationships/tags" Target="../tags/tag94.xml"/><Relationship Id="rId7" Type="http://schemas.openxmlformats.org/officeDocument/2006/relationships/tags" Target="../tags/tag67.xml"/><Relationship Id="rId12" Type="http://schemas.openxmlformats.org/officeDocument/2006/relationships/tags" Target="../tags/tag72.xml"/><Relationship Id="rId17" Type="http://schemas.openxmlformats.org/officeDocument/2006/relationships/tags" Target="../tags/tag77.xml"/><Relationship Id="rId25" Type="http://schemas.openxmlformats.org/officeDocument/2006/relationships/tags" Target="../tags/tag85.xml"/><Relationship Id="rId33" Type="http://schemas.openxmlformats.org/officeDocument/2006/relationships/tags" Target="../tags/tag93.xml"/><Relationship Id="rId2" Type="http://schemas.openxmlformats.org/officeDocument/2006/relationships/tags" Target="../tags/tag62.xml"/><Relationship Id="rId16" Type="http://schemas.openxmlformats.org/officeDocument/2006/relationships/tags" Target="../tags/tag76.xml"/><Relationship Id="rId20" Type="http://schemas.openxmlformats.org/officeDocument/2006/relationships/tags" Target="../tags/tag80.xml"/><Relationship Id="rId29" Type="http://schemas.openxmlformats.org/officeDocument/2006/relationships/tags" Target="../tags/tag89.xml"/><Relationship Id="rId1" Type="http://schemas.openxmlformats.org/officeDocument/2006/relationships/tags" Target="../tags/tag61.xml"/><Relationship Id="rId6" Type="http://schemas.openxmlformats.org/officeDocument/2006/relationships/tags" Target="../tags/tag66.xml"/><Relationship Id="rId11" Type="http://schemas.openxmlformats.org/officeDocument/2006/relationships/tags" Target="../tags/tag71.xml"/><Relationship Id="rId24" Type="http://schemas.openxmlformats.org/officeDocument/2006/relationships/tags" Target="../tags/tag84.xml"/><Relationship Id="rId32" Type="http://schemas.openxmlformats.org/officeDocument/2006/relationships/tags" Target="../tags/tag92.xml"/><Relationship Id="rId5" Type="http://schemas.openxmlformats.org/officeDocument/2006/relationships/tags" Target="../tags/tag65.xml"/><Relationship Id="rId15" Type="http://schemas.openxmlformats.org/officeDocument/2006/relationships/tags" Target="../tags/tag75.xml"/><Relationship Id="rId23" Type="http://schemas.openxmlformats.org/officeDocument/2006/relationships/tags" Target="../tags/tag83.xml"/><Relationship Id="rId28" Type="http://schemas.openxmlformats.org/officeDocument/2006/relationships/tags" Target="../tags/tag88.xml"/><Relationship Id="rId36" Type="http://schemas.openxmlformats.org/officeDocument/2006/relationships/image" Target="../media/image25.png"/><Relationship Id="rId10" Type="http://schemas.openxmlformats.org/officeDocument/2006/relationships/tags" Target="../tags/tag70.xml"/><Relationship Id="rId19" Type="http://schemas.openxmlformats.org/officeDocument/2006/relationships/tags" Target="../tags/tag79.xml"/><Relationship Id="rId31" Type="http://schemas.openxmlformats.org/officeDocument/2006/relationships/tags" Target="../tags/tag91.xml"/><Relationship Id="rId4" Type="http://schemas.openxmlformats.org/officeDocument/2006/relationships/tags" Target="../tags/tag64.xml"/><Relationship Id="rId9" Type="http://schemas.openxmlformats.org/officeDocument/2006/relationships/tags" Target="../tags/tag69.xml"/><Relationship Id="rId14" Type="http://schemas.openxmlformats.org/officeDocument/2006/relationships/tags" Target="../tags/tag74.xml"/><Relationship Id="rId22" Type="http://schemas.openxmlformats.org/officeDocument/2006/relationships/tags" Target="../tags/tag82.xml"/><Relationship Id="rId27" Type="http://schemas.openxmlformats.org/officeDocument/2006/relationships/tags" Target="../tags/tag87.xml"/><Relationship Id="rId30" Type="http://schemas.openxmlformats.org/officeDocument/2006/relationships/tags" Target="../tags/tag90.xml"/><Relationship Id="rId35" Type="http://schemas.openxmlformats.org/officeDocument/2006/relationships/slideLayout" Target="../slideLayouts/slideLayout1.xml"/><Relationship Id="rId8" Type="http://schemas.openxmlformats.org/officeDocument/2006/relationships/tags" Target="../tags/tag6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tags" Target="../tags/tag102.xml"/><Relationship Id="rId13" Type="http://schemas.openxmlformats.org/officeDocument/2006/relationships/tags" Target="../tags/tag107.xml"/><Relationship Id="rId18" Type="http://schemas.openxmlformats.org/officeDocument/2006/relationships/slideLayout" Target="../slideLayouts/slideLayout1.xml"/><Relationship Id="rId3" Type="http://schemas.openxmlformats.org/officeDocument/2006/relationships/tags" Target="../tags/tag97.xml"/><Relationship Id="rId7" Type="http://schemas.openxmlformats.org/officeDocument/2006/relationships/tags" Target="../tags/tag101.xml"/><Relationship Id="rId12" Type="http://schemas.openxmlformats.org/officeDocument/2006/relationships/tags" Target="../tags/tag106.xml"/><Relationship Id="rId17" Type="http://schemas.openxmlformats.org/officeDocument/2006/relationships/tags" Target="../tags/tag111.xml"/><Relationship Id="rId2" Type="http://schemas.openxmlformats.org/officeDocument/2006/relationships/tags" Target="../tags/tag96.xml"/><Relationship Id="rId16" Type="http://schemas.openxmlformats.org/officeDocument/2006/relationships/tags" Target="../tags/tag110.xml"/><Relationship Id="rId1" Type="http://schemas.openxmlformats.org/officeDocument/2006/relationships/tags" Target="../tags/tag95.xml"/><Relationship Id="rId6" Type="http://schemas.openxmlformats.org/officeDocument/2006/relationships/tags" Target="../tags/tag100.xml"/><Relationship Id="rId11" Type="http://schemas.openxmlformats.org/officeDocument/2006/relationships/tags" Target="../tags/tag105.xml"/><Relationship Id="rId5" Type="http://schemas.openxmlformats.org/officeDocument/2006/relationships/tags" Target="../tags/tag99.xml"/><Relationship Id="rId15" Type="http://schemas.openxmlformats.org/officeDocument/2006/relationships/tags" Target="../tags/tag109.xml"/><Relationship Id="rId10" Type="http://schemas.openxmlformats.org/officeDocument/2006/relationships/tags" Target="../tags/tag104.xml"/><Relationship Id="rId4" Type="http://schemas.openxmlformats.org/officeDocument/2006/relationships/tags" Target="../tags/tag98.xml"/><Relationship Id="rId9" Type="http://schemas.openxmlformats.org/officeDocument/2006/relationships/tags" Target="../tags/tag103.xml"/><Relationship Id="rId14" Type="http://schemas.openxmlformats.org/officeDocument/2006/relationships/tags" Target="../tags/tag10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gi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1.gif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gi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gi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1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tags" Target="../tags/tag115.xml"/><Relationship Id="rId2" Type="http://schemas.openxmlformats.org/officeDocument/2006/relationships/tags" Target="../tags/tag114.xml"/><Relationship Id="rId1" Type="http://schemas.openxmlformats.org/officeDocument/2006/relationships/tags" Target="../tags/tag113.xml"/><Relationship Id="rId4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16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tags" Target="../tags/tag119.xml"/><Relationship Id="rId2" Type="http://schemas.openxmlformats.org/officeDocument/2006/relationships/tags" Target="../tags/tag118.xml"/><Relationship Id="rId1" Type="http://schemas.openxmlformats.org/officeDocument/2006/relationships/tags" Target="../tags/tag117.xml"/><Relationship Id="rId6" Type="http://schemas.openxmlformats.org/officeDocument/2006/relationships/slideLayout" Target="../slideLayouts/slideLayout1.xml"/><Relationship Id="rId5" Type="http://schemas.openxmlformats.org/officeDocument/2006/relationships/tags" Target="../tags/tag121.xml"/><Relationship Id="rId4" Type="http://schemas.openxmlformats.org/officeDocument/2006/relationships/tags" Target="../tags/tag120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tags" Target="../tags/tag124.xml"/><Relationship Id="rId2" Type="http://schemas.openxmlformats.org/officeDocument/2006/relationships/tags" Target="../tags/tag123.xml"/><Relationship Id="rId1" Type="http://schemas.openxmlformats.org/officeDocument/2006/relationships/tags" Target="../tags/tag122.xml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125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tags" Target="../tags/tag128.xml"/><Relationship Id="rId2" Type="http://schemas.openxmlformats.org/officeDocument/2006/relationships/tags" Target="../tags/tag127.xml"/><Relationship Id="rId1" Type="http://schemas.openxmlformats.org/officeDocument/2006/relationships/tags" Target="../tags/tag126.xml"/><Relationship Id="rId4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4.png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tags" Target="../tags/tag136.xml"/><Relationship Id="rId13" Type="http://schemas.openxmlformats.org/officeDocument/2006/relationships/tags" Target="../tags/tag141.xml"/><Relationship Id="rId18" Type="http://schemas.openxmlformats.org/officeDocument/2006/relationships/tags" Target="../tags/tag146.xml"/><Relationship Id="rId3" Type="http://schemas.openxmlformats.org/officeDocument/2006/relationships/tags" Target="../tags/tag131.xml"/><Relationship Id="rId21" Type="http://schemas.openxmlformats.org/officeDocument/2006/relationships/slideLayout" Target="../slideLayouts/slideLayout1.xml"/><Relationship Id="rId7" Type="http://schemas.openxmlformats.org/officeDocument/2006/relationships/tags" Target="../tags/tag135.xml"/><Relationship Id="rId12" Type="http://schemas.openxmlformats.org/officeDocument/2006/relationships/tags" Target="../tags/tag140.xml"/><Relationship Id="rId17" Type="http://schemas.openxmlformats.org/officeDocument/2006/relationships/tags" Target="../tags/tag145.xml"/><Relationship Id="rId2" Type="http://schemas.openxmlformats.org/officeDocument/2006/relationships/tags" Target="../tags/tag130.xml"/><Relationship Id="rId16" Type="http://schemas.openxmlformats.org/officeDocument/2006/relationships/tags" Target="../tags/tag144.xml"/><Relationship Id="rId20" Type="http://schemas.openxmlformats.org/officeDocument/2006/relationships/tags" Target="../tags/tag148.xml"/><Relationship Id="rId1" Type="http://schemas.openxmlformats.org/officeDocument/2006/relationships/tags" Target="../tags/tag129.xml"/><Relationship Id="rId6" Type="http://schemas.openxmlformats.org/officeDocument/2006/relationships/tags" Target="../tags/tag134.xml"/><Relationship Id="rId11" Type="http://schemas.openxmlformats.org/officeDocument/2006/relationships/tags" Target="../tags/tag139.xml"/><Relationship Id="rId5" Type="http://schemas.openxmlformats.org/officeDocument/2006/relationships/tags" Target="../tags/tag133.xml"/><Relationship Id="rId15" Type="http://schemas.openxmlformats.org/officeDocument/2006/relationships/tags" Target="../tags/tag143.xml"/><Relationship Id="rId10" Type="http://schemas.openxmlformats.org/officeDocument/2006/relationships/tags" Target="../tags/tag138.xml"/><Relationship Id="rId19" Type="http://schemas.openxmlformats.org/officeDocument/2006/relationships/tags" Target="../tags/tag147.xml"/><Relationship Id="rId4" Type="http://schemas.openxmlformats.org/officeDocument/2006/relationships/tags" Target="../tags/tag132.xml"/><Relationship Id="rId9" Type="http://schemas.openxmlformats.org/officeDocument/2006/relationships/tags" Target="../tags/tag137.xml"/><Relationship Id="rId14" Type="http://schemas.openxmlformats.org/officeDocument/2006/relationships/tags" Target="../tags/tag142.xml"/><Relationship Id="rId22" Type="http://schemas.openxmlformats.org/officeDocument/2006/relationships/notesSlide" Target="../notesSlides/notesSlide48.xml"/></Relationships>
</file>

<file path=ppt/slides/_rels/slide193.xml.rels><?xml version="1.0" encoding="UTF-8" standalone="yes"?>
<Relationships xmlns="http://schemas.openxmlformats.org/package/2006/relationships"><Relationship Id="rId13" Type="http://schemas.openxmlformats.org/officeDocument/2006/relationships/tags" Target="../tags/tag161.xml"/><Relationship Id="rId18" Type="http://schemas.openxmlformats.org/officeDocument/2006/relationships/tags" Target="../tags/tag166.xml"/><Relationship Id="rId26" Type="http://schemas.openxmlformats.org/officeDocument/2006/relationships/tags" Target="../tags/tag174.xml"/><Relationship Id="rId3" Type="http://schemas.openxmlformats.org/officeDocument/2006/relationships/tags" Target="../tags/tag151.xml"/><Relationship Id="rId21" Type="http://schemas.openxmlformats.org/officeDocument/2006/relationships/tags" Target="../tags/tag169.xml"/><Relationship Id="rId34" Type="http://schemas.openxmlformats.org/officeDocument/2006/relationships/tags" Target="../tags/tag182.xml"/><Relationship Id="rId7" Type="http://schemas.openxmlformats.org/officeDocument/2006/relationships/tags" Target="../tags/tag155.xml"/><Relationship Id="rId12" Type="http://schemas.openxmlformats.org/officeDocument/2006/relationships/tags" Target="../tags/tag160.xml"/><Relationship Id="rId17" Type="http://schemas.openxmlformats.org/officeDocument/2006/relationships/tags" Target="../tags/tag165.xml"/><Relationship Id="rId25" Type="http://schemas.openxmlformats.org/officeDocument/2006/relationships/tags" Target="../tags/tag173.xml"/><Relationship Id="rId33" Type="http://schemas.openxmlformats.org/officeDocument/2006/relationships/tags" Target="../tags/tag181.xml"/><Relationship Id="rId2" Type="http://schemas.openxmlformats.org/officeDocument/2006/relationships/tags" Target="../tags/tag150.xml"/><Relationship Id="rId16" Type="http://schemas.openxmlformats.org/officeDocument/2006/relationships/tags" Target="../tags/tag164.xml"/><Relationship Id="rId20" Type="http://schemas.openxmlformats.org/officeDocument/2006/relationships/tags" Target="../tags/tag168.xml"/><Relationship Id="rId29" Type="http://schemas.openxmlformats.org/officeDocument/2006/relationships/tags" Target="../tags/tag177.xml"/><Relationship Id="rId1" Type="http://schemas.openxmlformats.org/officeDocument/2006/relationships/tags" Target="../tags/tag149.xml"/><Relationship Id="rId6" Type="http://schemas.openxmlformats.org/officeDocument/2006/relationships/tags" Target="../tags/tag154.xml"/><Relationship Id="rId11" Type="http://schemas.openxmlformats.org/officeDocument/2006/relationships/tags" Target="../tags/tag159.xml"/><Relationship Id="rId24" Type="http://schemas.openxmlformats.org/officeDocument/2006/relationships/tags" Target="../tags/tag172.xml"/><Relationship Id="rId32" Type="http://schemas.openxmlformats.org/officeDocument/2006/relationships/tags" Target="../tags/tag180.xml"/><Relationship Id="rId5" Type="http://schemas.openxmlformats.org/officeDocument/2006/relationships/tags" Target="../tags/tag153.xml"/><Relationship Id="rId15" Type="http://schemas.openxmlformats.org/officeDocument/2006/relationships/tags" Target="../tags/tag163.xml"/><Relationship Id="rId23" Type="http://schemas.openxmlformats.org/officeDocument/2006/relationships/tags" Target="../tags/tag171.xml"/><Relationship Id="rId28" Type="http://schemas.openxmlformats.org/officeDocument/2006/relationships/tags" Target="../tags/tag176.xml"/><Relationship Id="rId10" Type="http://schemas.openxmlformats.org/officeDocument/2006/relationships/tags" Target="../tags/tag158.xml"/><Relationship Id="rId19" Type="http://schemas.openxmlformats.org/officeDocument/2006/relationships/tags" Target="../tags/tag167.xml"/><Relationship Id="rId31" Type="http://schemas.openxmlformats.org/officeDocument/2006/relationships/tags" Target="../tags/tag179.xml"/><Relationship Id="rId4" Type="http://schemas.openxmlformats.org/officeDocument/2006/relationships/tags" Target="../tags/tag152.xml"/><Relationship Id="rId9" Type="http://schemas.openxmlformats.org/officeDocument/2006/relationships/tags" Target="../tags/tag157.xml"/><Relationship Id="rId14" Type="http://schemas.openxmlformats.org/officeDocument/2006/relationships/tags" Target="../tags/tag162.xml"/><Relationship Id="rId22" Type="http://schemas.openxmlformats.org/officeDocument/2006/relationships/tags" Target="../tags/tag170.xml"/><Relationship Id="rId27" Type="http://schemas.openxmlformats.org/officeDocument/2006/relationships/tags" Target="../tags/tag175.xml"/><Relationship Id="rId30" Type="http://schemas.openxmlformats.org/officeDocument/2006/relationships/tags" Target="../tags/tag178.xml"/><Relationship Id="rId35" Type="http://schemas.openxmlformats.org/officeDocument/2006/relationships/slideLayout" Target="../slideLayouts/slideLayout1.xml"/><Relationship Id="rId8" Type="http://schemas.openxmlformats.org/officeDocument/2006/relationships/tags" Target="../tags/tag156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tags" Target="../tags/tag185.xml"/><Relationship Id="rId2" Type="http://schemas.openxmlformats.org/officeDocument/2006/relationships/tags" Target="../tags/tag184.xml"/><Relationship Id="rId1" Type="http://schemas.openxmlformats.org/officeDocument/2006/relationships/tags" Target="../tags/tag183.xml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186.xml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tags" Target="../tags/tag194.xml"/><Relationship Id="rId13" Type="http://schemas.openxmlformats.org/officeDocument/2006/relationships/tags" Target="../tags/tag199.xml"/><Relationship Id="rId3" Type="http://schemas.openxmlformats.org/officeDocument/2006/relationships/tags" Target="../tags/tag189.xml"/><Relationship Id="rId7" Type="http://schemas.openxmlformats.org/officeDocument/2006/relationships/tags" Target="../tags/tag193.xml"/><Relationship Id="rId12" Type="http://schemas.openxmlformats.org/officeDocument/2006/relationships/tags" Target="../tags/tag198.xml"/><Relationship Id="rId2" Type="http://schemas.openxmlformats.org/officeDocument/2006/relationships/tags" Target="../tags/tag188.xml"/><Relationship Id="rId1" Type="http://schemas.openxmlformats.org/officeDocument/2006/relationships/tags" Target="../tags/tag187.xml"/><Relationship Id="rId6" Type="http://schemas.openxmlformats.org/officeDocument/2006/relationships/tags" Target="../tags/tag192.xml"/><Relationship Id="rId11" Type="http://schemas.openxmlformats.org/officeDocument/2006/relationships/tags" Target="../tags/tag197.xml"/><Relationship Id="rId5" Type="http://schemas.openxmlformats.org/officeDocument/2006/relationships/tags" Target="../tags/tag191.xml"/><Relationship Id="rId15" Type="http://schemas.openxmlformats.org/officeDocument/2006/relationships/slideLayout" Target="../slideLayouts/slideLayout1.xml"/><Relationship Id="rId10" Type="http://schemas.openxmlformats.org/officeDocument/2006/relationships/tags" Target="../tags/tag196.xml"/><Relationship Id="rId4" Type="http://schemas.openxmlformats.org/officeDocument/2006/relationships/tags" Target="../tags/tag190.xml"/><Relationship Id="rId9" Type="http://schemas.openxmlformats.org/officeDocument/2006/relationships/tags" Target="../tags/tag195.xml"/><Relationship Id="rId14" Type="http://schemas.openxmlformats.org/officeDocument/2006/relationships/tags" Target="../tags/tag200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tags" Target="../tags/tag203.xml"/><Relationship Id="rId2" Type="http://schemas.openxmlformats.org/officeDocument/2006/relationships/tags" Target="../tags/tag202.xml"/><Relationship Id="rId1" Type="http://schemas.openxmlformats.org/officeDocument/2006/relationships/tags" Target="../tags/tag201.xml"/><Relationship Id="rId6" Type="http://schemas.openxmlformats.org/officeDocument/2006/relationships/slideLayout" Target="../slideLayouts/slideLayout1.xml"/><Relationship Id="rId5" Type="http://schemas.openxmlformats.org/officeDocument/2006/relationships/tags" Target="../tags/tag205.xml"/><Relationship Id="rId4" Type="http://schemas.openxmlformats.org/officeDocument/2006/relationships/tags" Target="../tags/tag204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hyperlink" Target="&#53076;&#47112;&#51068;&#53580;&#53356;ISP&#48372;&#44256;&#49436;_4.&#51060;&#54665;&#44228;&#54925;%20&#49688;&#47549;.pptx" TargetMode="Externa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smtClean="0">
                <a:solidFill>
                  <a:srgbClr val="00437A"/>
                </a:solidFill>
                <a:latin typeface="+mn-ea"/>
              </a:rPr>
              <a:t>Ⅲ. </a:t>
            </a:r>
            <a:r>
              <a:rPr lang="ko-KR" altLang="en-US" sz="2400" b="1" spc="-300" dirty="0">
                <a:solidFill>
                  <a:srgbClr val="00437A"/>
                </a:solidFill>
                <a:latin typeface="+mn-ea"/>
              </a:rPr>
              <a:t>목표모델 설계</a:t>
            </a:r>
            <a:endParaRPr lang="en-US" altLang="ko-KR" sz="2400" b="1" spc="-300" dirty="0">
              <a:solidFill>
                <a:srgbClr val="00437A"/>
              </a:solidFill>
              <a:latin typeface="+mn-ea"/>
            </a:endParaRPr>
          </a:p>
        </p:txBody>
      </p:sp>
      <p:sp>
        <p:nvSpPr>
          <p:cNvPr id="8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목표모델 수립 개요</a:t>
            </a:r>
            <a:endParaRPr lang="en-US" altLang="ko-KR" dirty="0"/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개선과제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 </a:t>
            </a:r>
            <a:r>
              <a:rPr lang="ko-KR" altLang="en-US">
                <a:solidFill>
                  <a:schemeClr val="bg1">
                    <a:lumMod val="65000"/>
                  </a:schemeClr>
                </a:solidFill>
              </a:rPr>
              <a:t>업무프로세스 </a:t>
            </a:r>
            <a:r>
              <a:rPr lang="ko-KR" altLang="en-US" smtClean="0">
                <a:solidFill>
                  <a:schemeClr val="bg1">
                    <a:lumMod val="65000"/>
                  </a:schemeClr>
                </a:solidFill>
              </a:rPr>
              <a:t>설계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795869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22">
            <a:extLst>
              <a:ext uri="{FF2B5EF4-FFF2-40B4-BE49-F238E27FC236}">
                <a16:creationId xmlns="" xmlns:a16="http://schemas.microsoft.com/office/drawing/2014/main" id="{18294783-8E43-4A9E-A9BD-96B47B8B01E7}"/>
              </a:ext>
            </a:extLst>
          </p:cNvPr>
          <p:cNvGrpSpPr/>
          <p:nvPr/>
        </p:nvGrpSpPr>
        <p:grpSpPr>
          <a:xfrm>
            <a:off x="344489" y="1700808"/>
            <a:ext cx="9171420" cy="4660642"/>
            <a:chOff x="354519" y="1592796"/>
            <a:chExt cx="6594107" cy="4660642"/>
          </a:xfrm>
        </p:grpSpPr>
        <p:sp>
          <p:nvSpPr>
            <p:cNvPr id="24" name="직사각형 23">
              <a:extLst>
                <a:ext uri="{FF2B5EF4-FFF2-40B4-BE49-F238E27FC236}">
                  <a16:creationId xmlns="" xmlns:a16="http://schemas.microsoft.com/office/drawing/2014/main" id="{E77115C3-88BF-4540-A2DD-753F921D7372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00437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목표모델 설계 접근 방법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endParaRPr>
            </a:p>
          </p:txBody>
        </p:sp>
        <p:sp>
          <p:nvSpPr>
            <p:cNvPr id="25" name="Rectangle 4">
              <a:extLst>
                <a:ext uri="{FF2B5EF4-FFF2-40B4-BE49-F238E27FC236}">
                  <a16:creationId xmlns="" xmlns:a16="http://schemas.microsoft.com/office/drawing/2014/main" id="{CF5FE0C6-E184-4DBA-89C4-9C0563440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2025588"/>
              <a:ext cx="6594107" cy="42278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목표모델 설계 단계에서는 추진전략 기반 개선과제의 체계도 및 개선사항 </a:t>
            </a:r>
            <a:r>
              <a:rPr lang="ko-KR" altLang="en-US" sz="1600"/>
              <a:t>수립과 </a:t>
            </a:r>
            <a:r>
              <a:rPr lang="ko-KR" altLang="en-US" sz="1600" smtClean="0"/>
              <a:t>예산관리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회계관리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구매관리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사업관리 업무를 </a:t>
            </a:r>
            <a:r>
              <a:rPr lang="ko-KR" altLang="en-US" sz="1600" dirty="0"/>
              <a:t>대상으로 </a:t>
            </a:r>
            <a:r>
              <a:rPr lang="ko-KR" altLang="en-US" sz="1600"/>
              <a:t>목표 </a:t>
            </a:r>
            <a:r>
              <a:rPr lang="ko-KR" altLang="en-US" sz="1600" smtClean="0"/>
              <a:t>업무 프로세스를 정의하고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최우선 수행과제인  데이터베이스 표준화 방안과 데이터 마이그레이션 개선안을 정의함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1.1 </a:t>
            </a:r>
            <a:r>
              <a:rPr lang="ko-KR" altLang="en-US" dirty="0"/>
              <a:t>목표모델 수립 개요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r>
              <a:rPr lang="en-US" altLang="ko-KR" dirty="0"/>
              <a:t>1. </a:t>
            </a:r>
            <a:r>
              <a:rPr lang="ko-KR" altLang="en-US" dirty="0"/>
              <a:t>목표모델 수립 개요</a:t>
            </a:r>
            <a:endParaRPr lang="en-US" altLang="ko-KR" dirty="0"/>
          </a:p>
        </p:txBody>
      </p:sp>
      <p:grpSp>
        <p:nvGrpSpPr>
          <p:cNvPr id="23" name="그룹 22"/>
          <p:cNvGrpSpPr/>
          <p:nvPr/>
        </p:nvGrpSpPr>
        <p:grpSpPr>
          <a:xfrm>
            <a:off x="592366" y="2133600"/>
            <a:ext cx="8721269" cy="4080912"/>
            <a:chOff x="732230" y="2060849"/>
            <a:chExt cx="8721269" cy="4153663"/>
          </a:xfrm>
        </p:grpSpPr>
        <p:sp>
          <p:nvSpPr>
            <p:cNvPr id="44" name="Freeform 56">
              <a:extLst>
                <a:ext uri="{FF2B5EF4-FFF2-40B4-BE49-F238E27FC236}">
                  <a16:creationId xmlns="" xmlns:a16="http://schemas.microsoft.com/office/drawing/2014/main" id="{75E3C218-015C-47FC-98D0-4B04228B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230" y="2700768"/>
              <a:ext cx="8721269" cy="548154"/>
            </a:xfrm>
            <a:custGeom>
              <a:avLst/>
              <a:gdLst>
                <a:gd name="connsiteX0" fmla="*/ 3462 w 10828"/>
                <a:gd name="connsiteY0" fmla="*/ 133 h 10000"/>
                <a:gd name="connsiteX1" fmla="*/ 2051 w 10828"/>
                <a:gd name="connsiteY1" fmla="*/ 0 h 10000"/>
                <a:gd name="connsiteX2" fmla="*/ 0 w 10828"/>
                <a:gd name="connsiteY2" fmla="*/ 10000 h 10000"/>
                <a:gd name="connsiteX3" fmla="*/ 10828 w 10828"/>
                <a:gd name="connsiteY3" fmla="*/ 10000 h 10000"/>
                <a:gd name="connsiteX4" fmla="*/ 3462 w 10828"/>
                <a:gd name="connsiteY4" fmla="*/ 133 h 10000"/>
                <a:gd name="connsiteX0" fmla="*/ 3509 w 10828"/>
                <a:gd name="connsiteY0" fmla="*/ 0 h 11121"/>
                <a:gd name="connsiteX1" fmla="*/ 2051 w 10828"/>
                <a:gd name="connsiteY1" fmla="*/ 1121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3509 w 10828"/>
                <a:gd name="connsiteY4" fmla="*/ 0 h 11121"/>
                <a:gd name="connsiteX0" fmla="*/ 3509 w 10828"/>
                <a:gd name="connsiteY0" fmla="*/ 0 h 11121"/>
                <a:gd name="connsiteX1" fmla="*/ 2083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3509 w 10828"/>
                <a:gd name="connsiteY4" fmla="*/ 0 h 11121"/>
                <a:gd name="connsiteX0" fmla="*/ 3509 w 10828"/>
                <a:gd name="connsiteY0" fmla="*/ 0 h 11121"/>
                <a:gd name="connsiteX1" fmla="*/ 2178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3509 w 10828"/>
                <a:gd name="connsiteY4" fmla="*/ 0 h 11121"/>
                <a:gd name="connsiteX0" fmla="*/ 3509 w 10828"/>
                <a:gd name="connsiteY0" fmla="*/ 0 h 11121"/>
                <a:gd name="connsiteX1" fmla="*/ 2915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3509 w 10828"/>
                <a:gd name="connsiteY4" fmla="*/ 0 h 11121"/>
                <a:gd name="connsiteX0" fmla="*/ 4246 w 10828"/>
                <a:gd name="connsiteY0" fmla="*/ 0 h 11121"/>
                <a:gd name="connsiteX1" fmla="*/ 2915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4246 w 10828"/>
                <a:gd name="connsiteY4" fmla="*/ 0 h 11121"/>
                <a:gd name="connsiteX0" fmla="*/ 5913 w 10828"/>
                <a:gd name="connsiteY0" fmla="*/ 0 h 11121"/>
                <a:gd name="connsiteX1" fmla="*/ 2915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5913 w 10828"/>
                <a:gd name="connsiteY4" fmla="*/ 0 h 11121"/>
                <a:gd name="connsiteX0" fmla="*/ 5913 w 10828"/>
                <a:gd name="connsiteY0" fmla="*/ 0 h 11121"/>
                <a:gd name="connsiteX1" fmla="*/ 4476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5913 w 10828"/>
                <a:gd name="connsiteY4" fmla="*/ 0 h 11121"/>
                <a:gd name="connsiteX0" fmla="*/ 5913 w 10828"/>
                <a:gd name="connsiteY0" fmla="*/ 0 h 11121"/>
                <a:gd name="connsiteX1" fmla="*/ 3774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5913 w 10828"/>
                <a:gd name="connsiteY4" fmla="*/ 0 h 11121"/>
                <a:gd name="connsiteX0" fmla="*/ 5227 w 10828"/>
                <a:gd name="connsiteY0" fmla="*/ 0 h 11380"/>
                <a:gd name="connsiteX1" fmla="*/ 3774 w 10828"/>
                <a:gd name="connsiteY1" fmla="*/ 259 h 11380"/>
                <a:gd name="connsiteX2" fmla="*/ 0 w 10828"/>
                <a:gd name="connsiteY2" fmla="*/ 11380 h 11380"/>
                <a:gd name="connsiteX3" fmla="*/ 10828 w 10828"/>
                <a:gd name="connsiteY3" fmla="*/ 11380 h 11380"/>
                <a:gd name="connsiteX4" fmla="*/ 5227 w 10828"/>
                <a:gd name="connsiteY4" fmla="*/ 0 h 11380"/>
                <a:gd name="connsiteX0" fmla="*/ 5305 w 10828"/>
                <a:gd name="connsiteY0" fmla="*/ 0 h 11121"/>
                <a:gd name="connsiteX1" fmla="*/ 3774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5305 w 10828"/>
                <a:gd name="connsiteY4" fmla="*/ 0 h 11121"/>
                <a:gd name="connsiteX0" fmla="*/ 5784 w 10828"/>
                <a:gd name="connsiteY0" fmla="*/ 0 h 11121"/>
                <a:gd name="connsiteX1" fmla="*/ 3774 w 10828"/>
                <a:gd name="connsiteY1" fmla="*/ 0 h 11121"/>
                <a:gd name="connsiteX2" fmla="*/ 0 w 10828"/>
                <a:gd name="connsiteY2" fmla="*/ 11121 h 11121"/>
                <a:gd name="connsiteX3" fmla="*/ 10828 w 10828"/>
                <a:gd name="connsiteY3" fmla="*/ 11121 h 11121"/>
                <a:gd name="connsiteX4" fmla="*/ 5784 w 10828"/>
                <a:gd name="connsiteY4" fmla="*/ 0 h 11121"/>
                <a:gd name="connsiteX0" fmla="*/ 5784 w 10828"/>
                <a:gd name="connsiteY0" fmla="*/ 396 h 11517"/>
                <a:gd name="connsiteX1" fmla="*/ 4431 w 10828"/>
                <a:gd name="connsiteY1" fmla="*/ 0 h 11517"/>
                <a:gd name="connsiteX2" fmla="*/ 0 w 10828"/>
                <a:gd name="connsiteY2" fmla="*/ 11517 h 11517"/>
                <a:gd name="connsiteX3" fmla="*/ 10828 w 10828"/>
                <a:gd name="connsiteY3" fmla="*/ 11517 h 11517"/>
                <a:gd name="connsiteX4" fmla="*/ 5784 w 10828"/>
                <a:gd name="connsiteY4" fmla="*/ 396 h 11517"/>
                <a:gd name="connsiteX0" fmla="*/ 5784 w 10828"/>
                <a:gd name="connsiteY0" fmla="*/ 1216 h 12337"/>
                <a:gd name="connsiteX1" fmla="*/ 1385 w 10828"/>
                <a:gd name="connsiteY1" fmla="*/ 0 h 12337"/>
                <a:gd name="connsiteX2" fmla="*/ 0 w 10828"/>
                <a:gd name="connsiteY2" fmla="*/ 12337 h 12337"/>
                <a:gd name="connsiteX3" fmla="*/ 10828 w 10828"/>
                <a:gd name="connsiteY3" fmla="*/ 12337 h 12337"/>
                <a:gd name="connsiteX4" fmla="*/ 5784 w 10828"/>
                <a:gd name="connsiteY4" fmla="*/ 1216 h 12337"/>
                <a:gd name="connsiteX0" fmla="*/ 3190 w 10828"/>
                <a:gd name="connsiteY0" fmla="*/ 232 h 12337"/>
                <a:gd name="connsiteX1" fmla="*/ 1385 w 10828"/>
                <a:gd name="connsiteY1" fmla="*/ 0 h 12337"/>
                <a:gd name="connsiteX2" fmla="*/ 0 w 10828"/>
                <a:gd name="connsiteY2" fmla="*/ 12337 h 12337"/>
                <a:gd name="connsiteX3" fmla="*/ 10828 w 10828"/>
                <a:gd name="connsiteY3" fmla="*/ 12337 h 12337"/>
                <a:gd name="connsiteX4" fmla="*/ 3190 w 10828"/>
                <a:gd name="connsiteY4" fmla="*/ 232 h 12337"/>
                <a:gd name="connsiteX0" fmla="*/ 3162 w 10828"/>
                <a:gd name="connsiteY0" fmla="*/ 0 h 12433"/>
                <a:gd name="connsiteX1" fmla="*/ 1385 w 10828"/>
                <a:gd name="connsiteY1" fmla="*/ 96 h 12433"/>
                <a:gd name="connsiteX2" fmla="*/ 0 w 10828"/>
                <a:gd name="connsiteY2" fmla="*/ 12433 h 12433"/>
                <a:gd name="connsiteX3" fmla="*/ 10828 w 10828"/>
                <a:gd name="connsiteY3" fmla="*/ 12433 h 12433"/>
                <a:gd name="connsiteX4" fmla="*/ 3162 w 10828"/>
                <a:gd name="connsiteY4" fmla="*/ 0 h 12433"/>
                <a:gd name="connsiteX0" fmla="*/ 5246 w 10828"/>
                <a:gd name="connsiteY0" fmla="*/ 506 h 12337"/>
                <a:gd name="connsiteX1" fmla="*/ 1385 w 10828"/>
                <a:gd name="connsiteY1" fmla="*/ 0 h 12337"/>
                <a:gd name="connsiteX2" fmla="*/ 0 w 10828"/>
                <a:gd name="connsiteY2" fmla="*/ 12337 h 12337"/>
                <a:gd name="connsiteX3" fmla="*/ 10828 w 10828"/>
                <a:gd name="connsiteY3" fmla="*/ 12337 h 12337"/>
                <a:gd name="connsiteX4" fmla="*/ 5246 w 10828"/>
                <a:gd name="connsiteY4" fmla="*/ 506 h 12337"/>
                <a:gd name="connsiteX0" fmla="*/ 5246 w 10828"/>
                <a:gd name="connsiteY0" fmla="*/ 0 h 11831"/>
                <a:gd name="connsiteX1" fmla="*/ 3300 w 10828"/>
                <a:gd name="connsiteY1" fmla="*/ 397 h 11831"/>
                <a:gd name="connsiteX2" fmla="*/ 0 w 10828"/>
                <a:gd name="connsiteY2" fmla="*/ 11831 h 11831"/>
                <a:gd name="connsiteX3" fmla="*/ 10828 w 10828"/>
                <a:gd name="connsiteY3" fmla="*/ 11831 h 11831"/>
                <a:gd name="connsiteX4" fmla="*/ 5246 w 10828"/>
                <a:gd name="connsiteY4" fmla="*/ 0 h 11831"/>
                <a:gd name="connsiteX0" fmla="*/ 6907 w 10828"/>
                <a:gd name="connsiteY0" fmla="*/ 0 h 11831"/>
                <a:gd name="connsiteX1" fmla="*/ 3300 w 10828"/>
                <a:gd name="connsiteY1" fmla="*/ 397 h 11831"/>
                <a:gd name="connsiteX2" fmla="*/ 0 w 10828"/>
                <a:gd name="connsiteY2" fmla="*/ 11831 h 11831"/>
                <a:gd name="connsiteX3" fmla="*/ 10828 w 10828"/>
                <a:gd name="connsiteY3" fmla="*/ 11831 h 11831"/>
                <a:gd name="connsiteX4" fmla="*/ 6907 w 10828"/>
                <a:gd name="connsiteY4" fmla="*/ 0 h 11831"/>
                <a:gd name="connsiteX0" fmla="*/ 6907 w 10828"/>
                <a:gd name="connsiteY0" fmla="*/ 765 h 12596"/>
                <a:gd name="connsiteX1" fmla="*/ 5192 w 10828"/>
                <a:gd name="connsiteY1" fmla="*/ 0 h 12596"/>
                <a:gd name="connsiteX2" fmla="*/ 0 w 10828"/>
                <a:gd name="connsiteY2" fmla="*/ 12596 h 12596"/>
                <a:gd name="connsiteX3" fmla="*/ 10828 w 10828"/>
                <a:gd name="connsiteY3" fmla="*/ 12596 h 12596"/>
                <a:gd name="connsiteX4" fmla="*/ 6907 w 10828"/>
                <a:gd name="connsiteY4" fmla="*/ 765 h 12596"/>
                <a:gd name="connsiteX0" fmla="*/ 6907 w 10828"/>
                <a:gd name="connsiteY0" fmla="*/ 0 h 11831"/>
                <a:gd name="connsiteX1" fmla="*/ 5238 w 10828"/>
                <a:gd name="connsiteY1" fmla="*/ 231 h 11831"/>
                <a:gd name="connsiteX2" fmla="*/ 0 w 10828"/>
                <a:gd name="connsiteY2" fmla="*/ 11831 h 11831"/>
                <a:gd name="connsiteX3" fmla="*/ 10828 w 10828"/>
                <a:gd name="connsiteY3" fmla="*/ 11831 h 11831"/>
                <a:gd name="connsiteX4" fmla="*/ 6907 w 10828"/>
                <a:gd name="connsiteY4" fmla="*/ 0 h 11831"/>
                <a:gd name="connsiteX0" fmla="*/ 6907 w 10828"/>
                <a:gd name="connsiteY0" fmla="*/ 173 h 12004"/>
                <a:gd name="connsiteX1" fmla="*/ 4552 w 10828"/>
                <a:gd name="connsiteY1" fmla="*/ 0 h 12004"/>
                <a:gd name="connsiteX2" fmla="*/ 0 w 10828"/>
                <a:gd name="connsiteY2" fmla="*/ 12004 h 12004"/>
                <a:gd name="connsiteX3" fmla="*/ 10828 w 10828"/>
                <a:gd name="connsiteY3" fmla="*/ 12004 h 12004"/>
                <a:gd name="connsiteX4" fmla="*/ 6907 w 10828"/>
                <a:gd name="connsiteY4" fmla="*/ 173 h 12004"/>
                <a:gd name="connsiteX0" fmla="*/ 6750 w 10828"/>
                <a:gd name="connsiteY0" fmla="*/ 0 h 12235"/>
                <a:gd name="connsiteX1" fmla="*/ 4552 w 10828"/>
                <a:gd name="connsiteY1" fmla="*/ 231 h 12235"/>
                <a:gd name="connsiteX2" fmla="*/ 0 w 10828"/>
                <a:gd name="connsiteY2" fmla="*/ 12235 h 12235"/>
                <a:gd name="connsiteX3" fmla="*/ 10828 w 10828"/>
                <a:gd name="connsiteY3" fmla="*/ 12235 h 12235"/>
                <a:gd name="connsiteX4" fmla="*/ 6750 w 10828"/>
                <a:gd name="connsiteY4" fmla="*/ 0 h 1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28" h="12235">
                  <a:moveTo>
                    <a:pt x="6750" y="0"/>
                  </a:moveTo>
                  <a:lnTo>
                    <a:pt x="4552" y="231"/>
                  </a:lnTo>
                  <a:lnTo>
                    <a:pt x="0" y="12235"/>
                  </a:lnTo>
                  <a:lnTo>
                    <a:pt x="10828" y="12235"/>
                  </a:lnTo>
                  <a:lnTo>
                    <a:pt x="675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4678B4">
                    <a:lumMod val="60000"/>
                    <a:lumOff val="40000"/>
                    <a:tint val="66000"/>
                    <a:satMod val="160000"/>
                  </a:srgbClr>
                </a:gs>
                <a:gs pos="50000">
                  <a:srgbClr val="4678B4">
                    <a:lumMod val="60000"/>
                    <a:lumOff val="40000"/>
                    <a:tint val="44500"/>
                    <a:satMod val="160000"/>
                  </a:srgbClr>
                </a:gs>
                <a:gs pos="100000">
                  <a:srgbClr val="4678B4">
                    <a:lumMod val="60000"/>
                    <a:lumOff val="40000"/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6350" cap="flat" cmpd="sng">
              <a:noFill/>
              <a:prstDash val="dash"/>
              <a:round/>
              <a:headEnd type="none" w="med" len="med"/>
              <a:tailEnd type="none" w="med" len="med"/>
            </a:ln>
            <a:effectLst/>
          </p:spPr>
          <p:txBody>
            <a:bodyPr wrap="square" lIns="54000" tIns="0" rIns="54000" bIns="0">
              <a:noAutofit/>
            </a:bodyPr>
            <a:lstStyle/>
            <a:p>
              <a:pPr marL="0" marR="0" lvl="0" indent="0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Char char="•"/>
                <a:tabLst/>
                <a:defRPr/>
              </a:pPr>
              <a:endPara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5" name="Rectangle 50">
              <a:extLst>
                <a:ext uri="{FF2B5EF4-FFF2-40B4-BE49-F238E27FC236}">
                  <a16:creationId xmlns="" xmlns:a16="http://schemas.microsoft.com/office/drawing/2014/main" id="{BD23BE78-79F3-4F76-BC4F-554729E07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230" y="3248980"/>
              <a:ext cx="8721269" cy="2965532"/>
            </a:xfrm>
            <a:prstGeom prst="rect">
              <a:avLst/>
            </a:prstGeom>
            <a:noFill/>
            <a:ln w="76200">
              <a:solidFill>
                <a:srgbClr val="4678B4">
                  <a:lumMod val="40000"/>
                  <a:lumOff val="60000"/>
                </a:srgbClr>
              </a:solidFill>
              <a:miter lim="800000"/>
              <a:headEnd/>
              <a:tailEnd/>
            </a:ln>
            <a:effectLst/>
          </p:spPr>
          <p:txBody>
            <a:bodyPr lIns="54000" tIns="0" rIns="54000" bIns="0" anchor="ctr">
              <a:noAutofit/>
            </a:bodyPr>
            <a:lstStyle/>
            <a:p>
              <a:pPr marL="0" marR="0" lvl="0" indent="0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Char char="•"/>
                <a:tabLst/>
                <a:defRPr/>
              </a:pPr>
              <a:endPara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51" name="AutoShape 40">
              <a:extLst>
                <a:ext uri="{FF2B5EF4-FFF2-40B4-BE49-F238E27FC236}">
                  <a16:creationId xmlns="" xmlns:a16="http://schemas.microsoft.com/office/drawing/2014/main" id="{012372B6-C741-4DAD-B0A8-0B285D903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448" y="2060849"/>
              <a:ext cx="1967989" cy="648000"/>
            </a:xfrm>
            <a:prstGeom prst="homePlate">
              <a:avLst>
                <a:gd name="adj" fmla="val 32238"/>
              </a:avLst>
            </a:prstGeom>
            <a:solidFill>
              <a:sysClr val="window" lastClr="FFFFFF"/>
            </a:solidFill>
            <a:ln w="6350" algn="ctr">
              <a:solidFill>
                <a:sysClr val="windowText" lastClr="000000">
                  <a:lumMod val="65000"/>
                  <a:lumOff val="35000"/>
                </a:sysClr>
              </a:solidFill>
              <a:miter lim="800000"/>
              <a:headEnd/>
              <a:tailEnd/>
            </a:ln>
            <a:effectLst>
              <a:outerShdw blurRad="38100" dist="25400" dir="2700000" algn="tl" rotWithShape="0">
                <a:sysClr val="window" lastClr="FFFFFF">
                  <a:lumMod val="50000"/>
                </a:sysClr>
              </a:outerShdw>
            </a:effectLst>
          </p:spPr>
          <p:txBody>
            <a:bodyPr wrap="none" lIns="72000" tIns="0" rIns="0" bIns="72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srgbClr val="008400"/>
                </a:buClr>
              </a:pPr>
              <a:r>
                <a:rPr lang="ko-KR" altLang="en-US" sz="1400" b="1" kern="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+mn-ea"/>
                </a:rPr>
                <a:t>방향성 수립</a:t>
              </a:r>
            </a:p>
          </p:txBody>
        </p:sp>
        <p:sp>
          <p:nvSpPr>
            <p:cNvPr id="52" name="AutoShape 43">
              <a:extLst>
                <a:ext uri="{FF2B5EF4-FFF2-40B4-BE49-F238E27FC236}">
                  <a16:creationId xmlns="" xmlns:a16="http://schemas.microsoft.com/office/drawing/2014/main" id="{670B9918-5902-4996-B7B6-0391CDC93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100" y="2060849"/>
              <a:ext cx="1967989" cy="648000"/>
            </a:xfrm>
            <a:prstGeom prst="chevron">
              <a:avLst>
                <a:gd name="adj" fmla="val 31461"/>
              </a:avLst>
            </a:prstGeom>
            <a:solidFill>
              <a:srgbClr val="4678B4">
                <a:lumMod val="40000"/>
                <a:lumOff val="60000"/>
              </a:srgbClr>
            </a:solidFill>
            <a:ln w="6350" algn="ctr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sysClr val="windowText" lastClr="000000">
                  <a:lumMod val="50000"/>
                  <a:lumOff val="50000"/>
                </a:sysClr>
              </a:outerShdw>
            </a:effectLst>
          </p:spPr>
          <p:txBody>
            <a:bodyPr wrap="none" lIns="72000" tIns="0" rIns="0" bIns="72000" anchor="ctr"/>
            <a:lstStyle/>
            <a:p>
              <a:pPr algn="ctr" eaLnBrk="0" fontAlgn="base" latinLnBrk="0" hangingPunct="0">
                <a:spcAft>
                  <a:spcPct val="0"/>
                </a:spcAft>
                <a:buClr>
                  <a:srgbClr val="008400"/>
                </a:buClr>
              </a:pPr>
              <a:r>
                <a:rPr lang="ko-KR" altLang="en-US" sz="1400" b="1" kern="0" dirty="0">
                  <a:solidFill>
                    <a:prstClr val="black"/>
                  </a:solidFill>
                  <a:latin typeface="+mn-ea"/>
                </a:rPr>
                <a:t>목표모델 설계</a:t>
              </a:r>
            </a:p>
          </p:txBody>
        </p:sp>
        <p:sp>
          <p:nvSpPr>
            <p:cNvPr id="54" name="AutoShape 43">
              <a:extLst>
                <a:ext uri="{FF2B5EF4-FFF2-40B4-BE49-F238E27FC236}">
                  <a16:creationId xmlns="" xmlns:a16="http://schemas.microsoft.com/office/drawing/2014/main" id="{789D03E2-2AA1-4524-B24E-007A0A672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3281" y="2060849"/>
              <a:ext cx="1967989" cy="648000"/>
            </a:xfrm>
            <a:prstGeom prst="chevron">
              <a:avLst>
                <a:gd name="adj" fmla="val 31461"/>
              </a:avLst>
            </a:prstGeom>
            <a:solidFill>
              <a:sysClr val="window" lastClr="FFFFFF"/>
            </a:solidFill>
            <a:ln w="6350" algn="ctr">
              <a:solidFill>
                <a:sysClr val="windowText" lastClr="000000">
                  <a:lumMod val="65000"/>
                  <a:lumOff val="35000"/>
                </a:sysClr>
              </a:solidFill>
              <a:miter lim="800000"/>
              <a:headEnd/>
              <a:tailEnd/>
            </a:ln>
            <a:effectLst>
              <a:outerShdw blurRad="38100" dist="25400" dir="2700000" algn="tl" rotWithShape="0">
                <a:sysClr val="window" lastClr="FFFFFF">
                  <a:lumMod val="50000"/>
                </a:sysClr>
              </a:outerShdw>
            </a:effectLst>
          </p:spPr>
          <p:txBody>
            <a:bodyPr wrap="none" lIns="72000" tIns="0" rIns="0" bIns="7200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+mn-ea"/>
                </a:rPr>
                <a:t>이행계획 수립</a:t>
              </a:r>
            </a:p>
          </p:txBody>
        </p:sp>
        <p:sp>
          <p:nvSpPr>
            <p:cNvPr id="78" name="Rectangle 51">
              <a:extLst>
                <a:ext uri="{FF2B5EF4-FFF2-40B4-BE49-F238E27FC236}">
                  <a16:creationId xmlns="" xmlns:a16="http://schemas.microsoft.com/office/drawing/2014/main" id="{C9BD5AC5-D07C-4BE3-9788-D09E46DE7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808" y="4005064"/>
              <a:ext cx="1544112" cy="786905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sysClr val="windowText" lastClr="000000">
                  <a:lumMod val="50000"/>
                  <a:lumOff val="50000"/>
                </a:sysClr>
              </a:outerShdw>
            </a:effectLst>
          </p:spPr>
          <p:txBody>
            <a:bodyPr wrap="none" lIns="36000" tIns="36000" rIns="36000" bIns="36000" anchor="ctr" anchorCtr="1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목표모델</a:t>
              </a:r>
              <a:endPara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개선과제 정의</a:t>
              </a:r>
            </a:p>
          </p:txBody>
        </p:sp>
        <p:sp>
          <p:nvSpPr>
            <p:cNvPr id="79" name="Rectangle 51">
              <a:extLst>
                <a:ext uri="{FF2B5EF4-FFF2-40B4-BE49-F238E27FC236}">
                  <a16:creationId xmlns="" xmlns:a16="http://schemas.microsoft.com/office/drawing/2014/main" id="{A89C2E7E-7BE7-43E0-B2BD-B6FB995F3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3040" y="5018359"/>
              <a:ext cx="1544112" cy="786905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sysClr val="windowText" lastClr="000000">
                  <a:lumMod val="50000"/>
                  <a:lumOff val="50000"/>
                </a:sysClr>
              </a:outerShdw>
            </a:effectLst>
          </p:spPr>
          <p:txBody>
            <a:bodyPr wrap="none" lIns="36000" tIns="36000" rIns="36000" bIns="36000" anchor="ctr" anchorCtr="1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목표모델 </a:t>
              </a:r>
              <a:endParaRPr kumimoji="0" lang="en-US" altLang="ko-KR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업무프로세스 설계</a:t>
              </a:r>
            </a:p>
          </p:txBody>
        </p:sp>
        <p:sp>
          <p:nvSpPr>
            <p:cNvPr id="83" name="AutoShape 64">
              <a:extLst>
                <a:ext uri="{FF2B5EF4-FFF2-40B4-BE49-F238E27FC236}">
                  <a16:creationId xmlns="" xmlns:a16="http://schemas.microsoft.com/office/drawing/2014/main" id="{FEAB10E6-5687-4E99-9F04-A6566D8D9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1737" y="5018359"/>
              <a:ext cx="2339230" cy="786905"/>
            </a:xfrm>
            <a:prstGeom prst="wedgeRectCallout">
              <a:avLst>
                <a:gd name="adj1" fmla="val -58547"/>
                <a:gd name="adj2" fmla="val -19372"/>
              </a:avLst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/>
          </p:spPr>
          <p:txBody>
            <a:bodyPr lIns="72000" tIns="36000" rIns="36000" bIns="36000" anchor="ctr"/>
            <a:lstStyle/>
            <a:p>
              <a:pPr lvl="0" fontAlgn="base" latinLnBrk="0">
                <a:spcBef>
                  <a:spcPts val="600"/>
                </a:spcBef>
                <a:spcAft>
                  <a:spcPct val="0"/>
                </a:spcAft>
                <a:buClr>
                  <a:prstClr val="black"/>
                </a:buClr>
                <a:buSzPct val="80000"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+mn-ea"/>
                </a:rPr>
                <a:t>개선과제의 개선사항 </a:t>
              </a:r>
              <a:r>
                <a:rPr lang="ko-KR" altLang="en-US" sz="900" kern="0">
                  <a:solidFill>
                    <a:prstClr val="black"/>
                  </a:solidFill>
                  <a:latin typeface="+mn-ea"/>
                </a:rPr>
                <a:t>기반 </a:t>
              </a:r>
              <a:r>
                <a:rPr lang="ko-KR" altLang="en-US" sz="900"/>
                <a:t>예산관리</a:t>
              </a:r>
              <a:r>
                <a:rPr lang="en-US" altLang="ko-KR" sz="900"/>
                <a:t>, </a:t>
              </a:r>
              <a:r>
                <a:rPr lang="ko-KR" altLang="en-US" sz="900"/>
                <a:t>회계관리</a:t>
              </a:r>
              <a:r>
                <a:rPr lang="en-US" altLang="ko-KR" sz="900"/>
                <a:t>, </a:t>
              </a:r>
              <a:r>
                <a:rPr lang="ko-KR" altLang="en-US" sz="900"/>
                <a:t>자산관리</a:t>
              </a:r>
              <a:r>
                <a:rPr lang="en-US" altLang="ko-KR" sz="900"/>
                <a:t>, </a:t>
              </a:r>
              <a:r>
                <a:rPr lang="ko-KR" altLang="en-US" sz="900"/>
                <a:t>구매관리</a:t>
              </a:r>
              <a:r>
                <a:rPr lang="en-US" altLang="ko-KR" sz="900"/>
                <a:t>, </a:t>
              </a:r>
              <a:r>
                <a:rPr lang="ko-KR" altLang="en-US" sz="900" smtClean="0"/>
                <a:t>사업관리</a:t>
              </a:r>
              <a:r>
                <a:rPr lang="en-US" altLang="ko-KR" sz="900" smtClean="0"/>
                <a:t>,</a:t>
              </a:r>
              <a:r>
                <a:rPr lang="ko-KR" altLang="en-US" sz="900"/>
                <a:t> </a:t>
              </a:r>
              <a:r>
                <a:rPr lang="ko-KR" altLang="en-US" sz="900" smtClean="0"/>
                <a:t>데이터베이스</a:t>
              </a:r>
              <a:r>
                <a:rPr lang="en-US" altLang="ko-KR" sz="900" smtClean="0"/>
                <a:t> </a:t>
              </a:r>
              <a:r>
                <a:rPr lang="ko-KR" altLang="en-US" sz="900" smtClean="0"/>
                <a:t>표준화</a:t>
              </a:r>
              <a:r>
                <a:rPr lang="en-US" altLang="ko-KR" sz="900" smtClean="0"/>
                <a:t>, </a:t>
              </a:r>
              <a:r>
                <a:rPr lang="ko-KR" altLang="en-US" sz="900" smtClean="0"/>
                <a:t>데이터</a:t>
              </a:r>
              <a:r>
                <a:rPr lang="en-US" altLang="ko-KR" sz="900" smtClean="0"/>
                <a:t> </a:t>
              </a:r>
              <a:r>
                <a:rPr lang="ko-KR" altLang="en-US" sz="900" smtClean="0"/>
                <a:t>마이그레이션 을 </a:t>
              </a:r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대상으로 </a:t>
              </a:r>
              <a:r>
                <a:rPr lang="en-US" altLang="ko-KR" sz="900" kern="0" smtClean="0">
                  <a:solidFill>
                    <a:prstClr val="black"/>
                  </a:solidFill>
                  <a:latin typeface="+mn-ea"/>
                </a:rPr>
                <a:t>To-Be</a:t>
              </a:r>
              <a:r>
                <a:rPr lang="ko-KR" altLang="en-US" sz="900" kern="0" dirty="0">
                  <a:solidFill>
                    <a:prstClr val="black"/>
                  </a:solidFill>
                  <a:latin typeface="+mn-ea"/>
                </a:rPr>
                <a:t>의</a:t>
              </a:r>
              <a:r>
                <a:rPr lang="en-US" altLang="ko-KR" sz="900" kern="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lang="ko-KR" altLang="en-US" sz="900" kern="0" dirty="0">
                  <a:solidFill>
                    <a:prstClr val="black"/>
                  </a:solidFill>
                  <a:latin typeface="+mn-ea"/>
                </a:rPr>
                <a:t>업무기능 </a:t>
              </a:r>
              <a:r>
                <a:rPr lang="ko-KR" altLang="en-US" sz="900" kern="0">
                  <a:solidFill>
                    <a:prstClr val="black"/>
                  </a:solidFill>
                  <a:latin typeface="+mn-ea"/>
                </a:rPr>
                <a:t>및 </a:t>
              </a:r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업무 프로세스 </a:t>
              </a:r>
              <a:r>
                <a:rPr lang="ko-KR" altLang="en-US" sz="900" kern="0" dirty="0">
                  <a:solidFill>
                    <a:prstClr val="black"/>
                  </a:solidFill>
                  <a:latin typeface="+mn-ea"/>
                </a:rPr>
                <a:t>맵을 설계함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cxnSp>
          <p:nvCxnSpPr>
            <p:cNvPr id="87" name="연결선: 꺾임 86">
              <a:extLst>
                <a:ext uri="{FF2B5EF4-FFF2-40B4-BE49-F238E27FC236}">
                  <a16:creationId xmlns="" xmlns:a16="http://schemas.microsoft.com/office/drawing/2014/main" id="{F021B3C0-7C73-47C4-ACAF-9E3F58F47953}"/>
                </a:ext>
              </a:extLst>
            </p:cNvPr>
            <p:cNvCxnSpPr>
              <a:cxnSpLocks/>
              <a:stCxn id="78" idx="3"/>
              <a:endCxn id="79" idx="1"/>
            </p:cNvCxnSpPr>
            <p:nvPr/>
          </p:nvCxnSpPr>
          <p:spPr>
            <a:xfrm>
              <a:off x="4768920" y="4398517"/>
              <a:ext cx="544120" cy="1013295"/>
            </a:xfrm>
            <a:prstGeom prst="bentConnector3">
              <a:avLst>
                <a:gd name="adj1" fmla="val 50000"/>
              </a:avLst>
            </a:prstGeom>
            <a:ln w="63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AutoShape 64">
              <a:extLst>
                <a:ext uri="{FF2B5EF4-FFF2-40B4-BE49-F238E27FC236}">
                  <a16:creationId xmlns="" xmlns:a16="http://schemas.microsoft.com/office/drawing/2014/main" id="{5E3A79F7-4373-4094-BDA3-95BF312A0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552" y="4005064"/>
              <a:ext cx="2198025" cy="786905"/>
            </a:xfrm>
            <a:prstGeom prst="wedgeRectCallout">
              <a:avLst>
                <a:gd name="adj1" fmla="val 59852"/>
                <a:gd name="adj2" fmla="val -18412"/>
              </a:avLst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/>
          </p:spPr>
          <p:txBody>
            <a:bodyPr lIns="72000" tIns="36000" rIns="36000" bIns="36000" anchor="ctr"/>
            <a:lstStyle/>
            <a:p>
              <a:pPr lvl="0" fontAlgn="base" latinLnBrk="0">
                <a:spcBef>
                  <a:spcPts val="600"/>
                </a:spcBef>
                <a:spcAft>
                  <a:spcPct val="0"/>
                </a:spcAft>
                <a:buClr>
                  <a:prstClr val="black"/>
                </a:buClr>
                <a:buSzPct val="80000"/>
                <a:defRPr/>
              </a:pPr>
              <a:r>
                <a:rPr kumimoji="0" lang="ko-KR" altLang="en-US" sz="9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주요 개선 </a:t>
              </a:r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과제 정의 및 업무별 개선과제</a:t>
              </a:r>
              <a:r>
                <a:rPr lang="en-US" altLang="ko-KR" sz="900" kern="0" smtClean="0">
                  <a:solidFill>
                    <a:prstClr val="black"/>
                  </a:solidFill>
                  <a:latin typeface="+mn-ea"/>
                </a:rPr>
                <a:t>,</a:t>
              </a:r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lang="ko-KR" altLang="en-US" sz="900"/>
                <a:t>응용 아키텍처</a:t>
              </a:r>
              <a:r>
                <a:rPr lang="en-US" altLang="ko-KR" sz="900"/>
                <a:t>(AA) , </a:t>
              </a:r>
              <a:r>
                <a:rPr lang="ko-KR" altLang="en-US" sz="900"/>
                <a:t>데이터 아키텍처</a:t>
              </a:r>
              <a:r>
                <a:rPr lang="en-US" altLang="ko-KR" sz="900"/>
                <a:t>(DA)</a:t>
              </a:r>
              <a:r>
                <a:rPr lang="ko-KR" altLang="en-US" sz="900"/>
                <a:t> </a:t>
              </a:r>
              <a:r>
                <a:rPr lang="ko-KR" altLang="en-US" sz="900" smtClean="0"/>
                <a:t>개선과제</a:t>
              </a:r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 도출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36689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smtClean="0">
                <a:solidFill>
                  <a:srgbClr val="00437A"/>
                </a:solidFill>
                <a:latin typeface="+mn-ea"/>
              </a:rPr>
              <a:t>Ⅲ. </a:t>
            </a:r>
            <a:r>
              <a:rPr lang="ko-KR" altLang="en-US" sz="2400" b="1" spc="-300" smtClean="0">
                <a:solidFill>
                  <a:srgbClr val="00437A"/>
                </a:solidFill>
                <a:latin typeface="+mn-ea"/>
              </a:rPr>
              <a:t>목표모델 설계</a:t>
            </a:r>
            <a:endParaRPr lang="en-US" altLang="ko-KR" sz="2400" b="1" spc="-300" dirty="0">
              <a:solidFill>
                <a:srgbClr val="00437A"/>
              </a:solidFill>
              <a:latin typeface="+mn-ea"/>
            </a:endParaRPr>
          </a:p>
        </p:txBody>
      </p:sp>
      <p:sp>
        <p:nvSpPr>
          <p:cNvPr id="8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0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수립 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00000"/>
              </a:lnSpc>
              <a:buFont typeface="+mj-lt"/>
              <a:buAutoNum type="arabicPeriod"/>
            </a:pPr>
            <a:r>
              <a:rPr lang="ko-KR" altLang="en-US" dirty="0"/>
              <a:t>목표모델 개선과제 정의</a:t>
            </a:r>
            <a:endParaRPr lang="en-US" altLang="ko-KR" dirty="0"/>
          </a:p>
          <a:p>
            <a:pPr marL="457200" lvl="1" indent="0">
              <a:buNone/>
            </a:pPr>
            <a:r>
              <a:rPr lang="en-US" altLang="ko-KR" sz="1600">
                <a:solidFill>
                  <a:srgbClr val="00437A"/>
                </a:solidFill>
              </a:rPr>
              <a:t>2.1 </a:t>
            </a:r>
            <a:r>
              <a:rPr lang="ko-KR" altLang="en-US" sz="1600" smtClean="0">
                <a:solidFill>
                  <a:srgbClr val="00437A"/>
                </a:solidFill>
              </a:rPr>
              <a:t>개요</a:t>
            </a:r>
            <a:endParaRPr lang="en-US" altLang="ko-KR" sz="1600" smtClean="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2.2 </a:t>
            </a:r>
            <a:r>
              <a:rPr lang="ko-KR" altLang="en-US" sz="1600" smtClean="0">
                <a:solidFill>
                  <a:srgbClr val="00437A"/>
                </a:solidFill>
              </a:rPr>
              <a:t>기준정보 체계 </a:t>
            </a:r>
            <a:r>
              <a:rPr lang="ko-KR" altLang="en-US" sz="1600" dirty="0">
                <a:solidFill>
                  <a:srgbClr val="00437A"/>
                </a:solidFill>
              </a:rPr>
              <a:t>마련</a:t>
            </a:r>
            <a:endParaRPr lang="en-US" altLang="ko-KR" sz="1600" dirty="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2.3 </a:t>
            </a:r>
            <a:r>
              <a:rPr lang="ko-KR" altLang="en-US" sz="1600" smtClean="0">
                <a:solidFill>
                  <a:srgbClr val="00437A"/>
                </a:solidFill>
              </a:rPr>
              <a:t>예산관리 개선 </a:t>
            </a:r>
            <a:r>
              <a:rPr lang="ko-KR" altLang="en-US" sz="1600">
                <a:solidFill>
                  <a:srgbClr val="00437A"/>
                </a:solidFill>
              </a:rPr>
              <a:t>및 </a:t>
            </a:r>
            <a:r>
              <a:rPr lang="ko-KR" altLang="en-US" sz="1600" smtClean="0">
                <a:solidFill>
                  <a:srgbClr val="00437A"/>
                </a:solidFill>
              </a:rPr>
              <a:t>업무 효율화</a:t>
            </a:r>
            <a:endParaRPr lang="en-US" altLang="ko-KR" sz="1600" smtClean="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2.4 </a:t>
            </a:r>
            <a:r>
              <a:rPr lang="ko-KR" altLang="en-US" sz="1600" smtClean="0">
                <a:solidFill>
                  <a:srgbClr val="00437A"/>
                </a:solidFill>
              </a:rPr>
              <a:t>회계관리 </a:t>
            </a:r>
            <a:r>
              <a:rPr lang="ko-KR" altLang="en-US" sz="1600">
                <a:solidFill>
                  <a:srgbClr val="00437A"/>
                </a:solidFill>
              </a:rPr>
              <a:t>개선 및 업무 </a:t>
            </a:r>
            <a:r>
              <a:rPr lang="ko-KR" altLang="en-US" sz="1600" smtClean="0">
                <a:solidFill>
                  <a:srgbClr val="00437A"/>
                </a:solidFill>
              </a:rPr>
              <a:t>효율화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>
                <a:solidFill>
                  <a:srgbClr val="00437A"/>
                </a:solidFill>
              </a:rPr>
              <a:t>2.5 </a:t>
            </a:r>
            <a:r>
              <a:rPr lang="ko-KR" altLang="en-US" sz="1600" smtClean="0">
                <a:solidFill>
                  <a:srgbClr val="00437A"/>
                </a:solidFill>
              </a:rPr>
              <a:t>구매관리 개선 및 </a:t>
            </a:r>
            <a:r>
              <a:rPr lang="ko-KR" altLang="en-US" sz="1600">
                <a:solidFill>
                  <a:srgbClr val="00437A"/>
                </a:solidFill>
              </a:rPr>
              <a:t>업무 효율화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2.6 </a:t>
            </a:r>
            <a:r>
              <a:rPr lang="ko-KR" altLang="en-US" sz="1600" smtClean="0">
                <a:solidFill>
                  <a:srgbClr val="00437A"/>
                </a:solidFill>
              </a:rPr>
              <a:t>자산관리 개선 및 업무 </a:t>
            </a:r>
            <a:r>
              <a:rPr lang="ko-KR" altLang="en-US" sz="1600">
                <a:solidFill>
                  <a:srgbClr val="00437A"/>
                </a:solidFill>
              </a:rPr>
              <a:t>효율화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2.7 </a:t>
            </a:r>
            <a:r>
              <a:rPr lang="ko-KR" altLang="en-US" sz="1600" smtClean="0">
                <a:solidFill>
                  <a:srgbClr val="00437A"/>
                </a:solidFill>
              </a:rPr>
              <a:t>사업관리 개선 및 업무 </a:t>
            </a:r>
            <a:r>
              <a:rPr lang="ko-KR" altLang="en-US" sz="1600">
                <a:solidFill>
                  <a:srgbClr val="00437A"/>
                </a:solidFill>
              </a:rPr>
              <a:t>효율화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2.8 </a:t>
            </a:r>
            <a:r>
              <a:rPr lang="ko-KR" altLang="en-US" sz="1600" smtClean="0">
                <a:solidFill>
                  <a:srgbClr val="00437A"/>
                </a:solidFill>
              </a:rPr>
              <a:t>응용 아키텍쳐</a:t>
            </a:r>
            <a:r>
              <a:rPr lang="en-US" altLang="ko-KR" sz="1600" smtClean="0">
                <a:solidFill>
                  <a:srgbClr val="00437A"/>
                </a:solidFill>
              </a:rPr>
              <a:t>(</a:t>
            </a:r>
            <a:r>
              <a:rPr lang="en-US" altLang="ko-KR" sz="1600">
                <a:solidFill>
                  <a:srgbClr val="00437A"/>
                </a:solidFill>
              </a:rPr>
              <a:t>AA</a:t>
            </a:r>
            <a:r>
              <a:rPr lang="en-US" altLang="ko-KR" sz="1600" smtClean="0">
                <a:solidFill>
                  <a:srgbClr val="00437A"/>
                </a:solidFill>
              </a:rPr>
              <a:t>) </a:t>
            </a:r>
            <a:r>
              <a:rPr lang="ko-KR" altLang="en-US" sz="1600" smtClean="0">
                <a:solidFill>
                  <a:srgbClr val="00437A"/>
                </a:solidFill>
              </a:rPr>
              <a:t>표준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2.9 </a:t>
            </a:r>
            <a:r>
              <a:rPr lang="ko-KR" altLang="en-US" sz="1600">
                <a:solidFill>
                  <a:srgbClr val="00437A"/>
                </a:solidFill>
              </a:rPr>
              <a:t>데이터</a:t>
            </a:r>
            <a:r>
              <a:rPr lang="en-US" altLang="ko-KR" sz="1600">
                <a:solidFill>
                  <a:srgbClr val="00437A"/>
                </a:solidFill>
              </a:rPr>
              <a:t> </a:t>
            </a:r>
            <a:r>
              <a:rPr lang="ko-KR" altLang="en-US" sz="1600">
                <a:solidFill>
                  <a:srgbClr val="00437A"/>
                </a:solidFill>
              </a:rPr>
              <a:t>아키텍쳐</a:t>
            </a:r>
            <a:r>
              <a:rPr lang="en-US" altLang="ko-KR" sz="1600">
                <a:solidFill>
                  <a:srgbClr val="00437A"/>
                </a:solidFill>
              </a:rPr>
              <a:t>(DA</a:t>
            </a:r>
            <a:r>
              <a:rPr lang="en-US" altLang="ko-KR" sz="1600" smtClean="0">
                <a:solidFill>
                  <a:srgbClr val="00437A"/>
                </a:solidFill>
              </a:rPr>
              <a:t>) </a:t>
            </a:r>
            <a:r>
              <a:rPr lang="ko-KR" altLang="en-US" sz="1600" smtClean="0">
                <a:solidFill>
                  <a:srgbClr val="00437A"/>
                </a:solidFill>
              </a:rPr>
              <a:t>표준</a:t>
            </a:r>
            <a:endParaRPr lang="en-US" altLang="ko-KR" sz="1600">
              <a:solidFill>
                <a:srgbClr val="00437A"/>
              </a:solidFill>
            </a:endParaRPr>
          </a:p>
          <a:p>
            <a:pPr marL="457200" lvl="1" indent="0">
              <a:buNone/>
            </a:pPr>
            <a:r>
              <a:rPr lang="en-US" altLang="ko-KR" sz="1600" smtClean="0">
                <a:solidFill>
                  <a:srgbClr val="00437A"/>
                </a:solidFill>
              </a:rPr>
              <a:t>2.10 </a:t>
            </a:r>
            <a:r>
              <a:rPr lang="ko-KR" altLang="en-US" sz="1600">
                <a:solidFill>
                  <a:srgbClr val="00437A"/>
                </a:solidFill>
              </a:rPr>
              <a:t>데이터</a:t>
            </a:r>
            <a:r>
              <a:rPr lang="en-US" altLang="ko-KR" sz="1600">
                <a:solidFill>
                  <a:srgbClr val="00437A"/>
                </a:solidFill>
              </a:rPr>
              <a:t> </a:t>
            </a:r>
            <a:r>
              <a:rPr lang="ko-KR" altLang="en-US" sz="1600" smtClean="0">
                <a:solidFill>
                  <a:srgbClr val="00437A"/>
                </a:solidFill>
              </a:rPr>
              <a:t>관리체계 표준화 방안 수립</a:t>
            </a:r>
            <a:r>
              <a:rPr lang="en-US" altLang="ko-KR" sz="1600" smtClean="0">
                <a:solidFill>
                  <a:srgbClr val="00437A"/>
                </a:solidFill>
              </a:rPr>
              <a:t> </a:t>
            </a:r>
            <a:endParaRPr lang="en-US" altLang="ko-KR" sz="1600">
              <a:solidFill>
                <a:srgbClr val="00437A"/>
              </a:solidFill>
            </a:endParaRPr>
          </a:p>
          <a:p>
            <a:pPr>
              <a:lnSpc>
                <a:spcPct val="100000"/>
              </a:lnSpc>
              <a:buAutoNum type="arabicPeriod"/>
            </a:pPr>
            <a:r>
              <a:rPr lang="ko-KR" altLang="en-US" smtClean="0">
                <a:solidFill>
                  <a:schemeClr val="bg1">
                    <a:lumMod val="65000"/>
                  </a:schemeClr>
                </a:solidFill>
              </a:rPr>
              <a:t>목표 업무프로세스 설계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74065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목표모델 개선과제 </a:t>
            </a:r>
            <a:r>
              <a:rPr lang="ko-KR" altLang="en-US" sz="1600"/>
              <a:t>정의에서는 </a:t>
            </a:r>
            <a:r>
              <a:rPr lang="ko-KR" altLang="en-US" sz="1600" smtClean="0"/>
              <a:t>경영정보시스템 업무 및 운영 환경별로 효율적인 개선을 위해 주요 개선과제를 정의하여 구현 작업 수행시 중점 관리하도록 권고함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2.1 </a:t>
            </a:r>
            <a:r>
              <a:rPr lang="ko-KR" altLang="en-US" dirty="0"/>
              <a:t>개요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2.1.1 </a:t>
            </a:r>
            <a:r>
              <a:rPr lang="ko-KR" altLang="en-US" smtClean="0"/>
              <a:t>목표모델 개선과제 수립절차</a:t>
            </a:r>
            <a:r>
              <a:rPr lang="en-US" altLang="ko-KR" smtClean="0"/>
              <a:t>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개요</a:t>
            </a:r>
            <a:endParaRPr lang="en-US" altLang="ko-KR" dirty="0"/>
          </a:p>
        </p:txBody>
      </p:sp>
      <p:sp>
        <p:nvSpPr>
          <p:cNvPr id="147" name="직사각형 146">
            <a:extLst>
              <a:ext uri="{FF2B5EF4-FFF2-40B4-BE49-F238E27FC236}">
                <a16:creationId xmlns="" xmlns:a16="http://schemas.microsoft.com/office/drawing/2014/main" id="{4971C708-4330-43A6-BB03-2783B6E1B783}"/>
              </a:ext>
            </a:extLst>
          </p:cNvPr>
          <p:cNvSpPr/>
          <p:nvPr/>
        </p:nvSpPr>
        <p:spPr bwMode="auto">
          <a:xfrm>
            <a:off x="344488" y="1628775"/>
            <a:ext cx="1236293" cy="536137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개선과제 </a:t>
            </a: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/>
            </a:r>
            <a:b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</a:b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정의 목적</a:t>
            </a:r>
            <a:endParaRPr lang="en-US" altLang="ko-KR" sz="12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="" xmlns:a16="http://schemas.microsoft.com/office/drawing/2014/main" id="{03D717DA-DAB2-4F11-822E-C9036E77810B}"/>
              </a:ext>
            </a:extLst>
          </p:cNvPr>
          <p:cNvSpPr/>
          <p:nvPr/>
        </p:nvSpPr>
        <p:spPr bwMode="auto">
          <a:xfrm>
            <a:off x="1674348" y="1628775"/>
            <a:ext cx="7848164" cy="535024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방향성수립 단계의 추진전략 </a:t>
            </a:r>
            <a:r>
              <a:rPr lang="ko-KR" altLang="en-US" sz="1200" b="1" kern="0">
                <a:solidFill>
                  <a:prstClr val="black"/>
                </a:solidFill>
                <a:latin typeface="+mn-ea"/>
              </a:rPr>
              <a:t>기반 </a:t>
            </a:r>
            <a:r>
              <a:rPr lang="ko-KR" altLang="en-US" sz="1200" b="1" kern="0" smtClean="0">
                <a:solidFill>
                  <a:prstClr val="black"/>
                </a:solidFill>
                <a:latin typeface="+mn-ea"/>
              </a:rPr>
              <a:t>개선과제 도출 및 개선 과제별 </a:t>
            </a: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상세 내용을 수립함  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="" xmlns:a16="http://schemas.microsoft.com/office/drawing/2014/main" id="{25DA8CDC-D248-4210-99F3-77CF4E091E0D}"/>
              </a:ext>
            </a:extLst>
          </p:cNvPr>
          <p:cNvSpPr/>
          <p:nvPr/>
        </p:nvSpPr>
        <p:spPr bwMode="auto">
          <a:xfrm>
            <a:off x="344488" y="2247683"/>
            <a:ext cx="1236293" cy="972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수행 업무</a:t>
            </a:r>
            <a:endParaRPr lang="en-US" altLang="ko-KR" sz="12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="" xmlns:a16="http://schemas.microsoft.com/office/drawing/2014/main" id="{DDBD85BD-0319-4CDD-81B5-C3CEFA468A52}"/>
              </a:ext>
            </a:extLst>
          </p:cNvPr>
          <p:cNvSpPr/>
          <p:nvPr/>
        </p:nvSpPr>
        <p:spPr bwMode="auto">
          <a:xfrm>
            <a:off x="1674348" y="2247682"/>
            <a:ext cx="7848164" cy="972000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lvl="0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smtClean="0">
                <a:solidFill>
                  <a:prstClr val="black"/>
                </a:solidFill>
                <a:latin typeface="+mn-ea"/>
              </a:rPr>
              <a:t>경영정보시스템의 </a:t>
            </a:r>
            <a:r>
              <a:rPr lang="ko-KR" altLang="en-US" sz="1200" b="1" kern="0">
                <a:solidFill>
                  <a:prstClr val="black"/>
                </a:solidFill>
                <a:latin typeface="+mn-ea"/>
              </a:rPr>
              <a:t>추진전략 </a:t>
            </a:r>
            <a:r>
              <a:rPr lang="ko-KR" altLang="en-US" sz="1200" b="1" kern="0" smtClean="0">
                <a:solidFill>
                  <a:prstClr val="black"/>
                </a:solidFill>
                <a:latin typeface="+mn-ea"/>
              </a:rPr>
              <a:t>기반의 개선과제 목록을 </a:t>
            </a: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도출함</a:t>
            </a:r>
            <a:endParaRPr lang="en-US" altLang="ko-KR" sz="1200" b="1" kern="0" dirty="0">
              <a:solidFill>
                <a:prstClr val="black"/>
              </a:solidFill>
              <a:latin typeface="+mn-ea"/>
            </a:endParaRPr>
          </a:p>
          <a:p>
            <a:pPr marL="93663" lvl="0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smtClean="0">
                <a:solidFill>
                  <a:prstClr val="black"/>
                </a:solidFill>
                <a:latin typeface="+mn-ea"/>
              </a:rPr>
              <a:t>대상 업무의 주요 개선 사항 및 업무 효율화 방안을 </a:t>
            </a: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정의함</a:t>
            </a:r>
            <a:endParaRPr lang="en-US" altLang="ko-KR" sz="1200" b="1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5" name="이등변 삼각형 184">
            <a:extLst>
              <a:ext uri="{FF2B5EF4-FFF2-40B4-BE49-F238E27FC236}">
                <a16:creationId xmlns="" xmlns:a16="http://schemas.microsoft.com/office/drawing/2014/main" id="{EBA556C0-4EB3-4B72-8072-B64D367174AB}"/>
              </a:ext>
            </a:extLst>
          </p:cNvPr>
          <p:cNvSpPr/>
          <p:nvPr/>
        </p:nvSpPr>
        <p:spPr bwMode="auto">
          <a:xfrm flipV="1">
            <a:off x="3726371" y="5508533"/>
            <a:ext cx="2197465" cy="221941"/>
          </a:xfrm>
          <a:prstGeom prst="triangle">
            <a:avLst/>
          </a:prstGeom>
          <a:solidFill>
            <a:srgbClr val="4678B4">
              <a:lumMod val="60000"/>
              <a:lumOff val="40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="" xmlns:a16="http://schemas.microsoft.com/office/drawing/2014/main" id="{FBF839FF-3329-4AF2-9EFA-955151901F75}"/>
              </a:ext>
            </a:extLst>
          </p:cNvPr>
          <p:cNvSpPr/>
          <p:nvPr/>
        </p:nvSpPr>
        <p:spPr bwMode="auto">
          <a:xfrm>
            <a:off x="344488" y="3621989"/>
            <a:ext cx="4464494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34328" y="3289077"/>
            <a:ext cx="4474654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uLnTx/>
                <a:uFillTx/>
                <a:latin typeface="+mn-ea"/>
              </a:rPr>
              <a:t>개선점 도출</a:t>
            </a:r>
            <a:endParaRPr kumimoji="0" lang="en-US" altLang="ko-KR" sz="1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uLnTx/>
              <a:uFillTx/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="" xmlns:a16="http://schemas.microsoft.com/office/drawing/2014/main" id="{120E786F-7681-45B7-B8C8-2DD9AE65BA10}"/>
              </a:ext>
            </a:extLst>
          </p:cNvPr>
          <p:cNvSpPr/>
          <p:nvPr/>
        </p:nvSpPr>
        <p:spPr>
          <a:xfrm>
            <a:off x="344926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본 사업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범위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예산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회계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자산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구매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사업관리</a:t>
            </a:r>
            <a:r>
              <a:rPr lang="en-US" altLang="ko-KR" sz="1200" kern="0" smtClean="0">
                <a:solidFill>
                  <a:prstClr val="black"/>
                </a:solidFill>
                <a:latin typeface="+mn-ea"/>
              </a:rPr>
              <a:t>)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대상으로 추진전략에 따른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개선과제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체계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및 개선과제 선정 목록을 도출함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95" name="Rectangle 53">
            <a:extLst>
              <a:ext uri="{FF2B5EF4-FFF2-40B4-BE49-F238E27FC236}">
                <a16:creationId xmlns="" xmlns:a16="http://schemas.microsoft.com/office/drawing/2014/main" id="{E70F1C44-6D48-443B-B688-624666084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274" y="4406044"/>
            <a:ext cx="1295916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lang="ko-KR" altLang="en-US" sz="1100" kern="0" dirty="0">
                <a:solidFill>
                  <a:srgbClr val="000000"/>
                </a:solidFill>
                <a:latin typeface="+mn-ea"/>
              </a:rPr>
              <a:t>개선과제</a:t>
            </a:r>
            <a:r>
              <a:rPr lang="en-US" altLang="ko-KR" sz="1100" kern="0">
                <a:solidFill>
                  <a:srgbClr val="000000"/>
                </a:solidFill>
                <a:latin typeface="+mn-ea"/>
              </a:rPr>
              <a:t/>
            </a:r>
            <a:br>
              <a:rPr lang="en-US" altLang="ko-KR" sz="1100" kern="0">
                <a:solidFill>
                  <a:srgbClr val="000000"/>
                </a:solidFill>
                <a:latin typeface="+mn-ea"/>
              </a:rPr>
            </a:br>
            <a:r>
              <a:rPr lang="ko-KR" altLang="en-US" sz="1100" kern="0" smtClean="0">
                <a:solidFill>
                  <a:srgbClr val="000000"/>
                </a:solidFill>
                <a:latin typeface="+mn-ea"/>
              </a:rPr>
              <a:t>체계</a:t>
            </a:r>
            <a:r>
              <a:rPr lang="en-US" altLang="ko-KR" sz="1100" kern="0" smtClean="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1100" kern="0" dirty="0">
                <a:solidFill>
                  <a:srgbClr val="000000"/>
                </a:solidFill>
                <a:latin typeface="+mn-ea"/>
              </a:rPr>
              <a:t>정의</a:t>
            </a:r>
            <a:endParaRPr kumimoji="0" lang="ko-KR" altLang="en-US" sz="1100" b="0" i="0" u="none" strike="noStrike" kern="0" cap="none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97" name="Rectangle 53">
            <a:extLst>
              <a:ext uri="{FF2B5EF4-FFF2-40B4-BE49-F238E27FC236}">
                <a16:creationId xmlns="" xmlns:a16="http://schemas.microsoft.com/office/drawing/2014/main" id="{CE6A39E6-6A41-4350-BBBA-FAD77E7D1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2163" y="4406044"/>
            <a:ext cx="1295916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개선과제 </a:t>
            </a:r>
            <a:endParaRPr kumimoji="0" lang="en-US" altLang="ko-KR" sz="1100" b="0" i="0" u="none" strike="noStrike" kern="0" cap="none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선정 목록</a:t>
            </a:r>
          </a:p>
        </p:txBody>
      </p:sp>
      <p:sp>
        <p:nvSpPr>
          <p:cNvPr id="213" name="직사각형 21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44488" y="5752562"/>
            <a:ext cx="9180000" cy="471537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/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 목표 업무프로세스 설계 및 정보시스템 아키텍처 정의에 적용</a:t>
            </a:r>
            <a:endParaRPr lang="en-US" altLang="ko-KR" sz="12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="" xmlns:a16="http://schemas.microsoft.com/office/drawing/2014/main" id="{3607A9E9-8D87-479B-AE72-B0380FE2AA7A}"/>
              </a:ext>
            </a:extLst>
          </p:cNvPr>
          <p:cNvSpPr/>
          <p:nvPr/>
        </p:nvSpPr>
        <p:spPr bwMode="auto">
          <a:xfrm>
            <a:off x="5070473" y="3621989"/>
            <a:ext cx="4454527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="" xmlns:a16="http://schemas.microsoft.com/office/drawing/2014/main" id="{F56FE926-019D-4DC3-A5CB-46B74808237D}"/>
              </a:ext>
            </a:extLst>
          </p:cNvPr>
          <p:cNvSpPr/>
          <p:nvPr/>
        </p:nvSpPr>
        <p:spPr bwMode="auto">
          <a:xfrm>
            <a:off x="5060313" y="3289077"/>
            <a:ext cx="4464688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uLnTx/>
                <a:uFillTx/>
                <a:latin typeface="+mn-ea"/>
              </a:rPr>
              <a:t>개선 사항 및 효율화 방안 </a:t>
            </a: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+mn-ea"/>
              </a:rPr>
              <a:t>정의</a:t>
            </a:r>
            <a:endParaRPr kumimoji="0" lang="en-US" altLang="ko-KR" sz="1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uLnTx/>
              <a:uFillTx/>
              <a:latin typeface="+mn-ea"/>
            </a:endParaRPr>
          </a:p>
        </p:txBody>
      </p:sp>
      <p:sp>
        <p:nvSpPr>
          <p:cNvPr id="45" name="Rectangle 53">
            <a:extLst>
              <a:ext uri="{FF2B5EF4-FFF2-40B4-BE49-F238E27FC236}">
                <a16:creationId xmlns="" xmlns:a16="http://schemas.microsoft.com/office/drawing/2014/main" id="{23F51D72-8F35-4154-89E5-27277F79B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1467" y="4406044"/>
            <a:ext cx="990604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lang="ko-KR" altLang="en-US" sz="1100" kern="0" dirty="0">
                <a:solidFill>
                  <a:srgbClr val="000000"/>
                </a:solidFill>
                <a:latin typeface="+mn-ea"/>
              </a:rPr>
              <a:t>과제정의서</a:t>
            </a:r>
            <a:endParaRPr kumimoji="0" lang="ko-KR" altLang="en-US" sz="1100" b="0" i="0" u="none" strike="noStrike" kern="0" cap="none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" name="Rectangle 53">
            <a:extLst>
              <a:ext uri="{FF2B5EF4-FFF2-40B4-BE49-F238E27FC236}">
                <a16:creationId xmlns="" xmlns:a16="http://schemas.microsoft.com/office/drawing/2014/main" id="{731287B2-3F86-4BC8-B242-56DAAA174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1683" y="4406044"/>
            <a:ext cx="990604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36000" rIns="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lang="ko-KR" altLang="en-US" sz="1100" kern="0" dirty="0">
                <a:solidFill>
                  <a:srgbClr val="000000"/>
                </a:solidFill>
                <a:latin typeface="+mn-ea"/>
              </a:rPr>
              <a:t>변화모습</a:t>
            </a:r>
            <a:endParaRPr lang="en-US" altLang="ko-KR" sz="1100" kern="0" dirty="0">
              <a:solidFill>
                <a:srgbClr val="000000"/>
              </a:solidFill>
              <a:latin typeface="+mn-ea"/>
            </a:endParaRPr>
          </a:p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lang="en-US" altLang="ko-KR" sz="1000" kern="0" dirty="0">
                <a:solidFill>
                  <a:srgbClr val="000000"/>
                </a:solidFill>
                <a:latin typeface="+mn-ea"/>
              </a:rPr>
              <a:t>(As-IS vs. To-Be)</a:t>
            </a:r>
          </a:p>
        </p:txBody>
      </p:sp>
      <p:sp>
        <p:nvSpPr>
          <p:cNvPr id="47" name="Rectangle 53">
            <a:extLst>
              <a:ext uri="{FF2B5EF4-FFF2-40B4-BE49-F238E27FC236}">
                <a16:creationId xmlns="" xmlns:a16="http://schemas.microsoft.com/office/drawing/2014/main" id="{3EA5837F-FA14-4637-8CE8-FC5F41F19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1899" y="4406044"/>
            <a:ext cx="990604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개선과제</a:t>
            </a:r>
            <a:r>
              <a:rPr kumimoji="0" lang="en-US" altLang="ko-KR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/>
            </a:r>
            <a:br>
              <a:rPr kumimoji="0" lang="en-US" altLang="ko-KR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</a:b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상세 내용</a:t>
            </a:r>
          </a:p>
        </p:txBody>
      </p:sp>
      <p:sp>
        <p:nvSpPr>
          <p:cNvPr id="48" name="Rectangle 53">
            <a:extLst>
              <a:ext uri="{FF2B5EF4-FFF2-40B4-BE49-F238E27FC236}">
                <a16:creationId xmlns="" xmlns:a16="http://schemas.microsoft.com/office/drawing/2014/main" id="{6D0D3D31-986D-4383-986A-8ED410D8F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2115" y="4406044"/>
            <a:ext cx="990604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기대효과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561FAEB0-D4A9-4449-A806-60F5B159800E}"/>
              </a:ext>
            </a:extLst>
          </p:cNvPr>
          <p:cNvSpPr/>
          <p:nvPr/>
        </p:nvSpPr>
        <p:spPr>
          <a:xfrm>
            <a:off x="5142699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본 사업 범위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예산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회계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자산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구매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사업관리</a:t>
            </a:r>
            <a:r>
              <a:rPr lang="en-US" altLang="ko-KR" sz="1200" kern="0">
                <a:solidFill>
                  <a:prstClr val="black"/>
                </a:solidFill>
                <a:latin typeface="+mn-ea"/>
              </a:rPr>
              <a:t>)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대상으로 </a:t>
            </a:r>
            <a:r>
              <a:rPr kumimoji="0" lang="ko-KR" altLang="en-US" sz="1200" b="0" i="0" u="none" strike="noStrike" kern="0" cap="none" spc="0" normalizeH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 </a:t>
            </a:r>
            <a:r>
              <a:rPr kumimoji="0" lang="ko-KR" altLang="en-US" sz="12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개선과제별 과제정의</a:t>
            </a:r>
            <a:r>
              <a:rPr kumimoji="0" lang="en-US" altLang="ko-KR" sz="12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2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변화모습</a:t>
            </a:r>
            <a:r>
              <a:rPr kumimoji="0" lang="en-US" altLang="ko-KR" sz="12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, </a:t>
            </a:r>
            <a:r>
              <a:rPr kumimoji="0" lang="ko-KR" altLang="en-US" sz="12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추진 내용과 기대효과를 도출함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51" name="Rectangle 53">
            <a:extLst>
              <a:ext uri="{FF2B5EF4-FFF2-40B4-BE49-F238E27FC236}">
                <a16:creationId xmlns="" xmlns:a16="http://schemas.microsoft.com/office/drawing/2014/main" id="{0DE4EA35-38E2-473E-9E17-5131E08D3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9052" y="4406044"/>
            <a:ext cx="1295916" cy="720000"/>
          </a:xfrm>
          <a:prstGeom prst="rect">
            <a:avLst/>
          </a:prstGeom>
          <a:solidFill>
            <a:srgbClr val="B1CFFC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목표 시스템</a:t>
            </a:r>
            <a:endParaRPr kumimoji="0" lang="en-US" altLang="ko-KR" sz="1100" b="0" i="0" u="none" strike="noStrike" kern="0" cap="none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457200" eaLnBrk="0" fontAlgn="auto" latinLnBrk="0" hangingPunct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rgbClr val="328030"/>
              </a:buClr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개념도</a:t>
            </a:r>
          </a:p>
        </p:txBody>
      </p:sp>
    </p:spTree>
    <p:extLst>
      <p:ext uri="{BB962C8B-B14F-4D97-AF65-F5344CB8AC3E}">
        <p14:creationId xmlns:p14="http://schemas.microsoft.com/office/powerpoint/2010/main" val="17392006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1650531"/>
            <a:ext cx="9177153" cy="4715929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통합 가능한 기준정보 도출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방안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526357" y="2219811"/>
            <a:ext cx="3491552" cy="389177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smtClean="0"/>
              <a:t>예산관리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회계관리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구매관리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사업관리 시스템 운영에 필요한 각종 기준정보를 통합관리하고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업무별 기준자료의 관리항목을 추가하여 업무처리를 용이하게 하며</a:t>
            </a:r>
            <a:r>
              <a:rPr lang="en-US" altLang="ko-KR" sz="1600" smtClean="0"/>
              <a:t>, </a:t>
            </a:r>
            <a:r>
              <a:rPr lang="ko-KR" altLang="en-US" sz="1600" smtClean="0"/>
              <a:t>코드화 되는 항목은 코드를 통합관리하여 동일한 성격의 </a:t>
            </a:r>
            <a:r>
              <a:rPr lang="en-US" altLang="ko-KR" sz="1600" smtClean="0"/>
              <a:t>DATA</a:t>
            </a:r>
            <a:r>
              <a:rPr lang="ko-KR" altLang="en-US" sz="1600" smtClean="0"/>
              <a:t>가 이중으로 관리되지 않도록 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lang="ko-KR" altLang="en-US"/>
              <a:t>기준정보 관리체계 개선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dirty="0">
                <a:solidFill>
                  <a:prstClr val="black"/>
                </a:solidFill>
              </a:rPr>
              <a:t>통합 가능한 기준정보 도출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kumimoji="1" lang="ko-KR" altLang="en-US" kern="0">
                <a:solidFill>
                  <a:prstClr val="black"/>
                </a:solidFill>
              </a:rPr>
              <a:t>기준정보 관리체계 개선</a:t>
            </a:r>
            <a:endParaRPr lang="en-US" altLang="ko-KR" dirty="0"/>
          </a:p>
        </p:txBody>
      </p:sp>
      <p:pic>
        <p:nvPicPr>
          <p:cNvPr id="22" name="그림 21">
            <a:extLst>
              <a:ext uri="{FF2B5EF4-FFF2-40B4-BE49-F238E27FC236}">
                <a16:creationId xmlns="" xmlns:a16="http://schemas.microsoft.com/office/drawing/2014/main" id="{8C383B12-3F0A-4C24-9214-F906FB45204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 rot="5400000">
            <a:off x="2777252" y="4010836"/>
            <a:ext cx="3034072" cy="410767"/>
          </a:xfrm>
          <a:prstGeom prst="rect">
            <a:avLst/>
          </a:prstGeom>
        </p:spPr>
      </p:pic>
      <p:sp>
        <p:nvSpPr>
          <p:cNvPr id="7" name="직사각형 6"/>
          <p:cNvSpPr/>
          <p:nvPr/>
        </p:nvSpPr>
        <p:spPr>
          <a:xfrm>
            <a:off x="632520" y="2276872"/>
            <a:ext cx="1512168" cy="261610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예산관리</a:t>
            </a:r>
            <a:endParaRPr lang="ko-KR" altLang="en-US" sz="11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2384369" y="2277389"/>
            <a:ext cx="1512000" cy="261610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회계관리</a:t>
            </a:r>
            <a:endParaRPr lang="ko-KR" altLang="en-US" sz="11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632520" y="3573016"/>
            <a:ext cx="1512000" cy="261610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자산관리</a:t>
            </a:r>
            <a:endParaRPr lang="ko-KR" altLang="en-US" sz="11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2381955" y="3573016"/>
            <a:ext cx="1512000" cy="261610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구매관리</a:t>
            </a:r>
            <a:endParaRPr lang="ko-KR" altLang="en-US" sz="11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모서리가 접힌 도형 7"/>
          <p:cNvSpPr/>
          <p:nvPr/>
        </p:nvSpPr>
        <p:spPr>
          <a:xfrm>
            <a:off x="632520" y="2564904"/>
            <a:ext cx="1512168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모서리가 접힌 도형 15"/>
          <p:cNvSpPr/>
          <p:nvPr/>
        </p:nvSpPr>
        <p:spPr>
          <a:xfrm>
            <a:off x="2384369" y="2564904"/>
            <a:ext cx="1512000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592960" y="2232912"/>
            <a:ext cx="4824090" cy="276999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기준정보 통합 방안 절차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4592960" y="2634085"/>
            <a:ext cx="4824090" cy="3490603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4" name="꺾인 연결선 23"/>
          <p:cNvCxnSpPr>
            <a:stCxn id="32" idx="3"/>
            <a:endCxn id="36" idx="1"/>
          </p:cNvCxnSpPr>
          <p:nvPr/>
        </p:nvCxnSpPr>
        <p:spPr>
          <a:xfrm flipH="1">
            <a:off x="5187527" y="2971467"/>
            <a:ext cx="2500916" cy="958334"/>
          </a:xfrm>
          <a:prstGeom prst="bentConnector5">
            <a:avLst>
              <a:gd name="adj1" fmla="val -9141"/>
              <a:gd name="adj2" fmla="val 50000"/>
              <a:gd name="adj3" fmla="val 109141"/>
            </a:avLst>
          </a:prstGeom>
          <a:ln w="381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27"/>
          <p:cNvCxnSpPr>
            <a:stCxn id="36" idx="3"/>
            <a:endCxn id="40" idx="1"/>
          </p:cNvCxnSpPr>
          <p:nvPr/>
        </p:nvCxnSpPr>
        <p:spPr>
          <a:xfrm flipH="1">
            <a:off x="5695067" y="3929801"/>
            <a:ext cx="2543718" cy="942614"/>
          </a:xfrm>
          <a:prstGeom prst="bentConnector5">
            <a:avLst>
              <a:gd name="adj1" fmla="val -8987"/>
              <a:gd name="adj2" fmla="val 50000"/>
              <a:gd name="adj3" fmla="val 108987"/>
            </a:avLst>
          </a:prstGeom>
          <a:ln w="381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꺾인 연결선 30"/>
          <p:cNvCxnSpPr>
            <a:stCxn id="40" idx="3"/>
            <a:endCxn id="50" idx="1"/>
          </p:cNvCxnSpPr>
          <p:nvPr/>
        </p:nvCxnSpPr>
        <p:spPr>
          <a:xfrm flipH="1">
            <a:off x="6314343" y="4872415"/>
            <a:ext cx="2431982" cy="910359"/>
          </a:xfrm>
          <a:prstGeom prst="bentConnector5">
            <a:avLst>
              <a:gd name="adj1" fmla="val -9400"/>
              <a:gd name="adj2" fmla="val 50000"/>
              <a:gd name="adj3" fmla="val 109400"/>
            </a:avLst>
          </a:prstGeom>
          <a:ln w="381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/>
          <p:cNvSpPr/>
          <p:nvPr/>
        </p:nvSpPr>
        <p:spPr>
          <a:xfrm>
            <a:off x="4637185" y="2680180"/>
            <a:ext cx="3051258" cy="58257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944208" y="2828801"/>
            <a:ext cx="240322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각 시스템 기준정보 리스트 도출</a:t>
            </a:r>
          </a:p>
        </p:txBody>
      </p:sp>
      <p:sp>
        <p:nvSpPr>
          <p:cNvPr id="36" name="직사각형 35"/>
          <p:cNvSpPr/>
          <p:nvPr/>
        </p:nvSpPr>
        <p:spPr>
          <a:xfrm>
            <a:off x="5187527" y="3638514"/>
            <a:ext cx="3051258" cy="58257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5373513" y="3704034"/>
            <a:ext cx="29530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smtClean="0">
                <a:latin typeface="맑은 고딕" pitchFamily="50" charset="-127"/>
                <a:ea typeface="맑은 고딕" pitchFamily="50" charset="-127"/>
              </a:rPr>
              <a:t>경영정보시스템 개선 </a:t>
            </a:r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시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 각 시스템에서 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20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사용하는 기준정보의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필요여부 분석</a:t>
            </a:r>
          </a:p>
        </p:txBody>
      </p:sp>
      <p:sp>
        <p:nvSpPr>
          <p:cNvPr id="40" name="직사각형 39"/>
          <p:cNvSpPr/>
          <p:nvPr/>
        </p:nvSpPr>
        <p:spPr>
          <a:xfrm>
            <a:off x="5695067" y="4581128"/>
            <a:ext cx="3051258" cy="58257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5793451" y="4636495"/>
            <a:ext cx="28583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특정 업무에만 사용되는 기준정보인지</a:t>
            </a: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모든 업무에서 사용되는 정보인지 도출</a:t>
            </a:r>
          </a:p>
        </p:txBody>
      </p:sp>
      <p:sp>
        <p:nvSpPr>
          <p:cNvPr id="50" name="직사각형 49"/>
          <p:cNvSpPr/>
          <p:nvPr/>
        </p:nvSpPr>
        <p:spPr>
          <a:xfrm>
            <a:off x="6314343" y="5491487"/>
            <a:ext cx="3051258" cy="58257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462347" y="5560734"/>
            <a:ext cx="27655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모든 업무에서 사용되는 기준정보의</a:t>
            </a: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z="1200" dirty="0">
                <a:latin typeface="맑은 고딕" pitchFamily="50" charset="-127"/>
                <a:ea typeface="맑은 고딕" pitchFamily="50" charset="-127"/>
              </a:rPr>
              <a:t>통합방안 수립 및 마이그레이션 수립</a:t>
            </a: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3156" y="2582442"/>
            <a:ext cx="1505540" cy="85408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>
                <a:latin typeface="맑은 고딕" pitchFamily="50" charset="-127"/>
              </a:rPr>
              <a:t>사업코드</a:t>
            </a:r>
            <a:r>
              <a:rPr lang="en-US" altLang="ko-KR" sz="1050">
                <a:latin typeface="맑은 고딕" pitchFamily="50" charset="-127"/>
              </a:rPr>
              <a:t>, </a:t>
            </a:r>
            <a:r>
              <a:rPr lang="ko-KR" altLang="en-US" sz="1050">
                <a:latin typeface="맑은 고딕" pitchFamily="50" charset="-127"/>
              </a:rPr>
              <a:t>예산코드</a:t>
            </a:r>
            <a:r>
              <a:rPr lang="en-US" altLang="ko-KR" sz="1050">
                <a:latin typeface="맑은 고딕" pitchFamily="50" charset="-127"/>
              </a:rPr>
              <a:t>,</a:t>
            </a:r>
          </a:p>
          <a:p>
            <a:r>
              <a:rPr lang="ko-KR" altLang="en-US" sz="1050">
                <a:latin typeface="맑은 고딕" pitchFamily="50" charset="-127"/>
              </a:rPr>
              <a:t>예산항목</a:t>
            </a:r>
            <a:r>
              <a:rPr lang="en-US" altLang="ko-KR" sz="1050">
                <a:latin typeface="맑은 고딕" pitchFamily="50" charset="-127"/>
              </a:rPr>
              <a:t>, </a:t>
            </a:r>
          </a:p>
          <a:p>
            <a:r>
              <a:rPr lang="ko-KR" altLang="en-US" sz="1050">
                <a:latin typeface="맑은 고딕" pitchFamily="50" charset="-127"/>
              </a:rPr>
              <a:t>일반코드</a:t>
            </a:r>
            <a:endParaRPr lang="en-US" altLang="ko-KR" sz="900">
              <a:latin typeface="맑은 고딕" pitchFamily="50" charset="-127"/>
            </a:endParaRPr>
          </a:p>
          <a:p>
            <a:r>
              <a:rPr lang="en-US" altLang="ko-KR" sz="900">
                <a:latin typeface="맑은 고딕" pitchFamily="50" charset="-127"/>
              </a:rPr>
              <a:t>(</a:t>
            </a:r>
            <a:r>
              <a:rPr lang="ko-KR" altLang="en-US" sz="900">
                <a:latin typeface="맑은 고딕" pitchFamily="50" charset="-127"/>
              </a:rPr>
              <a:t>예산통제</a:t>
            </a:r>
            <a:r>
              <a:rPr lang="en-US" altLang="ko-KR" sz="900">
                <a:latin typeface="맑은 고딕" pitchFamily="50" charset="-127"/>
              </a:rPr>
              <a:t>, </a:t>
            </a:r>
            <a:r>
              <a:rPr lang="ko-KR" altLang="en-US" sz="900">
                <a:latin typeface="맑은 고딕" pitchFamily="50" charset="-127"/>
              </a:rPr>
              <a:t>예산편성</a:t>
            </a:r>
            <a:r>
              <a:rPr lang="en-US" altLang="ko-KR" sz="900">
                <a:latin typeface="맑은 고딕" pitchFamily="50" charset="-127"/>
              </a:rPr>
              <a:t>, </a:t>
            </a:r>
            <a:r>
              <a:rPr lang="ko-KR" altLang="en-US" sz="900">
                <a:latin typeface="맑은 고딕" pitchFamily="50" charset="-127"/>
              </a:rPr>
              <a:t>예산</a:t>
            </a:r>
            <a:endParaRPr lang="en-US" altLang="ko-KR" sz="900">
              <a:latin typeface="맑은 고딕" pitchFamily="50" charset="-127"/>
            </a:endParaRPr>
          </a:p>
          <a:p>
            <a:r>
              <a:rPr lang="ko-KR" altLang="en-US" sz="900">
                <a:latin typeface="맑은 고딕" pitchFamily="50" charset="-127"/>
              </a:rPr>
              <a:t>변경</a:t>
            </a:r>
            <a:r>
              <a:rPr lang="en-US" altLang="ko-KR" sz="900">
                <a:latin typeface="맑은 고딕" pitchFamily="50" charset="-127"/>
              </a:rPr>
              <a:t>, </a:t>
            </a:r>
            <a:r>
              <a:rPr lang="ko-KR" altLang="en-US" sz="900">
                <a:latin typeface="맑은 고딕" pitchFamily="50" charset="-127"/>
              </a:rPr>
              <a:t>예산이월 구분 등</a:t>
            </a:r>
            <a:r>
              <a:rPr lang="en-US" altLang="ko-KR" sz="900">
                <a:latin typeface="맑은 고딕" pitchFamily="50" charset="-127"/>
              </a:rPr>
              <a:t>)</a:t>
            </a:r>
            <a:endParaRPr lang="ko-KR" altLang="en-US" sz="1050" dirty="0">
              <a:latin typeface="맑은 고딕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2395274" y="2538482"/>
            <a:ext cx="1564852" cy="8771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>
                <a:latin typeface="맑은 고딕" pitchFamily="50" charset="-127"/>
              </a:rPr>
              <a:t>계정코드</a:t>
            </a:r>
            <a:r>
              <a:rPr lang="en-US" altLang="ko-KR" sz="1100">
                <a:latin typeface="맑은 고딕" pitchFamily="50" charset="-127"/>
              </a:rPr>
              <a:t>, </a:t>
            </a:r>
            <a:r>
              <a:rPr lang="ko-KR" altLang="en-US" sz="1100">
                <a:latin typeface="맑은 고딕" pitchFamily="50" charset="-127"/>
              </a:rPr>
              <a:t>거래처코드</a:t>
            </a:r>
            <a:r>
              <a:rPr lang="en-US" altLang="ko-KR" sz="1100">
                <a:latin typeface="맑은 고딕" pitchFamily="50" charset="-127"/>
              </a:rPr>
              <a:t>,</a:t>
            </a:r>
          </a:p>
          <a:p>
            <a:r>
              <a:rPr lang="ko-KR" altLang="en-US" sz="1100">
                <a:latin typeface="맑은 고딕" pitchFamily="50" charset="-127"/>
              </a:rPr>
              <a:t>사업장코드</a:t>
            </a:r>
            <a:r>
              <a:rPr lang="en-US" altLang="ko-KR" sz="1100">
                <a:latin typeface="맑은 고딕" pitchFamily="50" charset="-127"/>
              </a:rPr>
              <a:t>,</a:t>
            </a:r>
          </a:p>
          <a:p>
            <a:r>
              <a:rPr lang="ko-KR" altLang="en-US" sz="1100">
                <a:latin typeface="맑은 고딕" pitchFamily="50" charset="-127"/>
              </a:rPr>
              <a:t>일반코드</a:t>
            </a:r>
            <a:endParaRPr lang="en-US" altLang="ko-KR" sz="1100">
              <a:latin typeface="맑은 고딕" pitchFamily="50" charset="-127"/>
            </a:endParaRPr>
          </a:p>
          <a:p>
            <a:r>
              <a:rPr lang="en-US" altLang="ko-KR" sz="900">
                <a:latin typeface="맑은 고딕" pitchFamily="50" charset="-127"/>
              </a:rPr>
              <a:t>(</a:t>
            </a:r>
            <a:r>
              <a:rPr lang="ko-KR" altLang="en-US" sz="900">
                <a:latin typeface="맑은 고딕" pitchFamily="50" charset="-127"/>
              </a:rPr>
              <a:t>금융기관</a:t>
            </a:r>
            <a:r>
              <a:rPr lang="en-US" altLang="ko-KR" sz="900">
                <a:latin typeface="맑은 고딕" pitchFamily="50" charset="-127"/>
              </a:rPr>
              <a:t>, </a:t>
            </a:r>
            <a:r>
              <a:rPr lang="ko-KR" altLang="en-US" sz="900">
                <a:latin typeface="맑은 고딕" pitchFamily="50" charset="-127"/>
              </a:rPr>
              <a:t>대차구분</a:t>
            </a:r>
            <a:r>
              <a:rPr lang="en-US" altLang="ko-KR" sz="900">
                <a:latin typeface="맑은 고딕" pitchFamily="50" charset="-127"/>
              </a:rPr>
              <a:t>,</a:t>
            </a:r>
          </a:p>
          <a:p>
            <a:r>
              <a:rPr lang="ko-KR" altLang="en-US" sz="900">
                <a:latin typeface="맑은 고딕" pitchFamily="50" charset="-127"/>
              </a:rPr>
              <a:t>공제구분</a:t>
            </a:r>
            <a:r>
              <a:rPr lang="en-US" altLang="ko-KR" sz="900">
                <a:latin typeface="맑은 고딕" pitchFamily="50" charset="-127"/>
              </a:rPr>
              <a:t>,</a:t>
            </a:r>
            <a:r>
              <a:rPr lang="ko-KR" altLang="en-US" sz="900">
                <a:latin typeface="맑은 고딕" pitchFamily="50" charset="-127"/>
              </a:rPr>
              <a:t>결의구분 등</a:t>
            </a:r>
            <a:r>
              <a:rPr lang="en-US" altLang="ko-KR" sz="900" smtClean="0">
                <a:latin typeface="맑은 고딕" pitchFamily="50" charset="-127"/>
              </a:rPr>
              <a:t>)</a:t>
            </a:r>
            <a:endParaRPr lang="ko-KR" altLang="en-US" sz="1050" dirty="0" err="1" smtClean="0"/>
          </a:p>
        </p:txBody>
      </p:sp>
      <p:sp>
        <p:nvSpPr>
          <p:cNvPr id="37" name="모서리가 접힌 도형 36"/>
          <p:cNvSpPr/>
          <p:nvPr/>
        </p:nvSpPr>
        <p:spPr>
          <a:xfrm>
            <a:off x="639632" y="3865271"/>
            <a:ext cx="1512168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모서리가 접힌 도형 37"/>
          <p:cNvSpPr/>
          <p:nvPr/>
        </p:nvSpPr>
        <p:spPr>
          <a:xfrm>
            <a:off x="2391481" y="3865271"/>
            <a:ext cx="1512000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2416944" y="3858737"/>
            <a:ext cx="1364476" cy="8771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smtClean="0">
                <a:latin typeface="맑은 고딕" pitchFamily="50" charset="-127"/>
              </a:rPr>
              <a:t>물품코드</a:t>
            </a:r>
            <a:r>
              <a:rPr lang="en-US" altLang="ko-KR" sz="1100" smtClean="0">
                <a:latin typeface="맑은 고딕" pitchFamily="50" charset="-127"/>
              </a:rPr>
              <a:t>, </a:t>
            </a:r>
          </a:p>
          <a:p>
            <a:r>
              <a:rPr lang="ko-KR" altLang="en-US" sz="1100" smtClean="0">
                <a:latin typeface="맑은 고딕" pitchFamily="50" charset="-127"/>
              </a:rPr>
              <a:t>물품분류코드</a:t>
            </a:r>
            <a:r>
              <a:rPr lang="en-US" altLang="ko-KR" sz="1100" smtClean="0">
                <a:latin typeface="맑은 고딕" pitchFamily="50" charset="-127"/>
              </a:rPr>
              <a:t>,</a:t>
            </a:r>
          </a:p>
          <a:p>
            <a:r>
              <a:rPr lang="ko-KR" altLang="en-US" sz="1100" smtClean="0">
                <a:latin typeface="맑은 고딕" pitchFamily="50" charset="-127"/>
              </a:rPr>
              <a:t>일반코드</a:t>
            </a:r>
            <a:endParaRPr lang="en-US" altLang="ko-KR" sz="1050" smtClean="0">
              <a:latin typeface="맑은 고딕" pitchFamily="50" charset="-127"/>
            </a:endParaRPr>
          </a:p>
          <a:p>
            <a:r>
              <a:rPr lang="en-US" altLang="ko-KR" sz="900" smtClean="0">
                <a:latin typeface="맑은 고딕" pitchFamily="50" charset="-127"/>
              </a:rPr>
              <a:t>(</a:t>
            </a:r>
            <a:r>
              <a:rPr lang="ko-KR" altLang="en-US" sz="900" smtClean="0">
                <a:latin typeface="맑은 고딕" pitchFamily="50" charset="-127"/>
              </a:rPr>
              <a:t>수불구분</a:t>
            </a:r>
            <a:r>
              <a:rPr lang="en-US" altLang="ko-KR" sz="900" smtClean="0">
                <a:latin typeface="맑은 고딕" pitchFamily="50" charset="-127"/>
              </a:rPr>
              <a:t>, </a:t>
            </a:r>
            <a:r>
              <a:rPr lang="ko-KR" altLang="en-US" sz="900" smtClean="0">
                <a:latin typeface="맑은 고딕" pitchFamily="50" charset="-127"/>
              </a:rPr>
              <a:t>구매단위</a:t>
            </a:r>
            <a:r>
              <a:rPr lang="en-US" altLang="ko-KR" sz="900" smtClean="0">
                <a:latin typeface="맑은 고딕" pitchFamily="50" charset="-127"/>
              </a:rPr>
              <a:t>, </a:t>
            </a:r>
          </a:p>
          <a:p>
            <a:r>
              <a:rPr lang="ko-KR" altLang="en-US" sz="900" smtClean="0">
                <a:latin typeface="맑은 고딕" pitchFamily="50" charset="-127"/>
              </a:rPr>
              <a:t>재원코드</a:t>
            </a:r>
            <a:r>
              <a:rPr lang="en-US" altLang="ko-KR" sz="900" smtClean="0">
                <a:latin typeface="맑은 고딕" pitchFamily="50" charset="-127"/>
              </a:rPr>
              <a:t>, </a:t>
            </a:r>
            <a:r>
              <a:rPr lang="ko-KR" altLang="en-US" sz="900" smtClean="0">
                <a:latin typeface="맑은 고딕" pitchFamily="50" charset="-127"/>
              </a:rPr>
              <a:t>조달구분</a:t>
            </a:r>
            <a:r>
              <a:rPr lang="en-US" altLang="ko-KR" sz="900" smtClean="0">
                <a:latin typeface="맑은 고딕" pitchFamily="50" charset="-127"/>
              </a:rPr>
              <a:t> </a:t>
            </a:r>
            <a:r>
              <a:rPr lang="ko-KR" altLang="en-US" sz="900" smtClean="0">
                <a:latin typeface="맑은 고딕" pitchFamily="50" charset="-127"/>
              </a:rPr>
              <a:t>등</a:t>
            </a:r>
            <a:r>
              <a:rPr lang="en-US" altLang="ko-KR" sz="900" smtClean="0">
                <a:latin typeface="맑은 고딕" pitchFamily="50" charset="-127"/>
              </a:rPr>
              <a:t>)</a:t>
            </a:r>
            <a:endParaRPr lang="ko-KR" altLang="en-US" sz="1050" dirty="0" err="1" smtClean="0"/>
          </a:p>
        </p:txBody>
      </p:sp>
      <p:sp>
        <p:nvSpPr>
          <p:cNvPr id="25" name="TextBox 24"/>
          <p:cNvSpPr txBox="1"/>
          <p:nvPr/>
        </p:nvSpPr>
        <p:spPr>
          <a:xfrm>
            <a:off x="622553" y="3834626"/>
            <a:ext cx="1324402" cy="8771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smtClean="0"/>
              <a:t>자산분류코드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건중가계정코드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일반코드</a:t>
            </a:r>
            <a:endParaRPr lang="en-US" altLang="ko-KR" sz="900" smtClean="0"/>
          </a:p>
          <a:p>
            <a:r>
              <a:rPr lang="en-US" altLang="ko-KR" sz="900" smtClean="0"/>
              <a:t>(</a:t>
            </a:r>
            <a:r>
              <a:rPr lang="ko-KR" altLang="en-US" sz="900" smtClean="0"/>
              <a:t>취득구분</a:t>
            </a:r>
            <a:r>
              <a:rPr lang="en-US" altLang="ko-KR" sz="900" smtClean="0"/>
              <a:t>,</a:t>
            </a:r>
            <a:r>
              <a:rPr lang="ko-KR" altLang="en-US" sz="900" smtClean="0"/>
              <a:t>재원구분</a:t>
            </a:r>
            <a:r>
              <a:rPr lang="en-US" altLang="ko-KR" sz="900" smtClean="0"/>
              <a:t>,</a:t>
            </a:r>
          </a:p>
          <a:p>
            <a:r>
              <a:rPr lang="ko-KR" altLang="en-US" sz="900" smtClean="0"/>
              <a:t>자산상태</a:t>
            </a:r>
            <a:r>
              <a:rPr lang="en-US" altLang="ko-KR" sz="900" smtClean="0"/>
              <a:t>,</a:t>
            </a:r>
            <a:r>
              <a:rPr lang="ko-KR" altLang="en-US" sz="900" smtClean="0"/>
              <a:t>진행상태 등</a:t>
            </a:r>
            <a:r>
              <a:rPr lang="en-US" altLang="ko-KR" sz="900" smtClean="0"/>
              <a:t>)</a:t>
            </a:r>
            <a:endParaRPr lang="ko-KR" altLang="en-US" sz="900" dirty="0" err="1" smtClean="0"/>
          </a:p>
        </p:txBody>
      </p:sp>
      <p:sp>
        <p:nvSpPr>
          <p:cNvPr id="42" name="직사각형 41"/>
          <p:cNvSpPr/>
          <p:nvPr/>
        </p:nvSpPr>
        <p:spPr>
          <a:xfrm>
            <a:off x="625408" y="4851737"/>
            <a:ext cx="1512000" cy="261610"/>
          </a:xfrm>
          <a:prstGeom prst="rect">
            <a:avLst/>
          </a:prstGeom>
          <a:solidFill>
            <a:srgbClr val="00437A"/>
          </a:solidFill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사업관리</a:t>
            </a:r>
            <a:endParaRPr lang="ko-KR" altLang="en-US" sz="11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모서리가 접힌 도형 42"/>
          <p:cNvSpPr/>
          <p:nvPr/>
        </p:nvSpPr>
        <p:spPr>
          <a:xfrm>
            <a:off x="632520" y="5143992"/>
            <a:ext cx="1512168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15441" y="5113347"/>
            <a:ext cx="1425390" cy="8771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smtClean="0"/>
              <a:t>사업코드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사업장코드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일반코드</a:t>
            </a:r>
            <a:endParaRPr lang="en-US" altLang="ko-KR" sz="900" smtClean="0"/>
          </a:p>
          <a:p>
            <a:r>
              <a:rPr lang="en-US" altLang="ko-KR" sz="900" smtClean="0"/>
              <a:t>(</a:t>
            </a:r>
            <a:r>
              <a:rPr lang="ko-KR" altLang="en-US" sz="900" smtClean="0"/>
              <a:t>수주진행코드</a:t>
            </a:r>
            <a:r>
              <a:rPr lang="en-US" altLang="ko-KR" sz="900" smtClean="0"/>
              <a:t>,</a:t>
            </a:r>
            <a:r>
              <a:rPr lang="ko-KR" altLang="en-US" sz="900" smtClean="0"/>
              <a:t>입찰구분</a:t>
            </a:r>
            <a:r>
              <a:rPr lang="en-US" altLang="ko-KR" sz="900" smtClean="0"/>
              <a:t>,</a:t>
            </a:r>
          </a:p>
          <a:p>
            <a:r>
              <a:rPr lang="ko-KR" altLang="en-US" sz="900" smtClean="0"/>
              <a:t>계약구분</a:t>
            </a:r>
            <a:r>
              <a:rPr lang="en-US" altLang="ko-KR" sz="900" smtClean="0"/>
              <a:t>,</a:t>
            </a:r>
            <a:r>
              <a:rPr lang="ko-KR" altLang="en-US" sz="900" smtClean="0"/>
              <a:t>진행상태 등</a:t>
            </a:r>
            <a:r>
              <a:rPr lang="en-US" altLang="ko-KR" sz="900" smtClean="0"/>
              <a:t>)</a:t>
            </a:r>
            <a:endParaRPr lang="ko-KR" altLang="en-US" sz="900" dirty="0" err="1" smtClean="0"/>
          </a:p>
        </p:txBody>
      </p:sp>
      <p:sp>
        <p:nvSpPr>
          <p:cNvPr id="45" name="직사각형 44"/>
          <p:cNvSpPr/>
          <p:nvPr/>
        </p:nvSpPr>
        <p:spPr>
          <a:xfrm>
            <a:off x="2375577" y="4859328"/>
            <a:ext cx="1512000" cy="261610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1100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HR</a:t>
            </a:r>
            <a:endParaRPr lang="ko-KR" altLang="en-US" sz="1100" b="1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모서리가 접힌 도형 45"/>
          <p:cNvSpPr/>
          <p:nvPr/>
        </p:nvSpPr>
        <p:spPr>
          <a:xfrm>
            <a:off x="2382689" y="5151583"/>
            <a:ext cx="1512168" cy="864096"/>
          </a:xfrm>
          <a:prstGeom prst="foldedCorner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0" rIns="36000" bIns="0" rtlCol="0" anchor="ctr"/>
          <a:lstStyle/>
          <a:p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365610" y="5120938"/>
            <a:ext cx="1324402" cy="8771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smtClean="0"/>
              <a:t>부서코드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사원번호</a:t>
            </a:r>
            <a:r>
              <a:rPr lang="en-US" altLang="ko-KR" sz="1100" smtClean="0"/>
              <a:t>,</a:t>
            </a:r>
          </a:p>
          <a:p>
            <a:r>
              <a:rPr lang="ko-KR" altLang="en-US" sz="1100" smtClean="0"/>
              <a:t>일반코드</a:t>
            </a:r>
            <a:endParaRPr lang="en-US" altLang="ko-KR" sz="900" smtClean="0"/>
          </a:p>
          <a:p>
            <a:r>
              <a:rPr lang="en-US" altLang="ko-KR" sz="900" smtClean="0"/>
              <a:t>(</a:t>
            </a:r>
            <a:r>
              <a:rPr lang="ko-KR" altLang="en-US" sz="900" smtClean="0"/>
              <a:t>직급구분</a:t>
            </a:r>
            <a:r>
              <a:rPr lang="en-US" altLang="ko-KR" sz="900" smtClean="0"/>
              <a:t>,</a:t>
            </a:r>
            <a:r>
              <a:rPr lang="ko-KR" altLang="en-US" sz="900" smtClean="0"/>
              <a:t>입사구분</a:t>
            </a:r>
            <a:r>
              <a:rPr lang="en-US" altLang="ko-KR" sz="900" smtClean="0"/>
              <a:t>,</a:t>
            </a:r>
          </a:p>
          <a:p>
            <a:r>
              <a:rPr lang="ko-KR" altLang="en-US" sz="900" smtClean="0"/>
              <a:t>근태구분</a:t>
            </a:r>
            <a:r>
              <a:rPr lang="en-US" altLang="ko-KR" sz="900" smtClean="0"/>
              <a:t>,</a:t>
            </a:r>
            <a:r>
              <a:rPr lang="ko-KR" altLang="en-US" sz="900" smtClean="0"/>
              <a:t>출장구분 등</a:t>
            </a:r>
            <a:r>
              <a:rPr lang="en-US" altLang="ko-KR" sz="900" smtClean="0"/>
              <a:t>)</a:t>
            </a:r>
            <a:endParaRPr lang="ko-KR" altLang="en-US" sz="900" dirty="0" err="1" smtClean="0"/>
          </a:p>
        </p:txBody>
      </p:sp>
    </p:spTree>
    <p:extLst>
      <p:ext uri="{BB962C8B-B14F-4D97-AF65-F5344CB8AC3E}">
        <p14:creationId xmlns:p14="http://schemas.microsoft.com/office/powerpoint/2010/main" val="5047615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1376680"/>
            <a:ext cx="9177153" cy="5076656"/>
            <a:chOff x="350833" y="1616760"/>
            <a:chExt cx="9177153" cy="4749700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16760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smtClean="0"/>
              <a:t>예산관리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회계관리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구매관리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사업관리 시스템에서 도출한 기준정보 리스트를 분석하여 개선 및 통합관리가 가능한 기준정보를 도출함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lang="ko-KR" altLang="en-US"/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(1/7)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kumimoji="1" lang="ko-KR" altLang="en-US" kern="0">
                <a:solidFill>
                  <a:prstClr val="black"/>
                </a:solidFill>
              </a:rPr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4338493"/>
              </p:ext>
            </p:extLst>
          </p:nvPr>
        </p:nvGraphicFramePr>
        <p:xfrm>
          <a:off x="350002" y="1712656"/>
          <a:ext cx="9165906" cy="4734729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1521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5976664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33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2045">
                <a:tc rowSpan="1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예산관리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분야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프로그램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단위사업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세부사업별 예산편성을 하는 사업정보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수입과 지출의 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세목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세세목코드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840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세목코드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예산세목코드를 별도로 사용하고 있음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→ 예산코드에 세목까지 통합해서 관리하고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계정과목과 연결 기능은 예산항목코드로 대체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폐기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예산항목코드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예산이 편성되는 항목을 코드화해서 관리하고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계정과목과 연결하는 최소단위로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142045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사업장구분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본사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대전역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부산역 등의 사업장소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예산구분코드</a:t>
                      </a: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본예산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정기배정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3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수시배정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변경예산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전용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6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절감목표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예산통제구분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비통제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예산과목별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21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분류항목별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31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사업별 통제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4204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통제기간구분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월단위통제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분기단위동제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30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년단위통제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2840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이월사유코드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506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명시이월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507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계속비 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511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계약기간미도래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), 512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미지급금이월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 513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외자구매지연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), 514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8408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불용사유코드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601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계획변경 및 취소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602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정원 및 기준호봉미달 운영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603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지급사유 미발생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604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예산절감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,605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집행잔액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606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환차로 인한세출감소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607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세수결함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608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420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예산안구분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당초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요구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시안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검토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정부안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420447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전용 이용 이체 사유코드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301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인건비부족액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공공요금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사업계획 변경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304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사업량 증가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305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급량비부족액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306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환율인상에 따른 추가부담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307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제세공과금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308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직제개정에 따른 추가소 요약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309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재해복구비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310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315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부서간 조정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319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예산항목간 조정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321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예산과 옥간 전용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운영사업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), 325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세세부사업간 전용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수업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·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사업비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), 326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이사회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·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사장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·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본부장 승인 전용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인건비부족액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공공요금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사업계획 변경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404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사업량 증가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. 405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급량비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406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환율인상에 따른 추가부담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407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이체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408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직제개정에 따른 추가소 요액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409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재해복구비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410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411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제세공과금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인건비부족액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공 공요금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사업계획 변경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704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사업량 증가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705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급량비 부족액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706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환율인상에 따 은 추가부담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707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이체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708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직제개정에 따른 추가소요액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709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재해복구비 부족 등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18817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(2/7)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980597"/>
              </p:ext>
            </p:extLst>
          </p:nvPr>
        </p:nvGraphicFramePr>
        <p:xfrm>
          <a:off x="350002" y="1232845"/>
          <a:ext cx="9165906" cy="5004445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1521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5976664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4842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57107">
                <a:tc rowSpan="2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회계관리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계정코드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자본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손익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원가 등의 계정코드를 체계적으로 관리하고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대변 관리항목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잔액구분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결산대체계정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충당금 설정여부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차감계정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선급대체여부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건별 삼계여부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TYPE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등의 계정별 관리정보 추가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거래치코드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거래 필수 정보 및 거래치 계좌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거래처 담당자 정보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보유계좌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기관에서 보유하고 있는 요구불 및 금융상품 계좌의 계정코드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용도 등을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사업장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세금계산서를 발행하는 사업장의 정보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법인카드정보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법인카드번호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카드사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법인카드 종류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결제계좌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관리자 등의 카드 정보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6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기타소득자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사업소득 및 기타소득자 정보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7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자산 가계정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자산취득비를 자산별로 집계하기 위한 건설중인 자산 가계정번호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921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4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85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예금분류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당좌예금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보통예금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정기예금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기업자유예금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07 MMF, 13 MMDA 15 MMT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재원구분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정부보조금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수탁자금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항공사코드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대한항공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아시아나항공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진에어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004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에어부산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005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제주항공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5710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결의서 종류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세외수입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임대수입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주차료 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세입반납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회입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일반지출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구매지출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용역지출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여비지출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급여지출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퇴직급여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회수 등</a:t>
                      </a:r>
                      <a:endParaRPr lang="en-US" altLang="ko-KR" sz="105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3571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결의진행상태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작성완료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결재요청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결재중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회수승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취소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결재완료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전표확정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출금완료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78554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입찰방식 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직찰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전자입찰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직찰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우편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상시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우편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상시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전자시당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전자시담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다자간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매입매출 구분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매출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매입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78554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카드구분코드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수주용역전용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출장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우편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항공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통신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교육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카드사 구분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국민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현대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삼성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외환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비씨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18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씨티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하나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전북카드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롯데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전표발생구분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결의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자동생성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월차결산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년결산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3571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계약방법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 13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제한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종역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21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제한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22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지명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23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지명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31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33 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자단가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40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다수공급자 계약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소액수의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99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수기입력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3571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상품권종류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온누리상품권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도서상품권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문화상품권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백화점상품권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주유상품권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농산물상품권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99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85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거래처분류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내국법인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외국법인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개인사업자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내국인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외국인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90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99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직원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03601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(3/7)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473330"/>
              </p:ext>
            </p:extLst>
          </p:nvPr>
        </p:nvGraphicFramePr>
        <p:xfrm>
          <a:off x="350002" y="1232845"/>
          <a:ext cx="9165906" cy="5006819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15212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5976664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193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0185">
                <a:tc rowSpan="15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회계관리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5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9878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증빙구분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종이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종이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현금영수증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6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간 이영수증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신용카드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사업소득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F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현금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G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신용카드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수동연결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H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외화송금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J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퇴직소득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N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영세율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P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영세율기타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S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수동연결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X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105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1493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단위구분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%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퍼센트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BX Box, CM centi-meter, CN 20L T/N, EA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G gram, GL gl, KG KG, L Liter, M m eter, M/M milli-meter, ST set, TN ton, ㎡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입방미터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평방미터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타스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통등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1493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수납처리상태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작성완료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결재요청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결재중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회수증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취소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결재완료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전표확정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5911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수불구분코드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입고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이동입고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출고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이동출고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기타출고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환출</a:t>
                      </a:r>
                      <a:endParaRPr lang="en-US" altLang="ko-KR" sz="105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1591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영수구분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미확인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청구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79558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청구영수구분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청구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493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낙찰자결정방법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최저가낙찰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제한적최저가낙찰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: 31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적격심사낙찰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증기간 계약이행 능력심사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협 상에 의한 계약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종합낙찰자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52 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자단가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다수공급자계약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수기입력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79558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계약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조달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구매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용역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공사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외자구매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795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과세여부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불공제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공동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. 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면세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해당없음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795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세금계산서종류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일반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영세율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위수탁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위수탁영세율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591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출장구분코드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관내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1,2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관내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2,3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관외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국외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591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교통수단코드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항공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철도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(KTX), 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철도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새마을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04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철도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무궁화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05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버스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회사차량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이전비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08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가족이전비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09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자기차량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운전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선박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자기차량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동승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746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부가세구분코드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불공제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공제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공동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면세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해당없음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9710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원천세목구분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A01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근로소득 간이세액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근로소득 중도퇴사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근로소득 일용근로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A04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근로소득 연 말정산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A10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근로소득 가감계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A20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퇴직소득 가감계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A21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퇴직소득 연금계좌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A22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퇴직소득 그 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A25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사업소득 매컬징수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A26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사업소득 연말정산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A30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사업소득 가감계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기타소득 가감계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기타소득 연금계좌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기타소득 그 외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연금소득 공적연금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매월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A46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연 금소득 연말정산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A47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연금소득 가감계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A48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연금소득 연금계좌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A50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이자소득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A60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배당소득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A69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저축해지 추징세액 등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A70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비거주자 양도소득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A80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내외국법인 원천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A90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수정신고 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(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세액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), A99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종합계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C01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거주자개인 이자 배당소득 비과세소득 장기주택마련저축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C02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거주자개인 이자 배당소득 비과세소득 생계형저축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C03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거주자개인 이자 배당소득 비과세소득 개 인연금저축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C05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거주자개인 이자 배당소득 비과세소득 장기저축성보험차익</a:t>
                      </a:r>
                      <a:r>
                        <a:rPr lang="en-US" altLang="ko-KR" sz="1050" b="0" smtClean="0">
                          <a:latin typeface="+mn-ea"/>
                          <a:ea typeface="+mn-ea"/>
                        </a:rPr>
                        <a:t>, C06 </a:t>
                      </a:r>
                      <a:r>
                        <a:rPr lang="ko-KR" altLang="en-US" sz="1050" b="0" smtClean="0">
                          <a:latin typeface="+mn-ea"/>
                          <a:ea typeface="+mn-ea"/>
                        </a:rPr>
                        <a:t>거주자 개 인 이자배당소득 비과세소득 조합 등 예탁금 등</a:t>
                      </a:r>
                      <a:endParaRPr lang="ko-KR" altLang="en-US" sz="105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07156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(4/7)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388647"/>
              </p:ext>
            </p:extLst>
          </p:nvPr>
        </p:nvGraphicFramePr>
        <p:xfrm>
          <a:off x="350002" y="1232846"/>
          <a:ext cx="9165906" cy="5017873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0811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6120680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5193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4519">
                <a:tc rowSpan="2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자산관리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자산분류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자산과목구분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대분류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중분류 코드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내용연수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94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자산가계정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자산취득비를 자산별로 집계하기 위한 건설중인 자산 가계정번호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94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자산담당자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부서별 자산 담당자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9451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사업장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배치 사업장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현장까지 포함된 세분화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1434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7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7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683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자체자산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정부보조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수탁자신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소모성자산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임차자산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부외자산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3536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자산취득구분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외자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차관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무상양여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E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소내제작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FUNDP(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무상원조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G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득별외화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무상양수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S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소프트웨어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U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후속적지출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자산작업구분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후속적지출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자산처분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투자자산감가상각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683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자산처분코드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매각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폐기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자산진행상태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가등록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보유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폐기처분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합병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X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관리제외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53671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차종코드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에쿠스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CM SM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후속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D11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프린스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D12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씨에로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D13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라노스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ETC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그랜저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다이너스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아반떼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H14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싼타모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H15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두산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HR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봉고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3, 301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엘란트라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J02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엑센트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상각방법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미싱각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정액법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정률법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530506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지목구분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학교용지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주유소용지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창고용지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도로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철도용지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堤防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하천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溝渠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溜池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답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양어장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수도용지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체육용지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. 24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유원지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종교용지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사적지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묘지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잡종지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과수원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목장용지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임야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광천지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염전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공장용지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불용처리상태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결재중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확정대기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불용취소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3536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지급분류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기성금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준공금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관급자재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부지매입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휴경보상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자문심의비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수불구분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이동입고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환입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이동출고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기타출고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매각사유코드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내구년수경과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수리불가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수리불가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내구년수경과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소모성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무상양수자산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부외자산상태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불용신청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불용접수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처분신청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처분접수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인수인계상태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인계등록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인계결재중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인계결재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인수결재중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연수결재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장비분류 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서버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02 PC,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노트북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프린터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04 NETWORK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장비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저장매체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기타전산장비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8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국적코드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ABW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아루바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AFG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아프가니스탄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AGO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앙골라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AIA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앵귈라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ALA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올란드 제도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ALB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알바니아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8403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(5/7)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891421"/>
              </p:ext>
            </p:extLst>
          </p:nvPr>
        </p:nvGraphicFramePr>
        <p:xfrm>
          <a:off x="350002" y="1232847"/>
          <a:ext cx="9165906" cy="5004440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0811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6120680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19520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5209">
                <a:tc rowSpan="1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구매관리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물품코드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자산취득여부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수불단위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구매단위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구매소요시간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조달품목코드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사용여부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952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거래처코드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매입 거래처 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거래 필수사항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거래 계좌번호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세금계산서 발행 담당자 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952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창고코드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 수불이 발생하는 창고 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3194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9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746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입찰방식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직장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전자업창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직찰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우편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우편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전자시당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전자시담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다사간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3549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입찰공고상태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입력증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입찰공고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재공고입찰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재입찰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입찰취소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낙찰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입력오류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재공고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차공고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정정공고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177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공동계약 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공동수급불허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공동이행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분담이행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공동 분담이행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공동계약가능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5492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계약방법구분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33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다수공급자 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소액수의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수기입력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177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입찰계약구분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정부수탁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음역과제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연간수당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민간수탁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해외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E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인간소액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F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해외소액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G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242237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계약방법코드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협상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중앙조달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제한적최저가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최저가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15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17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적격심사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협상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 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중앙조달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제한적최저가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최저가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단가계약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소기업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적격심사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적격심사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29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중역 적격 지역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30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소액수의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전자시담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중앙조달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제한적최저가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특정기운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사회복지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일반경쟁유찰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38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제한경쟁유찰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41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일반단가계약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자단가계약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자단가계약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조달대행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지명경쟁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증기간경쟁입찰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774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계약서작성방법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생략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조달의뢰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수기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242237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품목구분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교육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가전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통신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섬유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고무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위생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여가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화학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안전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운반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설비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토목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도로시설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기타유형자산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소프트웨어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원부자재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저장품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청소도구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40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도 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번역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배전반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식물류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식품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기계 설비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차량 운반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AB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토목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교육서비스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소프트웨어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임대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렌탈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), B3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모바일서베이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시스템장비등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모바일 서베이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사무 교육 영상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섬유 고무 위생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시설관리서 비스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B9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전기 시험 계측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전자정보통신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화학 소방 안전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시멘트 아스팔트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CA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의료기기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의약품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정부조달문화상품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도로시설 철도 기타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C7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빅데이터분석서비스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/>
        </p:nvGraphicFramePr>
        <p:xfrm>
          <a:off x="10106526" y="1515979"/>
          <a:ext cx="208280" cy="365760"/>
        </p:xfrm>
        <a:graphic>
          <a:graphicData uri="http://schemas.openxmlformats.org/drawingml/2006/table">
            <a:tbl>
              <a:tblPr/>
              <a:tblGrid>
                <a:gridCol w="208280"/>
              </a:tblGrid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mpd="sng">
                      <a:solidFill>
                        <a:schemeClr val="tx1"/>
                      </a:solidFill>
                      <a:prstDash val="solid"/>
                    </a:lnL>
                    <a:lnR w="3175" cmpd="sng">
                      <a:solidFill>
                        <a:schemeClr val="tx1"/>
                      </a:solidFill>
                      <a:prstDash val="solid"/>
                    </a:lnR>
                    <a:lnT w="3175" cmpd="sng">
                      <a:solidFill>
                        <a:schemeClr val="tx1"/>
                      </a:solidFill>
                      <a:prstDash val="solid"/>
                    </a:lnT>
                    <a:lnB w="3175" cmpd="sng">
                      <a:solidFill>
                        <a:schemeClr val="tx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579655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(6/7)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8714894"/>
              </p:ext>
            </p:extLst>
          </p:nvPr>
        </p:nvGraphicFramePr>
        <p:xfrm>
          <a:off x="350002" y="1232844"/>
          <a:ext cx="9165906" cy="5004443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0811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6120680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18256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98742">
                <a:tc rowSpan="1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구매관리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2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65967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수입부대비구분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QA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송금수수료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OB AMEND CHARGE, OC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타발추심료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OD HIC, OG L/G, OH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환차손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OJ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환차 익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1B/L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선박회사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입향료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컨테이너세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컨테이너운송료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 T.H.C, 15 C.F.S, 16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선박운임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17 DOC/FEE, 18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창고료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19 DEMURRAGE, 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유산스 차입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입고하여 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출고하역료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입고하역료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타창고하역료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 OPEN CHARGE, 30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보세장치장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31 W.F,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출고상차료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검사료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화재보험료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부두사용료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계근비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 GRACE CHARGE, 40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운송회사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입고운송료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출고운송료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보세운송수수료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취급수수료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환가료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관세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교육세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특별소비세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농특세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임시개척료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파출검사수수료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정시간외특허료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적하보험료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관세사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통관수수료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부대수 수료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임개수수료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검역수수료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 L/G FEE, 71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검사교통비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검역교통비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인지대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녹사대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팩시밀리대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시외전화료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유산스이자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78 BAF, 79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인수수수료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18 TERM CHARGE, 80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항공운임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컨테이너청소비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 CABLE CHARGE, 91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 은행수수 료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663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입찰제한방법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 PQ,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실적제한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중소기업제한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지역제한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기술제한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일괄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3319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화폐단위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AUD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호주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AUD, CAD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캐나다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CAD, EUR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EUR, HKD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홍콩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HKD, JPY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일본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JPY (100), KRW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USD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미국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USD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3193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물품수급구분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시장품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수입품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외주가공품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특주품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사간출고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수입품 시장품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유상사급품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상사급품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대량구매품 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1659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구매진행상태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구매접수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견적의뢰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견적접수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발주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부분입고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7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계산서처리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96267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예가산정방법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복수예가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단일예가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비예가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319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낙찰자결정방법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최저가낙찰제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제한적최저가낙찰제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적격심사낙찰제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증기간 계약이행 능력심사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협상에 의한 계약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종합낙찰자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52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자단가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다수공급자계약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수기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65968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조달방법구분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경쟁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수의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1538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계약구분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외자구매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71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계약상태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계약요청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계약승인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계역반려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반려승인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계약완료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6861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물품중분류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1101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사무기기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가전제품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가구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1104 OA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칸막이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1105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1106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일반사무용품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개인용컴퓨터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노트북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프린터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모니터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프로젝터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카트리지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1207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 소모품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의류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개인장구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위생용품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1304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포장재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1305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여가용품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화공약품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소방방제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1403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실내연료유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1501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건설기계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1502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자량용품 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/>
        </p:nvGraphicFramePr>
        <p:xfrm>
          <a:off x="10106526" y="1515979"/>
          <a:ext cx="208280" cy="365760"/>
        </p:xfrm>
        <a:graphic>
          <a:graphicData uri="http://schemas.openxmlformats.org/drawingml/2006/table">
            <a:tbl>
              <a:tblPr/>
              <a:tblGrid>
                <a:gridCol w="208280"/>
              </a:tblGrid>
              <a:tr h="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mpd="sng">
                      <a:solidFill>
                        <a:schemeClr val="tx1"/>
                      </a:solidFill>
                      <a:prstDash val="solid"/>
                    </a:lnL>
                    <a:lnR w="3175" cmpd="sng">
                      <a:solidFill>
                        <a:schemeClr val="tx1"/>
                      </a:solidFill>
                      <a:prstDash val="solid"/>
                    </a:lnR>
                    <a:lnT w="3175" cmpd="sng">
                      <a:solidFill>
                        <a:schemeClr val="tx1"/>
                      </a:solidFill>
                      <a:prstDash val="solid"/>
                    </a:lnT>
                    <a:lnB w="3175" cmpd="sng">
                      <a:solidFill>
                        <a:schemeClr val="tx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726506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84656"/>
            <a:ext cx="9177153" cy="5496672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기준정보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2.2.1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기준정보 리스트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(7/7)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205841"/>
              </p:ext>
            </p:extLst>
          </p:nvPr>
        </p:nvGraphicFramePr>
        <p:xfrm>
          <a:off x="350002" y="1190258"/>
          <a:ext cx="9165906" cy="5047037"/>
        </p:xfrm>
        <a:graphic>
          <a:graphicData uri="http://schemas.openxmlformats.org/drawingml/2006/table">
            <a:tbl>
              <a:tblPr firstRow="1" bandRow="1"/>
              <a:tblGrid>
                <a:gridCol w="426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80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5904656"/>
                <a:gridCol w="38644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094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9482">
                <a:tc rowSpan="20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사업관리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사업장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사업을 진행하는 사업장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장소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등록 철도역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조차장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등</a:t>
                      </a:r>
                      <a:endParaRPr lang="ko-KR" altLang="en-US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작업팀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작업을 수행하는 단위그룹 구성 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구성원 추가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사업코드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 예상 사업에 대한 사업정보 등록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표준일정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사업종류별 표준 일정관리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사업분류 순번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LEADTIME,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일정비율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주요 관리사항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5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견적진행정보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수주예상사업에 대한 견적 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재료비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노무비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6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입찰진행정보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입찰일정진행 단계별 일정관리 및 첨부 자료관리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7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수주진행정보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수주사업에 대한 진행정보 관리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8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실행계획정보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수주사업에 대한 예산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일정계획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투입계획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9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표준공정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사업종류별 작업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코드별 단위수량에 대한 소요장비 소요시간 소요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MH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소요 자재 등의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10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표준소요량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공정별 소요물품의 수량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(MH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별 소요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MH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등의 소요량 표준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11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작업장비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장비별 용도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보관 사업장 등의 정보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9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12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작업일정계획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사업코드별 일정 순서별 열정계획 정보 생성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수주사업 표준일정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및 수정 기능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27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8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일반코드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코드명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코드목록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043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실행예산변경구분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변경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신규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철회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7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개선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670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공종구분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차체 세척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객실 청소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211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차체하부세척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차체하부점검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5713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지역코드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서울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광주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울산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07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11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강원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충북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17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경북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18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19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아시아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아프리카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24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북미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25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남미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26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오세아니아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아메리카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유럽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중동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61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아프라카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8087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국적코드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ABW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아루바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AFG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아프가니스탄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AGO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앙골라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AIA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영골라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ALA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올란드 제도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ALB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알바니아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AND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안도라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ANT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네덜란드령 안틸레스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ARE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아랍에미리트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ARG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아르헨티나 등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1904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사업분야구분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인증면허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차량사업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시설사업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4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경비사업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5.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전기사업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환경사업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90438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계약구분코드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외자구매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904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사업종류코드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21.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일반객차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22.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물류사람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23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고속철도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24.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도시철도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29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기타차량 등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585624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1628800"/>
            <a:ext cx="9177153" cy="4718025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통합 </a:t>
              </a:r>
              <a:r>
                <a:rPr kumimoji="0" lang="ko-KR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가능한 </a:t>
              </a: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일반코드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4608512" cy="781320"/>
          </a:xfrm>
        </p:spPr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2.2.2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통합대상 일반코드 목록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9154"/>
              </p:ext>
            </p:extLst>
          </p:nvPr>
        </p:nvGraphicFramePr>
        <p:xfrm>
          <a:off x="416496" y="2035021"/>
          <a:ext cx="9036912" cy="4202270"/>
        </p:xfrm>
        <a:graphic>
          <a:graphicData uri="http://schemas.openxmlformats.org/drawingml/2006/table">
            <a:tbl>
              <a:tblPr firstRow="1" bandRow="1"/>
              <a:tblGrid>
                <a:gridCol w="115212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410445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91623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185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사용업무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 내용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통합관리방안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341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사업코드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분야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부문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프로그램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단위사업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세부사업별 예산편성을 하는 단위사업코드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먼저 정보가 발생하는 사업관리에서 등록 후 확정이 되면 예산 편성 여부를 입력하고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예산편성 사업에 대한 예산을 편성하여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41341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수주예상시점부터 사업결과 손익분석까지 사용하는 실행사업코드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413417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사업장 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관리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회계처리 및 전도금을 관리하는 단위의 사업장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사업자등록증이 있고 세금계산서를 발행하는 단위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회계단위에서 사용하는 사업장 정보를 기준으로 사용함</a:t>
                      </a:r>
                    </a:p>
                    <a:p>
                      <a:pPr algn="l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43251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회계처리의 기준이 되는 사업장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26001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사업을 수행하는 단위의 사업장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장소 개념보다는 상위의 그룹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8358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거래처코드</a:t>
                      </a:r>
                      <a:endParaRPr lang="en-US" altLang="ko-KR" sz="110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관리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 업체의 필수 정보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사업자등록번호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상호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대표자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업태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종목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주소 등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와 관리정보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전화번호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FAX,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거래처분류 등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을 등록하고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 계좌번호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업체 담당자 정보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(e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메일 등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)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거래처의 거래 필수 정보와 업무별 내부 관리를 위한 정보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거래처 분류 일반업체 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매입 업체 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매출 업체 여부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FAX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번호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업체 담당자 등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관리 *거래처 선택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POPUP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시 해당 업무 분류인 업체만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LIST-UP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4134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구매 업체 정보를 관리하여 발주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계약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지급 등의 업무처리 에 사용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41341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사업의 발주업체 정보를 관리하여 수주 예측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견적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수주 등 의 처리에 사용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325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자산가계정</a:t>
                      </a:r>
                    </a:p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관리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자산취득용 지출 결의서 입력시 선택할 자산가계정을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자산취득건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별로 자산 취득에 소요된 금액을 집계하여 결산 및 자산 취득시 사용하기 위한 집계용 코드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2432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검수처리시 계약번호별로 자산 가계정 생성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432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자산 가계정별로 취합된 금액을 자산 취득금액으로 인식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9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예산관리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회계관리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구매관리</a:t>
            </a:r>
            <a:r>
              <a:rPr lang="en-US" altLang="ko-KR" sz="1600" smtClean="0"/>
              <a:t>, </a:t>
            </a:r>
            <a:r>
              <a:rPr lang="ko-KR" altLang="en-US" sz="1600" smtClean="0"/>
              <a:t>사업관리 시스템에서 사용하는 일반코드 중에서 통합관리가 가능한 코드를 도출함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369742163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48F1281-2FAE-4B96-9A70-44A2551C8C9E}"/>
              </a:ext>
            </a:extLst>
          </p:cNvPr>
          <p:cNvGrpSpPr/>
          <p:nvPr/>
        </p:nvGrpSpPr>
        <p:grpSpPr>
          <a:xfrm>
            <a:off x="347847" y="873311"/>
            <a:ext cx="9177153" cy="5567790"/>
            <a:chOff x="350833" y="1650531"/>
            <a:chExt cx="9177153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통합 </a:t>
              </a:r>
              <a:r>
                <a:rPr kumimoji="0" lang="ko-KR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가능한 </a:t>
              </a:r>
              <a:r>
                <a:rPr kumimoji="0" lang="ko-KR" altLang="en-US" sz="1400" b="1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맑은 고딕" pitchFamily="50" charset="-127"/>
                  <a:ea typeface="맑은 고딕" pitchFamily="50" charset="-127"/>
                </a:rPr>
                <a:t>일반코드 리스트</a:t>
              </a: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19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smtClean="0">
                <a:solidFill>
                  <a:prstClr val="black"/>
                </a:solidFill>
              </a:rPr>
              <a:t>2.2 </a:t>
            </a:r>
            <a:r>
              <a:rPr kumimoji="1" lang="ko-KR" altLang="en-US" kern="0" smtClean="0">
                <a:solidFill>
                  <a:prstClr val="black"/>
                </a:solidFill>
              </a:rPr>
              <a:t>기준정보 관리체계 개선</a:t>
            </a:r>
            <a:r>
              <a:rPr kumimoji="1" lang="en-US" altLang="ko-KR" sz="1800" kern="0">
                <a:solidFill>
                  <a:prstClr val="black"/>
                </a:solidFill>
              </a:rPr>
              <a:t/>
            </a:r>
            <a:br>
              <a:rPr kumimoji="1" lang="en-US" altLang="ko-KR" sz="1800" kern="0">
                <a:solidFill>
                  <a:prstClr val="black"/>
                </a:solidFill>
              </a:rPr>
            </a:br>
            <a:r>
              <a:rPr kumimoji="1" lang="en-US" altLang="ko-KR" sz="1800" kern="0" smtClean="0">
                <a:solidFill>
                  <a:prstClr val="black"/>
                </a:solidFill>
              </a:rPr>
              <a:t>2.2.2 </a:t>
            </a:r>
            <a:r>
              <a:rPr kumimoji="1" lang="ko-KR" altLang="en-US" sz="1800" kern="0" smtClean="0">
                <a:solidFill>
                  <a:prstClr val="black"/>
                </a:solidFill>
              </a:rPr>
              <a:t>통합대상 일반코드 목록</a:t>
            </a:r>
            <a:r>
              <a:rPr kumimoji="1" lang="en-US" altLang="ko-KR" sz="1800" kern="0" smtClean="0">
                <a:solidFill>
                  <a:prstClr val="black"/>
                </a:solidFill>
              </a:rPr>
              <a:t>(2/2)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2.2 </a:t>
            </a:r>
            <a:r>
              <a:rPr lang="ko-KR" altLang="en-US" smtClean="0"/>
              <a:t>기준정보 관리체계 개선</a:t>
            </a:r>
            <a:endParaRPr lang="en-US" altLang="ko-KR" dirty="0"/>
          </a:p>
        </p:txBody>
      </p:sp>
      <p:graphicFrame>
        <p:nvGraphicFramePr>
          <p:cNvPr id="48" name="표 47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783487"/>
              </p:ext>
            </p:extLst>
          </p:nvPr>
        </p:nvGraphicFramePr>
        <p:xfrm>
          <a:off x="416496" y="1315627"/>
          <a:ext cx="9036912" cy="5007797"/>
        </p:xfrm>
        <a:graphic>
          <a:graphicData uri="http://schemas.openxmlformats.org/drawingml/2006/table">
            <a:tbl>
              <a:tblPr firstRow="1" bandRow="1"/>
              <a:tblGrid>
                <a:gridCol w="115212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02433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399635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512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사용업무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 내용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통합관리방안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1256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맑은 고딕" pitchFamily="50" charset="-127"/>
                        </a:rPr>
                        <a:t>재원구분코드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 재원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-1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정부보조금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수탁자금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재원을 코드화하여 관리</a:t>
                      </a:r>
                      <a:endParaRPr lang="en-US" altLang="ko-KR" sz="1100" b="0" smtClean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칼럼명을 단일화하여 통합일반코드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TABLE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에서 관리   </a:t>
                      </a:r>
                      <a:endParaRPr lang="en-US" altLang="ko-KR" sz="1100" b="0" smtClean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  (ACNT_ORG_CD)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1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정부보조금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수탁자금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 관리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자산의 재원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-1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자체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2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정부보조금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수탁자금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51256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단위구분코드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예산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예산 편성시 수치에 대한 단위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시간 등에 대한 단위를 관리</a:t>
                      </a:r>
                    </a:p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→ 칼럼명을 단일화하여 통합일반코드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에서 관리</a:t>
                      </a:r>
                    </a:p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   (QY_UNIT_CD)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251256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수치에 대한 단위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물품 수량에 대한 단위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 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수치에 대한 단위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251256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국적 구분 코드</a:t>
                      </a:r>
                      <a:endParaRPr lang="ko-KR" altLang="en-US" sz="1100" b="1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거래처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기타소득자 등의 국적코드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자리의 표준 국가 코드 사용</a:t>
                      </a:r>
                    </a:p>
                    <a:p>
                      <a:pPr algn="l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→ 칼럼명을 단일화하여 통합일반코드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에서 관리</a:t>
                      </a:r>
                    </a:p>
                    <a:p>
                      <a:pPr algn="l" latinLnBrk="1"/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   (NATION_CD)</a:t>
                      </a:r>
                    </a:p>
                    <a:p>
                      <a:pPr algn="l" latinLnBrk="1"/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51256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구매처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원산지 등의 국적 코드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발주처의 국적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사업장의 국적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51256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부가세구분</a:t>
                      </a:r>
                      <a:endParaRPr lang="en-US" altLang="ko-KR" sz="1100" b="1" smtClean="0">
                        <a:latin typeface="맑은 고딕" pitchFamily="50" charset="-127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회계관리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결의서 입력시 부가세구분을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부가세 구분을 코드화하여 관리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→ 칼럼명을 단일화하여 통합일반코드 </a:t>
                      </a: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TABLE</a:t>
                      </a: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에서 관리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+mn-ea"/>
                          <a:ea typeface="+mn-ea"/>
                        </a:rPr>
                        <a:t>   (VAT_CD)</a:t>
                      </a:r>
                      <a:endParaRPr lang="en-US" altLang="ko-KR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계약시 발주금액에 대한 부가세 구분을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51256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계약시 수주금액에 대한 부가세 구분을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51256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수불구분코드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자산관리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소모품 자산의 수불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물품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소요자재의 이동을 구분하는 코드로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'11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입고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12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이동입고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21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환입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31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출고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이동출고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33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기타줄고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41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환출 형태로 사용 → 칼럼명을 단열화하여 통합일반코드에서 관리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   (RCVPAY CD)</a:t>
                      </a:r>
                      <a:endParaRPr lang="en-US" altLang="ko-KR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물품의 창고별 수불 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3443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소요자재의 창고별 수불관리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5125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latin typeface="맑은 고딕" pitchFamily="50" charset="-127"/>
                          <a:ea typeface="+mn-ea"/>
                        </a:rPr>
                        <a:t>수급구분코드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구매관리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구매 물품의 수급 방법 구분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1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시장품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2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수입품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3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외주가공품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4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특주품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5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사간출고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6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수입품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시 장품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7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유상사급원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8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무상사급품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 9 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기타 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A</a:t>
                      </a: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공사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512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mtClean="0">
                          <a:latin typeface="+mn-ea"/>
                          <a:ea typeface="+mn-ea"/>
                        </a:rPr>
                        <a:t>사업관리</a:t>
                      </a:r>
                      <a:endParaRPr lang="ko-KR" altLang="en-US" sz="11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smtClean="0">
                          <a:latin typeface="맑은 고딕" pitchFamily="50" charset="-127"/>
                          <a:ea typeface="+mn-ea"/>
                        </a:rPr>
                        <a:t>소요 자재의 수급 방법 구분</a:t>
                      </a:r>
                      <a:r>
                        <a:rPr lang="en-US" altLang="ko-KR" sz="1100" b="0" smtClean="0">
                          <a:latin typeface="맑은 고딕" pitchFamily="50" charset="-127"/>
                          <a:ea typeface="+mn-ea"/>
                        </a:rPr>
                        <a:t>,</a:t>
                      </a: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666585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현행 시스템의 문제점을 분석하고</a:t>
            </a:r>
            <a:r>
              <a:rPr lang="en-US" altLang="ko-KR" smtClean="0"/>
              <a:t>, </a:t>
            </a:r>
            <a:r>
              <a:rPr lang="ko-KR" altLang="en-US" smtClean="0"/>
              <a:t>이해관계자 </a:t>
            </a:r>
            <a:r>
              <a:rPr lang="ko-KR" altLang="en-US"/>
              <a:t>요구에 대한 </a:t>
            </a:r>
            <a:r>
              <a:rPr lang="ko-KR" altLang="en-US" smtClean="0"/>
              <a:t>해결점을 모색하여 업무의 효율성과 사용자 중심의 편의성을 제공할 수 있는 체계적인 예산관리 시스템으로 개선하고자 함</a:t>
            </a:r>
            <a:endParaRPr lang="ko-KR" altLang="en-US" sz="1600" dirty="0"/>
          </a:p>
        </p:txBody>
      </p:sp>
      <p:sp>
        <p:nvSpPr>
          <p:cNvPr id="36" name="제목 35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>
                <a:solidFill>
                  <a:srgbClr val="00437A"/>
                </a:solidFill>
              </a:rPr>
              <a:t/>
            </a:r>
            <a:br>
              <a:rPr lang="en-US" altLang="ko-KR">
                <a:solidFill>
                  <a:srgbClr val="00437A"/>
                </a:solidFill>
              </a:rPr>
            </a:br>
            <a:r>
              <a:rPr lang="en-US" altLang="ko-KR" sz="1800" smtClean="0"/>
              <a:t>2.3.1 </a:t>
            </a:r>
            <a:r>
              <a:rPr lang="ko-KR" altLang="en-US" sz="1800" smtClean="0"/>
              <a:t>예산관리 개선 </a:t>
            </a:r>
            <a:r>
              <a:rPr lang="ko-KR" altLang="en-US" sz="1800"/>
              <a:t>방안</a:t>
            </a:r>
            <a:endParaRPr lang="ko-KR" altLang="en-US" sz="1800" dirty="0"/>
          </a:p>
        </p:txBody>
      </p:sp>
      <p:sp>
        <p:nvSpPr>
          <p:cNvPr id="37" name="내용 개체 틀 36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2.3 </a:t>
            </a:r>
            <a:r>
              <a:rPr lang="ko-KR" altLang="en-US" smtClean="0"/>
              <a:t>예산관리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3" name="그룹 77">
            <a:extLst>
              <a:ext uri="{FF2B5EF4-FFF2-40B4-BE49-F238E27FC236}">
                <a16:creationId xmlns="" xmlns:a16="http://schemas.microsoft.com/office/drawing/2014/main" id="{B0511B2C-F5D4-492B-8A5A-D90A0D0B3868}"/>
              </a:ext>
            </a:extLst>
          </p:cNvPr>
          <p:cNvGrpSpPr/>
          <p:nvPr/>
        </p:nvGrpSpPr>
        <p:grpSpPr>
          <a:xfrm>
            <a:off x="355147" y="1592796"/>
            <a:ext cx="9180512" cy="4788532"/>
            <a:chOff x="200025" y="1592796"/>
            <a:chExt cx="6733195" cy="4788532"/>
          </a:xfrm>
        </p:grpSpPr>
        <p:sp>
          <p:nvSpPr>
            <p:cNvPr id="79" name="직사각형 78">
              <a:extLst>
                <a:ext uri="{FF2B5EF4-FFF2-40B4-BE49-F238E27FC236}">
                  <a16:creationId xmlns="" xmlns:a16="http://schemas.microsoft.com/office/drawing/2014/main" id="{7A02AF25-67DB-49E8-A9F5-7456F591158A}"/>
                </a:ext>
              </a:extLst>
            </p:cNvPr>
            <p:cNvSpPr/>
            <p:nvPr/>
          </p:nvSpPr>
          <p:spPr bwMode="auto">
            <a:xfrm>
              <a:off x="200025" y="1592796"/>
              <a:ext cx="6733195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lvl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 개요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="" xmlns:a16="http://schemas.microsoft.com/office/drawing/2014/main" id="{2D8432D5-5596-482C-A21A-563B582C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" y="1916832"/>
              <a:ext cx="6733195" cy="4464496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자유형: 도형 7">
            <a:extLst>
              <a:ext uri="{FF2B5EF4-FFF2-40B4-BE49-F238E27FC236}">
                <a16:creationId xmlns="" xmlns:a16="http://schemas.microsoft.com/office/drawing/2014/main" id="{DC8F9B3D-33EF-48D3-A461-A50900D519EB}"/>
              </a:ext>
            </a:extLst>
          </p:cNvPr>
          <p:cNvSpPr/>
          <p:nvPr/>
        </p:nvSpPr>
        <p:spPr>
          <a:xfrm>
            <a:off x="2472277" y="2002612"/>
            <a:ext cx="521540" cy="4299947"/>
          </a:xfrm>
          <a:custGeom>
            <a:avLst/>
            <a:gdLst>
              <a:gd name="connsiteX0" fmla="*/ 0 w 528992"/>
              <a:gd name="connsiteY0" fmla="*/ 324952 h 4299947"/>
              <a:gd name="connsiteX1" fmla="*/ 37785 w 528992"/>
              <a:gd name="connsiteY1" fmla="*/ 4012780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  <a:gd name="connsiteX0" fmla="*/ 0 w 528992"/>
              <a:gd name="connsiteY0" fmla="*/ 324952 h 4299947"/>
              <a:gd name="connsiteX1" fmla="*/ 8650 w 528992"/>
              <a:gd name="connsiteY1" fmla="*/ 3613946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  <a:gd name="connsiteX0" fmla="*/ 11113 w 520681"/>
              <a:gd name="connsiteY0" fmla="*/ 714058 h 4299947"/>
              <a:gd name="connsiteX1" fmla="*/ 339 w 520681"/>
              <a:gd name="connsiteY1" fmla="*/ 3613946 h 4299947"/>
              <a:gd name="connsiteX2" fmla="*/ 513124 w 520681"/>
              <a:gd name="connsiteY2" fmla="*/ 4299947 h 4299947"/>
              <a:gd name="connsiteX3" fmla="*/ 520681 w 520681"/>
              <a:gd name="connsiteY3" fmla="*/ 0 h 4299947"/>
              <a:gd name="connsiteX4" fmla="*/ 11113 w 520681"/>
              <a:gd name="connsiteY4" fmla="*/ 714058 h 429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681" h="4299947">
                <a:moveTo>
                  <a:pt x="11113" y="714058"/>
                </a:moveTo>
                <a:cubicBezTo>
                  <a:pt x="13996" y="1810389"/>
                  <a:pt x="-2544" y="2517615"/>
                  <a:pt x="339" y="3613946"/>
                </a:cubicBezTo>
                <a:lnTo>
                  <a:pt x="513124" y="4299947"/>
                </a:lnTo>
                <a:lnTo>
                  <a:pt x="520681" y="0"/>
                </a:lnTo>
                <a:lnTo>
                  <a:pt x="11113" y="714058"/>
                </a:lnTo>
                <a:close/>
              </a:path>
            </a:pathLst>
          </a:custGeom>
          <a:gradFill>
            <a:gsLst>
              <a:gs pos="82000">
                <a:schemeClr val="bg1">
                  <a:lumMod val="85000"/>
                </a:schemeClr>
              </a:gs>
              <a:gs pos="0">
                <a:schemeClr val="bg1">
                  <a:lumMod val="95000"/>
                </a:schemeClr>
              </a:gs>
            </a:gsLst>
            <a:lin ang="0" scaled="0"/>
          </a:gra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buFontTx/>
              <a:buNone/>
              <a:tabLst/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예산관리 개선 및</a:t>
            </a:r>
            <a:endParaRPr lang="en-US" altLang="ko-KR" sz="1400" b="1" kern="0" spc="-150" smtClean="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buFontTx/>
              <a:buNone/>
              <a:tabLst/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업무 효율화</a:t>
            </a:r>
            <a:endParaRPr kumimoji="0" lang="ko-KR" altLang="en-US" sz="1400" b="1" i="0" u="none" strike="noStrike" kern="0" cap="none" spc="-1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5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5"/>
            <a:ext cx="2028386" cy="453937"/>
            <a:chOff x="401216" y="2918940"/>
            <a:chExt cx="2310143" cy="551723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3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lang="ko-KR" altLang="en-US" sz="1000" b="1"/>
                <a:t>예산코드 체계 개선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1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6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298491"/>
            <a:ext cx="2028386" cy="453935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 smtClean="0"/>
                <a:t>예산편성 절차 </a:t>
              </a:r>
              <a:r>
                <a:rPr lang="ko-KR" altLang="en-US" sz="1000" b="1"/>
                <a:t>체계화 및 </a:t>
              </a:r>
              <a:endParaRPr lang="en-US" altLang="ko-KR" sz="1000" b="1" smtClean="0"/>
            </a:p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 smtClean="0"/>
                <a:t>입력 </a:t>
              </a:r>
              <a:r>
                <a:rPr lang="ko-KR" altLang="en-US" sz="1000" b="1"/>
                <a:t>화면 재구성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2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7" name="그룹 104">
            <a:extLst>
              <a:ext uri="{FF2B5EF4-FFF2-40B4-BE49-F238E27FC236}">
                <a16:creationId xmlns="" xmlns:a16="http://schemas.microsoft.com/office/drawing/2014/main" id="{0A95ACFA-2726-46C1-AD8F-1D87F34F9A7C}"/>
              </a:ext>
            </a:extLst>
          </p:cNvPr>
          <p:cNvGrpSpPr/>
          <p:nvPr/>
        </p:nvGrpSpPr>
        <p:grpSpPr>
          <a:xfrm>
            <a:off x="476077" y="3820854"/>
            <a:ext cx="2028386" cy="453935"/>
            <a:chOff x="401216" y="2918940"/>
            <a:chExt cx="2310143" cy="551720"/>
          </a:xfrm>
        </p:grpSpPr>
        <p:sp>
          <p:nvSpPr>
            <p:cNvPr id="106" name="모서리가 둥근 직사각형 55">
              <a:extLst>
                <a:ext uri="{FF2B5EF4-FFF2-40B4-BE49-F238E27FC236}">
                  <a16:creationId xmlns="" xmlns:a16="http://schemas.microsoft.com/office/drawing/2014/main" id="{04CE164E-A277-4A8C-80F7-9A57D5BDEB44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/>
                <a:t>예산 배정 체계 변경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07" name="직사각형 10">
              <a:extLst>
                <a:ext uri="{FF2B5EF4-FFF2-40B4-BE49-F238E27FC236}">
                  <a16:creationId xmlns="" xmlns:a16="http://schemas.microsoft.com/office/drawing/2014/main" id="{2BECFB51-2DF0-4032-B0F9-BE080AC78865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3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9" name="그룹 110">
            <a:extLst>
              <a:ext uri="{FF2B5EF4-FFF2-40B4-BE49-F238E27FC236}">
                <a16:creationId xmlns="" xmlns:a16="http://schemas.microsoft.com/office/drawing/2014/main" id="{01D653F6-8988-40E3-B1E2-1DCADFAA862B}"/>
              </a:ext>
            </a:extLst>
          </p:cNvPr>
          <p:cNvGrpSpPr/>
          <p:nvPr/>
        </p:nvGrpSpPr>
        <p:grpSpPr>
          <a:xfrm>
            <a:off x="476077" y="4343217"/>
            <a:ext cx="2028386" cy="453935"/>
            <a:chOff x="401216" y="2918940"/>
            <a:chExt cx="2310143" cy="551720"/>
          </a:xfrm>
        </p:grpSpPr>
        <p:sp>
          <p:nvSpPr>
            <p:cNvPr id="112" name="모서리가 둥근 직사각형 68">
              <a:extLst>
                <a:ext uri="{FF2B5EF4-FFF2-40B4-BE49-F238E27FC236}">
                  <a16:creationId xmlns="" xmlns:a16="http://schemas.microsoft.com/office/drawing/2014/main" id="{520DC5EA-0151-4A4B-876E-90A97C34C9B8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/>
                <a:t>예산 절감목표 관리 도입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13" name="직사각형 10">
              <a:extLst>
                <a:ext uri="{FF2B5EF4-FFF2-40B4-BE49-F238E27FC236}">
                  <a16:creationId xmlns="" xmlns:a16="http://schemas.microsoft.com/office/drawing/2014/main" id="{F245562B-A3CA-4671-93E0-C42AEAE43791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4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="" xmlns:a16="http://schemas.microsoft.com/office/drawing/2014/main" id="{3D81FFC0-71B9-46DA-943A-B129A730D4BD}"/>
              </a:ext>
            </a:extLst>
          </p:cNvPr>
          <p:cNvSpPr/>
          <p:nvPr/>
        </p:nvSpPr>
        <p:spPr>
          <a:xfrm>
            <a:off x="2923626" y="1975288"/>
            <a:ext cx="6433414" cy="4345672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="" xmlns:a16="http://schemas.microsoft.com/office/drawing/2014/main" id="{3BD8B947-9794-4DA9-A8A0-A2416C4E54C6}"/>
              </a:ext>
            </a:extLst>
          </p:cNvPr>
          <p:cNvSpPr/>
          <p:nvPr/>
        </p:nvSpPr>
        <p:spPr>
          <a:xfrm>
            <a:off x="2993826" y="2026778"/>
            <a:ext cx="853646" cy="4255416"/>
          </a:xfrm>
          <a:prstGeom prst="rect">
            <a:avLst/>
          </a:prstGeom>
          <a:solidFill>
            <a:srgbClr val="C7DDFD"/>
          </a:solidFill>
          <a:ln>
            <a:noFill/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38" name="그룹 37"/>
          <p:cNvGrpSpPr/>
          <p:nvPr/>
        </p:nvGrpSpPr>
        <p:grpSpPr>
          <a:xfrm>
            <a:off x="3060274" y="2102569"/>
            <a:ext cx="6110824" cy="504000"/>
            <a:chOff x="3060274" y="2102569"/>
            <a:chExt cx="6110824" cy="504000"/>
          </a:xfrm>
        </p:grpSpPr>
        <p:sp>
          <p:nvSpPr>
            <p:cNvPr id="88" name="직사각형 87">
              <a:extLst>
                <a:ext uri="{FF2B5EF4-FFF2-40B4-BE49-F238E27FC236}">
                  <a16:creationId xmlns="" xmlns:a16="http://schemas.microsoft.com/office/drawing/2014/main" id="{462C3777-4666-48F1-B8E7-F560F769B567}"/>
                </a:ext>
              </a:extLst>
            </p:cNvPr>
            <p:cNvSpPr/>
            <p:nvPr/>
          </p:nvSpPr>
          <p:spPr>
            <a:xfrm>
              <a:off x="3060274" y="210257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과제 정의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3197124E-28D4-472B-9558-9173E8CA2836}"/>
                </a:ext>
              </a:extLst>
            </p:cNvPr>
            <p:cNvSpPr/>
            <p:nvPr/>
          </p:nvSpPr>
          <p:spPr>
            <a:xfrm>
              <a:off x="4095098" y="2102569"/>
              <a:ext cx="5076000" cy="5040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예산업무의 체계적인 관리 및 기능 세분화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실시간 실적집계 및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단계별 자료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제공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예산결산 기능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구축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전자결재에 의한 원활한 진행관리를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통해 예산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관리의 </a:t>
              </a: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효율성 증대방안 마련</a:t>
              </a:r>
            </a:p>
          </p:txBody>
        </p:sp>
      </p:grpSp>
      <p:grpSp>
        <p:nvGrpSpPr>
          <p:cNvPr id="40" name="그룹 39"/>
          <p:cNvGrpSpPr/>
          <p:nvPr/>
        </p:nvGrpSpPr>
        <p:grpSpPr>
          <a:xfrm>
            <a:off x="3060274" y="3135363"/>
            <a:ext cx="6110824" cy="648000"/>
            <a:chOff x="3060274" y="3130407"/>
            <a:chExt cx="6110824" cy="648000"/>
          </a:xfrm>
        </p:grpSpPr>
        <p:sp>
          <p:nvSpPr>
            <p:cNvPr id="90" name="직사각형 89">
              <a:extLst>
                <a:ext uri="{FF2B5EF4-FFF2-40B4-BE49-F238E27FC236}">
                  <a16:creationId xmlns="" xmlns:a16="http://schemas.microsoft.com/office/drawing/2014/main" id="{4A3DA6E3-91CE-4B46-AB40-3122683B6F23}"/>
                </a:ext>
              </a:extLst>
            </p:cNvPr>
            <p:cNvSpPr/>
            <p:nvPr/>
          </p:nvSpPr>
          <p:spPr>
            <a:xfrm>
              <a:off x="3060274" y="3130407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현황 및 문제점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3645D26A-84A7-4B58-98CD-009CE5F34953}"/>
                </a:ext>
              </a:extLst>
            </p:cNvPr>
            <p:cNvSpPr/>
            <p:nvPr/>
          </p:nvSpPr>
          <p:spPr>
            <a:xfrm>
              <a:off x="4095098" y="3130407"/>
              <a:ext cx="5076000" cy="6480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예산편성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수작업 작성 및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엑셀 업로드로 정확한 편성내역 관리 미흡 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명확한 통제기준에 의한 실시간 예산통제 및 단계별 실적 집계 요구 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예산 편성 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~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예산 결산까지의 전 과정 전재결재 연동 및 시스템화 미비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060274" y="2665766"/>
            <a:ext cx="6110824" cy="410400"/>
            <a:chOff x="3060274" y="2658560"/>
            <a:chExt cx="6110824" cy="410400"/>
          </a:xfrm>
        </p:grpSpPr>
        <p:sp>
          <p:nvSpPr>
            <p:cNvPr id="92" name="직사각형 91">
              <a:extLst>
                <a:ext uri="{FF2B5EF4-FFF2-40B4-BE49-F238E27FC236}">
                  <a16:creationId xmlns="" xmlns:a16="http://schemas.microsoft.com/office/drawing/2014/main" id="{B22CB68C-1A52-4323-9BA6-715C4CA74F06}"/>
                </a:ext>
              </a:extLst>
            </p:cNvPr>
            <p:cNvSpPr/>
            <p:nvPr/>
          </p:nvSpPr>
          <p:spPr>
            <a:xfrm>
              <a:off x="3060274" y="265856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목적 및 필요성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="" xmlns:a16="http://schemas.microsoft.com/office/drawing/2014/main" id="{746CCBF5-18E3-4846-B382-B28F40C95B89}"/>
                </a:ext>
              </a:extLst>
            </p:cNvPr>
            <p:cNvSpPr/>
            <p:nvPr/>
          </p:nvSpPr>
          <p:spPr>
            <a:xfrm>
              <a:off x="4095098" y="2658560"/>
              <a:ext cx="5076000" cy="4104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예산관리의 체계화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표준화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명확하고 원활한 절차 관리로 업무 편의성 제고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3060274" y="3842560"/>
            <a:ext cx="6110823" cy="1458103"/>
            <a:chOff x="3060274" y="3840310"/>
            <a:chExt cx="6110823" cy="1458103"/>
          </a:xfrm>
        </p:grpSpPr>
        <p:sp>
          <p:nvSpPr>
            <p:cNvPr id="94" name="직사각형 93">
              <a:extLst>
                <a:ext uri="{FF2B5EF4-FFF2-40B4-BE49-F238E27FC236}">
                  <a16:creationId xmlns="" xmlns:a16="http://schemas.microsoft.com/office/drawing/2014/main" id="{C70CC1FB-D735-4714-A12C-D27BF40CD53F}"/>
                </a:ext>
              </a:extLst>
            </p:cNvPr>
            <p:cNvSpPr/>
            <p:nvPr/>
          </p:nvSpPr>
          <p:spPr>
            <a:xfrm>
              <a:off x="3060274" y="384031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 방향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="" xmlns:a16="http://schemas.microsoft.com/office/drawing/2014/main" id="{5FC3F293-C2CE-4C3A-A082-2985541B2A49}"/>
                </a:ext>
              </a:extLst>
            </p:cNvPr>
            <p:cNvSpPr/>
            <p:nvPr/>
          </p:nvSpPr>
          <p:spPr>
            <a:xfrm>
              <a:off x="4095097" y="3840310"/>
              <a:ext cx="5076000" cy="1458103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예산편성</a:t>
              </a:r>
              <a:r>
                <a:rPr kumimoji="1" lang="ko-KR" altLang="en-US" sz="10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업무를 </a:t>
              </a:r>
              <a:r>
                <a:rPr kumimoji="1" lang="en-US" altLang="ko-KR" sz="1000" kern="0" dirty="0">
                  <a:solidFill>
                    <a:prstClr val="black"/>
                  </a:solidFill>
                  <a:latin typeface="+mn-ea"/>
                </a:rPr>
                <a:t>Analog </a:t>
              </a:r>
              <a:r>
                <a:rPr kumimoji="1" lang="ko-KR" altLang="en-US" sz="1000" kern="0" dirty="0">
                  <a:solidFill>
                    <a:prstClr val="black"/>
                  </a:solidFill>
                  <a:latin typeface="+mn-ea"/>
                </a:rPr>
                <a:t>방식에서 정형화되고 세분화된 </a:t>
              </a:r>
              <a:r>
                <a:rPr kumimoji="1" lang="en-US" altLang="ko-KR" sz="1000" kern="0" dirty="0">
                  <a:solidFill>
                    <a:prstClr val="black"/>
                  </a:solidFill>
                  <a:latin typeface="+mn-ea"/>
                </a:rPr>
                <a:t>Digital </a:t>
              </a:r>
              <a:r>
                <a:rPr kumimoji="1" lang="ko-KR" altLang="en-US" sz="1000" kern="0" dirty="0">
                  <a:solidFill>
                    <a:prstClr val="black"/>
                  </a:solidFill>
                  <a:latin typeface="+mn-ea"/>
                </a:rPr>
                <a:t>방식으로 전환하여 일관되고 명확한 예산편성과 다양한 예산분석 체계 설계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 편성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&gt;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배정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&gt;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조정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&gt;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집행통제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&gt;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실적집계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&gt;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예산결산 체계화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수주사업에 대한 예산관리 기준 마련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부문별 예산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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실행예산 관리 체계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  <a:sym typeface="Wingdings" panose="05000000000000000000" pitchFamily="2" charset="2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예산편성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~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예산결산 전 과정의 신청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/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승인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/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확정 처리의 전자결재 연동 처리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3060274" y="5444757"/>
            <a:ext cx="6110823" cy="728295"/>
            <a:chOff x="3060274" y="5588825"/>
            <a:chExt cx="6110823" cy="758942"/>
          </a:xfrm>
        </p:grpSpPr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9F60708A-697A-422E-84EB-603677EFF344}"/>
                </a:ext>
              </a:extLst>
            </p:cNvPr>
            <p:cNvSpPr/>
            <p:nvPr/>
          </p:nvSpPr>
          <p:spPr>
            <a:xfrm>
              <a:off x="3060274" y="5589313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고려사항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F3587659-245E-46A2-96B1-18B88C25A318}"/>
                </a:ext>
              </a:extLst>
            </p:cNvPr>
            <p:cNvSpPr/>
            <p:nvPr/>
          </p:nvSpPr>
          <p:spPr>
            <a:xfrm>
              <a:off x="4095097" y="5588825"/>
              <a:ext cx="5076000" cy="758942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예산코드 체계 재 편성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수주사업의 예산관리 기준 마련  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신청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~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승인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~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적용처리 프로세스의 표준화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4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88504" y="4859635"/>
            <a:ext cx="2028386" cy="453935"/>
            <a:chOff x="401216" y="2918940"/>
            <a:chExt cx="2310143" cy="551720"/>
          </a:xfrm>
        </p:grpSpPr>
        <p:sp>
          <p:nvSpPr>
            <p:cNvPr id="45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예산 조정</a:t>
              </a:r>
              <a:r>
                <a:rPr lang="en-US" altLang="ko-KR" sz="1000" b="1"/>
                <a:t>(</a:t>
              </a:r>
              <a:r>
                <a:rPr lang="ko-KR" altLang="en-US" sz="1000" b="1"/>
                <a:t>전용</a:t>
              </a:r>
              <a:r>
                <a:rPr lang="en-US" altLang="ko-KR" sz="1000" b="1"/>
                <a:t>/</a:t>
              </a:r>
              <a:r>
                <a:rPr lang="ko-KR" altLang="en-US" sz="1000" b="1"/>
                <a:t>이용</a:t>
              </a:r>
              <a:r>
                <a:rPr lang="en-US" altLang="ko-KR" sz="1000" b="1"/>
                <a:t>) </a:t>
              </a:r>
              <a:r>
                <a:rPr lang="ko-KR" altLang="en-US" sz="1000" b="1"/>
                <a:t>절차 </a:t>
              </a:r>
              <a:r>
                <a:rPr lang="ko-KR" altLang="en-US" sz="1000" b="1" smtClean="0"/>
                <a:t>전자결재 적용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6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5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7" name="그룹 104">
            <a:extLst>
              <a:ext uri="{FF2B5EF4-FFF2-40B4-BE49-F238E27FC236}">
                <a16:creationId xmlns="" xmlns:a16="http://schemas.microsoft.com/office/drawing/2014/main" id="{0A95ACFA-2726-46C1-AD8F-1D87F34F9A7C}"/>
              </a:ext>
            </a:extLst>
          </p:cNvPr>
          <p:cNvGrpSpPr/>
          <p:nvPr/>
        </p:nvGrpSpPr>
        <p:grpSpPr>
          <a:xfrm>
            <a:off x="488504" y="5381998"/>
            <a:ext cx="2028386" cy="453935"/>
            <a:chOff x="401216" y="2918940"/>
            <a:chExt cx="2310143" cy="551720"/>
          </a:xfrm>
        </p:grpSpPr>
        <p:sp>
          <p:nvSpPr>
            <p:cNvPr id="48" name="모서리가 둥근 직사각형 55">
              <a:extLst>
                <a:ext uri="{FF2B5EF4-FFF2-40B4-BE49-F238E27FC236}">
                  <a16:creationId xmlns="" xmlns:a16="http://schemas.microsoft.com/office/drawing/2014/main" id="{04CE164E-A277-4A8C-80F7-9A57D5BDEB44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 smtClean="0"/>
                <a:t>단계별 예산실적 </a:t>
              </a:r>
              <a:endParaRPr lang="en-US" altLang="ko-KR" sz="1000" b="1" smtClean="0"/>
            </a:p>
            <a:p>
              <a:pPr lvl="0" algn="ctr" defTabSz="979488" latinLnBrk="0">
                <a:defRPr/>
              </a:pPr>
              <a:r>
                <a:rPr lang="ko-KR" altLang="en-US" sz="1000" b="1" smtClean="0"/>
                <a:t>실시간 집계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9" name="직사각형 10">
              <a:extLst>
                <a:ext uri="{FF2B5EF4-FFF2-40B4-BE49-F238E27FC236}">
                  <a16:creationId xmlns="" xmlns:a16="http://schemas.microsoft.com/office/drawing/2014/main" id="{2BECFB51-2DF0-4032-B0F9-BE080AC78865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6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50" name="그룹 110">
            <a:extLst>
              <a:ext uri="{FF2B5EF4-FFF2-40B4-BE49-F238E27FC236}">
                <a16:creationId xmlns="" xmlns:a16="http://schemas.microsoft.com/office/drawing/2014/main" id="{01D653F6-8988-40E3-B1E2-1DCADFAA862B}"/>
              </a:ext>
            </a:extLst>
          </p:cNvPr>
          <p:cNvGrpSpPr/>
          <p:nvPr/>
        </p:nvGrpSpPr>
        <p:grpSpPr>
          <a:xfrm>
            <a:off x="488504" y="5904361"/>
            <a:ext cx="2028386" cy="453935"/>
            <a:chOff x="401216" y="2918940"/>
            <a:chExt cx="2310143" cy="551720"/>
          </a:xfrm>
        </p:grpSpPr>
        <p:sp>
          <p:nvSpPr>
            <p:cNvPr id="51" name="모서리가 둥근 직사각형 68">
              <a:extLst>
                <a:ext uri="{FF2B5EF4-FFF2-40B4-BE49-F238E27FC236}">
                  <a16:creationId xmlns="" xmlns:a16="http://schemas.microsoft.com/office/drawing/2014/main" id="{520DC5EA-0151-4A4B-876E-90A97C34C9B8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/>
                <a:t>예산 결산처리 체계화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52" name="직사각형 10">
              <a:extLst>
                <a:ext uri="{FF2B5EF4-FFF2-40B4-BE49-F238E27FC236}">
                  <a16:creationId xmlns="" xmlns:a16="http://schemas.microsoft.com/office/drawing/2014/main" id="{F245562B-A3CA-4671-93E0-C42AEAE43791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7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93431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예산코드 체계 및 예산편성 단위 체계를 개선하여 예산 편성과 관리를 용이하게 하고 회계시스템과 의 연계를 원활하게 할 수 있는 개선안을 제시함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2.3.2.1 </a:t>
            </a:r>
            <a:r>
              <a:rPr lang="ko-KR" altLang="en-US" sz="1800" smtClean="0"/>
              <a:t>예산코드 체계 </a:t>
            </a:r>
            <a:r>
              <a:rPr lang="ko-KR" altLang="en-US" sz="1800" dirty="0"/>
              <a:t>개선 방안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5053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1. 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예산코드 </a:t>
              </a: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및 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편성단위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개선 방안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31" name="표 3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020905"/>
              </p:ext>
            </p:extLst>
          </p:nvPr>
        </p:nvGraphicFramePr>
        <p:xfrm>
          <a:off x="504278" y="2057848"/>
          <a:ext cx="8881262" cy="41794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79831">
                  <a:extLst>
                    <a:ext uri="{9D8B030D-6E8A-4147-A177-3AD203B41FA5}">
                      <a16:colId xmlns="" xmlns:a16="http://schemas.microsoft.com/office/drawing/2014/main" val="1766189898"/>
                    </a:ext>
                  </a:extLst>
                </a:gridCol>
                <a:gridCol w="258877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812183">
                  <a:extLst>
                    <a:ext uri="{9D8B030D-6E8A-4147-A177-3AD203B41FA5}">
                      <a16:colId xmlns="" xmlns:a16="http://schemas.microsoft.com/office/drawing/2014/main" val="11045391"/>
                    </a:ext>
                  </a:extLst>
                </a:gridCol>
                <a:gridCol w="2700477">
                  <a:extLst>
                    <a:ext uri="{9D8B030D-6E8A-4147-A177-3AD203B41FA5}">
                      <a16:colId xmlns="" xmlns:a16="http://schemas.microsoft.com/office/drawing/2014/main" val="89462926"/>
                    </a:ext>
                  </a:extLst>
                </a:gridCol>
              </a:tblGrid>
              <a:tr h="614847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1200" b="1" i="0" u="none" strike="noStrike" spc="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1636" marR="1636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1200" b="1" i="0" u="none" strike="noStrike" spc="0" smtClean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예산코드 체계</a:t>
                      </a:r>
                      <a:endParaRPr lang="ko-KR" altLang="en-US" sz="1200" b="1" i="0" u="none" strike="noStrike" spc="0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636" marR="1636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1200" b="1" i="0" u="none" strike="noStrike" spc="0" smtClean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예산 편성단위 체계</a:t>
                      </a:r>
                      <a:endParaRPr lang="ko-KR" altLang="en-US" sz="1200" b="1" i="0" u="none" strike="noStrike" spc="0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636" marR="1636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ko-KR" altLang="en-US" sz="1200" b="1" i="0" u="none" strike="noStrike" spc="0" smtClean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기대 효과</a:t>
                      </a:r>
                      <a:endParaRPr lang="ko-KR" altLang="en-US" sz="1200" b="1" i="0" u="none" strike="noStrike" spc="0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636" marR="1636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79465">
                <a:tc>
                  <a:txBody>
                    <a:bodyPr/>
                    <a:lstStyle/>
                    <a:p>
                      <a:pPr algn="dist" fontAlgn="ctr">
                        <a:lnSpc>
                          <a:spcPct val="100000"/>
                        </a:lnSpc>
                      </a:pP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개선방안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2007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 사업별 예산제도를 시행하면서 정부에서 제시한 예산코드 체계를 준용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년도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예산세목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편성항목</a:t>
                      </a:r>
                      <a:endParaRPr kumimoji="0" lang="en-US" altLang="ko-KR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편성 단위별 구성 체계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(10</a:t>
                      </a: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단계</a:t>
                      </a: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연도별</a:t>
                      </a:r>
                      <a:r>
                        <a:rPr kumimoji="0" lang="en-US" altLang="ko-KR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사업별</a:t>
                      </a:r>
                      <a:r>
                        <a:rPr kumimoji="0" lang="en-US" altLang="ko-KR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부서별 체계적인</a:t>
                      </a: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None/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 예산 편성 및 실적 집계</a:t>
                      </a:r>
                      <a:r>
                        <a:rPr kumimoji="0" lang="en-US" altLang="ko-KR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예산 관련 현황 조회시 </a:t>
                      </a: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None/>
                        <a:tabLst>
                          <a:tab pos="628650" algn="l"/>
                        </a:tabLst>
                        <a:defRPr/>
                      </a:pPr>
                      <a:r>
                        <a:rPr kumimoji="0" lang="en-US" altLang="ko-KR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- 10</a:t>
                      </a: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단계의 계층별 조회</a:t>
                      </a:r>
                      <a:endParaRPr kumimoji="0" lang="ko-KR" alt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85127">
                <a:tc>
                  <a:txBody>
                    <a:bodyPr/>
                    <a:lstStyle/>
                    <a:p>
                      <a:pPr algn="dist" fontAlgn="ctr">
                        <a:lnSpc>
                          <a:spcPct val="100000"/>
                        </a:lnSpc>
                      </a:pPr>
                      <a:r>
                        <a:rPr lang="ko-KR" altLang="en-US" sz="1200" b="0" i="0" u="none" strike="noStrike" spc="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처리방법</a:t>
                      </a:r>
                      <a:endParaRPr lang="ko-KR" altLang="en-US" sz="1200" b="0" i="0" u="none" strike="noStrike" spc="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 typeface="Arial" panose="020B0604020202020204" pitchFamily="34" charset="0"/>
                        <a:buNone/>
                        <a:tabLst>
                          <a:tab pos="628650" algn="l"/>
                        </a:tabLst>
                        <a:defRPr/>
                      </a:pPr>
                      <a:endParaRPr kumimoji="0" lang="ko-KR" alt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endParaRPr kumimoji="0" lang="ko-KR" alt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None/>
                        <a:tabLst>
                          <a:tab pos="628650" algn="l"/>
                        </a:tabLst>
                        <a:defRPr/>
                      </a:pP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예산 편성항목별 회계 계정연결로</a:t>
                      </a: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None/>
                        <a:tabLst>
                          <a:tab pos="628650" algn="l"/>
                        </a:tabLst>
                        <a:defRPr/>
                      </a:pPr>
                      <a:r>
                        <a:rPr kumimoji="0" lang="en-US" altLang="ko-KR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12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예산 집행시 회계전표 생성 용이</a:t>
                      </a: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None/>
                        <a:tabLst>
                          <a:tab pos="628650" algn="l"/>
                        </a:tabLst>
                        <a:defRPr/>
                      </a:pPr>
                      <a:endParaRPr kumimoji="0" lang="en-US" altLang="ko-KR" sz="1200" b="0" i="0" u="none" strike="noStrike" kern="1200" cap="none" spc="0" normalizeH="0" baseline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46050" marR="0" lvl="0" indent="-146050" algn="l" defTabSz="914400" rtl="0" eaLnBrk="1" fontAlgn="auto" latinLnBrk="0" hangingPunct="1">
                        <a:lnSpc>
                          <a:spcPts val="18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rgbClr val="7F7F7F"/>
                        </a:buClr>
                        <a:buSzPct val="110000"/>
                        <a:buFontTx/>
                        <a:buBlip>
                          <a:blip r:embed="rId2"/>
                        </a:buBlip>
                        <a:tabLst>
                          <a:tab pos="628650" algn="l"/>
                        </a:tabLst>
                        <a:defRPr/>
                      </a:pPr>
                      <a:endParaRPr kumimoji="0" lang="ko-KR" alt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41850293"/>
                  </a:ext>
                </a:extLst>
              </a:tr>
            </a:tbl>
          </a:graphicData>
        </a:graphic>
      </p:graphicFrame>
      <p:grpSp>
        <p:nvGrpSpPr>
          <p:cNvPr id="7" name="그룹 6"/>
          <p:cNvGrpSpPr/>
          <p:nvPr/>
        </p:nvGrpSpPr>
        <p:grpSpPr>
          <a:xfrm>
            <a:off x="1375883" y="4192173"/>
            <a:ext cx="1116756" cy="1045072"/>
            <a:chOff x="1352600" y="4221088"/>
            <a:chExt cx="1675134" cy="1045072"/>
          </a:xfrm>
        </p:grpSpPr>
        <p:sp>
          <p:nvSpPr>
            <p:cNvPr id="1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352600" y="4221088"/>
              <a:ext cx="1675134" cy="1045072"/>
            </a:xfrm>
            <a:prstGeom prst="roundRect">
              <a:avLst>
                <a:gd name="adj" fmla="val 6913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36000" tIns="144000" rIns="0" bIns="0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100 </a:t>
              </a:r>
              <a:r>
                <a:rPr kumimoji="1" lang="ko-KR" altLang="en-US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인건비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110 </a:t>
              </a:r>
              <a:r>
                <a:rPr kumimoji="1" lang="ko-KR" altLang="en-US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급여</a:t>
              </a:r>
              <a:endPara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120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퇴직급여</a:t>
              </a:r>
              <a:endParaRPr kumimoji="1" lang="en-US" altLang="ko-KR" sz="800" kern="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200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경상운영비</a:t>
              </a:r>
              <a:endParaRPr kumimoji="1" lang="en-US" altLang="ko-KR" sz="800" kern="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210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급여성복리후생비</a:t>
              </a: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215 </a:t>
              </a:r>
              <a:r>
                <a:rPr kumimoji="1" lang="ko-KR" altLang="en-US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비급여서 복리후생</a:t>
              </a:r>
              <a:endPara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220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공공요금및제세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352600" y="4221088"/>
              <a:ext cx="1675134" cy="120621"/>
            </a:xfrm>
            <a:prstGeom prst="round2Same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예산과목</a:t>
              </a:r>
              <a:endPara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3" name="그룹 12"/>
          <p:cNvGrpSpPr/>
          <p:nvPr/>
        </p:nvGrpSpPr>
        <p:grpSpPr>
          <a:xfrm>
            <a:off x="2744035" y="4189393"/>
            <a:ext cx="1051552" cy="1047852"/>
            <a:chOff x="1028564" y="4221088"/>
            <a:chExt cx="1577328" cy="1047852"/>
          </a:xfrm>
        </p:grpSpPr>
        <p:sp>
          <p:nvSpPr>
            <p:cNvPr id="14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028564" y="4221088"/>
              <a:ext cx="1577328" cy="1047852"/>
            </a:xfrm>
            <a:prstGeom prst="roundRect">
              <a:avLst>
                <a:gd name="adj" fmla="val 6913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36000" tIns="144000" rIns="0" bIns="0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110-01</a:t>
              </a:r>
              <a:r>
                <a:rPr kumimoji="1" lang="en-US" altLang="ko-KR" sz="800" i="0" u="none" strike="noStrike" kern="0" cap="none" spc="0" normalizeH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1" lang="ko-KR" altLang="en-US" sz="800" i="0" u="none" strike="noStrike" kern="0" cap="none" spc="0" normalizeH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연봉</a:t>
              </a:r>
              <a:endParaRPr kumimoji="1" lang="en-US" altLang="ko-KR" sz="800" i="0" u="none" strike="noStrike" kern="0" cap="none" spc="0" normalizeH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baseline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110-02 </a:t>
              </a:r>
              <a:r>
                <a:rPr kumimoji="1" lang="ko-KR" altLang="en-US" sz="800" kern="0" baseline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성과연봉</a:t>
              </a:r>
              <a:endParaRPr kumimoji="1" lang="en-US" altLang="ko-KR" sz="800" kern="0" baseline="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110-03 </a:t>
              </a:r>
              <a:r>
                <a:rPr kumimoji="1" lang="ko-KR" altLang="en-US" sz="800" i="0" u="none" strike="noStrike" kern="0" cap="none" spc="0" normalizeH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연봉외수당</a:t>
              </a:r>
              <a:endParaRPr kumimoji="1" lang="en-US" altLang="ko-KR" sz="800" i="0" u="none" strike="noStrike" kern="0" cap="none" spc="0" normalizeH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baseline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110-04 </a:t>
              </a:r>
              <a:r>
                <a:rPr kumimoji="1" lang="ko-KR" altLang="en-US" sz="800" kern="0" baseline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특수지근무수당</a:t>
              </a:r>
              <a:endParaRPr kumimoji="1" lang="en-US" altLang="ko-KR" sz="800" kern="0" baseline="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120-01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퇴직급여</a:t>
              </a:r>
              <a:endParaRPr kumimoji="1" lang="en-US" altLang="ko-KR" sz="800" kern="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210-01 </a:t>
              </a:r>
              <a:r>
                <a:rPr kumimoji="1" lang="ko-KR" altLang="en-US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학자금보조</a:t>
              </a:r>
              <a:endPara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  <a:p>
              <a:pPr marL="0" marR="0" lvl="0" indent="0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210-02 </a:t>
              </a:r>
              <a:r>
                <a:rPr kumimoji="1" lang="ko-KR" altLang="en-US" sz="800" kern="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근격근무비</a:t>
              </a:r>
              <a:r>
                <a:rPr kumimoji="1" lang="en-US" altLang="ko-KR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  </a:t>
              </a:r>
              <a:endPara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028564" y="4221088"/>
              <a:ext cx="1577328" cy="123401"/>
            </a:xfrm>
            <a:prstGeom prst="round2Same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ker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kumimoji="1" lang="ko-KR" altLang="en-US" sz="800" b="1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산세목</a:t>
              </a:r>
              <a:endPara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6" name="그룹 15"/>
          <p:cNvGrpSpPr/>
          <p:nvPr/>
        </p:nvGrpSpPr>
        <p:grpSpPr>
          <a:xfrm>
            <a:off x="2245745" y="5373216"/>
            <a:ext cx="814053" cy="337509"/>
            <a:chOff x="1646398" y="4209056"/>
            <a:chExt cx="814053" cy="337509"/>
          </a:xfrm>
        </p:grpSpPr>
        <p:sp>
          <p:nvSpPr>
            <p:cNvPr id="17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656411" y="4221088"/>
              <a:ext cx="804040" cy="325477"/>
            </a:xfrm>
            <a:prstGeom prst="roundRect">
              <a:avLst>
                <a:gd name="adj" fmla="val 6913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36000" tIns="144000" rIns="0" bIns="0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예산편성항목</a:t>
              </a:r>
              <a:endPara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1646398" y="4209056"/>
              <a:ext cx="804805" cy="135531"/>
            </a:xfrm>
            <a:prstGeom prst="round2Same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예산편성 </a:t>
              </a:r>
              <a:endPara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9" name="직선 연결선 8"/>
          <p:cNvCxnSpPr>
            <a:stCxn id="10" idx="2"/>
            <a:endCxn id="17" idx="1"/>
          </p:cNvCxnSpPr>
          <p:nvPr/>
        </p:nvCxnSpPr>
        <p:spPr>
          <a:xfrm rot="16200000" flipH="1">
            <a:off x="1939638" y="5231867"/>
            <a:ext cx="310742" cy="321497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8"/>
          <p:cNvCxnSpPr>
            <a:stCxn id="14" idx="2"/>
            <a:endCxn id="17" idx="3"/>
          </p:cNvCxnSpPr>
          <p:nvPr/>
        </p:nvCxnSpPr>
        <p:spPr>
          <a:xfrm rot="5400000">
            <a:off x="3009434" y="5287610"/>
            <a:ext cx="310742" cy="210013"/>
          </a:xfrm>
          <a:prstGeom prst="bentConnector2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8"/>
          <p:cNvCxnSpPr/>
          <p:nvPr/>
        </p:nvCxnSpPr>
        <p:spPr>
          <a:xfrm>
            <a:off x="1867907" y="5310181"/>
            <a:ext cx="144016" cy="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8"/>
          <p:cNvCxnSpPr/>
          <p:nvPr/>
        </p:nvCxnSpPr>
        <p:spPr>
          <a:xfrm>
            <a:off x="3200147" y="5310181"/>
            <a:ext cx="144016" cy="0"/>
          </a:xfrm>
          <a:prstGeom prst="straightConnector1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/>
          <p:cNvGrpSpPr/>
          <p:nvPr/>
        </p:nvGrpSpPr>
        <p:grpSpPr>
          <a:xfrm>
            <a:off x="2048802" y="5467046"/>
            <a:ext cx="72006" cy="143096"/>
            <a:chOff x="1928666" y="5792536"/>
            <a:chExt cx="72006" cy="143096"/>
          </a:xfrm>
        </p:grpSpPr>
        <p:cxnSp>
          <p:nvCxnSpPr>
            <p:cNvPr id="32" name="직선 연결선 8"/>
            <p:cNvCxnSpPr/>
            <p:nvPr/>
          </p:nvCxnSpPr>
          <p:spPr>
            <a:xfrm>
              <a:off x="1936141" y="5792536"/>
              <a:ext cx="0" cy="143096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8"/>
            <p:cNvCxnSpPr/>
            <p:nvPr/>
          </p:nvCxnSpPr>
          <p:spPr>
            <a:xfrm flipH="1">
              <a:off x="1936141" y="5792536"/>
              <a:ext cx="64531" cy="71548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8"/>
            <p:cNvCxnSpPr/>
            <p:nvPr/>
          </p:nvCxnSpPr>
          <p:spPr>
            <a:xfrm flipH="1" flipV="1">
              <a:off x="1928666" y="5864084"/>
              <a:ext cx="72006" cy="71548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flipH="1">
            <a:off x="3128920" y="5467046"/>
            <a:ext cx="72006" cy="143096"/>
            <a:chOff x="1928666" y="5792390"/>
            <a:chExt cx="72006" cy="143096"/>
          </a:xfrm>
        </p:grpSpPr>
        <p:cxnSp>
          <p:nvCxnSpPr>
            <p:cNvPr id="46" name="직선 연결선 8"/>
            <p:cNvCxnSpPr/>
            <p:nvPr/>
          </p:nvCxnSpPr>
          <p:spPr>
            <a:xfrm>
              <a:off x="1936141" y="5792390"/>
              <a:ext cx="0" cy="143096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8"/>
            <p:cNvCxnSpPr/>
            <p:nvPr/>
          </p:nvCxnSpPr>
          <p:spPr>
            <a:xfrm flipH="1">
              <a:off x="1936141" y="5792390"/>
              <a:ext cx="64531" cy="71548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8"/>
            <p:cNvCxnSpPr/>
            <p:nvPr/>
          </p:nvCxnSpPr>
          <p:spPr>
            <a:xfrm flipH="1" flipV="1">
              <a:off x="1928666" y="5863938"/>
              <a:ext cx="72006" cy="71548"/>
            </a:xfrm>
            <a:prstGeom prst="straightConnector1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771535"/>
              </p:ext>
            </p:extLst>
          </p:nvPr>
        </p:nvGraphicFramePr>
        <p:xfrm>
          <a:off x="1570421" y="3405309"/>
          <a:ext cx="642888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4296"/>
                <a:gridCol w="214296"/>
                <a:gridCol w="214296"/>
              </a:tblGrid>
              <a:tr h="163999"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2362059"/>
              </p:ext>
            </p:extLst>
          </p:nvPr>
        </p:nvGraphicFramePr>
        <p:xfrm>
          <a:off x="2370184" y="3404755"/>
          <a:ext cx="422576" cy="24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4296"/>
                <a:gridCol w="208280"/>
              </a:tblGrid>
              <a:tr h="163999"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cxnSp>
        <p:nvCxnSpPr>
          <p:cNvPr id="12" name="직선 연결선 11"/>
          <p:cNvCxnSpPr/>
          <p:nvPr/>
        </p:nvCxnSpPr>
        <p:spPr>
          <a:xfrm>
            <a:off x="1570421" y="3717032"/>
            <a:ext cx="642888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2353658" y="3717032"/>
            <a:ext cx="439102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1593982" y="3742377"/>
            <a:ext cx="6976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smtClean="0"/>
              <a:t>예산과목</a:t>
            </a:r>
            <a:endParaRPr lang="ko-KR" altLang="en-US" sz="1000" dirty="0" err="1" smtClean="0"/>
          </a:p>
        </p:txBody>
      </p:sp>
      <p:sp>
        <p:nvSpPr>
          <p:cNvPr id="160" name="TextBox 159"/>
          <p:cNvSpPr txBox="1"/>
          <p:nvPr/>
        </p:nvSpPr>
        <p:spPr>
          <a:xfrm>
            <a:off x="2264640" y="3729064"/>
            <a:ext cx="6976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smtClean="0"/>
              <a:t>예산세목</a:t>
            </a:r>
            <a:endParaRPr lang="ko-KR" altLang="en-US" sz="1000" dirty="0" err="1" smtClean="0"/>
          </a:p>
        </p:txBody>
      </p:sp>
      <p:graphicFrame>
        <p:nvGraphicFramePr>
          <p:cNvPr id="37" name="표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9631301"/>
              </p:ext>
            </p:extLst>
          </p:nvPr>
        </p:nvGraphicFramePr>
        <p:xfrm>
          <a:off x="1288618" y="5689681"/>
          <a:ext cx="2572414" cy="441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8198"/>
                <a:gridCol w="1944216"/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예산편성항목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편성 내역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smtClean="0"/>
                        <a:t>임원기본연봉 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/>
                        <a:t>10,857,000*1.038 [</a:t>
                      </a:r>
                      <a:r>
                        <a:rPr lang="ko-KR" altLang="en-US" sz="700" smtClean="0"/>
                        <a:t>전년대비 </a:t>
                      </a:r>
                      <a:r>
                        <a:rPr lang="en-US" altLang="ko-KR" sz="700" smtClean="0"/>
                        <a:t>3.8%</a:t>
                      </a:r>
                      <a:r>
                        <a:rPr lang="ko-KR" altLang="en-US" sz="700" smtClean="0"/>
                        <a:t>인상</a:t>
                      </a:r>
                      <a:r>
                        <a:rPr lang="en-US" altLang="ko-KR" sz="700" smtClean="0"/>
                        <a:t>]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smtClean="0"/>
                        <a:t>직원기본연봉 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smtClean="0"/>
                        <a:t> </a:t>
                      </a:r>
                      <a:r>
                        <a:rPr lang="en-US" altLang="ko-KR" sz="700" smtClean="0"/>
                        <a:t>(80,400,000*16+70,000,000*31+58,0 ...%</a:t>
                      </a:r>
                      <a:r>
                        <a:rPr lang="ko-KR" altLang="en-US" sz="700" smtClean="0"/>
                        <a:t>인상</a:t>
                      </a:r>
                      <a:r>
                        <a:rPr lang="en-US" altLang="ko-KR" sz="700" smtClean="0"/>
                        <a:t>]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</a:rPr>
                        <a:t>무기계약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</a:rPr>
                        <a:t>..</a:t>
                      </a:r>
                      <a:r>
                        <a:rPr lang="ko-KR" altLang="en-US" sz="700" smtClean="0">
                          <a:solidFill>
                            <a:schemeClr val="tx1"/>
                          </a:solidFill>
                        </a:rPr>
                        <a:t>연봉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smtClean="0"/>
                        <a:t>19,902,000*1.024*1.038*8</a:t>
                      </a:r>
                      <a:r>
                        <a:rPr lang="ko-KR" altLang="en-US" sz="700" smtClean="0"/>
                        <a:t>명</a:t>
                      </a:r>
                      <a:r>
                        <a:rPr lang="en-US" altLang="ko-KR" sz="700" smtClean="0"/>
                        <a:t>[</a:t>
                      </a:r>
                      <a:r>
                        <a:rPr lang="ko-KR" altLang="en-US" sz="700" smtClean="0"/>
                        <a:t>전년대비 </a:t>
                      </a:r>
                      <a:r>
                        <a:rPr lang="en-US" altLang="ko-KR" sz="700" smtClean="0"/>
                        <a:t>2</a:t>
                      </a:r>
                      <a:r>
                        <a:rPr lang="ko-KR" altLang="en-US" sz="700" smtClean="0"/>
                        <a:t>명 증원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71" name="표 1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8370879"/>
              </p:ext>
            </p:extLst>
          </p:nvPr>
        </p:nvGraphicFramePr>
        <p:xfrm>
          <a:off x="3919864" y="4189393"/>
          <a:ext cx="2735503" cy="97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9356"/>
                <a:gridCol w="2026147"/>
              </a:tblGrid>
              <a:tr h="936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구조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9362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년도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smtClean="0"/>
                        <a:t>년도 </a:t>
                      </a:r>
                      <a:r>
                        <a:rPr lang="en-US" altLang="ko-KR" sz="800" smtClean="0"/>
                        <a:t>4</a:t>
                      </a:r>
                      <a:r>
                        <a:rPr lang="ko-KR" altLang="en-US" sz="800" smtClean="0"/>
                        <a:t>자리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2459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사업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dk1"/>
                          </a:solidFill>
                        </a:rPr>
                        <a:t>운영사업은 사업단위 편성</a:t>
                      </a:r>
                      <a:endParaRPr lang="en-US" altLang="ko-KR" sz="800" smtClean="0">
                        <a:solidFill>
                          <a:schemeClr val="dk1"/>
                        </a:solidFill>
                      </a:endParaRPr>
                    </a:p>
                    <a:p>
                      <a:pPr latinLnBrk="1"/>
                      <a:r>
                        <a:rPr lang="ko-KR" altLang="en-US" sz="800" smtClean="0">
                          <a:solidFill>
                            <a:schemeClr val="dk1"/>
                          </a:solidFill>
                        </a:rPr>
                        <a:t>수주사업은 예정사업 부문별 총액예산 편성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0608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운영사업은 부서별 편성</a:t>
                      </a:r>
                      <a:endParaRPr lang="en-US" altLang="ko-KR" sz="800" smtClean="0">
                        <a:solidFill>
                          <a:schemeClr val="tx1"/>
                        </a:solidFill>
                      </a:endParaRPr>
                    </a:p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수주사업은 수주시 부서별 편성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7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예산코드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 세목별 편성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7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편성항목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 세목내의 편성항목명 단위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963018"/>
              </p:ext>
            </p:extLst>
          </p:nvPr>
        </p:nvGraphicFramePr>
        <p:xfrm>
          <a:off x="4088904" y="3270871"/>
          <a:ext cx="2180834" cy="7341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2642"/>
                <a:gridCol w="1440160"/>
                <a:gridCol w="288032"/>
              </a:tblGrid>
              <a:tr h="936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구성 체계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단계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9362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년도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 편성 년도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 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2459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사업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분야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부문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단위사업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실행사업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0608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본부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사업장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7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예산코드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과목</a:t>
                      </a:r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797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소계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10</a:t>
                      </a:r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단계의 구성체계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75" name="표 1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9643951"/>
              </p:ext>
            </p:extLst>
          </p:nvPr>
        </p:nvGraphicFramePr>
        <p:xfrm>
          <a:off x="3932856" y="5360477"/>
          <a:ext cx="2712144" cy="8048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6088"/>
                <a:gridCol w="2196056"/>
              </a:tblGrid>
              <a:tr h="1359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단위구분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편성 내역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0872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년도 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smtClean="0"/>
                        <a:t>2024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596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/>
                        <a:t>사업코드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20100201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0872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부서코드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/>
                        <a:t>19,902,000*1.024*1.038*8</a:t>
                      </a:r>
                      <a:r>
                        <a:rPr lang="ko-KR" altLang="en-US" sz="800" smtClean="0"/>
                        <a:t>명</a:t>
                      </a:r>
                      <a:r>
                        <a:rPr lang="en-US" altLang="ko-KR" sz="800" smtClean="0"/>
                        <a:t>[</a:t>
                      </a:r>
                      <a:r>
                        <a:rPr lang="ko-KR" altLang="en-US" sz="800" smtClean="0"/>
                        <a:t>전년대비 </a:t>
                      </a:r>
                      <a:r>
                        <a:rPr lang="en-US" altLang="ko-KR" sz="800" smtClean="0"/>
                        <a:t>2</a:t>
                      </a:r>
                      <a:r>
                        <a:rPr lang="ko-KR" altLang="en-US" sz="800" smtClean="0"/>
                        <a:t>명 증원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08721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예산코드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smtClean="0">
                          <a:solidFill>
                            <a:schemeClr val="tx1"/>
                          </a:solidFill>
                        </a:rPr>
                        <a:t>110-01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7143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편성항목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</a:rPr>
                        <a:t>무기계약직연봉</a:t>
                      </a:r>
                      <a:endParaRPr lang="ko-KR" altLang="en-US" sz="8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501273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/>
              <a:t>각 부서에서 예산을 </a:t>
            </a:r>
            <a:r>
              <a:rPr lang="ko-KR" altLang="en-US" smtClean="0"/>
              <a:t>편성하여 </a:t>
            </a:r>
            <a:r>
              <a:rPr lang="ko-KR" altLang="en-US"/>
              <a:t>부서별 마감 및 부서장 승인을 통해 예산파트에 제출하고</a:t>
            </a:r>
            <a:r>
              <a:rPr lang="en-US" altLang="ko-KR"/>
              <a:t>, </a:t>
            </a:r>
            <a:r>
              <a:rPr lang="ko-KR" altLang="en-US"/>
              <a:t>예산파트는 이를 취합하여 </a:t>
            </a:r>
            <a:r>
              <a:rPr lang="ko-KR" altLang="en-US" smtClean="0"/>
              <a:t>해당 차수 예산을 </a:t>
            </a:r>
            <a:r>
              <a:rPr lang="ko-KR" altLang="en-US"/>
              <a:t>마감하고</a:t>
            </a:r>
            <a:r>
              <a:rPr lang="en-US" altLang="ko-KR"/>
              <a:t>, </a:t>
            </a:r>
            <a:r>
              <a:rPr lang="ko-KR" altLang="en-US" smtClean="0"/>
              <a:t>검토</a:t>
            </a:r>
            <a:r>
              <a:rPr lang="en-US" altLang="ko-KR" smtClean="0"/>
              <a:t>/</a:t>
            </a:r>
            <a:r>
              <a:rPr lang="ko-KR" altLang="en-US" smtClean="0"/>
              <a:t>조정사항을 </a:t>
            </a:r>
            <a:r>
              <a:rPr lang="ko-KR" altLang="en-US"/>
              <a:t>각 부서에 </a:t>
            </a:r>
            <a:r>
              <a:rPr lang="ko-KR" altLang="en-US" smtClean="0"/>
              <a:t>통보한다</a:t>
            </a:r>
            <a:r>
              <a:rPr lang="en-US" altLang="ko-KR" smtClean="0"/>
              <a:t>. </a:t>
            </a:r>
            <a:r>
              <a:rPr lang="ko-KR" altLang="en-US" smtClean="0"/>
              <a:t>각 </a:t>
            </a:r>
            <a:r>
              <a:rPr lang="ko-KR" altLang="en-US"/>
              <a:t>부서에서는 다음 차수로 예산을 복사한 후</a:t>
            </a:r>
            <a:r>
              <a:rPr lang="en-US" altLang="ko-KR"/>
              <a:t>, </a:t>
            </a:r>
            <a:r>
              <a:rPr lang="ko-KR" altLang="en-US" smtClean="0"/>
              <a:t>조정사항을 </a:t>
            </a:r>
            <a:r>
              <a:rPr lang="ko-KR" altLang="en-US"/>
              <a:t>반영하여 </a:t>
            </a:r>
            <a:r>
              <a:rPr lang="ko-KR" altLang="en-US" smtClean="0"/>
              <a:t>예산파트로 </a:t>
            </a:r>
            <a:r>
              <a:rPr lang="ko-KR" altLang="en-US"/>
              <a:t>이첩하는 형태로 절차를 </a:t>
            </a:r>
            <a:r>
              <a:rPr lang="ko-KR" altLang="en-US" smtClean="0"/>
              <a:t>체계화함</a:t>
            </a:r>
            <a:endParaRPr lang="ko-KR" altLang="en-US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2.3.2.2 </a:t>
            </a:r>
            <a:r>
              <a:rPr lang="ko-KR" altLang="en-US" sz="1800" smtClean="0"/>
              <a:t>예산편성절차 체계화 및 입력 화면 재구성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3148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편성 절차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" name="순서도: 처리 7"/>
          <p:cNvSpPr/>
          <p:nvPr/>
        </p:nvSpPr>
        <p:spPr>
          <a:xfrm>
            <a:off x="622995" y="2258566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각 부서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편성</a:t>
            </a:r>
          </a:p>
        </p:txBody>
      </p:sp>
      <p:sp>
        <p:nvSpPr>
          <p:cNvPr id="41" name="순서도: 처리 40"/>
          <p:cNvSpPr/>
          <p:nvPr/>
        </p:nvSpPr>
        <p:spPr>
          <a:xfrm>
            <a:off x="2063155" y="2258566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각 부서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마감</a:t>
            </a:r>
          </a:p>
        </p:txBody>
      </p:sp>
      <p:sp>
        <p:nvSpPr>
          <p:cNvPr id="20" name="다이아몬드 19"/>
          <p:cNvSpPr/>
          <p:nvPr/>
        </p:nvSpPr>
        <p:spPr>
          <a:xfrm>
            <a:off x="3503315" y="2258566"/>
            <a:ext cx="864096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부서장승인</a:t>
            </a:r>
          </a:p>
        </p:txBody>
      </p:sp>
      <p:sp>
        <p:nvSpPr>
          <p:cNvPr id="43" name="순서도: 처리 42"/>
          <p:cNvSpPr/>
          <p:nvPr/>
        </p:nvSpPr>
        <p:spPr>
          <a:xfrm>
            <a:off x="4946551" y="2258566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예산파트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취합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조정안</a:t>
            </a:r>
          </a:p>
        </p:txBody>
      </p:sp>
      <p:sp>
        <p:nvSpPr>
          <p:cNvPr id="44" name="순서도: 처리 43"/>
          <p:cNvSpPr/>
          <p:nvPr/>
        </p:nvSpPr>
        <p:spPr>
          <a:xfrm>
            <a:off x="7751787" y="2258566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예산안 확정</a:t>
            </a:r>
          </a:p>
        </p:txBody>
      </p:sp>
      <p:sp>
        <p:nvSpPr>
          <p:cNvPr id="49" name="다이아몬드 48"/>
          <p:cNvSpPr/>
          <p:nvPr/>
        </p:nvSpPr>
        <p:spPr>
          <a:xfrm>
            <a:off x="6383635" y="2257822"/>
            <a:ext cx="864096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파트장승인</a:t>
            </a:r>
          </a:p>
        </p:txBody>
      </p:sp>
      <p:cxnSp>
        <p:nvCxnSpPr>
          <p:cNvPr id="23" name="직선 화살표 연결선 22"/>
          <p:cNvCxnSpPr>
            <a:stCxn id="8" idx="3"/>
            <a:endCxn id="41" idx="1"/>
          </p:cNvCxnSpPr>
          <p:nvPr/>
        </p:nvCxnSpPr>
        <p:spPr>
          <a:xfrm>
            <a:off x="1487091" y="2438214"/>
            <a:ext cx="576064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>
            <a:stCxn id="41" idx="3"/>
            <a:endCxn id="20" idx="1"/>
          </p:cNvCxnSpPr>
          <p:nvPr/>
        </p:nvCxnSpPr>
        <p:spPr>
          <a:xfrm>
            <a:off x="2927251" y="2438214"/>
            <a:ext cx="576064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>
            <a:stCxn id="20" idx="3"/>
            <a:endCxn id="43" idx="1"/>
          </p:cNvCxnSpPr>
          <p:nvPr/>
        </p:nvCxnSpPr>
        <p:spPr>
          <a:xfrm>
            <a:off x="4367411" y="2438214"/>
            <a:ext cx="579140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/>
          <p:cNvCxnSpPr>
            <a:stCxn id="43" idx="3"/>
            <a:endCxn id="49" idx="1"/>
          </p:cNvCxnSpPr>
          <p:nvPr/>
        </p:nvCxnSpPr>
        <p:spPr>
          <a:xfrm flipV="1">
            <a:off x="5810647" y="2437470"/>
            <a:ext cx="572988" cy="74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stCxn id="49" idx="3"/>
          </p:cNvCxnSpPr>
          <p:nvPr/>
        </p:nvCxnSpPr>
        <p:spPr>
          <a:xfrm>
            <a:off x="7247731" y="2437470"/>
            <a:ext cx="504056" cy="3674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꺾인 연결선 39"/>
          <p:cNvCxnSpPr>
            <a:stCxn id="20" idx="2"/>
            <a:endCxn id="8" idx="2"/>
          </p:cNvCxnSpPr>
          <p:nvPr/>
        </p:nvCxnSpPr>
        <p:spPr>
          <a:xfrm rot="5400000">
            <a:off x="2495203" y="1177702"/>
            <a:ext cx="12700" cy="2880320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꺾인 연결선 50"/>
          <p:cNvCxnSpPr>
            <a:stCxn id="43" idx="0"/>
            <a:endCxn id="8" idx="0"/>
          </p:cNvCxnSpPr>
          <p:nvPr/>
        </p:nvCxnSpPr>
        <p:spPr>
          <a:xfrm rot="16200000" flipV="1">
            <a:off x="3216821" y="96788"/>
            <a:ext cx="12700" cy="4323556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4151167" y="2025892"/>
            <a:ext cx="82586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smtClean="0"/>
              <a:t>예산조정안</a:t>
            </a:r>
            <a:endParaRPr lang="ko-KR" altLang="en-US" sz="1000" dirty="0" err="1" smtClean="0"/>
          </a:p>
        </p:txBody>
      </p:sp>
      <p:sp>
        <p:nvSpPr>
          <p:cNvPr id="62" name="직사각형 61">
            <a:extLst>
              <a:ext uri="{FF2B5EF4-FFF2-40B4-BE49-F238E27FC236}">
                <a16:creationId xmlns="" xmlns:a16="http://schemas.microsoft.com/office/drawing/2014/main" id="{B9CCFF9F-D826-4F53-A031-AAA0CDD8979D}"/>
              </a:ext>
            </a:extLst>
          </p:cNvPr>
          <p:cNvSpPr/>
          <p:nvPr/>
        </p:nvSpPr>
        <p:spPr bwMode="auto">
          <a:xfrm>
            <a:off x="334963" y="2941934"/>
            <a:ext cx="9174167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lvl="0" algn="ctr" latinLnBrk="0">
              <a:defRPr/>
            </a:pPr>
            <a:r>
              <a:rPr lang="ko-KR" altLang="en-US" sz="1400" b="1" kern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예산 신청 편성화면 변경</a:t>
            </a:r>
            <a:endParaRPr lang="en-US" altLang="ko-KR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순서도: 대체 처리 53"/>
          <p:cNvSpPr/>
          <p:nvPr/>
        </p:nvSpPr>
        <p:spPr>
          <a:xfrm>
            <a:off x="344488" y="3265934"/>
            <a:ext cx="720080" cy="216024"/>
          </a:xfrm>
          <a:prstGeom prst="flowChartAlternate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현행 화면</a:t>
            </a:r>
          </a:p>
        </p:txBody>
      </p:sp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9536744"/>
              </p:ext>
            </p:extLst>
          </p:nvPr>
        </p:nvGraphicFramePr>
        <p:xfrm>
          <a:off x="1121891" y="3323312"/>
          <a:ext cx="8214070" cy="627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7208"/>
                <a:gridCol w="432048"/>
                <a:gridCol w="1080120"/>
                <a:gridCol w="1336252"/>
                <a:gridCol w="821407"/>
                <a:gridCol w="821407"/>
                <a:gridCol w="821407"/>
                <a:gridCol w="1672135"/>
                <a:gridCol w="504056"/>
                <a:gridCol w="288030"/>
              </a:tblGrid>
              <a:tr h="156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차수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부서명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사업명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예산과목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 내역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금액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6" name="직사각형 55"/>
          <p:cNvSpPr/>
          <p:nvPr/>
        </p:nvSpPr>
        <p:spPr>
          <a:xfrm>
            <a:off x="1074266" y="3260601"/>
            <a:ext cx="5045720" cy="740954"/>
          </a:xfrm>
          <a:prstGeom prst="rect">
            <a:avLst/>
          </a:prstGeom>
          <a:noFill/>
          <a:ln w="19050">
            <a:solidFill>
              <a:srgbClr val="FF0000"/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57" name="줄무늬가 있는 오른쪽 화살표 56"/>
          <p:cNvSpPr/>
          <p:nvPr/>
        </p:nvSpPr>
        <p:spPr>
          <a:xfrm>
            <a:off x="5796905" y="3713523"/>
            <a:ext cx="576064" cy="288032"/>
          </a:xfrm>
          <a:prstGeom prst="stripedRight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smtClean="0">
                <a:solidFill>
                  <a:schemeClr val="tx1"/>
                </a:solidFill>
              </a:rPr>
              <a:t>스크롤</a:t>
            </a:r>
          </a:p>
        </p:txBody>
      </p:sp>
      <p:sp>
        <p:nvSpPr>
          <p:cNvPr id="67" name="순서도: 대체 처리 66"/>
          <p:cNvSpPr/>
          <p:nvPr/>
        </p:nvSpPr>
        <p:spPr>
          <a:xfrm>
            <a:off x="342429" y="4113345"/>
            <a:ext cx="720080" cy="216024"/>
          </a:xfrm>
          <a:prstGeom prst="flowChartAlternate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변경 화면</a:t>
            </a:r>
          </a:p>
        </p:txBody>
      </p:sp>
      <p:graphicFrame>
        <p:nvGraphicFramePr>
          <p:cNvPr id="68" name="표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044500"/>
              </p:ext>
            </p:extLst>
          </p:nvPr>
        </p:nvGraphicFramePr>
        <p:xfrm>
          <a:off x="1100956" y="4331550"/>
          <a:ext cx="4928442" cy="4703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7208"/>
                <a:gridCol w="432048"/>
                <a:gridCol w="1080120"/>
                <a:gridCol w="1336252"/>
                <a:gridCol w="821407"/>
                <a:gridCol w="821407"/>
              </a:tblGrid>
              <a:tr h="156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차수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부서명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사업명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예산과목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2511307"/>
              </p:ext>
            </p:extLst>
          </p:nvPr>
        </p:nvGraphicFramePr>
        <p:xfrm>
          <a:off x="1100956" y="4962132"/>
          <a:ext cx="4928442" cy="627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4127"/>
                <a:gridCol w="936104"/>
                <a:gridCol w="2629615"/>
                <a:gridCol w="667290"/>
                <a:gridCol w="381306"/>
              </a:tblGrid>
              <a:tr h="156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 내역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금액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6777"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70" name="직사각형 69"/>
          <p:cNvSpPr/>
          <p:nvPr/>
        </p:nvSpPr>
        <p:spPr>
          <a:xfrm>
            <a:off x="1061393" y="4308864"/>
            <a:ext cx="5045720" cy="1339461"/>
          </a:xfrm>
          <a:prstGeom prst="rect">
            <a:avLst/>
          </a:prstGeom>
          <a:noFill/>
          <a:ln w="19050">
            <a:solidFill>
              <a:srgbClr val="0000CC"/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019994" y="4075375"/>
            <a:ext cx="475322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smtClean="0">
                <a:solidFill>
                  <a:srgbClr val="0000CC"/>
                </a:solidFill>
              </a:rPr>
              <a:t>★ 화면에서 좌우 스크롤하지 않고 화면내에서 입력힐 수 있도록 화면 변경 </a:t>
            </a:r>
            <a:endParaRPr lang="ko-KR" altLang="en-US" sz="1050" b="1" dirty="0" err="1" smtClean="0">
              <a:solidFill>
                <a:srgbClr val="0000CC"/>
              </a:solidFill>
            </a:endParaRPr>
          </a:p>
        </p:txBody>
      </p: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3495367"/>
              </p:ext>
            </p:extLst>
          </p:nvPr>
        </p:nvGraphicFramePr>
        <p:xfrm>
          <a:off x="416496" y="5749491"/>
          <a:ext cx="8919464" cy="512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099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09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099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9" name="TextBox 58"/>
          <p:cNvSpPr txBox="1"/>
          <p:nvPr/>
        </p:nvSpPr>
        <p:spPr>
          <a:xfrm>
            <a:off x="6120408" y="4316030"/>
            <a:ext cx="3368477" cy="821182"/>
          </a:xfrm>
          <a:prstGeom prst="rect">
            <a:avLst/>
          </a:prstGeom>
          <a:noFill/>
          <a:ln>
            <a:solidFill>
              <a:srgbClr val="0000CC"/>
            </a:solidFill>
          </a:ln>
        </p:spPr>
        <p:txBody>
          <a:bodyPr wrap="none" lIns="36000" tIns="36000" rIns="36000" bIns="36000" rtlCol="0">
            <a:spAutoFit/>
          </a:bodyPr>
          <a:lstStyle/>
          <a:p>
            <a:r>
              <a:rPr lang="ko-KR" altLang="en-US" sz="1200"/>
              <a:t>상단에서 </a:t>
            </a:r>
            <a:r>
              <a:rPr lang="ko-KR" altLang="en-US" sz="1200" smtClean="0"/>
              <a:t>예산년도</a:t>
            </a:r>
            <a:r>
              <a:rPr lang="en-US" altLang="ko-KR" sz="1200" smtClean="0"/>
              <a:t>,</a:t>
            </a:r>
            <a:r>
              <a:rPr lang="ko-KR" altLang="en-US" sz="1200" smtClean="0"/>
              <a:t> 차수</a:t>
            </a:r>
            <a:r>
              <a:rPr lang="en-US" altLang="ko-KR" sz="1200"/>
              <a:t>, </a:t>
            </a:r>
            <a:r>
              <a:rPr lang="ko-KR" altLang="en-US" sz="1200" smtClean="0"/>
              <a:t>부서</a:t>
            </a:r>
            <a:r>
              <a:rPr lang="en-US" altLang="ko-KR" sz="1200" smtClean="0"/>
              <a:t>,</a:t>
            </a:r>
            <a:r>
              <a:rPr lang="ko-KR" altLang="en-US" sz="1200" smtClean="0"/>
              <a:t> 사업</a:t>
            </a:r>
            <a:r>
              <a:rPr lang="en-US" altLang="ko-KR" sz="1200" smtClean="0"/>
              <a:t>,</a:t>
            </a:r>
          </a:p>
          <a:p>
            <a:r>
              <a:rPr lang="ko-KR" altLang="en-US" sz="1200" smtClean="0"/>
              <a:t>예산과목을 </a:t>
            </a:r>
            <a:r>
              <a:rPr lang="ko-KR" altLang="en-US" sz="1200"/>
              <a:t>입력하고</a:t>
            </a:r>
            <a:r>
              <a:rPr lang="en-US" altLang="ko-KR" sz="1200"/>
              <a:t>, </a:t>
            </a:r>
            <a:endParaRPr lang="en-US" altLang="ko-KR" sz="1200" smtClean="0"/>
          </a:p>
          <a:p>
            <a:r>
              <a:rPr lang="ko-KR" altLang="en-US" sz="1200" smtClean="0"/>
              <a:t>하단에서 편성항목과 </a:t>
            </a:r>
            <a:r>
              <a:rPr lang="ko-KR" altLang="en-US" sz="1200"/>
              <a:t>상세 </a:t>
            </a:r>
            <a:r>
              <a:rPr lang="ko-KR" altLang="en-US" sz="1200" smtClean="0"/>
              <a:t>편성내역을 입력하는</a:t>
            </a:r>
            <a:endParaRPr lang="ko-KR" altLang="en-US" sz="1200"/>
          </a:p>
          <a:p>
            <a:r>
              <a:rPr lang="ko-KR" altLang="en-US" sz="1200" smtClean="0"/>
              <a:t>화면을 구성하여 </a:t>
            </a:r>
            <a:r>
              <a:rPr lang="ko-KR" altLang="en-US" sz="1200"/>
              <a:t>사용자의 </a:t>
            </a:r>
            <a:r>
              <a:rPr lang="ko-KR" altLang="en-US" sz="1200" smtClean="0"/>
              <a:t>입력 편의성 </a:t>
            </a:r>
            <a:r>
              <a:rPr lang="ko-KR" altLang="en-US" sz="1200"/>
              <a:t>제고</a:t>
            </a:r>
            <a:endParaRPr lang="ko-KR" altLang="en-US" sz="1200" dirty="0" err="1" smtClean="0"/>
          </a:p>
        </p:txBody>
      </p:sp>
    </p:spTree>
    <p:extLst>
      <p:ext uri="{BB962C8B-B14F-4D97-AF65-F5344CB8AC3E}">
        <p14:creationId xmlns:p14="http://schemas.microsoft.com/office/powerpoint/2010/main" val="8571637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/>
              <a:t>예산 편성 후 각 부서에서는 연간 예산집행계획을 편성하여 예산파트에 이첩하고</a:t>
            </a:r>
            <a:r>
              <a:rPr lang="en-US" altLang="ko-KR"/>
              <a:t>, </a:t>
            </a:r>
            <a:r>
              <a:rPr lang="en-US" altLang="ko-KR" smtClean="0"/>
              <a:t>1/4</a:t>
            </a:r>
            <a:r>
              <a:rPr lang="ko-KR" altLang="en-US"/>
              <a:t>분기는 예산집 행계획에 의거하여 예산을 배정하고</a:t>
            </a:r>
            <a:r>
              <a:rPr lang="en-US" altLang="ko-KR"/>
              <a:t>, 2/4</a:t>
            </a:r>
            <a:r>
              <a:rPr lang="ko-KR" altLang="en-US"/>
              <a:t>분기부터는 예산배정을 신청 받아서 분기별로 예산을 배정 하는 체계로 하고</a:t>
            </a:r>
            <a:r>
              <a:rPr lang="en-US" altLang="ko-KR"/>
              <a:t>, </a:t>
            </a:r>
            <a:r>
              <a:rPr lang="ko-KR" altLang="en-US"/>
              <a:t>긴급 사유로 추가배정이 요구될 경우 수시 배정신청에 의해 배정받는 형태로 적용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2.3.2.3 </a:t>
            </a:r>
            <a:r>
              <a:rPr lang="ko-KR" altLang="en-US" sz="1800" smtClean="0"/>
              <a:t>예산 배정 체계 변경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3148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배정 절차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" name="순서도: 처리 7"/>
          <p:cNvSpPr/>
          <p:nvPr/>
        </p:nvSpPr>
        <p:spPr>
          <a:xfrm>
            <a:off x="622995" y="2276872"/>
            <a:ext cx="1980728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각 부서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smtClean="0">
                <a:solidFill>
                  <a:schemeClr val="tx1"/>
                </a:solidFill>
              </a:rPr>
              <a:t>연간월별 예산집행계획서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smtClean="0">
                <a:solidFill>
                  <a:schemeClr val="tx1"/>
                </a:solidFill>
              </a:rPr>
              <a:t>분기별 예산배정 신청서 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smtClean="0">
                <a:solidFill>
                  <a:schemeClr val="tx1"/>
                </a:solidFill>
              </a:rPr>
              <a:t>수시 배정 신청서</a:t>
            </a:r>
          </a:p>
        </p:txBody>
      </p:sp>
      <p:sp>
        <p:nvSpPr>
          <p:cNvPr id="20" name="다이아몬드 19"/>
          <p:cNvSpPr/>
          <p:nvPr/>
        </p:nvSpPr>
        <p:spPr>
          <a:xfrm>
            <a:off x="3503315" y="2369387"/>
            <a:ext cx="864096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부서장승인</a:t>
            </a:r>
          </a:p>
        </p:txBody>
      </p:sp>
      <p:sp>
        <p:nvSpPr>
          <p:cNvPr id="43" name="순서도: 처리 42"/>
          <p:cNvSpPr/>
          <p:nvPr/>
        </p:nvSpPr>
        <p:spPr>
          <a:xfrm>
            <a:off x="4946551" y="2369387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예산파트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조정</a:t>
            </a:r>
          </a:p>
        </p:txBody>
      </p:sp>
      <p:sp>
        <p:nvSpPr>
          <p:cNvPr id="44" name="순서도: 처리 43"/>
          <p:cNvSpPr/>
          <p:nvPr/>
        </p:nvSpPr>
        <p:spPr>
          <a:xfrm>
            <a:off x="7751787" y="2369387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배정</a:t>
            </a:r>
          </a:p>
        </p:txBody>
      </p:sp>
      <p:sp>
        <p:nvSpPr>
          <p:cNvPr id="49" name="다이아몬드 48"/>
          <p:cNvSpPr/>
          <p:nvPr/>
        </p:nvSpPr>
        <p:spPr>
          <a:xfrm>
            <a:off x="6383635" y="2369387"/>
            <a:ext cx="864096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파트장승인</a:t>
            </a:r>
          </a:p>
        </p:txBody>
      </p:sp>
      <p:cxnSp>
        <p:nvCxnSpPr>
          <p:cNvPr id="26" name="직선 화살표 연결선 25"/>
          <p:cNvCxnSpPr/>
          <p:nvPr/>
        </p:nvCxnSpPr>
        <p:spPr>
          <a:xfrm>
            <a:off x="2603723" y="2549035"/>
            <a:ext cx="899592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/>
          <p:nvPr/>
        </p:nvCxnSpPr>
        <p:spPr>
          <a:xfrm>
            <a:off x="4367411" y="2549035"/>
            <a:ext cx="579140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/>
          <p:cNvCxnSpPr/>
          <p:nvPr/>
        </p:nvCxnSpPr>
        <p:spPr>
          <a:xfrm>
            <a:off x="5810647" y="2549035"/>
            <a:ext cx="57298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endCxn id="44" idx="1"/>
          </p:cNvCxnSpPr>
          <p:nvPr/>
        </p:nvCxnSpPr>
        <p:spPr>
          <a:xfrm>
            <a:off x="7247731" y="2544625"/>
            <a:ext cx="504056" cy="44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꺾인 연결선 39"/>
          <p:cNvCxnSpPr>
            <a:stCxn id="20" idx="2"/>
            <a:endCxn id="8" idx="2"/>
          </p:cNvCxnSpPr>
          <p:nvPr/>
        </p:nvCxnSpPr>
        <p:spPr>
          <a:xfrm rot="5400000">
            <a:off x="2728104" y="1613938"/>
            <a:ext cx="92515" cy="2322004"/>
          </a:xfrm>
          <a:prstGeom prst="bentConnector3">
            <a:avLst>
              <a:gd name="adj1" fmla="val 347095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4656859"/>
              </p:ext>
            </p:extLst>
          </p:nvPr>
        </p:nvGraphicFramePr>
        <p:xfrm>
          <a:off x="416496" y="5733255"/>
          <a:ext cx="8919464" cy="5292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640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4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40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669826" y="3438525"/>
            <a:ext cx="8747670" cy="1257643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100" smtClean="0"/>
              <a:t>1</a:t>
            </a:r>
            <a:r>
              <a:rPr lang="en-US" altLang="ko-KR" sz="1100"/>
              <a:t>) </a:t>
            </a:r>
            <a:r>
              <a:rPr lang="ko-KR" altLang="en-US" sz="1100"/>
              <a:t>연간 월별 예산집행 </a:t>
            </a:r>
            <a:r>
              <a:rPr lang="ko-KR" altLang="en-US" sz="1100" smtClean="0"/>
              <a:t>계획서 </a:t>
            </a:r>
            <a:r>
              <a:rPr lang="ko-KR" altLang="en-US" sz="1100"/>
              <a:t>입력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연초에 </a:t>
            </a:r>
            <a:r>
              <a:rPr lang="ko-KR" altLang="en-US" sz="1100"/>
              <a:t>예산 </a:t>
            </a:r>
            <a:r>
              <a:rPr lang="ko-KR" altLang="en-US" sz="1100" smtClean="0"/>
              <a:t>편성 건별로 </a:t>
            </a:r>
            <a:r>
              <a:rPr lang="ko-KR" altLang="en-US" sz="1100"/>
              <a:t>월별 예산집행계획을 입력하여 자금계획을 수립할 수 있는 자료 제공</a:t>
            </a:r>
          </a:p>
          <a:p>
            <a:endParaRPr lang="ko-KR" altLang="en-US" sz="1100"/>
          </a:p>
          <a:p>
            <a:r>
              <a:rPr lang="en-US" altLang="ko-KR" sz="1100"/>
              <a:t>2) </a:t>
            </a:r>
            <a:r>
              <a:rPr lang="ko-KR" altLang="en-US" sz="1100"/>
              <a:t>분기별</a:t>
            </a:r>
            <a:r>
              <a:rPr lang="en-US" altLang="ko-KR" sz="1100"/>
              <a:t>(</a:t>
            </a:r>
            <a:r>
              <a:rPr lang="ko-KR" altLang="en-US" sz="1100"/>
              <a:t>월별</a:t>
            </a:r>
            <a:r>
              <a:rPr lang="en-US" altLang="ko-KR" sz="1100"/>
              <a:t>) </a:t>
            </a:r>
            <a:r>
              <a:rPr lang="ko-KR" altLang="en-US" sz="1100" smtClean="0"/>
              <a:t>정기배정 </a:t>
            </a:r>
            <a:r>
              <a:rPr lang="ko-KR" altLang="en-US" sz="1100"/>
              <a:t>신청 </a:t>
            </a:r>
            <a:r>
              <a:rPr lang="ko-KR" altLang="en-US" sz="1100" smtClean="0"/>
              <a:t>     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각 </a:t>
            </a:r>
            <a:r>
              <a:rPr lang="ko-KR" altLang="en-US" sz="1100"/>
              <a:t>부서에서 예산 편성 건별로 정기배정 신청 입력</a:t>
            </a:r>
          </a:p>
          <a:p>
            <a:endParaRPr lang="ko-KR" altLang="en-US" sz="1100"/>
          </a:p>
          <a:p>
            <a:r>
              <a:rPr lang="en-US" altLang="ko-KR" sz="1100"/>
              <a:t>3) </a:t>
            </a:r>
            <a:r>
              <a:rPr lang="ko-KR" altLang="en-US" sz="1100"/>
              <a:t>수시 배정 신청 </a:t>
            </a:r>
            <a:r>
              <a:rPr lang="ko-KR" altLang="en-US" sz="1100" smtClean="0"/>
              <a:t>                     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추가 </a:t>
            </a:r>
            <a:r>
              <a:rPr lang="ko-KR" altLang="en-US" sz="1100"/>
              <a:t>배정이 필요할 경우 </a:t>
            </a:r>
            <a:r>
              <a:rPr lang="ko-KR" altLang="en-US" sz="1100" smtClean="0"/>
              <a:t>수시 배정 신청사항을 입력하여</a:t>
            </a:r>
            <a:endParaRPr lang="en-US" altLang="ko-KR" sz="1100" smtClean="0"/>
          </a:p>
          <a:p>
            <a:r>
              <a:rPr lang="en-US" altLang="ko-KR" sz="1100"/>
              <a:t> </a:t>
            </a:r>
            <a:r>
              <a:rPr lang="en-US" altLang="ko-KR" sz="1100" smtClean="0"/>
              <a:t>                                                </a:t>
            </a:r>
            <a:r>
              <a:rPr lang="ko-KR" altLang="en-US" sz="1100" smtClean="0"/>
              <a:t>전자결재를 </a:t>
            </a:r>
            <a:r>
              <a:rPr lang="ko-KR" altLang="en-US" sz="1100"/>
              <a:t>통하여 결재 후 배정 받을 수 있도록 처리</a:t>
            </a:r>
          </a:p>
          <a:p>
            <a:endParaRPr lang="ko-KR" altLang="en-US" sz="1100"/>
          </a:p>
        </p:txBody>
      </p:sp>
    </p:spTree>
    <p:extLst>
      <p:ext uri="{BB962C8B-B14F-4D97-AF65-F5344CB8AC3E}">
        <p14:creationId xmlns:p14="http://schemas.microsoft.com/office/powerpoint/2010/main" val="32545415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/>
              <a:t>경영층의 요구로 예산 절감안이 요구될 경우 각 부서에서 예산절감 목표를 입력하여 부서장의 승인 을 받아서 예산파트에 이첩하고</a:t>
            </a:r>
            <a:r>
              <a:rPr lang="en-US" altLang="ko-KR"/>
              <a:t>, </a:t>
            </a:r>
            <a:r>
              <a:rPr lang="ko-KR" altLang="en-US"/>
              <a:t>예산파트에서는 배정액에서 절감목표를 제외한 금액을 가용금액</a:t>
            </a:r>
            <a:r>
              <a:rPr lang="en-US" altLang="ko-KR"/>
              <a:t>(</a:t>
            </a:r>
            <a:r>
              <a:rPr lang="ko-KR" altLang="en-US"/>
              <a:t>예 산한도</a:t>
            </a:r>
            <a:r>
              <a:rPr lang="en-US" altLang="ko-KR"/>
              <a:t>)</a:t>
            </a:r>
            <a:r>
              <a:rPr lang="ko-KR" altLang="en-US"/>
              <a:t>로 관리하여 예산을 통제함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2.3.2.4 </a:t>
            </a:r>
            <a:r>
              <a:rPr lang="ko-KR" altLang="en-US" sz="1800" smtClean="0"/>
              <a:t>예산 절감목표 관리 도입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3148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배정 절차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" name="순서도: 처리 7"/>
          <p:cNvSpPr/>
          <p:nvPr/>
        </p:nvSpPr>
        <p:spPr>
          <a:xfrm>
            <a:off x="2072680" y="2276872"/>
            <a:ext cx="1296144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각 부서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smtClean="0">
                <a:solidFill>
                  <a:schemeClr val="tx1"/>
                </a:solidFill>
              </a:rPr>
              <a:t>예산절감 목표 입력</a:t>
            </a:r>
          </a:p>
        </p:txBody>
      </p:sp>
      <p:sp>
        <p:nvSpPr>
          <p:cNvPr id="20" name="다이아몬드 19"/>
          <p:cNvSpPr/>
          <p:nvPr/>
        </p:nvSpPr>
        <p:spPr>
          <a:xfrm>
            <a:off x="4953000" y="2369387"/>
            <a:ext cx="864096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부서장승인</a:t>
            </a:r>
          </a:p>
        </p:txBody>
      </p:sp>
      <p:sp>
        <p:nvSpPr>
          <p:cNvPr id="43" name="순서도: 처리 42"/>
          <p:cNvSpPr/>
          <p:nvPr/>
        </p:nvSpPr>
        <p:spPr>
          <a:xfrm>
            <a:off x="6396236" y="2369387"/>
            <a:ext cx="100503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예산파트 취합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예산한도액 통제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26" name="직선 화살표 연결선 25"/>
          <p:cNvCxnSpPr/>
          <p:nvPr/>
        </p:nvCxnSpPr>
        <p:spPr>
          <a:xfrm>
            <a:off x="3368824" y="2544625"/>
            <a:ext cx="1584176" cy="44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/>
          <p:nvPr/>
        </p:nvCxnSpPr>
        <p:spPr>
          <a:xfrm>
            <a:off x="5817096" y="2549035"/>
            <a:ext cx="579140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꺾인 연결선 39"/>
          <p:cNvCxnSpPr>
            <a:stCxn id="20" idx="2"/>
            <a:endCxn id="8" idx="2"/>
          </p:cNvCxnSpPr>
          <p:nvPr/>
        </p:nvCxnSpPr>
        <p:spPr>
          <a:xfrm rot="5400000">
            <a:off x="4006643" y="1442792"/>
            <a:ext cx="92515" cy="2664296"/>
          </a:xfrm>
          <a:prstGeom prst="bentConnector3">
            <a:avLst>
              <a:gd name="adj1" fmla="val 347095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5213885"/>
              </p:ext>
            </p:extLst>
          </p:nvPr>
        </p:nvGraphicFramePr>
        <p:xfrm>
          <a:off x="416496" y="5733255"/>
          <a:ext cx="8919464" cy="5292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640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4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40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669826" y="3438525"/>
            <a:ext cx="8747670" cy="749812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100" smtClean="0"/>
              <a:t>1</a:t>
            </a:r>
            <a:r>
              <a:rPr lang="en-US" altLang="ko-KR" sz="1100"/>
              <a:t>) </a:t>
            </a:r>
            <a:r>
              <a:rPr lang="ko-KR" altLang="en-US" sz="1100"/>
              <a:t>경영증의 예산절감 요구 </a:t>
            </a:r>
            <a:r>
              <a:rPr lang="en-US" altLang="ko-KR" sz="1100" smtClean="0">
                <a:sym typeface="Wingdings" panose="05000000000000000000" pitchFamily="2" charset="2"/>
              </a:rPr>
              <a:t></a:t>
            </a:r>
            <a:r>
              <a:rPr lang="ko-KR" altLang="en-US" sz="1100" smtClean="0"/>
              <a:t> </a:t>
            </a:r>
            <a:r>
              <a:rPr lang="ko-KR" altLang="en-US" sz="1100"/>
              <a:t>각 부서 예산절감 목표 입력 </a:t>
            </a:r>
            <a:r>
              <a:rPr lang="en-US" altLang="ko-KR" sz="1100" smtClean="0">
                <a:sym typeface="Wingdings" panose="05000000000000000000" pitchFamily="2" charset="2"/>
              </a:rPr>
              <a:t></a:t>
            </a:r>
            <a:r>
              <a:rPr lang="ko-KR" altLang="en-US" sz="1100" smtClean="0"/>
              <a:t> </a:t>
            </a:r>
            <a:r>
              <a:rPr lang="ko-KR" altLang="en-US" sz="1100"/>
              <a:t>부서장 승인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예산파트 </a:t>
            </a:r>
            <a:r>
              <a:rPr lang="ko-KR" altLang="en-US" sz="1100"/>
              <a:t>취합</a:t>
            </a:r>
          </a:p>
          <a:p>
            <a:endParaRPr lang="ko-KR" altLang="en-US" sz="1100"/>
          </a:p>
          <a:p>
            <a:r>
              <a:rPr lang="en-US" altLang="ko-KR" sz="1100"/>
              <a:t>2) </a:t>
            </a:r>
            <a:r>
              <a:rPr lang="ko-KR" altLang="en-US" sz="1100"/>
              <a:t>예산 한도액 관리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예산한도액 </a:t>
            </a:r>
            <a:r>
              <a:rPr lang="en-US" altLang="ko-KR" sz="1100"/>
              <a:t>= </a:t>
            </a:r>
            <a:r>
              <a:rPr lang="ko-KR" altLang="en-US" sz="1100"/>
              <a:t>배정액</a:t>
            </a:r>
            <a:r>
              <a:rPr lang="en-US" altLang="ko-KR" sz="1100"/>
              <a:t>(</a:t>
            </a:r>
            <a:r>
              <a:rPr lang="ko-KR" altLang="en-US" sz="1100"/>
              <a:t>정기배정</a:t>
            </a:r>
            <a:r>
              <a:rPr lang="en-US" altLang="ko-KR" sz="1100"/>
              <a:t>+</a:t>
            </a:r>
            <a:r>
              <a:rPr lang="ko-KR" altLang="en-US" sz="1100"/>
              <a:t>수시배정</a:t>
            </a:r>
            <a:r>
              <a:rPr lang="en-US" altLang="ko-KR" sz="1100"/>
              <a:t>) + </a:t>
            </a:r>
            <a:r>
              <a:rPr lang="ko-KR" altLang="en-US" sz="1100" b="1">
                <a:solidFill>
                  <a:srgbClr val="0000CC"/>
                </a:solidFill>
              </a:rPr>
              <a:t>전용금액</a:t>
            </a:r>
            <a:r>
              <a:rPr lang="ko-KR" altLang="en-US" sz="1100"/>
              <a:t> </a:t>
            </a:r>
            <a:r>
              <a:rPr lang="en-US" altLang="ko-KR" sz="1100"/>
              <a:t>- </a:t>
            </a:r>
            <a:r>
              <a:rPr lang="ko-KR" altLang="en-US" sz="1100"/>
              <a:t>예산절감목표</a:t>
            </a:r>
            <a:r>
              <a:rPr lang="en-US" altLang="ko-KR" sz="1100"/>
              <a:t>-</a:t>
            </a:r>
            <a:r>
              <a:rPr lang="ko-KR" altLang="en-US" sz="1100"/>
              <a:t>신청액 누계 </a:t>
            </a:r>
            <a:endParaRPr lang="en-US" altLang="ko-KR" sz="1100" smtClean="0"/>
          </a:p>
          <a:p>
            <a:r>
              <a:rPr lang="en-US" altLang="ko-KR" sz="1100"/>
              <a:t> </a:t>
            </a:r>
            <a:r>
              <a:rPr lang="en-US" altLang="ko-KR" sz="1100" smtClean="0"/>
              <a:t>                                                                                    (※</a:t>
            </a:r>
            <a:r>
              <a:rPr lang="ko-KR" altLang="en-US" sz="1100"/>
              <a:t>전용금액에 대한 자동배정 </a:t>
            </a:r>
            <a:r>
              <a:rPr lang="ko-KR" altLang="en-US" sz="1100" smtClean="0"/>
              <a:t>처리시</a:t>
            </a:r>
            <a:r>
              <a:rPr lang="en-US" altLang="ko-KR" sz="1100" smtClean="0"/>
              <a:t>)</a:t>
            </a:r>
            <a:endParaRPr lang="ko-KR" altLang="en-US" sz="1100"/>
          </a:p>
        </p:txBody>
      </p:sp>
      <p:sp>
        <p:nvSpPr>
          <p:cNvPr id="6" name="육각형 5"/>
          <p:cNvSpPr/>
          <p:nvPr/>
        </p:nvSpPr>
        <p:spPr>
          <a:xfrm>
            <a:off x="488504" y="2060848"/>
            <a:ext cx="1008112" cy="439208"/>
          </a:xfrm>
          <a:prstGeom prst="hexag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경영층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예산절감안 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요구</a:t>
            </a:r>
          </a:p>
        </p:txBody>
      </p:sp>
      <p:cxnSp>
        <p:nvCxnSpPr>
          <p:cNvPr id="10" name="꺾인 연결선 9"/>
          <p:cNvCxnSpPr>
            <a:stCxn id="6" idx="0"/>
            <a:endCxn id="8" idx="1"/>
          </p:cNvCxnSpPr>
          <p:nvPr/>
        </p:nvCxnSpPr>
        <p:spPr>
          <a:xfrm>
            <a:off x="1496616" y="2280452"/>
            <a:ext cx="576064" cy="268583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85290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21109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/>
              <a:t>예산 집행시에 미사용 예산을 </a:t>
            </a:r>
            <a:r>
              <a:rPr lang="ko-KR" altLang="en-US" smtClean="0"/>
              <a:t>조정</a:t>
            </a:r>
            <a:r>
              <a:rPr lang="en-US" altLang="ko-KR" smtClean="0"/>
              <a:t>(</a:t>
            </a:r>
            <a:r>
              <a:rPr lang="ko-KR" altLang="en-US" smtClean="0"/>
              <a:t>전용</a:t>
            </a:r>
            <a:r>
              <a:rPr lang="en-US" altLang="ko-KR" smtClean="0"/>
              <a:t>/</a:t>
            </a:r>
            <a:r>
              <a:rPr lang="ko-KR" altLang="en-US" smtClean="0"/>
              <a:t>이용</a:t>
            </a:r>
            <a:r>
              <a:rPr lang="en-US" altLang="ko-KR" smtClean="0"/>
              <a:t>)</a:t>
            </a:r>
            <a:r>
              <a:rPr lang="ko-KR" altLang="en-US" smtClean="0"/>
              <a:t>하여 </a:t>
            </a:r>
            <a:r>
              <a:rPr lang="ko-KR" altLang="en-US"/>
              <a:t>다른 목적의 예산으로 변경하여 집행하고자 할 경우에</a:t>
            </a:r>
            <a:r>
              <a:rPr lang="en-US" altLang="ko-KR"/>
              <a:t>, </a:t>
            </a:r>
            <a:r>
              <a:rPr lang="ko-KR" altLang="en-US" smtClean="0"/>
              <a:t>예산 조정 </a:t>
            </a:r>
            <a:r>
              <a:rPr lang="ko-KR" altLang="en-US"/>
              <a:t>범위에 따라 </a:t>
            </a:r>
            <a:r>
              <a:rPr lang="ko-KR" altLang="en-US" smtClean="0"/>
              <a:t>다른 결재권자의 </a:t>
            </a:r>
            <a:r>
              <a:rPr lang="ko-KR" altLang="en-US"/>
              <a:t>승인을 받아</a:t>
            </a:r>
            <a:r>
              <a:rPr lang="en-US" altLang="ko-KR"/>
              <a:t>, </a:t>
            </a:r>
            <a:r>
              <a:rPr lang="ko-KR" altLang="en-US"/>
              <a:t>예산을 동일한 금액으로 가감 조정하여 사용할 수 있도록 처리하는 기능이며</a:t>
            </a:r>
            <a:r>
              <a:rPr lang="en-US" altLang="ko-KR"/>
              <a:t>, </a:t>
            </a:r>
            <a:r>
              <a:rPr lang="ko-KR" altLang="en-US"/>
              <a:t>전자결재를 통하여 업무처리를 원활하게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2.3.2.5 </a:t>
            </a:r>
            <a:r>
              <a:rPr lang="ko-KR" altLang="en-US" sz="1800" smtClean="0"/>
              <a:t>예산 조정</a:t>
            </a:r>
            <a:r>
              <a:rPr lang="en-US" altLang="ko-KR" sz="1800" smtClean="0"/>
              <a:t>(</a:t>
            </a:r>
            <a:r>
              <a:rPr lang="ko-KR" altLang="en-US" sz="1800" smtClean="0"/>
              <a:t>전용</a:t>
            </a:r>
            <a:r>
              <a:rPr lang="en-US" altLang="ko-KR" sz="1800" smtClean="0"/>
              <a:t>/</a:t>
            </a:r>
            <a:r>
              <a:rPr lang="ko-KR" altLang="en-US" sz="1800" smtClean="0"/>
              <a:t>이용</a:t>
            </a:r>
            <a:r>
              <a:rPr lang="en-US" altLang="ko-KR" sz="1800" smtClean="0"/>
              <a:t>) </a:t>
            </a:r>
            <a:r>
              <a:rPr lang="ko-KR" altLang="en-US" sz="1800" smtClean="0"/>
              <a:t>절차 전자결재 적용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3148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조정</a:t>
              </a: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전용</a:t>
              </a: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이용</a:t>
              </a: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절차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" name="순서도: 처리 7"/>
          <p:cNvSpPr/>
          <p:nvPr/>
        </p:nvSpPr>
        <p:spPr>
          <a:xfrm>
            <a:off x="2072680" y="2276872"/>
            <a:ext cx="1296144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조정</a:t>
            </a:r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전용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이용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신청 입력</a:t>
            </a:r>
          </a:p>
        </p:txBody>
      </p:sp>
      <p:sp>
        <p:nvSpPr>
          <p:cNvPr id="20" name="다이아몬드 19"/>
          <p:cNvSpPr/>
          <p:nvPr/>
        </p:nvSpPr>
        <p:spPr>
          <a:xfrm>
            <a:off x="4664968" y="2369387"/>
            <a:ext cx="1152128" cy="35929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결재권자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sp>
        <p:nvSpPr>
          <p:cNvPr id="43" name="순서도: 처리 42"/>
          <p:cNvSpPr/>
          <p:nvPr/>
        </p:nvSpPr>
        <p:spPr>
          <a:xfrm>
            <a:off x="6684268" y="2369387"/>
            <a:ext cx="100503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이동 전 예산 </a:t>
            </a:r>
            <a:r>
              <a:rPr lang="en-US" altLang="ko-KR" sz="900" smtClean="0">
                <a:solidFill>
                  <a:schemeClr val="tx1"/>
                </a:solidFill>
              </a:rPr>
              <a:t>–</a:t>
            </a: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이동 후 예산 </a:t>
            </a:r>
            <a:r>
              <a:rPr lang="en-US" altLang="ko-KR" sz="900" smtClean="0">
                <a:solidFill>
                  <a:schemeClr val="tx1"/>
                </a:solidFill>
              </a:rPr>
              <a:t>+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26" name="직선 화살표 연결선 25"/>
          <p:cNvCxnSpPr>
            <a:endCxn id="20" idx="1"/>
          </p:cNvCxnSpPr>
          <p:nvPr/>
        </p:nvCxnSpPr>
        <p:spPr>
          <a:xfrm>
            <a:off x="3368824" y="2544625"/>
            <a:ext cx="1296144" cy="44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>
            <a:endCxn id="43" idx="1"/>
          </p:cNvCxnSpPr>
          <p:nvPr/>
        </p:nvCxnSpPr>
        <p:spPr>
          <a:xfrm>
            <a:off x="5817096" y="2549035"/>
            <a:ext cx="867172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꺾인 연결선 39"/>
          <p:cNvCxnSpPr>
            <a:stCxn id="20" idx="2"/>
            <a:endCxn id="8" idx="2"/>
          </p:cNvCxnSpPr>
          <p:nvPr/>
        </p:nvCxnSpPr>
        <p:spPr>
          <a:xfrm rot="5400000">
            <a:off x="3934635" y="1514800"/>
            <a:ext cx="92515" cy="2520280"/>
          </a:xfrm>
          <a:prstGeom prst="bentConnector3">
            <a:avLst>
              <a:gd name="adj1" fmla="val 347095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2992332"/>
              </p:ext>
            </p:extLst>
          </p:nvPr>
        </p:nvGraphicFramePr>
        <p:xfrm>
          <a:off x="416496" y="5733255"/>
          <a:ext cx="8919464" cy="5292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640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4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40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669826" y="3438525"/>
            <a:ext cx="8747670" cy="1426920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100"/>
              <a:t>1) </a:t>
            </a:r>
            <a:r>
              <a:rPr lang="ko-KR" altLang="en-US" sz="1100"/>
              <a:t>예산 </a:t>
            </a:r>
            <a:r>
              <a:rPr lang="ko-KR" altLang="en-US" sz="1100" smtClean="0"/>
              <a:t>조정</a:t>
            </a:r>
            <a:r>
              <a:rPr lang="en-US" altLang="ko-KR" sz="1100" smtClean="0"/>
              <a:t>(</a:t>
            </a:r>
            <a:r>
              <a:rPr lang="ko-KR" altLang="en-US" sz="1100" smtClean="0"/>
              <a:t>전용</a:t>
            </a:r>
            <a:r>
              <a:rPr lang="en-US" altLang="ko-KR" sz="1100"/>
              <a:t>/</a:t>
            </a:r>
            <a:r>
              <a:rPr lang="ko-KR" altLang="en-US" sz="1100" smtClean="0"/>
              <a:t>이용</a:t>
            </a:r>
            <a:r>
              <a:rPr lang="en-US" altLang="ko-KR" sz="1100" smtClean="0"/>
              <a:t>)</a:t>
            </a:r>
            <a:r>
              <a:rPr lang="ko-KR" altLang="en-US" sz="1100" smtClean="0"/>
              <a:t>을 </a:t>
            </a:r>
            <a:r>
              <a:rPr lang="ko-KR" altLang="en-US" sz="1100"/>
              <a:t>위한 사전 협의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>
                <a:sym typeface="Wingdings" panose="05000000000000000000" pitchFamily="2" charset="2"/>
              </a:rPr>
              <a:t>조정</a:t>
            </a:r>
            <a:r>
              <a:rPr lang="en-US" altLang="ko-KR" sz="1100">
                <a:sym typeface="Wingdings" panose="05000000000000000000" pitchFamily="2" charset="2"/>
              </a:rPr>
              <a:t>(</a:t>
            </a:r>
            <a:r>
              <a:rPr lang="ko-KR" altLang="en-US" sz="1100" smtClean="0"/>
              <a:t>전용</a:t>
            </a:r>
            <a:r>
              <a:rPr lang="en-US" altLang="ko-KR" sz="1100"/>
              <a:t>/</a:t>
            </a:r>
            <a:r>
              <a:rPr lang="ko-KR" altLang="en-US" sz="1100" smtClean="0"/>
              <a:t>이용</a:t>
            </a:r>
            <a:r>
              <a:rPr lang="en-US" altLang="ko-KR" sz="1100" smtClean="0"/>
              <a:t>)</a:t>
            </a:r>
            <a:r>
              <a:rPr lang="ko-KR" altLang="en-US" sz="1100" smtClean="0"/>
              <a:t>할 </a:t>
            </a:r>
            <a:r>
              <a:rPr lang="ko-KR" altLang="en-US" sz="1100"/>
              <a:t>예산 </a:t>
            </a:r>
            <a:r>
              <a:rPr lang="ko-KR" altLang="en-US" sz="1100" smtClean="0"/>
              <a:t>권한부서와 </a:t>
            </a:r>
            <a:r>
              <a:rPr lang="ko-KR" altLang="en-US" sz="1100"/>
              <a:t>사전 협의</a:t>
            </a:r>
          </a:p>
          <a:p>
            <a:endParaRPr lang="ko-KR" altLang="en-US" sz="1100"/>
          </a:p>
          <a:p>
            <a:r>
              <a:rPr lang="en-US" altLang="ko-KR" sz="1100"/>
              <a:t>2) </a:t>
            </a:r>
            <a:r>
              <a:rPr lang="ko-KR" altLang="en-US" sz="1100"/>
              <a:t>예산 </a:t>
            </a:r>
            <a:r>
              <a:rPr lang="ko-KR" altLang="en-US" sz="1100" smtClean="0"/>
              <a:t>조정</a:t>
            </a:r>
            <a:r>
              <a:rPr lang="en-US" altLang="ko-KR" sz="1100" smtClean="0"/>
              <a:t>(</a:t>
            </a:r>
            <a:r>
              <a:rPr lang="ko-KR" altLang="en-US" sz="1100" smtClean="0"/>
              <a:t>전용</a:t>
            </a:r>
            <a:r>
              <a:rPr lang="en-US" altLang="ko-KR" sz="1100" smtClean="0"/>
              <a:t>.</a:t>
            </a:r>
            <a:r>
              <a:rPr lang="ko-KR" altLang="en-US" sz="1100" smtClean="0"/>
              <a:t>이용</a:t>
            </a:r>
            <a:r>
              <a:rPr lang="en-US" altLang="ko-KR" sz="1100" smtClean="0"/>
              <a:t>)</a:t>
            </a:r>
            <a:r>
              <a:rPr lang="ko-KR" altLang="en-US" sz="1100" smtClean="0"/>
              <a:t> </a:t>
            </a:r>
            <a:r>
              <a:rPr lang="ko-KR" altLang="en-US" sz="1100"/>
              <a:t>신청 입력 </a:t>
            </a:r>
            <a:r>
              <a:rPr lang="ko-KR" altLang="en-US" sz="1100" smtClean="0"/>
              <a:t>          </a:t>
            </a:r>
            <a:r>
              <a:rPr lang="en-US" altLang="ko-KR" sz="1100" smtClean="0">
                <a:sym typeface="Wingdings" panose="05000000000000000000" pitchFamily="2" charset="2"/>
              </a:rPr>
              <a:t></a:t>
            </a:r>
            <a:r>
              <a:rPr lang="en-US" altLang="ko-KR" sz="1100" smtClean="0"/>
              <a:t> </a:t>
            </a:r>
            <a:r>
              <a:rPr lang="ko-KR" altLang="en-US" sz="1100"/>
              <a:t>입력 후 전재결재 </a:t>
            </a:r>
            <a:r>
              <a:rPr lang="ko-KR" altLang="en-US" sz="1100" smtClean="0"/>
              <a:t>상신</a:t>
            </a:r>
            <a:endParaRPr lang="en-US" altLang="ko-KR" sz="1100" smtClean="0"/>
          </a:p>
          <a:p>
            <a:r>
              <a:rPr lang="en-US" altLang="ko-KR" sz="1100" smtClean="0"/>
              <a:t>   </a:t>
            </a:r>
            <a:r>
              <a:rPr lang="en-US" altLang="ko-KR" sz="1100"/>
              <a:t>(</a:t>
            </a:r>
            <a:r>
              <a:rPr lang="ko-KR" altLang="en-US" sz="1100" smtClean="0"/>
              <a:t>예산한도액 </a:t>
            </a:r>
            <a:r>
              <a:rPr lang="ko-KR" altLang="en-US" sz="1100"/>
              <a:t>내에서 입력 가능함</a:t>
            </a:r>
            <a:r>
              <a:rPr lang="en-US" altLang="ko-KR" sz="1100"/>
              <a:t>)</a:t>
            </a:r>
            <a:endParaRPr lang="ko-KR" altLang="en-US" sz="1100"/>
          </a:p>
          <a:p>
            <a:endParaRPr lang="ko-KR" altLang="en-US" sz="1100"/>
          </a:p>
          <a:p>
            <a:r>
              <a:rPr lang="en-US" altLang="ko-KR" sz="1100"/>
              <a:t>3) </a:t>
            </a:r>
            <a:r>
              <a:rPr lang="ko-KR" altLang="en-US" sz="1100"/>
              <a:t>결재권자 승인시 예산 조정 </a:t>
            </a:r>
            <a:r>
              <a:rPr lang="ko-KR" altLang="en-US" sz="1100" smtClean="0"/>
              <a:t>               </a:t>
            </a:r>
            <a:r>
              <a:rPr lang="en-US" altLang="ko-KR" sz="1100" smtClean="0">
                <a:sym typeface="Wingdings" panose="05000000000000000000" pitchFamily="2" charset="2"/>
              </a:rPr>
              <a:t></a:t>
            </a:r>
            <a:r>
              <a:rPr lang="ko-KR" altLang="en-US" sz="1100" smtClean="0"/>
              <a:t> </a:t>
            </a:r>
            <a:r>
              <a:rPr lang="ko-KR" altLang="en-US" sz="1100"/>
              <a:t>예산 </a:t>
            </a:r>
            <a:r>
              <a:rPr lang="ko-KR" altLang="en-US" sz="1100" smtClean="0"/>
              <a:t>조정 </a:t>
            </a:r>
            <a:r>
              <a:rPr lang="ko-KR" altLang="en-US" sz="1100"/>
              <a:t>전 </a:t>
            </a:r>
            <a:r>
              <a:rPr lang="ko-KR" altLang="en-US" sz="1100" smtClean="0"/>
              <a:t>예산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처리 </a:t>
            </a:r>
            <a:r>
              <a:rPr lang="en-US" altLang="ko-KR" sz="1100" smtClean="0"/>
              <a:t>,  </a:t>
            </a:r>
            <a:r>
              <a:rPr lang="ko-KR" altLang="en-US" sz="1100" smtClean="0"/>
              <a:t>조정 후 예산 </a:t>
            </a:r>
            <a:r>
              <a:rPr lang="en-US" altLang="ko-KR" sz="1100" smtClean="0"/>
              <a:t>+ </a:t>
            </a:r>
            <a:r>
              <a:rPr lang="ko-KR" altLang="en-US" sz="1100" smtClean="0"/>
              <a:t>처리</a:t>
            </a:r>
            <a:endParaRPr lang="en-US" altLang="ko-KR" sz="1100"/>
          </a:p>
          <a:p>
            <a:endParaRPr lang="en-US" altLang="ko-KR" sz="1100"/>
          </a:p>
          <a:p>
            <a:r>
              <a:rPr lang="en-US" altLang="ko-KR" sz="1100"/>
              <a:t>(4) </a:t>
            </a:r>
            <a:r>
              <a:rPr lang="ko-KR" altLang="en-US" sz="1100"/>
              <a:t>전용 </a:t>
            </a:r>
            <a:r>
              <a:rPr lang="ko-KR" altLang="en-US" sz="1100" smtClean="0"/>
              <a:t>예산을 자동배정하는 규정에 </a:t>
            </a:r>
            <a:r>
              <a:rPr lang="ko-KR" altLang="en-US" sz="1100"/>
              <a:t>의한 배정 인식</a:t>
            </a:r>
          </a:p>
        </p:txBody>
      </p:sp>
      <p:sp>
        <p:nvSpPr>
          <p:cNvPr id="6" name="육각형 5"/>
          <p:cNvSpPr/>
          <p:nvPr/>
        </p:nvSpPr>
        <p:spPr>
          <a:xfrm>
            <a:off x="488504" y="2060848"/>
            <a:ext cx="1008112" cy="439208"/>
          </a:xfrm>
          <a:prstGeom prst="hexag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조정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사전 협의</a:t>
            </a:r>
          </a:p>
        </p:txBody>
      </p:sp>
      <p:cxnSp>
        <p:nvCxnSpPr>
          <p:cNvPr id="10" name="꺾인 연결선 9"/>
          <p:cNvCxnSpPr>
            <a:stCxn id="6" idx="0"/>
            <a:endCxn id="8" idx="1"/>
          </p:cNvCxnSpPr>
          <p:nvPr/>
        </p:nvCxnSpPr>
        <p:spPr>
          <a:xfrm>
            <a:off x="1496616" y="2280452"/>
            <a:ext cx="576064" cy="268583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60267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21109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결의서가 입력되는 시점에 해당 예산의 잔여한도를 체크하여 한도내의 신청액을 집계하고</a:t>
            </a:r>
            <a:r>
              <a:rPr lang="en-US" altLang="ko-KR" smtClean="0"/>
              <a:t>, </a:t>
            </a:r>
            <a:r>
              <a:rPr lang="ko-KR" altLang="en-US" smtClean="0"/>
              <a:t>한도 초과일 경우 결의서 입력을 통제하며</a:t>
            </a:r>
            <a:r>
              <a:rPr lang="en-US" altLang="ko-KR" smtClean="0"/>
              <a:t>, </a:t>
            </a:r>
            <a:r>
              <a:rPr lang="ko-KR" altLang="en-US" smtClean="0"/>
              <a:t>결의서가 확정되는 시점에 전표를 생성하고 예산 확정금액을 집계하며</a:t>
            </a:r>
            <a:r>
              <a:rPr lang="en-US" altLang="ko-KR" smtClean="0"/>
              <a:t>, </a:t>
            </a:r>
            <a:r>
              <a:rPr lang="ko-KR" altLang="en-US" smtClean="0"/>
              <a:t>입금</a:t>
            </a:r>
            <a:r>
              <a:rPr lang="en-US" altLang="ko-KR" smtClean="0"/>
              <a:t>/</a:t>
            </a:r>
            <a:r>
              <a:rPr lang="ko-KR" altLang="en-US" smtClean="0"/>
              <a:t>출금 완료시점에 집행실적을 집계한다</a:t>
            </a:r>
            <a:r>
              <a:rPr lang="en-US" altLang="ko-KR" smtClean="0"/>
              <a:t>.</a:t>
            </a:r>
            <a:endParaRPr lang="ko-KR" altLang="en-US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2.3.2.6 </a:t>
            </a:r>
            <a:r>
              <a:rPr lang="ko-KR" altLang="en-US" sz="1800" smtClean="0"/>
              <a:t>예산실적 실시간 단계별 집계 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65916" y="1628775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실적 집계 처리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" name="순서도: 처리 7"/>
          <p:cNvSpPr/>
          <p:nvPr/>
        </p:nvSpPr>
        <p:spPr>
          <a:xfrm>
            <a:off x="3946426" y="2264364"/>
            <a:ext cx="1296144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관련 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</a:t>
            </a:r>
          </a:p>
        </p:txBody>
      </p:sp>
      <p:sp>
        <p:nvSpPr>
          <p:cNvPr id="43" name="순서도: 처리 42"/>
          <p:cNvSpPr/>
          <p:nvPr/>
        </p:nvSpPr>
        <p:spPr>
          <a:xfrm>
            <a:off x="6684268" y="2264364"/>
            <a:ext cx="1293068" cy="5280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예산관련 자금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지급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수납</a:t>
            </a:r>
          </a:p>
        </p:txBody>
      </p:sp>
      <p:cxnSp>
        <p:nvCxnSpPr>
          <p:cNvPr id="28" name="직선 화살표 연결선 27"/>
          <p:cNvCxnSpPr>
            <a:stCxn id="8" idx="3"/>
            <a:endCxn id="43" idx="1"/>
          </p:cNvCxnSpPr>
          <p:nvPr/>
        </p:nvCxnSpPr>
        <p:spPr>
          <a:xfrm flipV="1">
            <a:off x="5242570" y="2528377"/>
            <a:ext cx="1441698" cy="815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4074297"/>
              </p:ext>
            </p:extLst>
          </p:nvPr>
        </p:nvGraphicFramePr>
        <p:xfrm>
          <a:off x="416496" y="5733255"/>
          <a:ext cx="8919464" cy="5292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640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4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40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762422" y="3761932"/>
            <a:ext cx="8747670" cy="1257643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100"/>
              <a:t>1) </a:t>
            </a:r>
            <a:r>
              <a:rPr lang="ko-KR" altLang="en-US" sz="1100"/>
              <a:t>예산 관련 결의서 </a:t>
            </a:r>
            <a:r>
              <a:rPr lang="ko-KR" altLang="en-US" sz="1100" smtClean="0"/>
              <a:t>입력  → </a:t>
            </a:r>
            <a:r>
              <a:rPr lang="ko-KR" altLang="en-US" sz="1100"/>
              <a:t>사업</a:t>
            </a:r>
            <a:r>
              <a:rPr lang="en-US" altLang="ko-KR" sz="1100"/>
              <a:t>/</a:t>
            </a:r>
            <a:r>
              <a:rPr lang="ko-KR" altLang="en-US" sz="1100"/>
              <a:t>부서</a:t>
            </a:r>
            <a:r>
              <a:rPr lang="en-US" altLang="ko-KR" sz="1100"/>
              <a:t>/</a:t>
            </a:r>
            <a:r>
              <a:rPr lang="ko-KR" altLang="en-US" sz="1100"/>
              <a:t>예산세목 예산편성 항목별 신청역 집계</a:t>
            </a:r>
          </a:p>
          <a:p>
            <a:endParaRPr lang="ko-KR" altLang="en-US" sz="1100"/>
          </a:p>
          <a:p>
            <a:r>
              <a:rPr lang="en-US" altLang="ko-KR" sz="1100" smtClean="0"/>
              <a:t>  (</a:t>
            </a:r>
            <a:r>
              <a:rPr lang="ko-KR" altLang="en-US" sz="1100"/>
              <a:t>예산한도액 내에서 입력 가능함</a:t>
            </a:r>
            <a:r>
              <a:rPr lang="en-US" altLang="ko-KR" sz="1100"/>
              <a:t>)</a:t>
            </a:r>
          </a:p>
          <a:p>
            <a:endParaRPr lang="en-US" altLang="ko-KR" sz="1100"/>
          </a:p>
          <a:p>
            <a:r>
              <a:rPr lang="en-US" altLang="ko-KR" sz="1100"/>
              <a:t>2) </a:t>
            </a:r>
            <a:r>
              <a:rPr lang="ko-KR" altLang="en-US" sz="1100"/>
              <a:t>결의서를 확정하여 전표 </a:t>
            </a:r>
            <a:r>
              <a:rPr lang="ko-KR" altLang="en-US" sz="1100" smtClean="0"/>
              <a:t>생성 → </a:t>
            </a:r>
            <a:r>
              <a:rPr lang="ko-KR" altLang="en-US" sz="1100"/>
              <a:t>사업</a:t>
            </a:r>
            <a:r>
              <a:rPr lang="en-US" altLang="ko-KR" sz="1100"/>
              <a:t>/</a:t>
            </a:r>
            <a:r>
              <a:rPr lang="ko-KR" altLang="en-US" sz="1100"/>
              <a:t>부서</a:t>
            </a:r>
            <a:r>
              <a:rPr lang="en-US" altLang="ko-KR" sz="1100"/>
              <a:t>/</a:t>
            </a:r>
            <a:r>
              <a:rPr lang="ko-KR" altLang="en-US" sz="1100"/>
              <a:t>예산세목</a:t>
            </a:r>
            <a:r>
              <a:rPr lang="en-US" altLang="ko-KR" sz="1100"/>
              <a:t>, </a:t>
            </a:r>
            <a:r>
              <a:rPr lang="ko-KR" altLang="en-US" sz="1100"/>
              <a:t>예산편성 항목별 확정액 집계</a:t>
            </a:r>
          </a:p>
          <a:p>
            <a:endParaRPr lang="ko-KR" altLang="en-US" sz="1100"/>
          </a:p>
          <a:p>
            <a:r>
              <a:rPr lang="en-US" altLang="ko-KR" sz="1100"/>
              <a:t>3) </a:t>
            </a:r>
            <a:r>
              <a:rPr lang="ko-KR" altLang="en-US" sz="1100"/>
              <a:t>해당 결의서에 대한 입출금 처리 사업</a:t>
            </a:r>
            <a:r>
              <a:rPr lang="en-US" altLang="ko-KR" sz="1100"/>
              <a:t>/</a:t>
            </a:r>
            <a:r>
              <a:rPr lang="ko-KR" altLang="en-US" sz="1100"/>
              <a:t>부서</a:t>
            </a:r>
            <a:r>
              <a:rPr lang="en-US" altLang="ko-KR" sz="1100"/>
              <a:t>/</a:t>
            </a:r>
            <a:r>
              <a:rPr lang="ko-KR" altLang="en-US" sz="1100"/>
              <a:t>예산세옥</a:t>
            </a:r>
            <a:r>
              <a:rPr lang="en-US" altLang="ko-KR" sz="1100"/>
              <a:t>, </a:t>
            </a:r>
            <a:r>
              <a:rPr lang="ko-KR" altLang="en-US" sz="1100"/>
              <a:t>예산편성 항목별 집행액 집계</a:t>
            </a:r>
          </a:p>
        </p:txBody>
      </p:sp>
      <p:sp>
        <p:nvSpPr>
          <p:cNvPr id="18" name="순서도: 처리 17"/>
          <p:cNvSpPr/>
          <p:nvPr/>
        </p:nvSpPr>
        <p:spPr>
          <a:xfrm>
            <a:off x="1208584" y="2264364"/>
            <a:ext cx="1296144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예산관련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</a:t>
            </a:r>
          </a:p>
        </p:txBody>
      </p:sp>
      <p:cxnSp>
        <p:nvCxnSpPr>
          <p:cNvPr id="19" name="직선 화살표 연결선 18"/>
          <p:cNvCxnSpPr>
            <a:stCxn id="18" idx="3"/>
            <a:endCxn id="8" idx="1"/>
          </p:cNvCxnSpPr>
          <p:nvPr/>
        </p:nvCxnSpPr>
        <p:spPr>
          <a:xfrm>
            <a:off x="2504728" y="2536527"/>
            <a:ext cx="144169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순서도: 처리 12"/>
          <p:cNvSpPr/>
          <p:nvPr/>
        </p:nvSpPr>
        <p:spPr>
          <a:xfrm>
            <a:off x="1460612" y="3130042"/>
            <a:ext cx="792088" cy="372597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신청액 집계</a:t>
            </a:r>
          </a:p>
        </p:txBody>
      </p:sp>
      <p:sp>
        <p:nvSpPr>
          <p:cNvPr id="25" name="순서도: 처리 24"/>
          <p:cNvSpPr/>
          <p:nvPr/>
        </p:nvSpPr>
        <p:spPr>
          <a:xfrm>
            <a:off x="4210379" y="3130042"/>
            <a:ext cx="768238" cy="39555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확정액 집계</a:t>
            </a:r>
          </a:p>
        </p:txBody>
      </p:sp>
      <p:sp>
        <p:nvSpPr>
          <p:cNvPr id="27" name="순서도: 처리 26"/>
          <p:cNvSpPr/>
          <p:nvPr/>
        </p:nvSpPr>
        <p:spPr>
          <a:xfrm>
            <a:off x="6946683" y="3130042"/>
            <a:ext cx="768238" cy="39555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집행액 집계</a:t>
            </a:r>
          </a:p>
        </p:txBody>
      </p:sp>
      <p:sp>
        <p:nvSpPr>
          <p:cNvPr id="14" name="아래쪽 화살표 13"/>
          <p:cNvSpPr/>
          <p:nvPr/>
        </p:nvSpPr>
        <p:spPr>
          <a:xfrm>
            <a:off x="1676636" y="2914167"/>
            <a:ext cx="360040" cy="205098"/>
          </a:xfrm>
          <a:prstGeom prst="down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29" name="아래쪽 화살표 28"/>
          <p:cNvSpPr/>
          <p:nvPr/>
        </p:nvSpPr>
        <p:spPr>
          <a:xfrm>
            <a:off x="4414478" y="2914167"/>
            <a:ext cx="360040" cy="205098"/>
          </a:xfrm>
          <a:prstGeom prst="down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30" name="아래쪽 화살표 29"/>
          <p:cNvSpPr/>
          <p:nvPr/>
        </p:nvSpPr>
        <p:spPr>
          <a:xfrm>
            <a:off x="7150782" y="2914167"/>
            <a:ext cx="360040" cy="205098"/>
          </a:xfrm>
          <a:prstGeom prst="down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459843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21109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연말 예산결산 작업을 위해 미 집행예산에 대한 이월처리 및 불용처리를 한 후</a:t>
            </a:r>
            <a:r>
              <a:rPr lang="en-US" altLang="ko-KR" smtClean="0"/>
              <a:t>, </a:t>
            </a:r>
            <a:r>
              <a:rPr lang="ko-KR" altLang="en-US" smtClean="0"/>
              <a:t>예산결산서를 조회</a:t>
            </a:r>
            <a:r>
              <a:rPr lang="en-US" altLang="ko-KR" smtClean="0"/>
              <a:t>/</a:t>
            </a:r>
            <a:r>
              <a:rPr lang="ko-KR" altLang="en-US" smtClean="0"/>
              <a:t>출력하는 기능이며</a:t>
            </a:r>
            <a:r>
              <a:rPr lang="en-US" altLang="ko-KR" smtClean="0"/>
              <a:t>, </a:t>
            </a:r>
            <a:r>
              <a:rPr lang="ko-KR" altLang="en-US" smtClean="0"/>
              <a:t>이월처리는 이월사유를 입력하여 이월내역이 사유별로 집계되도록 하고</a:t>
            </a:r>
            <a:r>
              <a:rPr lang="en-US" altLang="ko-KR" smtClean="0"/>
              <a:t>, </a:t>
            </a:r>
            <a:r>
              <a:rPr lang="ko-KR" altLang="en-US" smtClean="0"/>
              <a:t>확정시에는 차기년도의 이월예산으로 자동 입력처리함</a:t>
            </a:r>
            <a:endParaRPr lang="ko-KR" altLang="en-US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2.3 </a:t>
            </a:r>
            <a:r>
              <a:rPr lang="ko-KR" altLang="en-US">
                <a:solidFill>
                  <a:schemeClr val="tx1"/>
                </a:solidFill>
              </a:rPr>
              <a:t>예산관리 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2.3.2.7 </a:t>
            </a:r>
            <a:r>
              <a:rPr lang="ko-KR" altLang="en-US" sz="1800" smtClean="0"/>
              <a:t>예산 결산처리 체계화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/>
              <a:t>2.3 </a:t>
            </a:r>
            <a:r>
              <a:rPr lang="ko-KR" altLang="en-US"/>
              <a:t>예산관리 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65916" y="1628775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예산 결산 처리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3" name="순서도: 처리 42"/>
          <p:cNvSpPr/>
          <p:nvPr/>
        </p:nvSpPr>
        <p:spPr>
          <a:xfrm>
            <a:off x="6684268" y="2264364"/>
            <a:ext cx="1293068" cy="5280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차기년도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이월예산 자동 편성</a:t>
            </a:r>
          </a:p>
        </p:txBody>
      </p:sp>
      <p:cxnSp>
        <p:nvCxnSpPr>
          <p:cNvPr id="28" name="직선 화살표 연결선 27"/>
          <p:cNvCxnSpPr>
            <a:endCxn id="43" idx="1"/>
          </p:cNvCxnSpPr>
          <p:nvPr/>
        </p:nvCxnSpPr>
        <p:spPr>
          <a:xfrm flipV="1">
            <a:off x="5242570" y="2528377"/>
            <a:ext cx="1441698" cy="815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2798768"/>
              </p:ext>
            </p:extLst>
          </p:nvPr>
        </p:nvGraphicFramePr>
        <p:xfrm>
          <a:off x="416496" y="5733255"/>
          <a:ext cx="8919464" cy="5292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640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예산관리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주요정보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4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40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●</a:t>
                      </a: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762422" y="3761932"/>
            <a:ext cx="8747670" cy="1257643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100"/>
              <a:t>1) </a:t>
            </a:r>
            <a:r>
              <a:rPr lang="ko-KR" altLang="en-US" sz="1100"/>
              <a:t>예산 </a:t>
            </a:r>
            <a:r>
              <a:rPr lang="ko-KR" altLang="en-US" sz="1100" smtClean="0"/>
              <a:t>이월 입력    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/>
              <a:t>사업</a:t>
            </a:r>
            <a:r>
              <a:rPr lang="en-US" altLang="ko-KR" sz="1100"/>
              <a:t>/</a:t>
            </a:r>
            <a:r>
              <a:rPr lang="ko-KR" altLang="en-US" sz="1100"/>
              <a:t>부서</a:t>
            </a:r>
            <a:r>
              <a:rPr lang="en-US" altLang="ko-KR" sz="1100"/>
              <a:t>/</a:t>
            </a:r>
            <a:r>
              <a:rPr lang="ko-KR" altLang="en-US" sz="1100"/>
              <a:t>예산세목 예산편성 항목별 </a:t>
            </a:r>
            <a:r>
              <a:rPr lang="ko-KR" altLang="en-US" sz="1100" smtClean="0"/>
              <a:t>이월액 및 이월사유 입력</a:t>
            </a:r>
            <a:r>
              <a:rPr lang="en-US" altLang="ko-KR" sz="1100" smtClean="0"/>
              <a:t> </a:t>
            </a:r>
            <a:endParaRPr lang="en-US" altLang="ko-KR" sz="1100"/>
          </a:p>
          <a:p>
            <a:endParaRPr lang="en-US" altLang="ko-KR" sz="1100"/>
          </a:p>
          <a:p>
            <a:r>
              <a:rPr lang="en-US" altLang="ko-KR" sz="1100"/>
              <a:t>2) </a:t>
            </a:r>
            <a:r>
              <a:rPr lang="ko-KR" altLang="en-US" sz="1100" smtClean="0"/>
              <a:t>이월 확정 처리    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>
                <a:sym typeface="Wingdings" panose="05000000000000000000" pitchFamily="2" charset="2"/>
              </a:rPr>
              <a:t>이월 확정시 차기년도 이월예산 자동 입력 처리</a:t>
            </a:r>
            <a:endParaRPr lang="en-US" altLang="ko-KR" sz="1100" smtClean="0">
              <a:sym typeface="Wingdings" panose="05000000000000000000" pitchFamily="2" charset="2"/>
            </a:endParaRPr>
          </a:p>
          <a:p>
            <a:r>
              <a:rPr lang="ko-KR" altLang="en-US" sz="1100" smtClean="0"/>
              <a:t> </a:t>
            </a:r>
            <a:endParaRPr lang="ko-KR" altLang="en-US" sz="1100"/>
          </a:p>
          <a:p>
            <a:r>
              <a:rPr lang="en-US" altLang="ko-KR" sz="1100"/>
              <a:t>3) </a:t>
            </a:r>
            <a:r>
              <a:rPr lang="ko-KR" altLang="en-US" sz="1100" smtClean="0"/>
              <a:t>예산 잔액에 대한 불용 처리</a:t>
            </a:r>
            <a:endParaRPr lang="en-US" altLang="ko-KR" sz="1100" smtClean="0"/>
          </a:p>
          <a:p>
            <a:endParaRPr lang="en-US" altLang="ko-KR" sz="1100"/>
          </a:p>
          <a:p>
            <a:r>
              <a:rPr lang="en-US" altLang="ko-KR" sz="1100" smtClean="0"/>
              <a:t>4) </a:t>
            </a:r>
            <a:r>
              <a:rPr lang="ko-KR" altLang="en-US" sz="1100" smtClean="0"/>
              <a:t>예산 결산서 조회</a:t>
            </a:r>
            <a:r>
              <a:rPr lang="en-US" altLang="ko-KR" sz="1100" smtClean="0"/>
              <a:t>/</a:t>
            </a:r>
            <a:r>
              <a:rPr lang="ko-KR" altLang="en-US" sz="1100" smtClean="0"/>
              <a:t>출력</a:t>
            </a:r>
            <a:r>
              <a:rPr lang="en-US" altLang="ko-KR" sz="1100" smtClean="0"/>
              <a:t>(20</a:t>
            </a:r>
            <a:r>
              <a:rPr lang="ko-KR" altLang="en-US" sz="1100" smtClean="0"/>
              <a:t>여종</a:t>
            </a:r>
            <a:r>
              <a:rPr lang="en-US" altLang="ko-KR" sz="1100" smtClean="0"/>
              <a:t>)</a:t>
            </a:r>
            <a:endParaRPr lang="ko-KR" altLang="en-US" sz="1100"/>
          </a:p>
        </p:txBody>
      </p:sp>
      <p:sp>
        <p:nvSpPr>
          <p:cNvPr id="18" name="순서도: 처리 17"/>
          <p:cNvSpPr/>
          <p:nvPr/>
        </p:nvSpPr>
        <p:spPr>
          <a:xfrm>
            <a:off x="1208584" y="2264364"/>
            <a:ext cx="1296144" cy="54432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잔액에 대한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이월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불용 처리</a:t>
            </a:r>
          </a:p>
        </p:txBody>
      </p:sp>
      <p:cxnSp>
        <p:nvCxnSpPr>
          <p:cNvPr id="19" name="직선 화살표 연결선 18"/>
          <p:cNvCxnSpPr>
            <a:stCxn id="18" idx="3"/>
          </p:cNvCxnSpPr>
          <p:nvPr/>
        </p:nvCxnSpPr>
        <p:spPr>
          <a:xfrm>
            <a:off x="2504728" y="2536527"/>
            <a:ext cx="144169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순서도: 다중 문서 5"/>
          <p:cNvSpPr/>
          <p:nvPr/>
        </p:nvSpPr>
        <p:spPr>
          <a:xfrm>
            <a:off x="1244588" y="2914167"/>
            <a:ext cx="1224136" cy="611425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결산서</a:t>
            </a:r>
          </a:p>
        </p:txBody>
      </p:sp>
      <p:sp>
        <p:nvSpPr>
          <p:cNvPr id="7" name="순서도: 판단 6"/>
          <p:cNvSpPr/>
          <p:nvPr/>
        </p:nvSpPr>
        <p:spPr>
          <a:xfrm>
            <a:off x="3944888" y="2296183"/>
            <a:ext cx="1297682" cy="463934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이월 확정</a:t>
            </a:r>
          </a:p>
        </p:txBody>
      </p:sp>
    </p:spTree>
    <p:extLst>
      <p:ext uri="{BB962C8B-B14F-4D97-AF65-F5344CB8AC3E}">
        <p14:creationId xmlns:p14="http://schemas.microsoft.com/office/powerpoint/2010/main" val="205069369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국제회계기준 도입에 의한 회계 전반적인 업무처리 부분을 개선하고</a:t>
            </a:r>
            <a:r>
              <a:rPr lang="en-US" altLang="ko-KR" smtClean="0"/>
              <a:t>, </a:t>
            </a:r>
            <a:r>
              <a:rPr lang="ko-KR" altLang="en-US" smtClean="0"/>
              <a:t>예산</a:t>
            </a:r>
            <a:r>
              <a:rPr lang="en-US" altLang="ko-KR" smtClean="0"/>
              <a:t>, </a:t>
            </a:r>
            <a:r>
              <a:rPr lang="ko-KR" altLang="en-US" smtClean="0"/>
              <a:t>자산</a:t>
            </a:r>
            <a:r>
              <a:rPr lang="en-US" altLang="ko-KR" smtClean="0"/>
              <a:t>, </a:t>
            </a:r>
            <a:r>
              <a:rPr lang="ko-KR" altLang="en-US" smtClean="0"/>
              <a:t>구매</a:t>
            </a:r>
            <a:r>
              <a:rPr lang="en-US" altLang="ko-KR" smtClean="0"/>
              <a:t>, </a:t>
            </a:r>
            <a:r>
              <a:rPr lang="ko-KR" altLang="en-US" smtClean="0"/>
              <a:t>사업</a:t>
            </a:r>
            <a:r>
              <a:rPr lang="en-US" altLang="ko-KR" smtClean="0"/>
              <a:t>, </a:t>
            </a:r>
            <a:r>
              <a:rPr lang="ko-KR" altLang="en-US" smtClean="0"/>
              <a:t>급여 등의 타 시스템에서 발생하는 재무변동사항을 전표형태로 용이하게 취합할 수 있는 구조로 개선하고</a:t>
            </a:r>
            <a:r>
              <a:rPr lang="en-US" altLang="ko-KR" smtClean="0"/>
              <a:t>, </a:t>
            </a:r>
            <a:r>
              <a:rPr lang="ko-KR" altLang="en-US" smtClean="0"/>
              <a:t>외부 시스템과의 긴밀한 연계를 통하여 업무의 정확성과 효율성을 강화하는 방향으로 개선하고자 함</a:t>
            </a:r>
            <a:endParaRPr lang="ko-KR" altLang="en-US" sz="1600" dirty="0"/>
          </a:p>
        </p:txBody>
      </p:sp>
      <p:sp>
        <p:nvSpPr>
          <p:cNvPr id="36" name="제목 35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>
                <a:solidFill>
                  <a:srgbClr val="00437A"/>
                </a:solidFill>
              </a:rPr>
              <a:t/>
            </a:r>
            <a:br>
              <a:rPr lang="en-US" altLang="ko-KR">
                <a:solidFill>
                  <a:srgbClr val="00437A"/>
                </a:solidFill>
              </a:rPr>
            </a:br>
            <a:r>
              <a:rPr lang="en-US" altLang="ko-KR" sz="1800" smtClean="0"/>
              <a:t>2.4.1 </a:t>
            </a:r>
            <a:r>
              <a:rPr lang="ko-KR" altLang="en-US" sz="1800" smtClean="0"/>
              <a:t>회계관리 개선 </a:t>
            </a:r>
            <a:r>
              <a:rPr lang="ko-KR" altLang="en-US" sz="1800"/>
              <a:t>방안</a:t>
            </a:r>
            <a:endParaRPr lang="ko-KR" altLang="en-US" sz="1800" dirty="0"/>
          </a:p>
        </p:txBody>
      </p:sp>
      <p:sp>
        <p:nvSpPr>
          <p:cNvPr id="37" name="내용 개체 틀 36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/>
              <a:t>2.4 </a:t>
            </a:r>
            <a:r>
              <a:rPr lang="ko-KR" altLang="en-US" smtClean="0"/>
              <a:t>회계관리 개선 및 업무 효율화</a:t>
            </a:r>
            <a:endParaRPr lang="en-US" altLang="ko-KR" dirty="0"/>
          </a:p>
        </p:txBody>
      </p:sp>
      <p:grpSp>
        <p:nvGrpSpPr>
          <p:cNvPr id="3" name="그룹 77">
            <a:extLst>
              <a:ext uri="{FF2B5EF4-FFF2-40B4-BE49-F238E27FC236}">
                <a16:creationId xmlns="" xmlns:a16="http://schemas.microsoft.com/office/drawing/2014/main" id="{B0511B2C-F5D4-492B-8A5A-D90A0D0B3868}"/>
              </a:ext>
            </a:extLst>
          </p:cNvPr>
          <p:cNvGrpSpPr/>
          <p:nvPr/>
        </p:nvGrpSpPr>
        <p:grpSpPr>
          <a:xfrm>
            <a:off x="355147" y="1592796"/>
            <a:ext cx="9180512" cy="4788532"/>
            <a:chOff x="200025" y="1592796"/>
            <a:chExt cx="6733195" cy="4788532"/>
          </a:xfrm>
        </p:grpSpPr>
        <p:sp>
          <p:nvSpPr>
            <p:cNvPr id="79" name="직사각형 78">
              <a:extLst>
                <a:ext uri="{FF2B5EF4-FFF2-40B4-BE49-F238E27FC236}">
                  <a16:creationId xmlns="" xmlns:a16="http://schemas.microsoft.com/office/drawing/2014/main" id="{7A02AF25-67DB-49E8-A9F5-7456F591158A}"/>
                </a:ext>
              </a:extLst>
            </p:cNvPr>
            <p:cNvSpPr/>
            <p:nvPr/>
          </p:nvSpPr>
          <p:spPr bwMode="auto">
            <a:xfrm>
              <a:off x="200025" y="1592796"/>
              <a:ext cx="6733195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lvl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 개요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="" xmlns:a16="http://schemas.microsoft.com/office/drawing/2014/main" id="{2D8432D5-5596-482C-A21A-563B582C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" y="1916832"/>
              <a:ext cx="6733195" cy="4464496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자유형: 도형 7">
            <a:extLst>
              <a:ext uri="{FF2B5EF4-FFF2-40B4-BE49-F238E27FC236}">
                <a16:creationId xmlns="" xmlns:a16="http://schemas.microsoft.com/office/drawing/2014/main" id="{DC8F9B3D-33EF-48D3-A461-A50900D519EB}"/>
              </a:ext>
            </a:extLst>
          </p:cNvPr>
          <p:cNvSpPr/>
          <p:nvPr/>
        </p:nvSpPr>
        <p:spPr>
          <a:xfrm>
            <a:off x="2472277" y="2002612"/>
            <a:ext cx="521540" cy="4299947"/>
          </a:xfrm>
          <a:custGeom>
            <a:avLst/>
            <a:gdLst>
              <a:gd name="connsiteX0" fmla="*/ 0 w 528992"/>
              <a:gd name="connsiteY0" fmla="*/ 324952 h 4299947"/>
              <a:gd name="connsiteX1" fmla="*/ 37785 w 528992"/>
              <a:gd name="connsiteY1" fmla="*/ 4012780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  <a:gd name="connsiteX0" fmla="*/ 0 w 528992"/>
              <a:gd name="connsiteY0" fmla="*/ 324952 h 4299947"/>
              <a:gd name="connsiteX1" fmla="*/ 8650 w 528992"/>
              <a:gd name="connsiteY1" fmla="*/ 3613946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  <a:gd name="connsiteX0" fmla="*/ 11113 w 520681"/>
              <a:gd name="connsiteY0" fmla="*/ 714058 h 4299947"/>
              <a:gd name="connsiteX1" fmla="*/ 339 w 520681"/>
              <a:gd name="connsiteY1" fmla="*/ 3613946 h 4299947"/>
              <a:gd name="connsiteX2" fmla="*/ 513124 w 520681"/>
              <a:gd name="connsiteY2" fmla="*/ 4299947 h 4299947"/>
              <a:gd name="connsiteX3" fmla="*/ 520681 w 520681"/>
              <a:gd name="connsiteY3" fmla="*/ 0 h 4299947"/>
              <a:gd name="connsiteX4" fmla="*/ 11113 w 520681"/>
              <a:gd name="connsiteY4" fmla="*/ 714058 h 429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681" h="4299947">
                <a:moveTo>
                  <a:pt x="11113" y="714058"/>
                </a:moveTo>
                <a:cubicBezTo>
                  <a:pt x="13996" y="1810389"/>
                  <a:pt x="-2544" y="2517615"/>
                  <a:pt x="339" y="3613946"/>
                </a:cubicBezTo>
                <a:lnTo>
                  <a:pt x="513124" y="4299947"/>
                </a:lnTo>
                <a:lnTo>
                  <a:pt x="520681" y="0"/>
                </a:lnTo>
                <a:lnTo>
                  <a:pt x="11113" y="714058"/>
                </a:lnTo>
                <a:close/>
              </a:path>
            </a:pathLst>
          </a:custGeom>
          <a:gradFill>
            <a:gsLst>
              <a:gs pos="82000">
                <a:schemeClr val="bg1">
                  <a:lumMod val="85000"/>
                </a:schemeClr>
              </a:gs>
              <a:gs pos="0">
                <a:schemeClr val="bg1">
                  <a:lumMod val="95000"/>
                </a:schemeClr>
              </a:gs>
            </a:gsLst>
            <a:lin ang="0" scaled="0"/>
          </a:gra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buFontTx/>
              <a:buNone/>
              <a:tabLst/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회계관리 개선 및</a:t>
            </a:r>
            <a:endParaRPr lang="en-US" altLang="ko-KR" sz="1400" b="1" kern="0" spc="-150" smtClean="0">
              <a:solidFill>
                <a:prstClr val="black"/>
              </a:solidFill>
              <a:latin typeface="+mn-ea"/>
            </a:endParaRPr>
          </a:p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buFontTx/>
              <a:buNone/>
              <a:tabLst/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업무 효율화</a:t>
            </a:r>
            <a:endParaRPr kumimoji="0" lang="ko-KR" altLang="en-US" sz="1400" b="1" i="0" u="none" strike="noStrike" kern="0" cap="none" spc="-1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5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5"/>
            <a:ext cx="2028386" cy="453937"/>
            <a:chOff x="401216" y="2918940"/>
            <a:chExt cx="2310143" cy="551723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3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lang="ko-KR" altLang="en-US" sz="1000" b="1" smtClean="0"/>
                <a:t>회계</a:t>
              </a:r>
              <a:r>
                <a:rPr lang="en-US" altLang="ko-KR" sz="1000" b="1" smtClean="0"/>
                <a:t> </a:t>
              </a:r>
              <a:r>
                <a:rPr lang="ko-KR" altLang="en-US" sz="1000" b="1" smtClean="0"/>
                <a:t>기준정보 개선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1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6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298491"/>
            <a:ext cx="2028386" cy="453935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결의서 종류 및 </a:t>
              </a:r>
              <a:endParaRPr lang="en-US" altLang="ko-KR" sz="1000" b="1" smtClean="0"/>
            </a:p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 smtClean="0"/>
                <a:t>기능 </a:t>
              </a:r>
              <a:r>
                <a:rPr lang="ko-KR" altLang="en-US" sz="1000" b="1"/>
                <a:t>세분화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2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7" name="그룹 104">
            <a:extLst>
              <a:ext uri="{FF2B5EF4-FFF2-40B4-BE49-F238E27FC236}">
                <a16:creationId xmlns="" xmlns:a16="http://schemas.microsoft.com/office/drawing/2014/main" id="{0A95ACFA-2726-46C1-AD8F-1D87F34F9A7C}"/>
              </a:ext>
            </a:extLst>
          </p:cNvPr>
          <p:cNvGrpSpPr/>
          <p:nvPr/>
        </p:nvGrpSpPr>
        <p:grpSpPr>
          <a:xfrm>
            <a:off x="476077" y="3820854"/>
            <a:ext cx="2028386" cy="453935"/>
            <a:chOff x="401216" y="2918940"/>
            <a:chExt cx="2310143" cy="551720"/>
          </a:xfrm>
        </p:grpSpPr>
        <p:sp>
          <p:nvSpPr>
            <p:cNvPr id="106" name="모서리가 둥근 직사각형 55">
              <a:extLst>
                <a:ext uri="{FF2B5EF4-FFF2-40B4-BE49-F238E27FC236}">
                  <a16:creationId xmlns="" xmlns:a16="http://schemas.microsoft.com/office/drawing/2014/main" id="{04CE164E-A277-4A8C-80F7-9A57D5BDEB44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 smtClean="0"/>
                <a:t>자금집행 프로세스 개선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07" name="직사각형 10">
              <a:extLst>
                <a:ext uri="{FF2B5EF4-FFF2-40B4-BE49-F238E27FC236}">
                  <a16:creationId xmlns="" xmlns:a16="http://schemas.microsoft.com/office/drawing/2014/main" id="{2BECFB51-2DF0-4032-B0F9-BE080AC78865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3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9" name="그룹 110">
            <a:extLst>
              <a:ext uri="{FF2B5EF4-FFF2-40B4-BE49-F238E27FC236}">
                <a16:creationId xmlns="" xmlns:a16="http://schemas.microsoft.com/office/drawing/2014/main" id="{01D653F6-8988-40E3-B1E2-1DCADFAA862B}"/>
              </a:ext>
            </a:extLst>
          </p:cNvPr>
          <p:cNvGrpSpPr/>
          <p:nvPr/>
        </p:nvGrpSpPr>
        <p:grpSpPr>
          <a:xfrm>
            <a:off x="476077" y="4343217"/>
            <a:ext cx="2028386" cy="453935"/>
            <a:chOff x="401216" y="2918940"/>
            <a:chExt cx="2310143" cy="551720"/>
          </a:xfrm>
        </p:grpSpPr>
        <p:sp>
          <p:nvSpPr>
            <p:cNvPr id="112" name="모서리가 둥근 직사각형 68">
              <a:extLst>
                <a:ext uri="{FF2B5EF4-FFF2-40B4-BE49-F238E27FC236}">
                  <a16:creationId xmlns="" xmlns:a16="http://schemas.microsoft.com/office/drawing/2014/main" id="{520DC5EA-0151-4A4B-876E-90A97C34C9B8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 smtClean="0"/>
                <a:t>입금 관리 개선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13" name="직사각형 10">
              <a:extLst>
                <a:ext uri="{FF2B5EF4-FFF2-40B4-BE49-F238E27FC236}">
                  <a16:creationId xmlns="" xmlns:a16="http://schemas.microsoft.com/office/drawing/2014/main" id="{F245562B-A3CA-4671-93E0-C42AEAE43791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4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="" xmlns:a16="http://schemas.microsoft.com/office/drawing/2014/main" id="{3D81FFC0-71B9-46DA-943A-B129A730D4BD}"/>
              </a:ext>
            </a:extLst>
          </p:cNvPr>
          <p:cNvSpPr/>
          <p:nvPr/>
        </p:nvSpPr>
        <p:spPr>
          <a:xfrm>
            <a:off x="2923626" y="1975288"/>
            <a:ext cx="6433414" cy="4345672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="" xmlns:a16="http://schemas.microsoft.com/office/drawing/2014/main" id="{3BD8B947-9794-4DA9-A8A0-A2416C4E54C6}"/>
              </a:ext>
            </a:extLst>
          </p:cNvPr>
          <p:cNvSpPr/>
          <p:nvPr/>
        </p:nvSpPr>
        <p:spPr>
          <a:xfrm>
            <a:off x="2993826" y="2026778"/>
            <a:ext cx="853646" cy="4255416"/>
          </a:xfrm>
          <a:prstGeom prst="rect">
            <a:avLst/>
          </a:prstGeom>
          <a:solidFill>
            <a:srgbClr val="C7DDFD"/>
          </a:solidFill>
          <a:ln>
            <a:noFill/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38" name="그룹 37"/>
          <p:cNvGrpSpPr/>
          <p:nvPr/>
        </p:nvGrpSpPr>
        <p:grpSpPr>
          <a:xfrm>
            <a:off x="3060274" y="2102569"/>
            <a:ext cx="6110824" cy="504000"/>
            <a:chOff x="3060274" y="2102569"/>
            <a:chExt cx="6110824" cy="504000"/>
          </a:xfrm>
        </p:grpSpPr>
        <p:sp>
          <p:nvSpPr>
            <p:cNvPr id="88" name="직사각형 87">
              <a:extLst>
                <a:ext uri="{FF2B5EF4-FFF2-40B4-BE49-F238E27FC236}">
                  <a16:creationId xmlns="" xmlns:a16="http://schemas.microsoft.com/office/drawing/2014/main" id="{462C3777-4666-48F1-B8E7-F560F769B567}"/>
                </a:ext>
              </a:extLst>
            </p:cNvPr>
            <p:cNvSpPr/>
            <p:nvPr/>
          </p:nvSpPr>
          <p:spPr>
            <a:xfrm>
              <a:off x="3060274" y="210257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과제 정의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3197124E-28D4-472B-9558-9173E8CA2836}"/>
                </a:ext>
              </a:extLst>
            </p:cNvPr>
            <p:cNvSpPr/>
            <p:nvPr/>
          </p:nvSpPr>
          <p:spPr>
            <a:xfrm>
              <a:off x="4095098" y="2102569"/>
              <a:ext cx="5076000" cy="5040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분산되어 운영되고 있는 회계시스템의 결의서 신청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자금관리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세무관리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결산 관리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등의 기능을 정상화하여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예산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구매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자산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사업관리 시스템과 통합된 시스템으로 운영할 수 있도록 기능 개선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0" name="그룹 39"/>
          <p:cNvGrpSpPr/>
          <p:nvPr/>
        </p:nvGrpSpPr>
        <p:grpSpPr>
          <a:xfrm>
            <a:off x="3060274" y="3135363"/>
            <a:ext cx="6110824" cy="648000"/>
            <a:chOff x="3060274" y="3130407"/>
            <a:chExt cx="6110824" cy="648000"/>
          </a:xfrm>
        </p:grpSpPr>
        <p:sp>
          <p:nvSpPr>
            <p:cNvPr id="90" name="직사각형 89">
              <a:extLst>
                <a:ext uri="{FF2B5EF4-FFF2-40B4-BE49-F238E27FC236}">
                  <a16:creationId xmlns="" xmlns:a16="http://schemas.microsoft.com/office/drawing/2014/main" id="{4A3DA6E3-91CE-4B46-AB40-3122683B6F23}"/>
                </a:ext>
              </a:extLst>
            </p:cNvPr>
            <p:cNvSpPr/>
            <p:nvPr/>
          </p:nvSpPr>
          <p:spPr>
            <a:xfrm>
              <a:off x="3060274" y="3130407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현황 및 문제점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3645D26A-84A7-4B58-98CD-009CE5F34953}"/>
                </a:ext>
              </a:extLst>
            </p:cNvPr>
            <p:cNvSpPr/>
            <p:nvPr/>
          </p:nvSpPr>
          <p:spPr>
            <a:xfrm>
              <a:off x="4095098" y="3130407"/>
              <a:ext cx="5076000" cy="6480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ts val="3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결의서 신청에서부터 결산까지의 전체적인 업무 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FLOW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불안정 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ts val="3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개별 업무를 처리하는 기능의 완성도 미비 및 사용자중심의 편의성 미비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결의서 신청관리 외의 기능 불안정으로 더존시스템과 이중으로 운영되고 있음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060274" y="2665766"/>
            <a:ext cx="6110824" cy="410400"/>
            <a:chOff x="3060274" y="2658560"/>
            <a:chExt cx="6110824" cy="410400"/>
          </a:xfrm>
        </p:grpSpPr>
        <p:sp>
          <p:nvSpPr>
            <p:cNvPr id="92" name="직사각형 91">
              <a:extLst>
                <a:ext uri="{FF2B5EF4-FFF2-40B4-BE49-F238E27FC236}">
                  <a16:creationId xmlns="" xmlns:a16="http://schemas.microsoft.com/office/drawing/2014/main" id="{B22CB68C-1A52-4323-9BA6-715C4CA74F06}"/>
                </a:ext>
              </a:extLst>
            </p:cNvPr>
            <p:cNvSpPr/>
            <p:nvPr/>
          </p:nvSpPr>
          <p:spPr>
            <a:xfrm>
              <a:off x="3060274" y="265856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목적 및 필요성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="" xmlns:a16="http://schemas.microsoft.com/office/drawing/2014/main" id="{746CCBF5-18E3-4846-B382-B28F40C95B89}"/>
                </a:ext>
              </a:extLst>
            </p:cNvPr>
            <p:cNvSpPr/>
            <p:nvPr/>
          </p:nvSpPr>
          <p:spPr>
            <a:xfrm>
              <a:off x="4095098" y="2658560"/>
              <a:ext cx="5076000" cy="410400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회계시스템의 기능 정상화로 다시스템과 연계되고 단일화된 시스템 운영 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회계관리의 체계화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표준화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명확하고 원활한 절차 관리로 정확성과 편의성 제고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3060274" y="3842560"/>
            <a:ext cx="6110823" cy="1742782"/>
            <a:chOff x="3060274" y="3840310"/>
            <a:chExt cx="6110823" cy="1742782"/>
          </a:xfrm>
        </p:grpSpPr>
        <p:sp>
          <p:nvSpPr>
            <p:cNvPr id="94" name="직사각형 93">
              <a:extLst>
                <a:ext uri="{FF2B5EF4-FFF2-40B4-BE49-F238E27FC236}">
                  <a16:creationId xmlns="" xmlns:a16="http://schemas.microsoft.com/office/drawing/2014/main" id="{C70CC1FB-D735-4714-A12C-D27BF40CD53F}"/>
                </a:ext>
              </a:extLst>
            </p:cNvPr>
            <p:cNvSpPr/>
            <p:nvPr/>
          </p:nvSpPr>
          <p:spPr>
            <a:xfrm>
              <a:off x="3060274" y="3840310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 방향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="" xmlns:a16="http://schemas.microsoft.com/office/drawing/2014/main" id="{5FC3F293-C2CE-4C3A-A082-2985541B2A49}"/>
                </a:ext>
              </a:extLst>
            </p:cNvPr>
            <p:cNvSpPr/>
            <p:nvPr/>
          </p:nvSpPr>
          <p:spPr>
            <a:xfrm>
              <a:off x="4095097" y="3840310"/>
              <a:ext cx="5076000" cy="1742782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en-US" altLang="ko-KR" sz="1000" smtClean="0"/>
                <a:t>K-IFRS </a:t>
              </a:r>
              <a:r>
                <a:rPr lang="ko-KR" altLang="ko-KR" sz="1000"/>
                <a:t>체계의 계정코드 </a:t>
              </a:r>
              <a:r>
                <a:rPr lang="ko-KR" altLang="ko-KR" sz="1000" smtClean="0"/>
                <a:t>적용</a:t>
              </a:r>
              <a:r>
                <a:rPr lang="en-US" altLang="ko-KR" sz="1000" smtClean="0"/>
                <a:t>, </a:t>
              </a:r>
              <a:r>
                <a:rPr lang="ko-KR" altLang="en-US" sz="1000" smtClean="0"/>
                <a:t>필수항목의 추가관리</a:t>
              </a:r>
              <a:r>
                <a:rPr lang="en-US" altLang="ko-KR" sz="1000" smtClean="0"/>
                <a:t> </a:t>
              </a:r>
              <a:r>
                <a:rPr lang="ko-KR" altLang="en-US" sz="1000" smtClean="0"/>
                <a:t>등 회계 기준정보를 개선</a:t>
              </a:r>
              <a:r>
                <a:rPr lang="en-US" altLang="ko-KR" sz="1000" smtClean="0"/>
                <a:t> </a:t>
              </a:r>
              <a:endParaRPr lang="ko-KR" altLang="ko-KR" sz="1000"/>
            </a:p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ko-KR" altLang="ko-KR" sz="1000" smtClean="0"/>
                <a:t>결의</a:t>
              </a:r>
              <a:r>
                <a:rPr lang="ko-KR" altLang="en-US" sz="1000" smtClean="0"/>
                <a:t>서</a:t>
              </a:r>
              <a:r>
                <a:rPr lang="ko-KR" altLang="ko-KR" sz="1000" smtClean="0"/>
                <a:t> </a:t>
              </a:r>
              <a:r>
                <a:rPr lang="ko-KR" altLang="ko-KR" sz="1000"/>
                <a:t>특성에 맞는 </a:t>
              </a:r>
              <a:r>
                <a:rPr lang="ko-KR" altLang="ko-KR" sz="1000" smtClean="0"/>
                <a:t>화면</a:t>
              </a:r>
              <a:r>
                <a:rPr lang="ko-KR" altLang="en-US" sz="1000" smtClean="0"/>
                <a:t>과 처리</a:t>
              </a:r>
              <a:r>
                <a:rPr lang="ko-KR" altLang="ko-KR" sz="1000" smtClean="0"/>
                <a:t>기능 </a:t>
              </a:r>
              <a:r>
                <a:rPr lang="ko-KR" altLang="en-US" sz="1000" smtClean="0"/>
                <a:t>재 </a:t>
              </a:r>
              <a:r>
                <a:rPr lang="ko-KR" altLang="ko-KR" sz="1000" smtClean="0"/>
                <a:t>구성</a:t>
              </a:r>
              <a:r>
                <a:rPr lang="ko-KR" altLang="en-US" sz="1000" smtClean="0"/>
                <a:t>으로 관련시스템과 연계처리하고</a:t>
              </a:r>
              <a:r>
                <a:rPr lang="en-US" altLang="ko-KR" sz="1000" smtClean="0"/>
                <a:t>,</a:t>
              </a:r>
              <a:endParaRPr lang="ko-KR" altLang="ko-KR" sz="1000"/>
            </a:p>
            <a:p>
              <a:pPr fontAlgn="ctr"/>
              <a:r>
                <a:rPr lang="en-US" altLang="ko-KR" sz="1000" smtClean="0"/>
                <a:t>    </a:t>
              </a:r>
              <a:r>
                <a:rPr lang="ko-KR" altLang="ko-KR" sz="1000" smtClean="0"/>
                <a:t>계정별 </a:t>
              </a:r>
              <a:r>
                <a:rPr lang="ko-KR" altLang="ko-KR" sz="1000"/>
                <a:t>필수항목 </a:t>
              </a:r>
              <a:r>
                <a:rPr lang="ko-KR" altLang="ko-KR" sz="1000" smtClean="0"/>
                <a:t>검증</a:t>
              </a:r>
              <a:r>
                <a:rPr lang="ko-KR" altLang="en-US" sz="1000" smtClean="0"/>
                <a:t>을 통한</a:t>
              </a:r>
              <a:r>
                <a:rPr lang="ko-KR" altLang="ko-KR" sz="1000" smtClean="0"/>
                <a:t> 완벽한 </a:t>
              </a:r>
              <a:r>
                <a:rPr lang="ko-KR" altLang="ko-KR" sz="1000"/>
                <a:t>자동분개 시스템 </a:t>
              </a:r>
              <a:r>
                <a:rPr lang="ko-KR" altLang="ko-KR" sz="1000" smtClean="0"/>
                <a:t>구축</a:t>
              </a:r>
            </a:p>
            <a:p>
              <a:pPr fontAlgn="ctr"/>
              <a:r>
                <a:rPr lang="en-US" altLang="ko-KR" sz="1000" smtClean="0"/>
                <a:t>    - </a:t>
              </a:r>
              <a:r>
                <a:rPr lang="ko-KR" altLang="ko-KR" sz="1000" smtClean="0"/>
                <a:t>전자증빙시스템 도입</a:t>
              </a:r>
              <a:r>
                <a:rPr lang="en-US" altLang="ko-KR" sz="1000" smtClean="0"/>
                <a:t>, </a:t>
              </a:r>
              <a:r>
                <a:rPr lang="ko-KR" altLang="ko-KR" sz="1000" smtClean="0"/>
                <a:t>예산 실시간 통제</a:t>
              </a:r>
              <a:r>
                <a:rPr lang="en-US" altLang="ko-KR" sz="1000" smtClean="0"/>
                <a:t>/</a:t>
              </a:r>
              <a:r>
                <a:rPr lang="ko-KR" altLang="ko-KR" sz="1000" smtClean="0"/>
                <a:t>집계</a:t>
              </a:r>
            </a:p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ko-KR" altLang="en-US" sz="1000" smtClean="0"/>
                <a:t>자금 집행대상</a:t>
              </a:r>
              <a:r>
                <a:rPr lang="en-US" altLang="ko-KR" sz="1000" smtClean="0"/>
                <a:t>TABLE</a:t>
              </a:r>
              <a:r>
                <a:rPr lang="ko-KR" altLang="en-US" sz="1000" smtClean="0"/>
                <a:t>의 생성</a:t>
              </a:r>
              <a:r>
                <a:rPr lang="en-US" altLang="ko-KR" sz="1000" smtClean="0"/>
                <a:t>/</a:t>
              </a:r>
              <a:r>
                <a:rPr lang="ko-KR" altLang="en-US" sz="1000" smtClean="0"/>
                <a:t>과정관리로 신청</a:t>
              </a:r>
              <a:r>
                <a:rPr lang="en-US" altLang="ko-KR" sz="1000" smtClean="0"/>
                <a:t>~</a:t>
              </a:r>
              <a:r>
                <a:rPr lang="ko-KR" altLang="en-US" sz="1000" smtClean="0"/>
                <a:t>출금완료까지의 이력 관리</a:t>
              </a:r>
              <a:endParaRPr lang="en-US" altLang="ko-KR" sz="1000" smtClean="0"/>
            </a:p>
            <a:p>
              <a:pPr fontAlgn="ctr"/>
              <a:r>
                <a:rPr lang="en-US" altLang="ko-KR" sz="1000"/>
                <a:t> </a:t>
              </a:r>
              <a:r>
                <a:rPr lang="en-US" altLang="ko-KR" sz="1000" smtClean="0"/>
                <a:t>   (</a:t>
              </a:r>
              <a:r>
                <a:rPr lang="ko-KR" altLang="ko-KR" sz="1000" smtClean="0"/>
                <a:t>출금 </a:t>
              </a:r>
              <a:r>
                <a:rPr lang="ko-KR" altLang="ko-KR" sz="1000"/>
                <a:t>절차 및 출금결과 건별 </a:t>
              </a:r>
              <a:r>
                <a:rPr lang="ko-KR" altLang="ko-KR" sz="1000" smtClean="0"/>
                <a:t>관리</a:t>
              </a:r>
              <a:r>
                <a:rPr lang="en-US" altLang="ko-KR" sz="1000" smtClean="0"/>
                <a:t> : </a:t>
              </a:r>
              <a:r>
                <a:rPr lang="ko-KR" altLang="ko-KR" sz="1000" smtClean="0"/>
                <a:t>집행요청</a:t>
              </a:r>
              <a:r>
                <a:rPr lang="en-US" altLang="ko-KR" sz="1000">
                  <a:sym typeface="Wingdings" panose="05000000000000000000" pitchFamily="2" charset="2"/>
                </a:rPr>
                <a:t></a:t>
              </a:r>
              <a:r>
                <a:rPr lang="ko-KR" altLang="ko-KR" sz="1000"/>
                <a:t>승인</a:t>
              </a:r>
              <a:r>
                <a:rPr lang="en-US" altLang="ko-KR" sz="1000">
                  <a:sym typeface="Wingdings" panose="05000000000000000000" pitchFamily="2" charset="2"/>
                </a:rPr>
                <a:t></a:t>
              </a:r>
              <a:r>
                <a:rPr lang="ko-KR" altLang="ko-KR" sz="1000"/>
                <a:t>출금</a:t>
              </a:r>
              <a:r>
                <a:rPr lang="en-US" altLang="ko-KR" sz="1000">
                  <a:sym typeface="Wingdings" panose="05000000000000000000" pitchFamily="2" charset="2"/>
                </a:rPr>
                <a:t></a:t>
              </a:r>
              <a:r>
                <a:rPr lang="ko-KR" altLang="ko-KR" sz="1000"/>
                <a:t>출금전표</a:t>
              </a:r>
              <a:r>
                <a:rPr lang="en-US" altLang="ko-KR" sz="1000"/>
                <a:t>)  </a:t>
              </a:r>
              <a:endParaRPr lang="ko-KR" altLang="ko-KR" sz="1000"/>
            </a:p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ko-KR" altLang="ko-KR" sz="1000" smtClean="0"/>
                <a:t>입금 </a:t>
              </a:r>
              <a:r>
                <a:rPr lang="en-US" altLang="ko-KR" sz="1000" smtClean="0"/>
                <a:t>DATA </a:t>
              </a:r>
              <a:r>
                <a:rPr lang="ko-KR" altLang="ko-KR" sz="1000" smtClean="0"/>
                <a:t>수신시점에 입금전표 자동 생성</a:t>
              </a:r>
              <a:r>
                <a:rPr lang="en-US" altLang="ko-KR" sz="1000" smtClean="0"/>
                <a:t> (</a:t>
              </a:r>
              <a:r>
                <a:rPr lang="ko-KR" altLang="ko-KR" sz="1000" smtClean="0"/>
                <a:t>실시간 시재 관리</a:t>
              </a:r>
              <a:r>
                <a:rPr lang="en-US" altLang="ko-KR" sz="1000" smtClean="0"/>
                <a:t>) </a:t>
              </a:r>
              <a:r>
                <a:rPr lang="ko-KR" altLang="en-US" sz="1000" smtClean="0"/>
                <a:t>및 </a:t>
              </a:r>
            </a:p>
            <a:p>
              <a:pPr fontAlgn="ctr"/>
              <a:r>
                <a:rPr lang="en-US" altLang="ko-KR" sz="1000" smtClean="0"/>
                <a:t>    </a:t>
              </a:r>
              <a:r>
                <a:rPr lang="ko-KR" altLang="ko-KR" sz="1000" smtClean="0"/>
                <a:t>수납처리시에 미수금에 대한 정보 선택 후 수납처리로 건별</a:t>
              </a:r>
              <a:r>
                <a:rPr lang="en-US" altLang="ko-KR" sz="1000" smtClean="0"/>
                <a:t> </a:t>
              </a:r>
              <a:r>
                <a:rPr lang="ko-KR" altLang="en-US" sz="1000" smtClean="0"/>
                <a:t>채권회수 </a:t>
              </a:r>
              <a:r>
                <a:rPr lang="ko-KR" altLang="ko-KR" sz="1000" smtClean="0"/>
                <a:t>관리</a:t>
              </a:r>
              <a:endParaRPr lang="ko-KR" altLang="ko-KR" sz="1000"/>
            </a:p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ko-KR" altLang="en-US" sz="1000" smtClean="0"/>
                <a:t>부가세 및 원천세의 전자신고 체제 구축</a:t>
              </a:r>
              <a:endParaRPr lang="en-US" altLang="ko-KR" sz="1000" smtClean="0"/>
            </a:p>
            <a:p>
              <a:pPr marL="171450" indent="-171450" fontAlgn="ctr">
                <a:buFont typeface="Wingdings" panose="05000000000000000000" pitchFamily="2" charset="2"/>
                <a:buChar char="§"/>
              </a:pPr>
              <a:r>
                <a:rPr lang="ko-KR" altLang="en-US" sz="1000" smtClean="0"/>
                <a:t>결산전표 자동생성 및 주석 기초자료 입력에 의한 결산주석 자료 추출</a:t>
              </a:r>
              <a:r>
                <a:rPr lang="en-US" altLang="ko-KR" sz="1000" smtClean="0"/>
                <a:t>  </a:t>
              </a:r>
              <a:endParaRPr lang="ko-KR" altLang="ko-KR" sz="1000"/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3060274" y="5733253"/>
            <a:ext cx="6110823" cy="439796"/>
            <a:chOff x="3060274" y="5889464"/>
            <a:chExt cx="6110823" cy="458303"/>
          </a:xfrm>
        </p:grpSpPr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9F60708A-697A-422E-84EB-603677EFF344}"/>
                </a:ext>
              </a:extLst>
            </p:cNvPr>
            <p:cNvSpPr/>
            <p:nvPr/>
          </p:nvSpPr>
          <p:spPr>
            <a:xfrm>
              <a:off x="3060274" y="5889467"/>
              <a:ext cx="968366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고려사항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F3587659-245E-46A2-96B1-18B88C25A318}"/>
                </a:ext>
              </a:extLst>
            </p:cNvPr>
            <p:cNvSpPr/>
            <p:nvPr/>
          </p:nvSpPr>
          <p:spPr>
            <a:xfrm>
              <a:off x="4095097" y="5889464"/>
              <a:ext cx="5076000" cy="458303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2022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년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2023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년 전표 처리로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2024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년 이월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DATA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현행화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증빙관리시스템 도입에 의한 사용자 편의성 제고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4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88504" y="4859635"/>
            <a:ext cx="2028386" cy="453935"/>
            <a:chOff x="401216" y="2918940"/>
            <a:chExt cx="2310143" cy="551720"/>
          </a:xfrm>
        </p:grpSpPr>
        <p:sp>
          <p:nvSpPr>
            <p:cNvPr id="45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세무 전자신고관리 체제 구축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6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5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47" name="그룹 104">
            <a:extLst>
              <a:ext uri="{FF2B5EF4-FFF2-40B4-BE49-F238E27FC236}">
                <a16:creationId xmlns="" xmlns:a16="http://schemas.microsoft.com/office/drawing/2014/main" id="{0A95ACFA-2726-46C1-AD8F-1D87F34F9A7C}"/>
              </a:ext>
            </a:extLst>
          </p:cNvPr>
          <p:cNvGrpSpPr/>
          <p:nvPr/>
        </p:nvGrpSpPr>
        <p:grpSpPr>
          <a:xfrm>
            <a:off x="488504" y="5381998"/>
            <a:ext cx="2028386" cy="453935"/>
            <a:chOff x="401216" y="2918940"/>
            <a:chExt cx="2310143" cy="551720"/>
          </a:xfrm>
        </p:grpSpPr>
        <p:sp>
          <p:nvSpPr>
            <p:cNvPr id="48" name="모서리가 둥근 직사각형 55">
              <a:extLst>
                <a:ext uri="{FF2B5EF4-FFF2-40B4-BE49-F238E27FC236}">
                  <a16:creationId xmlns="" xmlns:a16="http://schemas.microsoft.com/office/drawing/2014/main" id="{04CE164E-A277-4A8C-80F7-9A57D5BDEB44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ko-KR" altLang="en-US" sz="1000" b="1" smtClean="0"/>
                <a:t>결산 처리 자동화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9" name="직사각형 10">
              <a:extLst>
                <a:ext uri="{FF2B5EF4-FFF2-40B4-BE49-F238E27FC236}">
                  <a16:creationId xmlns="" xmlns:a16="http://schemas.microsoft.com/office/drawing/2014/main" id="{2BECFB51-2DF0-4032-B0F9-BE080AC78865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6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50" name="그룹 110">
            <a:extLst>
              <a:ext uri="{FF2B5EF4-FFF2-40B4-BE49-F238E27FC236}">
                <a16:creationId xmlns="" xmlns:a16="http://schemas.microsoft.com/office/drawing/2014/main" id="{01D653F6-8988-40E3-B1E2-1DCADFAA862B}"/>
              </a:ext>
            </a:extLst>
          </p:cNvPr>
          <p:cNvGrpSpPr/>
          <p:nvPr/>
        </p:nvGrpSpPr>
        <p:grpSpPr>
          <a:xfrm>
            <a:off x="488504" y="5904361"/>
            <a:ext cx="2028386" cy="453935"/>
            <a:chOff x="401216" y="2918940"/>
            <a:chExt cx="2310143" cy="551720"/>
          </a:xfrm>
        </p:grpSpPr>
        <p:sp>
          <p:nvSpPr>
            <p:cNvPr id="51" name="모서리가 둥근 직사각형 68">
              <a:extLst>
                <a:ext uri="{FF2B5EF4-FFF2-40B4-BE49-F238E27FC236}">
                  <a16:creationId xmlns="" xmlns:a16="http://schemas.microsoft.com/office/drawing/2014/main" id="{520DC5EA-0151-4A4B-876E-90A97C34C9B8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defRPr/>
              </a:pPr>
              <a:r>
                <a:rPr lang="en-US" altLang="ko-KR" sz="1000" b="1"/>
                <a:t>2022</a:t>
              </a:r>
              <a:r>
                <a:rPr lang="ko-KR" altLang="en-US" sz="1000" b="1"/>
                <a:t>년</a:t>
              </a:r>
              <a:r>
                <a:rPr lang="en-US" altLang="ko-KR" sz="1000" b="1"/>
                <a:t>,2023</a:t>
              </a:r>
              <a:r>
                <a:rPr lang="ko-KR" altLang="en-US" sz="1000" b="1"/>
                <a:t>년 결산자료의 시스템 반영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52" name="직사각형 10">
              <a:extLst>
                <a:ext uri="{FF2B5EF4-FFF2-40B4-BE49-F238E27FC236}">
                  <a16:creationId xmlns="" xmlns:a16="http://schemas.microsoft.com/office/drawing/2014/main" id="{F245562B-A3CA-4671-93E0-C42AEAE43791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7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247973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계정코드</a:t>
            </a:r>
            <a:r>
              <a:rPr lang="en-US" altLang="ko-KR" sz="1600" smtClean="0"/>
              <a:t>, </a:t>
            </a:r>
            <a:r>
              <a:rPr lang="ko-KR" altLang="en-US" sz="1600" smtClean="0"/>
              <a:t>거래처코드</a:t>
            </a:r>
            <a:r>
              <a:rPr lang="en-US" altLang="ko-KR" sz="1600" smtClean="0"/>
              <a:t>, </a:t>
            </a:r>
            <a:r>
              <a:rPr lang="ko-KR" altLang="en-US" sz="1600" smtClean="0"/>
              <a:t>보유계좌정보</a:t>
            </a:r>
            <a:r>
              <a:rPr lang="en-US" altLang="ko-KR" sz="1600" smtClean="0"/>
              <a:t>, </a:t>
            </a:r>
            <a:r>
              <a:rPr lang="ko-KR" altLang="en-US" sz="1600" smtClean="0"/>
              <a:t>사업별 회계처리 기준</a:t>
            </a:r>
            <a:r>
              <a:rPr lang="en-US" altLang="ko-KR" sz="1600" smtClean="0"/>
              <a:t>, </a:t>
            </a:r>
            <a:r>
              <a:rPr lang="ko-KR" altLang="en-US" sz="1600" smtClean="0"/>
              <a:t>예산</a:t>
            </a:r>
            <a:r>
              <a:rPr lang="en-US" altLang="ko-KR" sz="1600" smtClean="0"/>
              <a:t>-</a:t>
            </a:r>
            <a:r>
              <a:rPr lang="ko-KR" altLang="en-US" sz="1600" smtClean="0"/>
              <a:t>계정코드 매핑 등 회계처리기준을 설정하는 정보를 관리하여 각종 결의서 생성시 누락항목을 방지하고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결의서 전표 분개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입출금 전표 분개</a:t>
            </a:r>
            <a:r>
              <a:rPr lang="en-US" altLang="ko-KR" sz="1600" smtClean="0"/>
              <a:t>, </a:t>
            </a:r>
            <a:r>
              <a:rPr lang="ko-KR" altLang="en-US" sz="1600" smtClean="0"/>
              <a:t> 결산전표 생성 및 재무제표 작성 등의 기준자료로 사용하고자 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2.4.2.1 </a:t>
            </a:r>
            <a:r>
              <a:rPr lang="ko-KR" altLang="en-US" sz="1800" smtClean="0"/>
              <a:t>회계기준정보 개선</a:t>
            </a:r>
            <a:r>
              <a:rPr lang="en-US" altLang="ko-KR" sz="1800" smtClean="0"/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5053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1. 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회계처리 기준정보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2745612"/>
              </p:ext>
            </p:extLst>
          </p:nvPr>
        </p:nvGraphicFramePr>
        <p:xfrm>
          <a:off x="488504" y="2082574"/>
          <a:ext cx="8928991" cy="41547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32"/>
                <a:gridCol w="936104"/>
                <a:gridCol w="1368152"/>
                <a:gridCol w="5400600"/>
                <a:gridCol w="936103"/>
              </a:tblGrid>
              <a:tr h="2844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 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216200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계정구조코드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요청 항목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 체계를 나타내는 시스템 내부 관리코드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(1)+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(2)+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(2)+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옥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(2)+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(2)+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(2)]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- 1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,3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자본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손익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5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6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자본변동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7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현금흐름표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- 01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유동자산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비유동자산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유동부채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비유동부채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납입자본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이익잉여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- 01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현금및현금성자산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유동금융자산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03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매출채권및기타채권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,04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재고자산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- 01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유동당기손익공정가치주정금융자산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유등기타포괄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- 01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보유현금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현금성자산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현금성자산정부보조금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03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수탁자금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세절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- 01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보유현금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보통예금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02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기업자유예금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0241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 관리항목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 각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관리항목 및 필수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선택항목 구분</a:t>
                      </a: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*계정코드에 따라 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 분개시 필요한 항목을 지정하고 필수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여부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72792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계정과목별 상계기준이 되는 항목을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Depth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</a:t>
                      </a: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보통예금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미수금   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발생사유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채권을 건별로 관리할 경우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현재는 계좌번호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거래처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부서 등으로 잔액구분이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차로 한정되어 있음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965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 대체 계정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결산시 대체하는 계정코드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대손충당금 설정 및 선급보험료 대체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6516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차감계정코드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대체처리 전표분개시 발생하는 상대계정코드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단기선급금 대손충당금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단기선급금 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장기선급금 정부보조금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장기선급금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965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그룹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금융상품 그룹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선급대체 대상그룹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 흩어져 있는 여러 계정의 일괄 처리시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965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거래처코드</a:t>
                      </a:r>
                    </a:p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 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복수개의 거래계좌 관리로 입금처가 다른 거래 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96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담당자정보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발행시 담당자의 메일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전화번호 등 관리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74596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2.4.2.1 </a:t>
            </a:r>
            <a:r>
              <a:rPr lang="ko-KR" altLang="en-US" sz="1800" smtClean="0"/>
              <a:t>회계기준정보 개선</a:t>
            </a:r>
            <a:r>
              <a:rPr lang="en-US" altLang="ko-KR" sz="1800" smtClean="0"/>
              <a:t>(2/2)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873311"/>
            <a:ext cx="9174167" cy="5508017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1. 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회계처리 기준정보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3672588"/>
              </p:ext>
            </p:extLst>
          </p:nvPr>
        </p:nvGraphicFramePr>
        <p:xfrm>
          <a:off x="488504" y="1268760"/>
          <a:ext cx="8928991" cy="4968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32"/>
                <a:gridCol w="936104"/>
                <a:gridCol w="1368152"/>
                <a:gridCol w="5400600"/>
                <a:gridCol w="936103"/>
              </a:tblGrid>
              <a:tr h="294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 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376078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 계좌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 계좌가 어느 계정과목에 속하는지 등록하여 입금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 전표분개시 계정코드로 사용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1614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계좌의 용도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전용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입금전용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특정사업 전용 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966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여부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사업장별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지정을 결의서 생성시 특정사업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용도별 지정 건을 제외한 거래의 출금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계좌로 등록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783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결산용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이자율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이자귀속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445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 관련 항목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해약입금계좌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선급법인세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해약사유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해약전표일자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783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 관련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자금과목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해약구분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정기해약일 경우 경상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수입이지만 중도해약일 경우 자금대책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예금해약임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20065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자금코드</a:t>
                      </a:r>
                    </a:p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코드 체계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시재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가용시재와 불가용시재로 중분류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영업수지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영업수입과 영업지출로 중분류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경상수지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경상수입고 경상비 지출로 중분류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적정보유자금 산출에 의한 자금과부족 계산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단기대책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자금과부족에 대한 단기 대책과 자금운용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계획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장기조정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장기적인 자금 과부족에 대한 자금 조정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장기차입금 도입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자산매각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투자계획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수입지출 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수입일 경우 자금과부족에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지출일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입출금 전용 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수익구분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수익사업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비수익사업 구분 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자금관리구분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RCMS, e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이지바로 등과 같은 국고보조금 관리 사업 여부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직원계좌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계좌용도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직원 계좌별 용도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출장비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급여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0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용도구분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전용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공용카드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하이패스 등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292316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pc="-150" smtClean="0">
                <a:solidFill>
                  <a:srgbClr val="000000"/>
                </a:solidFill>
              </a:rPr>
              <a:t>예산을 집행하고 수입을 결정하는 결의서의 종류와 기능을 세분화하여 </a:t>
            </a:r>
            <a:r>
              <a:rPr lang="ko-KR" altLang="en-US" spc="-150">
                <a:solidFill>
                  <a:srgbClr val="000000"/>
                </a:solidFill>
              </a:rPr>
              <a:t>법인카드</a:t>
            </a:r>
            <a:r>
              <a:rPr lang="en-US" altLang="ko-KR" spc="-150">
                <a:solidFill>
                  <a:srgbClr val="000000"/>
                </a:solidFill>
              </a:rPr>
              <a:t>, </a:t>
            </a:r>
            <a:r>
              <a:rPr lang="ko-KR" altLang="en-US" spc="-150">
                <a:solidFill>
                  <a:srgbClr val="000000"/>
                </a:solidFill>
              </a:rPr>
              <a:t>전자세금계산서 등의 관련 정보 </a:t>
            </a:r>
            <a:r>
              <a:rPr lang="ko-KR" altLang="en-US" spc="-150" smtClean="0">
                <a:solidFill>
                  <a:srgbClr val="000000"/>
                </a:solidFill>
              </a:rPr>
              <a:t>처리와 전표 분개시 전표에서 요구되는 계정코드별 관리항목 충족을 위하여</a:t>
            </a:r>
            <a:r>
              <a:rPr lang="en-US" altLang="ko-KR" spc="-150" smtClean="0">
                <a:solidFill>
                  <a:srgbClr val="000000"/>
                </a:solidFill>
              </a:rPr>
              <a:t>,</a:t>
            </a:r>
            <a:r>
              <a:rPr lang="ko-KR" altLang="en-US" spc="-150" smtClean="0">
                <a:solidFill>
                  <a:srgbClr val="000000"/>
                </a:solidFill>
              </a:rPr>
              <a:t> 용도별로 세분화된 </a:t>
            </a:r>
            <a:r>
              <a:rPr lang="ko-KR" altLang="en-US" spc="-150" dirty="0">
                <a:solidFill>
                  <a:srgbClr val="000000"/>
                </a:solidFill>
              </a:rPr>
              <a:t>기능의 결의서 관리로  관련정보와 연계처리 및 분개시 발생하는 계정과목의 필수 관리항목  취득이  </a:t>
            </a:r>
            <a:r>
              <a:rPr lang="ko-KR" altLang="en-US" spc="-150">
                <a:solidFill>
                  <a:srgbClr val="000000"/>
                </a:solidFill>
              </a:rPr>
              <a:t>용이한  </a:t>
            </a:r>
            <a:r>
              <a:rPr lang="ko-KR" altLang="en-US" spc="-150" smtClean="0">
                <a:solidFill>
                  <a:srgbClr val="000000"/>
                </a:solidFill>
              </a:rPr>
              <a:t>기능으로 구축함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(1/6)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31481"/>
            <a:ext cx="9174167" cy="4715929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결의서 세분화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3442788"/>
              </p:ext>
            </p:extLst>
          </p:nvPr>
        </p:nvGraphicFramePr>
        <p:xfrm>
          <a:off x="416496" y="5749491"/>
          <a:ext cx="8919464" cy="512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/>
                <a:gridCol w="504056"/>
                <a:gridCol w="432048"/>
                <a:gridCol w="432395"/>
                <a:gridCol w="466725"/>
                <a:gridCol w="571500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340172"/>
                <a:gridCol w="340171"/>
                <a:gridCol w="340172"/>
                <a:gridCol w="495992"/>
                <a:gridCol w="432048"/>
                <a:gridCol w="360040"/>
                <a:gridCol w="422520"/>
              </a:tblGrid>
              <a:tr h="17099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예산집계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년도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월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세목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편성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배정액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절감목표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예산실적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불용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09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이월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연간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추경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정기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신청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확정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집행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명시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계속비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기타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099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blipFill>
                      <a:blip r:embed="rId2"/>
                      <a:tile tx="0" ty="0" sx="100000" sy="100000" flip="none" algn="tl"/>
                    </a:blip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⑥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⑨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" name="표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522707"/>
              </p:ext>
            </p:extLst>
          </p:nvPr>
        </p:nvGraphicFramePr>
        <p:xfrm>
          <a:off x="416495" y="1989138"/>
          <a:ext cx="9073009" cy="18812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041"/>
                <a:gridCol w="738234"/>
                <a:gridCol w="766942"/>
                <a:gridCol w="697220"/>
                <a:gridCol w="697220"/>
                <a:gridCol w="627499"/>
                <a:gridCol w="697220"/>
                <a:gridCol w="627499"/>
                <a:gridCol w="697220"/>
                <a:gridCol w="766942"/>
                <a:gridCol w="557776"/>
                <a:gridCol w="557776"/>
                <a:gridCol w="622885"/>
                <a:gridCol w="571535"/>
              </a:tblGrid>
              <a:tr h="1709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구분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지출결의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차변만 입력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수입결의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대변만 입력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대체결의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(</a:t>
                      </a:r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차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/</a:t>
                      </a:r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대변 입력</a:t>
                      </a:r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)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수납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709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종류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일반지출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카드지출결의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회입결의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세출외지출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일반수입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사업수입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반납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세입외수입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일반대체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계좌대체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예산대체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결산대체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수납결의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6502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내용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법인카드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회입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세출외지출을 제외한 일반 지출결의</a:t>
                      </a:r>
                      <a:endParaRPr lang="en-US" altLang="ko-KR" sz="900" b="1" smtClean="0">
                        <a:solidFill>
                          <a:srgbClr val="0000CC"/>
                        </a:solidFill>
                      </a:endParaRPr>
                    </a:p>
                    <a:p>
                      <a:pPr algn="l" latinLnBrk="1"/>
                      <a:r>
                        <a:rPr lang="en-US" altLang="ko-KR" sz="900" b="1" smtClean="0">
                          <a:solidFill>
                            <a:srgbClr val="0000CC"/>
                          </a:solidFill>
                        </a:rPr>
                        <a:t>*</a:t>
                      </a:r>
                      <a:r>
                        <a:rPr lang="ko-KR" altLang="en-US" sz="900" b="1" smtClean="0">
                          <a:solidFill>
                            <a:srgbClr val="0000CC"/>
                          </a:solidFill>
                        </a:rPr>
                        <a:t>자산지출결의</a:t>
                      </a:r>
                      <a:endParaRPr lang="ko-KR" altLang="en-US" sz="900" b="1">
                        <a:solidFill>
                          <a:srgbClr val="0000CC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법인카드 지출건에 대한 결의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기존에 집행되었던 일반지출결의서 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–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금액 처리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예산과 관련없는 지출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사업 외의 일반 수입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사업에서 발생하는 수입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기존에 수입처리된 건에 대한 반납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예산과 관련없는 수입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수입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지출결의로 처리하기 어려운 복잡한 전표 처리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보유 계좌간 입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.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출금 처리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 결의서의 예산 변경 결의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결산 작업에서 생성되는 결의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입금에 의한 가수금상계처리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연계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전자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세금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계산서 연결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법인카드 매입 연결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 지출결의서 연결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smtClean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전자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세금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계산서 발행</a:t>
                      </a:r>
                    </a:p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전자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세금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계산서 발행</a:t>
                      </a:r>
                    </a:p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 수입결의서 연결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전자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세금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계산서</a:t>
                      </a:r>
                      <a:r>
                        <a:rPr lang="en-US" altLang="ko-KR" sz="900" smtClean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lang="en-US" altLang="ko-KR" sz="900" baseline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법인카드 매입 연결</a:t>
                      </a:r>
                    </a:p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기존 결의서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은행</a:t>
                      </a:r>
                      <a:endParaRPr lang="en-US" altLang="ko-KR" sz="900" smtClean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입금내역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예산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집계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="" xmlns:a16="http://schemas.microsoft.com/office/drawing/2014/main" id="{B9CCFF9F-D826-4F53-A031-AAA0CDD8979D}"/>
              </a:ext>
            </a:extLst>
          </p:cNvPr>
          <p:cNvSpPr/>
          <p:nvPr/>
        </p:nvSpPr>
        <p:spPr bwMode="auto">
          <a:xfrm>
            <a:off x="344488" y="3933056"/>
            <a:ext cx="9174167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lvl="0" algn="ctr" latinLnBrk="0">
              <a:defRPr/>
            </a:pPr>
            <a:r>
              <a:rPr lang="ko-KR" altLang="en-US" sz="1400" b="1" kern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결의서 관련 프로세스</a:t>
            </a:r>
            <a:endParaRPr lang="en-US" altLang="ko-KR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순서도: 처리 9"/>
          <p:cNvSpPr/>
          <p:nvPr/>
        </p:nvSpPr>
        <p:spPr>
          <a:xfrm>
            <a:off x="488504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입력①</a:t>
            </a:r>
          </a:p>
        </p:txBody>
      </p:sp>
      <p:sp>
        <p:nvSpPr>
          <p:cNvPr id="42" name="순서도: 처리 41"/>
          <p:cNvSpPr/>
          <p:nvPr/>
        </p:nvSpPr>
        <p:spPr>
          <a:xfrm>
            <a:off x="1555293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입력 확정②</a:t>
            </a:r>
          </a:p>
        </p:txBody>
      </p:sp>
      <p:sp>
        <p:nvSpPr>
          <p:cNvPr id="45" name="순서도: 처리 44"/>
          <p:cNvSpPr/>
          <p:nvPr/>
        </p:nvSpPr>
        <p:spPr>
          <a:xfrm>
            <a:off x="4613598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확정⑥</a:t>
            </a:r>
          </a:p>
        </p:txBody>
      </p:sp>
      <p:sp>
        <p:nvSpPr>
          <p:cNvPr id="46" name="순서도: 처리 45"/>
          <p:cNvSpPr/>
          <p:nvPr/>
        </p:nvSpPr>
        <p:spPr>
          <a:xfrm>
            <a:off x="6542819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출금의뢰⑦</a:t>
            </a:r>
          </a:p>
        </p:txBody>
      </p:sp>
      <p:cxnSp>
        <p:nvCxnSpPr>
          <p:cNvPr id="12" name="꺾인 연결선 11"/>
          <p:cNvCxnSpPr>
            <a:stCxn id="10" idx="2"/>
            <a:endCxn id="13" idx="0"/>
          </p:cNvCxnSpPr>
          <p:nvPr/>
        </p:nvCxnSpPr>
        <p:spPr>
          <a:xfrm rot="16200000" flipH="1">
            <a:off x="2867654" y="2692255"/>
            <a:ext cx="1278185" cy="5172388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/>
          <p:cNvSpPr/>
          <p:nvPr/>
        </p:nvSpPr>
        <p:spPr>
          <a:xfrm>
            <a:off x="5923528" y="5917542"/>
            <a:ext cx="338823" cy="33539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6270361" y="5917543"/>
            <a:ext cx="338823" cy="3331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48" name="직사각형 47"/>
          <p:cNvSpPr/>
          <p:nvPr/>
        </p:nvSpPr>
        <p:spPr>
          <a:xfrm>
            <a:off x="6612561" y="5917543"/>
            <a:ext cx="338823" cy="3331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15" name="순서도: 종속 처리 14"/>
          <p:cNvSpPr/>
          <p:nvPr/>
        </p:nvSpPr>
        <p:spPr>
          <a:xfrm>
            <a:off x="1543997" y="4777687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전표분개③</a:t>
            </a:r>
          </a:p>
        </p:txBody>
      </p:sp>
      <p:sp>
        <p:nvSpPr>
          <p:cNvPr id="50" name="순서도: 처리 49"/>
          <p:cNvSpPr/>
          <p:nvPr/>
        </p:nvSpPr>
        <p:spPr>
          <a:xfrm>
            <a:off x="8553400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출금완료⑨</a:t>
            </a:r>
          </a:p>
        </p:txBody>
      </p:sp>
      <p:sp>
        <p:nvSpPr>
          <p:cNvPr id="16" name="순서도: 판단 15"/>
          <p:cNvSpPr/>
          <p:nvPr/>
        </p:nvSpPr>
        <p:spPr>
          <a:xfrm>
            <a:off x="2597374" y="4356204"/>
            <a:ext cx="864096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승인④</a:t>
            </a:r>
          </a:p>
        </p:txBody>
      </p:sp>
      <p:sp>
        <p:nvSpPr>
          <p:cNvPr id="52" name="순서도: 판단 51"/>
          <p:cNvSpPr/>
          <p:nvPr/>
        </p:nvSpPr>
        <p:spPr>
          <a:xfrm>
            <a:off x="5630464" y="4356204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집행대상</a:t>
            </a:r>
          </a:p>
        </p:txBody>
      </p:sp>
      <p:sp>
        <p:nvSpPr>
          <p:cNvPr id="60" name="순서도: 처리 59"/>
          <p:cNvSpPr/>
          <p:nvPr/>
        </p:nvSpPr>
        <p:spPr>
          <a:xfrm>
            <a:off x="3598896" y="435132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분개장 확인⑤</a:t>
            </a:r>
          </a:p>
        </p:txBody>
      </p:sp>
      <p:sp>
        <p:nvSpPr>
          <p:cNvPr id="17" name="순서도: 종속 처리 16"/>
          <p:cNvSpPr/>
          <p:nvPr/>
        </p:nvSpPr>
        <p:spPr>
          <a:xfrm>
            <a:off x="7557816" y="4346701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은행연계⑧</a:t>
            </a:r>
          </a:p>
        </p:txBody>
      </p:sp>
      <p:cxnSp>
        <p:nvCxnSpPr>
          <p:cNvPr id="19" name="꺾인 연결선 18"/>
          <p:cNvCxnSpPr>
            <a:stCxn id="45" idx="2"/>
            <a:endCxn id="47" idx="0"/>
          </p:cNvCxnSpPr>
          <p:nvPr/>
        </p:nvCxnSpPr>
        <p:spPr>
          <a:xfrm rot="16200000" flipH="1">
            <a:off x="5103616" y="4581386"/>
            <a:ext cx="1278186" cy="1394127"/>
          </a:xfrm>
          <a:prstGeom prst="bentConnector3">
            <a:avLst>
              <a:gd name="adj1" fmla="val 41158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꺾인 연결선 60"/>
          <p:cNvCxnSpPr>
            <a:stCxn id="50" idx="2"/>
            <a:endCxn id="48" idx="0"/>
          </p:cNvCxnSpPr>
          <p:nvPr/>
        </p:nvCxnSpPr>
        <p:spPr>
          <a:xfrm rot="5400000">
            <a:off x="7244618" y="4176713"/>
            <a:ext cx="1278186" cy="220347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344488" y="5472492"/>
            <a:ext cx="87639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1) </a:t>
            </a:r>
            <a:r>
              <a:rPr lang="ko-KR" altLang="en-US" sz="1200" smtClean="0"/>
              <a:t>입력시 처리사항 </a:t>
            </a:r>
            <a:r>
              <a:rPr lang="en-US" altLang="ko-KR" sz="1200" smtClean="0"/>
              <a:t>- </a:t>
            </a:r>
            <a:r>
              <a:rPr lang="ko-KR" altLang="en-US" sz="1200" smtClean="0"/>
              <a:t>①실시간 예산 집계</a:t>
            </a:r>
            <a:r>
              <a:rPr lang="en-US" altLang="ko-KR" sz="1200" smtClean="0"/>
              <a:t>(</a:t>
            </a:r>
            <a:r>
              <a:rPr lang="ko-KR" altLang="en-US" sz="1200" smtClean="0"/>
              <a:t>신청액</a:t>
            </a:r>
            <a:r>
              <a:rPr lang="en-US" altLang="ko-KR" sz="1200" smtClean="0"/>
              <a:t>) : </a:t>
            </a:r>
            <a:r>
              <a:rPr lang="ko-KR" altLang="en-US" sz="1200" smtClean="0"/>
              <a:t>예산관련 결의서일 경우 통제구분에 따라 예산한도 이내의 결의금액 허용</a:t>
            </a:r>
            <a:endParaRPr lang="ko-KR" altLang="en-US" sz="1200" dirty="0" err="1" smtClean="0"/>
          </a:p>
        </p:txBody>
      </p:sp>
      <p:cxnSp>
        <p:nvCxnSpPr>
          <p:cNvPr id="30" name="직선 화살표 연결선 29"/>
          <p:cNvCxnSpPr>
            <a:stCxn id="10" idx="3"/>
            <a:endCxn id="42" idx="1"/>
          </p:cNvCxnSpPr>
          <p:nvPr/>
        </p:nvCxnSpPr>
        <p:spPr>
          <a:xfrm>
            <a:off x="1352600" y="4495341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화살표 연결선 70"/>
          <p:cNvCxnSpPr>
            <a:stCxn id="42" idx="3"/>
            <a:endCxn id="16" idx="1"/>
          </p:cNvCxnSpPr>
          <p:nvPr/>
        </p:nvCxnSpPr>
        <p:spPr>
          <a:xfrm>
            <a:off x="2419389" y="4495341"/>
            <a:ext cx="17798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/>
          <p:cNvCxnSpPr>
            <a:stCxn id="16" idx="3"/>
            <a:endCxn id="60" idx="1"/>
          </p:cNvCxnSpPr>
          <p:nvPr/>
        </p:nvCxnSpPr>
        <p:spPr>
          <a:xfrm flipV="1">
            <a:off x="3461470" y="4495341"/>
            <a:ext cx="13742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화살표 연결선 74"/>
          <p:cNvCxnSpPr>
            <a:stCxn id="60" idx="3"/>
            <a:endCxn id="45" idx="1"/>
          </p:cNvCxnSpPr>
          <p:nvPr/>
        </p:nvCxnSpPr>
        <p:spPr>
          <a:xfrm>
            <a:off x="4462992" y="4495341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화살표 연결선 77"/>
          <p:cNvCxnSpPr>
            <a:stCxn id="45" idx="3"/>
            <a:endCxn id="52" idx="1"/>
          </p:cNvCxnSpPr>
          <p:nvPr/>
        </p:nvCxnSpPr>
        <p:spPr>
          <a:xfrm>
            <a:off x="5477694" y="4495341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/>
          <p:cNvCxnSpPr>
            <a:stCxn id="52" idx="3"/>
            <a:endCxn id="46" idx="1"/>
          </p:cNvCxnSpPr>
          <p:nvPr/>
        </p:nvCxnSpPr>
        <p:spPr>
          <a:xfrm flipV="1">
            <a:off x="6429255" y="4495341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/>
          <p:cNvCxnSpPr>
            <a:stCxn id="46" idx="3"/>
            <a:endCxn id="17" idx="1"/>
          </p:cNvCxnSpPr>
          <p:nvPr/>
        </p:nvCxnSpPr>
        <p:spPr>
          <a:xfrm>
            <a:off x="7406915" y="4495341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화살표 연결선 96"/>
          <p:cNvCxnSpPr>
            <a:stCxn id="17" idx="3"/>
            <a:endCxn id="50" idx="1"/>
          </p:cNvCxnSpPr>
          <p:nvPr/>
        </p:nvCxnSpPr>
        <p:spPr>
          <a:xfrm flipV="1">
            <a:off x="8418437" y="4495341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직선 화살표 연결선 98"/>
          <p:cNvCxnSpPr>
            <a:stCxn id="42" idx="2"/>
            <a:endCxn id="15" idx="0"/>
          </p:cNvCxnSpPr>
          <p:nvPr/>
        </p:nvCxnSpPr>
        <p:spPr>
          <a:xfrm flipH="1">
            <a:off x="1976045" y="4639357"/>
            <a:ext cx="11296" cy="1383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840340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(2/6)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결의서 관련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0238357"/>
              </p:ext>
            </p:extLst>
          </p:nvPr>
        </p:nvGraphicFramePr>
        <p:xfrm>
          <a:off x="488504" y="2276873"/>
          <a:ext cx="8712967" cy="3962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1698"/>
                <a:gridCol w="1266494"/>
                <a:gridCol w="5400600"/>
                <a:gridCol w="1584175"/>
              </a:tblGrid>
              <a:tr h="1343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확인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사항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343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한도 초과 여부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예산통제구분에 따라 예산한도액 계산 후 입력된 결의금액과 비교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39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계정코드와 관리항목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예산항목에 따른 계정코드 연결 여부 및 해당 계정과목의 관리항목 확인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226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관리항목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여부 확인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결의서의 필수 항목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예산관련 결의서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예산부서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예산코드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예산항목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등록되어 있는 계정코드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예산과 관련된 건은 자동 입력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증빙구분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),2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),4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현금영수증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),5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현금영수증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),6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간이영수증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7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신용카드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),8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신용카드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),,A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사업소득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,B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기타소득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,F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,N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영세율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P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영세율기타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,S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수동연결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,X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 대상 거래처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거래처코드에 입력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상태의 거래처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거래처계좌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지출결의서일 경우 예금주확인 완료된 거래처 계좌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지출결의서일 경우 출금할 당사의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 계좌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결산시 기간이 필요한 선급비용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등의 계정과목일 경우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미지급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채무 계정일 경우 거래처코드와 발생일자를 필수 항목으로 관리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자금항목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이자율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 등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 계정별 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 관리항목에서 필수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항목을 확인하여 필수항목 입력오류 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lvl="0" indent="0" algn="l" latinLnBrk="0">
                        <a:buFont typeface="Arial" panose="020B0604020202020204" pitchFamily="34" charset="0"/>
                        <a:buNone/>
                        <a:defRPr/>
                      </a:pPr>
                      <a:r>
                        <a:rPr lang="en-US" altLang="ko-KR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전표 관리 항목 및 계정별 관리항목 예시 참조</a:t>
                      </a:r>
                      <a:r>
                        <a:rPr lang="en-US" altLang="ko-KR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다음</a:t>
                      </a:r>
                      <a:r>
                        <a:rPr lang="en-US" altLang="ko-KR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PAGE)</a:t>
                      </a:r>
                      <a:endParaRPr lang="en-US" altLang="ko-KR" sz="1000" b="1" kern="0" dirty="0">
                        <a:solidFill>
                          <a:srgbClr val="0000C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87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전자세금계산서 연계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증빙구분이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영세율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영세율기타일 경우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국세청 전자세금계산서 발행건과 연결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신용카드일 경우 세금계산서 발행건이면 연결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 연계 솔루션에서 제공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96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 매입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카드지출결의서에서 법인카드 매입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DATA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연결하여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매입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DATA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에는 결의서 일자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결의서번호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항번을 기록하고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결의서에 카드번호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승인일자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승인번호 등의 카드정보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744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전자증빙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 증빙서류의 전자화 기록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계산서와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 영수증은 전자증빙시스템에서 자동화하여 이미지로 저장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스캔 증빙 이미지를 전자증빙시스템에 용이하게 저장하는 솔루션 제공 및 향후 검색 용이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lvl="0" indent="0" algn="l" latinLnBrk="0">
                        <a:buFont typeface="Arial" panose="020B0604020202020204" pitchFamily="34" charset="0"/>
                        <a:buNone/>
                        <a:defRPr/>
                      </a:pPr>
                      <a:r>
                        <a:rPr lang="ko-KR" altLang="en-US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별도의</a:t>
                      </a:r>
                      <a:r>
                        <a:rPr lang="en-US" altLang="ko-KR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1" kern="0" smtClean="0">
                          <a:solidFill>
                            <a:srgbClr val="0000CC"/>
                          </a:solidFill>
                          <a:effectLst/>
                          <a:latin typeface="+mn-ea"/>
                          <a:ea typeface="+mn-ea"/>
                        </a:rPr>
                        <a:t>솔루션 도입 필요</a:t>
                      </a:r>
                      <a:endParaRPr lang="en-US" altLang="ko-KR" sz="1000" b="1" kern="0" dirty="0">
                        <a:solidFill>
                          <a:srgbClr val="0000C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248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반납 결의 연결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기존에 발생한 지출결의 및 수입결의서 연결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87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수납 결의서의 은행 입금내역 연결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금융기관에서 수신한 입금정보에 의해 작성된 가수금을 미수금과 상계처리하는 결의서이므로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 입금내역을 연결하여 입금이 후속적으로 처리된 과정을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 연계 솔루션에서 입출금내역 제공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0" name="순서도: 처리 29"/>
          <p:cNvSpPr/>
          <p:nvPr/>
        </p:nvSpPr>
        <p:spPr>
          <a:xfrm>
            <a:off x="488504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입력①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1555293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입력 확정②</a:t>
            </a:r>
          </a:p>
        </p:txBody>
      </p:sp>
      <p:sp>
        <p:nvSpPr>
          <p:cNvPr id="32" name="순서도: 처리 31"/>
          <p:cNvSpPr/>
          <p:nvPr/>
        </p:nvSpPr>
        <p:spPr>
          <a:xfrm>
            <a:off x="4613598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확정⑥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6542819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출금의뢰⑦</a:t>
            </a:r>
          </a:p>
        </p:txBody>
      </p:sp>
      <p:sp>
        <p:nvSpPr>
          <p:cNvPr id="34" name="순서도: 종속 처리 33"/>
          <p:cNvSpPr/>
          <p:nvPr/>
        </p:nvSpPr>
        <p:spPr>
          <a:xfrm>
            <a:off x="1543997" y="1730658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전표분개③</a:t>
            </a:r>
          </a:p>
        </p:txBody>
      </p:sp>
      <p:sp>
        <p:nvSpPr>
          <p:cNvPr id="35" name="순서도: 처리 34"/>
          <p:cNvSpPr/>
          <p:nvPr/>
        </p:nvSpPr>
        <p:spPr>
          <a:xfrm>
            <a:off x="8553400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출금완료⑨</a:t>
            </a:r>
          </a:p>
        </p:txBody>
      </p:sp>
      <p:sp>
        <p:nvSpPr>
          <p:cNvPr id="36" name="순서도: 판단 35"/>
          <p:cNvSpPr/>
          <p:nvPr/>
        </p:nvSpPr>
        <p:spPr>
          <a:xfrm>
            <a:off x="2597374" y="1309175"/>
            <a:ext cx="864096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승인④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5630464" y="1309175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집행대상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3598896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분개장 확인⑤</a:t>
            </a:r>
          </a:p>
        </p:txBody>
      </p:sp>
      <p:sp>
        <p:nvSpPr>
          <p:cNvPr id="41" name="순서도: 종속 처리 40"/>
          <p:cNvSpPr/>
          <p:nvPr/>
        </p:nvSpPr>
        <p:spPr>
          <a:xfrm>
            <a:off x="7557816" y="1299672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은행연계⑧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1352600" y="1448312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  <a:endCxn id="36" idx="1"/>
          </p:cNvCxnSpPr>
          <p:nvPr/>
        </p:nvCxnSpPr>
        <p:spPr>
          <a:xfrm>
            <a:off x="2419389" y="1448312"/>
            <a:ext cx="17798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36" idx="3"/>
            <a:endCxn id="40" idx="1"/>
          </p:cNvCxnSpPr>
          <p:nvPr/>
        </p:nvCxnSpPr>
        <p:spPr>
          <a:xfrm flipV="1">
            <a:off x="3461470" y="1448312"/>
            <a:ext cx="13742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0" idx="3"/>
            <a:endCxn id="32" idx="1"/>
          </p:cNvCxnSpPr>
          <p:nvPr/>
        </p:nvCxnSpPr>
        <p:spPr>
          <a:xfrm>
            <a:off x="4462992" y="1448312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>
            <a:stCxn id="32" idx="3"/>
            <a:endCxn id="39" idx="1"/>
          </p:cNvCxnSpPr>
          <p:nvPr/>
        </p:nvCxnSpPr>
        <p:spPr>
          <a:xfrm>
            <a:off x="5477694" y="1448312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화살표 연결선 53"/>
          <p:cNvCxnSpPr>
            <a:stCxn id="39" idx="3"/>
            <a:endCxn id="33" idx="1"/>
          </p:cNvCxnSpPr>
          <p:nvPr/>
        </p:nvCxnSpPr>
        <p:spPr>
          <a:xfrm flipV="1">
            <a:off x="6429255" y="1448312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33" idx="3"/>
            <a:endCxn id="41" idx="1"/>
          </p:cNvCxnSpPr>
          <p:nvPr/>
        </p:nvCxnSpPr>
        <p:spPr>
          <a:xfrm>
            <a:off x="7406915" y="1448312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/>
          <p:cNvCxnSpPr>
            <a:stCxn id="41" idx="3"/>
            <a:endCxn id="35" idx="1"/>
          </p:cNvCxnSpPr>
          <p:nvPr/>
        </p:nvCxnSpPr>
        <p:spPr>
          <a:xfrm flipV="1">
            <a:off x="8418437" y="1448312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31" idx="2"/>
            <a:endCxn id="34" idx="0"/>
          </p:cNvCxnSpPr>
          <p:nvPr/>
        </p:nvCxnSpPr>
        <p:spPr>
          <a:xfrm flipH="1">
            <a:off x="1976045" y="1592328"/>
            <a:ext cx="11296" cy="1383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44488" y="2006530"/>
            <a:ext cx="46714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1) </a:t>
            </a:r>
            <a:r>
              <a:rPr lang="ko-KR" altLang="en-US" sz="1200" smtClean="0"/>
              <a:t>입력시 처리사항 </a:t>
            </a:r>
            <a:r>
              <a:rPr lang="en-US" altLang="ko-KR" sz="1200" smtClean="0"/>
              <a:t>- </a:t>
            </a:r>
            <a:r>
              <a:rPr lang="ko-KR" altLang="en-US" sz="1200" smtClean="0"/>
              <a:t>결의서 입력시 확인사항 및 연계 사항 처리 </a:t>
            </a:r>
            <a:endParaRPr lang="ko-KR" altLang="en-US" sz="1200" dirty="0" err="1" smtClean="0"/>
          </a:p>
        </p:txBody>
      </p:sp>
      <p:sp>
        <p:nvSpPr>
          <p:cNvPr id="59" name="순서도: 종속 처리 58"/>
          <p:cNvSpPr/>
          <p:nvPr/>
        </p:nvSpPr>
        <p:spPr>
          <a:xfrm>
            <a:off x="488504" y="1728927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확인사항★</a:t>
            </a:r>
          </a:p>
        </p:txBody>
      </p:sp>
      <p:cxnSp>
        <p:nvCxnSpPr>
          <p:cNvPr id="8" name="직선 화살표 연결선 7"/>
          <p:cNvCxnSpPr>
            <a:stCxn id="30" idx="2"/>
            <a:endCxn id="59" idx="0"/>
          </p:cNvCxnSpPr>
          <p:nvPr/>
        </p:nvCxnSpPr>
        <p:spPr>
          <a:xfrm>
            <a:off x="920552" y="1592328"/>
            <a:ext cx="0" cy="136599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9486298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(3/6)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marL="285750" lvl="0" indent="-285750" algn="ctr" latinLnBrk="0">
                <a:buFont typeface="Arial" panose="020B0604020202020204" pitchFamily="34" charset="0"/>
                <a:buChar char="•"/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전표 관리 항목 및 계정별 관리항목 예시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916512"/>
              </p:ext>
            </p:extLst>
          </p:nvPr>
        </p:nvGraphicFramePr>
        <p:xfrm>
          <a:off x="416496" y="1262399"/>
          <a:ext cx="90010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1000"/>
              </a:tblGrid>
              <a:tr h="2286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101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가입일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시작일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거래처분류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거래처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거치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),106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결정세액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계약개시일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계약금액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,109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계약만료일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계약명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계약번호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계좌번호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고속도로번호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공급가액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공정가액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공제액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공채사용목적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관리명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,119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관리번호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교육목적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국도번호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국채사용목적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금융기관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기납부세액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,129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기산일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기초자산종류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기타금융상품종류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기타미수금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기타의기타비유동자산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기타의선급비용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기타투자자산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기타지분증권종류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단가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대손충당금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,139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대여일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리스일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만기일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규격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멸실자산가액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무형자산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미경과기간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),146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발생금액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,149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발생기간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),150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발행일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보증기간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보증종류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보증충당부채종류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보험가입액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보험및보증구분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보험및보증종류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보험증번호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,158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부담금종류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부채명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부채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사채종류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사회기반시설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사회보험수익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상환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),168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상환가액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,169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상환방법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상환일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선급이자비용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소재지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수량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,,174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수량단위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수탁자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시장성여부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신탁사업명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,179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신탁재산명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실급여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액면가액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액면이자율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(%),184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예상복구비용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예상복구시기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예수금종류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외화금액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,189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원금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단기투자증권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유효이자율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(%),192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융자충당금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이자금액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이자수익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표시이자율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(%),196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이자지급방법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일반유형자산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임차일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,199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자본경상구분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자산감소구분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자산명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자산번호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자산부채구분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자산증가구분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잡종자산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장기선급비용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장기투자증권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재화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,209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보험종류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연금종류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종료일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종목명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종목코드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주당배당액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주식수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좌당취득가액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,219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증권번호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좌수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지출목적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차관선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차관협정일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국공채및차입금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차입일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채무가액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처분가액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처분전가액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,229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철도번호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총급여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충당부채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취득가액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취득일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통화종류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파생상품목적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파생상품종류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평가금액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,239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평가대상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평가전금액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포지션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품명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품종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피보증처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피융자처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할인율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(%),247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해당월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기타현금성자산의종류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,249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현금성자산종류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협정일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환율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회선수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,253L/C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세입목코드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인출구분코드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해당시작일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해당종료일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국고금회계계정코드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,259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발행처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구상채무자코드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국립학교명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금융상품이자수익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기타의기타장기충당부채종류코드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대여금이자수익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리스료지급방법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보증가액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연리스료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,309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지분증권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채권이자수익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투자증권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미수채권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파생상품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실거래처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순자산분류코드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국도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고속도로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철도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,319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항만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댐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공항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하천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상하수도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기타의기타사회기반시설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기계장치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,326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집기비품차량운반구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,,327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기타일반유형자산 발생계정과목코드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복리후생비종류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인원수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지분율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감가상각방법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내용연수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잔존가액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무형자산상각방법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행선지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,409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사업소득구분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세액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대손상각비종류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감가상각비종류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부서명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사원명 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신용카드번호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증빙구분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재원구분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,419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카드종류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사업장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관련계정과목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발생일자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대여일자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,424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차입금번호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,425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세율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,426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지급일자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거래내용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,428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용도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,429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증빙번호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,430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수입이자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,431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기부금종류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,432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충당금변동사유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,433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지분증감사유 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</a:rPr>
                        <a:t>,437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</a:rPr>
                        <a:t>공사단계</a:t>
                      </a:r>
                      <a:endParaRPr lang="ko-KR" altLang="en-US" sz="1000" b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" name="표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6540980"/>
              </p:ext>
            </p:extLst>
          </p:nvPr>
        </p:nvGraphicFramePr>
        <p:xfrm>
          <a:off x="404767" y="5013324"/>
          <a:ext cx="9012729" cy="12959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5865"/>
                <a:gridCol w="576064"/>
                <a:gridCol w="748883"/>
                <a:gridCol w="662474"/>
                <a:gridCol w="662473"/>
                <a:gridCol w="662474"/>
                <a:gridCol w="676875"/>
                <a:gridCol w="676875"/>
                <a:gridCol w="676876"/>
                <a:gridCol w="676875"/>
                <a:gridCol w="676875"/>
                <a:gridCol w="540060"/>
                <a:gridCol w="540060"/>
              </a:tblGrid>
              <a:tr h="1828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계정명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차변관리항목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대변관리항목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잔액구분항목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7600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smtClean="0">
                          <a:solidFill>
                            <a:srgbClr val="0000CC"/>
                          </a:solidFill>
                        </a:rPr>
                        <a:t>보통예금</a:t>
                      </a:r>
                      <a:endParaRPr lang="ko-KR" altLang="en-US" sz="9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가입일자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용도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표시이자율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600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smtClean="0">
                          <a:solidFill>
                            <a:srgbClr val="0000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정기예금</a:t>
                      </a:r>
                      <a:endParaRPr lang="en-US" altLang="ko-KR" sz="900" b="1" i="0" u="none" strike="noStrike">
                        <a:solidFill>
                          <a:srgbClr val="0000CC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가입일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만기일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만기금액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선급법인세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</a:rPr>
                        <a:t>해지사유</a:t>
                      </a:r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계좌번호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600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smtClean="0">
                          <a:solidFill>
                            <a:srgbClr val="0000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선급화재보험료</a:t>
                      </a:r>
                      <a:endParaRPr lang="ko-KR" altLang="en-US" sz="900" b="1" i="0" u="none" strike="noStrike">
                        <a:solidFill>
                          <a:srgbClr val="0000CC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발생계정코드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시작일자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종료일자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600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smtClean="0">
                          <a:solidFill>
                            <a:srgbClr val="0000CC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미수금</a:t>
                      </a:r>
                      <a:endParaRPr lang="ko-KR" altLang="en-US" sz="900" b="1" i="0" u="none" strike="noStrike">
                        <a:solidFill>
                          <a:srgbClr val="0000CC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공급가액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발행일자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발생일자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발생일자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4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smtClean="0">
                          <a:solidFill>
                            <a:srgbClr val="0000CC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단기미지급금</a:t>
                      </a:r>
                      <a:endParaRPr lang="ko-KR" altLang="en-US" sz="900" b="1" i="0" u="none" strike="noStrike">
                        <a:solidFill>
                          <a:srgbClr val="0000CC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발생일자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증빙구분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공급가액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발생일자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발생일자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4565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i="0" u="none" strike="noStrike" smtClean="0">
                          <a:solidFill>
                            <a:srgbClr val="0000CC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사업소득원천세 예수금</a:t>
                      </a:r>
                      <a:endParaRPr lang="ko-KR" altLang="en-US" sz="900" b="1" i="0" u="none" strike="noStrike">
                        <a:solidFill>
                          <a:srgbClr val="0000CC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총급여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세율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결정세액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공제액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36189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(4/6)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결의서 관련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6976782"/>
              </p:ext>
            </p:extLst>
          </p:nvPr>
        </p:nvGraphicFramePr>
        <p:xfrm>
          <a:off x="488504" y="2776533"/>
          <a:ext cx="8712967" cy="34607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1698"/>
                <a:gridCol w="1266494"/>
                <a:gridCol w="5400600"/>
                <a:gridCol w="1584175"/>
              </a:tblGrid>
              <a:tr h="17317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결의서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431123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지출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 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 발생 계정과목  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일반미지급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단기미지급금 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                                     2)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계좌이체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지로납부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체크카드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 계정과목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                                     3)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 상계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 계정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회입은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3112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계정 추가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증빙구분이 세금계산서 과세 구분이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과세일 경우 부가세 분개처리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공통일 경우 선급부가가치세 계산 및 분개처리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수입결의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(10%)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 선수부가가치세 계산 및 분개처리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/11)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절사액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총액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3112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주민세 추가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증빙구분이 사업소득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기타사업소득일 경우 근로소득세와 주민세 계산 및 분개처리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사업소득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과세표준의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3.3%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근로소득세로 계산하고 근로소득세의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10%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주민세로 계산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기타소득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과세표준의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4.4%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근로소득세로 계산하고 근로소득세의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10%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주민세로 계산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지급액이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250,000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 이하일 경우 제외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957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카드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 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 발생 계정과목    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미지급금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3112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계정 추가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증빙구분이 세금계산서 과세 구분이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과세일 경우 부가세 분개처리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공통일 경우 선급부가가치세 계산 및 분개처리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수입결의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(10%)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 선수부가가치세 계산 및 분개처리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/11)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절사액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총액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4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대체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결의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결의서에 입력된 계정과목으로 분개처리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4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세출외지출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 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 발생 계정과목    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일반미지급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단기미지급금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4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수입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결의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                      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 발생 계정과목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4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수납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결의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분개유형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예금가수금                 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1)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수납시 연결한 미수금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0" name="순서도: 처리 29"/>
          <p:cNvSpPr/>
          <p:nvPr/>
        </p:nvSpPr>
        <p:spPr>
          <a:xfrm>
            <a:off x="488504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입력①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1555293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입력 확정②</a:t>
            </a:r>
          </a:p>
        </p:txBody>
      </p:sp>
      <p:sp>
        <p:nvSpPr>
          <p:cNvPr id="32" name="순서도: 처리 31"/>
          <p:cNvSpPr/>
          <p:nvPr/>
        </p:nvSpPr>
        <p:spPr>
          <a:xfrm>
            <a:off x="4613598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확정⑥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6542819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출금의뢰⑦</a:t>
            </a:r>
          </a:p>
        </p:txBody>
      </p:sp>
      <p:sp>
        <p:nvSpPr>
          <p:cNvPr id="34" name="순서도: 종속 처리 33"/>
          <p:cNvSpPr/>
          <p:nvPr/>
        </p:nvSpPr>
        <p:spPr>
          <a:xfrm>
            <a:off x="1543997" y="1730658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전표분개③</a:t>
            </a:r>
          </a:p>
        </p:txBody>
      </p:sp>
      <p:sp>
        <p:nvSpPr>
          <p:cNvPr id="35" name="순서도: 처리 34"/>
          <p:cNvSpPr/>
          <p:nvPr/>
        </p:nvSpPr>
        <p:spPr>
          <a:xfrm>
            <a:off x="8553400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출금완료⑨</a:t>
            </a:r>
          </a:p>
        </p:txBody>
      </p:sp>
      <p:sp>
        <p:nvSpPr>
          <p:cNvPr id="36" name="순서도: 판단 35"/>
          <p:cNvSpPr/>
          <p:nvPr/>
        </p:nvSpPr>
        <p:spPr>
          <a:xfrm>
            <a:off x="2597374" y="1309175"/>
            <a:ext cx="864096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승인④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5630464" y="1309175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집행대상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3598896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분개장 확인⑤</a:t>
            </a:r>
          </a:p>
        </p:txBody>
      </p:sp>
      <p:sp>
        <p:nvSpPr>
          <p:cNvPr id="41" name="순서도: 종속 처리 40"/>
          <p:cNvSpPr/>
          <p:nvPr/>
        </p:nvSpPr>
        <p:spPr>
          <a:xfrm>
            <a:off x="7557816" y="1299672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은행연계⑧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1352600" y="1448312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  <a:endCxn id="36" idx="1"/>
          </p:cNvCxnSpPr>
          <p:nvPr/>
        </p:nvCxnSpPr>
        <p:spPr>
          <a:xfrm>
            <a:off x="2419389" y="1448312"/>
            <a:ext cx="17798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36" idx="3"/>
            <a:endCxn id="40" idx="1"/>
          </p:cNvCxnSpPr>
          <p:nvPr/>
        </p:nvCxnSpPr>
        <p:spPr>
          <a:xfrm flipV="1">
            <a:off x="3461470" y="1448312"/>
            <a:ext cx="13742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0" idx="3"/>
            <a:endCxn id="32" idx="1"/>
          </p:cNvCxnSpPr>
          <p:nvPr/>
        </p:nvCxnSpPr>
        <p:spPr>
          <a:xfrm>
            <a:off x="4462992" y="1448312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>
            <a:stCxn id="32" idx="3"/>
            <a:endCxn id="39" idx="1"/>
          </p:cNvCxnSpPr>
          <p:nvPr/>
        </p:nvCxnSpPr>
        <p:spPr>
          <a:xfrm>
            <a:off x="5477694" y="1448312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화살표 연결선 53"/>
          <p:cNvCxnSpPr>
            <a:stCxn id="39" idx="3"/>
            <a:endCxn id="33" idx="1"/>
          </p:cNvCxnSpPr>
          <p:nvPr/>
        </p:nvCxnSpPr>
        <p:spPr>
          <a:xfrm flipV="1">
            <a:off x="6429255" y="1448312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33" idx="3"/>
            <a:endCxn id="41" idx="1"/>
          </p:cNvCxnSpPr>
          <p:nvPr/>
        </p:nvCxnSpPr>
        <p:spPr>
          <a:xfrm>
            <a:off x="7406915" y="1448312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/>
          <p:cNvCxnSpPr>
            <a:stCxn id="41" idx="3"/>
            <a:endCxn id="35" idx="1"/>
          </p:cNvCxnSpPr>
          <p:nvPr/>
        </p:nvCxnSpPr>
        <p:spPr>
          <a:xfrm flipV="1">
            <a:off x="8418437" y="1448312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31" idx="2"/>
            <a:endCxn id="34" idx="0"/>
          </p:cNvCxnSpPr>
          <p:nvPr/>
        </p:nvCxnSpPr>
        <p:spPr>
          <a:xfrm flipH="1">
            <a:off x="1976045" y="1592328"/>
            <a:ext cx="11296" cy="1383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44488" y="2060848"/>
            <a:ext cx="578075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2) </a:t>
            </a:r>
            <a:r>
              <a:rPr lang="ko-KR" altLang="en-US" sz="1200" smtClean="0"/>
              <a:t>입력 확정 </a:t>
            </a:r>
            <a:r>
              <a:rPr lang="en-US" altLang="ko-KR" sz="1200" smtClean="0"/>
              <a:t>– </a:t>
            </a:r>
            <a:r>
              <a:rPr lang="ko-KR" altLang="en-US" sz="1200" smtClean="0"/>
              <a:t>입력 확정시 대</a:t>
            </a:r>
            <a:r>
              <a:rPr lang="en-US" altLang="ko-KR" sz="1200" smtClean="0"/>
              <a:t>/</a:t>
            </a:r>
            <a:r>
              <a:rPr lang="ko-KR" altLang="en-US" sz="1200" smtClean="0"/>
              <a:t>차변 합계금액의 일치 여부 확인 및 전자결재 상신 </a:t>
            </a:r>
            <a:endParaRPr lang="en-US" altLang="ko-KR" sz="1200" smtClean="0"/>
          </a:p>
          <a:p>
            <a:r>
              <a:rPr lang="en-US" altLang="ko-KR" sz="1200" smtClean="0"/>
              <a:t>3) </a:t>
            </a:r>
            <a:r>
              <a:rPr lang="ko-KR" altLang="en-US" sz="1200" smtClean="0"/>
              <a:t>발의전표 분개 </a:t>
            </a:r>
            <a:r>
              <a:rPr lang="en-US" altLang="ko-KR" sz="1200" smtClean="0"/>
              <a:t>– </a:t>
            </a:r>
            <a:r>
              <a:rPr lang="ko-KR" altLang="en-US" sz="1200" smtClean="0"/>
              <a:t>차</a:t>
            </a:r>
            <a:r>
              <a:rPr lang="en-US" altLang="ko-KR" sz="1200" smtClean="0"/>
              <a:t>/</a:t>
            </a:r>
            <a:r>
              <a:rPr lang="ko-KR" altLang="en-US" sz="1200" smtClean="0"/>
              <a:t>대변 계정과목과 관리항목 값 입력 처리</a:t>
            </a:r>
            <a:endParaRPr lang="ko-KR" altLang="en-US" sz="1200" dirty="0" err="1" smtClean="0"/>
          </a:p>
        </p:txBody>
      </p:sp>
      <p:sp>
        <p:nvSpPr>
          <p:cNvPr id="59" name="순서도: 종속 처리 58"/>
          <p:cNvSpPr/>
          <p:nvPr/>
        </p:nvSpPr>
        <p:spPr>
          <a:xfrm>
            <a:off x="488504" y="1728927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확인사항★</a:t>
            </a:r>
          </a:p>
        </p:txBody>
      </p:sp>
      <p:cxnSp>
        <p:nvCxnSpPr>
          <p:cNvPr id="8" name="직선 화살표 연결선 7"/>
          <p:cNvCxnSpPr>
            <a:stCxn id="30" idx="2"/>
            <a:endCxn id="59" idx="0"/>
          </p:cNvCxnSpPr>
          <p:nvPr/>
        </p:nvCxnSpPr>
        <p:spPr>
          <a:xfrm>
            <a:off x="920552" y="1592328"/>
            <a:ext cx="0" cy="136599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/>
          <p:cNvSpPr txBox="1"/>
          <p:nvPr/>
        </p:nvSpPr>
        <p:spPr>
          <a:xfrm>
            <a:off x="497625" y="2492896"/>
            <a:ext cx="2449710" cy="246221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ko-KR" altLang="en-US" sz="1000" smtClean="0"/>
              <a:t>발의전표 분개 </a:t>
            </a:r>
            <a:r>
              <a:rPr lang="en-US" altLang="ko-KR" sz="1000" smtClean="0"/>
              <a:t>– </a:t>
            </a:r>
            <a:r>
              <a:rPr lang="ko-KR" altLang="en-US" sz="1000" smtClean="0"/>
              <a:t>차</a:t>
            </a:r>
            <a:r>
              <a:rPr lang="en-US" altLang="ko-KR" sz="1000" smtClean="0"/>
              <a:t>/</a:t>
            </a:r>
            <a:r>
              <a:rPr lang="ko-KR" altLang="en-US" sz="1000" smtClean="0"/>
              <a:t>대변 계정과목 결정</a:t>
            </a:r>
            <a:endParaRPr lang="ko-KR" altLang="en-US" sz="1000" dirty="0" err="1" smtClean="0"/>
          </a:p>
        </p:txBody>
      </p:sp>
    </p:spTree>
    <p:extLst>
      <p:ext uri="{BB962C8B-B14F-4D97-AF65-F5344CB8AC3E}">
        <p14:creationId xmlns:p14="http://schemas.microsoft.com/office/powerpoint/2010/main" val="395556138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(5/6)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결의서 관련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4427970"/>
              </p:ext>
            </p:extLst>
          </p:nvPr>
        </p:nvGraphicFramePr>
        <p:xfrm>
          <a:off x="488504" y="2619407"/>
          <a:ext cx="8712967" cy="35780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1698"/>
                <a:gridCol w="1266494"/>
                <a:gridCol w="5400600"/>
                <a:gridCol w="1584175"/>
              </a:tblGrid>
              <a:tr h="1906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4745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관리항목 값 설정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각각의 전표 관리항목에 해당하는 코드와 값을 설정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(250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101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가입일자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제예금의 가입일자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102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시작일자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보험료의 시작일자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출장 시작일자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미수수익 계산의 기산일자 등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103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거래처분류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거래처코드에 등록되어 있는 거래처의 분류 값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104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 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거래처코드와 거래처명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105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거치년수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차입금이나 대출의 원금상환 거치년수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결정세액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기타소득세의 결정세액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……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112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제예금계정의 계좌번호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계좌번호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 계좌번호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114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124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금융기관 코드와 금융기관명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141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만기일자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ex)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 만기일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만기일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보험 만기일 등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</a:t>
                      </a:r>
                    </a:p>
                    <a:p>
                      <a:pPr algn="l" latinLnBrk="1"/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181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액면이자율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계정과목에 따라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250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관리항목코드와 값을 먼저 설정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45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계정과목의 관리항목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계정코드별로 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대변에 해당하는 관리항목을 확인한다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분개되는 계정과목의 관리항목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계정코드의 등록 값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45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관리항목별 코드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 설정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관리항목 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해당하는 기 설정된 코드와 값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전표의 관리항목에 입력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è"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전표 계정의 관리항목을 결의서에 있는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DATA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시스템에서 관리되고 있는 기준정보에서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수집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하여 전표에 기재하고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필수 입력항목에 값이 없을 경우 오류 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0" name="순서도: 처리 29"/>
          <p:cNvSpPr/>
          <p:nvPr/>
        </p:nvSpPr>
        <p:spPr>
          <a:xfrm>
            <a:off x="488504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입력①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1555293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입력 확정②</a:t>
            </a:r>
          </a:p>
        </p:txBody>
      </p:sp>
      <p:sp>
        <p:nvSpPr>
          <p:cNvPr id="32" name="순서도: 처리 31"/>
          <p:cNvSpPr/>
          <p:nvPr/>
        </p:nvSpPr>
        <p:spPr>
          <a:xfrm>
            <a:off x="4613598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확정⑥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6542819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출금의뢰⑦</a:t>
            </a:r>
          </a:p>
        </p:txBody>
      </p:sp>
      <p:sp>
        <p:nvSpPr>
          <p:cNvPr id="34" name="순서도: 종속 처리 33"/>
          <p:cNvSpPr/>
          <p:nvPr/>
        </p:nvSpPr>
        <p:spPr>
          <a:xfrm>
            <a:off x="1543997" y="1730658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전표분개③</a:t>
            </a:r>
          </a:p>
        </p:txBody>
      </p:sp>
      <p:sp>
        <p:nvSpPr>
          <p:cNvPr id="35" name="순서도: 처리 34"/>
          <p:cNvSpPr/>
          <p:nvPr/>
        </p:nvSpPr>
        <p:spPr>
          <a:xfrm>
            <a:off x="8553400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출금완료⑨</a:t>
            </a:r>
          </a:p>
        </p:txBody>
      </p:sp>
      <p:sp>
        <p:nvSpPr>
          <p:cNvPr id="36" name="순서도: 판단 35"/>
          <p:cNvSpPr/>
          <p:nvPr/>
        </p:nvSpPr>
        <p:spPr>
          <a:xfrm>
            <a:off x="2597374" y="1309175"/>
            <a:ext cx="864096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승인④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5630464" y="1309175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집행대상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3598896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분개장 확인⑤</a:t>
            </a:r>
          </a:p>
        </p:txBody>
      </p:sp>
      <p:sp>
        <p:nvSpPr>
          <p:cNvPr id="41" name="순서도: 종속 처리 40"/>
          <p:cNvSpPr/>
          <p:nvPr/>
        </p:nvSpPr>
        <p:spPr>
          <a:xfrm>
            <a:off x="7557816" y="1299672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은행연계⑧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1352600" y="1448312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  <a:endCxn id="36" idx="1"/>
          </p:cNvCxnSpPr>
          <p:nvPr/>
        </p:nvCxnSpPr>
        <p:spPr>
          <a:xfrm>
            <a:off x="2419389" y="1448312"/>
            <a:ext cx="17798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36" idx="3"/>
            <a:endCxn id="40" idx="1"/>
          </p:cNvCxnSpPr>
          <p:nvPr/>
        </p:nvCxnSpPr>
        <p:spPr>
          <a:xfrm flipV="1">
            <a:off x="3461470" y="1448312"/>
            <a:ext cx="13742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0" idx="3"/>
            <a:endCxn id="32" idx="1"/>
          </p:cNvCxnSpPr>
          <p:nvPr/>
        </p:nvCxnSpPr>
        <p:spPr>
          <a:xfrm>
            <a:off x="4462992" y="1448312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>
            <a:stCxn id="32" idx="3"/>
            <a:endCxn id="39" idx="1"/>
          </p:cNvCxnSpPr>
          <p:nvPr/>
        </p:nvCxnSpPr>
        <p:spPr>
          <a:xfrm>
            <a:off x="5477694" y="1448312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화살표 연결선 53"/>
          <p:cNvCxnSpPr>
            <a:stCxn id="39" idx="3"/>
            <a:endCxn id="33" idx="1"/>
          </p:cNvCxnSpPr>
          <p:nvPr/>
        </p:nvCxnSpPr>
        <p:spPr>
          <a:xfrm flipV="1">
            <a:off x="6429255" y="1448312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33" idx="3"/>
            <a:endCxn id="41" idx="1"/>
          </p:cNvCxnSpPr>
          <p:nvPr/>
        </p:nvCxnSpPr>
        <p:spPr>
          <a:xfrm>
            <a:off x="7406915" y="1448312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/>
          <p:cNvCxnSpPr>
            <a:stCxn id="41" idx="3"/>
            <a:endCxn id="35" idx="1"/>
          </p:cNvCxnSpPr>
          <p:nvPr/>
        </p:nvCxnSpPr>
        <p:spPr>
          <a:xfrm flipV="1">
            <a:off x="8418437" y="1448312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31" idx="2"/>
            <a:endCxn id="34" idx="0"/>
          </p:cNvCxnSpPr>
          <p:nvPr/>
        </p:nvCxnSpPr>
        <p:spPr>
          <a:xfrm flipH="1">
            <a:off x="1976045" y="1592328"/>
            <a:ext cx="11296" cy="1383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44488" y="2060848"/>
            <a:ext cx="44855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3) </a:t>
            </a:r>
            <a:r>
              <a:rPr lang="ko-KR" altLang="en-US" sz="1200"/>
              <a:t>발의전표 분개 </a:t>
            </a:r>
            <a:r>
              <a:rPr lang="en-US" altLang="ko-KR" sz="1200"/>
              <a:t>– </a:t>
            </a:r>
            <a:r>
              <a:rPr lang="ko-KR" altLang="en-US" sz="1200"/>
              <a:t>차</a:t>
            </a:r>
            <a:r>
              <a:rPr lang="en-US" altLang="ko-KR" sz="1200"/>
              <a:t>/</a:t>
            </a:r>
            <a:r>
              <a:rPr lang="ko-KR" altLang="en-US" sz="1200"/>
              <a:t>대변 계정과목과 관리항목 값 입력 처리</a:t>
            </a:r>
          </a:p>
          <a:p>
            <a:endParaRPr lang="ko-KR" altLang="en-US" sz="1200" dirty="0" err="1" smtClean="0"/>
          </a:p>
        </p:txBody>
      </p:sp>
      <p:sp>
        <p:nvSpPr>
          <p:cNvPr id="59" name="순서도: 종속 처리 58"/>
          <p:cNvSpPr/>
          <p:nvPr/>
        </p:nvSpPr>
        <p:spPr>
          <a:xfrm>
            <a:off x="488504" y="1728927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확인사항★</a:t>
            </a:r>
          </a:p>
        </p:txBody>
      </p:sp>
      <p:cxnSp>
        <p:nvCxnSpPr>
          <p:cNvPr id="8" name="직선 화살표 연결선 7"/>
          <p:cNvCxnSpPr>
            <a:stCxn id="30" idx="2"/>
            <a:endCxn id="59" idx="0"/>
          </p:cNvCxnSpPr>
          <p:nvPr/>
        </p:nvCxnSpPr>
        <p:spPr>
          <a:xfrm>
            <a:off x="920552" y="1592328"/>
            <a:ext cx="0" cy="136599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/>
          <p:cNvSpPr txBox="1"/>
          <p:nvPr/>
        </p:nvSpPr>
        <p:spPr>
          <a:xfrm>
            <a:off x="497625" y="2314803"/>
            <a:ext cx="2654894" cy="246221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ko-KR" altLang="en-US" sz="1000" smtClean="0"/>
              <a:t>발의전표 분개 </a:t>
            </a:r>
            <a:r>
              <a:rPr lang="en-US" altLang="ko-KR" sz="1000" smtClean="0"/>
              <a:t>– </a:t>
            </a:r>
            <a:r>
              <a:rPr lang="ko-KR" altLang="en-US" sz="1000" smtClean="0"/>
              <a:t>계정과목별 관리항목 처리</a:t>
            </a:r>
            <a:endParaRPr lang="ko-KR" altLang="en-US" sz="1000" dirty="0" err="1" smtClean="0"/>
          </a:p>
        </p:txBody>
      </p:sp>
    </p:spTree>
    <p:extLst>
      <p:ext uri="{BB962C8B-B14F-4D97-AF65-F5344CB8AC3E}">
        <p14:creationId xmlns:p14="http://schemas.microsoft.com/office/powerpoint/2010/main" val="362064616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2.4.2.2 </a:t>
            </a:r>
            <a:r>
              <a:rPr lang="ko-KR" altLang="en-US" sz="1800" smtClean="0"/>
              <a:t>결의서 종류 및 기능 세분화</a:t>
            </a:r>
            <a:r>
              <a:rPr lang="en-US" altLang="ko-KR" sz="1800" smtClean="0"/>
              <a:t>(6/6)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결의서 관련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" name="순서도: 처리 29"/>
          <p:cNvSpPr/>
          <p:nvPr/>
        </p:nvSpPr>
        <p:spPr>
          <a:xfrm>
            <a:off x="488504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입력①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1555293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입력 확정②</a:t>
            </a:r>
          </a:p>
        </p:txBody>
      </p:sp>
      <p:sp>
        <p:nvSpPr>
          <p:cNvPr id="32" name="순서도: 처리 31"/>
          <p:cNvSpPr/>
          <p:nvPr/>
        </p:nvSpPr>
        <p:spPr>
          <a:xfrm>
            <a:off x="4613598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 확정⑥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6542819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출금의뢰⑦</a:t>
            </a:r>
          </a:p>
        </p:txBody>
      </p:sp>
      <p:sp>
        <p:nvSpPr>
          <p:cNvPr id="34" name="순서도: 종속 처리 33"/>
          <p:cNvSpPr/>
          <p:nvPr/>
        </p:nvSpPr>
        <p:spPr>
          <a:xfrm>
            <a:off x="1543997" y="1730658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전표분개③</a:t>
            </a:r>
          </a:p>
        </p:txBody>
      </p:sp>
      <p:sp>
        <p:nvSpPr>
          <p:cNvPr id="35" name="순서도: 처리 34"/>
          <p:cNvSpPr/>
          <p:nvPr/>
        </p:nvSpPr>
        <p:spPr>
          <a:xfrm>
            <a:off x="8553400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출금완료⑨</a:t>
            </a:r>
          </a:p>
        </p:txBody>
      </p:sp>
      <p:sp>
        <p:nvSpPr>
          <p:cNvPr id="36" name="순서도: 판단 35"/>
          <p:cNvSpPr/>
          <p:nvPr/>
        </p:nvSpPr>
        <p:spPr>
          <a:xfrm>
            <a:off x="2597374" y="1309175"/>
            <a:ext cx="864096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승인④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5630464" y="1309175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집행대상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3598896" y="130429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분개장 확인⑤</a:t>
            </a:r>
          </a:p>
        </p:txBody>
      </p:sp>
      <p:sp>
        <p:nvSpPr>
          <p:cNvPr id="41" name="순서도: 종속 처리 40"/>
          <p:cNvSpPr/>
          <p:nvPr/>
        </p:nvSpPr>
        <p:spPr>
          <a:xfrm>
            <a:off x="7557816" y="1299672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은행연계⑧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1352600" y="1448312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  <a:endCxn id="36" idx="1"/>
          </p:cNvCxnSpPr>
          <p:nvPr/>
        </p:nvCxnSpPr>
        <p:spPr>
          <a:xfrm>
            <a:off x="2419389" y="1448312"/>
            <a:ext cx="17798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36" idx="3"/>
            <a:endCxn id="40" idx="1"/>
          </p:cNvCxnSpPr>
          <p:nvPr/>
        </p:nvCxnSpPr>
        <p:spPr>
          <a:xfrm flipV="1">
            <a:off x="3461470" y="1448312"/>
            <a:ext cx="13742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0" idx="3"/>
            <a:endCxn id="32" idx="1"/>
          </p:cNvCxnSpPr>
          <p:nvPr/>
        </p:nvCxnSpPr>
        <p:spPr>
          <a:xfrm>
            <a:off x="4462992" y="1448312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>
            <a:stCxn id="32" idx="3"/>
            <a:endCxn id="39" idx="1"/>
          </p:cNvCxnSpPr>
          <p:nvPr/>
        </p:nvCxnSpPr>
        <p:spPr>
          <a:xfrm>
            <a:off x="5477694" y="1448312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화살표 연결선 53"/>
          <p:cNvCxnSpPr>
            <a:stCxn id="39" idx="3"/>
            <a:endCxn id="33" idx="1"/>
          </p:cNvCxnSpPr>
          <p:nvPr/>
        </p:nvCxnSpPr>
        <p:spPr>
          <a:xfrm flipV="1">
            <a:off x="6429255" y="1448312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33" idx="3"/>
            <a:endCxn id="41" idx="1"/>
          </p:cNvCxnSpPr>
          <p:nvPr/>
        </p:nvCxnSpPr>
        <p:spPr>
          <a:xfrm>
            <a:off x="7406915" y="1448312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/>
          <p:cNvCxnSpPr>
            <a:stCxn id="41" idx="3"/>
            <a:endCxn id="35" idx="1"/>
          </p:cNvCxnSpPr>
          <p:nvPr/>
        </p:nvCxnSpPr>
        <p:spPr>
          <a:xfrm flipV="1">
            <a:off x="8418437" y="1448312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31" idx="2"/>
            <a:endCxn id="34" idx="0"/>
          </p:cNvCxnSpPr>
          <p:nvPr/>
        </p:nvCxnSpPr>
        <p:spPr>
          <a:xfrm flipH="1">
            <a:off x="1976045" y="1592328"/>
            <a:ext cx="11296" cy="1383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44488" y="2060848"/>
            <a:ext cx="8161209" cy="44935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smtClean="0"/>
              <a:t>4) </a:t>
            </a:r>
            <a:r>
              <a:rPr lang="ko-KR" altLang="en-US" sz="1100" smtClean="0"/>
              <a:t>부서장 승인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결의서 작성자의 부서장 결재</a:t>
            </a:r>
            <a:endParaRPr lang="en-US" altLang="ko-KR" sz="1100" smtClean="0"/>
          </a:p>
          <a:p>
            <a:r>
              <a:rPr lang="en-US" altLang="ko-KR" sz="1100" smtClean="0"/>
              <a:t>5) </a:t>
            </a:r>
            <a:r>
              <a:rPr lang="ko-KR" altLang="en-US" sz="1100" smtClean="0"/>
              <a:t>분개장 확인 및 전표 확정 요청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회계 담당자의 전표 확인</a:t>
            </a:r>
            <a:r>
              <a:rPr lang="en-US" altLang="ko-KR" sz="1100" smtClean="0"/>
              <a:t>(</a:t>
            </a:r>
            <a:r>
              <a:rPr lang="ko-KR" altLang="en-US" sz="1100" smtClean="0"/>
              <a:t>증빙 및 분개내역</a:t>
            </a:r>
            <a:r>
              <a:rPr lang="en-US" altLang="ko-KR" sz="1100" smtClean="0"/>
              <a:t>) </a:t>
            </a:r>
            <a:r>
              <a:rPr lang="ko-KR" altLang="en-US" sz="1100" smtClean="0"/>
              <a:t>및 전표 확정 요청</a:t>
            </a:r>
            <a:endParaRPr lang="en-US" altLang="ko-KR" sz="1100" smtClean="0"/>
          </a:p>
          <a:p>
            <a:r>
              <a:rPr lang="en-US" altLang="ko-KR" sz="1100" smtClean="0"/>
              <a:t>6) </a:t>
            </a:r>
            <a:r>
              <a:rPr lang="ko-KR" altLang="en-US" sz="1100" smtClean="0"/>
              <a:t>결의서 확정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발의전표를 회계전표로 이관 </a:t>
            </a:r>
            <a:r>
              <a:rPr lang="en-US" altLang="ko-KR" sz="1100" smtClean="0">
                <a:sym typeface="Wingdings" panose="05000000000000000000" pitchFamily="2" charset="2"/>
              </a:rPr>
              <a:t> </a:t>
            </a:r>
            <a:r>
              <a:rPr lang="ko-KR" altLang="en-US" sz="1100" smtClean="0">
                <a:sym typeface="Wingdings" panose="05000000000000000000" pitchFamily="2" charset="2"/>
              </a:rPr>
              <a:t>모든 회계 장부에 반영되고</a:t>
            </a:r>
            <a:r>
              <a:rPr lang="en-US" altLang="ko-KR" sz="1100" smtClean="0">
                <a:sym typeface="Wingdings" panose="05000000000000000000" pitchFamily="2" charset="2"/>
              </a:rPr>
              <a:t>, </a:t>
            </a:r>
            <a:r>
              <a:rPr lang="ko-KR" altLang="en-US" sz="1100" smtClean="0">
                <a:sym typeface="Wingdings" panose="05000000000000000000" pitchFamily="2" charset="2"/>
              </a:rPr>
              <a:t>자금집행 대상일 경우 자금집행 대상으로 기록됨</a:t>
            </a:r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/>
          </a:p>
          <a:p>
            <a:r>
              <a:rPr lang="en-US" altLang="ko-KR" sz="1100" smtClean="0"/>
              <a:t>7) </a:t>
            </a:r>
            <a:r>
              <a:rPr lang="ko-KR" altLang="en-US" sz="1100" smtClean="0"/>
              <a:t>출금</a:t>
            </a:r>
            <a:r>
              <a:rPr lang="en-US" altLang="ko-KR" sz="1100" smtClean="0"/>
              <a:t> </a:t>
            </a:r>
            <a:r>
              <a:rPr lang="ko-KR" altLang="en-US" sz="1100" smtClean="0"/>
              <a:t>의뢰 </a:t>
            </a:r>
            <a:r>
              <a:rPr lang="en-US" altLang="ko-KR" sz="1100"/>
              <a:t>– </a:t>
            </a:r>
            <a:r>
              <a:rPr lang="ko-KR" altLang="en-US" sz="1100" smtClean="0"/>
              <a:t>자금집행 대상에서 출금요청할 건을 선별하여 출금의뢰서를 생성</a:t>
            </a:r>
            <a:r>
              <a:rPr lang="en-US" altLang="ko-KR" sz="1100" smtClean="0"/>
              <a:t>, </a:t>
            </a:r>
            <a:r>
              <a:rPr lang="ko-KR" altLang="en-US" sz="1100" smtClean="0"/>
              <a:t>결재 후 금융기관 연계</a:t>
            </a:r>
            <a:r>
              <a:rPr lang="en-US" altLang="ko-KR" sz="1100" smtClean="0"/>
              <a:t>(</a:t>
            </a:r>
            <a:r>
              <a:rPr lang="ko-KR" altLang="en-US" sz="1100" smtClean="0"/>
              <a:t>출금요청 </a:t>
            </a:r>
            <a:r>
              <a:rPr lang="en-US" altLang="ko-KR" sz="1100" smtClean="0"/>
              <a:t>FILE </a:t>
            </a:r>
            <a:r>
              <a:rPr lang="ko-KR" altLang="en-US" sz="1100" smtClean="0"/>
              <a:t>생성</a:t>
            </a:r>
            <a:r>
              <a:rPr lang="en-US" altLang="ko-KR" sz="1100" smtClean="0"/>
              <a:t>)</a:t>
            </a:r>
          </a:p>
          <a:p>
            <a:endParaRPr lang="en-US" altLang="ko-KR" sz="1100"/>
          </a:p>
          <a:p>
            <a:endParaRPr lang="en-US" altLang="ko-KR" sz="1100" smtClean="0"/>
          </a:p>
          <a:p>
            <a:endParaRPr lang="en-US" altLang="ko-KR" sz="1100" smtClean="0"/>
          </a:p>
          <a:p>
            <a:endParaRPr lang="en-US" altLang="ko-KR" sz="1100"/>
          </a:p>
          <a:p>
            <a:endParaRPr lang="en-US" altLang="ko-KR" sz="1100" smtClean="0"/>
          </a:p>
          <a:p>
            <a:endParaRPr lang="en-US" altLang="ko-KR" sz="1100"/>
          </a:p>
          <a:p>
            <a:r>
              <a:rPr lang="en-US" altLang="ko-KR" sz="1100" smtClean="0"/>
              <a:t>8) </a:t>
            </a:r>
            <a:r>
              <a:rPr lang="ko-KR" altLang="en-US" sz="1100" smtClean="0"/>
              <a:t>출금</a:t>
            </a:r>
            <a:r>
              <a:rPr lang="en-US" altLang="ko-KR" sz="1100" smtClean="0"/>
              <a:t> </a:t>
            </a:r>
            <a:r>
              <a:rPr lang="ko-KR" altLang="en-US" sz="1100" smtClean="0"/>
              <a:t>결과 수신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출금완료일 경우 출금전표 생성</a:t>
            </a:r>
            <a:endParaRPr lang="en-US" altLang="ko-KR" sz="1100" smtClean="0"/>
          </a:p>
          <a:p>
            <a:r>
              <a:rPr lang="en-US" altLang="ko-KR" sz="1100"/>
              <a:t> </a:t>
            </a:r>
            <a:r>
              <a:rPr lang="en-US" altLang="ko-KR" sz="1100" smtClean="0"/>
              <a:t>                        [ </a:t>
            </a:r>
            <a:r>
              <a:rPr lang="ko-KR" altLang="en-US" sz="1100" smtClean="0"/>
              <a:t>차</a:t>
            </a:r>
            <a:r>
              <a:rPr lang="en-US" altLang="ko-KR" sz="1100" smtClean="0"/>
              <a:t>) </a:t>
            </a:r>
            <a:r>
              <a:rPr lang="ko-KR" altLang="en-US" sz="1100" smtClean="0"/>
              <a:t>미지급금 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       대</a:t>
            </a:r>
            <a:r>
              <a:rPr lang="en-US" altLang="ko-KR" sz="1100" smtClean="0"/>
              <a:t>) </a:t>
            </a:r>
            <a:r>
              <a:rPr lang="ko-KR" altLang="en-US" sz="1100" smtClean="0"/>
              <a:t>보통예금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</a:t>
            </a:r>
            <a:r>
              <a:rPr lang="en-US" altLang="ko-KR" sz="1100" smtClean="0"/>
              <a:t>]</a:t>
            </a:r>
          </a:p>
          <a:p>
            <a:endParaRPr lang="en-US" altLang="ko-KR" sz="1100" smtClean="0"/>
          </a:p>
          <a:p>
            <a:r>
              <a:rPr lang="ko-KR" altLang="en-US" sz="1100" smtClean="0"/>
              <a:t> </a:t>
            </a:r>
            <a:r>
              <a:rPr lang="en-US" altLang="ko-KR" sz="1100" smtClean="0"/>
              <a:t> </a:t>
            </a:r>
            <a:endParaRPr lang="ko-KR" altLang="en-US" sz="1100"/>
          </a:p>
          <a:p>
            <a:endParaRPr lang="ko-KR" altLang="en-US" sz="1100" dirty="0" err="1" smtClean="0"/>
          </a:p>
        </p:txBody>
      </p:sp>
      <p:sp>
        <p:nvSpPr>
          <p:cNvPr id="59" name="순서도: 종속 처리 58"/>
          <p:cNvSpPr/>
          <p:nvPr/>
        </p:nvSpPr>
        <p:spPr>
          <a:xfrm>
            <a:off x="488504" y="1728927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확인사항★</a:t>
            </a:r>
          </a:p>
        </p:txBody>
      </p:sp>
      <p:cxnSp>
        <p:nvCxnSpPr>
          <p:cNvPr id="8" name="직선 화살표 연결선 7"/>
          <p:cNvCxnSpPr>
            <a:stCxn id="30" idx="2"/>
            <a:endCxn id="59" idx="0"/>
          </p:cNvCxnSpPr>
          <p:nvPr/>
        </p:nvCxnSpPr>
        <p:spPr>
          <a:xfrm>
            <a:off x="920552" y="1592328"/>
            <a:ext cx="0" cy="136599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순서도: 자기 디스크 5"/>
          <p:cNvSpPr/>
          <p:nvPr/>
        </p:nvSpPr>
        <p:spPr>
          <a:xfrm>
            <a:off x="1352600" y="3050535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발의전표</a:t>
            </a:r>
          </a:p>
        </p:txBody>
      </p:sp>
      <p:sp>
        <p:nvSpPr>
          <p:cNvPr id="37" name="순서도: 자기 디스크 36"/>
          <p:cNvSpPr/>
          <p:nvPr/>
        </p:nvSpPr>
        <p:spPr>
          <a:xfrm>
            <a:off x="3772866" y="3050535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회계전표</a:t>
            </a:r>
          </a:p>
        </p:txBody>
      </p:sp>
      <p:sp>
        <p:nvSpPr>
          <p:cNvPr id="38" name="순서도: 자기 디스크 37"/>
          <p:cNvSpPr/>
          <p:nvPr/>
        </p:nvSpPr>
        <p:spPr>
          <a:xfrm>
            <a:off x="6348671" y="3048412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계정별원장</a:t>
            </a:r>
          </a:p>
        </p:txBody>
      </p:sp>
      <p:sp>
        <p:nvSpPr>
          <p:cNvPr id="42" name="순서도: 자기 디스크 41"/>
          <p:cNvSpPr/>
          <p:nvPr/>
        </p:nvSpPr>
        <p:spPr>
          <a:xfrm>
            <a:off x="6417787" y="3387904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계정별집계</a:t>
            </a:r>
          </a:p>
        </p:txBody>
      </p:sp>
      <p:sp>
        <p:nvSpPr>
          <p:cNvPr id="46" name="순서도: 판단 45"/>
          <p:cNvSpPr/>
          <p:nvPr/>
        </p:nvSpPr>
        <p:spPr>
          <a:xfrm>
            <a:off x="2470259" y="3112835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확정여부</a:t>
            </a:r>
          </a:p>
        </p:txBody>
      </p:sp>
      <p:cxnSp>
        <p:nvCxnSpPr>
          <p:cNvPr id="9" name="직선 화살표 연결선 8"/>
          <p:cNvCxnSpPr>
            <a:stCxn id="6" idx="4"/>
            <a:endCxn id="46" idx="1"/>
          </p:cNvCxnSpPr>
          <p:nvPr/>
        </p:nvCxnSpPr>
        <p:spPr>
          <a:xfrm flipV="1">
            <a:off x="2120061" y="3251973"/>
            <a:ext cx="350198" cy="1458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/>
          <p:cNvCxnSpPr>
            <a:stCxn id="46" idx="3"/>
            <a:endCxn id="37" idx="2"/>
          </p:cNvCxnSpPr>
          <p:nvPr/>
        </p:nvCxnSpPr>
        <p:spPr>
          <a:xfrm>
            <a:off x="3269050" y="3251973"/>
            <a:ext cx="503816" cy="1458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>
            <a:stCxn id="37" idx="4"/>
            <a:endCxn id="38" idx="2"/>
          </p:cNvCxnSpPr>
          <p:nvPr/>
        </p:nvCxnSpPr>
        <p:spPr>
          <a:xfrm flipV="1">
            <a:off x="4540327" y="3264436"/>
            <a:ext cx="1808344" cy="212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>
            <a:stCxn id="37" idx="4"/>
            <a:endCxn id="42" idx="2"/>
          </p:cNvCxnSpPr>
          <p:nvPr/>
        </p:nvCxnSpPr>
        <p:spPr>
          <a:xfrm>
            <a:off x="4540327" y="3266559"/>
            <a:ext cx="1877460" cy="33736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순서도: 판단 46"/>
          <p:cNvSpPr/>
          <p:nvPr/>
        </p:nvSpPr>
        <p:spPr>
          <a:xfrm>
            <a:off x="3759686" y="3944756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출금대상</a:t>
            </a:r>
          </a:p>
        </p:txBody>
      </p:sp>
      <p:sp>
        <p:nvSpPr>
          <p:cNvPr id="48" name="순서도: 자기 디스크 47"/>
          <p:cNvSpPr/>
          <p:nvPr/>
        </p:nvSpPr>
        <p:spPr>
          <a:xfrm>
            <a:off x="6377885" y="3868656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자금집행대상</a:t>
            </a:r>
          </a:p>
        </p:txBody>
      </p:sp>
      <p:cxnSp>
        <p:nvCxnSpPr>
          <p:cNvPr id="17" name="직선 화살표 연결선 16"/>
          <p:cNvCxnSpPr>
            <a:stCxn id="37" idx="3"/>
            <a:endCxn id="47" idx="0"/>
          </p:cNvCxnSpPr>
          <p:nvPr/>
        </p:nvCxnSpPr>
        <p:spPr>
          <a:xfrm>
            <a:off x="4156597" y="3482583"/>
            <a:ext cx="2485" cy="46217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>
            <a:stCxn id="47" idx="3"/>
            <a:endCxn id="48" idx="2"/>
          </p:cNvCxnSpPr>
          <p:nvPr/>
        </p:nvCxnSpPr>
        <p:spPr>
          <a:xfrm>
            <a:off x="4558477" y="4083894"/>
            <a:ext cx="1819408" cy="78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4555993" y="3869222"/>
            <a:ext cx="25680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smtClean="0"/>
              <a:t>Y</a:t>
            </a:r>
            <a:endParaRPr lang="ko-KR" altLang="en-US" sz="1000" dirty="0" err="1" smtClean="0"/>
          </a:p>
        </p:txBody>
      </p:sp>
      <p:sp>
        <p:nvSpPr>
          <p:cNvPr id="24" name="순서도: 다중 문서 23"/>
          <p:cNvSpPr/>
          <p:nvPr/>
        </p:nvSpPr>
        <p:spPr>
          <a:xfrm>
            <a:off x="7761312" y="3301400"/>
            <a:ext cx="1080120" cy="600834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각종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  <a:r>
              <a:rPr lang="ko-KR" altLang="en-US" sz="900" smtClean="0">
                <a:solidFill>
                  <a:schemeClr val="tx1"/>
                </a:solidFill>
              </a:rPr>
              <a:t>회계장부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및 재무제표</a:t>
            </a:r>
          </a:p>
        </p:txBody>
      </p:sp>
      <p:cxnSp>
        <p:nvCxnSpPr>
          <p:cNvPr id="26" name="꺾인 연결선 25"/>
          <p:cNvCxnSpPr>
            <a:stCxn id="38" idx="4"/>
            <a:endCxn id="24" idx="1"/>
          </p:cNvCxnSpPr>
          <p:nvPr/>
        </p:nvCxnSpPr>
        <p:spPr>
          <a:xfrm>
            <a:off x="7116132" y="3264436"/>
            <a:ext cx="645180" cy="337381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27"/>
          <p:cNvCxnSpPr>
            <a:stCxn id="42" idx="4"/>
            <a:endCxn id="24" idx="1"/>
          </p:cNvCxnSpPr>
          <p:nvPr/>
        </p:nvCxnSpPr>
        <p:spPr>
          <a:xfrm flipV="1">
            <a:off x="7185248" y="3601817"/>
            <a:ext cx="576064" cy="2111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순서도: 자기 디스크 59"/>
          <p:cNvSpPr/>
          <p:nvPr/>
        </p:nvSpPr>
        <p:spPr>
          <a:xfrm>
            <a:off x="1352600" y="5157192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자금집행대상</a:t>
            </a:r>
          </a:p>
        </p:txBody>
      </p:sp>
      <p:sp>
        <p:nvSpPr>
          <p:cNvPr id="61" name="순서도: 판단 60"/>
          <p:cNvSpPr/>
          <p:nvPr/>
        </p:nvSpPr>
        <p:spPr>
          <a:xfrm>
            <a:off x="3631548" y="5234079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결재승인</a:t>
            </a:r>
          </a:p>
        </p:txBody>
      </p:sp>
      <p:cxnSp>
        <p:nvCxnSpPr>
          <p:cNvPr id="62" name="직선 화살표 연결선 61"/>
          <p:cNvCxnSpPr/>
          <p:nvPr/>
        </p:nvCxnSpPr>
        <p:spPr>
          <a:xfrm flipV="1">
            <a:off x="2120061" y="5358103"/>
            <a:ext cx="298042" cy="3022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순서도: 처리 63"/>
          <p:cNvSpPr/>
          <p:nvPr/>
        </p:nvSpPr>
        <p:spPr>
          <a:xfrm>
            <a:off x="2418103" y="522920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출금의뢰생성</a:t>
            </a:r>
          </a:p>
        </p:txBody>
      </p:sp>
      <p:sp>
        <p:nvSpPr>
          <p:cNvPr id="65" name="순서도: 자기 디스크 64"/>
          <p:cNvSpPr/>
          <p:nvPr/>
        </p:nvSpPr>
        <p:spPr>
          <a:xfrm>
            <a:off x="4863003" y="5157192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출금요청</a:t>
            </a:r>
            <a:r>
              <a:rPr lang="en-US" altLang="ko-KR" sz="900" smtClean="0">
                <a:solidFill>
                  <a:schemeClr val="tx1"/>
                </a:solidFill>
              </a:rPr>
              <a:t>File</a:t>
            </a:r>
            <a:endParaRPr lang="ko-KR" altLang="en-US" sz="900">
              <a:solidFill>
                <a:schemeClr val="tx1"/>
              </a:solidFill>
            </a:endParaRPr>
          </a:p>
        </p:txBody>
      </p:sp>
      <p:cxnSp>
        <p:nvCxnSpPr>
          <p:cNvPr id="66" name="직선 화살표 연결선 65"/>
          <p:cNvCxnSpPr/>
          <p:nvPr/>
        </p:nvCxnSpPr>
        <p:spPr>
          <a:xfrm>
            <a:off x="3282199" y="5373216"/>
            <a:ext cx="349349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/>
          <p:cNvCxnSpPr/>
          <p:nvPr/>
        </p:nvCxnSpPr>
        <p:spPr>
          <a:xfrm flipV="1">
            <a:off x="4430339" y="5373216"/>
            <a:ext cx="4326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순서도: 종속 처리 73"/>
          <p:cNvSpPr/>
          <p:nvPr/>
        </p:nvSpPr>
        <p:spPr>
          <a:xfrm>
            <a:off x="7864457" y="5341554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</a:t>
            </a:r>
          </a:p>
        </p:txBody>
      </p:sp>
      <p:sp>
        <p:nvSpPr>
          <p:cNvPr id="79" name="순서도: 처리 78"/>
          <p:cNvSpPr/>
          <p:nvPr/>
        </p:nvSpPr>
        <p:spPr>
          <a:xfrm>
            <a:off x="5889104" y="594928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출금전표생성</a:t>
            </a:r>
          </a:p>
        </p:txBody>
      </p:sp>
      <p:cxnSp>
        <p:nvCxnSpPr>
          <p:cNvPr id="78" name="구부러진 연결선 77"/>
          <p:cNvCxnSpPr>
            <a:stCxn id="74" idx="2"/>
            <a:endCxn id="79" idx="0"/>
          </p:cNvCxnSpPr>
          <p:nvPr/>
        </p:nvCxnSpPr>
        <p:spPr>
          <a:xfrm rot="5400000">
            <a:off x="7152738" y="4807249"/>
            <a:ext cx="310445" cy="1973616"/>
          </a:xfrm>
          <a:prstGeom prst="curved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구부러진 연결선 80"/>
          <p:cNvCxnSpPr>
            <a:stCxn id="65" idx="4"/>
            <a:endCxn id="74" idx="0"/>
          </p:cNvCxnSpPr>
          <p:nvPr/>
        </p:nvCxnSpPr>
        <p:spPr>
          <a:xfrm flipV="1">
            <a:off x="5630464" y="5341554"/>
            <a:ext cx="2664304" cy="31662"/>
          </a:xfrm>
          <a:prstGeom prst="curvedConnector4">
            <a:avLst>
              <a:gd name="adj1" fmla="val 41924"/>
              <a:gd name="adj2" fmla="val 1404283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738331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2.4.2.3 </a:t>
            </a:r>
            <a:r>
              <a:rPr lang="ko-KR" altLang="en-US" sz="1800" smtClean="0"/>
              <a:t>자금집행 프로세스 개선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27894"/>
            <a:ext cx="9174167" cy="4718931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자금집행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8" name="TextBox 57"/>
          <p:cNvSpPr txBox="1"/>
          <p:nvPr/>
        </p:nvSpPr>
        <p:spPr>
          <a:xfrm>
            <a:off x="344488" y="2256184"/>
            <a:ext cx="6333785" cy="33085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smtClean="0"/>
              <a:t>1) </a:t>
            </a:r>
            <a:r>
              <a:rPr lang="ko-KR" altLang="en-US" sz="1100" smtClean="0"/>
              <a:t>주기적인 자금집행 </a:t>
            </a:r>
            <a:r>
              <a:rPr lang="en-US" altLang="ko-KR" sz="1100" smtClean="0"/>
              <a:t>DATA </a:t>
            </a:r>
            <a:r>
              <a:rPr lang="ko-KR" altLang="en-US" sz="1100" smtClean="0"/>
              <a:t>수집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매주 일정요일에 자금집행 대상 </a:t>
            </a:r>
            <a:r>
              <a:rPr lang="en-US" altLang="ko-KR" sz="1100" smtClean="0"/>
              <a:t>DATA(</a:t>
            </a:r>
            <a:r>
              <a:rPr lang="ko-KR" altLang="en-US" sz="1100" smtClean="0"/>
              <a:t>미결리스트</a:t>
            </a:r>
            <a:r>
              <a:rPr lang="en-US" altLang="ko-KR" sz="1100" smtClean="0"/>
              <a:t>)</a:t>
            </a:r>
            <a:r>
              <a:rPr lang="ko-KR" altLang="en-US" sz="1100" smtClean="0"/>
              <a:t>를 수집 </a:t>
            </a:r>
            <a:endParaRPr lang="en-US" altLang="ko-KR" sz="1100" smtClean="0"/>
          </a:p>
          <a:p>
            <a:r>
              <a:rPr lang="en-US" altLang="ko-KR" sz="1100" smtClean="0"/>
              <a:t>2) </a:t>
            </a:r>
            <a:r>
              <a:rPr lang="ko-KR" altLang="en-US" sz="1100" smtClean="0"/>
              <a:t>미결리스트 확정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>
                <a:sym typeface="Wingdings" panose="05000000000000000000" pitchFamily="2" charset="2"/>
              </a:rPr>
              <a:t>금융기관 출금 요청 </a:t>
            </a:r>
            <a:r>
              <a:rPr lang="en-US" altLang="ko-KR" sz="1100" smtClean="0">
                <a:sym typeface="Wingdings" panose="05000000000000000000" pitchFamily="2" charset="2"/>
              </a:rPr>
              <a:t>DATA</a:t>
            </a:r>
            <a:r>
              <a:rPr lang="ko-KR" altLang="en-US" sz="1100" smtClean="0">
                <a:sym typeface="Wingdings" panose="05000000000000000000" pitchFamily="2" charset="2"/>
              </a:rPr>
              <a:t>로 이관</a:t>
            </a:r>
            <a:endParaRPr lang="en-US" altLang="ko-KR" sz="1100" smtClean="0">
              <a:sym typeface="Wingdings" panose="05000000000000000000" pitchFamily="2" charset="2"/>
            </a:endParaRPr>
          </a:p>
          <a:p>
            <a:r>
              <a:rPr lang="en-US" altLang="ko-KR" sz="1100" smtClean="0">
                <a:sym typeface="Wingdings" panose="05000000000000000000" pitchFamily="2" charset="2"/>
              </a:rPr>
              <a:t>3) </a:t>
            </a:r>
            <a:r>
              <a:rPr lang="ko-KR" altLang="en-US" sz="1100" smtClean="0">
                <a:sym typeface="Wingdings" panose="05000000000000000000" pitchFamily="2" charset="2"/>
              </a:rPr>
              <a:t>출금 </a:t>
            </a:r>
            <a:r>
              <a:rPr lang="en-US" altLang="ko-KR" sz="1100" smtClean="0">
                <a:sym typeface="Wingdings" panose="05000000000000000000" pitchFamily="2" charset="2"/>
              </a:rPr>
              <a:t>DATA</a:t>
            </a:r>
            <a:r>
              <a:rPr lang="ko-KR" altLang="en-US" sz="1100" smtClean="0">
                <a:sym typeface="Wingdings" panose="05000000000000000000" pitchFamily="2" charset="2"/>
              </a:rPr>
              <a:t>에 의한 금융기관 출금처리</a:t>
            </a:r>
            <a:endParaRPr lang="en-US" altLang="ko-KR" sz="1100" smtClean="0">
              <a:sym typeface="Wingdings" panose="05000000000000000000" pitchFamily="2" charset="2"/>
            </a:endParaRPr>
          </a:p>
          <a:p>
            <a:r>
              <a:rPr lang="en-US" altLang="ko-KR" sz="1100" smtClean="0">
                <a:sym typeface="Wingdings" panose="05000000000000000000" pitchFamily="2" charset="2"/>
              </a:rPr>
              <a:t>4) </a:t>
            </a:r>
            <a:r>
              <a:rPr lang="ko-KR" altLang="en-US" sz="1100" smtClean="0">
                <a:sym typeface="Wingdings" panose="05000000000000000000" pitchFamily="2" charset="2"/>
              </a:rPr>
              <a:t>출금 </a:t>
            </a:r>
            <a:r>
              <a:rPr lang="en-US" altLang="ko-KR" sz="1100" smtClean="0">
                <a:sym typeface="Wingdings" panose="05000000000000000000" pitchFamily="2" charset="2"/>
              </a:rPr>
              <a:t>DATA </a:t>
            </a:r>
            <a:r>
              <a:rPr lang="ko-KR" altLang="en-US" sz="1100" smtClean="0">
                <a:sym typeface="Wingdings" panose="05000000000000000000" pitchFamily="2" charset="2"/>
              </a:rPr>
              <a:t>전표 처리</a:t>
            </a:r>
            <a:r>
              <a:rPr lang="en-US" altLang="ko-KR" sz="1100" smtClean="0">
                <a:sym typeface="Wingdings" panose="05000000000000000000" pitchFamily="2" charset="2"/>
              </a:rPr>
              <a:t> </a:t>
            </a: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 smtClean="0">
              <a:sym typeface="Wingdings" panose="05000000000000000000" pitchFamily="2" charset="2"/>
            </a:endParaRPr>
          </a:p>
          <a:p>
            <a:endParaRPr lang="en-US" altLang="ko-KR" sz="1100">
              <a:sym typeface="Wingdings" panose="05000000000000000000" pitchFamily="2" charset="2"/>
            </a:endParaRPr>
          </a:p>
          <a:p>
            <a:endParaRPr lang="en-US" altLang="ko-KR" sz="1100"/>
          </a:p>
          <a:p>
            <a:r>
              <a:rPr lang="en-US" altLang="ko-KR" sz="1100" smtClean="0"/>
              <a:t>1) </a:t>
            </a:r>
            <a:r>
              <a:rPr lang="ko-KR" altLang="en-US" sz="1100" smtClean="0"/>
              <a:t>결의서 확정시 자금집행대상 </a:t>
            </a:r>
            <a:r>
              <a:rPr lang="en-US" altLang="ko-KR" sz="1100" smtClean="0"/>
              <a:t>table </a:t>
            </a:r>
            <a:r>
              <a:rPr lang="ko-KR" altLang="en-US" sz="1100" smtClean="0"/>
              <a:t>생성</a:t>
            </a:r>
            <a:endParaRPr lang="en-US" altLang="ko-KR" sz="1100" smtClean="0"/>
          </a:p>
          <a:p>
            <a:r>
              <a:rPr lang="en-US" altLang="ko-KR" sz="1100" smtClean="0"/>
              <a:t>2) </a:t>
            </a:r>
            <a:r>
              <a:rPr lang="ko-KR" altLang="en-US" sz="1100" smtClean="0"/>
              <a:t>자금집행요청 결재요청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매일 차수별로 자급집행 대상 건을 추출하여 자금집행요청 결재 상신</a:t>
            </a:r>
            <a:endParaRPr lang="en-US" altLang="ko-KR" sz="1100" smtClean="0"/>
          </a:p>
          <a:p>
            <a:r>
              <a:rPr lang="en-US" altLang="ko-KR" sz="1100" smtClean="0"/>
              <a:t>3) </a:t>
            </a:r>
            <a:r>
              <a:rPr lang="ko-KR" altLang="en-US" sz="1100" smtClean="0"/>
              <a:t>승인이 되면 자동으로 금융기관 연계시스템에 출금요청 </a:t>
            </a:r>
            <a:r>
              <a:rPr lang="en-US" altLang="ko-KR" sz="1100" smtClean="0"/>
              <a:t>DATA </a:t>
            </a:r>
            <a:r>
              <a:rPr lang="ko-KR" altLang="en-US" sz="1100" smtClean="0"/>
              <a:t>이관</a:t>
            </a:r>
            <a:endParaRPr lang="en-US" altLang="ko-KR" sz="1100" smtClean="0"/>
          </a:p>
          <a:p>
            <a:r>
              <a:rPr lang="en-US" altLang="ko-KR" sz="1100" smtClean="0"/>
              <a:t>4) </a:t>
            </a:r>
            <a:r>
              <a:rPr lang="ko-KR" altLang="en-US" sz="1100" smtClean="0"/>
              <a:t>금융기관 연계시스템에서 인증서 처리가 되면 은행에서 출금처리</a:t>
            </a:r>
            <a:endParaRPr lang="en-US" altLang="ko-KR" sz="1100" smtClean="0"/>
          </a:p>
          <a:p>
            <a:r>
              <a:rPr lang="en-US" altLang="ko-KR" sz="1100" smtClean="0"/>
              <a:t>5) </a:t>
            </a:r>
            <a:r>
              <a:rPr lang="ko-KR" altLang="en-US" sz="1100" smtClean="0"/>
              <a:t>출금처리 결과를 시스템에서 수신하여 출금전표 자동생성</a:t>
            </a:r>
            <a:endParaRPr lang="en-US" altLang="ko-KR" sz="1100" smtClean="0"/>
          </a:p>
          <a:p>
            <a:r>
              <a:rPr lang="en-US" altLang="ko-KR" sz="1100" smtClean="0"/>
              <a:t>              [ </a:t>
            </a:r>
            <a:r>
              <a:rPr lang="ko-KR" altLang="en-US" sz="1100" smtClean="0"/>
              <a:t>차</a:t>
            </a:r>
            <a:r>
              <a:rPr lang="en-US" altLang="ko-KR" sz="1100" smtClean="0"/>
              <a:t>) </a:t>
            </a:r>
            <a:r>
              <a:rPr lang="ko-KR" altLang="en-US" sz="1100" smtClean="0"/>
              <a:t>미지급금 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       대</a:t>
            </a:r>
            <a:r>
              <a:rPr lang="en-US" altLang="ko-KR" sz="1100" smtClean="0"/>
              <a:t>) </a:t>
            </a:r>
            <a:r>
              <a:rPr lang="ko-KR" altLang="en-US" sz="1100" smtClean="0"/>
              <a:t>보통예금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</a:t>
            </a:r>
            <a:r>
              <a:rPr lang="en-US" altLang="ko-KR" sz="1100" smtClean="0"/>
              <a:t>]</a:t>
            </a:r>
          </a:p>
          <a:p>
            <a:endParaRPr lang="en-US" altLang="ko-KR" sz="1100" smtClean="0"/>
          </a:p>
          <a:p>
            <a:r>
              <a:rPr lang="ko-KR" altLang="en-US" sz="1100" smtClean="0"/>
              <a:t> </a:t>
            </a:r>
            <a:r>
              <a:rPr lang="en-US" altLang="ko-KR" sz="1100" smtClean="0"/>
              <a:t> </a:t>
            </a:r>
            <a:endParaRPr lang="ko-KR" altLang="en-US" sz="1100"/>
          </a:p>
          <a:p>
            <a:endParaRPr lang="ko-KR" altLang="en-US" sz="1100" dirty="0" err="1" smtClean="0"/>
          </a:p>
        </p:txBody>
      </p:sp>
      <p:sp>
        <p:nvSpPr>
          <p:cNvPr id="60" name="순서도: 자기 디스크 59"/>
          <p:cNvSpPr/>
          <p:nvPr/>
        </p:nvSpPr>
        <p:spPr>
          <a:xfrm>
            <a:off x="1352600" y="3163381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미결 </a:t>
            </a:r>
            <a:r>
              <a:rPr lang="en-US" altLang="ko-KR" sz="900" smtClean="0">
                <a:solidFill>
                  <a:schemeClr val="tx1"/>
                </a:solidFill>
              </a:rPr>
              <a:t>table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61" name="순서도: 판단 60"/>
          <p:cNvSpPr/>
          <p:nvPr/>
        </p:nvSpPr>
        <p:spPr>
          <a:xfrm>
            <a:off x="3631548" y="3240268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</a:t>
            </a:r>
          </a:p>
        </p:txBody>
      </p:sp>
      <p:cxnSp>
        <p:nvCxnSpPr>
          <p:cNvPr id="62" name="직선 화살표 연결선 61"/>
          <p:cNvCxnSpPr>
            <a:stCxn id="60" idx="4"/>
            <a:endCxn id="64" idx="1"/>
          </p:cNvCxnSpPr>
          <p:nvPr/>
        </p:nvCxnSpPr>
        <p:spPr>
          <a:xfrm>
            <a:off x="2120061" y="3379405"/>
            <a:ext cx="298042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순서도: 처리 63"/>
          <p:cNvSpPr/>
          <p:nvPr/>
        </p:nvSpPr>
        <p:spPr>
          <a:xfrm>
            <a:off x="2418103" y="3235389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미결리스트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</a:rPr>
              <a:t>생</a:t>
            </a:r>
            <a:r>
              <a:rPr lang="ko-KR" altLang="en-US" sz="900" smtClean="0">
                <a:solidFill>
                  <a:schemeClr val="tx1"/>
                </a:solidFill>
              </a:rPr>
              <a:t>성</a:t>
            </a:r>
          </a:p>
        </p:txBody>
      </p:sp>
      <p:cxnSp>
        <p:nvCxnSpPr>
          <p:cNvPr id="66" name="직선 화살표 연결선 65"/>
          <p:cNvCxnSpPr/>
          <p:nvPr/>
        </p:nvCxnSpPr>
        <p:spPr>
          <a:xfrm>
            <a:off x="3282199" y="3379405"/>
            <a:ext cx="349349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/>
          <p:cNvCxnSpPr/>
          <p:nvPr/>
        </p:nvCxnSpPr>
        <p:spPr>
          <a:xfrm flipV="1">
            <a:off x="4430339" y="3379405"/>
            <a:ext cx="432664" cy="1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순서도: 종속 처리 73"/>
          <p:cNvSpPr/>
          <p:nvPr/>
        </p:nvSpPr>
        <p:spPr>
          <a:xfrm>
            <a:off x="7864457" y="3347743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</a:t>
            </a:r>
          </a:p>
        </p:txBody>
      </p:sp>
      <p:cxnSp>
        <p:nvCxnSpPr>
          <p:cNvPr id="73" name="구부러진 연결선 72"/>
          <p:cNvCxnSpPr>
            <a:endCxn id="74" idx="0"/>
          </p:cNvCxnSpPr>
          <p:nvPr/>
        </p:nvCxnSpPr>
        <p:spPr>
          <a:xfrm flipV="1">
            <a:off x="5630464" y="3347743"/>
            <a:ext cx="2664304" cy="31662"/>
          </a:xfrm>
          <a:prstGeom prst="curvedConnector4">
            <a:avLst>
              <a:gd name="adj1" fmla="val 41924"/>
              <a:gd name="adj2" fmla="val 1404283"/>
            </a:avLst>
          </a:prstGeom>
          <a:ln w="63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pc="-150" smtClean="0">
                <a:solidFill>
                  <a:srgbClr val="000000"/>
                </a:solidFill>
              </a:rPr>
              <a:t>자금을 집행하는 프로세스를 일부 개선하여 자금집행 요청</a:t>
            </a:r>
            <a:r>
              <a:rPr lang="en-US" altLang="ko-KR" spc="-150" smtClean="0">
                <a:solidFill>
                  <a:srgbClr val="000000"/>
                </a:solidFill>
              </a:rPr>
              <a:t>, </a:t>
            </a:r>
            <a:r>
              <a:rPr lang="ko-KR" altLang="en-US" spc="-150" smtClean="0">
                <a:solidFill>
                  <a:srgbClr val="000000"/>
                </a:solidFill>
              </a:rPr>
              <a:t>자금집행 승인</a:t>
            </a:r>
            <a:r>
              <a:rPr lang="en-US" altLang="ko-KR" spc="-150" smtClean="0">
                <a:solidFill>
                  <a:srgbClr val="000000"/>
                </a:solidFill>
              </a:rPr>
              <a:t>, </a:t>
            </a:r>
            <a:r>
              <a:rPr lang="ko-KR" altLang="en-US" spc="-150" smtClean="0">
                <a:solidFill>
                  <a:srgbClr val="000000"/>
                </a:solidFill>
              </a:rPr>
              <a:t>자금집행 금융기관 연계</a:t>
            </a:r>
            <a:r>
              <a:rPr lang="en-US" altLang="ko-KR" spc="-150" smtClean="0">
                <a:solidFill>
                  <a:srgbClr val="000000"/>
                </a:solidFill>
              </a:rPr>
              <a:t>, </a:t>
            </a:r>
            <a:r>
              <a:rPr lang="ko-KR" altLang="en-US" spc="-150" smtClean="0">
                <a:solidFill>
                  <a:srgbClr val="000000"/>
                </a:solidFill>
              </a:rPr>
              <a:t>금융기관의 집행결과 수신에 의한 출금전표 생성 및 집행결과 공유 등의 처리를 용이하게 하고</a:t>
            </a:r>
            <a:r>
              <a:rPr lang="en-US" altLang="ko-KR" spc="-150" smtClean="0">
                <a:solidFill>
                  <a:srgbClr val="000000"/>
                </a:solidFill>
              </a:rPr>
              <a:t>, </a:t>
            </a:r>
            <a:r>
              <a:rPr lang="ko-KR" altLang="en-US" spc="-150" smtClean="0">
                <a:solidFill>
                  <a:srgbClr val="000000"/>
                </a:solidFill>
              </a:rPr>
              <a:t>결의서에서부터 자급집행이 완료되는 이력을 상세하게 관리하는 시스템으로 개선하고자 함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497625" y="1988840"/>
            <a:ext cx="998991" cy="246221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ko-KR" altLang="en-US" sz="1000" smtClean="0"/>
              <a:t>현행 프로세스</a:t>
            </a:r>
            <a:endParaRPr lang="ko-KR" altLang="en-US" sz="1000" dirty="0" err="1" smtClean="0"/>
          </a:p>
        </p:txBody>
      </p:sp>
      <p:sp>
        <p:nvSpPr>
          <p:cNvPr id="12" name="순서도: 저장 데이터 11"/>
          <p:cNvSpPr/>
          <p:nvPr/>
        </p:nvSpPr>
        <p:spPr>
          <a:xfrm>
            <a:off x="4863003" y="3140968"/>
            <a:ext cx="954093" cy="454461"/>
          </a:xfrm>
          <a:prstGeom prst="flowChartOnlineStorage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출금요청</a:t>
            </a:r>
            <a:r>
              <a:rPr lang="en-US" altLang="ko-KR" sz="900" smtClean="0">
                <a:solidFill>
                  <a:schemeClr val="tx1"/>
                </a:solidFill>
              </a:rPr>
              <a:t>File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497624" y="3645024"/>
            <a:ext cx="998991" cy="246221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ko-KR" altLang="en-US" sz="1000" smtClean="0"/>
              <a:t>개선 프로세스</a:t>
            </a:r>
            <a:endParaRPr lang="ko-KR" altLang="en-US" sz="1000" dirty="0" err="1" smtClean="0"/>
          </a:p>
        </p:txBody>
      </p:sp>
      <p:sp>
        <p:nvSpPr>
          <p:cNvPr id="82" name="순서도: 자기 디스크 81"/>
          <p:cNvSpPr/>
          <p:nvPr/>
        </p:nvSpPr>
        <p:spPr>
          <a:xfrm>
            <a:off x="1352600" y="5157192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자금집행대상</a:t>
            </a:r>
          </a:p>
        </p:txBody>
      </p:sp>
      <p:sp>
        <p:nvSpPr>
          <p:cNvPr id="83" name="순서도: 판단 82"/>
          <p:cNvSpPr/>
          <p:nvPr/>
        </p:nvSpPr>
        <p:spPr>
          <a:xfrm>
            <a:off x="3631548" y="5234079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결재승인</a:t>
            </a:r>
          </a:p>
        </p:txBody>
      </p:sp>
      <p:cxnSp>
        <p:nvCxnSpPr>
          <p:cNvPr id="84" name="직선 화살표 연결선 83"/>
          <p:cNvCxnSpPr/>
          <p:nvPr/>
        </p:nvCxnSpPr>
        <p:spPr>
          <a:xfrm flipV="1">
            <a:off x="2120061" y="5358103"/>
            <a:ext cx="298042" cy="3022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순서도: 처리 84"/>
          <p:cNvSpPr/>
          <p:nvPr/>
        </p:nvSpPr>
        <p:spPr>
          <a:xfrm>
            <a:off x="2418103" y="522920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출금의뢰생성</a:t>
            </a:r>
          </a:p>
        </p:txBody>
      </p:sp>
      <p:sp>
        <p:nvSpPr>
          <p:cNvPr id="86" name="순서도: 자기 디스크 85"/>
          <p:cNvSpPr/>
          <p:nvPr/>
        </p:nvSpPr>
        <p:spPr>
          <a:xfrm>
            <a:off x="4863003" y="5157192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출금요청</a:t>
            </a:r>
            <a:r>
              <a:rPr lang="en-US" altLang="ko-KR" sz="900" smtClean="0">
                <a:solidFill>
                  <a:schemeClr val="tx1"/>
                </a:solidFill>
              </a:rPr>
              <a:t>File</a:t>
            </a:r>
            <a:endParaRPr lang="ko-KR" altLang="en-US" sz="900">
              <a:solidFill>
                <a:schemeClr val="tx1"/>
              </a:solidFill>
            </a:endParaRPr>
          </a:p>
        </p:txBody>
      </p:sp>
      <p:cxnSp>
        <p:nvCxnSpPr>
          <p:cNvPr id="87" name="직선 화살표 연결선 86"/>
          <p:cNvCxnSpPr/>
          <p:nvPr/>
        </p:nvCxnSpPr>
        <p:spPr>
          <a:xfrm>
            <a:off x="3282199" y="5373216"/>
            <a:ext cx="349349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/>
          <p:cNvCxnSpPr/>
          <p:nvPr/>
        </p:nvCxnSpPr>
        <p:spPr>
          <a:xfrm flipV="1">
            <a:off x="4430339" y="5373216"/>
            <a:ext cx="4326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순서도: 종속 처리 88"/>
          <p:cNvSpPr/>
          <p:nvPr/>
        </p:nvSpPr>
        <p:spPr>
          <a:xfrm>
            <a:off x="7864457" y="5341554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</a:t>
            </a:r>
          </a:p>
        </p:txBody>
      </p:sp>
      <p:sp>
        <p:nvSpPr>
          <p:cNvPr id="90" name="순서도: 처리 89"/>
          <p:cNvSpPr/>
          <p:nvPr/>
        </p:nvSpPr>
        <p:spPr>
          <a:xfrm>
            <a:off x="5889104" y="594928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출금전표생성</a:t>
            </a:r>
          </a:p>
        </p:txBody>
      </p:sp>
      <p:cxnSp>
        <p:nvCxnSpPr>
          <p:cNvPr id="91" name="구부러진 연결선 90"/>
          <p:cNvCxnSpPr>
            <a:stCxn id="89" idx="2"/>
            <a:endCxn id="90" idx="0"/>
          </p:cNvCxnSpPr>
          <p:nvPr/>
        </p:nvCxnSpPr>
        <p:spPr>
          <a:xfrm rot="5400000">
            <a:off x="7152738" y="4807249"/>
            <a:ext cx="310445" cy="1973616"/>
          </a:xfrm>
          <a:prstGeom prst="curved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구부러진 연결선 91"/>
          <p:cNvCxnSpPr>
            <a:stCxn id="86" idx="4"/>
            <a:endCxn id="89" idx="0"/>
          </p:cNvCxnSpPr>
          <p:nvPr/>
        </p:nvCxnSpPr>
        <p:spPr>
          <a:xfrm flipV="1">
            <a:off x="5630464" y="5341554"/>
            <a:ext cx="2664304" cy="31662"/>
          </a:xfrm>
          <a:prstGeom prst="curvedConnector4">
            <a:avLst>
              <a:gd name="adj1" fmla="val 41924"/>
              <a:gd name="adj2" fmla="val 1404283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456985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2.4.2.4 </a:t>
            </a:r>
            <a:r>
              <a:rPr lang="ko-KR" altLang="en-US" sz="1800" smtClean="0"/>
              <a:t>입금관리 개선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27894"/>
            <a:ext cx="9174167" cy="4718931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입금관리 프로세스 개선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8" name="TextBox 57"/>
          <p:cNvSpPr txBox="1"/>
          <p:nvPr/>
        </p:nvSpPr>
        <p:spPr>
          <a:xfrm>
            <a:off x="344488" y="2256184"/>
            <a:ext cx="9196476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1100" smtClean="0">
              <a:sym typeface="Wingdings" panose="05000000000000000000" pitchFamily="2" charset="2"/>
            </a:endParaRPr>
          </a:p>
          <a:p>
            <a:pPr marL="228600" indent="-228600">
              <a:buAutoNum type="arabicParenR"/>
            </a:pPr>
            <a:r>
              <a:rPr lang="ko-KR" altLang="en-US" sz="1100" smtClean="0"/>
              <a:t>입출금 </a:t>
            </a:r>
            <a:r>
              <a:rPr lang="en-US" altLang="ko-KR" sz="1100" smtClean="0"/>
              <a:t>DATA </a:t>
            </a:r>
            <a:r>
              <a:rPr lang="ko-KR" altLang="en-US" sz="1100" smtClean="0"/>
              <a:t>수신</a:t>
            </a:r>
            <a:r>
              <a:rPr lang="en-US" altLang="ko-KR" sz="1100"/>
              <a:t> </a:t>
            </a:r>
            <a:r>
              <a:rPr lang="en-US" altLang="ko-KR" sz="1100" smtClean="0"/>
              <a:t>- </a:t>
            </a:r>
            <a:r>
              <a:rPr lang="en-US" altLang="ko-KR" sz="1100"/>
              <a:t> [ </a:t>
            </a:r>
            <a:r>
              <a:rPr lang="ko-KR" altLang="en-US" sz="1100"/>
              <a:t>차</a:t>
            </a:r>
            <a:r>
              <a:rPr lang="en-US" altLang="ko-KR" sz="1100"/>
              <a:t>) </a:t>
            </a:r>
            <a:r>
              <a:rPr lang="ko-KR" altLang="en-US" sz="1100" smtClean="0"/>
              <a:t>입금계정</a:t>
            </a:r>
            <a:r>
              <a:rPr lang="en-US" altLang="ko-KR" sz="1100" smtClean="0"/>
              <a:t>(</a:t>
            </a:r>
            <a:r>
              <a:rPr lang="ko-KR" altLang="en-US" sz="1100" smtClean="0"/>
              <a:t>보통예금</a:t>
            </a:r>
            <a:r>
              <a:rPr lang="en-US" altLang="ko-KR" sz="1100" smtClean="0"/>
              <a:t>)</a:t>
            </a:r>
            <a:r>
              <a:rPr lang="ko-KR" altLang="en-US" sz="1100" smtClean="0"/>
              <a:t>   </a:t>
            </a:r>
            <a:r>
              <a:rPr lang="en-US" altLang="ko-KR" sz="1100"/>
              <a:t>xxx</a:t>
            </a:r>
            <a:r>
              <a:rPr lang="ko-KR" altLang="en-US" sz="1100"/>
              <a:t>        대</a:t>
            </a:r>
            <a:r>
              <a:rPr lang="en-US" altLang="ko-KR" sz="1100"/>
              <a:t>) </a:t>
            </a:r>
            <a:r>
              <a:rPr lang="ko-KR" altLang="en-US" sz="1100" smtClean="0"/>
              <a:t>가수금</a:t>
            </a:r>
            <a:r>
              <a:rPr lang="en-US" altLang="ko-KR" sz="1100" smtClean="0"/>
              <a:t>-</a:t>
            </a:r>
            <a:r>
              <a:rPr lang="ko-KR" altLang="en-US" sz="1100" smtClean="0"/>
              <a:t>계좌입금  </a:t>
            </a:r>
            <a:r>
              <a:rPr lang="en-US" altLang="ko-KR" sz="1100"/>
              <a:t>xxx</a:t>
            </a:r>
            <a:r>
              <a:rPr lang="ko-KR" altLang="en-US" sz="1100"/>
              <a:t> </a:t>
            </a:r>
            <a:r>
              <a:rPr lang="en-US" altLang="ko-KR" sz="1100"/>
              <a:t>]</a:t>
            </a:r>
            <a:endParaRPr lang="en-US" altLang="ko-KR" sz="1100" smtClean="0"/>
          </a:p>
          <a:p>
            <a:pPr marL="228600" indent="-228600">
              <a:buAutoNum type="arabicParenR"/>
            </a:pPr>
            <a:endParaRPr lang="en-US" altLang="ko-KR" sz="1100"/>
          </a:p>
          <a:p>
            <a:pPr marL="228600" indent="-228600">
              <a:buAutoNum type="arabicParenR"/>
            </a:pPr>
            <a:endParaRPr lang="en-US" altLang="ko-KR" sz="1100" smtClean="0"/>
          </a:p>
          <a:p>
            <a:pPr marL="228600" indent="-228600">
              <a:buAutoNum type="arabicParenR"/>
            </a:pPr>
            <a:endParaRPr lang="en-US" altLang="ko-KR" sz="1100"/>
          </a:p>
          <a:p>
            <a:pPr marL="228600" indent="-228600">
              <a:buAutoNum type="arabicParenR"/>
            </a:pPr>
            <a:endParaRPr lang="en-US" altLang="ko-KR" sz="1100" smtClean="0"/>
          </a:p>
          <a:p>
            <a:pPr marL="228600" indent="-228600">
              <a:buAutoNum type="arabicParenR"/>
            </a:pPr>
            <a:endParaRPr lang="en-US" altLang="ko-KR" sz="1100" smtClean="0"/>
          </a:p>
          <a:p>
            <a:r>
              <a:rPr lang="en-US" altLang="ko-KR" sz="1100" smtClean="0"/>
              <a:t>2) </a:t>
            </a:r>
            <a:r>
              <a:rPr lang="ko-KR" altLang="en-US" sz="1100" smtClean="0"/>
              <a:t>가수금에 대한 수납 처리</a:t>
            </a:r>
            <a:endParaRPr lang="en-US" altLang="ko-KR" sz="1100" smtClean="0"/>
          </a:p>
          <a:p>
            <a:r>
              <a:rPr lang="en-US" altLang="ko-KR" sz="1100" smtClean="0"/>
              <a:t>   - </a:t>
            </a:r>
            <a:r>
              <a:rPr lang="ko-KR" altLang="en-US" sz="1100" smtClean="0"/>
              <a:t>입금 대상이 되는 미수금을 선택하여 가수금과 상계하는 수납처리를 함으로써 </a:t>
            </a:r>
            <a:endParaRPr lang="en-US" altLang="ko-KR" sz="1100" smtClean="0"/>
          </a:p>
          <a:p>
            <a:r>
              <a:rPr lang="en-US" altLang="ko-KR" sz="1100"/>
              <a:t> </a:t>
            </a:r>
            <a:r>
              <a:rPr lang="en-US" altLang="ko-KR" sz="1100" smtClean="0"/>
              <a:t>    </a:t>
            </a:r>
            <a:r>
              <a:rPr lang="ko-KR" altLang="en-US" sz="1100" smtClean="0"/>
              <a:t>미수금에 대한 입금내역을 관리 </a:t>
            </a:r>
            <a:endParaRPr lang="en-US" altLang="ko-KR" sz="1100" smtClean="0"/>
          </a:p>
          <a:p>
            <a:endParaRPr lang="en-US" altLang="ko-KR" sz="1100"/>
          </a:p>
          <a:p>
            <a:endParaRPr lang="en-US" altLang="ko-KR" sz="1100" smtClean="0"/>
          </a:p>
          <a:p>
            <a:r>
              <a:rPr lang="en-US" altLang="ko-KR" sz="1100" smtClean="0"/>
              <a:t>              [ </a:t>
            </a:r>
            <a:r>
              <a:rPr lang="ko-KR" altLang="en-US" sz="1100" smtClean="0"/>
              <a:t>차</a:t>
            </a:r>
            <a:r>
              <a:rPr lang="en-US" altLang="ko-KR" sz="1100" smtClean="0"/>
              <a:t>) </a:t>
            </a:r>
            <a:r>
              <a:rPr lang="ko-KR" altLang="en-US" sz="1100"/>
              <a:t>가수금</a:t>
            </a:r>
            <a:r>
              <a:rPr lang="en-US" altLang="ko-KR" sz="1100"/>
              <a:t>-</a:t>
            </a:r>
            <a:r>
              <a:rPr lang="ko-KR" altLang="en-US" sz="1100"/>
              <a:t>계좌입금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      대</a:t>
            </a:r>
            <a:r>
              <a:rPr lang="en-US" altLang="ko-KR" sz="1100" smtClean="0"/>
              <a:t>) </a:t>
            </a:r>
            <a:r>
              <a:rPr lang="ko-KR" altLang="en-US" sz="1100" smtClean="0"/>
              <a:t>미수금 등  </a:t>
            </a:r>
            <a:r>
              <a:rPr lang="en-US" altLang="ko-KR" sz="1100" smtClean="0"/>
              <a:t>xxx</a:t>
            </a:r>
            <a:r>
              <a:rPr lang="ko-KR" altLang="en-US" sz="1100" smtClean="0"/>
              <a:t> </a:t>
            </a:r>
            <a:r>
              <a:rPr lang="en-US" altLang="ko-KR" sz="1100" smtClean="0"/>
              <a:t>]</a:t>
            </a:r>
          </a:p>
          <a:p>
            <a:endParaRPr lang="en-US" altLang="ko-KR" sz="1100" smtClean="0"/>
          </a:p>
          <a:p>
            <a:r>
              <a:rPr lang="ko-KR" altLang="en-US" sz="1100" smtClean="0"/>
              <a:t> </a:t>
            </a:r>
            <a:r>
              <a:rPr lang="en-US" altLang="ko-KR" sz="1100" smtClean="0"/>
              <a:t> </a:t>
            </a:r>
            <a:endParaRPr lang="ko-KR" altLang="en-US" sz="1100"/>
          </a:p>
          <a:p>
            <a:endParaRPr lang="ko-KR" altLang="en-US" sz="1100" dirty="0" err="1" smtClean="0"/>
          </a:p>
        </p:txBody>
      </p:sp>
      <p:sp>
        <p:nvSpPr>
          <p:cNvPr id="60" name="순서도: 자기 디스크 59"/>
          <p:cNvSpPr/>
          <p:nvPr/>
        </p:nvSpPr>
        <p:spPr>
          <a:xfrm>
            <a:off x="2372438" y="2924944"/>
            <a:ext cx="767461" cy="432048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</a:t>
            </a:r>
            <a:r>
              <a:rPr lang="en-US" altLang="ko-KR" sz="900" smtClean="0">
                <a:solidFill>
                  <a:schemeClr val="tx1"/>
                </a:solidFill>
              </a:rPr>
              <a:t>.</a:t>
            </a:r>
            <a:r>
              <a:rPr lang="ko-KR" altLang="en-US" sz="900" smtClean="0">
                <a:solidFill>
                  <a:schemeClr val="tx1"/>
                </a:solidFill>
              </a:rPr>
              <a:t>출금 이력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61" name="순서도: 판단 60"/>
          <p:cNvSpPr/>
          <p:nvPr/>
        </p:nvSpPr>
        <p:spPr>
          <a:xfrm>
            <a:off x="3907360" y="3000447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입금</a:t>
            </a:r>
          </a:p>
        </p:txBody>
      </p:sp>
      <p:cxnSp>
        <p:nvCxnSpPr>
          <p:cNvPr id="62" name="직선 화살표 연결선 61"/>
          <p:cNvCxnSpPr>
            <a:stCxn id="60" idx="4"/>
            <a:endCxn id="61" idx="1"/>
          </p:cNvCxnSpPr>
          <p:nvPr/>
        </p:nvCxnSpPr>
        <p:spPr>
          <a:xfrm flipV="1">
            <a:off x="3139899" y="3139585"/>
            <a:ext cx="767461" cy="13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화살표 연결선 65"/>
          <p:cNvCxnSpPr>
            <a:stCxn id="61" idx="3"/>
            <a:endCxn id="37" idx="1"/>
          </p:cNvCxnSpPr>
          <p:nvPr/>
        </p:nvCxnSpPr>
        <p:spPr>
          <a:xfrm>
            <a:off x="4706151" y="3139585"/>
            <a:ext cx="678897" cy="35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순서도: 종속 처리 73"/>
          <p:cNvSpPr/>
          <p:nvPr/>
        </p:nvSpPr>
        <p:spPr>
          <a:xfrm>
            <a:off x="982158" y="2982825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은행연계</a:t>
            </a:r>
          </a:p>
        </p:txBody>
      </p: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pc="-150" smtClean="0">
                <a:solidFill>
                  <a:srgbClr val="000000"/>
                </a:solidFill>
              </a:rPr>
              <a:t>금융기관으로부터 입출금 내역을 수신하여 입금일 경우 입금전표를 자동으로 생성함으로써 </a:t>
            </a:r>
            <a:r>
              <a:rPr lang="en-US" altLang="ko-KR" spc="-150" smtClean="0">
                <a:solidFill>
                  <a:srgbClr val="000000"/>
                </a:solidFill>
              </a:rPr>
              <a:t>ERP</a:t>
            </a:r>
            <a:r>
              <a:rPr lang="ko-KR" altLang="en-US" spc="-150" smtClean="0">
                <a:solidFill>
                  <a:srgbClr val="000000"/>
                </a:solidFill>
              </a:rPr>
              <a:t>시스템의 시재와 금융기관의 시재가 시점별로 일치하도록 관리함으로써</a:t>
            </a:r>
            <a:r>
              <a:rPr lang="en-US" altLang="ko-KR" spc="-150" smtClean="0">
                <a:solidFill>
                  <a:srgbClr val="000000"/>
                </a:solidFill>
              </a:rPr>
              <a:t>, </a:t>
            </a:r>
            <a:r>
              <a:rPr lang="ko-KR" altLang="en-US" spc="-150" smtClean="0">
                <a:solidFill>
                  <a:srgbClr val="000000"/>
                </a:solidFill>
              </a:rPr>
              <a:t>자금 관련 전표의 누락 및 미처리 부분을 파악할 수 있는  시스템으로 개선하고자 함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497624" y="1988840"/>
            <a:ext cx="998991" cy="246221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ko-KR" altLang="en-US" sz="1000" smtClean="0"/>
              <a:t>개선 프로세스</a:t>
            </a:r>
            <a:endParaRPr lang="ko-KR" altLang="en-US" sz="1000" dirty="0" err="1" smtClean="0"/>
          </a:p>
        </p:txBody>
      </p:sp>
      <p:cxnSp>
        <p:nvCxnSpPr>
          <p:cNvPr id="8" name="구부러진 연결선 7"/>
          <p:cNvCxnSpPr>
            <a:stCxn id="74" idx="3"/>
            <a:endCxn id="60" idx="0"/>
          </p:cNvCxnSpPr>
          <p:nvPr/>
        </p:nvCxnSpPr>
        <p:spPr>
          <a:xfrm flipV="1">
            <a:off x="1842779" y="3068960"/>
            <a:ext cx="913390" cy="62506"/>
          </a:xfrm>
          <a:prstGeom prst="curvedConnector4">
            <a:avLst>
              <a:gd name="adj1" fmla="val 28994"/>
              <a:gd name="adj2" fmla="val 696128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순서도: 처리 36"/>
          <p:cNvSpPr/>
          <p:nvPr/>
        </p:nvSpPr>
        <p:spPr>
          <a:xfrm>
            <a:off x="5385048" y="299592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출금의뢰생성</a:t>
            </a:r>
          </a:p>
        </p:txBody>
      </p:sp>
      <p:sp>
        <p:nvSpPr>
          <p:cNvPr id="41" name="순서도: 처리 40"/>
          <p:cNvSpPr/>
          <p:nvPr/>
        </p:nvSpPr>
        <p:spPr>
          <a:xfrm>
            <a:off x="1712640" y="6664239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미수금</a:t>
            </a: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8227919"/>
              </p:ext>
            </p:extLst>
          </p:nvPr>
        </p:nvGraphicFramePr>
        <p:xfrm>
          <a:off x="689115" y="4834068"/>
          <a:ext cx="8712967" cy="10759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7502"/>
                <a:gridCol w="3552407"/>
                <a:gridCol w="3648393"/>
                <a:gridCol w="584665"/>
              </a:tblGrid>
              <a:tr h="2328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</a:rPr>
                        <a:t>TABLE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초기 발생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DATA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수납 결과 기록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3685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전표 내역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발생적요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계좌일련번호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거래일자별 일련번호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상호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추적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453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입</a:t>
                      </a:r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출금내역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계좌일련번호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거래일자별 일련번호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수납일자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수납번호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23165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2.4.2.5 </a:t>
            </a:r>
            <a:r>
              <a:rPr lang="ko-KR" altLang="en-US" sz="1800" smtClean="0"/>
              <a:t>세무 전자신고관리 체제 구축</a:t>
            </a:r>
            <a:r>
              <a:rPr lang="en-US" altLang="ko-KR" sz="1800" smtClean="0"/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27894"/>
            <a:ext cx="9174167" cy="4718931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세무관리 업무 내역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>
              <a:spcAft>
                <a:spcPct val="30000"/>
              </a:spcAft>
              <a:buClr>
                <a:schemeClr val="bg2"/>
              </a:buClr>
            </a:pPr>
            <a:r>
              <a:rPr lang="ko-KR" altLang="en-US" smtClean="0">
                <a:latin typeface="+mn-ea"/>
                <a:ea typeface="+mn-ea"/>
              </a:rPr>
              <a:t>결의서 발생시점부터 증빙구분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과세구분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원천세 구분 등의 기초자료를 누락없이 관리함으로써 원천세 신고자료와</a:t>
            </a:r>
            <a:r>
              <a:rPr lang="en-US" altLang="ko-KR" smtClean="0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부가세 신고 자료를 작성하고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전자신고 파일을 생성하여 제공하며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법인세 신고 에 필요한 각종 </a:t>
            </a:r>
            <a:r>
              <a:rPr lang="ko-KR" altLang="en-US">
                <a:latin typeface="+mn-ea"/>
                <a:ea typeface="+mn-ea"/>
              </a:rPr>
              <a:t>자료를 </a:t>
            </a:r>
            <a:r>
              <a:rPr lang="ko-KR" altLang="en-US" smtClean="0">
                <a:latin typeface="+mn-ea"/>
                <a:ea typeface="+mn-ea"/>
              </a:rPr>
              <a:t>제공하는 시스템을 구축함</a:t>
            </a:r>
            <a:endParaRPr lang="en-US" altLang="ko-KR" dirty="0">
              <a:latin typeface="+mn-ea"/>
              <a:ea typeface="+mn-ea"/>
            </a:endParaRPr>
          </a:p>
        </p:txBody>
      </p:sp>
      <p:sp>
        <p:nvSpPr>
          <p:cNvPr id="20" name="AutoShape 148"/>
          <p:cNvSpPr>
            <a:spLocks noChangeArrowheads="1"/>
          </p:cNvSpPr>
          <p:nvPr/>
        </p:nvSpPr>
        <p:spPr bwMode="auto">
          <a:xfrm>
            <a:off x="2074416" y="2088875"/>
            <a:ext cx="7428457" cy="1319283"/>
          </a:xfrm>
          <a:prstGeom prst="roundRect">
            <a:avLst>
              <a:gd name="adj" fmla="val 3273"/>
            </a:avLst>
          </a:prstGeom>
          <a:solidFill>
            <a:srgbClr val="D2E8F5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1000"/>
          </a:p>
        </p:txBody>
      </p:sp>
      <p:sp>
        <p:nvSpPr>
          <p:cNvPr id="21" name="Rectangle 149"/>
          <p:cNvSpPr>
            <a:spLocks noChangeArrowheads="1"/>
          </p:cNvSpPr>
          <p:nvPr/>
        </p:nvSpPr>
        <p:spPr bwMode="auto">
          <a:xfrm>
            <a:off x="4958124" y="2146195"/>
            <a:ext cx="1216178" cy="295947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/>
          </a:p>
        </p:txBody>
      </p:sp>
      <p:sp>
        <p:nvSpPr>
          <p:cNvPr id="22" name="Rectangle 151"/>
          <p:cNvSpPr>
            <a:spLocks noChangeArrowheads="1"/>
          </p:cNvSpPr>
          <p:nvPr/>
        </p:nvSpPr>
        <p:spPr bwMode="auto">
          <a:xfrm>
            <a:off x="8150592" y="2644093"/>
            <a:ext cx="1225681" cy="295947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>
              <a:latin typeface="+mn-ea"/>
              <a:ea typeface="+mn-ea"/>
            </a:endParaRPr>
          </a:p>
        </p:txBody>
      </p:sp>
      <p:sp>
        <p:nvSpPr>
          <p:cNvPr id="23" name="Rectangle 152"/>
          <p:cNvSpPr>
            <a:spLocks noChangeArrowheads="1"/>
          </p:cNvSpPr>
          <p:nvPr/>
        </p:nvSpPr>
        <p:spPr bwMode="auto">
          <a:xfrm>
            <a:off x="8150592" y="3049637"/>
            <a:ext cx="1225681" cy="296877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>
              <a:latin typeface="+mn-ea"/>
              <a:ea typeface="+mn-ea"/>
            </a:endParaRPr>
          </a:p>
        </p:txBody>
      </p:sp>
      <p:sp>
        <p:nvSpPr>
          <p:cNvPr id="24" name="Rectangle 153"/>
          <p:cNvSpPr>
            <a:spLocks noChangeArrowheads="1"/>
          </p:cNvSpPr>
          <p:nvPr/>
        </p:nvSpPr>
        <p:spPr bwMode="auto">
          <a:xfrm>
            <a:off x="6538524" y="3111281"/>
            <a:ext cx="1228846" cy="296877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/>
          </a:p>
        </p:txBody>
      </p:sp>
      <p:sp>
        <p:nvSpPr>
          <p:cNvPr id="25" name="Rectangle 154"/>
          <p:cNvSpPr>
            <a:spLocks noChangeArrowheads="1"/>
          </p:cNvSpPr>
          <p:nvPr/>
        </p:nvSpPr>
        <p:spPr bwMode="auto">
          <a:xfrm>
            <a:off x="4958124" y="3111281"/>
            <a:ext cx="1216178" cy="296877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/>
          </a:p>
        </p:txBody>
      </p:sp>
      <p:sp>
        <p:nvSpPr>
          <p:cNvPr id="26" name="AutoShape 155"/>
          <p:cNvSpPr>
            <a:spLocks noChangeArrowheads="1"/>
          </p:cNvSpPr>
          <p:nvPr/>
        </p:nvSpPr>
        <p:spPr bwMode="auto">
          <a:xfrm>
            <a:off x="2112507" y="3462092"/>
            <a:ext cx="7428457" cy="1407068"/>
          </a:xfrm>
          <a:prstGeom prst="roundRect">
            <a:avLst>
              <a:gd name="adj" fmla="val 3273"/>
            </a:avLst>
          </a:prstGeom>
          <a:solidFill>
            <a:srgbClr val="D2E8F5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1000"/>
          </a:p>
        </p:txBody>
      </p:sp>
      <p:sp>
        <p:nvSpPr>
          <p:cNvPr id="31" name="Rectangle 173"/>
          <p:cNvSpPr>
            <a:spLocks noChangeArrowheads="1"/>
          </p:cNvSpPr>
          <p:nvPr/>
        </p:nvSpPr>
        <p:spPr bwMode="auto">
          <a:xfrm>
            <a:off x="5064481" y="2162759"/>
            <a:ext cx="1039296" cy="243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 smtClean="0">
                <a:latin typeface="+mn-ea"/>
                <a:ea typeface="+mn-ea"/>
              </a:rPr>
              <a:t>매출 </a:t>
            </a:r>
            <a:r>
              <a:rPr lang="ko-KR" altLang="en-US" sz="900">
                <a:latin typeface="+mn-ea"/>
                <a:ea typeface="+mn-ea"/>
              </a:rPr>
              <a:t>부가세</a:t>
            </a:r>
            <a:br>
              <a:rPr lang="ko-KR" altLang="en-US" sz="900">
                <a:latin typeface="+mn-ea"/>
                <a:ea typeface="+mn-ea"/>
              </a:rPr>
            </a:br>
            <a:r>
              <a:rPr lang="ko-KR" altLang="en-US" sz="900">
                <a:latin typeface="+mn-ea"/>
                <a:ea typeface="+mn-ea"/>
              </a:rPr>
              <a:t>조회</a:t>
            </a:r>
            <a:r>
              <a:rPr lang="en-US" altLang="ko-KR" sz="900">
                <a:latin typeface="+mn-ea"/>
                <a:ea typeface="+mn-ea"/>
              </a:rPr>
              <a:t>/</a:t>
            </a:r>
            <a:r>
              <a:rPr lang="ko-KR" altLang="en-US" sz="900">
                <a:latin typeface="+mn-ea"/>
                <a:ea typeface="+mn-ea"/>
              </a:rPr>
              <a:t>수정</a:t>
            </a:r>
          </a:p>
        </p:txBody>
      </p:sp>
      <p:sp>
        <p:nvSpPr>
          <p:cNvPr id="32" name="Rectangle 174"/>
          <p:cNvSpPr>
            <a:spLocks noChangeArrowheads="1"/>
          </p:cNvSpPr>
          <p:nvPr/>
        </p:nvSpPr>
        <p:spPr bwMode="auto">
          <a:xfrm>
            <a:off x="8263758" y="2662040"/>
            <a:ext cx="1036165" cy="244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전자신고</a:t>
            </a:r>
          </a:p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자료전송</a:t>
            </a:r>
          </a:p>
        </p:txBody>
      </p:sp>
      <p:cxnSp>
        <p:nvCxnSpPr>
          <p:cNvPr id="43" name="AutoShape 185"/>
          <p:cNvCxnSpPr>
            <a:cxnSpLocks noChangeShapeType="1"/>
            <a:stCxn id="102" idx="3"/>
            <a:endCxn id="32" idx="1"/>
          </p:cNvCxnSpPr>
          <p:nvPr/>
        </p:nvCxnSpPr>
        <p:spPr bwMode="auto">
          <a:xfrm>
            <a:off x="7754700" y="2294168"/>
            <a:ext cx="509058" cy="49010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4" name="AutoShape 186"/>
          <p:cNvCxnSpPr>
            <a:cxnSpLocks noChangeShapeType="1"/>
            <a:stCxn id="24" idx="3"/>
            <a:endCxn id="32" idx="1"/>
          </p:cNvCxnSpPr>
          <p:nvPr/>
        </p:nvCxnSpPr>
        <p:spPr bwMode="auto">
          <a:xfrm flipV="1">
            <a:off x="7767370" y="2784273"/>
            <a:ext cx="496388" cy="47544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Rectangle 187"/>
          <p:cNvSpPr>
            <a:spLocks noChangeArrowheads="1"/>
          </p:cNvSpPr>
          <p:nvPr/>
        </p:nvSpPr>
        <p:spPr bwMode="auto">
          <a:xfrm>
            <a:off x="4993240" y="3118636"/>
            <a:ext cx="1141841" cy="24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 smtClean="0">
                <a:latin typeface="+mn-ea"/>
                <a:ea typeface="+mn-ea"/>
              </a:rPr>
              <a:t>매입 </a:t>
            </a:r>
            <a:r>
              <a:rPr lang="ko-KR" altLang="en-US" sz="900">
                <a:latin typeface="+mn-ea"/>
                <a:ea typeface="+mn-ea"/>
              </a:rPr>
              <a:t>부가세</a:t>
            </a:r>
            <a:br>
              <a:rPr lang="ko-KR" altLang="en-US" sz="900">
                <a:latin typeface="+mn-ea"/>
                <a:ea typeface="+mn-ea"/>
              </a:rPr>
            </a:br>
            <a:r>
              <a:rPr lang="ko-KR" altLang="en-US" sz="900">
                <a:latin typeface="+mn-ea"/>
                <a:ea typeface="+mn-ea"/>
              </a:rPr>
              <a:t>조회</a:t>
            </a:r>
            <a:r>
              <a:rPr lang="en-US" altLang="ko-KR" sz="900">
                <a:latin typeface="+mn-ea"/>
                <a:ea typeface="+mn-ea"/>
              </a:rPr>
              <a:t>/</a:t>
            </a:r>
            <a:r>
              <a:rPr lang="ko-KR" altLang="en-US" sz="900">
                <a:latin typeface="+mn-ea"/>
                <a:ea typeface="+mn-ea"/>
              </a:rPr>
              <a:t>수정</a:t>
            </a:r>
          </a:p>
        </p:txBody>
      </p:sp>
      <p:cxnSp>
        <p:nvCxnSpPr>
          <p:cNvPr id="48" name="AutoShape 193"/>
          <p:cNvCxnSpPr>
            <a:cxnSpLocks noChangeShapeType="1"/>
            <a:stCxn id="2" idx="4"/>
            <a:endCxn id="115" idx="1"/>
          </p:cNvCxnSpPr>
          <p:nvPr/>
        </p:nvCxnSpPr>
        <p:spPr bwMode="auto">
          <a:xfrm flipV="1">
            <a:off x="1712640" y="2544334"/>
            <a:ext cx="714743" cy="774616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AutoShape 194"/>
          <p:cNvCxnSpPr>
            <a:cxnSpLocks noChangeShapeType="1"/>
            <a:stCxn id="2" idx="4"/>
            <a:endCxn id="113" idx="1"/>
          </p:cNvCxnSpPr>
          <p:nvPr/>
        </p:nvCxnSpPr>
        <p:spPr bwMode="auto">
          <a:xfrm flipV="1">
            <a:off x="1712640" y="2951778"/>
            <a:ext cx="714743" cy="367172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" name="AutoShape 195"/>
          <p:cNvCxnSpPr>
            <a:cxnSpLocks noChangeShapeType="1"/>
            <a:stCxn id="2" idx="4"/>
            <a:endCxn id="97" idx="1"/>
          </p:cNvCxnSpPr>
          <p:nvPr/>
        </p:nvCxnSpPr>
        <p:spPr bwMode="auto">
          <a:xfrm>
            <a:off x="1712640" y="3318950"/>
            <a:ext cx="714743" cy="1074197"/>
          </a:xfrm>
          <a:prstGeom prst="bentConnector3">
            <a:avLst>
              <a:gd name="adj1" fmla="val 50000"/>
            </a:avLst>
          </a:prstGeom>
          <a:noFill/>
          <a:ln w="1270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4" name="AutoShape 201"/>
          <p:cNvSpPr>
            <a:spLocks noChangeArrowheads="1"/>
          </p:cNvSpPr>
          <p:nvPr/>
        </p:nvSpPr>
        <p:spPr bwMode="auto">
          <a:xfrm>
            <a:off x="609098" y="2387823"/>
            <a:ext cx="1054957" cy="343956"/>
          </a:xfrm>
          <a:prstGeom prst="flowChartPredefinedProcess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 smtClean="0"/>
              <a:t>전표마감</a:t>
            </a:r>
            <a:endParaRPr lang="ko-KR" altLang="en-US" sz="1000"/>
          </a:p>
        </p:txBody>
      </p:sp>
      <p:sp>
        <p:nvSpPr>
          <p:cNvPr id="117" name="AutoShape 214"/>
          <p:cNvSpPr>
            <a:spLocks noChangeArrowheads="1"/>
          </p:cNvSpPr>
          <p:nvPr/>
        </p:nvSpPr>
        <p:spPr bwMode="auto">
          <a:xfrm>
            <a:off x="609098" y="4327180"/>
            <a:ext cx="1054957" cy="325956"/>
          </a:xfrm>
          <a:prstGeom prst="flowChartPredefinedProcess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 smtClean="0"/>
              <a:t>급여</a:t>
            </a:r>
            <a:r>
              <a:rPr lang="en-US" altLang="ko-KR" sz="1000" smtClean="0"/>
              <a:t>, </a:t>
            </a:r>
            <a:r>
              <a:rPr lang="ko-KR" altLang="en-US" sz="1000" smtClean="0"/>
              <a:t>퇴직</a:t>
            </a:r>
            <a:endParaRPr lang="en-US" altLang="ko-KR" sz="1000" smtClean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1000" smtClean="0"/>
              <a:t>기타 소득 마감</a:t>
            </a:r>
            <a:endParaRPr lang="ko-KR" altLang="en-US" sz="1000"/>
          </a:p>
        </p:txBody>
      </p:sp>
      <p:grpSp>
        <p:nvGrpSpPr>
          <p:cNvPr id="54" name="그룹 243"/>
          <p:cNvGrpSpPr>
            <a:grpSpLocks/>
          </p:cNvGrpSpPr>
          <p:nvPr/>
        </p:nvGrpSpPr>
        <p:grpSpPr bwMode="auto">
          <a:xfrm>
            <a:off x="2422418" y="2402052"/>
            <a:ext cx="1139469" cy="284564"/>
            <a:chOff x="1529812" y="2663387"/>
            <a:chExt cx="571004" cy="502116"/>
          </a:xfrm>
        </p:grpSpPr>
        <p:sp>
          <p:nvSpPr>
            <p:cNvPr id="114" name="Rectangle 222"/>
            <p:cNvSpPr>
              <a:spLocks noChangeArrowheads="1"/>
            </p:cNvSpPr>
            <p:nvPr/>
          </p:nvSpPr>
          <p:spPr bwMode="auto">
            <a:xfrm>
              <a:off x="1529228" y="2683221"/>
              <a:ext cx="549135" cy="458157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739ACD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C9E4FF"/>
              </a:outerShdw>
            </a:effectLst>
          </p:spPr>
          <p:txBody>
            <a:bodyPr wrap="none" lIns="36000" tIns="36000" rIns="36000" bIns="3600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900">
                <a:latin typeface="+mn-ea"/>
                <a:ea typeface="+mn-ea"/>
              </a:endParaRPr>
            </a:p>
          </p:txBody>
        </p:sp>
        <p:sp>
          <p:nvSpPr>
            <p:cNvPr id="115" name="Rectangle 223"/>
            <p:cNvSpPr>
              <a:spLocks noChangeArrowheads="1"/>
            </p:cNvSpPr>
            <p:nvPr/>
          </p:nvSpPr>
          <p:spPr bwMode="auto">
            <a:xfrm>
              <a:off x="1532300" y="2663387"/>
              <a:ext cx="568516" cy="502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>
                  <a:latin typeface="+mn-ea"/>
                  <a:ea typeface="+mn-ea"/>
                </a:rPr>
                <a:t>매출부가세 집계</a:t>
              </a:r>
              <a:endParaRPr lang="ko-KR" altLang="en-US" sz="900">
                <a:latin typeface="+mn-ea"/>
                <a:ea typeface="+mn-ea"/>
              </a:endParaRPr>
            </a:p>
          </p:txBody>
        </p:sp>
      </p:grpSp>
      <p:grpSp>
        <p:nvGrpSpPr>
          <p:cNvPr id="55" name="그룹 250"/>
          <p:cNvGrpSpPr>
            <a:grpSpLocks/>
          </p:cNvGrpSpPr>
          <p:nvPr/>
        </p:nvGrpSpPr>
        <p:grpSpPr bwMode="auto">
          <a:xfrm>
            <a:off x="2422418" y="2809496"/>
            <a:ext cx="1139469" cy="284564"/>
            <a:chOff x="1529812" y="3382326"/>
            <a:chExt cx="571004" cy="502116"/>
          </a:xfrm>
        </p:grpSpPr>
        <p:sp>
          <p:nvSpPr>
            <p:cNvPr id="112" name="Rectangle 225"/>
            <p:cNvSpPr>
              <a:spLocks noChangeArrowheads="1"/>
            </p:cNvSpPr>
            <p:nvPr/>
          </p:nvSpPr>
          <p:spPr bwMode="auto">
            <a:xfrm>
              <a:off x="1529228" y="3400837"/>
              <a:ext cx="549135" cy="456516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739ACD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C9E4FF"/>
              </a:outerShdw>
            </a:effectLst>
          </p:spPr>
          <p:txBody>
            <a:bodyPr wrap="none" lIns="36000" tIns="36000" rIns="36000" bIns="3600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900">
                <a:latin typeface="+mn-ea"/>
                <a:ea typeface="+mn-ea"/>
              </a:endParaRPr>
            </a:p>
          </p:txBody>
        </p:sp>
        <p:sp>
          <p:nvSpPr>
            <p:cNvPr id="113" name="Rectangle 226"/>
            <p:cNvSpPr>
              <a:spLocks noChangeArrowheads="1"/>
            </p:cNvSpPr>
            <p:nvPr/>
          </p:nvSpPr>
          <p:spPr bwMode="auto">
            <a:xfrm>
              <a:off x="1532300" y="3382326"/>
              <a:ext cx="568516" cy="502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>
                  <a:latin typeface="+mn-ea"/>
                  <a:ea typeface="+mn-ea"/>
                </a:rPr>
                <a:t>매입부가세집계</a:t>
              </a:r>
              <a:endParaRPr lang="ko-KR" altLang="en-US" sz="900">
                <a:latin typeface="+mn-ea"/>
                <a:ea typeface="+mn-ea"/>
              </a:endParaRPr>
            </a:p>
          </p:txBody>
        </p:sp>
      </p:grpSp>
      <p:grpSp>
        <p:nvGrpSpPr>
          <p:cNvPr id="56" name="그룹 251"/>
          <p:cNvGrpSpPr>
            <a:grpSpLocks/>
          </p:cNvGrpSpPr>
          <p:nvPr/>
        </p:nvGrpSpPr>
        <p:grpSpPr bwMode="auto">
          <a:xfrm>
            <a:off x="5806969" y="2605053"/>
            <a:ext cx="1223989" cy="417792"/>
            <a:chOff x="3082816" y="3003457"/>
            <a:chExt cx="613358" cy="737198"/>
          </a:xfrm>
        </p:grpSpPr>
        <p:sp>
          <p:nvSpPr>
            <p:cNvPr id="110" name="AutoShape 228"/>
            <p:cNvSpPr>
              <a:spLocks noChangeArrowheads="1"/>
            </p:cNvSpPr>
            <p:nvPr/>
          </p:nvSpPr>
          <p:spPr bwMode="auto">
            <a:xfrm>
              <a:off x="3138157" y="3016780"/>
              <a:ext cx="558017" cy="723875"/>
            </a:xfrm>
            <a:prstGeom prst="flowChartDecision">
              <a:avLst/>
            </a:prstGeom>
            <a:solidFill>
              <a:srgbClr val="BD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800">
                <a:solidFill>
                  <a:srgbClr val="000000"/>
                </a:solidFill>
              </a:endParaRPr>
            </a:p>
          </p:txBody>
        </p:sp>
        <p:sp>
          <p:nvSpPr>
            <p:cNvPr id="111" name="AutoShape 229"/>
            <p:cNvSpPr>
              <a:spLocks noChangeArrowheads="1"/>
            </p:cNvSpPr>
            <p:nvPr/>
          </p:nvSpPr>
          <p:spPr bwMode="auto">
            <a:xfrm>
              <a:off x="3082816" y="3003457"/>
              <a:ext cx="558017" cy="723875"/>
            </a:xfrm>
            <a:prstGeom prst="flowChartDecision">
              <a:avLst/>
            </a:prstGeom>
            <a:solidFill>
              <a:schemeClr val="bg1"/>
            </a:solidFill>
            <a:ln w="9525">
              <a:solidFill>
                <a:srgbClr val="3D96C5"/>
              </a:solidFill>
              <a:miter lim="800000"/>
              <a:headEnd/>
              <a:tailEnd/>
            </a:ln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자료 대사</a:t>
              </a:r>
              <a:endParaRPr lang="ko-KR" altLang="ko-KR" sz="90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64" name="Line 240"/>
          <p:cNvSpPr>
            <a:spLocks noChangeShapeType="1"/>
          </p:cNvSpPr>
          <p:nvPr/>
        </p:nvSpPr>
        <p:spPr bwMode="auto">
          <a:xfrm rot="10800000" flipV="1">
            <a:off x="8780275" y="2940137"/>
            <a:ext cx="0" cy="188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+mn-ea"/>
            </a:endParaRPr>
          </a:p>
        </p:txBody>
      </p:sp>
      <p:grpSp>
        <p:nvGrpSpPr>
          <p:cNvPr id="65" name="그룹 254"/>
          <p:cNvGrpSpPr>
            <a:grpSpLocks/>
          </p:cNvGrpSpPr>
          <p:nvPr/>
        </p:nvGrpSpPr>
        <p:grpSpPr bwMode="auto">
          <a:xfrm>
            <a:off x="6535353" y="2146194"/>
            <a:ext cx="1219347" cy="295947"/>
            <a:chOff x="3590863" y="2211925"/>
            <a:chExt cx="611032" cy="522202"/>
          </a:xfrm>
        </p:grpSpPr>
        <p:sp>
          <p:nvSpPr>
            <p:cNvPr id="102" name="Rectangle 242"/>
            <p:cNvSpPr>
              <a:spLocks noChangeArrowheads="1"/>
            </p:cNvSpPr>
            <p:nvPr/>
          </p:nvSpPr>
          <p:spPr bwMode="auto">
            <a:xfrm>
              <a:off x="3590863" y="2211925"/>
              <a:ext cx="611032" cy="522202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739ACD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C9E4FF"/>
              </a:outerShdw>
            </a:effectLst>
          </p:spPr>
          <p:txBody>
            <a:bodyPr wrap="none" lIns="36000" tIns="36000" rIns="36000" bIns="3600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900">
                <a:latin typeface="+mn-ea"/>
                <a:ea typeface="+mn-ea"/>
              </a:endParaRPr>
            </a:p>
          </p:txBody>
        </p:sp>
        <p:sp>
          <p:nvSpPr>
            <p:cNvPr id="103" name="Rectangle 243"/>
            <p:cNvSpPr>
              <a:spLocks noChangeArrowheads="1"/>
            </p:cNvSpPr>
            <p:nvPr/>
          </p:nvSpPr>
          <p:spPr bwMode="auto">
            <a:xfrm>
              <a:off x="3642507" y="2235845"/>
              <a:ext cx="521578" cy="429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>
                  <a:latin typeface="+mn-ea"/>
                  <a:ea typeface="+mn-ea"/>
                </a:rPr>
                <a:t>매출 </a:t>
              </a:r>
              <a:r>
                <a:rPr lang="ko-KR" altLang="en-US" sz="900">
                  <a:latin typeface="+mn-ea"/>
                  <a:ea typeface="+mn-ea"/>
                </a:rPr>
                <a:t>부가세</a:t>
              </a:r>
              <a:br>
                <a:rPr lang="ko-KR" altLang="en-US" sz="900">
                  <a:latin typeface="+mn-ea"/>
                  <a:ea typeface="+mn-ea"/>
                </a:rPr>
              </a:br>
              <a:r>
                <a:rPr lang="ko-KR" altLang="en-US" sz="900">
                  <a:latin typeface="+mn-ea"/>
                  <a:ea typeface="+mn-ea"/>
                </a:rPr>
                <a:t>확정</a:t>
              </a:r>
            </a:p>
          </p:txBody>
        </p:sp>
      </p:grpSp>
      <p:sp>
        <p:nvSpPr>
          <p:cNvPr id="68" name="Rectangle 244"/>
          <p:cNvSpPr>
            <a:spLocks noChangeArrowheads="1"/>
          </p:cNvSpPr>
          <p:nvPr/>
        </p:nvSpPr>
        <p:spPr bwMode="auto">
          <a:xfrm>
            <a:off x="6642207" y="3135451"/>
            <a:ext cx="1039296" cy="243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 smtClean="0">
                <a:latin typeface="+mn-ea"/>
                <a:ea typeface="+mn-ea"/>
              </a:rPr>
              <a:t>매입 </a:t>
            </a:r>
            <a:r>
              <a:rPr lang="ko-KR" altLang="en-US" sz="900">
                <a:latin typeface="+mn-ea"/>
                <a:ea typeface="+mn-ea"/>
              </a:rPr>
              <a:t>부가세</a:t>
            </a:r>
            <a:br>
              <a:rPr lang="ko-KR" altLang="en-US" sz="900">
                <a:latin typeface="+mn-ea"/>
                <a:ea typeface="+mn-ea"/>
              </a:rPr>
            </a:br>
            <a:r>
              <a:rPr lang="ko-KR" altLang="en-US" sz="900">
                <a:latin typeface="+mn-ea"/>
                <a:ea typeface="+mn-ea"/>
              </a:rPr>
              <a:t>확정</a:t>
            </a:r>
          </a:p>
        </p:txBody>
      </p:sp>
      <p:sp>
        <p:nvSpPr>
          <p:cNvPr id="101" name="AutoShape 247"/>
          <p:cNvSpPr>
            <a:spLocks noChangeArrowheads="1"/>
          </p:cNvSpPr>
          <p:nvPr/>
        </p:nvSpPr>
        <p:spPr bwMode="auto">
          <a:xfrm>
            <a:off x="3800871" y="4121675"/>
            <a:ext cx="1082587" cy="233652"/>
          </a:xfrm>
          <a:prstGeom prst="flowChartProcess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latinLnBrk="0">
              <a:lnSpc>
                <a:spcPct val="190000"/>
              </a:lnSpc>
              <a:spcBef>
                <a:spcPct val="0"/>
              </a:spcBef>
              <a:buFontTx/>
              <a:buNone/>
            </a:pPr>
            <a:r>
              <a:rPr lang="ko-KR" altLang="en-US" sz="1000" smtClean="0">
                <a:solidFill>
                  <a:schemeClr val="bg1"/>
                </a:solidFill>
              </a:rPr>
              <a:t>원천</a:t>
            </a:r>
            <a:endParaRPr lang="ko-KR" altLang="en-US" sz="1000">
              <a:solidFill>
                <a:schemeClr val="bg1"/>
              </a:solidFill>
            </a:endParaRPr>
          </a:p>
        </p:txBody>
      </p:sp>
      <p:grpSp>
        <p:nvGrpSpPr>
          <p:cNvPr id="70" name="그룹 256"/>
          <p:cNvGrpSpPr>
            <a:grpSpLocks/>
          </p:cNvGrpSpPr>
          <p:nvPr/>
        </p:nvGrpSpPr>
        <p:grpSpPr bwMode="auto">
          <a:xfrm>
            <a:off x="2422418" y="3842127"/>
            <a:ext cx="1139469" cy="287151"/>
            <a:chOff x="1529812" y="4950297"/>
            <a:chExt cx="571004" cy="506681"/>
          </a:xfrm>
        </p:grpSpPr>
        <p:sp>
          <p:nvSpPr>
            <p:cNvPr id="98" name="Rectangle 249"/>
            <p:cNvSpPr>
              <a:spLocks noChangeArrowheads="1"/>
            </p:cNvSpPr>
            <p:nvPr/>
          </p:nvSpPr>
          <p:spPr bwMode="auto">
            <a:xfrm>
              <a:off x="1529228" y="4969084"/>
              <a:ext cx="549135" cy="469653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739ACD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C9E4FF"/>
              </a:outerShdw>
            </a:effectLst>
          </p:spPr>
          <p:txBody>
            <a:bodyPr wrap="none" lIns="36000" tIns="36000" rIns="36000" bIns="3600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900"/>
            </a:p>
          </p:txBody>
        </p:sp>
        <p:sp>
          <p:nvSpPr>
            <p:cNvPr id="99" name="Rectangle 250"/>
            <p:cNvSpPr>
              <a:spLocks noChangeArrowheads="1"/>
            </p:cNvSpPr>
            <p:nvPr/>
          </p:nvSpPr>
          <p:spPr bwMode="auto">
            <a:xfrm>
              <a:off x="1532300" y="4950297"/>
              <a:ext cx="568516" cy="506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/>
                <a:t>급여</a:t>
              </a:r>
              <a:r>
                <a:rPr lang="en-US" altLang="ko-KR" sz="900" smtClean="0"/>
                <a:t>, </a:t>
              </a:r>
              <a:r>
                <a:rPr lang="ko-KR" altLang="en-US" sz="900" smtClean="0"/>
                <a:t>퇴직소득</a:t>
              </a:r>
              <a:endParaRPr lang="ko-KR" altLang="en-US" sz="900"/>
            </a:p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/>
                <a:t> </a:t>
              </a:r>
              <a:r>
                <a:rPr lang="ko-KR" altLang="en-US" sz="900" smtClean="0"/>
                <a:t>집계</a:t>
              </a:r>
              <a:endParaRPr lang="ko-KR" altLang="en-US" sz="900"/>
            </a:p>
          </p:txBody>
        </p:sp>
      </p:grpSp>
      <p:grpSp>
        <p:nvGrpSpPr>
          <p:cNvPr id="71" name="그룹 257"/>
          <p:cNvGrpSpPr>
            <a:grpSpLocks/>
          </p:cNvGrpSpPr>
          <p:nvPr/>
        </p:nvGrpSpPr>
        <p:grpSpPr bwMode="auto">
          <a:xfrm>
            <a:off x="2422418" y="4249571"/>
            <a:ext cx="1139469" cy="287151"/>
            <a:chOff x="1529812" y="5669236"/>
            <a:chExt cx="571004" cy="506681"/>
          </a:xfrm>
        </p:grpSpPr>
        <p:sp>
          <p:nvSpPr>
            <p:cNvPr id="96" name="Rectangle 252"/>
            <p:cNvSpPr>
              <a:spLocks noChangeArrowheads="1"/>
            </p:cNvSpPr>
            <p:nvPr/>
          </p:nvSpPr>
          <p:spPr bwMode="auto">
            <a:xfrm>
              <a:off x="1529228" y="5686701"/>
              <a:ext cx="549135" cy="471296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739ACD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C9E4FF"/>
              </a:outerShdw>
            </a:effectLst>
          </p:spPr>
          <p:txBody>
            <a:bodyPr wrap="none" lIns="36000" tIns="36000" rIns="36000" bIns="3600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900"/>
            </a:p>
          </p:txBody>
        </p:sp>
        <p:sp>
          <p:nvSpPr>
            <p:cNvPr id="97" name="Rectangle 253"/>
            <p:cNvSpPr>
              <a:spLocks noChangeArrowheads="1"/>
            </p:cNvSpPr>
            <p:nvPr/>
          </p:nvSpPr>
          <p:spPr bwMode="auto">
            <a:xfrm>
              <a:off x="1532300" y="5669236"/>
              <a:ext cx="568516" cy="506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/>
                <a:t>기타소득</a:t>
              </a:r>
              <a:r>
                <a:rPr lang="en-US" altLang="ko-KR" sz="900" smtClean="0"/>
                <a:t>/</a:t>
              </a:r>
              <a:r>
                <a:rPr lang="ko-KR" altLang="en-US" sz="900" smtClean="0"/>
                <a:t>사업소득</a:t>
              </a:r>
              <a:endParaRPr lang="en-US" altLang="ko-KR" sz="900" smtClean="0"/>
            </a:p>
            <a:p>
              <a:pPr algn="ctr" eaLnBrk="1" latinLnBrk="0" hangingPunct="1">
                <a:spcBef>
                  <a:spcPct val="0"/>
                </a:spcBef>
                <a:buFontTx/>
                <a:buNone/>
              </a:pPr>
              <a:r>
                <a:rPr lang="ko-KR" altLang="en-US" sz="900" smtClean="0"/>
                <a:t>집계</a:t>
              </a:r>
              <a:endParaRPr lang="ko-KR" altLang="en-US" sz="900"/>
            </a:p>
          </p:txBody>
        </p:sp>
      </p:grpSp>
      <p:grpSp>
        <p:nvGrpSpPr>
          <p:cNvPr id="72" name="그룹 258"/>
          <p:cNvGrpSpPr>
            <a:grpSpLocks/>
          </p:cNvGrpSpPr>
          <p:nvPr/>
        </p:nvGrpSpPr>
        <p:grpSpPr bwMode="auto">
          <a:xfrm>
            <a:off x="6546510" y="3969228"/>
            <a:ext cx="1220860" cy="417792"/>
            <a:chOff x="3649114" y="4843027"/>
            <a:chExt cx="611790" cy="737198"/>
          </a:xfrm>
        </p:grpSpPr>
        <p:sp>
          <p:nvSpPr>
            <p:cNvPr id="94" name="AutoShape 255"/>
            <p:cNvSpPr>
              <a:spLocks noChangeArrowheads="1"/>
            </p:cNvSpPr>
            <p:nvPr/>
          </p:nvSpPr>
          <p:spPr bwMode="auto">
            <a:xfrm>
              <a:off x="3704313" y="4856350"/>
              <a:ext cx="556591" cy="723875"/>
            </a:xfrm>
            <a:prstGeom prst="flowChartDecision">
              <a:avLst/>
            </a:prstGeom>
            <a:solidFill>
              <a:srgbClr val="BD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80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95" name="AutoShape 256"/>
            <p:cNvSpPr>
              <a:spLocks noChangeArrowheads="1"/>
            </p:cNvSpPr>
            <p:nvPr/>
          </p:nvSpPr>
          <p:spPr bwMode="auto">
            <a:xfrm>
              <a:off x="3649114" y="4843027"/>
              <a:ext cx="556591" cy="723875"/>
            </a:xfrm>
            <a:prstGeom prst="flowChartDecision">
              <a:avLst/>
            </a:prstGeom>
            <a:solidFill>
              <a:schemeClr val="bg1"/>
            </a:solidFill>
            <a:ln w="9525">
              <a:solidFill>
                <a:srgbClr val="3D96C5"/>
              </a:solidFill>
              <a:miter lim="800000"/>
              <a:headEnd/>
              <a:tailEnd/>
            </a:ln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Char char="•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Char char="–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120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ko-KR" altLang="ko-KR" sz="80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73" name="AutoShape 257"/>
          <p:cNvSpPr>
            <a:spLocks noChangeArrowheads="1"/>
          </p:cNvSpPr>
          <p:nvPr/>
        </p:nvSpPr>
        <p:spPr bwMode="auto">
          <a:xfrm>
            <a:off x="6679604" y="3972030"/>
            <a:ext cx="867124" cy="397096"/>
          </a:xfrm>
          <a:prstGeom prst="flowChartDecision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/>
              <a:t>증빙대사</a:t>
            </a:r>
          </a:p>
        </p:txBody>
      </p:sp>
      <p:sp>
        <p:nvSpPr>
          <p:cNvPr id="76" name="Rectangle 259"/>
          <p:cNvSpPr>
            <a:spLocks noChangeArrowheads="1"/>
          </p:cNvSpPr>
          <p:nvPr/>
        </p:nvSpPr>
        <p:spPr bwMode="auto">
          <a:xfrm>
            <a:off x="4953000" y="4000634"/>
            <a:ext cx="1229865" cy="326546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원천세 내역</a:t>
            </a:r>
          </a:p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조회</a:t>
            </a:r>
            <a:r>
              <a:rPr lang="en-US" altLang="ko-KR" sz="900">
                <a:latin typeface="+mn-ea"/>
                <a:ea typeface="+mn-ea"/>
              </a:rPr>
              <a:t>/</a:t>
            </a:r>
            <a:r>
              <a:rPr lang="ko-KR" altLang="en-US" sz="900">
                <a:latin typeface="+mn-ea"/>
                <a:ea typeface="+mn-ea"/>
              </a:rPr>
              <a:t>수정</a:t>
            </a:r>
          </a:p>
        </p:txBody>
      </p:sp>
      <p:sp>
        <p:nvSpPr>
          <p:cNvPr id="77" name="Rectangle 260"/>
          <p:cNvSpPr>
            <a:spLocks noChangeArrowheads="1"/>
          </p:cNvSpPr>
          <p:nvPr/>
        </p:nvSpPr>
        <p:spPr bwMode="auto">
          <a:xfrm>
            <a:off x="8141091" y="3842537"/>
            <a:ext cx="1222512" cy="296878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>
              <a:latin typeface="+mn-ea"/>
              <a:ea typeface="+mn-ea"/>
            </a:endParaRPr>
          </a:p>
        </p:txBody>
      </p:sp>
      <p:sp>
        <p:nvSpPr>
          <p:cNvPr id="78" name="Rectangle 261"/>
          <p:cNvSpPr>
            <a:spLocks noChangeArrowheads="1"/>
          </p:cNvSpPr>
          <p:nvPr/>
        </p:nvSpPr>
        <p:spPr bwMode="auto">
          <a:xfrm>
            <a:off x="8248105" y="3860236"/>
            <a:ext cx="1039296" cy="243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전자신고</a:t>
            </a:r>
          </a:p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자료작성</a:t>
            </a:r>
          </a:p>
        </p:txBody>
      </p:sp>
      <p:sp>
        <p:nvSpPr>
          <p:cNvPr id="79" name="Rectangle 262"/>
          <p:cNvSpPr>
            <a:spLocks noChangeArrowheads="1"/>
          </p:cNvSpPr>
          <p:nvPr/>
        </p:nvSpPr>
        <p:spPr bwMode="auto">
          <a:xfrm>
            <a:off x="8141091" y="4272498"/>
            <a:ext cx="1222512" cy="296878"/>
          </a:xfrm>
          <a:prstGeom prst="rect">
            <a:avLst/>
          </a:prstGeom>
          <a:solidFill>
            <a:schemeClr val="bg1"/>
          </a:solidFill>
          <a:ln w="12700" algn="ctr">
            <a:solidFill>
              <a:srgbClr val="739ACD"/>
            </a:solidFill>
            <a:miter lim="800000"/>
            <a:headEnd/>
            <a:tailEnd/>
          </a:ln>
          <a:effectLst>
            <a:outerShdw dist="35921" dir="2700000" algn="ctr" rotWithShape="0">
              <a:srgbClr val="C9E4FF"/>
            </a:outerShdw>
          </a:effectLst>
        </p:spPr>
        <p:txBody>
          <a:bodyPr wrap="none" lIns="36000" tIns="36000" rIns="36000" bIns="36000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ko-KR" altLang="ko-KR" sz="900">
              <a:latin typeface="+mn-ea"/>
              <a:ea typeface="+mn-ea"/>
            </a:endParaRPr>
          </a:p>
        </p:txBody>
      </p:sp>
      <p:sp>
        <p:nvSpPr>
          <p:cNvPr id="80" name="Rectangle 263"/>
          <p:cNvSpPr>
            <a:spLocks noChangeArrowheads="1"/>
          </p:cNvSpPr>
          <p:nvPr/>
        </p:nvSpPr>
        <p:spPr bwMode="auto">
          <a:xfrm>
            <a:off x="8227557" y="4299943"/>
            <a:ext cx="1039296" cy="244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신고증빙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자료출력</a:t>
            </a:r>
          </a:p>
        </p:txBody>
      </p:sp>
      <p:sp>
        <p:nvSpPr>
          <p:cNvPr id="86" name="AutoShape 278"/>
          <p:cNvSpPr>
            <a:spLocks noChangeArrowheads="1"/>
          </p:cNvSpPr>
          <p:nvPr/>
        </p:nvSpPr>
        <p:spPr bwMode="auto">
          <a:xfrm>
            <a:off x="8451581" y="2420888"/>
            <a:ext cx="657385" cy="175912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51CBB2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87" name="AutoShape 280"/>
          <p:cNvSpPr>
            <a:spLocks noChangeArrowheads="1"/>
          </p:cNvSpPr>
          <p:nvPr/>
        </p:nvSpPr>
        <p:spPr bwMode="auto">
          <a:xfrm>
            <a:off x="8476626" y="3655867"/>
            <a:ext cx="657385" cy="175912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51CBB2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89" name="Rectangle 188"/>
          <p:cNvSpPr>
            <a:spLocks noChangeArrowheads="1"/>
          </p:cNvSpPr>
          <p:nvPr/>
        </p:nvSpPr>
        <p:spPr bwMode="auto">
          <a:xfrm>
            <a:off x="8260627" y="3073807"/>
            <a:ext cx="1039296" cy="24317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신고증빙</a:t>
            </a:r>
          </a:p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900">
                <a:latin typeface="+mn-ea"/>
                <a:ea typeface="+mn-ea"/>
              </a:rPr>
              <a:t>자료출력</a:t>
            </a:r>
          </a:p>
        </p:txBody>
      </p:sp>
      <p:pic>
        <p:nvPicPr>
          <p:cNvPr id="132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106" t="12692" r="73787" b="82549"/>
          <a:stretch>
            <a:fillRect/>
          </a:stretch>
        </p:blipFill>
        <p:spPr bwMode="auto">
          <a:xfrm>
            <a:off x="8414916" y="2085606"/>
            <a:ext cx="870473" cy="25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순서도: 자기 디스크 1"/>
          <p:cNvSpPr/>
          <p:nvPr/>
        </p:nvSpPr>
        <p:spPr>
          <a:xfrm>
            <a:off x="560512" y="3112603"/>
            <a:ext cx="1152128" cy="412693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회계 전표</a:t>
            </a:r>
          </a:p>
        </p:txBody>
      </p:sp>
      <p:cxnSp>
        <p:nvCxnSpPr>
          <p:cNvPr id="10" name="직선 화살표 연결선 9"/>
          <p:cNvCxnSpPr>
            <a:stCxn id="124" idx="2"/>
            <a:endCxn id="2" idx="1"/>
          </p:cNvCxnSpPr>
          <p:nvPr/>
        </p:nvCxnSpPr>
        <p:spPr>
          <a:xfrm flipH="1">
            <a:off x="1136576" y="2731779"/>
            <a:ext cx="1" cy="38082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/>
          <p:cNvCxnSpPr>
            <a:stCxn id="117" idx="0"/>
            <a:endCxn id="2" idx="3"/>
          </p:cNvCxnSpPr>
          <p:nvPr/>
        </p:nvCxnSpPr>
        <p:spPr>
          <a:xfrm flipH="1" flipV="1">
            <a:off x="1136576" y="3525296"/>
            <a:ext cx="1" cy="80188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순서도: 자기 디스크 12"/>
          <p:cNvSpPr/>
          <p:nvPr/>
        </p:nvSpPr>
        <p:spPr>
          <a:xfrm>
            <a:off x="3708432" y="2561834"/>
            <a:ext cx="827012" cy="444877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부가세신고</a:t>
            </a:r>
          </a:p>
        </p:txBody>
      </p:sp>
      <p:cxnSp>
        <p:nvCxnSpPr>
          <p:cNvPr id="17" name="꺾인 연결선 16"/>
          <p:cNvCxnSpPr>
            <a:stCxn id="114" idx="0"/>
            <a:endCxn id="13" idx="1"/>
          </p:cNvCxnSpPr>
          <p:nvPr/>
        </p:nvCxnSpPr>
        <p:spPr>
          <a:xfrm rot="16200000" flipH="1">
            <a:off x="3471281" y="1911178"/>
            <a:ext cx="148541" cy="1152771"/>
          </a:xfrm>
          <a:prstGeom prst="bentConnector3">
            <a:avLst>
              <a:gd name="adj1" fmla="val -153897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꺾인 연결선 132"/>
          <p:cNvCxnSpPr>
            <a:stCxn id="112" idx="2"/>
            <a:endCxn id="13" idx="3"/>
          </p:cNvCxnSpPr>
          <p:nvPr/>
        </p:nvCxnSpPr>
        <p:spPr>
          <a:xfrm rot="5400000" flipH="1" flipV="1">
            <a:off x="3509553" y="2466324"/>
            <a:ext cx="71997" cy="1152771"/>
          </a:xfrm>
          <a:prstGeom prst="bentConnector3">
            <a:avLst>
              <a:gd name="adj1" fmla="val -317513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/>
          <p:cNvCxnSpPr>
            <a:stCxn id="13" idx="4"/>
            <a:endCxn id="21" idx="1"/>
          </p:cNvCxnSpPr>
          <p:nvPr/>
        </p:nvCxnSpPr>
        <p:spPr>
          <a:xfrm flipV="1">
            <a:off x="4535444" y="2294169"/>
            <a:ext cx="422680" cy="49010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/>
          <p:cNvCxnSpPr>
            <a:endCxn id="25" idx="1"/>
          </p:cNvCxnSpPr>
          <p:nvPr/>
        </p:nvCxnSpPr>
        <p:spPr>
          <a:xfrm>
            <a:off x="4535444" y="2797855"/>
            <a:ext cx="422680" cy="46186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꺾인 연결선 138"/>
          <p:cNvCxnSpPr>
            <a:stCxn id="21" idx="2"/>
            <a:endCxn id="111" idx="1"/>
          </p:cNvCxnSpPr>
          <p:nvPr/>
        </p:nvCxnSpPr>
        <p:spPr>
          <a:xfrm rot="16200000" flipH="1">
            <a:off x="5502575" y="2505780"/>
            <a:ext cx="368032" cy="240756"/>
          </a:xfrm>
          <a:prstGeom prst="bentConnector2">
            <a:avLst/>
          </a:prstGeom>
          <a:ln w="63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꺾인 연결선 140"/>
          <p:cNvCxnSpPr>
            <a:stCxn id="111" idx="1"/>
            <a:endCxn id="45" idx="0"/>
          </p:cNvCxnSpPr>
          <p:nvPr/>
        </p:nvCxnSpPr>
        <p:spPr>
          <a:xfrm rot="10800000" flipV="1">
            <a:off x="5564161" y="2810174"/>
            <a:ext cx="242808" cy="308462"/>
          </a:xfrm>
          <a:prstGeom prst="bentConnector2">
            <a:avLst/>
          </a:prstGeom>
          <a:ln w="63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꺾인 연결선 143"/>
          <p:cNvCxnSpPr>
            <a:stCxn id="111" idx="3"/>
            <a:endCxn id="103" idx="2"/>
          </p:cNvCxnSpPr>
          <p:nvPr/>
        </p:nvCxnSpPr>
        <p:spPr>
          <a:xfrm flipV="1">
            <a:off x="6920522" y="2403241"/>
            <a:ext cx="238308" cy="40693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꺾인 연결선 146"/>
          <p:cNvCxnSpPr>
            <a:stCxn id="111" idx="3"/>
            <a:endCxn id="68" idx="0"/>
          </p:cNvCxnSpPr>
          <p:nvPr/>
        </p:nvCxnSpPr>
        <p:spPr>
          <a:xfrm>
            <a:off x="6920522" y="2810174"/>
            <a:ext cx="241333" cy="32527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순서도: 자기 디스크 155"/>
          <p:cNvSpPr/>
          <p:nvPr/>
        </p:nvSpPr>
        <p:spPr>
          <a:xfrm>
            <a:off x="3696157" y="3948140"/>
            <a:ext cx="827012" cy="444877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원천세신고</a:t>
            </a:r>
          </a:p>
        </p:txBody>
      </p:sp>
      <p:cxnSp>
        <p:nvCxnSpPr>
          <p:cNvPr id="157" name="꺾인 연결선 156"/>
          <p:cNvCxnSpPr>
            <a:stCxn id="99" idx="0"/>
            <a:endCxn id="156" idx="1"/>
          </p:cNvCxnSpPr>
          <p:nvPr/>
        </p:nvCxnSpPr>
        <p:spPr>
          <a:xfrm rot="16200000" flipH="1">
            <a:off x="3499142" y="3337619"/>
            <a:ext cx="106013" cy="1115028"/>
          </a:xfrm>
          <a:prstGeom prst="bentConnector3">
            <a:avLst>
              <a:gd name="adj1" fmla="val -215634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꺾인 연결선 157"/>
          <p:cNvCxnSpPr>
            <a:stCxn id="97" idx="2"/>
            <a:endCxn id="156" idx="3"/>
          </p:cNvCxnSpPr>
          <p:nvPr/>
        </p:nvCxnSpPr>
        <p:spPr>
          <a:xfrm rot="5400000" flipH="1" flipV="1">
            <a:off x="3480296" y="3907356"/>
            <a:ext cx="143705" cy="1115028"/>
          </a:xfrm>
          <a:prstGeom prst="bentConnector3">
            <a:avLst>
              <a:gd name="adj1" fmla="val -159076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직선 화살표 연결선 162"/>
          <p:cNvCxnSpPr>
            <a:stCxn id="156" idx="4"/>
            <a:endCxn id="76" idx="1"/>
          </p:cNvCxnSpPr>
          <p:nvPr/>
        </p:nvCxnSpPr>
        <p:spPr>
          <a:xfrm flipV="1">
            <a:off x="4523169" y="4163907"/>
            <a:ext cx="429831" cy="667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직선 화살표 연결선 164"/>
          <p:cNvCxnSpPr>
            <a:stCxn id="76" idx="3"/>
            <a:endCxn id="95" idx="1"/>
          </p:cNvCxnSpPr>
          <p:nvPr/>
        </p:nvCxnSpPr>
        <p:spPr>
          <a:xfrm>
            <a:off x="6182865" y="4163907"/>
            <a:ext cx="363645" cy="104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꺾인 연결선 166"/>
          <p:cNvCxnSpPr>
            <a:stCxn id="95" idx="3"/>
            <a:endCxn id="77" idx="1"/>
          </p:cNvCxnSpPr>
          <p:nvPr/>
        </p:nvCxnSpPr>
        <p:spPr>
          <a:xfrm flipV="1">
            <a:off x="7657217" y="3990976"/>
            <a:ext cx="483874" cy="183373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화살표 연결선 169"/>
          <p:cNvCxnSpPr>
            <a:stCxn id="77" idx="2"/>
            <a:endCxn id="80" idx="0"/>
          </p:cNvCxnSpPr>
          <p:nvPr/>
        </p:nvCxnSpPr>
        <p:spPr>
          <a:xfrm flipH="1">
            <a:off x="8747205" y="4139415"/>
            <a:ext cx="5142" cy="16052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3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106" t="12692" r="73787" b="82549"/>
          <a:stretch>
            <a:fillRect/>
          </a:stretch>
        </p:blipFill>
        <p:spPr bwMode="auto">
          <a:xfrm>
            <a:off x="8345036" y="3408642"/>
            <a:ext cx="870473" cy="25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" name="TextBox 171"/>
          <p:cNvSpPr txBox="1"/>
          <p:nvPr/>
        </p:nvSpPr>
        <p:spPr>
          <a:xfrm>
            <a:off x="710080" y="4900283"/>
            <a:ext cx="8792793" cy="13665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>
              <a:lnSpc>
                <a:spcPct val="150000"/>
              </a:lnSpc>
              <a:buClr>
                <a:schemeClr val="accent2"/>
              </a:buClr>
              <a:buFont typeface="Wingdings" pitchFamily="2" charset="2"/>
              <a:buChar char="§"/>
              <a:defRPr/>
            </a:pPr>
            <a:r>
              <a:rPr lang="ko-KR" altLang="en-US" sz="1200">
                <a:latin typeface="나눔고딕" pitchFamily="50" charset="-127"/>
                <a:ea typeface="나눔고딕" pitchFamily="50" charset="-127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부가세 신고 </a:t>
            </a:r>
            <a:r>
              <a:rPr lang="en-US" altLang="ko-KR" sz="1200" b="1">
                <a:solidFill>
                  <a:srgbClr val="000000"/>
                </a:solidFill>
                <a:latin typeface="+mn-ea"/>
              </a:rPr>
              <a:t>-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부가세</a:t>
            </a:r>
            <a:r>
              <a:rPr lang="ko-KR" altLang="ko-KR" sz="1200" b="1">
                <a:solidFill>
                  <a:srgbClr val="000000"/>
                </a:solidFill>
                <a:latin typeface="+mn-ea"/>
              </a:rPr>
              <a:t> 세율의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종류</a:t>
            </a:r>
            <a:r>
              <a:rPr lang="en-US" altLang="ko-KR" sz="1200" b="1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ko-KR" sz="1200" b="1">
                <a:solidFill>
                  <a:srgbClr val="000000"/>
                </a:solidFill>
                <a:latin typeface="+mn-ea"/>
              </a:rPr>
              <a:t>원천세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의</a:t>
            </a:r>
            <a:r>
              <a:rPr lang="ko-KR" altLang="ko-KR" sz="1200" b="1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종류를 코드로 구분하여</a:t>
            </a:r>
            <a:r>
              <a:rPr lang="ko-KR" altLang="ko-KR" sz="1200" b="1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200" b="1" smtClean="0">
                <a:solidFill>
                  <a:srgbClr val="000000"/>
                </a:solidFill>
                <a:latin typeface="+mn-ea"/>
              </a:rPr>
              <a:t>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코드로 관리하며</a:t>
            </a:r>
            <a:r>
              <a:rPr lang="en-US" altLang="ko-KR" sz="1200" b="1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매출 부가세 내역을 확정하고</a:t>
            </a:r>
            <a:r>
              <a:rPr lang="en-US" altLang="ko-KR" sz="1200" b="1">
                <a:solidFill>
                  <a:srgbClr val="000000"/>
                </a:solidFill>
                <a:latin typeface="+mn-ea"/>
              </a:rPr>
              <a:t>, </a:t>
            </a:r>
            <a:r>
              <a:rPr lang="ko-KR" altLang="en-US" sz="1200" b="1" smtClean="0">
                <a:solidFill>
                  <a:srgbClr val="000000"/>
                </a:solidFill>
                <a:latin typeface="+mn-ea"/>
              </a:rPr>
              <a:t>간주</a:t>
            </a:r>
            <a:endParaRPr lang="en-US" altLang="ko-KR" sz="1200" b="1" smtClean="0">
              <a:solidFill>
                <a:srgbClr val="000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2"/>
              </a:buClr>
              <a:defRPr/>
            </a:pPr>
            <a:r>
              <a:rPr lang="ko-KR" altLang="en-US" sz="1200" b="1" smtClean="0">
                <a:solidFill>
                  <a:srgbClr val="000000"/>
                </a:solidFill>
                <a:latin typeface="+mn-ea"/>
              </a:rPr>
              <a:t>                     임대료를 계산하여 매출부가세를 </a:t>
            </a:r>
            <a:r>
              <a:rPr lang="ko-KR" altLang="en-US" sz="1200" b="1">
                <a:solidFill>
                  <a:srgbClr val="000000"/>
                </a:solidFill>
                <a:latin typeface="+mn-ea"/>
              </a:rPr>
              <a:t>확정하고</a:t>
            </a:r>
            <a:r>
              <a:rPr lang="en-US" altLang="ko-KR" sz="1200" b="1">
                <a:solidFill>
                  <a:srgbClr val="000000"/>
                </a:solidFill>
                <a:latin typeface="+mn-ea"/>
              </a:rPr>
              <a:t>,</a:t>
            </a:r>
            <a:r>
              <a:rPr lang="ko-KR" altLang="en-US" sz="1200" b="1">
                <a:latin typeface="+mn-ea"/>
              </a:rPr>
              <a:t>매입 부가세 내역과 고정자산 매입을 확정한 후</a:t>
            </a:r>
            <a:r>
              <a:rPr lang="en-US" altLang="ko-KR" sz="1200" b="1">
                <a:latin typeface="+mn-ea"/>
              </a:rPr>
              <a:t>, </a:t>
            </a:r>
            <a:r>
              <a:rPr lang="ko-KR" altLang="en-US" sz="1200" b="1" smtClean="0">
                <a:latin typeface="+mn-ea"/>
              </a:rPr>
              <a:t>매입 </a:t>
            </a:r>
            <a:r>
              <a:rPr lang="ko-KR" altLang="en-US" sz="1200" b="1">
                <a:latin typeface="+mn-ea"/>
              </a:rPr>
              <a:t>불공제 처리</a:t>
            </a:r>
            <a:r>
              <a:rPr lang="en-US" altLang="ko-KR" sz="1200" b="1" smtClean="0">
                <a:latin typeface="+mn-ea"/>
              </a:rPr>
              <a:t>,</a:t>
            </a:r>
          </a:p>
          <a:p>
            <a:pPr>
              <a:lnSpc>
                <a:spcPct val="150000"/>
              </a:lnSpc>
              <a:buClr>
                <a:schemeClr val="accent2"/>
              </a:buClr>
              <a:defRPr/>
            </a:pPr>
            <a:r>
              <a:rPr lang="en-US" altLang="ko-KR" sz="1200" b="1">
                <a:latin typeface="+mn-ea"/>
              </a:rPr>
              <a:t> </a:t>
            </a:r>
            <a:r>
              <a:rPr lang="en-US" altLang="ko-KR" sz="1200" b="1" smtClean="0">
                <a:latin typeface="+mn-ea"/>
              </a:rPr>
              <a:t>                    </a:t>
            </a:r>
            <a:r>
              <a:rPr lang="ko-KR" altLang="en-US" sz="1200" b="1">
                <a:latin typeface="+mn-ea"/>
              </a:rPr>
              <a:t>공통매입세 안분 등의 과정을 거쳐서 </a:t>
            </a:r>
            <a:r>
              <a:rPr lang="ko-KR" altLang="en-US" sz="1200" b="1" smtClean="0">
                <a:latin typeface="+mn-ea"/>
              </a:rPr>
              <a:t>공제받지못할세액을 </a:t>
            </a:r>
            <a:r>
              <a:rPr lang="ko-KR" altLang="en-US" sz="1200" b="1">
                <a:latin typeface="+mn-ea"/>
              </a:rPr>
              <a:t>확정하여 전자신고 자료를 </a:t>
            </a:r>
            <a:r>
              <a:rPr lang="ko-KR" altLang="en-US" sz="1200" b="1" smtClean="0">
                <a:latin typeface="+mn-ea"/>
              </a:rPr>
              <a:t>작성</a:t>
            </a:r>
            <a:endParaRPr lang="en-US" altLang="ko-KR" sz="1200" b="1">
              <a:latin typeface="+mn-ea"/>
            </a:endParaRPr>
          </a:p>
          <a:p>
            <a:pPr marL="92075" indent="-92075">
              <a:lnSpc>
                <a:spcPct val="140000"/>
              </a:lnSpc>
              <a:buClr>
                <a:schemeClr val="accent2"/>
              </a:buClr>
              <a:buFont typeface="Wingdings" pitchFamily="2" charset="2"/>
              <a:buChar char="§"/>
              <a:defRPr/>
            </a:pPr>
            <a:r>
              <a:rPr lang="ko-KR" altLang="en-US" sz="1200" b="1">
                <a:latin typeface="+mn-ea"/>
              </a:rPr>
              <a:t>원천세 신고 </a:t>
            </a:r>
            <a:r>
              <a:rPr lang="en-US" altLang="ko-KR" sz="1200" b="1">
                <a:latin typeface="+mn-ea"/>
              </a:rPr>
              <a:t>- </a:t>
            </a:r>
            <a:r>
              <a:rPr lang="ko-KR" altLang="en-US" sz="1200" b="1">
                <a:latin typeface="+mn-ea"/>
              </a:rPr>
              <a:t>원천세</a:t>
            </a:r>
            <a:r>
              <a:rPr lang="en-US" altLang="ko-KR" sz="1200" b="1">
                <a:latin typeface="+mn-ea"/>
              </a:rPr>
              <a:t>(</a:t>
            </a:r>
            <a:r>
              <a:rPr lang="ko-KR" altLang="en-US" sz="1200" b="1">
                <a:latin typeface="+mn-ea"/>
              </a:rPr>
              <a:t>소득세</a:t>
            </a:r>
            <a:r>
              <a:rPr lang="en-US" altLang="ko-KR" sz="1200" b="1">
                <a:latin typeface="+mn-ea"/>
              </a:rPr>
              <a:t>, </a:t>
            </a:r>
            <a:r>
              <a:rPr lang="ko-KR" altLang="en-US" sz="1200" b="1">
                <a:latin typeface="+mn-ea"/>
              </a:rPr>
              <a:t>퇴직소득세</a:t>
            </a:r>
            <a:r>
              <a:rPr lang="en-US" altLang="ko-KR" sz="1200" b="1">
                <a:latin typeface="+mn-ea"/>
              </a:rPr>
              <a:t>, </a:t>
            </a:r>
            <a:r>
              <a:rPr lang="ko-KR" altLang="en-US" sz="1200" b="1">
                <a:latin typeface="+mn-ea"/>
              </a:rPr>
              <a:t>기타소득세</a:t>
            </a:r>
            <a:r>
              <a:rPr lang="en-US" altLang="ko-KR" sz="1200" b="1">
                <a:latin typeface="+mn-ea"/>
              </a:rPr>
              <a:t>(3%,4%) </a:t>
            </a:r>
            <a:r>
              <a:rPr lang="ko-KR" altLang="en-US" sz="1200" b="1">
                <a:latin typeface="+mn-ea"/>
              </a:rPr>
              <a:t>내역을 </a:t>
            </a:r>
            <a:r>
              <a:rPr lang="en-US" altLang="ko-KR" sz="1200" b="1" smtClean="0">
                <a:latin typeface="+mn-ea"/>
              </a:rPr>
              <a:t> </a:t>
            </a:r>
            <a:r>
              <a:rPr lang="ko-KR" altLang="en-US" sz="1200" b="1">
                <a:latin typeface="+mn-ea"/>
              </a:rPr>
              <a:t>확인하고 전자신고자료를 </a:t>
            </a:r>
            <a:r>
              <a:rPr lang="ko-KR" altLang="en-US" sz="1200" b="1" smtClean="0">
                <a:latin typeface="+mn-ea"/>
              </a:rPr>
              <a:t>작성</a:t>
            </a:r>
            <a:endParaRPr lang="en-US" altLang="ko-KR" sz="1200" b="1">
              <a:latin typeface="+mn-ea"/>
            </a:endParaRPr>
          </a:p>
          <a:p>
            <a:endParaRPr lang="ko-KR" altLang="en-US" sz="1200" b="1" dirty="0" err="1" smtClean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4307273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2.4.2.5 </a:t>
            </a:r>
            <a:r>
              <a:rPr lang="ko-KR" altLang="en-US" sz="1800" smtClean="0"/>
              <a:t>세무 전자신고관리 체제 구축</a:t>
            </a:r>
            <a:r>
              <a:rPr lang="en-US" altLang="ko-KR" sz="1800" smtClean="0"/>
              <a:t>(2/2)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7898"/>
            <a:ext cx="9174167" cy="5468927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4" y="1650531"/>
              <a:ext cx="9174166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부가세 및 원천세 전자 신고 필요 기능 목록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81" name="표 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587400"/>
              </p:ext>
            </p:extLst>
          </p:nvPr>
        </p:nvGraphicFramePr>
        <p:xfrm>
          <a:off x="488503" y="1345231"/>
          <a:ext cx="4248473" cy="48920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56185"/>
                <a:gridCol w="2592288"/>
              </a:tblGrid>
              <a:tr h="2500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11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 목록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203760">
                <a:tc rowSpan="7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신고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매출신고 자료 작성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100" smtClean="0">
                          <a:latin typeface="+mn-ea"/>
                          <a:ea typeface="+mn-ea"/>
                        </a:rPr>
                        <a:t>간주임대료 작성</a:t>
                      </a:r>
                      <a:endParaRPr lang="ko-KR" altLang="en-US" sz="11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 예정신고 누락분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대손세액계산 등 신고작성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영세율 매출 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명세서 작성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endParaRPr lang="ko-KR" altLang="en-US" sz="1000"/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예정신고 누락분 명세 생성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/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매출처별 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 합계표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rowSpan="7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신고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매입신고 자료 작성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공통매입세액 안분 계산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공제받지 못할 매입세액 총괄표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예정신고 누락분 명세 생성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그 밖의 공제매입세액 총괄표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그 밖의 경감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공제세액 명세  작성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가산세 내역 작성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rowSpan="7"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신고자료 현황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부동산임대공급가액 명세서</a:t>
                      </a:r>
                      <a:endParaRPr lang="ko-KR" altLang="en-US" sz="11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매입처별 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 합계표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매입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매출 상세내역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건물등상각자산취득명세서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3064">
                <a:tc vMerge="1">
                  <a:txBody>
                    <a:bodyPr/>
                    <a:lstStyle/>
                    <a:p>
                      <a:pPr algn="l" fontAlgn="ctr"/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법인카드매출전표등 수령금액 합계표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갑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법인카드 매출전표 수취명세서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일반과세자 부가가치세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76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전자신고자료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전자신고자료 생성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82" name="표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199856"/>
              </p:ext>
            </p:extLst>
          </p:nvPr>
        </p:nvGraphicFramePr>
        <p:xfrm>
          <a:off x="4983790" y="1345230"/>
          <a:ext cx="4248473" cy="48920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56185"/>
                <a:gridCol w="2592288"/>
              </a:tblGrid>
              <a:tr h="25580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11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 목록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208471">
                <a:tc rowSpan="12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원천세 관리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근로소득 원천징수 조회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퇴직소득 원천징수 조회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사업소득 원천징수 조회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원천징수이행 상황 신고서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원천징수이행 상황 신고서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부표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endParaRPr lang="ko-KR" altLang="en-US" sz="1000"/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지급조서 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/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기타소득자 입력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기타소득자 조회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원천징수영수증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원천세 신고자료 작성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기타소득 지급명세서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사업소득 지급명세서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833884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법인세 기초 자료 제공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기부금명세서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837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세금공과금명세서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rowSpan="4"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전자세금계산서 관리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전자세금계산서 매입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전자세금계산서 매출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계산서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847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결의서 세무정보 현황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787643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2.4.2.6 </a:t>
            </a:r>
            <a:r>
              <a:rPr lang="ko-KR" altLang="en-US" sz="1800" smtClean="0"/>
              <a:t>결산 처리 자동화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27894"/>
            <a:ext cx="9174167" cy="4718931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결산처리 자동화 및 결산 자료 제공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>
              <a:spcBef>
                <a:spcPct val="0"/>
              </a:spcBef>
              <a:buClr>
                <a:schemeClr val="accent2"/>
              </a:buClr>
            </a:pPr>
            <a:r>
              <a:rPr lang="ko-KR" altLang="en-US"/>
              <a:t>결산 계정과목 대체</a:t>
            </a:r>
            <a:r>
              <a:rPr lang="en-US" altLang="ko-KR"/>
              <a:t>, </a:t>
            </a:r>
            <a:r>
              <a:rPr lang="ko-KR" altLang="en-US" smtClean="0"/>
              <a:t>선급비용 등 기간 </a:t>
            </a:r>
            <a:r>
              <a:rPr lang="ko-KR" altLang="en-US"/>
              <a:t>일수계산에 의한 </a:t>
            </a:r>
            <a:r>
              <a:rPr lang="ko-KR" altLang="en-US" smtClean="0"/>
              <a:t>결산 처리</a:t>
            </a:r>
            <a:r>
              <a:rPr lang="en-US" altLang="ko-KR" smtClean="0"/>
              <a:t>, </a:t>
            </a:r>
            <a:r>
              <a:rPr lang="ko-KR" altLang="en-US"/>
              <a:t>유동성 대체분개</a:t>
            </a:r>
            <a:r>
              <a:rPr lang="en-US" altLang="ko-KR"/>
              <a:t>, </a:t>
            </a:r>
            <a:r>
              <a:rPr lang="ko-KR" altLang="en-US"/>
              <a:t>대손충당금 설정 및 대손처리</a:t>
            </a:r>
            <a:r>
              <a:rPr lang="en-US" altLang="ko-KR"/>
              <a:t>, </a:t>
            </a:r>
            <a:r>
              <a:rPr lang="ko-KR" altLang="en-US" smtClean="0"/>
              <a:t>미수수익 계산</a:t>
            </a:r>
            <a:r>
              <a:rPr lang="en-US" altLang="ko-KR" smtClean="0"/>
              <a:t>, </a:t>
            </a:r>
            <a:r>
              <a:rPr lang="ko-KR" altLang="en-US" smtClean="0"/>
              <a:t>선수수익 정산 </a:t>
            </a:r>
            <a:r>
              <a:rPr lang="ko-KR" altLang="en-US"/>
              <a:t>등의 결산용 처리작업을 자동화하여 결산기간을 </a:t>
            </a:r>
            <a:r>
              <a:rPr lang="ko-KR" altLang="en-US" smtClean="0"/>
              <a:t>단축하고</a:t>
            </a:r>
            <a:r>
              <a:rPr lang="en-US" altLang="ko-KR" smtClean="0"/>
              <a:t>, </a:t>
            </a:r>
            <a:r>
              <a:rPr lang="ko-KR" altLang="en-US" smtClean="0"/>
              <a:t>재무제표 및 결산 주석을 조회</a:t>
            </a:r>
            <a:r>
              <a:rPr lang="en-US" altLang="ko-KR" smtClean="0"/>
              <a:t>/</a:t>
            </a:r>
            <a:r>
              <a:rPr lang="ko-KR" altLang="en-US" smtClean="0"/>
              <a:t>출력하는 시스템을 구축</a:t>
            </a:r>
            <a:endParaRPr lang="en-US" altLang="ko-KR"/>
          </a:p>
        </p:txBody>
      </p:sp>
      <p:pic>
        <p:nvPicPr>
          <p:cNvPr id="88" name="Picture 87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512" y="2119097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" name="Picture 88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512" y="2709380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89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80849" y="2119097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90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80849" y="2709380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91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2677" y="2119097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0" name="Picture 92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2677" y="2709380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93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2305" y="2119097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" name="Picture 94" descr="제목바14"/>
          <p:cNvPicPr>
            <a:picLocks noChangeAspect="1" noChangeArrowheads="1"/>
          </p:cNvPicPr>
          <p:nvPr/>
        </p:nvPicPr>
        <p:blipFill>
          <a:blip r:embed="rId2">
            <a:lum brigh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2305" y="2709380"/>
            <a:ext cx="950655" cy="580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" name="Rectangle 103"/>
          <p:cNvSpPr>
            <a:spLocks noChangeArrowheads="1"/>
          </p:cNvSpPr>
          <p:nvPr/>
        </p:nvSpPr>
        <p:spPr bwMode="auto">
          <a:xfrm>
            <a:off x="595140" y="2196675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latin typeface="+mn-ea"/>
                <a:ea typeface="+mn-ea"/>
              </a:rPr>
              <a:t>선급비용계산</a:t>
            </a:r>
          </a:p>
        </p:txBody>
      </p:sp>
      <p:sp>
        <p:nvSpPr>
          <p:cNvPr id="107" name="Rectangle 104"/>
          <p:cNvSpPr>
            <a:spLocks noChangeArrowheads="1"/>
          </p:cNvSpPr>
          <p:nvPr/>
        </p:nvSpPr>
        <p:spPr bwMode="auto">
          <a:xfrm>
            <a:off x="1647315" y="2194912"/>
            <a:ext cx="840937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latin typeface="+mn-ea"/>
                <a:ea typeface="+mn-ea"/>
              </a:rPr>
              <a:t>유동성 대체</a:t>
            </a:r>
          </a:p>
        </p:txBody>
      </p:sp>
      <p:sp>
        <p:nvSpPr>
          <p:cNvPr id="108" name="Rectangle 105"/>
          <p:cNvSpPr>
            <a:spLocks noChangeArrowheads="1"/>
          </p:cNvSpPr>
          <p:nvPr/>
        </p:nvSpPr>
        <p:spPr bwMode="auto">
          <a:xfrm>
            <a:off x="2683196" y="2196675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latin typeface="+mn-ea"/>
                <a:ea typeface="+mn-ea"/>
              </a:rPr>
              <a:t>특정계정대체</a:t>
            </a:r>
          </a:p>
        </p:txBody>
      </p:sp>
      <p:sp>
        <p:nvSpPr>
          <p:cNvPr id="109" name="Rectangle 106"/>
          <p:cNvSpPr>
            <a:spLocks noChangeArrowheads="1"/>
          </p:cNvSpPr>
          <p:nvPr/>
        </p:nvSpPr>
        <p:spPr bwMode="auto">
          <a:xfrm>
            <a:off x="3728291" y="2194912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>
                <a:latin typeface="+mn-ea"/>
                <a:ea typeface="+mn-ea"/>
              </a:rPr>
              <a:t>미수수익계산</a:t>
            </a:r>
          </a:p>
        </p:txBody>
      </p:sp>
      <p:sp>
        <p:nvSpPr>
          <p:cNvPr id="116" name="Rectangle 107"/>
          <p:cNvSpPr>
            <a:spLocks noChangeArrowheads="1"/>
          </p:cNvSpPr>
          <p:nvPr/>
        </p:nvSpPr>
        <p:spPr bwMode="auto">
          <a:xfrm>
            <a:off x="638690" y="2776749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 smtClean="0">
                <a:latin typeface="+mn-ea"/>
                <a:ea typeface="+mn-ea"/>
              </a:rPr>
              <a:t>선수수익 정산</a:t>
            </a: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118" name="Rectangle 108"/>
          <p:cNvSpPr>
            <a:spLocks noChangeArrowheads="1"/>
          </p:cNvSpPr>
          <p:nvPr/>
        </p:nvSpPr>
        <p:spPr bwMode="auto">
          <a:xfrm>
            <a:off x="1647315" y="2774986"/>
            <a:ext cx="840937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 smtClean="0">
                <a:latin typeface="+mn-ea"/>
                <a:ea typeface="+mn-ea"/>
              </a:rPr>
              <a:t>충당금 설정</a:t>
            </a: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119" name="Rectangle 109"/>
          <p:cNvSpPr>
            <a:spLocks noChangeArrowheads="1"/>
          </p:cNvSpPr>
          <p:nvPr/>
        </p:nvSpPr>
        <p:spPr bwMode="auto">
          <a:xfrm>
            <a:off x="2683196" y="2776749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 smtClean="0">
                <a:latin typeface="+mn-ea"/>
                <a:ea typeface="+mn-ea"/>
              </a:rPr>
              <a:t>대손 상각 처리</a:t>
            </a: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120" name="Rectangle 110"/>
          <p:cNvSpPr>
            <a:spLocks noChangeArrowheads="1"/>
          </p:cNvSpPr>
          <p:nvPr/>
        </p:nvSpPr>
        <p:spPr bwMode="auto">
          <a:xfrm>
            <a:off x="3728291" y="2774986"/>
            <a:ext cx="838861" cy="4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12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9pPr>
          </a:lstStyle>
          <a:p>
            <a:pPr algn="ctr"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000" smtClean="0">
                <a:latin typeface="+mn-ea"/>
                <a:ea typeface="+mn-ea"/>
              </a:rPr>
              <a:t>감가상각</a:t>
            </a:r>
            <a:endParaRPr lang="ko-KR" altLang="en-US" sz="1000">
              <a:latin typeface="+mn-ea"/>
              <a:ea typeface="+mn-ea"/>
            </a:endParaRPr>
          </a:p>
        </p:txBody>
      </p:sp>
      <p:sp>
        <p:nvSpPr>
          <p:cNvPr id="6" name="순서도: 자기 디스크 5"/>
          <p:cNvSpPr/>
          <p:nvPr/>
        </p:nvSpPr>
        <p:spPr>
          <a:xfrm>
            <a:off x="5670936" y="2330759"/>
            <a:ext cx="1551919" cy="802040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1200" b="1" smtClean="0">
                <a:solidFill>
                  <a:schemeClr val="tx1"/>
                </a:solidFill>
              </a:rPr>
              <a:t>결산전표 자동생성</a:t>
            </a:r>
          </a:p>
        </p:txBody>
      </p:sp>
      <p:sp>
        <p:nvSpPr>
          <p:cNvPr id="7" name="줄무늬가 있는 오른쪽 화살표 6"/>
          <p:cNvSpPr/>
          <p:nvPr/>
        </p:nvSpPr>
        <p:spPr>
          <a:xfrm>
            <a:off x="4976779" y="2441992"/>
            <a:ext cx="624293" cy="534775"/>
          </a:xfrm>
          <a:prstGeom prst="stripedRightArrow">
            <a:avLst/>
          </a:prstGeom>
          <a:gradFill flip="none" rotWithShape="1">
            <a:gsLst>
              <a:gs pos="0">
                <a:schemeClr val="accent2">
                  <a:lumMod val="75000"/>
                  <a:tint val="66000"/>
                  <a:satMod val="160000"/>
                </a:schemeClr>
              </a:gs>
              <a:gs pos="50000">
                <a:schemeClr val="accent2">
                  <a:lumMod val="75000"/>
                  <a:tint val="44500"/>
                  <a:satMod val="160000"/>
                </a:schemeClr>
              </a:gs>
              <a:gs pos="100000">
                <a:schemeClr val="accent2">
                  <a:lumMod val="75000"/>
                  <a:tint val="23500"/>
                  <a:satMod val="160000"/>
                </a:schemeClr>
              </a:gs>
            </a:gsLst>
            <a:lin ang="10800000" scaled="1"/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9" name="꺾인 연결선 8"/>
          <p:cNvCxnSpPr>
            <a:stCxn id="6" idx="3"/>
            <a:endCxn id="11" idx="0"/>
          </p:cNvCxnSpPr>
          <p:nvPr/>
        </p:nvCxnSpPr>
        <p:spPr>
          <a:xfrm rot="5400000">
            <a:off x="3634974" y="1493189"/>
            <a:ext cx="1172312" cy="4451532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순서도: 다중 문서 10"/>
          <p:cNvSpPr/>
          <p:nvPr/>
        </p:nvSpPr>
        <p:spPr>
          <a:xfrm>
            <a:off x="848543" y="4305111"/>
            <a:ext cx="2016225" cy="1140113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결산 재무제표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121" name="순서도: 다중 문서 120"/>
          <p:cNvSpPr/>
          <p:nvPr/>
        </p:nvSpPr>
        <p:spPr>
          <a:xfrm>
            <a:off x="5302662" y="4358853"/>
            <a:ext cx="2016225" cy="1140113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결산 주석</a:t>
            </a:r>
            <a:r>
              <a:rPr lang="en-US" altLang="ko-KR" sz="900" smtClean="0">
                <a:solidFill>
                  <a:schemeClr val="tx1"/>
                </a:solidFill>
              </a:rPr>
              <a:t>(100</a:t>
            </a:r>
            <a:r>
              <a:rPr lang="ko-KR" altLang="en-US" sz="900" smtClean="0">
                <a:solidFill>
                  <a:schemeClr val="tx1"/>
                </a:solidFill>
              </a:rPr>
              <a:t>본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3224808" y="4303370"/>
            <a:ext cx="1579293" cy="1512168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1000" b="1" u="sng" smtClean="0">
                <a:solidFill>
                  <a:schemeClr val="tx1"/>
                </a:solidFill>
              </a:rPr>
              <a:t>주석 기초자료 입력</a:t>
            </a:r>
            <a:endParaRPr lang="en-US" altLang="ko-KR" sz="1000" b="1" u="sng" smtClean="0">
              <a:solidFill>
                <a:schemeClr val="tx1"/>
              </a:solidFill>
            </a:endParaRP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예금종류 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사용제한 예금 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채권 분류 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채권 연령 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대손충당금 변동등록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정부보조금 수익내역 등록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확정급여 현재가치변동</a:t>
            </a:r>
          </a:p>
          <a:p>
            <a:r>
              <a:rPr lang="ko-KR" altLang="en-US" sz="1000" kern="0">
                <a:solidFill>
                  <a:schemeClr val="tx1"/>
                </a:solidFill>
                <a:latin typeface="+mn-ea"/>
              </a:rPr>
              <a:t>계정별 주석 상세내역</a:t>
            </a:r>
          </a:p>
        </p:txBody>
      </p:sp>
      <p:sp>
        <p:nvSpPr>
          <p:cNvPr id="27" name="오른쪽 화살표 26"/>
          <p:cNvSpPr/>
          <p:nvPr/>
        </p:nvSpPr>
        <p:spPr>
          <a:xfrm>
            <a:off x="4880992" y="4654277"/>
            <a:ext cx="288032" cy="503511"/>
          </a:xfrm>
          <a:prstGeom prst="right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29" name="꺾인 연결선 28"/>
          <p:cNvCxnSpPr>
            <a:stCxn id="6" idx="3"/>
            <a:endCxn id="19" idx="0"/>
          </p:cNvCxnSpPr>
          <p:nvPr/>
        </p:nvCxnSpPr>
        <p:spPr>
          <a:xfrm rot="5400000">
            <a:off x="4645391" y="2501864"/>
            <a:ext cx="1170571" cy="243244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/>
          <p:cNvCxnSpPr>
            <a:stCxn id="6" idx="3"/>
            <a:endCxn id="121" idx="0"/>
          </p:cNvCxnSpPr>
          <p:nvPr/>
        </p:nvCxnSpPr>
        <p:spPr>
          <a:xfrm>
            <a:off x="6446896" y="3132799"/>
            <a:ext cx="2587" cy="1226054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/>
          <p:cNvSpPr/>
          <p:nvPr/>
        </p:nvSpPr>
        <p:spPr>
          <a:xfrm>
            <a:off x="7380724" y="1886010"/>
            <a:ext cx="2160240" cy="46628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900"/>
              <a:t>연결대상 종속기업 내역</a:t>
            </a:r>
          </a:p>
          <a:p>
            <a:r>
              <a:rPr lang="ko-KR" altLang="en-US" sz="900"/>
              <a:t>종속기업 요약 재무정보</a:t>
            </a:r>
          </a:p>
          <a:p>
            <a:r>
              <a:rPr lang="ko-KR" altLang="en-US" sz="900"/>
              <a:t>에너지 특별회계 적용 영향</a:t>
            </a:r>
          </a:p>
          <a:p>
            <a:r>
              <a:rPr lang="ko-KR" altLang="en-US" sz="900"/>
              <a:t>유형자산 감가상각</a:t>
            </a:r>
          </a:p>
          <a:p>
            <a:r>
              <a:rPr lang="ko-KR" altLang="en-US" sz="900"/>
              <a:t>무형자산 감가상각</a:t>
            </a:r>
          </a:p>
          <a:p>
            <a:r>
              <a:rPr lang="ko-KR" altLang="en-US" sz="900"/>
              <a:t>IFRS 도입년도 영향(기초)</a:t>
            </a:r>
          </a:p>
          <a:p>
            <a:r>
              <a:rPr lang="ko-KR" altLang="en-US" sz="900"/>
              <a:t>IFRS 도입년도 영향(기말)</a:t>
            </a:r>
          </a:p>
          <a:p>
            <a:r>
              <a:rPr lang="ko-KR" altLang="en-US" sz="900"/>
              <a:t>IFRS 도입 회계 변동내역</a:t>
            </a:r>
          </a:p>
          <a:p>
            <a:r>
              <a:rPr lang="ko-KR" altLang="en-US" sz="900"/>
              <a:t>IFRS 도입 연결범위 변동</a:t>
            </a:r>
          </a:p>
          <a:p>
            <a:r>
              <a:rPr lang="ko-KR" altLang="en-US" sz="900"/>
              <a:t>구분단위 당기손익 현항</a:t>
            </a:r>
          </a:p>
          <a:p>
            <a:r>
              <a:rPr lang="ko-KR" altLang="en-US" sz="900"/>
              <a:t>구분단위 자산 및 부채현황</a:t>
            </a:r>
          </a:p>
          <a:p>
            <a:r>
              <a:rPr lang="ko-KR" altLang="en-US" sz="900"/>
              <a:t>구분단위 당기손익</a:t>
            </a:r>
          </a:p>
          <a:p>
            <a:r>
              <a:rPr lang="ko-KR" altLang="en-US" sz="900"/>
              <a:t>사용제한 현금및현금성자산</a:t>
            </a:r>
          </a:p>
          <a:p>
            <a:r>
              <a:rPr lang="ko-KR" altLang="en-US" sz="900"/>
              <a:t>매출채권 및 기타 채권내역</a:t>
            </a:r>
          </a:p>
          <a:p>
            <a:r>
              <a:rPr lang="ko-KR" altLang="en-US" sz="900"/>
              <a:t>미수금 연령분석 내역</a:t>
            </a:r>
          </a:p>
          <a:p>
            <a:r>
              <a:rPr lang="ko-KR" altLang="en-US" sz="900"/>
              <a:t>기타채권 연령분석 내역</a:t>
            </a:r>
          </a:p>
          <a:p>
            <a:r>
              <a:rPr lang="ko-KR" altLang="en-US" sz="900"/>
              <a:t>채권 대손충당금 변동내역</a:t>
            </a:r>
          </a:p>
          <a:p>
            <a:r>
              <a:rPr lang="ko-KR" altLang="en-US" sz="900"/>
              <a:t>매도가능 금융자산 내역</a:t>
            </a:r>
          </a:p>
          <a:p>
            <a:r>
              <a:rPr lang="ko-KR" altLang="en-US" sz="900"/>
              <a:t>장 / 단기 대여금 내역</a:t>
            </a:r>
          </a:p>
          <a:p>
            <a:r>
              <a:rPr lang="ko-KR" altLang="en-US" sz="900"/>
              <a:t>금융상품 보유 내역</a:t>
            </a:r>
          </a:p>
          <a:p>
            <a:r>
              <a:rPr lang="ko-KR" altLang="en-US" sz="900"/>
              <a:t>기타금융자산 내역</a:t>
            </a:r>
          </a:p>
          <a:p>
            <a:r>
              <a:rPr lang="ko-KR" altLang="en-US" sz="900"/>
              <a:t>재고자산 내역</a:t>
            </a:r>
          </a:p>
          <a:p>
            <a:r>
              <a:rPr lang="ko-KR" altLang="en-US" sz="900"/>
              <a:t>비금융자산 내역</a:t>
            </a:r>
          </a:p>
          <a:p>
            <a:r>
              <a:rPr lang="ko-KR" altLang="en-US" sz="900"/>
              <a:t>기타 비금융자산 내역</a:t>
            </a:r>
          </a:p>
          <a:p>
            <a:r>
              <a:rPr lang="ko-KR" altLang="en-US" sz="900"/>
              <a:t>관계기업/공동기업 투자지분 내역</a:t>
            </a:r>
          </a:p>
          <a:p>
            <a:r>
              <a:rPr lang="ko-KR" altLang="en-US" sz="900"/>
              <a:t>관계기업/공동기업 투자지분 공정가치</a:t>
            </a:r>
          </a:p>
          <a:p>
            <a:r>
              <a:rPr lang="ko-KR" altLang="en-US" sz="900"/>
              <a:t>투자지분 기중 변동내역</a:t>
            </a:r>
          </a:p>
          <a:p>
            <a:r>
              <a:rPr lang="ko-KR" altLang="en-US" sz="900"/>
              <a:t>관계기업/공동기업 요약 재무정보</a:t>
            </a:r>
          </a:p>
          <a:p>
            <a:r>
              <a:rPr lang="ko-KR" altLang="en-US" sz="900"/>
              <a:t>유형자산 장부금액 구성내역</a:t>
            </a:r>
          </a:p>
          <a:p>
            <a:r>
              <a:rPr lang="ko-KR" altLang="en-US" sz="900"/>
              <a:t>유형자산 장부금액 변동내역</a:t>
            </a:r>
          </a:p>
          <a:p>
            <a:r>
              <a:rPr lang="ko-KR" altLang="en-US" sz="900"/>
              <a:t>유형자산 보험가입 내역</a:t>
            </a:r>
          </a:p>
          <a:p>
            <a:r>
              <a:rPr lang="ko-KR" altLang="en-US" sz="900"/>
              <a:t>영업권 외 무형자산 </a:t>
            </a:r>
            <a:r>
              <a:rPr lang="ko-KR" altLang="en-US" sz="900" smtClean="0"/>
              <a:t>구성내역</a:t>
            </a:r>
            <a:endParaRPr lang="ko-KR" altLang="en-US" sz="900"/>
          </a:p>
        </p:txBody>
      </p:sp>
    </p:spTree>
    <p:extLst>
      <p:ext uri="{BB962C8B-B14F-4D97-AF65-F5344CB8AC3E}">
        <p14:creationId xmlns:p14="http://schemas.microsoft.com/office/powerpoint/2010/main" val="381206367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2.4 </a:t>
            </a:r>
            <a:r>
              <a:rPr lang="ko-KR" altLang="en-US" smtClean="0"/>
              <a:t>회계</a:t>
            </a:r>
            <a:r>
              <a:rPr lang="ko-KR" altLang="en-US" smtClean="0">
                <a:solidFill>
                  <a:schemeClr val="tx1"/>
                </a:solidFill>
              </a:rPr>
              <a:t>관리 개선 및 업무 효율화</a:t>
            </a:r>
            <a:r>
              <a:rPr lang="en-US" altLang="ko-KR" sz="1800" smtClean="0">
                <a:solidFill>
                  <a:srgbClr val="00437A"/>
                </a:solidFill>
              </a:rPr>
              <a:t/>
            </a:r>
            <a:br>
              <a:rPr lang="en-US" altLang="ko-KR" sz="1800" smtClean="0">
                <a:solidFill>
                  <a:srgbClr val="00437A"/>
                </a:solidFill>
              </a:rPr>
            </a:br>
            <a:r>
              <a:rPr lang="en-US" altLang="ko-KR" sz="1800" smtClean="0"/>
              <a:t>2.4.2.7 2022</a:t>
            </a:r>
            <a:r>
              <a:rPr lang="ko-KR" altLang="en-US" sz="1800" smtClean="0"/>
              <a:t>년</a:t>
            </a:r>
            <a:r>
              <a:rPr lang="en-US" altLang="ko-KR" sz="1800" smtClean="0"/>
              <a:t>,2023</a:t>
            </a:r>
            <a:r>
              <a:rPr lang="ko-KR" altLang="en-US" sz="1800" smtClean="0"/>
              <a:t>년 결산자료의 시스템 반영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2.4 </a:t>
            </a:r>
            <a:r>
              <a:rPr lang="ko-KR" altLang="en-US" smtClean="0"/>
              <a:t>회계관리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627894"/>
            <a:ext cx="9174167" cy="4718931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2022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년</a:t>
              </a: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, 2023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년 결산자료의 시스템 반영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7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>
              <a:spcBef>
                <a:spcPct val="0"/>
              </a:spcBef>
              <a:buClr>
                <a:schemeClr val="accent2"/>
              </a:buClr>
            </a:pPr>
            <a:r>
              <a:rPr lang="en-US" altLang="ko-KR" smtClean="0"/>
              <a:t>2022</a:t>
            </a:r>
            <a:r>
              <a:rPr lang="ko-KR" altLang="en-US" smtClean="0"/>
              <a:t>년도와 </a:t>
            </a:r>
            <a:r>
              <a:rPr lang="en-US" altLang="ko-KR" smtClean="0"/>
              <a:t>2023</a:t>
            </a:r>
            <a:r>
              <a:rPr lang="ko-KR" altLang="en-US" smtClean="0"/>
              <a:t>년도의 결산자료를 현 시스템에 처리하여 </a:t>
            </a:r>
            <a:r>
              <a:rPr lang="en-US" altLang="ko-KR" smtClean="0"/>
              <a:t>2022</a:t>
            </a:r>
            <a:r>
              <a:rPr lang="ko-KR" altLang="en-US" smtClean="0"/>
              <a:t>년도 결산자료 현행화</a:t>
            </a:r>
            <a:r>
              <a:rPr lang="en-US" altLang="ko-KR" smtClean="0"/>
              <a:t>, 2023</a:t>
            </a:r>
            <a:r>
              <a:rPr lang="ko-KR" altLang="en-US" smtClean="0"/>
              <a:t>년도 기초 이월 확인</a:t>
            </a:r>
            <a:r>
              <a:rPr lang="en-US" altLang="ko-KR" smtClean="0"/>
              <a:t>, 2023</a:t>
            </a:r>
            <a:r>
              <a:rPr lang="ko-KR" altLang="en-US" smtClean="0"/>
              <a:t>년도 결산자료 처리 및 재무제표 현행화</a:t>
            </a:r>
            <a:r>
              <a:rPr lang="en-US" altLang="ko-KR" smtClean="0"/>
              <a:t>, 2024</a:t>
            </a:r>
            <a:r>
              <a:rPr lang="ko-KR" altLang="en-US" smtClean="0"/>
              <a:t>년 기초 이월 확인 작업을 순차적으로 수행하여 </a:t>
            </a:r>
            <a:r>
              <a:rPr lang="en-US" altLang="ko-KR" smtClean="0"/>
              <a:t>2024</a:t>
            </a:r>
            <a:r>
              <a:rPr lang="ko-KR" altLang="en-US" smtClean="0"/>
              <a:t>년도 결산을 시스템에서 수행가능하도록 함 </a:t>
            </a:r>
            <a:endParaRPr lang="en-US" altLang="ko-KR"/>
          </a:p>
        </p:txBody>
      </p:sp>
      <p:sp>
        <p:nvSpPr>
          <p:cNvPr id="2" name="한쪽 모서리는 잘리고 다른 쪽 모서리는 둥근 사각형 1"/>
          <p:cNvSpPr/>
          <p:nvPr/>
        </p:nvSpPr>
        <p:spPr>
          <a:xfrm>
            <a:off x="2419266" y="2152029"/>
            <a:ext cx="6912768" cy="988939"/>
          </a:xfrm>
          <a:prstGeom prst="snip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en-US" altLang="ko-KR" sz="1100" smtClean="0">
                <a:solidFill>
                  <a:schemeClr val="tx1"/>
                </a:solidFill>
              </a:rPr>
              <a:t>1) 2022</a:t>
            </a:r>
            <a:r>
              <a:rPr lang="ko-KR" altLang="en-US" sz="1100" smtClean="0">
                <a:solidFill>
                  <a:schemeClr val="tx1"/>
                </a:solidFill>
              </a:rPr>
              <a:t>년도에 전표로 처리되지 않은 결의서의 전표 확정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2) 2022</a:t>
            </a:r>
            <a:r>
              <a:rPr lang="ko-KR" altLang="en-US" sz="1100" smtClean="0">
                <a:solidFill>
                  <a:schemeClr val="tx1"/>
                </a:solidFill>
              </a:rPr>
              <a:t>년도 결산서와 비교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3) </a:t>
            </a:r>
            <a:r>
              <a:rPr lang="ko-KR" altLang="en-US" sz="1100" smtClean="0">
                <a:solidFill>
                  <a:schemeClr val="tx1"/>
                </a:solidFill>
              </a:rPr>
              <a:t>계정별 차액에 대한 전표 처리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4) </a:t>
            </a:r>
            <a:r>
              <a:rPr lang="ko-KR" altLang="en-US" sz="1100" smtClean="0">
                <a:solidFill>
                  <a:schemeClr val="tx1"/>
                </a:solidFill>
              </a:rPr>
              <a:t>계정별 잔액 확인 </a:t>
            </a:r>
            <a:r>
              <a:rPr lang="en-US" altLang="ko-KR" sz="1100" smtClean="0">
                <a:solidFill>
                  <a:schemeClr val="tx1"/>
                </a:solidFill>
              </a:rPr>
              <a:t>– </a:t>
            </a:r>
            <a:r>
              <a:rPr lang="ko-KR" altLang="en-US" sz="1100" smtClean="0">
                <a:solidFill>
                  <a:schemeClr val="tx1"/>
                </a:solidFill>
              </a:rPr>
              <a:t>계정별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잔액구분별로 잔액이 구분되어 있는지 확인하고</a:t>
            </a:r>
            <a:r>
              <a:rPr lang="en-US" altLang="ko-KR" sz="1100" smtClean="0">
                <a:solidFill>
                  <a:schemeClr val="tx1"/>
                </a:solidFill>
              </a:rPr>
              <a:t>, </a:t>
            </a:r>
          </a:p>
          <a:p>
            <a:r>
              <a:rPr lang="en-US" altLang="ko-KR" sz="1100">
                <a:solidFill>
                  <a:schemeClr val="tx1"/>
                </a:solidFill>
              </a:rPr>
              <a:t> </a:t>
            </a:r>
            <a:r>
              <a:rPr lang="en-US" altLang="ko-KR" sz="1100" smtClean="0">
                <a:solidFill>
                  <a:schemeClr val="tx1"/>
                </a:solidFill>
              </a:rPr>
              <a:t>                            </a:t>
            </a:r>
            <a:r>
              <a:rPr lang="ko-KR" altLang="en-US" sz="1100" smtClean="0">
                <a:solidFill>
                  <a:schemeClr val="tx1"/>
                </a:solidFill>
              </a:rPr>
              <a:t>조정이 필요한 부분은 전표로 조정 처리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43878" y="2143130"/>
            <a:ext cx="1784463" cy="276999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en-US" altLang="ko-KR" sz="1200" smtClean="0"/>
              <a:t>1. 2022</a:t>
            </a:r>
            <a:r>
              <a:rPr lang="ko-KR" altLang="en-US" sz="1200" smtClean="0"/>
              <a:t>년도 전표 반영</a:t>
            </a:r>
            <a:r>
              <a:rPr lang="en-US" altLang="ko-KR" sz="1200" smtClean="0"/>
              <a:t> </a:t>
            </a:r>
            <a:endParaRPr lang="ko-KR" altLang="en-US" sz="1200" dirty="0" err="1" smtClean="0"/>
          </a:p>
        </p:txBody>
      </p:sp>
      <p:sp>
        <p:nvSpPr>
          <p:cNvPr id="40" name="한쪽 모서리는 잘리고 다른 쪽 모서리는 둥근 사각형 39"/>
          <p:cNvSpPr/>
          <p:nvPr/>
        </p:nvSpPr>
        <p:spPr>
          <a:xfrm>
            <a:off x="2422446" y="3304158"/>
            <a:ext cx="6912768" cy="268100"/>
          </a:xfrm>
          <a:prstGeom prst="snip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228600" indent="-228600">
              <a:buAutoNum type="arabicParenR"/>
            </a:pPr>
            <a:r>
              <a:rPr lang="en-US" altLang="ko-KR" sz="1100" smtClean="0">
                <a:solidFill>
                  <a:schemeClr val="tx1"/>
                </a:solidFill>
              </a:rPr>
              <a:t>2022</a:t>
            </a:r>
            <a:r>
              <a:rPr lang="ko-KR" altLang="en-US" sz="1100" smtClean="0">
                <a:solidFill>
                  <a:schemeClr val="tx1"/>
                </a:solidFill>
              </a:rPr>
              <a:t>년도의 재무상태표</a:t>
            </a:r>
            <a:r>
              <a:rPr lang="en-US" altLang="ko-KR" sz="1100" smtClean="0">
                <a:solidFill>
                  <a:schemeClr val="tx1"/>
                </a:solidFill>
              </a:rPr>
              <a:t>(</a:t>
            </a:r>
            <a:r>
              <a:rPr lang="ko-KR" altLang="en-US" sz="1100" smtClean="0">
                <a:solidFill>
                  <a:schemeClr val="tx1"/>
                </a:solidFill>
              </a:rPr>
              <a:t>자산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부채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자본</a:t>
            </a:r>
            <a:r>
              <a:rPr lang="en-US" altLang="ko-KR" sz="1100" smtClean="0">
                <a:solidFill>
                  <a:schemeClr val="tx1"/>
                </a:solidFill>
              </a:rPr>
              <a:t>)</a:t>
            </a:r>
            <a:r>
              <a:rPr lang="ko-KR" altLang="en-US" sz="1100" smtClean="0">
                <a:solidFill>
                  <a:schemeClr val="tx1"/>
                </a:solidFill>
              </a:rPr>
              <a:t>의 이월 처리 및 </a:t>
            </a:r>
            <a:r>
              <a:rPr lang="en-US" altLang="ko-KR" sz="1100" smtClean="0">
                <a:solidFill>
                  <a:schemeClr val="tx1"/>
                </a:solidFill>
              </a:rPr>
              <a:t>2023</a:t>
            </a:r>
            <a:r>
              <a:rPr lang="ko-KR" altLang="en-US" sz="1100" smtClean="0">
                <a:solidFill>
                  <a:schemeClr val="tx1"/>
                </a:solidFill>
              </a:rPr>
              <a:t>년 기초 이월 </a:t>
            </a:r>
            <a:r>
              <a:rPr lang="en-US" altLang="ko-KR" sz="1100" smtClean="0">
                <a:solidFill>
                  <a:schemeClr val="tx1"/>
                </a:solidFill>
              </a:rPr>
              <a:t>DATA </a:t>
            </a:r>
            <a:r>
              <a:rPr lang="ko-KR" altLang="en-US" sz="1100" smtClean="0">
                <a:solidFill>
                  <a:schemeClr val="tx1"/>
                </a:solidFill>
              </a:rPr>
              <a:t>확인</a:t>
            </a:r>
            <a:r>
              <a:rPr lang="en-US" altLang="ko-KR" sz="1100" smtClean="0">
                <a:solidFill>
                  <a:schemeClr val="tx1"/>
                </a:solidFill>
              </a:rPr>
              <a:t> </a:t>
            </a:r>
            <a:endParaRPr lang="ko-KR" altLang="en-US" sz="1100" smtClean="0">
              <a:solidFill>
                <a:schemeClr val="tx1"/>
              </a:solidFill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547058" y="3295258"/>
            <a:ext cx="1729961" cy="276999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en-US" altLang="ko-KR" sz="1200" smtClean="0"/>
              <a:t>2. 2022</a:t>
            </a:r>
            <a:r>
              <a:rPr lang="ko-KR" altLang="en-US" sz="1200" smtClean="0"/>
              <a:t>년도 결산 이월</a:t>
            </a:r>
            <a:endParaRPr lang="ko-KR" altLang="en-US" sz="1200" dirty="0" err="1" smtClean="0"/>
          </a:p>
        </p:txBody>
      </p:sp>
      <p:sp>
        <p:nvSpPr>
          <p:cNvPr id="42" name="한쪽 모서리는 잘리고 다른 쪽 모서리는 둥근 사각형 41"/>
          <p:cNvSpPr/>
          <p:nvPr/>
        </p:nvSpPr>
        <p:spPr>
          <a:xfrm>
            <a:off x="2429540" y="3808971"/>
            <a:ext cx="6912768" cy="988939"/>
          </a:xfrm>
          <a:prstGeom prst="snip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en-US" altLang="ko-KR" sz="1100" smtClean="0">
                <a:solidFill>
                  <a:schemeClr val="tx1"/>
                </a:solidFill>
              </a:rPr>
              <a:t>1) 2023</a:t>
            </a:r>
            <a:r>
              <a:rPr lang="ko-KR" altLang="en-US" sz="1100" smtClean="0">
                <a:solidFill>
                  <a:schemeClr val="tx1"/>
                </a:solidFill>
              </a:rPr>
              <a:t>년도에 전표로 처리되지 않은 결의서의 전표 확정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2) 2023</a:t>
            </a:r>
            <a:r>
              <a:rPr lang="ko-KR" altLang="en-US" sz="1100" smtClean="0">
                <a:solidFill>
                  <a:schemeClr val="tx1"/>
                </a:solidFill>
              </a:rPr>
              <a:t>년도 결산서와 비교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3) </a:t>
            </a:r>
            <a:r>
              <a:rPr lang="ko-KR" altLang="en-US" sz="1100" smtClean="0">
                <a:solidFill>
                  <a:schemeClr val="tx1"/>
                </a:solidFill>
              </a:rPr>
              <a:t>계정별 차액에 대한 전표 처리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4) </a:t>
            </a:r>
            <a:r>
              <a:rPr lang="ko-KR" altLang="en-US" sz="1100" smtClean="0">
                <a:solidFill>
                  <a:schemeClr val="tx1"/>
                </a:solidFill>
              </a:rPr>
              <a:t>계정별 잔액 확인 </a:t>
            </a:r>
            <a:r>
              <a:rPr lang="en-US" altLang="ko-KR" sz="1100" smtClean="0">
                <a:solidFill>
                  <a:schemeClr val="tx1"/>
                </a:solidFill>
              </a:rPr>
              <a:t>– </a:t>
            </a:r>
            <a:r>
              <a:rPr lang="ko-KR" altLang="en-US" sz="1100" smtClean="0">
                <a:solidFill>
                  <a:schemeClr val="tx1"/>
                </a:solidFill>
              </a:rPr>
              <a:t>계정별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잔액구분별로 잔액이 구분되어 있는지 확인하고</a:t>
            </a:r>
            <a:r>
              <a:rPr lang="en-US" altLang="ko-KR" sz="1100" smtClean="0">
                <a:solidFill>
                  <a:schemeClr val="tx1"/>
                </a:solidFill>
              </a:rPr>
              <a:t>, </a:t>
            </a:r>
          </a:p>
          <a:p>
            <a:r>
              <a:rPr lang="en-US" altLang="ko-KR" sz="1100">
                <a:solidFill>
                  <a:schemeClr val="tx1"/>
                </a:solidFill>
              </a:rPr>
              <a:t> </a:t>
            </a:r>
            <a:r>
              <a:rPr lang="en-US" altLang="ko-KR" sz="1100" smtClean="0">
                <a:solidFill>
                  <a:schemeClr val="tx1"/>
                </a:solidFill>
              </a:rPr>
              <a:t>                            </a:t>
            </a:r>
            <a:r>
              <a:rPr lang="ko-KR" altLang="en-US" sz="1100" smtClean="0">
                <a:solidFill>
                  <a:schemeClr val="tx1"/>
                </a:solidFill>
              </a:rPr>
              <a:t>조정이 필요한 부분은 전표로 조정 처리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54152" y="3800072"/>
            <a:ext cx="1784463" cy="276999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en-US" altLang="ko-KR" sz="1200" smtClean="0"/>
              <a:t>3. 2023</a:t>
            </a:r>
            <a:r>
              <a:rPr lang="ko-KR" altLang="en-US" sz="1200" smtClean="0"/>
              <a:t>년도 전표 반영</a:t>
            </a:r>
            <a:r>
              <a:rPr lang="en-US" altLang="ko-KR" sz="1200" smtClean="0"/>
              <a:t> </a:t>
            </a:r>
            <a:endParaRPr lang="ko-KR" altLang="en-US" sz="1200" dirty="0" err="1" smtClean="0"/>
          </a:p>
        </p:txBody>
      </p:sp>
      <p:sp>
        <p:nvSpPr>
          <p:cNvPr id="44" name="한쪽 모서리는 잘리고 다른 쪽 모서리는 둥근 사각형 43"/>
          <p:cNvSpPr/>
          <p:nvPr/>
        </p:nvSpPr>
        <p:spPr>
          <a:xfrm>
            <a:off x="2432720" y="4961100"/>
            <a:ext cx="6912768" cy="268100"/>
          </a:xfrm>
          <a:prstGeom prst="snip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228600" indent="-228600">
              <a:buAutoNum type="arabicParenR"/>
            </a:pPr>
            <a:r>
              <a:rPr lang="en-US" altLang="ko-KR" sz="1100" smtClean="0">
                <a:solidFill>
                  <a:schemeClr val="tx1"/>
                </a:solidFill>
              </a:rPr>
              <a:t>2023</a:t>
            </a:r>
            <a:r>
              <a:rPr lang="ko-KR" altLang="en-US" sz="1100" smtClean="0">
                <a:solidFill>
                  <a:schemeClr val="tx1"/>
                </a:solidFill>
              </a:rPr>
              <a:t>년도의 재무상태표</a:t>
            </a:r>
            <a:r>
              <a:rPr lang="en-US" altLang="ko-KR" sz="1100" smtClean="0">
                <a:solidFill>
                  <a:schemeClr val="tx1"/>
                </a:solidFill>
              </a:rPr>
              <a:t>(</a:t>
            </a:r>
            <a:r>
              <a:rPr lang="ko-KR" altLang="en-US" sz="1100" smtClean="0">
                <a:solidFill>
                  <a:schemeClr val="tx1"/>
                </a:solidFill>
              </a:rPr>
              <a:t>자산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부채</a:t>
            </a:r>
            <a:r>
              <a:rPr lang="en-US" altLang="ko-KR" sz="1100" smtClean="0">
                <a:solidFill>
                  <a:schemeClr val="tx1"/>
                </a:solidFill>
              </a:rPr>
              <a:t>/</a:t>
            </a:r>
            <a:r>
              <a:rPr lang="ko-KR" altLang="en-US" sz="1100" smtClean="0">
                <a:solidFill>
                  <a:schemeClr val="tx1"/>
                </a:solidFill>
              </a:rPr>
              <a:t>자본</a:t>
            </a:r>
            <a:r>
              <a:rPr lang="en-US" altLang="ko-KR" sz="1100" smtClean="0">
                <a:solidFill>
                  <a:schemeClr val="tx1"/>
                </a:solidFill>
              </a:rPr>
              <a:t>)</a:t>
            </a:r>
            <a:r>
              <a:rPr lang="ko-KR" altLang="en-US" sz="1100" smtClean="0">
                <a:solidFill>
                  <a:schemeClr val="tx1"/>
                </a:solidFill>
              </a:rPr>
              <a:t>의 이월 처리 및 </a:t>
            </a:r>
            <a:r>
              <a:rPr lang="en-US" altLang="ko-KR" sz="1100" smtClean="0">
                <a:solidFill>
                  <a:schemeClr val="tx1"/>
                </a:solidFill>
              </a:rPr>
              <a:t>2024</a:t>
            </a:r>
            <a:r>
              <a:rPr lang="ko-KR" altLang="en-US" sz="1100" smtClean="0">
                <a:solidFill>
                  <a:schemeClr val="tx1"/>
                </a:solidFill>
              </a:rPr>
              <a:t>년 기초이월 </a:t>
            </a:r>
            <a:r>
              <a:rPr lang="en-US" altLang="ko-KR" sz="1100" smtClean="0">
                <a:solidFill>
                  <a:schemeClr val="tx1"/>
                </a:solidFill>
              </a:rPr>
              <a:t>DATA</a:t>
            </a:r>
            <a:r>
              <a:rPr lang="ko-KR" altLang="en-US" sz="1100" smtClean="0">
                <a:solidFill>
                  <a:schemeClr val="tx1"/>
                </a:solidFill>
              </a:rPr>
              <a:t> 확인</a:t>
            </a:r>
            <a:r>
              <a:rPr lang="en-US" altLang="ko-KR" sz="1100" smtClean="0">
                <a:solidFill>
                  <a:schemeClr val="tx1"/>
                </a:solidFill>
              </a:rPr>
              <a:t> </a:t>
            </a:r>
            <a:endParaRPr lang="ko-KR" altLang="en-US" sz="1100" smtClean="0">
              <a:solidFill>
                <a:schemeClr val="tx1"/>
              </a:solidFill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557332" y="4952200"/>
            <a:ext cx="1729961" cy="276999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en-US" altLang="ko-KR" sz="1200" smtClean="0"/>
              <a:t>4. 2023</a:t>
            </a:r>
            <a:r>
              <a:rPr lang="ko-KR" altLang="en-US" sz="1200" smtClean="0"/>
              <a:t>년도 결산 이월</a:t>
            </a:r>
            <a:endParaRPr lang="ko-KR" altLang="en-US" sz="1200" dirty="0" err="1" smtClean="0"/>
          </a:p>
        </p:txBody>
      </p:sp>
      <p:sp>
        <p:nvSpPr>
          <p:cNvPr id="46" name="한쪽 모서리는 잘리고 다른 쪽 모서리는 둥근 사각형 45"/>
          <p:cNvSpPr/>
          <p:nvPr/>
        </p:nvSpPr>
        <p:spPr>
          <a:xfrm>
            <a:off x="2429540" y="5521685"/>
            <a:ext cx="6912768" cy="715604"/>
          </a:xfrm>
          <a:prstGeom prst="snip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en-US" altLang="ko-KR" sz="1100" smtClean="0">
                <a:solidFill>
                  <a:schemeClr val="tx1"/>
                </a:solidFill>
              </a:rPr>
              <a:t>1) 2024</a:t>
            </a:r>
            <a:r>
              <a:rPr lang="ko-KR" altLang="en-US" sz="1100" smtClean="0">
                <a:solidFill>
                  <a:schemeClr val="tx1"/>
                </a:solidFill>
              </a:rPr>
              <a:t>년도에 전표로 처리되지 않은 결의서의 전표 확정</a:t>
            </a:r>
            <a:endParaRPr lang="en-US" altLang="ko-KR" sz="1100" smtClean="0">
              <a:solidFill>
                <a:schemeClr val="tx1"/>
              </a:solidFill>
            </a:endParaRPr>
          </a:p>
          <a:p>
            <a:r>
              <a:rPr lang="en-US" altLang="ko-KR" sz="1100" smtClean="0">
                <a:solidFill>
                  <a:schemeClr val="tx1"/>
                </a:solidFill>
              </a:rPr>
              <a:t>2) 2024</a:t>
            </a:r>
            <a:r>
              <a:rPr lang="ko-KR" altLang="en-US" sz="1100" smtClean="0">
                <a:solidFill>
                  <a:schemeClr val="tx1"/>
                </a:solidFill>
              </a:rPr>
              <a:t>년도 결산 프로세스 준비</a:t>
            </a:r>
            <a:r>
              <a:rPr lang="en-US" altLang="ko-KR" sz="1100" smtClean="0">
                <a:solidFill>
                  <a:schemeClr val="tx1"/>
                </a:solidFill>
              </a:rPr>
              <a:t> </a:t>
            </a:r>
          </a:p>
          <a:p>
            <a:r>
              <a:rPr lang="en-US" altLang="ko-KR" sz="1100" smtClean="0">
                <a:solidFill>
                  <a:schemeClr val="tx1"/>
                </a:solidFill>
              </a:rPr>
              <a:t>3) 2024</a:t>
            </a:r>
            <a:r>
              <a:rPr lang="ko-KR" altLang="en-US" sz="1100" smtClean="0">
                <a:solidFill>
                  <a:schemeClr val="tx1"/>
                </a:solidFill>
              </a:rPr>
              <a:t>년 결산전표 생성 준비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54152" y="5512785"/>
            <a:ext cx="1784463" cy="276999"/>
          </a:xfrm>
          <a:prstGeom prst="rect">
            <a:avLst/>
          </a:prstGeo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r>
              <a:rPr lang="en-US" altLang="ko-KR" sz="1200" smtClean="0"/>
              <a:t>5. 2024</a:t>
            </a:r>
            <a:r>
              <a:rPr lang="ko-KR" altLang="en-US" sz="1200" smtClean="0"/>
              <a:t>년도 결산 준비</a:t>
            </a:r>
            <a:endParaRPr lang="ko-KR" altLang="en-US" sz="1200" dirty="0" err="1" smtClean="0"/>
          </a:p>
        </p:txBody>
      </p:sp>
    </p:spTree>
    <p:extLst>
      <p:ext uri="{BB962C8B-B14F-4D97-AF65-F5344CB8AC3E}">
        <p14:creationId xmlns:p14="http://schemas.microsoft.com/office/powerpoint/2010/main" val="17859981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예산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회계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자산관리 </a:t>
            </a:r>
            <a:r>
              <a:rPr lang="ko-KR" altLang="en-US" smtClean="0">
                <a:latin typeface="+mn-ea"/>
                <a:ea typeface="+mn-ea"/>
              </a:rPr>
              <a:t>시스템과 추진 단계별로 연계하고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각 </a:t>
            </a:r>
            <a:r>
              <a:rPr lang="ko-KR" altLang="en-US" smtClean="0">
                <a:latin typeface="+mn-ea"/>
              </a:rPr>
              <a:t>단계별로 </a:t>
            </a:r>
            <a:r>
              <a:rPr lang="ko-KR" altLang="en-US" dirty="0">
                <a:latin typeface="+mn-ea"/>
              </a:rPr>
              <a:t>요구되는 승인요청 및 </a:t>
            </a:r>
            <a:r>
              <a:rPr lang="ko-KR" altLang="en-US">
                <a:latin typeface="+mn-ea"/>
              </a:rPr>
              <a:t>승인처리를 </a:t>
            </a:r>
            <a:r>
              <a:rPr lang="ko-KR" altLang="en-US" smtClean="0">
                <a:latin typeface="+mn-ea"/>
              </a:rPr>
              <a:t>전자결재시스템과 </a:t>
            </a:r>
            <a:r>
              <a:rPr lang="ko-KR" altLang="en-US" dirty="0">
                <a:latin typeface="+mn-ea"/>
              </a:rPr>
              <a:t>연계하여 </a:t>
            </a:r>
            <a:r>
              <a:rPr lang="ko-KR" altLang="en-US">
                <a:latin typeface="+mn-ea"/>
              </a:rPr>
              <a:t>각종 </a:t>
            </a:r>
            <a:r>
              <a:rPr lang="ko-KR" altLang="en-US" smtClean="0">
                <a:latin typeface="+mn-ea"/>
              </a:rPr>
              <a:t>문서를 </a:t>
            </a:r>
            <a:r>
              <a:rPr lang="ko-KR" altLang="en-US" dirty="0">
                <a:latin typeface="+mn-ea"/>
              </a:rPr>
              <a:t>처리할 수 있도록 </a:t>
            </a:r>
            <a:r>
              <a:rPr lang="ko-KR" altLang="en-US">
                <a:latin typeface="+mn-ea"/>
              </a:rPr>
              <a:t>하며</a:t>
            </a:r>
            <a:r>
              <a:rPr lang="en-US" altLang="ko-KR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RPA</a:t>
            </a:r>
            <a:r>
              <a:rPr lang="ko-KR" altLang="en-US" smtClean="0">
                <a:latin typeface="+mn-ea"/>
              </a:rPr>
              <a:t>도입에 의해 단계별 </a:t>
            </a:r>
            <a:r>
              <a:rPr lang="ko-KR" altLang="en-US">
                <a:latin typeface="+mn-ea"/>
              </a:rPr>
              <a:t>진행현황을 </a:t>
            </a:r>
            <a:r>
              <a:rPr lang="ko-KR" altLang="en-US" smtClean="0">
                <a:latin typeface="+mn-ea"/>
              </a:rPr>
              <a:t>실시간으로 추출하여 제공함으로써 </a:t>
            </a:r>
            <a:r>
              <a:rPr lang="ko-KR" altLang="en-US" smtClean="0">
                <a:latin typeface="+mn-ea"/>
                <a:ea typeface="+mn-ea"/>
              </a:rPr>
              <a:t>사용자의 </a:t>
            </a:r>
            <a:r>
              <a:rPr lang="ko-KR" altLang="en-US">
                <a:latin typeface="+mn-ea"/>
                <a:ea typeface="+mn-ea"/>
              </a:rPr>
              <a:t>편의와 </a:t>
            </a:r>
            <a:r>
              <a:rPr lang="ko-KR" altLang="en-US" smtClean="0">
                <a:latin typeface="+mn-ea"/>
                <a:ea typeface="+mn-ea"/>
              </a:rPr>
              <a:t>업무의 </a:t>
            </a:r>
            <a:r>
              <a:rPr lang="ko-KR" altLang="en-US">
                <a:latin typeface="+mn-ea"/>
                <a:ea typeface="+mn-ea"/>
              </a:rPr>
              <a:t>효율성을 </a:t>
            </a:r>
            <a:r>
              <a:rPr lang="ko-KR" altLang="en-US" smtClean="0">
                <a:latin typeface="+mn-ea"/>
                <a:ea typeface="+mn-ea"/>
              </a:rPr>
              <a:t>제고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 dirty="0"/>
              <a:t>업무 효율화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2.5.1 </a:t>
            </a:r>
            <a:r>
              <a:rPr lang="ko-KR" altLang="en-US" sz="1800" dirty="0"/>
              <a:t>과제</a:t>
            </a:r>
            <a:r>
              <a:rPr lang="en-US" altLang="ko-KR" sz="1800" dirty="0"/>
              <a:t> </a:t>
            </a:r>
            <a:r>
              <a:rPr lang="ko-KR" altLang="en-US" sz="1800" dirty="0"/>
              <a:t>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개선 및 </a:t>
            </a:r>
            <a:r>
              <a:rPr lang="ko-KR" altLang="en-US" dirty="0"/>
              <a:t>업무 효율화</a:t>
            </a:r>
            <a:endParaRPr lang="en-US" altLang="ko-KR" dirty="0"/>
          </a:p>
        </p:txBody>
      </p:sp>
      <p:grpSp>
        <p:nvGrpSpPr>
          <p:cNvPr id="5" name="그룹 77">
            <a:extLst>
              <a:ext uri="{FF2B5EF4-FFF2-40B4-BE49-F238E27FC236}">
                <a16:creationId xmlns="" xmlns:a16="http://schemas.microsoft.com/office/drawing/2014/main" id="{B0511B2C-F5D4-492B-8A5A-D90A0D0B3868}"/>
              </a:ext>
            </a:extLst>
          </p:cNvPr>
          <p:cNvGrpSpPr/>
          <p:nvPr/>
        </p:nvGrpSpPr>
        <p:grpSpPr>
          <a:xfrm>
            <a:off x="355147" y="1592796"/>
            <a:ext cx="9180512" cy="4788532"/>
            <a:chOff x="200025" y="1592796"/>
            <a:chExt cx="6733195" cy="4788532"/>
          </a:xfrm>
        </p:grpSpPr>
        <p:sp>
          <p:nvSpPr>
            <p:cNvPr id="79" name="직사각형 78">
              <a:extLst>
                <a:ext uri="{FF2B5EF4-FFF2-40B4-BE49-F238E27FC236}">
                  <a16:creationId xmlns="" xmlns:a16="http://schemas.microsoft.com/office/drawing/2014/main" id="{7A02AF25-67DB-49E8-A9F5-7456F591158A}"/>
                </a:ext>
              </a:extLst>
            </p:cNvPr>
            <p:cNvSpPr/>
            <p:nvPr/>
          </p:nvSpPr>
          <p:spPr bwMode="auto">
            <a:xfrm>
              <a:off x="200025" y="1592796"/>
              <a:ext cx="6733195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lvl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 개요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="" xmlns:a16="http://schemas.microsoft.com/office/drawing/2014/main" id="{2D8432D5-5596-482C-A21A-563B582C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" y="1916832"/>
              <a:ext cx="6733195" cy="4464496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자유형: 도형 7">
            <a:extLst>
              <a:ext uri="{FF2B5EF4-FFF2-40B4-BE49-F238E27FC236}">
                <a16:creationId xmlns="" xmlns:a16="http://schemas.microsoft.com/office/drawing/2014/main" id="{DC8F9B3D-33EF-48D3-A461-A50900D519EB}"/>
              </a:ext>
            </a:extLst>
          </p:cNvPr>
          <p:cNvSpPr/>
          <p:nvPr/>
        </p:nvSpPr>
        <p:spPr>
          <a:xfrm>
            <a:off x="2463951" y="2002612"/>
            <a:ext cx="529865" cy="4299947"/>
          </a:xfrm>
          <a:custGeom>
            <a:avLst/>
            <a:gdLst>
              <a:gd name="connsiteX0" fmla="*/ 0 w 528992"/>
              <a:gd name="connsiteY0" fmla="*/ 324952 h 4299947"/>
              <a:gd name="connsiteX1" fmla="*/ 37785 w 528992"/>
              <a:gd name="connsiteY1" fmla="*/ 4012780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8992" h="4299947">
                <a:moveTo>
                  <a:pt x="0" y="324952"/>
                </a:moveTo>
                <a:lnTo>
                  <a:pt x="37785" y="4012780"/>
                </a:lnTo>
                <a:lnTo>
                  <a:pt x="521435" y="4299947"/>
                </a:lnTo>
                <a:lnTo>
                  <a:pt x="528992" y="0"/>
                </a:lnTo>
                <a:lnTo>
                  <a:pt x="0" y="324952"/>
                </a:lnTo>
                <a:close/>
              </a:path>
            </a:pathLst>
          </a:custGeom>
          <a:gradFill>
            <a:gsLst>
              <a:gs pos="82000">
                <a:schemeClr val="bg1">
                  <a:lumMod val="85000"/>
                </a:schemeClr>
              </a:gs>
              <a:gs pos="0">
                <a:schemeClr val="bg1">
                  <a:lumMod val="95000"/>
                </a:schemeClr>
              </a:gs>
            </a:gsLst>
            <a:lin ang="0" scaled="0"/>
          </a:gra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구매관리 </a:t>
            </a:r>
            <a:r>
              <a:rPr lang="ko-KR" altLang="en-US" sz="1400" b="1" kern="0" spc="-150" dirty="0">
                <a:solidFill>
                  <a:prstClr val="black"/>
                </a:solidFill>
                <a:latin typeface="+mn-ea"/>
              </a:rPr>
              <a:t>업무 효율화</a:t>
            </a:r>
            <a:endParaRPr kumimoji="0" lang="ko-KR" altLang="en-US" sz="1400" b="1" i="0" u="none" strike="noStrike" kern="0" cap="none" spc="-1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6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9"/>
            <a:ext cx="2028386" cy="527511"/>
            <a:chOff x="401216" y="2918940"/>
            <a:chExt cx="2310143" cy="551720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구매 기초자료 개선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1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7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370156"/>
            <a:ext cx="2028386" cy="527511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>
                  <a:solidFill>
                    <a:prstClr val="black"/>
                  </a:solidFill>
                  <a:latin typeface="+mn-ea"/>
                </a:rPr>
                <a:t>구매 진행정보 실시간 제공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2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="" xmlns:a16="http://schemas.microsoft.com/office/drawing/2014/main" id="{3D81FFC0-71B9-46DA-943A-B129A730D4BD}"/>
              </a:ext>
            </a:extLst>
          </p:cNvPr>
          <p:cNvSpPr/>
          <p:nvPr/>
        </p:nvSpPr>
        <p:spPr>
          <a:xfrm>
            <a:off x="2923626" y="1975288"/>
            <a:ext cx="6433414" cy="4345672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9" name="그룹 85">
            <a:extLst>
              <a:ext uri="{FF2B5EF4-FFF2-40B4-BE49-F238E27FC236}">
                <a16:creationId xmlns="" xmlns:a16="http://schemas.microsoft.com/office/drawing/2014/main" id="{73987A2F-326C-4CD0-B79A-54DB536D835A}"/>
              </a:ext>
            </a:extLst>
          </p:cNvPr>
          <p:cNvGrpSpPr/>
          <p:nvPr/>
        </p:nvGrpSpPr>
        <p:grpSpPr>
          <a:xfrm>
            <a:off x="2993826" y="2026778"/>
            <a:ext cx="6177272" cy="4255416"/>
            <a:chOff x="2748955" y="2035656"/>
            <a:chExt cx="6071105" cy="4255416"/>
          </a:xfrm>
        </p:grpSpPr>
        <p:sp>
          <p:nvSpPr>
            <p:cNvPr id="87" name="직사각형 86">
              <a:extLst>
                <a:ext uri="{FF2B5EF4-FFF2-40B4-BE49-F238E27FC236}">
                  <a16:creationId xmlns="" xmlns:a16="http://schemas.microsoft.com/office/drawing/2014/main" id="{3BD8B947-9794-4DA9-A8A0-A2416C4E54C6}"/>
                </a:ext>
              </a:extLst>
            </p:cNvPr>
            <p:cNvSpPr/>
            <p:nvPr/>
          </p:nvSpPr>
          <p:spPr>
            <a:xfrm>
              <a:off x="2748955" y="2035656"/>
              <a:ext cx="838975" cy="4255416"/>
            </a:xfrm>
            <a:prstGeom prst="rect">
              <a:avLst/>
            </a:prstGeom>
            <a:solidFill>
              <a:srgbClr val="C7DDFD"/>
            </a:solidFill>
            <a:ln>
              <a:noFill/>
            </a:ln>
          </p:spPr>
          <p:txBody>
            <a:bodyPr vert="horz" wrap="square" lIns="97969" tIns="48984" rIns="97969" bIns="48984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="" xmlns:a16="http://schemas.microsoft.com/office/drawing/2014/main" id="{462C3777-4666-48F1-B8E7-F560F769B567}"/>
                </a:ext>
              </a:extLst>
            </p:cNvPr>
            <p:cNvSpPr/>
            <p:nvPr/>
          </p:nvSpPr>
          <p:spPr>
            <a:xfrm>
              <a:off x="2814261" y="2111448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과제 정의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3197124E-28D4-472B-9558-9173E8CA2836}"/>
                </a:ext>
              </a:extLst>
            </p:cNvPr>
            <p:cNvSpPr/>
            <p:nvPr/>
          </p:nvSpPr>
          <p:spPr>
            <a:xfrm>
              <a:off x="3831300" y="2111448"/>
              <a:ext cx="4988760" cy="410375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구매요청에서부터 검수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.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입고까지의 각 단계별 업무처리 과정을 관련시스템과 연계하여 업무를 효율적으로 처리하고 실시간으로 진행 정보를 제공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="" xmlns:a16="http://schemas.microsoft.com/office/drawing/2014/main" id="{4A3DA6E3-91CE-4B46-AB40-3122683B6F23}"/>
                </a:ext>
              </a:extLst>
            </p:cNvPr>
            <p:cNvSpPr/>
            <p:nvPr/>
          </p:nvSpPr>
          <p:spPr>
            <a:xfrm>
              <a:off x="2814261" y="32847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현황 및 문제점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3645D26A-84A7-4B58-98CD-009CE5F34953}"/>
                </a:ext>
              </a:extLst>
            </p:cNvPr>
            <p:cNvSpPr/>
            <p:nvPr/>
          </p:nvSpPr>
          <p:spPr>
            <a:xfrm>
              <a:off x="3831300" y="3284714"/>
              <a:ext cx="4988760" cy="873244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구매 요청자료의 입력 후 구매요청자의 진행과정 파악이 어려움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조달청에서 진행되는 구매 진행과정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                                               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사전규격등록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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구매입찰공고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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구매협상시담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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구매계약체결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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계약변경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)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의 실시간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정보 파악이 어려움</a:t>
              </a:r>
              <a:endParaRPr kumimoji="1" lang="ko-KR" altLang="en-US" sz="100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="" xmlns:a16="http://schemas.microsoft.com/office/drawing/2014/main" id="{B22CB68C-1A52-4323-9BA6-715C4CA74F06}"/>
                </a:ext>
              </a:extLst>
            </p:cNvPr>
            <p:cNvSpPr/>
            <p:nvPr/>
          </p:nvSpPr>
          <p:spPr>
            <a:xfrm>
              <a:off x="2814261" y="2596957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목적 및 필요성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="" xmlns:a16="http://schemas.microsoft.com/office/drawing/2014/main" id="{746CCBF5-18E3-4846-B382-B28F40C95B89}"/>
                </a:ext>
              </a:extLst>
            </p:cNvPr>
            <p:cNvSpPr/>
            <p:nvPr/>
          </p:nvSpPr>
          <p:spPr>
            <a:xfrm>
              <a:off x="3831300" y="2596957"/>
              <a:ext cx="4988760" cy="61956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내부시스템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예산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회계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자산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)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과 상세정보 공유를 </a:t>
              </a:r>
              <a:r>
                <a:rPr kumimoji="1" lang="ko-KR" altLang="en-US" sz="1000" kern="0" dirty="0">
                  <a:solidFill>
                    <a:prstClr val="black"/>
                  </a:solidFill>
                  <a:latin typeface="+mn-ea"/>
                </a:rPr>
                <a:t>통한 업무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편의성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증대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조달청의 단계별 구매 진행사항을 실시간으로 공유하여 원활한 업무처리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="" xmlns:a16="http://schemas.microsoft.com/office/drawing/2014/main" id="{C70CC1FB-D735-4714-A12C-D27BF40CD53F}"/>
                </a:ext>
              </a:extLst>
            </p:cNvPr>
            <p:cNvSpPr/>
            <p:nvPr/>
          </p:nvSpPr>
          <p:spPr>
            <a:xfrm>
              <a:off x="2814261" y="42164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 방향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="" xmlns:a16="http://schemas.microsoft.com/office/drawing/2014/main" id="{5FC3F293-C2CE-4C3A-A082-2985541B2A49}"/>
                </a:ext>
              </a:extLst>
            </p:cNvPr>
            <p:cNvSpPr/>
            <p:nvPr/>
          </p:nvSpPr>
          <p:spPr>
            <a:xfrm>
              <a:off x="3831299" y="4216414"/>
              <a:ext cx="4988760" cy="143688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구매요청 시 예산정보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물품 선택시 향후 자산취득 정보 연계 처리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RPA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도입으로 실시간 조달시스템 진행정보 취득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제공</a:t>
              </a:r>
              <a:endParaRPr kumimoji="1" lang="ko-KR" altLang="en-US" sz="1000" ker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계약등록시 지급계획 정보를 등록하고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계약조건에 따라 선금 지출결의 처리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계약변경 발생시 차수별 계약정보 관리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검수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/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입고시 대급지급 결의서 자동 생성 및 자산품목 취득예정자료 자동생성</a:t>
              </a:r>
              <a:endPara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9F60708A-697A-422E-84EB-603677EFF344}"/>
                </a:ext>
              </a:extLst>
            </p:cNvPr>
            <p:cNvSpPr/>
            <p:nvPr/>
          </p:nvSpPr>
          <p:spPr>
            <a:xfrm>
              <a:off x="2814261" y="5713669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고려사항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F3587659-245E-46A2-96B1-18B88C25A318}"/>
                </a:ext>
              </a:extLst>
            </p:cNvPr>
            <p:cNvSpPr/>
            <p:nvPr/>
          </p:nvSpPr>
          <p:spPr>
            <a:xfrm>
              <a:off x="3831300" y="5713669"/>
              <a:ext cx="4988760" cy="505551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구매 기초자료 추가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(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정부권장정책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-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중소기업청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사회적기업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중증장애인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자활용사촌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)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RPA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시스템 도입에 대한 적극적인 검토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10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963824"/>
            <a:ext cx="2028386" cy="527511"/>
            <a:chOff x="401216" y="2918940"/>
            <a:chExt cx="2310143" cy="551720"/>
          </a:xfrm>
        </p:grpSpPr>
        <p:sp>
          <p:nvSpPr>
            <p:cNvPr id="33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계약정보의 관리 체계화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34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3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5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67956" y="4570854"/>
            <a:ext cx="2028386" cy="527511"/>
            <a:chOff x="401216" y="2918940"/>
            <a:chExt cx="2310143" cy="551720"/>
          </a:xfrm>
        </p:grpSpPr>
        <p:sp>
          <p:nvSpPr>
            <p:cNvPr id="36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검사</a:t>
              </a:r>
              <a:r>
                <a:rPr kumimoji="1" lang="en-US" altLang="ko-KR" sz="1000" b="1" kern="0" smtClean="0">
                  <a:solidFill>
                    <a:prstClr val="black"/>
                  </a:solidFill>
                  <a:latin typeface="+mn-ea"/>
                </a:rPr>
                <a:t>/</a:t>
              </a: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검수 절차 정보화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37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4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8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342" y="5185197"/>
            <a:ext cx="2028386" cy="527511"/>
            <a:chOff x="401216" y="2918940"/>
            <a:chExt cx="2310143" cy="551720"/>
          </a:xfrm>
        </p:grpSpPr>
        <p:sp>
          <p:nvSpPr>
            <p:cNvPr id="39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>
                  <a:solidFill>
                    <a:prstClr val="black"/>
                  </a:solidFill>
                  <a:latin typeface="+mn-ea"/>
                </a:rPr>
                <a:t>지출결의서 자동 생성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40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5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7360536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구매 물품의 구매 관련정보와 자산 분류 등의 추가 관리로 구매 요청 및 입고시 자산 취득대상정보 생성을 용이하게 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정부권장정책 자료를 관리하여 구매실적 보고자료 생성을 용이하게 함</a:t>
            </a:r>
            <a:r>
              <a:rPr lang="en-US" altLang="ko-KR" sz="1600" smtClean="0"/>
              <a:t>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2.5.2.1 </a:t>
            </a:r>
            <a:r>
              <a:rPr lang="ko-KR" altLang="en-US" sz="1800" smtClean="0"/>
              <a:t>구매 기초자료 개선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377367"/>
            <a:ext cx="9174167" cy="4969458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구매 기초자료 개선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5052068"/>
              </p:ext>
            </p:extLst>
          </p:nvPr>
        </p:nvGraphicFramePr>
        <p:xfrm>
          <a:off x="488504" y="1809410"/>
          <a:ext cx="8928991" cy="442788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32"/>
                <a:gridCol w="1008112"/>
                <a:gridCol w="1296144"/>
                <a:gridCol w="5400600"/>
                <a:gridCol w="936103"/>
              </a:tblGrid>
              <a:tr h="29569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 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252488">
                <a:tc rowSpan="7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물품코드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 소요일수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물품의 구매 소요시간을 관리하여 구매요청자가 입고일을 예측할 수 있도록 함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 단위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 차리시의 수량 단위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 여부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수불관리를 하는 물품일 경우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입고시 창고코드를 입력받아서 입고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 단위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구매시 구매요청 수량 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수불환산수량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구매단위를 수불단위로 환산 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최소발주량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발주시 최소 발주량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품목분류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품목일 경우 자산 분류코드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거래처코드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거래상태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부적격 업체 여부 확인을 위한 거래처 상태관리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 조회가 완료된 거래 계좌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담당자 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발행시 담당자의 메일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전화번호 등 관리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ct val="30000"/>
                        </a:spcBef>
                        <a:buFontTx/>
                        <a:buNone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계약 유형 등록</a:t>
                      </a:r>
                      <a:endParaRPr lang="en-US" altLang="ko-KR" sz="1000" dirty="0" smtClean="0">
                        <a:solidFill>
                          <a:schemeClr val="tx1"/>
                        </a:solidFill>
                        <a:latin typeface="나눔고딕" panose="020B0600000101010101" charset="-127"/>
                        <a:ea typeface="나눔고딕" panose="020B0600000101010101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계약유형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유형별 관리사항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계약 방식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계약방식에 따른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계약방식에 따른 관리사항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ct val="30000"/>
                        </a:spcBef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중소기업청 자료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 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중소기업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정부권장정책에 따른 실적을 집계하기 위한 중소기업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48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사회적기업 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사회적 기업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정부권장정책에 따른 실적을 집계하기 위한 사회적 기업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중증장애인 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중증장애인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정부권장정책에 따른 실적을 집계하기 위한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중증장애인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524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재활용사촌 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재활용사촌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정부권장정책에 따른 실적을 집계하기 위한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나눔고딕" panose="020B0600000101010101" charset="-127"/>
                          <a:ea typeface="나눔고딕" panose="020B0600000101010101" charset="-127"/>
                        </a:rPr>
                        <a:t>재활용사촌 목록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827476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mtClean="0"/>
              <a:t>구매요청을 접수한 물품의 구매결정 후</a:t>
            </a:r>
            <a:r>
              <a:rPr lang="en-US" altLang="ko-KR" smtClean="0"/>
              <a:t>, </a:t>
            </a:r>
            <a:r>
              <a:rPr lang="ko-KR" altLang="en-US" smtClean="0"/>
              <a:t>사전규격 등록부터 계약체결까지의 조달 진행정보를 실시간으로 수집하여 시스템에 제공할 수 있는 </a:t>
            </a:r>
            <a:r>
              <a:rPr lang="en-US" altLang="ko-KR" smtClean="0"/>
              <a:t>RPA </a:t>
            </a:r>
            <a:r>
              <a:rPr lang="ko-KR" altLang="en-US" smtClean="0"/>
              <a:t>솔루션을 도입함으로써 담당자가 조달청에 수시로 접속하여 처리하는 업무를 최소화하고</a:t>
            </a:r>
            <a:r>
              <a:rPr lang="en-US" altLang="ko-KR" smtClean="0"/>
              <a:t>, </a:t>
            </a:r>
            <a:r>
              <a:rPr lang="ko-KR" altLang="en-US" smtClean="0"/>
              <a:t>구매 업무에 전념할 수 있도록 지원함</a:t>
            </a:r>
            <a:r>
              <a:rPr lang="ko-KR" altLang="en-US" spc="-150" smtClean="0">
                <a:solidFill>
                  <a:srgbClr val="000000"/>
                </a:solidFill>
              </a:rPr>
              <a:t> 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2.5.2.2 </a:t>
            </a:r>
            <a:r>
              <a:rPr lang="ko-KR" altLang="en-US" sz="1800">
                <a:latin typeface="+mn-ea"/>
              </a:rPr>
              <a:t>구매 진행정보 실시간 </a:t>
            </a:r>
            <a:r>
              <a:rPr lang="ko-KR" altLang="en-US" sz="1800" smtClean="0">
                <a:latin typeface="+mn-ea"/>
              </a:rPr>
              <a:t>제공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7" y="1631481"/>
            <a:ext cx="9174168" cy="4708102"/>
            <a:chOff x="350832" y="1650531"/>
            <a:chExt cx="9174168" cy="470810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구매 진행 정보 제공 솔루션 도입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2" y="1966704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360452" y="1957928"/>
            <a:ext cx="9155022" cy="40241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/>
              <a:t>RPA(Robotic Process Automation)</a:t>
            </a:r>
            <a:r>
              <a:rPr lang="ko-KR" altLang="en-US" sz="1200"/>
              <a:t>는 인적 자원이 수행하던 </a:t>
            </a:r>
            <a:r>
              <a:rPr lang="ko-KR" altLang="en-US" sz="1200" smtClean="0"/>
              <a:t>규칙적이고 </a:t>
            </a:r>
            <a:r>
              <a:rPr lang="ko-KR" altLang="en-US" sz="1200"/>
              <a:t>단순 </a:t>
            </a:r>
            <a:r>
              <a:rPr lang="ko-KR" altLang="en-US" sz="1200" smtClean="0"/>
              <a:t>반복적으로 수행하던 업무를 소프트웨어를 </a:t>
            </a:r>
            <a:r>
              <a:rPr lang="ko-KR" altLang="en-US" sz="1200"/>
              <a:t>통해 자동화하는 것으로</a:t>
            </a:r>
            <a:r>
              <a:rPr lang="en-US" altLang="ko-KR" sz="1200"/>
              <a:t>, </a:t>
            </a:r>
            <a:r>
              <a:rPr lang="en-US" altLang="ko-KR" sz="1200" smtClean="0"/>
              <a:t>Robot</a:t>
            </a:r>
            <a:r>
              <a:rPr lang="ko-KR" altLang="en-US" sz="1200" smtClean="0"/>
              <a:t> 기능을 통해 </a:t>
            </a:r>
            <a:r>
              <a:rPr lang="ko-KR" altLang="en-US" sz="1200"/>
              <a:t>신속 정확하게 업무를 수행할 수 있는 </a:t>
            </a:r>
            <a:r>
              <a:rPr lang="ko-KR" altLang="en-US" sz="1200" smtClean="0"/>
              <a:t>기능이며</a:t>
            </a:r>
            <a:r>
              <a:rPr lang="en-US" altLang="ko-KR" sz="1200" smtClean="0"/>
              <a:t>, </a:t>
            </a:r>
            <a:r>
              <a:rPr lang="ko-KR" altLang="en-US" sz="1200" smtClean="0"/>
              <a:t>인력이 </a:t>
            </a:r>
            <a:r>
              <a:rPr lang="ko-KR" altLang="en-US" sz="1200"/>
              <a:t>수행하던 정형화된 데이터 입출력 업무</a:t>
            </a:r>
            <a:r>
              <a:rPr lang="en-US" altLang="ko-KR" sz="1200"/>
              <a:t>, </a:t>
            </a:r>
            <a:r>
              <a:rPr lang="ko-KR" altLang="en-US" sz="1200"/>
              <a:t>데이터 비교 검증 업무 등 </a:t>
            </a:r>
            <a:r>
              <a:rPr lang="ko-KR" altLang="en-US" sz="1200" smtClean="0"/>
              <a:t>단순 </a:t>
            </a:r>
            <a:r>
              <a:rPr lang="ko-KR" altLang="en-US" sz="1200"/>
              <a:t>반복적인 업무를 </a:t>
            </a:r>
            <a:r>
              <a:rPr lang="ko-KR" altLang="en-US" sz="1200" smtClean="0"/>
              <a:t>수행하게 함으로써</a:t>
            </a:r>
            <a:r>
              <a:rPr lang="en-US" altLang="ko-KR" sz="1200"/>
              <a:t>, </a:t>
            </a:r>
            <a:r>
              <a:rPr lang="ko-KR" altLang="en-US" sz="1200"/>
              <a:t>비용 절감</a:t>
            </a:r>
            <a:r>
              <a:rPr lang="en-US" altLang="ko-KR" sz="1200"/>
              <a:t>, </a:t>
            </a:r>
            <a:r>
              <a:rPr lang="ko-KR" altLang="en-US" sz="1200"/>
              <a:t>업무 생산성 향상</a:t>
            </a:r>
            <a:r>
              <a:rPr lang="en-US" altLang="ko-KR" sz="1200"/>
              <a:t>, </a:t>
            </a:r>
            <a:r>
              <a:rPr lang="ko-KR" altLang="en-US" sz="1200"/>
              <a:t>효율적인 자원 활용 </a:t>
            </a:r>
            <a:r>
              <a:rPr lang="ko-KR" altLang="en-US" sz="1200" smtClean="0"/>
              <a:t>등이 가능함</a:t>
            </a:r>
            <a:endParaRPr lang="en-US" altLang="ko-KR" sz="1200" smtClean="0"/>
          </a:p>
          <a:p>
            <a:endParaRPr lang="en-US" altLang="ko-KR" sz="1200" b="1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100" b="1" smtClean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주요 </a:t>
            </a:r>
            <a:r>
              <a:rPr lang="ko-KR" altLang="en-US" sz="1100" b="1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대상 업무</a:t>
            </a:r>
            <a:endParaRPr lang="en-US" altLang="ko-KR" sz="1100" b="1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규칙적이고 단순 </a:t>
            </a:r>
            <a:r>
              <a:rPr lang="ko-KR" altLang="en-US" sz="110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반복적인 업무</a:t>
            </a:r>
            <a:endParaRPr lang="en-US" altLang="ko-KR" sz="110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연계되지 않는 여러 시스템을 접속하여 정형화된 </a:t>
            </a:r>
            <a:r>
              <a:rPr lang="ko-KR" altLang="en-US" sz="110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데이터 입출력 업무</a:t>
            </a:r>
            <a:endParaRPr lang="en-US" altLang="ko-KR" sz="110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원본 데이터와 처리 결과 데이터와의 비교 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검증으로 상태의 변화 인지</a:t>
            </a:r>
            <a:endParaRPr lang="en-US" altLang="ko-KR" sz="110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엑셀 </a:t>
            </a:r>
            <a:r>
              <a:rPr lang="ko-KR" altLang="en-US" sz="110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피벗 작업 및 보고서 작성 업무</a:t>
            </a:r>
            <a:endParaRPr lang="en-US" altLang="ko-KR" sz="110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80975" indent="-180975" defTabSz="914485" latinLnBrk="0">
              <a:spcBef>
                <a:spcPts val="1200"/>
              </a:spcBef>
              <a:buFont typeface="Wingdings" panose="05000000000000000000" pitchFamily="2" charset="2"/>
              <a:buChar char="v"/>
              <a:defRPr/>
            </a:pP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비용 절감 </a:t>
            </a:r>
            <a:r>
              <a:rPr lang="en-US" altLang="ko-KR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(30 ~ 50%)</a:t>
            </a: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저렴한 비용의 디지털 노동력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(= 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소프트웨어 로봇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확보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적은 인력으로도 더 많은 업무 처리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542925" lvl="2" indent="-95250" defTabSz="914485" latinLnBrk="0">
              <a:spcBef>
                <a:spcPts val="300"/>
              </a:spcBef>
              <a:buFont typeface="나눔고딕" panose="020D0604000000000000" pitchFamily="50" charset="-127"/>
              <a:buChar char="-"/>
              <a:defRPr/>
            </a:pP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 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365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 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연속적인 업무 수행 가능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80975" lvl="0" indent="-180975" defTabSz="914485" latinLnBrk="0">
              <a:spcBef>
                <a:spcPts val="1200"/>
              </a:spcBef>
              <a:buFont typeface="Wingdings" panose="05000000000000000000" pitchFamily="2" charset="2"/>
              <a:buChar char="v"/>
              <a:defRPr/>
            </a:pP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업무 생산성 향상 </a:t>
            </a:r>
            <a:r>
              <a:rPr lang="en-US" altLang="ko-KR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수작업 대비 </a:t>
            </a:r>
            <a:r>
              <a:rPr lang="en-US" altLang="ko-KR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 ~ 5</a:t>
            </a: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배</a:t>
            </a:r>
            <a:r>
              <a:rPr lang="en-US" altLang="ko-KR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디지털 노동력에 의한 신속 정확한 업무 처리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수작업 시 발생할 수 있는 오류의 획기적인 감소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업무 처리 규정 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100% </a:t>
            </a:r>
            <a:r>
              <a:rPr lang="ko-KR" altLang="en-US" sz="105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준수</a:t>
            </a:r>
            <a:endParaRPr lang="ko-KR" altLang="en-US" sz="1200" dirty="0" err="1" smtClean="0"/>
          </a:p>
        </p:txBody>
      </p:sp>
      <p:sp>
        <p:nvSpPr>
          <p:cNvPr id="7" name="TextBox 6"/>
          <p:cNvSpPr txBox="1"/>
          <p:nvPr/>
        </p:nvSpPr>
        <p:spPr>
          <a:xfrm>
            <a:off x="4953000" y="4024079"/>
            <a:ext cx="4071949" cy="21005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80975" indent="-180975" defTabSz="914485" latinLnBrk="0">
              <a:spcBef>
                <a:spcPts val="1200"/>
              </a:spcBef>
              <a:buFont typeface="Wingdings" panose="05000000000000000000" pitchFamily="2" charset="2"/>
              <a:buChar char="v"/>
              <a:defRPr/>
            </a:pPr>
            <a:r>
              <a:rPr lang="ko-KR" altLang="en-US" sz="1100" b="1" smtClean="0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효율적인 </a:t>
            </a: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자원 활용</a:t>
            </a:r>
            <a:endParaRPr lang="en-US" altLang="ko-KR" sz="1100" b="1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디지털 </a:t>
            </a:r>
            <a:r>
              <a:rPr lang="ko-KR" altLang="en-US" sz="105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노동력</a:t>
            </a:r>
            <a:r>
              <a:rPr lang="en-US" altLang="ko-KR" sz="105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(PC)</a:t>
            </a:r>
            <a:r>
              <a:rPr lang="ko-KR" altLang="en-US" sz="105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투입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542925" lvl="2" indent="-95250" defTabSz="914485" latinLnBrk="0">
              <a:spcBef>
                <a:spcPts val="300"/>
              </a:spcBef>
              <a:buFont typeface="나눔고딕" panose="020D0604000000000000" pitchFamily="50" charset="-127"/>
              <a:buChar char="-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단순 반복적인 업무 수행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542925" lvl="2" indent="-95250" defTabSz="914485" latinLnBrk="0">
              <a:spcBef>
                <a:spcPts val="300"/>
              </a:spcBef>
              <a:buFont typeface="나눔고딕" panose="020D0604000000000000" pitchFamily="50" charset="-127"/>
              <a:buChar char="-"/>
              <a:defRPr/>
            </a:pP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 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365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 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시간 연속적인 업무 수행 가능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효율적인 인적 자원 배치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542925" lvl="2" indent="-95250" defTabSz="914485" latinLnBrk="0">
              <a:spcBef>
                <a:spcPts val="300"/>
              </a:spcBef>
              <a:buFont typeface="나눔고딕" panose="020D0604000000000000" pitchFamily="50" charset="-127"/>
              <a:buChar char="-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고부가치 창출 업무 수행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542925" lvl="2" indent="-95250" defTabSz="914485" latinLnBrk="0">
              <a:spcBef>
                <a:spcPts val="300"/>
              </a:spcBef>
              <a:buFont typeface="나눔고딕" panose="020D0604000000000000" pitchFamily="50" charset="-127"/>
              <a:buChar char="-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의사 소통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공감</a:t>
            </a:r>
            <a:r>
              <a:rPr lang="en-US" altLang="ko-KR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판단 등을 필요로 하는 고난이도 업무 수행</a:t>
            </a:r>
            <a:endParaRPr lang="en-US" altLang="ko-KR" sz="105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80975" indent="-180975" defTabSz="914485" latinLnBrk="0">
              <a:spcBef>
                <a:spcPts val="1200"/>
              </a:spcBef>
              <a:buFont typeface="Wingdings" panose="05000000000000000000" pitchFamily="2" charset="2"/>
              <a:buChar char="v"/>
              <a:defRPr/>
            </a:pPr>
            <a:r>
              <a:rPr lang="ko-KR" altLang="en-US" sz="1100" b="1">
                <a:solidFill>
                  <a:srgbClr val="C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데이터 보안 강화</a:t>
            </a:r>
            <a:endParaRPr lang="en-US" altLang="ko-KR" sz="1100" b="1">
              <a:solidFill>
                <a:srgbClr val="C0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5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보안 데이터에 대한 인적 자원의 접근 </a:t>
            </a:r>
            <a:r>
              <a:rPr lang="ko-KR" altLang="en-US" sz="105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제한</a:t>
            </a:r>
            <a:endParaRPr lang="ko-KR" altLang="en-US" sz="1200" dirty="0" err="1" smtClean="0"/>
          </a:p>
        </p:txBody>
      </p:sp>
      <p:sp>
        <p:nvSpPr>
          <p:cNvPr id="8" name="TextBox 7"/>
          <p:cNvSpPr txBox="1"/>
          <p:nvPr/>
        </p:nvSpPr>
        <p:spPr>
          <a:xfrm>
            <a:off x="5005838" y="2653300"/>
            <a:ext cx="4339650" cy="1246495"/>
          </a:xfrm>
          <a:prstGeom prst="rect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  <a:alpha val="38000"/>
                </a:schemeClr>
              </a:gs>
              <a:gs pos="82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0" scaled="1"/>
            <a:tileRect/>
          </a:gradFill>
          <a:ln>
            <a:solidFill>
              <a:srgbClr val="0000CC"/>
            </a:solidFill>
          </a:ln>
        </p:spPr>
        <p:txBody>
          <a:bodyPr wrap="none" rtlCol="0">
            <a:spAutoFit/>
          </a:bodyPr>
          <a:lstStyle/>
          <a:p>
            <a:r>
              <a:rPr lang="ko-KR" altLang="en-US" sz="1100" b="1" smtClean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단계별 진행상태 및 단계별 정보 취득 방안</a:t>
            </a:r>
            <a:endParaRPr lang="en-US" altLang="ko-KR" sz="1100" b="1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나라장터 접속 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  <a:sym typeface="Wingdings" panose="05000000000000000000" pitchFamily="2" charset="2"/>
              </a:rPr>
              <a:t>  ID, PASSWORD </a:t>
            </a:r>
            <a:endParaRPr lang="en-US" altLang="ko-KR" sz="110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검색어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사전규격등록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ID,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입찰공고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No,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계약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ID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등</a:t>
            </a:r>
            <a:r>
              <a:rPr lang="en-US" altLang="ko-KR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로 진행상태 확인</a:t>
            </a:r>
            <a:endParaRPr lang="en-US" altLang="ko-KR" sz="1100" smtClean="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해당 정보의 상세내역 비교로 진행 변경사항 추출</a:t>
            </a:r>
            <a:endParaRPr lang="en-US" altLang="ko-KR" sz="1100" smtClean="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361950" lvl="1" indent="-95250" defTabSz="914485" latinLnBrk="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100" smtClean="0"/>
              <a:t>검색</a:t>
            </a:r>
            <a:r>
              <a:rPr lang="en-US" altLang="ko-KR" sz="1100" smtClean="0"/>
              <a:t>ID</a:t>
            </a:r>
            <a:r>
              <a:rPr lang="ko-KR" altLang="en-US" sz="1100" smtClean="0"/>
              <a:t>별 추출정보의 기록 및 담당자에게 자료 송신</a:t>
            </a:r>
            <a:endParaRPr lang="ko-KR" altLang="en-US" sz="1100" dirty="0" err="1" smtClean="0"/>
          </a:p>
        </p:txBody>
      </p:sp>
    </p:spTree>
    <p:extLst>
      <p:ext uri="{BB962C8B-B14F-4D97-AF65-F5344CB8AC3E}">
        <p14:creationId xmlns:p14="http://schemas.microsoft.com/office/powerpoint/2010/main" val="181260816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2.5.2.3 </a:t>
            </a:r>
            <a:r>
              <a:rPr lang="ko-KR" altLang="en-US" sz="1800" smtClean="0"/>
              <a:t>계약정보의 체계적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계약정보 관리 체계화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7283153"/>
              </p:ext>
            </p:extLst>
          </p:nvPr>
        </p:nvGraphicFramePr>
        <p:xfrm>
          <a:off x="488504" y="3891870"/>
          <a:ext cx="8928992" cy="23454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3145"/>
                <a:gridCol w="1297895"/>
                <a:gridCol w="5213736"/>
                <a:gridCol w="1944216"/>
              </a:tblGrid>
              <a:tr h="1947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구분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DATA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94747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계약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정보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계약정보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나라장터에서 계약정보를 추출하여 계약정보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구매요청 정보에서 해당 예산 복사 입력 후 변경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물품 정보에 대한 물품코드 연결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수불관리 기준 및 자산분류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자산일 경우 가계정번호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지급 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중도금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지급계획 등록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계약조건에 따라 생성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3196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계약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변경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변경차수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변경시 차수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하여 계약정보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예산정보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물품정보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지급계획 복사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계약정보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변경에 따라 계약정보 변경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변경에 따라 예산정보 변경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물품정보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변경에 따라 물품정보 변경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지급 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변경에 따라 지급계획 변경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949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지출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결의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선급 지출 결의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선금 지급이 있을 경우 계약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지급계획에서 지출계획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0" name="순서도: 처리 29"/>
          <p:cNvSpPr/>
          <p:nvPr/>
        </p:nvSpPr>
        <p:spPr>
          <a:xfrm>
            <a:off x="2422446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입찰정보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3489235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확정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8476761" y="169445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계약변경차수</a:t>
            </a:r>
          </a:p>
        </p:txBody>
      </p:sp>
      <p:sp>
        <p:nvSpPr>
          <p:cNvPr id="34" name="순서도: 종속 처리 33"/>
          <p:cNvSpPr/>
          <p:nvPr/>
        </p:nvSpPr>
        <p:spPr>
          <a:xfrm>
            <a:off x="3488213" y="1229395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나라장터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7220956" y="2071482"/>
            <a:ext cx="896825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변경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5872240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정보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3286542" y="2210619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</p:cNvCxnSpPr>
          <p:nvPr/>
        </p:nvCxnSpPr>
        <p:spPr>
          <a:xfrm>
            <a:off x="4353331" y="2210619"/>
            <a:ext cx="177985" cy="843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47" idx="3"/>
            <a:endCxn id="40" idx="1"/>
          </p:cNvCxnSpPr>
          <p:nvPr/>
        </p:nvCxnSpPr>
        <p:spPr>
          <a:xfrm>
            <a:off x="5400606" y="2210619"/>
            <a:ext cx="471634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0" idx="3"/>
            <a:endCxn id="39" idx="1"/>
          </p:cNvCxnSpPr>
          <p:nvPr/>
        </p:nvCxnSpPr>
        <p:spPr>
          <a:xfrm>
            <a:off x="6736336" y="2210619"/>
            <a:ext cx="48462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34" idx="2"/>
            <a:endCxn id="31" idx="0"/>
          </p:cNvCxnSpPr>
          <p:nvPr/>
        </p:nvCxnSpPr>
        <p:spPr>
          <a:xfrm>
            <a:off x="3920261" y="1500923"/>
            <a:ext cx="1022" cy="565680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종속 처리 58"/>
          <p:cNvSpPr/>
          <p:nvPr/>
        </p:nvSpPr>
        <p:spPr>
          <a:xfrm>
            <a:off x="2422446" y="1227664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나라장터</a:t>
            </a:r>
          </a:p>
        </p:txBody>
      </p:sp>
      <p:cxnSp>
        <p:nvCxnSpPr>
          <p:cNvPr id="8" name="직선 화살표 연결선 7"/>
          <p:cNvCxnSpPr>
            <a:stCxn id="59" idx="2"/>
            <a:endCxn id="30" idx="0"/>
          </p:cNvCxnSpPr>
          <p:nvPr/>
        </p:nvCxnSpPr>
        <p:spPr>
          <a:xfrm>
            <a:off x="2854494" y="1499192"/>
            <a:ext cx="0" cy="567411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순서도: 처리 46"/>
          <p:cNvSpPr/>
          <p:nvPr/>
        </p:nvSpPr>
        <p:spPr>
          <a:xfrm>
            <a:off x="4536510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RPA </a:t>
            </a:r>
            <a:r>
              <a:rPr lang="ko-KR" altLang="en-US" sz="900" smtClean="0">
                <a:solidFill>
                  <a:schemeClr val="tx1"/>
                </a:solidFill>
              </a:rPr>
              <a:t>기록</a:t>
            </a:r>
          </a:p>
        </p:txBody>
      </p:sp>
      <p:sp>
        <p:nvSpPr>
          <p:cNvPr id="50" name="순서도: 처리 49"/>
          <p:cNvSpPr/>
          <p:nvPr/>
        </p:nvSpPr>
        <p:spPr>
          <a:xfrm>
            <a:off x="416496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구매요청 정보</a:t>
            </a:r>
          </a:p>
        </p:txBody>
      </p:sp>
      <p:sp>
        <p:nvSpPr>
          <p:cNvPr id="52" name="순서도: 처리 51"/>
          <p:cNvSpPr/>
          <p:nvPr/>
        </p:nvSpPr>
        <p:spPr>
          <a:xfrm>
            <a:off x="416496" y="2859291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예산정보</a:t>
            </a:r>
          </a:p>
        </p:txBody>
      </p:sp>
      <p:cxnSp>
        <p:nvCxnSpPr>
          <p:cNvPr id="13" name="직선 연결선 12"/>
          <p:cNvCxnSpPr/>
          <p:nvPr/>
        </p:nvCxnSpPr>
        <p:spPr>
          <a:xfrm>
            <a:off x="1362964" y="1196752"/>
            <a:ext cx="0" cy="2575036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/>
          <p:cNvCxnSpPr>
            <a:stCxn id="52" idx="3"/>
            <a:endCxn id="48" idx="1"/>
          </p:cNvCxnSpPr>
          <p:nvPr/>
        </p:nvCxnSpPr>
        <p:spPr>
          <a:xfrm flipV="1">
            <a:off x="1280592" y="2974867"/>
            <a:ext cx="4577600" cy="28440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순서도: 처리 59"/>
          <p:cNvSpPr/>
          <p:nvPr/>
        </p:nvSpPr>
        <p:spPr>
          <a:xfrm>
            <a:off x="5863978" y="321297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지급 계획</a:t>
            </a:r>
          </a:p>
        </p:txBody>
      </p:sp>
      <p:sp>
        <p:nvSpPr>
          <p:cNvPr id="64" name="순서도: 처리 63"/>
          <p:cNvSpPr/>
          <p:nvPr/>
        </p:nvSpPr>
        <p:spPr>
          <a:xfrm>
            <a:off x="8473130" y="3212976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지급 계획</a:t>
            </a:r>
          </a:p>
        </p:txBody>
      </p:sp>
      <p:cxnSp>
        <p:nvCxnSpPr>
          <p:cNvPr id="25" name="꺾인 연결선 24"/>
          <p:cNvCxnSpPr>
            <a:stCxn id="39" idx="3"/>
            <a:endCxn id="33" idx="1"/>
          </p:cNvCxnSpPr>
          <p:nvPr/>
        </p:nvCxnSpPr>
        <p:spPr>
          <a:xfrm flipV="1">
            <a:off x="8117781" y="1838468"/>
            <a:ext cx="358980" cy="372152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/>
          <p:cNvCxnSpPr>
            <a:stCxn id="40" idx="2"/>
            <a:endCxn id="60" idx="0"/>
          </p:cNvCxnSpPr>
          <p:nvPr/>
        </p:nvCxnSpPr>
        <p:spPr>
          <a:xfrm flipH="1">
            <a:off x="6296026" y="2354635"/>
            <a:ext cx="8262" cy="858341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순서도: 처리 47"/>
          <p:cNvSpPr/>
          <p:nvPr/>
        </p:nvSpPr>
        <p:spPr>
          <a:xfrm>
            <a:off x="5858192" y="2830851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정보</a:t>
            </a:r>
          </a:p>
        </p:txBody>
      </p:sp>
      <p:sp>
        <p:nvSpPr>
          <p:cNvPr id="61" name="순서도: 처리 60"/>
          <p:cNvSpPr/>
          <p:nvPr/>
        </p:nvSpPr>
        <p:spPr>
          <a:xfrm>
            <a:off x="5868556" y="2448727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물품 정보</a:t>
            </a:r>
          </a:p>
        </p:txBody>
      </p:sp>
      <p:cxnSp>
        <p:nvCxnSpPr>
          <p:cNvPr id="66" name="직선 연결선 65"/>
          <p:cNvCxnSpPr>
            <a:stCxn id="33" idx="2"/>
            <a:endCxn id="64" idx="0"/>
          </p:cNvCxnSpPr>
          <p:nvPr/>
        </p:nvCxnSpPr>
        <p:spPr>
          <a:xfrm flipH="1">
            <a:off x="8905178" y="1982484"/>
            <a:ext cx="3631" cy="123049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순서도: 처리 61"/>
          <p:cNvSpPr/>
          <p:nvPr/>
        </p:nvSpPr>
        <p:spPr>
          <a:xfrm>
            <a:off x="8481392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정보</a:t>
            </a:r>
          </a:p>
        </p:txBody>
      </p:sp>
      <p:sp>
        <p:nvSpPr>
          <p:cNvPr id="63" name="순서도: 처리 62"/>
          <p:cNvSpPr/>
          <p:nvPr/>
        </p:nvSpPr>
        <p:spPr>
          <a:xfrm>
            <a:off x="8467344" y="2830851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정보</a:t>
            </a:r>
          </a:p>
        </p:txBody>
      </p:sp>
      <p:sp>
        <p:nvSpPr>
          <p:cNvPr id="65" name="순서도: 처리 64"/>
          <p:cNvSpPr/>
          <p:nvPr/>
        </p:nvSpPr>
        <p:spPr>
          <a:xfrm>
            <a:off x="8477708" y="2448727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물품정보</a:t>
            </a:r>
          </a:p>
        </p:txBody>
      </p:sp>
      <p:sp>
        <p:nvSpPr>
          <p:cNvPr id="73" name="순서도: 처리 72"/>
          <p:cNvSpPr/>
          <p:nvPr/>
        </p:nvSpPr>
        <p:spPr>
          <a:xfrm>
            <a:off x="1445956" y="206660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사전규격등록</a:t>
            </a:r>
          </a:p>
        </p:txBody>
      </p:sp>
      <p:sp>
        <p:nvSpPr>
          <p:cNvPr id="74" name="순서도: 종속 처리 73"/>
          <p:cNvSpPr/>
          <p:nvPr/>
        </p:nvSpPr>
        <p:spPr>
          <a:xfrm>
            <a:off x="1455520" y="1223530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나라장터</a:t>
            </a:r>
          </a:p>
        </p:txBody>
      </p:sp>
      <p:cxnSp>
        <p:nvCxnSpPr>
          <p:cNvPr id="72" name="직선 화살표 연결선 71"/>
          <p:cNvCxnSpPr/>
          <p:nvPr/>
        </p:nvCxnSpPr>
        <p:spPr>
          <a:xfrm>
            <a:off x="1907407" y="1499192"/>
            <a:ext cx="0" cy="567411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순서도: 종속 처리 69"/>
          <p:cNvSpPr/>
          <p:nvPr/>
        </p:nvSpPr>
        <p:spPr>
          <a:xfrm>
            <a:off x="1445338" y="1628775"/>
            <a:ext cx="2906972" cy="287338"/>
          </a:xfrm>
          <a:prstGeom prst="flowChartPredefinedProcess">
            <a:avLst/>
          </a:prstGeom>
          <a:solidFill>
            <a:schemeClr val="bg2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RPA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5" name="순서도: 대체 처리 74"/>
          <p:cNvSpPr/>
          <p:nvPr/>
        </p:nvSpPr>
        <p:spPr>
          <a:xfrm>
            <a:off x="5702047" y="1402412"/>
            <a:ext cx="3762491" cy="2248865"/>
          </a:xfrm>
          <a:prstGeom prst="flowChartAlternateProcess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7135325" y="1422751"/>
            <a:ext cx="9028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u="sng" smtClean="0"/>
              <a:t>계약정보</a:t>
            </a:r>
            <a:endParaRPr lang="ko-KR" altLang="en-US" sz="1400" b="1" u="sng" dirty="0" err="1" smtClean="0"/>
          </a:p>
        </p:txBody>
      </p:sp>
      <p:cxnSp>
        <p:nvCxnSpPr>
          <p:cNvPr id="78" name="직선 연결선 77"/>
          <p:cNvCxnSpPr>
            <a:stCxn id="194" idx="3"/>
            <a:endCxn id="194" idx="1"/>
          </p:cNvCxnSpPr>
          <p:nvPr/>
        </p:nvCxnSpPr>
        <p:spPr>
          <a:xfrm flipH="1">
            <a:off x="341308" y="3771788"/>
            <a:ext cx="917416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110807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2.5.2.4 </a:t>
            </a:r>
            <a:r>
              <a:rPr lang="ko-KR" altLang="en-US" sz="1800" smtClean="0"/>
              <a:t>검사</a:t>
            </a:r>
            <a:r>
              <a:rPr lang="en-US" altLang="ko-KR" sz="1800" smtClean="0"/>
              <a:t>/</a:t>
            </a:r>
            <a:r>
              <a:rPr lang="ko-KR" altLang="en-US" sz="1800" smtClean="0"/>
              <a:t>검수 정보의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411869"/>
            <a:ext cx="9174167" cy="4934955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검사</a:t>
              </a:r>
              <a:r>
                <a:rPr lang="en-US" altLang="ko-KR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.</a:t>
              </a: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검수정보의 관리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3" name="순서도: 처리 32"/>
          <p:cNvSpPr/>
          <p:nvPr/>
        </p:nvSpPr>
        <p:spPr>
          <a:xfrm>
            <a:off x="3223357" y="2352888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계약변경차수</a:t>
            </a:r>
          </a:p>
        </p:txBody>
      </p:sp>
      <p:sp>
        <p:nvSpPr>
          <p:cNvPr id="39" name="순서도: 판단 38"/>
          <p:cNvSpPr/>
          <p:nvPr/>
        </p:nvSpPr>
        <p:spPr>
          <a:xfrm>
            <a:off x="1967552" y="2729918"/>
            <a:ext cx="896825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변경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618836" y="2725039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정보</a:t>
            </a:r>
          </a:p>
        </p:txBody>
      </p:sp>
      <p:cxnSp>
        <p:nvCxnSpPr>
          <p:cNvPr id="51" name="직선 화살표 연결선 50"/>
          <p:cNvCxnSpPr>
            <a:stCxn id="40" idx="3"/>
            <a:endCxn id="39" idx="1"/>
          </p:cNvCxnSpPr>
          <p:nvPr/>
        </p:nvCxnSpPr>
        <p:spPr>
          <a:xfrm>
            <a:off x="1482932" y="2869055"/>
            <a:ext cx="48462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순서도: 처리 59"/>
          <p:cNvSpPr/>
          <p:nvPr/>
        </p:nvSpPr>
        <p:spPr>
          <a:xfrm>
            <a:off x="610574" y="387141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지급 계획</a:t>
            </a:r>
          </a:p>
        </p:txBody>
      </p:sp>
      <p:sp>
        <p:nvSpPr>
          <p:cNvPr id="64" name="순서도: 처리 63"/>
          <p:cNvSpPr/>
          <p:nvPr/>
        </p:nvSpPr>
        <p:spPr>
          <a:xfrm>
            <a:off x="3219726" y="387141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지급 계획</a:t>
            </a:r>
          </a:p>
        </p:txBody>
      </p:sp>
      <p:cxnSp>
        <p:nvCxnSpPr>
          <p:cNvPr id="25" name="꺾인 연결선 24"/>
          <p:cNvCxnSpPr>
            <a:stCxn id="39" idx="3"/>
            <a:endCxn id="33" idx="1"/>
          </p:cNvCxnSpPr>
          <p:nvPr/>
        </p:nvCxnSpPr>
        <p:spPr>
          <a:xfrm flipV="1">
            <a:off x="2864377" y="2496904"/>
            <a:ext cx="358980" cy="372152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/>
          <p:cNvCxnSpPr>
            <a:stCxn id="40" idx="2"/>
            <a:endCxn id="60" idx="0"/>
          </p:cNvCxnSpPr>
          <p:nvPr/>
        </p:nvCxnSpPr>
        <p:spPr>
          <a:xfrm flipH="1">
            <a:off x="1042622" y="3013071"/>
            <a:ext cx="8262" cy="858341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순서도: 처리 47"/>
          <p:cNvSpPr/>
          <p:nvPr/>
        </p:nvSpPr>
        <p:spPr>
          <a:xfrm>
            <a:off x="604788" y="3489287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정보</a:t>
            </a:r>
          </a:p>
        </p:txBody>
      </p:sp>
      <p:sp>
        <p:nvSpPr>
          <p:cNvPr id="61" name="순서도: 처리 60"/>
          <p:cNvSpPr/>
          <p:nvPr/>
        </p:nvSpPr>
        <p:spPr>
          <a:xfrm>
            <a:off x="615152" y="310716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물품 정보</a:t>
            </a:r>
          </a:p>
        </p:txBody>
      </p:sp>
      <p:cxnSp>
        <p:nvCxnSpPr>
          <p:cNvPr id="66" name="직선 연결선 65"/>
          <p:cNvCxnSpPr>
            <a:stCxn id="33" idx="2"/>
            <a:endCxn id="64" idx="0"/>
          </p:cNvCxnSpPr>
          <p:nvPr/>
        </p:nvCxnSpPr>
        <p:spPr>
          <a:xfrm flipH="1">
            <a:off x="3651774" y="2640920"/>
            <a:ext cx="3631" cy="123049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순서도: 처리 61"/>
          <p:cNvSpPr/>
          <p:nvPr/>
        </p:nvSpPr>
        <p:spPr>
          <a:xfrm>
            <a:off x="3227988" y="2725039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정보</a:t>
            </a:r>
          </a:p>
        </p:txBody>
      </p:sp>
      <p:sp>
        <p:nvSpPr>
          <p:cNvPr id="63" name="순서도: 처리 62"/>
          <p:cNvSpPr/>
          <p:nvPr/>
        </p:nvSpPr>
        <p:spPr>
          <a:xfrm>
            <a:off x="3213940" y="3466357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정보</a:t>
            </a:r>
          </a:p>
        </p:txBody>
      </p:sp>
      <p:sp>
        <p:nvSpPr>
          <p:cNvPr id="65" name="순서도: 처리 64"/>
          <p:cNvSpPr/>
          <p:nvPr/>
        </p:nvSpPr>
        <p:spPr>
          <a:xfrm>
            <a:off x="3224304" y="3065131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물품정보</a:t>
            </a:r>
          </a:p>
        </p:txBody>
      </p:sp>
      <p:sp>
        <p:nvSpPr>
          <p:cNvPr id="75" name="순서도: 대체 처리 74"/>
          <p:cNvSpPr/>
          <p:nvPr/>
        </p:nvSpPr>
        <p:spPr>
          <a:xfrm>
            <a:off x="448643" y="2060848"/>
            <a:ext cx="3762491" cy="2248865"/>
          </a:xfrm>
          <a:prstGeom prst="flowChartAlternateProcess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1881921" y="2081187"/>
            <a:ext cx="9028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u="sng" smtClean="0"/>
              <a:t>계약정보</a:t>
            </a:r>
            <a:endParaRPr lang="ko-KR" altLang="en-US" sz="1400" b="1" u="sng" dirty="0" err="1" smtClean="0"/>
          </a:p>
        </p:txBody>
      </p:sp>
      <p:cxnSp>
        <p:nvCxnSpPr>
          <p:cNvPr id="78" name="직선 연결선 77"/>
          <p:cNvCxnSpPr/>
          <p:nvPr/>
        </p:nvCxnSpPr>
        <p:spPr>
          <a:xfrm flipH="1">
            <a:off x="344488" y="4430224"/>
            <a:ext cx="917416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순서도: 처리 54"/>
          <p:cNvSpPr/>
          <p:nvPr/>
        </p:nvSpPr>
        <p:spPr>
          <a:xfrm>
            <a:off x="5074595" y="2725039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정보</a:t>
            </a:r>
          </a:p>
        </p:txBody>
      </p:sp>
      <p:cxnSp>
        <p:nvCxnSpPr>
          <p:cNvPr id="56" name="직선 화살표 연결선 55"/>
          <p:cNvCxnSpPr>
            <a:stCxn id="55" idx="3"/>
          </p:cNvCxnSpPr>
          <p:nvPr/>
        </p:nvCxnSpPr>
        <p:spPr>
          <a:xfrm>
            <a:off x="5938691" y="2869055"/>
            <a:ext cx="48462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/>
          <p:cNvCxnSpPr>
            <a:stCxn id="55" idx="2"/>
            <a:endCxn id="77" idx="0"/>
          </p:cNvCxnSpPr>
          <p:nvPr/>
        </p:nvCxnSpPr>
        <p:spPr>
          <a:xfrm flipH="1">
            <a:off x="5502959" y="3013071"/>
            <a:ext cx="3684" cy="9409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순서도: 처리 76"/>
          <p:cNvSpPr/>
          <p:nvPr/>
        </p:nvSpPr>
        <p:spPr>
          <a:xfrm>
            <a:off x="5070911" y="310716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물품 정보</a:t>
            </a:r>
          </a:p>
        </p:txBody>
      </p:sp>
      <p:sp>
        <p:nvSpPr>
          <p:cNvPr id="80" name="순서도: 처리 79"/>
          <p:cNvSpPr/>
          <p:nvPr/>
        </p:nvSpPr>
        <p:spPr>
          <a:xfrm>
            <a:off x="7891449" y="2725039"/>
            <a:ext cx="1016739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지출결의서 생성</a:t>
            </a:r>
          </a:p>
        </p:txBody>
      </p:sp>
      <p:sp>
        <p:nvSpPr>
          <p:cNvPr id="81" name="순서도: 처리 80"/>
          <p:cNvSpPr/>
          <p:nvPr/>
        </p:nvSpPr>
        <p:spPr>
          <a:xfrm>
            <a:off x="7891449" y="3466357"/>
            <a:ext cx="1007943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가계정</a:t>
            </a:r>
            <a:r>
              <a:rPr lang="en-US" altLang="ko-KR" sz="900" smtClean="0">
                <a:solidFill>
                  <a:schemeClr val="tx1"/>
                </a:solidFill>
              </a:rPr>
              <a:t>No</a:t>
            </a:r>
            <a:r>
              <a:rPr lang="ko-KR" altLang="en-US" sz="900" smtClean="0">
                <a:solidFill>
                  <a:schemeClr val="tx1"/>
                </a:solidFill>
              </a:rPr>
              <a:t>입력</a:t>
            </a:r>
          </a:p>
        </p:txBody>
      </p:sp>
      <p:sp>
        <p:nvSpPr>
          <p:cNvPr id="82" name="순서도: 처리 81"/>
          <p:cNvSpPr/>
          <p:nvPr/>
        </p:nvSpPr>
        <p:spPr>
          <a:xfrm>
            <a:off x="7891449" y="3085679"/>
            <a:ext cx="1018307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검수 물품정보</a:t>
            </a:r>
          </a:p>
        </p:txBody>
      </p:sp>
      <p:sp>
        <p:nvSpPr>
          <p:cNvPr id="83" name="순서도: 대체 처리 82"/>
          <p:cNvSpPr/>
          <p:nvPr/>
        </p:nvSpPr>
        <p:spPr>
          <a:xfrm>
            <a:off x="4904402" y="2060848"/>
            <a:ext cx="4369078" cy="2248865"/>
          </a:xfrm>
          <a:prstGeom prst="flowChartAlternateProcess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6337680" y="2081187"/>
            <a:ext cx="9028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u="sng" smtClean="0"/>
              <a:t>검수정보</a:t>
            </a:r>
            <a:endParaRPr lang="ko-KR" altLang="en-US" sz="1400" b="1" u="sng" dirty="0" err="1" smtClean="0"/>
          </a:p>
        </p:txBody>
      </p:sp>
      <p:sp>
        <p:nvSpPr>
          <p:cNvPr id="85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검사</a:t>
            </a:r>
            <a:r>
              <a:rPr lang="en-US" altLang="ko-KR" sz="1600" smtClean="0"/>
              <a:t>.</a:t>
            </a:r>
            <a:r>
              <a:rPr lang="ko-KR" altLang="en-US" sz="1600" smtClean="0"/>
              <a:t>검수정보를 관리함으로써 중도금 및 잔금을 지급하는 지출결의서를 생성하고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 취득시 자산취득 대상 물품으로 인식하고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 취득금액을 산정할 수 있는 가계정 자료로 관리함</a:t>
            </a:r>
            <a:endParaRPr lang="ko-KR" altLang="en-US" sz="1600" dirty="0"/>
          </a:p>
        </p:txBody>
      </p:sp>
      <p:sp>
        <p:nvSpPr>
          <p:cNvPr id="2" name="줄무늬가 있는 오른쪽 화살표 1"/>
          <p:cNvSpPr/>
          <p:nvPr/>
        </p:nvSpPr>
        <p:spPr>
          <a:xfrm>
            <a:off x="4376936" y="2640920"/>
            <a:ext cx="432048" cy="848367"/>
          </a:xfrm>
          <a:prstGeom prst="stripedRightArrow">
            <a:avLst/>
          </a:prstGeom>
          <a:gradFill flip="none" rotWithShape="1">
            <a:gsLst>
              <a:gs pos="0">
                <a:schemeClr val="accent2">
                  <a:tint val="50000"/>
                  <a:satMod val="300000"/>
                </a:schemeClr>
              </a:gs>
              <a:gs pos="35000">
                <a:schemeClr val="accent2">
                  <a:tint val="37000"/>
                  <a:satMod val="300000"/>
                </a:schemeClr>
              </a:gs>
              <a:gs pos="100000">
                <a:schemeClr val="accent2">
                  <a:tint val="15000"/>
                  <a:satMod val="350000"/>
                </a:schemeClr>
              </a:gs>
            </a:gsLst>
            <a:lin ang="10800000" scaled="1"/>
            <a:tileRect/>
          </a:gra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" name="순서도: 처리 6"/>
          <p:cNvSpPr/>
          <p:nvPr/>
        </p:nvSpPr>
        <p:spPr>
          <a:xfrm>
            <a:off x="6423311" y="2725040"/>
            <a:ext cx="617921" cy="628124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전량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일부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검수자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검수의견</a:t>
            </a:r>
          </a:p>
        </p:txBody>
      </p:sp>
      <p:cxnSp>
        <p:nvCxnSpPr>
          <p:cNvPr id="12" name="꺾인 연결선 11"/>
          <p:cNvCxnSpPr>
            <a:stCxn id="7" idx="3"/>
            <a:endCxn id="80" idx="1"/>
          </p:cNvCxnSpPr>
          <p:nvPr/>
        </p:nvCxnSpPr>
        <p:spPr>
          <a:xfrm flipV="1">
            <a:off x="7041232" y="2869055"/>
            <a:ext cx="850217" cy="170047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꺾인 연결선 14"/>
          <p:cNvCxnSpPr>
            <a:stCxn id="80" idx="1"/>
            <a:endCxn id="81" idx="1"/>
          </p:cNvCxnSpPr>
          <p:nvPr/>
        </p:nvCxnSpPr>
        <p:spPr>
          <a:xfrm rot="10800000" flipV="1">
            <a:off x="7891449" y="2869055"/>
            <a:ext cx="12700" cy="741318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꺾인 연결선 20"/>
          <p:cNvCxnSpPr>
            <a:stCxn id="82" idx="1"/>
            <a:endCxn id="81" idx="1"/>
          </p:cNvCxnSpPr>
          <p:nvPr/>
        </p:nvCxnSpPr>
        <p:spPr>
          <a:xfrm rot="10800000" flipV="1">
            <a:off x="7891449" y="3229695"/>
            <a:ext cx="12700" cy="380678"/>
          </a:xfrm>
          <a:prstGeom prst="bentConnector3">
            <a:avLst>
              <a:gd name="adj1" fmla="val 1800000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9587" y="4598795"/>
            <a:ext cx="4403770" cy="12772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AutoNum type="arabicParenR"/>
            </a:pPr>
            <a:r>
              <a:rPr lang="ko-KR" altLang="en-US" sz="1100" smtClean="0"/>
              <a:t>지출결의서 생성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검수건에 대한 지출결의서 생성</a:t>
            </a:r>
            <a:endParaRPr lang="en-US" altLang="ko-KR" sz="1100" smtClean="0"/>
          </a:p>
          <a:p>
            <a:pPr marL="228600" indent="-228600">
              <a:buAutoNum type="arabicParenR"/>
            </a:pPr>
            <a:endParaRPr lang="en-US" altLang="ko-KR" sz="1100"/>
          </a:p>
          <a:p>
            <a:pPr marL="228600" indent="-228600">
              <a:buAutoNum type="arabicParenR"/>
            </a:pPr>
            <a:r>
              <a:rPr lang="ko-KR" altLang="en-US" sz="1100" smtClean="0"/>
              <a:t>검수 물품 등록 </a:t>
            </a:r>
            <a:r>
              <a:rPr lang="en-US" altLang="ko-KR" sz="1100" smtClean="0"/>
              <a:t>– </a:t>
            </a:r>
            <a:r>
              <a:rPr lang="ko-KR" altLang="en-US" sz="1100" smtClean="0"/>
              <a:t>계약물품 복사 후 수량 수정</a:t>
            </a:r>
            <a:endParaRPr lang="en-US" altLang="ko-KR" sz="1100" smtClean="0"/>
          </a:p>
          <a:p>
            <a:pPr marL="228600" indent="-228600">
              <a:buAutoNum type="arabicParenR"/>
            </a:pPr>
            <a:endParaRPr lang="en-US" altLang="ko-KR" sz="1100"/>
          </a:p>
          <a:p>
            <a:pPr marL="228600" indent="-228600">
              <a:buAutoNum type="arabicParenR"/>
            </a:pPr>
            <a:r>
              <a:rPr lang="ko-KR" altLang="en-US" sz="1100" smtClean="0"/>
              <a:t>검수 금액 산정 및 가계정번호 선택</a:t>
            </a:r>
            <a:r>
              <a:rPr lang="en-US" altLang="ko-KR" sz="1100" smtClean="0"/>
              <a:t>/</a:t>
            </a:r>
            <a:r>
              <a:rPr lang="ko-KR" altLang="en-US" sz="1100" smtClean="0"/>
              <a:t>등록 </a:t>
            </a:r>
            <a:endParaRPr lang="en-US" altLang="ko-KR" sz="1100" smtClean="0"/>
          </a:p>
          <a:p>
            <a:r>
              <a:rPr lang="en-US" altLang="ko-KR" sz="1100" smtClean="0"/>
              <a:t> </a:t>
            </a:r>
          </a:p>
          <a:p>
            <a:r>
              <a:rPr lang="en-US" altLang="ko-KR" sz="1100"/>
              <a:t> </a:t>
            </a:r>
            <a:r>
              <a:rPr lang="en-US" altLang="ko-KR" sz="1100" smtClean="0"/>
              <a:t>   </a:t>
            </a:r>
            <a:r>
              <a:rPr lang="en-US" altLang="ko-KR" sz="1100" smtClean="0">
                <a:sym typeface="Wingdings" panose="05000000000000000000" pitchFamily="2" charset="2"/>
              </a:rPr>
              <a:t> </a:t>
            </a:r>
            <a:r>
              <a:rPr lang="ko-KR" altLang="en-US" sz="1100" smtClean="0">
                <a:sym typeface="Wingdings" panose="05000000000000000000" pitchFamily="2" charset="2"/>
              </a:rPr>
              <a:t>가계정 번호별 발생금액 집계 </a:t>
            </a:r>
            <a:r>
              <a:rPr lang="en-US" altLang="ko-KR" sz="1100" smtClean="0">
                <a:sym typeface="Wingdings" panose="05000000000000000000" pitchFamily="2" charset="2"/>
              </a:rPr>
              <a:t>(</a:t>
            </a:r>
            <a:r>
              <a:rPr lang="ko-KR" altLang="en-US" sz="1100" smtClean="0">
                <a:sym typeface="Wingdings" panose="05000000000000000000" pitchFamily="2" charset="2"/>
              </a:rPr>
              <a:t>자산 취득시 취득금액 산정용</a:t>
            </a:r>
            <a:r>
              <a:rPr lang="en-US" altLang="ko-KR" sz="1100" smtClean="0">
                <a:sym typeface="Wingdings" panose="05000000000000000000" pitchFamily="2" charset="2"/>
              </a:rPr>
              <a:t>)</a:t>
            </a:r>
            <a:endParaRPr lang="ko-KR" altLang="en-US" sz="1100" dirty="0" err="1" smtClean="0"/>
          </a:p>
        </p:txBody>
      </p:sp>
    </p:spTree>
    <p:extLst>
      <p:ext uri="{BB962C8B-B14F-4D97-AF65-F5344CB8AC3E}">
        <p14:creationId xmlns:p14="http://schemas.microsoft.com/office/powerpoint/2010/main" val="23525022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2.5 </a:t>
            </a:r>
            <a:r>
              <a:rPr lang="ko-KR" altLang="en-US" smtClean="0"/>
              <a:t>구매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2.5.2.5 </a:t>
            </a:r>
            <a:r>
              <a:rPr lang="ko-KR" altLang="en-US" sz="1800" smtClean="0"/>
              <a:t>지출결의서 자동 생성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2.5 </a:t>
            </a:r>
            <a:r>
              <a:rPr lang="ko-KR" altLang="en-US" smtClean="0"/>
              <a:t>구매관리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411869"/>
            <a:ext cx="9174167" cy="4934955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구매관련 지출결의서 자동 생성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5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 latinLnBrk="0"/>
            <a:r>
              <a:rPr lang="ko-KR" altLang="en-US" sz="1600" smtClean="0"/>
              <a:t>구매시스템에서 발생하는 대금지급을 위한 지출전표를 계약 및 검수정보를 사용하여 자동으로 생성하여 지급처리하며</a:t>
            </a:r>
            <a:r>
              <a:rPr lang="en-US" altLang="ko-KR" sz="1600" smtClean="0"/>
              <a:t>, </a:t>
            </a:r>
            <a:r>
              <a:rPr lang="ko-KR" altLang="en-US" sz="1600" smtClean="0"/>
              <a:t>자산 취득대상 물품일 경우 잔금처리 전표일자를 자산 취득일자로 처리함</a:t>
            </a:r>
            <a:endParaRPr lang="ko-KR" altLang="en-US" sz="1600" dirty="0"/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2961679"/>
              </p:ext>
            </p:extLst>
          </p:nvPr>
        </p:nvGraphicFramePr>
        <p:xfrm>
          <a:off x="463895" y="1844824"/>
          <a:ext cx="8928992" cy="4392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3145"/>
                <a:gridCol w="1297895"/>
                <a:gridCol w="5534500"/>
                <a:gridCol w="1623452"/>
              </a:tblGrid>
              <a:tr h="3872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smtClean="0">
                          <a:solidFill>
                            <a:srgbClr val="0000CC"/>
                          </a:solidFill>
                        </a:rPr>
                        <a:t>No</a:t>
                      </a:r>
                      <a:endParaRPr lang="ko-KR" altLang="en-US" sz="11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</a:rPr>
                        <a:t>구분</a:t>
                      </a:r>
                      <a:endParaRPr lang="ko-KR" altLang="en-US" sz="11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565008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선금 지급 결의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계약정보에 선금 조건이 있을 경우 선금 지급계획 생성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계약조건에 따라 생성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723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선금 지급에 대한 지출결의서 생성 및 선금지급내역 기록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64678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중도금 지급 결의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지급계획과 검사</a:t>
                      </a:r>
                      <a:r>
                        <a:rPr lang="en-US" altLang="ko-KR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검수 자료에 의한 지급결의서 생성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여러차례 중도금을 지급시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지급계획 입력 후 처리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421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지급 계획별 지급 내역 기록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646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물품별 지급액 산정 및 수불대상이면 입고 </a:t>
                      </a:r>
                      <a:r>
                        <a:rPr lang="en-US" altLang="ko-KR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생성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64678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지급 결의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물품이 자산 취득 대상일 경우 해당물품 가계정번호에 집계된 금액으로 자산 취득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가계정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DATA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에 취득일자 </a:t>
                      </a:r>
                      <a:endParaRPr lang="en-US" altLang="ko-KR" sz="1000" smtClean="0">
                        <a:solidFill>
                          <a:schemeClr val="tx1"/>
                        </a:solidFill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설정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421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잔금 지급 결의서의 회계전표일자로 자산 취득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5747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물품별 지급액 산정 및 수불대상이면 입고 </a:t>
                      </a:r>
                      <a:r>
                        <a:rPr lang="en-US" altLang="ko-KR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DATA </a:t>
                      </a:r>
                      <a:r>
                        <a:rPr lang="ko-KR" altLang="en-US" sz="10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생성</a:t>
                      </a:r>
                      <a:endParaRPr lang="ko-KR" altLang="en-US" sz="10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456180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>
              <a:spcAft>
                <a:spcPct val="30000"/>
              </a:spcAft>
              <a:buClr>
                <a:schemeClr val="bg2"/>
              </a:buClr>
            </a:pPr>
            <a:r>
              <a:rPr lang="ko-KR" altLang="en-US">
                <a:latin typeface="+mn-ea"/>
                <a:ea typeface="+mn-ea"/>
              </a:rPr>
              <a:t>자산의 취득에서부터 배치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이동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후속지출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자산실사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불용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처분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감가상각 </a:t>
            </a:r>
            <a:r>
              <a:rPr lang="ko-KR" altLang="en-US">
                <a:latin typeface="+mn-ea"/>
                <a:ea typeface="+mn-ea"/>
              </a:rPr>
              <a:t>등 각종 자산변동이력을 </a:t>
            </a:r>
            <a:r>
              <a:rPr lang="ko-KR" altLang="en-US" smtClean="0">
                <a:latin typeface="+mn-ea"/>
                <a:ea typeface="+mn-ea"/>
              </a:rPr>
              <a:t>개별자산별로 관리하고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취득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처분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</a:t>
            </a:r>
            <a:r>
              <a:rPr lang="ko-KR" altLang="en-US">
                <a:latin typeface="+mn-ea"/>
                <a:ea typeface="+mn-ea"/>
              </a:rPr>
              <a:t>감가상각 결과를 회계시스템에 제공하는 등 타 시스템과의 긴밀한 연계를 통하여 자산관리 담당자가 효율적으로 자산관리 업무를 처리할 수 있도록 </a:t>
            </a:r>
            <a:r>
              <a:rPr lang="ko-KR" altLang="en-US" smtClean="0">
                <a:latin typeface="+mn-ea"/>
                <a:ea typeface="+mn-ea"/>
              </a:rPr>
              <a:t>함</a:t>
            </a:r>
            <a:endParaRPr lang="en-US" altLang="ko-KR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자산관리 개선 및 업무 </a:t>
            </a:r>
            <a:r>
              <a:rPr lang="ko-KR" altLang="en-US" dirty="0"/>
              <a:t>효율화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2.6.1 </a:t>
            </a:r>
            <a:r>
              <a:rPr lang="ko-KR" altLang="en-US" sz="1800" dirty="0"/>
              <a:t>과제</a:t>
            </a:r>
            <a:r>
              <a:rPr lang="en-US" altLang="ko-KR" sz="1800" dirty="0"/>
              <a:t> </a:t>
            </a:r>
            <a:r>
              <a:rPr lang="ko-KR" altLang="en-US" sz="1800" dirty="0"/>
              <a:t>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개선 및 업무 </a:t>
            </a:r>
            <a:r>
              <a:rPr lang="ko-KR" altLang="en-US" dirty="0"/>
              <a:t>효율화</a:t>
            </a:r>
            <a:endParaRPr lang="en-US" altLang="ko-KR" dirty="0"/>
          </a:p>
        </p:txBody>
      </p:sp>
      <p:grpSp>
        <p:nvGrpSpPr>
          <p:cNvPr id="5" name="그룹 77">
            <a:extLst>
              <a:ext uri="{FF2B5EF4-FFF2-40B4-BE49-F238E27FC236}">
                <a16:creationId xmlns="" xmlns:a16="http://schemas.microsoft.com/office/drawing/2014/main" id="{B0511B2C-F5D4-492B-8A5A-D90A0D0B3868}"/>
              </a:ext>
            </a:extLst>
          </p:cNvPr>
          <p:cNvGrpSpPr/>
          <p:nvPr/>
        </p:nvGrpSpPr>
        <p:grpSpPr>
          <a:xfrm>
            <a:off x="355147" y="1592796"/>
            <a:ext cx="9180512" cy="4788532"/>
            <a:chOff x="200025" y="1592796"/>
            <a:chExt cx="6733195" cy="4788532"/>
          </a:xfrm>
        </p:grpSpPr>
        <p:sp>
          <p:nvSpPr>
            <p:cNvPr id="79" name="직사각형 78">
              <a:extLst>
                <a:ext uri="{FF2B5EF4-FFF2-40B4-BE49-F238E27FC236}">
                  <a16:creationId xmlns="" xmlns:a16="http://schemas.microsoft.com/office/drawing/2014/main" id="{7A02AF25-67DB-49E8-A9F5-7456F591158A}"/>
                </a:ext>
              </a:extLst>
            </p:cNvPr>
            <p:cNvSpPr/>
            <p:nvPr/>
          </p:nvSpPr>
          <p:spPr bwMode="auto">
            <a:xfrm>
              <a:off x="200025" y="1592796"/>
              <a:ext cx="6733195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lvl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 개요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="" xmlns:a16="http://schemas.microsoft.com/office/drawing/2014/main" id="{2D8432D5-5596-482C-A21A-563B582C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" y="1916832"/>
              <a:ext cx="6733195" cy="4464496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자유형: 도형 7">
            <a:extLst>
              <a:ext uri="{FF2B5EF4-FFF2-40B4-BE49-F238E27FC236}">
                <a16:creationId xmlns="" xmlns:a16="http://schemas.microsoft.com/office/drawing/2014/main" id="{DC8F9B3D-33EF-48D3-A461-A50900D519EB}"/>
              </a:ext>
            </a:extLst>
          </p:cNvPr>
          <p:cNvSpPr/>
          <p:nvPr/>
        </p:nvSpPr>
        <p:spPr>
          <a:xfrm>
            <a:off x="2463951" y="2002612"/>
            <a:ext cx="529865" cy="4299947"/>
          </a:xfrm>
          <a:custGeom>
            <a:avLst/>
            <a:gdLst>
              <a:gd name="connsiteX0" fmla="*/ 0 w 528992"/>
              <a:gd name="connsiteY0" fmla="*/ 324952 h 4299947"/>
              <a:gd name="connsiteX1" fmla="*/ 37785 w 528992"/>
              <a:gd name="connsiteY1" fmla="*/ 4012780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8992" h="4299947">
                <a:moveTo>
                  <a:pt x="0" y="324952"/>
                </a:moveTo>
                <a:lnTo>
                  <a:pt x="37785" y="4012780"/>
                </a:lnTo>
                <a:lnTo>
                  <a:pt x="521435" y="4299947"/>
                </a:lnTo>
                <a:lnTo>
                  <a:pt x="528992" y="0"/>
                </a:lnTo>
                <a:lnTo>
                  <a:pt x="0" y="324952"/>
                </a:lnTo>
                <a:close/>
              </a:path>
            </a:pathLst>
          </a:custGeom>
          <a:gradFill>
            <a:gsLst>
              <a:gs pos="82000">
                <a:schemeClr val="bg1">
                  <a:lumMod val="85000"/>
                </a:schemeClr>
              </a:gs>
              <a:gs pos="0">
                <a:schemeClr val="bg1">
                  <a:lumMod val="95000"/>
                </a:schemeClr>
              </a:gs>
            </a:gsLst>
            <a:lin ang="0" scaled="0"/>
          </a:gra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자산관리 </a:t>
            </a:r>
            <a:r>
              <a:rPr lang="ko-KR" altLang="en-US" sz="1400" b="1" kern="0" spc="-150" dirty="0">
                <a:solidFill>
                  <a:prstClr val="black"/>
                </a:solidFill>
                <a:latin typeface="+mn-ea"/>
              </a:rPr>
              <a:t>업무 효율화</a:t>
            </a:r>
            <a:endParaRPr kumimoji="0" lang="ko-KR" altLang="en-US" sz="1400" b="1" i="0" u="none" strike="noStrike" kern="0" cap="none" spc="-1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6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9"/>
            <a:ext cx="2028386" cy="527511"/>
            <a:chOff x="401216" y="2918940"/>
            <a:chExt cx="2310143" cy="551720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시스템자산과 회계자산의 일치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1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7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370156"/>
            <a:ext cx="2028386" cy="527511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자산 취득관리 기능 개선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2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="" xmlns:a16="http://schemas.microsoft.com/office/drawing/2014/main" id="{3D81FFC0-71B9-46DA-943A-B129A730D4BD}"/>
              </a:ext>
            </a:extLst>
          </p:cNvPr>
          <p:cNvSpPr/>
          <p:nvPr/>
        </p:nvSpPr>
        <p:spPr>
          <a:xfrm>
            <a:off x="2923626" y="1975288"/>
            <a:ext cx="6433414" cy="4345672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9" name="그룹 85">
            <a:extLst>
              <a:ext uri="{FF2B5EF4-FFF2-40B4-BE49-F238E27FC236}">
                <a16:creationId xmlns="" xmlns:a16="http://schemas.microsoft.com/office/drawing/2014/main" id="{73987A2F-326C-4CD0-B79A-54DB536D835A}"/>
              </a:ext>
            </a:extLst>
          </p:cNvPr>
          <p:cNvGrpSpPr/>
          <p:nvPr/>
        </p:nvGrpSpPr>
        <p:grpSpPr>
          <a:xfrm>
            <a:off x="2993826" y="2026778"/>
            <a:ext cx="6177272" cy="4255416"/>
            <a:chOff x="2748955" y="2035656"/>
            <a:chExt cx="6071105" cy="4255416"/>
          </a:xfrm>
        </p:grpSpPr>
        <p:sp>
          <p:nvSpPr>
            <p:cNvPr id="87" name="직사각형 86">
              <a:extLst>
                <a:ext uri="{FF2B5EF4-FFF2-40B4-BE49-F238E27FC236}">
                  <a16:creationId xmlns="" xmlns:a16="http://schemas.microsoft.com/office/drawing/2014/main" id="{3BD8B947-9794-4DA9-A8A0-A2416C4E54C6}"/>
                </a:ext>
              </a:extLst>
            </p:cNvPr>
            <p:cNvSpPr/>
            <p:nvPr/>
          </p:nvSpPr>
          <p:spPr>
            <a:xfrm>
              <a:off x="2748955" y="2035656"/>
              <a:ext cx="838975" cy="4255416"/>
            </a:xfrm>
            <a:prstGeom prst="rect">
              <a:avLst/>
            </a:prstGeom>
            <a:solidFill>
              <a:srgbClr val="C7DDFD"/>
            </a:solidFill>
            <a:ln>
              <a:noFill/>
            </a:ln>
          </p:spPr>
          <p:txBody>
            <a:bodyPr vert="horz" wrap="square" lIns="97969" tIns="48984" rIns="97969" bIns="48984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="" xmlns:a16="http://schemas.microsoft.com/office/drawing/2014/main" id="{462C3777-4666-48F1-B8E7-F560F769B567}"/>
                </a:ext>
              </a:extLst>
            </p:cNvPr>
            <p:cNvSpPr/>
            <p:nvPr/>
          </p:nvSpPr>
          <p:spPr>
            <a:xfrm>
              <a:off x="2814261" y="2111448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과제 정의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3197124E-28D4-472B-9558-9173E8CA2836}"/>
                </a:ext>
              </a:extLst>
            </p:cNvPr>
            <p:cNvSpPr/>
            <p:nvPr/>
          </p:nvSpPr>
          <p:spPr>
            <a:xfrm>
              <a:off x="3831300" y="2111448"/>
              <a:ext cx="4988760" cy="410375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시스템에서 관리하고 있는 자산과 회계의 감가상각 자산을 일치시키고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구매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회계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업무와 연계하여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취득에서 처분까지의 자산관리 업무를 효율적으로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처리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="" xmlns:a16="http://schemas.microsoft.com/office/drawing/2014/main" id="{4A3DA6E3-91CE-4B46-AB40-3122683B6F23}"/>
                </a:ext>
              </a:extLst>
            </p:cNvPr>
            <p:cNvSpPr/>
            <p:nvPr/>
          </p:nvSpPr>
          <p:spPr>
            <a:xfrm>
              <a:off x="2814261" y="32847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현황 및 문제점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3645D26A-84A7-4B58-98CD-009CE5F34953}"/>
                </a:ext>
              </a:extLst>
            </p:cNvPr>
            <p:cNvSpPr/>
            <p:nvPr/>
          </p:nvSpPr>
          <p:spPr>
            <a:xfrm>
              <a:off x="3831300" y="3284714"/>
              <a:ext cx="4988760" cy="873244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시스템에서 관리하는 실물자산과 회계 감가상각용 자산의 불일치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자산 취득시 자산 취득금액의 정확한 산정을 위한 기능 필요</a:t>
              </a:r>
              <a:endParaRPr kumimoji="1" lang="ko-KR" altLang="en-US" sz="1000" kern="0" dirty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자산 실사 및 이동처리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불용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처분 등의 자산 업무 기능 고도화 요구</a:t>
              </a:r>
              <a:endParaRPr kumimoji="1" lang="en-US" altLang="ko-KR" sz="1000" kern="0" dirty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취득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처분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감가상각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자산결산 등의 자산관련 전표 수기 입력 개선</a:t>
              </a:r>
              <a:endParaRPr kumimoji="1" lang="ko-KR" altLang="en-US" sz="100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="" xmlns:a16="http://schemas.microsoft.com/office/drawing/2014/main" id="{B22CB68C-1A52-4323-9BA6-715C4CA74F06}"/>
                </a:ext>
              </a:extLst>
            </p:cNvPr>
            <p:cNvSpPr/>
            <p:nvPr/>
          </p:nvSpPr>
          <p:spPr>
            <a:xfrm>
              <a:off x="2814261" y="2596957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목적 및 필요성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="" xmlns:a16="http://schemas.microsoft.com/office/drawing/2014/main" id="{746CCBF5-18E3-4846-B382-B28F40C95B89}"/>
                </a:ext>
              </a:extLst>
            </p:cNvPr>
            <p:cNvSpPr/>
            <p:nvPr/>
          </p:nvSpPr>
          <p:spPr>
            <a:xfrm>
              <a:off x="3831300" y="2596957"/>
              <a:ext cx="4988760" cy="61956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구매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회계 업무와 상세정보 </a:t>
              </a:r>
              <a:r>
                <a:rPr kumimoji="1" lang="ko-KR" altLang="en-US" sz="1000" kern="0" dirty="0">
                  <a:solidFill>
                    <a:prstClr val="black"/>
                  </a:solidFill>
                  <a:latin typeface="+mn-ea"/>
                </a:rPr>
                <a:t>공유를 통한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업무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처리 정확성 및 편의성 제고</a:t>
              </a:r>
              <a:endParaRPr kumimoji="1" lang="en-US" altLang="ko-KR" sz="1000" kern="0" dirty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회계 자산대장과 </a:t>
              </a:r>
              <a:r>
                <a:rPr kumimoji="1" lang="ko-KR" altLang="en-US" sz="1000" kern="0" dirty="0">
                  <a:solidFill>
                    <a:prstClr val="black"/>
                  </a:solidFill>
                  <a:latin typeface="+mn-ea"/>
                </a:rPr>
                <a:t>실물자산의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불일치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해소 및 자산결산과 감가상각 시스템화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="" xmlns:a16="http://schemas.microsoft.com/office/drawing/2014/main" id="{C70CC1FB-D735-4714-A12C-D27BF40CD53F}"/>
                </a:ext>
              </a:extLst>
            </p:cNvPr>
            <p:cNvSpPr/>
            <p:nvPr/>
          </p:nvSpPr>
          <p:spPr>
            <a:xfrm>
              <a:off x="2814261" y="42164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 방향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="" xmlns:a16="http://schemas.microsoft.com/office/drawing/2014/main" id="{5FC3F293-C2CE-4C3A-A082-2985541B2A49}"/>
                </a:ext>
              </a:extLst>
            </p:cNvPr>
            <p:cNvSpPr/>
            <p:nvPr/>
          </p:nvSpPr>
          <p:spPr>
            <a:xfrm>
              <a:off x="3831299" y="4216414"/>
              <a:ext cx="4988760" cy="143688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회계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-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실물자산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매칭에 의해 회계기준으로 자산 목록 정비</a:t>
              </a:r>
              <a:endParaRPr kumimoji="1" lang="ko-KR" altLang="en-US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구매 및 자산취득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결의서에서의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자산 가계정 관리로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취득원가 집계 및 취득시 반영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부서별 자산담당자 관리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자산실사 계획 및 결과관리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과부족 일괄 이동처리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불용 자산의 처분 신청 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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승인 </a:t>
              </a:r>
              <a:r>
                <a:rPr kumimoji="1" lang="en-US" altLang="ko-KR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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  <a:sym typeface="Wingdings" panose="05000000000000000000" pitchFamily="2" charset="2"/>
                </a:rPr>
                <a:t>자산관리자 처리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에 의한 처분 전표 자동생성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당해년도 취득이 완료되지 않은 건설중인 자산에 대한 결산전표 자동 생성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9F60708A-697A-422E-84EB-603677EFF344}"/>
                </a:ext>
              </a:extLst>
            </p:cNvPr>
            <p:cNvSpPr/>
            <p:nvPr/>
          </p:nvSpPr>
          <p:spPr>
            <a:xfrm>
              <a:off x="2814261" y="5713669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고려사항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F3587659-245E-46A2-96B1-18B88C25A318}"/>
                </a:ext>
              </a:extLst>
            </p:cNvPr>
            <p:cNvSpPr/>
            <p:nvPr/>
          </p:nvSpPr>
          <p:spPr>
            <a:xfrm>
              <a:off x="3831300" y="5713669"/>
              <a:ext cx="4988760" cy="505551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회계의 감가상각용 자산목록과 시스템의 실물자산 목록 일치가 최우선 전제사항임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10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963824"/>
            <a:ext cx="2028386" cy="527511"/>
            <a:chOff x="401216" y="2918940"/>
            <a:chExt cx="2310143" cy="551720"/>
          </a:xfrm>
        </p:grpSpPr>
        <p:sp>
          <p:nvSpPr>
            <p:cNvPr id="33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자산실사 및 자산이동 관리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3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5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67956" y="4581128"/>
            <a:ext cx="2028386" cy="527511"/>
            <a:chOff x="401216" y="2918940"/>
            <a:chExt cx="2310143" cy="551720"/>
          </a:xfrm>
        </p:grpSpPr>
        <p:sp>
          <p:nvSpPr>
            <p:cNvPr id="36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자산 불용 및 처분 관리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4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8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8230" y="5205745"/>
            <a:ext cx="2028386" cy="527511"/>
            <a:chOff x="401216" y="2918940"/>
            <a:chExt cx="2310143" cy="551720"/>
          </a:xfrm>
        </p:grpSpPr>
        <p:sp>
          <p:nvSpPr>
            <p:cNvPr id="39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자산 전표 처리 자동화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0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5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561991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시스템에서 관리하고 있는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자산 목록과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회계의 감가상각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자산 목록을 일치시키는 부분이 자산업무에 서 가장 우선적으로 처리해야 할 업무이며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회계 자산 목록을 기준으로 자산목록을 작성하여 자산 금액이 현행대로 유지하도록 하고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상호 일치하지 않는 건은 회계상 자산과 부외자산으로 처리함</a:t>
            </a:r>
            <a:endParaRPr kumimoji="1" lang="en-US" altLang="ko-KR" kern="0" smtClean="0">
              <a:solidFill>
                <a:prstClr val="black"/>
              </a:solidFill>
              <a:latin typeface="+mn-ea"/>
            </a:endParaRPr>
          </a:p>
          <a:p>
            <a:pPr algn="l"/>
            <a:endParaRPr kumimoji="1" lang="en-US" altLang="ko-KR" kern="0">
              <a:solidFill>
                <a:prstClr val="black"/>
              </a:solidFill>
              <a:latin typeface="+mn-ea"/>
            </a:endParaRPr>
          </a:p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고 </a:t>
            </a:r>
            <a:r>
              <a:rPr lang="ko-KR" altLang="en-US" sz="1600" smtClean="0"/>
              <a:t>구매 물품의 구매 관련정보와 자산 분류 등의 추가 관리로 구매 요청 및 입고시 자산 취득대상정보 생성을 용이하게 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정부권장정책 자료를 관리하여 구매실적 보고자료 생성을 용이하게 함</a:t>
            </a:r>
            <a:r>
              <a:rPr lang="en-US" altLang="ko-KR" sz="1600" smtClean="0"/>
              <a:t>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2.6.2.1 </a:t>
            </a:r>
            <a:r>
              <a:rPr lang="ko-KR" altLang="en-US" sz="1800" smtClean="0"/>
              <a:t>시스템 자산목록과 회계 자산목록의 일치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27894"/>
            <a:ext cx="9174167" cy="4718931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시스템 </a:t>
              </a:r>
              <a:r>
                <a:rPr lang="ko-KR" altLang="en-US" sz="1400" b="1">
                  <a:solidFill>
                    <a:schemeClr val="bg1"/>
                  </a:solidFill>
                </a:rPr>
                <a:t>자산목록과 회계 자산목록의 </a:t>
              </a:r>
              <a:r>
                <a:rPr lang="ko-KR" altLang="en-US" sz="1400" b="1" smtClean="0">
                  <a:solidFill>
                    <a:schemeClr val="bg1"/>
                  </a:solidFill>
                </a:rPr>
                <a:t>일치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6600130"/>
              </p:ext>
            </p:extLst>
          </p:nvPr>
        </p:nvGraphicFramePr>
        <p:xfrm>
          <a:off x="470248" y="3586445"/>
          <a:ext cx="8928991" cy="2650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54360"/>
                <a:gridCol w="1512168"/>
                <a:gridCol w="1224136"/>
                <a:gridCol w="4320480"/>
                <a:gridCol w="917847"/>
              </a:tblGrid>
              <a:tr h="3688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 자산 목록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자산목록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87191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사전 정비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회계자산은 개별자산으로 분리하여 금액배분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취득금액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장부잔액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개별자산으로 배분되는 금액은 원단위까지 정확하게 배분해야 함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00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대사 작업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회계자산목록 기준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취득일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취득금액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자산명 등으로 일치하는 자산을 찾아서 각 자산 목록에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일치여부 상호 표시하고 회계금액을 기록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금액은 별도 관리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00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 자산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회계에만 있는 자산은 시스템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목록에 </a:t>
                      </a:r>
                      <a:r>
                        <a:rPr lang="ko-KR" altLang="en-US" sz="1000" b="1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입력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하고 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회계자산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＂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00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부외 자산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시스템에만 있는 자산은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부외자산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구분처리하고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금액란을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변경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금액항목을 추가하여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이동 보관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상각 미 대상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379587" y="1988840"/>
            <a:ext cx="721543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AutoNum type="arabicParenR"/>
            </a:pPr>
            <a:r>
              <a:rPr lang="ko-KR" altLang="en-US" sz="1100" smtClean="0"/>
              <a:t>회계 자산 목록 정비 </a:t>
            </a:r>
            <a:r>
              <a:rPr lang="en-US" altLang="ko-KR" sz="1100" smtClean="0"/>
              <a:t>- </a:t>
            </a:r>
            <a:r>
              <a:rPr lang="ko-KR" altLang="en-US" sz="1100" smtClean="0"/>
              <a:t>시스템에서 관리하는 동일한 방법으로 개별자산으로 분리하고</a:t>
            </a:r>
            <a:r>
              <a:rPr lang="en-US" altLang="ko-KR" sz="1100" smtClean="0"/>
              <a:t>, </a:t>
            </a:r>
            <a:r>
              <a:rPr lang="ko-KR" altLang="en-US" sz="1100" smtClean="0"/>
              <a:t>개별자산의 금액 계산</a:t>
            </a:r>
            <a:endParaRPr lang="en-US" altLang="ko-KR" sz="1100" smtClean="0"/>
          </a:p>
          <a:p>
            <a:r>
              <a:rPr lang="en-US" altLang="ko-KR" sz="1100"/>
              <a:t> </a:t>
            </a:r>
            <a:r>
              <a:rPr lang="en-US" altLang="ko-KR" sz="1100" smtClean="0"/>
              <a:t>                                (</a:t>
            </a:r>
            <a:r>
              <a:rPr lang="ko-KR" altLang="en-US" sz="1100" smtClean="0"/>
              <a:t>취득금액</a:t>
            </a:r>
            <a:r>
              <a:rPr lang="en-US" altLang="ko-KR" sz="1100" smtClean="0"/>
              <a:t>, </a:t>
            </a:r>
            <a:r>
              <a:rPr lang="ko-KR" altLang="en-US" sz="1100" smtClean="0"/>
              <a:t>처분금액</a:t>
            </a:r>
            <a:r>
              <a:rPr lang="en-US" altLang="ko-KR" sz="1100" smtClean="0"/>
              <a:t>, </a:t>
            </a:r>
            <a:r>
              <a:rPr lang="ko-KR" altLang="en-US" sz="1100" smtClean="0"/>
              <a:t>감가상각충당금</a:t>
            </a:r>
            <a:r>
              <a:rPr lang="en-US" altLang="ko-KR" sz="1100" smtClean="0"/>
              <a:t>, </a:t>
            </a:r>
            <a:r>
              <a:rPr lang="ko-KR" altLang="en-US" sz="1100" smtClean="0"/>
              <a:t>장부잔액</a:t>
            </a:r>
            <a:r>
              <a:rPr lang="en-US" altLang="ko-KR" sz="1100" smtClean="0"/>
              <a:t>)</a:t>
            </a:r>
          </a:p>
          <a:p>
            <a:endParaRPr lang="en-US" altLang="ko-KR" sz="1100"/>
          </a:p>
          <a:p>
            <a:r>
              <a:rPr lang="en-US" altLang="ko-KR" sz="1100" smtClean="0"/>
              <a:t>2) </a:t>
            </a:r>
            <a:r>
              <a:rPr lang="ko-KR" altLang="en-US" sz="1100" smtClean="0"/>
              <a:t>회계 자산 목록과</a:t>
            </a:r>
            <a:r>
              <a:rPr lang="en-US" altLang="ko-KR" sz="1100" smtClean="0"/>
              <a:t> </a:t>
            </a:r>
            <a:r>
              <a:rPr lang="ko-KR" altLang="en-US" sz="1100" smtClean="0"/>
              <a:t>시스템 자산을 비교하여 동일한 자산 매칭</a:t>
            </a:r>
            <a:endParaRPr lang="en-US" altLang="ko-KR" sz="1100" smtClean="0"/>
          </a:p>
          <a:p>
            <a:endParaRPr lang="en-US" altLang="ko-KR" sz="1100"/>
          </a:p>
          <a:p>
            <a:r>
              <a:rPr lang="en-US" altLang="ko-KR" sz="1100" smtClean="0"/>
              <a:t>3) </a:t>
            </a:r>
            <a:r>
              <a:rPr lang="ko-KR" altLang="en-US" sz="1100" smtClean="0"/>
              <a:t>회계에만 있는자산 </a:t>
            </a:r>
            <a:r>
              <a:rPr lang="en-US" altLang="ko-KR" sz="1100" smtClean="0"/>
              <a:t>– “</a:t>
            </a:r>
            <a:r>
              <a:rPr lang="ko-KR" altLang="en-US" sz="1100" smtClean="0"/>
              <a:t>회계자산</a:t>
            </a:r>
            <a:r>
              <a:rPr lang="en-US" altLang="ko-KR" sz="1100" smtClean="0"/>
              <a:t>”</a:t>
            </a:r>
            <a:r>
              <a:rPr lang="ko-KR" altLang="en-US" sz="1100" smtClean="0"/>
              <a:t>으로 구분</a:t>
            </a:r>
            <a:r>
              <a:rPr lang="en-US" altLang="ko-KR" sz="1100" smtClean="0"/>
              <a:t>(</a:t>
            </a:r>
            <a:r>
              <a:rPr lang="ko-KR" altLang="en-US" sz="1100" smtClean="0"/>
              <a:t>회계자산은 자산실사 대상이 아님</a:t>
            </a:r>
            <a:r>
              <a:rPr lang="en-US" altLang="ko-KR" sz="1100" smtClean="0"/>
              <a:t>)</a:t>
            </a:r>
          </a:p>
          <a:p>
            <a:endParaRPr lang="en-US" altLang="ko-KR" sz="1100"/>
          </a:p>
          <a:p>
            <a:r>
              <a:rPr lang="en-US" altLang="ko-KR" sz="1100" smtClean="0"/>
              <a:t>4) </a:t>
            </a:r>
            <a:r>
              <a:rPr lang="ko-KR" altLang="en-US" sz="1100" smtClean="0"/>
              <a:t>시스템에만 있는 자산 </a:t>
            </a:r>
            <a:r>
              <a:rPr lang="en-US" altLang="ko-KR" sz="1100" smtClean="0"/>
              <a:t>– “</a:t>
            </a:r>
            <a:r>
              <a:rPr lang="ko-KR" altLang="en-US" sz="1100" smtClean="0"/>
              <a:t>부외자산</a:t>
            </a:r>
            <a:r>
              <a:rPr lang="en-US" altLang="ko-KR" sz="1100" smtClean="0"/>
              <a:t>“</a:t>
            </a:r>
            <a:r>
              <a:rPr lang="ko-KR" altLang="en-US" sz="1100" smtClean="0"/>
              <a:t>으로 구분</a:t>
            </a:r>
            <a:r>
              <a:rPr lang="en-US" altLang="ko-KR" sz="1100" smtClean="0"/>
              <a:t>(</a:t>
            </a:r>
            <a:r>
              <a:rPr lang="ko-KR" altLang="en-US" sz="1100" smtClean="0"/>
              <a:t>부외자산은 처분</a:t>
            </a:r>
            <a:r>
              <a:rPr lang="en-US" altLang="ko-KR" sz="1100" smtClean="0"/>
              <a:t>, </a:t>
            </a:r>
            <a:r>
              <a:rPr lang="ko-KR" altLang="en-US" sz="1100" smtClean="0"/>
              <a:t>감가상각 대상이 아님 </a:t>
            </a:r>
            <a:r>
              <a:rPr lang="en-US" altLang="ko-KR" sz="1100" smtClean="0">
                <a:sym typeface="Wingdings" panose="05000000000000000000" pitchFamily="2" charset="2"/>
              </a:rPr>
              <a:t></a:t>
            </a:r>
            <a:r>
              <a:rPr lang="en-US" altLang="ko-KR" sz="1100" smtClean="0"/>
              <a:t> </a:t>
            </a:r>
            <a:r>
              <a:rPr lang="ko-KR" altLang="en-US" sz="1100" smtClean="0"/>
              <a:t>금액을 </a:t>
            </a:r>
            <a:r>
              <a:rPr lang="en-US" altLang="ko-KR" sz="1100" smtClean="0"/>
              <a:t>0</a:t>
            </a:r>
            <a:r>
              <a:rPr lang="ko-KR" altLang="en-US" sz="1100" smtClean="0"/>
              <a:t>으로 관리</a:t>
            </a:r>
            <a:r>
              <a:rPr lang="en-US" altLang="ko-KR" sz="1100" smtClean="0"/>
              <a:t>)</a:t>
            </a:r>
            <a:endParaRPr lang="ko-KR" altLang="en-US" sz="1100" dirty="0" err="1" smtClean="0"/>
          </a:p>
        </p:txBody>
      </p:sp>
    </p:spTree>
    <p:extLst>
      <p:ext uri="{BB962C8B-B14F-4D97-AF65-F5344CB8AC3E}">
        <p14:creationId xmlns:p14="http://schemas.microsoft.com/office/powerpoint/2010/main" val="302108682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mtClean="0"/>
              <a:t>구매</a:t>
            </a:r>
            <a:r>
              <a:rPr lang="en-US" altLang="ko-KR" smtClean="0"/>
              <a:t>, </a:t>
            </a:r>
            <a:r>
              <a:rPr lang="ko-KR" altLang="en-US" smtClean="0"/>
              <a:t>공사</a:t>
            </a:r>
            <a:r>
              <a:rPr lang="en-US" altLang="ko-KR" smtClean="0"/>
              <a:t>, </a:t>
            </a:r>
            <a:r>
              <a:rPr lang="ko-KR" altLang="en-US" smtClean="0"/>
              <a:t>용역</a:t>
            </a:r>
            <a:r>
              <a:rPr lang="en-US" altLang="ko-KR" smtClean="0"/>
              <a:t>, </a:t>
            </a:r>
            <a:r>
              <a:rPr lang="ko-KR" altLang="en-US" smtClean="0"/>
              <a:t>사용권자산 등의 자산취득 처리시 자산의 취득금액을 정확히 산정하기 위해서 계약건별로 가계정번호를 부여하여 금액을 집계하고</a:t>
            </a:r>
            <a:r>
              <a:rPr lang="en-US" altLang="ko-KR" smtClean="0"/>
              <a:t>, </a:t>
            </a:r>
            <a:r>
              <a:rPr lang="ko-KR" altLang="en-US" smtClean="0"/>
              <a:t>계약이 아닌 다른 형태로 취득될 경우에는 자산취득 지출결의서에 가계정번호를 입력하여</a:t>
            </a:r>
            <a:r>
              <a:rPr lang="en-US" altLang="ko-KR" smtClean="0"/>
              <a:t>, </a:t>
            </a:r>
            <a:r>
              <a:rPr lang="ko-KR" altLang="en-US" smtClean="0"/>
              <a:t>취득시에 집계된 금액을 기준으로 취득금액을 처리함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2.6.2.2 </a:t>
            </a:r>
            <a:r>
              <a:rPr lang="ko-KR" altLang="en-US" sz="1800" smtClean="0"/>
              <a:t>자산 취득관리 기능 개선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7" y="1631481"/>
            <a:ext cx="9174168" cy="4708102"/>
            <a:chOff x="350832" y="1650531"/>
            <a:chExt cx="9174168" cy="470810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자산 취득관리 기능 개선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2" y="1966704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359039" y="1999114"/>
            <a:ext cx="7253909" cy="22929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AutoNum type="arabicParenR"/>
            </a:pPr>
            <a:r>
              <a:rPr lang="ko-KR" altLang="en-US" sz="1100" smtClean="0">
                <a:latin typeface="+mn-ea"/>
              </a:rPr>
              <a:t>자산 가계정 생성 </a:t>
            </a:r>
            <a:r>
              <a:rPr lang="en-US" altLang="ko-KR" sz="1100" smtClean="0">
                <a:latin typeface="+mn-ea"/>
              </a:rPr>
              <a:t>– </a:t>
            </a:r>
            <a:r>
              <a:rPr lang="ko-KR" altLang="en-US" sz="1100" smtClean="0">
                <a:latin typeface="+mn-ea"/>
              </a:rPr>
              <a:t>계약번호별로 가계정을 생성하여 해당 계약번호로 지출되는 금액을 가계정에 집계함</a:t>
            </a:r>
            <a:endParaRPr lang="en-US" altLang="ko-KR" sz="1100" smtClean="0">
              <a:latin typeface="+mn-ea"/>
            </a:endParaRPr>
          </a:p>
          <a:p>
            <a:pPr marL="228600" indent="-228600">
              <a:buAutoNum type="arabicParenR"/>
            </a:pPr>
            <a:endParaRPr lang="en-US" altLang="ko-KR" sz="1100">
              <a:latin typeface="+mn-ea"/>
            </a:endParaRPr>
          </a:p>
          <a:p>
            <a:pPr marL="228600" indent="-228600">
              <a:buAutoNum type="arabicParenR"/>
            </a:pPr>
            <a:r>
              <a:rPr lang="ko-KR" altLang="en-US" sz="1100" smtClean="0">
                <a:latin typeface="+mn-ea"/>
              </a:rPr>
              <a:t>계약이 아닌 자산취득은 가계정번호를 먼저 입력 후에 자산취득 결의서를 입력</a:t>
            </a:r>
            <a:r>
              <a:rPr lang="en-US" altLang="ko-KR" sz="1100" smtClean="0">
                <a:latin typeface="+mn-ea"/>
              </a:rPr>
              <a:t>(</a:t>
            </a:r>
            <a:r>
              <a:rPr lang="ko-KR" altLang="en-US" sz="1100" smtClean="0">
                <a:latin typeface="+mn-ea"/>
              </a:rPr>
              <a:t>가계정번호 필수 항목 처리</a:t>
            </a:r>
            <a:r>
              <a:rPr lang="en-US" altLang="ko-KR" sz="1100" smtClean="0">
                <a:latin typeface="+mn-ea"/>
              </a:rPr>
              <a:t>)</a:t>
            </a:r>
          </a:p>
          <a:p>
            <a:pPr marL="228600" indent="-228600">
              <a:buAutoNum type="arabicParenR"/>
            </a:pPr>
            <a:endParaRPr lang="en-US" altLang="ko-KR" sz="1100" smtClean="0">
              <a:latin typeface="+mn-ea"/>
            </a:endParaRPr>
          </a:p>
          <a:p>
            <a:pPr marL="228600" indent="-228600">
              <a:buAutoNum type="arabicParenR"/>
            </a:pPr>
            <a:r>
              <a:rPr lang="ko-KR" altLang="en-US" sz="1100" smtClean="0">
                <a:latin typeface="+mn-ea"/>
              </a:rPr>
              <a:t>자산 취득 기능 </a:t>
            </a:r>
            <a:r>
              <a:rPr lang="en-US" altLang="ko-KR" sz="1100" smtClean="0">
                <a:latin typeface="+mn-ea"/>
              </a:rPr>
              <a:t>– </a:t>
            </a:r>
            <a:r>
              <a:rPr lang="ko-KR" altLang="en-US" sz="1100" smtClean="0">
                <a:latin typeface="+mn-ea"/>
              </a:rPr>
              <a:t>구매자산 취득</a:t>
            </a:r>
            <a:r>
              <a:rPr lang="en-US" altLang="ko-KR" sz="1100" smtClean="0">
                <a:latin typeface="+mn-ea"/>
              </a:rPr>
              <a:t>, </a:t>
            </a:r>
            <a:r>
              <a:rPr lang="ko-KR" altLang="en-US" sz="1100" smtClean="0">
                <a:latin typeface="+mn-ea"/>
              </a:rPr>
              <a:t>공사</a:t>
            </a:r>
            <a:r>
              <a:rPr lang="en-US" altLang="ko-KR" sz="1100" smtClean="0">
                <a:latin typeface="+mn-ea"/>
              </a:rPr>
              <a:t>/</a:t>
            </a:r>
            <a:r>
              <a:rPr lang="ko-KR" altLang="en-US" sz="1100" smtClean="0">
                <a:latin typeface="+mn-ea"/>
              </a:rPr>
              <a:t>용역 취득</a:t>
            </a:r>
            <a:r>
              <a:rPr lang="en-US" altLang="ko-KR" sz="1100" smtClean="0">
                <a:latin typeface="+mn-ea"/>
              </a:rPr>
              <a:t>, </a:t>
            </a:r>
            <a:r>
              <a:rPr lang="ko-KR" altLang="en-US" sz="1100" smtClean="0">
                <a:latin typeface="+mn-ea"/>
              </a:rPr>
              <a:t>사용권자산 취득 </a:t>
            </a:r>
            <a:r>
              <a:rPr lang="en-US" altLang="ko-KR" sz="1100" smtClean="0">
                <a:latin typeface="+mn-ea"/>
              </a:rPr>
              <a:t>3</a:t>
            </a:r>
            <a:r>
              <a:rPr lang="ko-KR" altLang="en-US" sz="1100" smtClean="0">
                <a:latin typeface="+mn-ea"/>
              </a:rPr>
              <a:t>가지 형태의 취득 기능 필요</a:t>
            </a:r>
            <a:endParaRPr lang="en-US" altLang="ko-KR" sz="1100" smtClean="0">
              <a:latin typeface="+mn-ea"/>
            </a:endParaRPr>
          </a:p>
          <a:p>
            <a:r>
              <a:rPr lang="en-US" altLang="ko-KR" sz="1100">
                <a:latin typeface="+mn-ea"/>
              </a:rPr>
              <a:t> </a:t>
            </a:r>
            <a:r>
              <a:rPr lang="en-US" altLang="ko-KR" sz="1100" smtClean="0">
                <a:latin typeface="+mn-ea"/>
              </a:rPr>
              <a:t>                        </a:t>
            </a:r>
            <a:r>
              <a:rPr lang="ko-KR" altLang="en-US" sz="1100" smtClean="0">
                <a:latin typeface="+mn-ea"/>
              </a:rPr>
              <a:t>① 구매자산 취득 </a:t>
            </a:r>
            <a:r>
              <a:rPr lang="en-US" altLang="ko-KR" sz="1100" smtClean="0">
                <a:latin typeface="+mn-ea"/>
              </a:rPr>
              <a:t>: </a:t>
            </a:r>
            <a:r>
              <a:rPr lang="ko-KR" altLang="en-US" sz="1100" smtClean="0">
                <a:latin typeface="+mn-ea"/>
              </a:rPr>
              <a:t>검수목록에 있는 자산을 선택하고</a:t>
            </a:r>
            <a:r>
              <a:rPr lang="en-US" altLang="ko-KR" sz="1100" smtClean="0">
                <a:latin typeface="+mn-ea"/>
              </a:rPr>
              <a:t>, </a:t>
            </a:r>
            <a:r>
              <a:rPr lang="ko-KR" altLang="en-US" sz="1100" smtClean="0">
                <a:latin typeface="+mn-ea"/>
              </a:rPr>
              <a:t>취득금액과 가계정금액이 일치해야 함</a:t>
            </a:r>
            <a:endParaRPr lang="en-US" altLang="ko-KR" sz="1100" smtClean="0">
              <a:latin typeface="+mn-ea"/>
            </a:endParaRPr>
          </a:p>
          <a:p>
            <a:r>
              <a:rPr lang="en-US" altLang="ko-KR" sz="1100">
                <a:latin typeface="+mn-ea"/>
              </a:rPr>
              <a:t> </a:t>
            </a:r>
            <a:r>
              <a:rPr lang="en-US" altLang="ko-KR" sz="1100" smtClean="0">
                <a:latin typeface="+mn-ea"/>
              </a:rPr>
              <a:t>                        </a:t>
            </a:r>
            <a:r>
              <a:rPr lang="ko-KR" altLang="en-US" sz="1100" smtClean="0">
                <a:latin typeface="+mn-ea"/>
              </a:rPr>
              <a:t>② 공사</a:t>
            </a:r>
            <a:r>
              <a:rPr lang="en-US" altLang="ko-KR" sz="1100" smtClean="0">
                <a:latin typeface="+mn-ea"/>
              </a:rPr>
              <a:t>/</a:t>
            </a:r>
            <a:r>
              <a:rPr lang="ko-KR" altLang="en-US" sz="1100" smtClean="0">
                <a:latin typeface="+mn-ea"/>
              </a:rPr>
              <a:t>용역 취득 </a:t>
            </a:r>
            <a:r>
              <a:rPr lang="en-US" altLang="ko-KR" sz="1100" smtClean="0">
                <a:latin typeface="+mn-ea"/>
              </a:rPr>
              <a:t>: </a:t>
            </a:r>
            <a:r>
              <a:rPr lang="ko-KR" altLang="en-US" sz="1100" smtClean="0">
                <a:latin typeface="+mn-ea"/>
              </a:rPr>
              <a:t>자산 사양을 입력하여 취득하고</a:t>
            </a:r>
            <a:r>
              <a:rPr lang="en-US" altLang="ko-KR" sz="1100" smtClean="0">
                <a:latin typeface="+mn-ea"/>
              </a:rPr>
              <a:t>, </a:t>
            </a:r>
            <a:r>
              <a:rPr lang="ko-KR" altLang="en-US" sz="1100" smtClean="0">
                <a:latin typeface="+mn-ea"/>
              </a:rPr>
              <a:t>자산금액이 가계정금액과 일치해야 함</a:t>
            </a:r>
            <a:endParaRPr lang="en-US" altLang="ko-KR" sz="1100" smtClean="0">
              <a:latin typeface="+mn-ea"/>
            </a:endParaRPr>
          </a:p>
          <a:p>
            <a:r>
              <a:rPr lang="en-US" altLang="ko-KR" sz="1100">
                <a:latin typeface="+mn-ea"/>
              </a:rPr>
              <a:t> </a:t>
            </a:r>
            <a:r>
              <a:rPr lang="en-US" altLang="ko-KR" sz="1100" smtClean="0">
                <a:latin typeface="+mn-ea"/>
              </a:rPr>
              <a:t>                        </a:t>
            </a:r>
            <a:r>
              <a:rPr lang="ko-KR" altLang="en-US" sz="1100" smtClean="0">
                <a:latin typeface="+mn-ea"/>
              </a:rPr>
              <a:t>③ 사용권자산 취득 </a:t>
            </a:r>
            <a:r>
              <a:rPr lang="en-US" altLang="ko-KR" sz="1100" smtClean="0">
                <a:latin typeface="+mn-ea"/>
              </a:rPr>
              <a:t>: </a:t>
            </a:r>
            <a:r>
              <a:rPr lang="ko-KR" altLang="en-US" sz="1100" smtClean="0">
                <a:latin typeface="+mn-ea"/>
              </a:rPr>
              <a:t>자산사양 및 취득가를 입력하여 처리</a:t>
            </a:r>
            <a:r>
              <a:rPr lang="en-US" altLang="ko-KR" sz="1100" smtClean="0">
                <a:latin typeface="+mn-ea"/>
              </a:rPr>
              <a:t>    </a:t>
            </a:r>
          </a:p>
          <a:p>
            <a:pPr marL="228600" indent="-228600">
              <a:buAutoNum type="arabicParenR"/>
            </a:pPr>
            <a:endParaRPr lang="en-US" altLang="ko-KR" sz="1100">
              <a:latin typeface="+mn-ea"/>
            </a:endParaRPr>
          </a:p>
          <a:p>
            <a:r>
              <a:rPr lang="en-US" altLang="ko-KR" sz="1100" smtClean="0">
                <a:latin typeface="+mn-ea"/>
              </a:rPr>
              <a:t>4)  </a:t>
            </a:r>
            <a:r>
              <a:rPr lang="ko-KR" altLang="en-US" sz="1100" smtClean="0">
                <a:latin typeface="+mn-ea"/>
              </a:rPr>
              <a:t>자산의 배치 </a:t>
            </a:r>
            <a:r>
              <a:rPr lang="en-US" altLang="ko-KR" sz="1100" smtClean="0">
                <a:latin typeface="+mn-ea"/>
              </a:rPr>
              <a:t>– </a:t>
            </a:r>
            <a:r>
              <a:rPr lang="ko-KR" altLang="en-US" sz="1100" smtClean="0">
                <a:latin typeface="+mn-ea"/>
              </a:rPr>
              <a:t>취득 처리를 확정하여 자산취득 전표</a:t>
            </a:r>
            <a:r>
              <a:rPr lang="en-US" altLang="ko-KR" sz="1100" smtClean="0">
                <a:latin typeface="+mn-ea"/>
              </a:rPr>
              <a:t>(</a:t>
            </a:r>
            <a:r>
              <a:rPr lang="ko-KR" altLang="en-US" sz="1100" smtClean="0">
                <a:latin typeface="+mn-ea"/>
              </a:rPr>
              <a:t>결의</a:t>
            </a:r>
            <a:r>
              <a:rPr lang="en-US" altLang="ko-KR" sz="1100" smtClean="0">
                <a:latin typeface="+mn-ea"/>
              </a:rPr>
              <a:t>)</a:t>
            </a:r>
            <a:r>
              <a:rPr lang="ko-KR" altLang="en-US" sz="1100" smtClean="0">
                <a:latin typeface="+mn-ea"/>
              </a:rPr>
              <a:t>를 결재 상신하여 회계로 이첩하고</a:t>
            </a:r>
            <a:endParaRPr lang="en-US" altLang="ko-KR" sz="1100" smtClean="0">
              <a:latin typeface="+mn-ea"/>
            </a:endParaRPr>
          </a:p>
          <a:p>
            <a:r>
              <a:rPr lang="ko-KR" altLang="en-US" sz="1100" smtClean="0">
                <a:latin typeface="+mn-ea"/>
              </a:rPr>
              <a:t>                       자산을 수요부서에 배치하여 세부자산 정보를 작상한다</a:t>
            </a:r>
            <a:r>
              <a:rPr lang="en-US" altLang="ko-KR" sz="1100" smtClean="0">
                <a:latin typeface="+mn-ea"/>
              </a:rPr>
              <a:t>.</a:t>
            </a:r>
          </a:p>
          <a:p>
            <a:endParaRPr lang="en-US" altLang="ko-KR" sz="1100">
              <a:latin typeface="+mn-ea"/>
            </a:endParaRPr>
          </a:p>
          <a:p>
            <a:r>
              <a:rPr lang="en-US" altLang="ko-KR" sz="1100" smtClean="0">
                <a:latin typeface="+mn-ea"/>
              </a:rPr>
              <a:t>5) </a:t>
            </a:r>
            <a:r>
              <a:rPr lang="ko-KR" altLang="en-US" sz="1100" smtClean="0">
                <a:latin typeface="+mn-ea"/>
              </a:rPr>
              <a:t>자산 배치가 완료되면 감가상각 대상 자산인 개별자산으로 등재됨</a:t>
            </a:r>
            <a:r>
              <a:rPr lang="en-US" altLang="ko-KR" sz="1100" smtClean="0">
                <a:latin typeface="+mn-ea"/>
              </a:rPr>
              <a:t> </a:t>
            </a:r>
            <a:endParaRPr lang="ko-KR" altLang="en-US" sz="1100" dirty="0" err="1" smtClean="0">
              <a:latin typeface="+mn-ea"/>
            </a:endParaRPr>
          </a:p>
        </p:txBody>
      </p:sp>
      <p:sp>
        <p:nvSpPr>
          <p:cNvPr id="12" name="순서도: 처리 11"/>
          <p:cNvSpPr/>
          <p:nvPr/>
        </p:nvSpPr>
        <p:spPr>
          <a:xfrm>
            <a:off x="1393696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계약 등록</a:t>
            </a:r>
          </a:p>
        </p:txBody>
      </p:sp>
      <p:sp>
        <p:nvSpPr>
          <p:cNvPr id="13" name="순서도: 처리 12"/>
          <p:cNvSpPr/>
          <p:nvPr/>
        </p:nvSpPr>
        <p:spPr>
          <a:xfrm>
            <a:off x="2460485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검수등록</a:t>
            </a:r>
          </a:p>
        </p:txBody>
      </p:sp>
      <p:sp>
        <p:nvSpPr>
          <p:cNvPr id="14" name="순서도: 처리 13"/>
          <p:cNvSpPr/>
          <p:nvPr/>
        </p:nvSpPr>
        <p:spPr>
          <a:xfrm>
            <a:off x="4603324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검수자산선택</a:t>
            </a:r>
          </a:p>
        </p:txBody>
      </p:sp>
      <p:sp>
        <p:nvSpPr>
          <p:cNvPr id="15" name="순서도: 처리 14"/>
          <p:cNvSpPr/>
          <p:nvPr/>
        </p:nvSpPr>
        <p:spPr>
          <a:xfrm>
            <a:off x="6532545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자산취득</a:t>
            </a:r>
          </a:p>
        </p:txBody>
      </p:sp>
      <p:sp>
        <p:nvSpPr>
          <p:cNvPr id="17" name="순서도: 처리 16"/>
          <p:cNvSpPr/>
          <p:nvPr/>
        </p:nvSpPr>
        <p:spPr>
          <a:xfrm>
            <a:off x="8543126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자산배치</a:t>
            </a:r>
          </a:p>
        </p:txBody>
      </p:sp>
      <p:sp>
        <p:nvSpPr>
          <p:cNvPr id="19" name="순서도: 판단 18"/>
          <p:cNvSpPr/>
          <p:nvPr/>
        </p:nvSpPr>
        <p:spPr>
          <a:xfrm>
            <a:off x="5620190" y="4618471"/>
            <a:ext cx="798791" cy="278275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금액일치</a:t>
            </a:r>
          </a:p>
        </p:txBody>
      </p:sp>
      <p:sp>
        <p:nvSpPr>
          <p:cNvPr id="20" name="순서도: 처리 19"/>
          <p:cNvSpPr/>
          <p:nvPr/>
        </p:nvSpPr>
        <p:spPr>
          <a:xfrm>
            <a:off x="3588622" y="461359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자산취득</a:t>
            </a:r>
          </a:p>
        </p:txBody>
      </p:sp>
      <p:sp>
        <p:nvSpPr>
          <p:cNvPr id="21" name="순서도: 종속 처리 20"/>
          <p:cNvSpPr/>
          <p:nvPr/>
        </p:nvSpPr>
        <p:spPr>
          <a:xfrm>
            <a:off x="7547542" y="4608968"/>
            <a:ext cx="860621" cy="297281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취득전표</a:t>
            </a:r>
          </a:p>
        </p:txBody>
      </p:sp>
      <p:cxnSp>
        <p:nvCxnSpPr>
          <p:cNvPr id="22" name="직선 화살표 연결선 21"/>
          <p:cNvCxnSpPr>
            <a:stCxn id="12" idx="3"/>
            <a:endCxn id="13" idx="1"/>
          </p:cNvCxnSpPr>
          <p:nvPr/>
        </p:nvCxnSpPr>
        <p:spPr>
          <a:xfrm>
            <a:off x="2257792" y="4757608"/>
            <a:ext cx="20269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/>
          <p:cNvCxnSpPr>
            <a:stCxn id="13" idx="3"/>
            <a:endCxn id="20" idx="1"/>
          </p:cNvCxnSpPr>
          <p:nvPr/>
        </p:nvCxnSpPr>
        <p:spPr>
          <a:xfrm>
            <a:off x="3324581" y="4757608"/>
            <a:ext cx="264041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화살표 연결선 24"/>
          <p:cNvCxnSpPr>
            <a:stCxn id="20" idx="3"/>
            <a:endCxn id="14" idx="1"/>
          </p:cNvCxnSpPr>
          <p:nvPr/>
        </p:nvCxnSpPr>
        <p:spPr>
          <a:xfrm>
            <a:off x="4452718" y="4757608"/>
            <a:ext cx="15060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>
            <a:stCxn id="14" idx="3"/>
            <a:endCxn id="19" idx="1"/>
          </p:cNvCxnSpPr>
          <p:nvPr/>
        </p:nvCxnSpPr>
        <p:spPr>
          <a:xfrm>
            <a:off x="5467420" y="4757608"/>
            <a:ext cx="152770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/>
          <p:cNvCxnSpPr>
            <a:stCxn id="19" idx="3"/>
            <a:endCxn id="15" idx="1"/>
          </p:cNvCxnSpPr>
          <p:nvPr/>
        </p:nvCxnSpPr>
        <p:spPr>
          <a:xfrm flipV="1">
            <a:off x="6418981" y="4757608"/>
            <a:ext cx="11356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>
            <a:stCxn id="15" idx="3"/>
            <a:endCxn id="21" idx="1"/>
          </p:cNvCxnSpPr>
          <p:nvPr/>
        </p:nvCxnSpPr>
        <p:spPr>
          <a:xfrm>
            <a:off x="7396641" y="4757608"/>
            <a:ext cx="150901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/>
          <p:cNvCxnSpPr>
            <a:stCxn id="21" idx="3"/>
            <a:endCxn id="17" idx="1"/>
          </p:cNvCxnSpPr>
          <p:nvPr/>
        </p:nvCxnSpPr>
        <p:spPr>
          <a:xfrm flipV="1">
            <a:off x="8408163" y="4757608"/>
            <a:ext cx="134963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순서도: 종속 처리 30"/>
          <p:cNvSpPr/>
          <p:nvPr/>
        </p:nvSpPr>
        <p:spPr>
          <a:xfrm>
            <a:off x="1393696" y="5023450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가계정번호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생성</a:t>
            </a:r>
          </a:p>
        </p:txBody>
      </p:sp>
      <p:cxnSp>
        <p:nvCxnSpPr>
          <p:cNvPr id="32" name="직선 화살표 연결선 31"/>
          <p:cNvCxnSpPr>
            <a:stCxn id="12" idx="2"/>
            <a:endCxn id="31" idx="0"/>
          </p:cNvCxnSpPr>
          <p:nvPr/>
        </p:nvCxnSpPr>
        <p:spPr>
          <a:xfrm>
            <a:off x="1825744" y="4901624"/>
            <a:ext cx="0" cy="121826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순서도: 종속 처리 33"/>
          <p:cNvSpPr/>
          <p:nvPr/>
        </p:nvSpPr>
        <p:spPr>
          <a:xfrm>
            <a:off x="1393696" y="5517142"/>
            <a:ext cx="864096" cy="271528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가계정번호등록</a:t>
            </a:r>
          </a:p>
        </p:txBody>
      </p:sp>
      <p:cxnSp>
        <p:nvCxnSpPr>
          <p:cNvPr id="33" name="직선 연결선 32"/>
          <p:cNvCxnSpPr/>
          <p:nvPr/>
        </p:nvCxnSpPr>
        <p:spPr>
          <a:xfrm>
            <a:off x="331033" y="4519394"/>
            <a:ext cx="919965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/>
          <p:cNvCxnSpPr/>
          <p:nvPr/>
        </p:nvCxnSpPr>
        <p:spPr>
          <a:xfrm>
            <a:off x="334214" y="5383490"/>
            <a:ext cx="919965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/>
          <p:cNvCxnSpPr/>
          <p:nvPr/>
        </p:nvCxnSpPr>
        <p:spPr>
          <a:xfrm>
            <a:off x="334214" y="5887546"/>
            <a:ext cx="919965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/>
          <p:cNvCxnSpPr/>
          <p:nvPr/>
        </p:nvCxnSpPr>
        <p:spPr>
          <a:xfrm>
            <a:off x="1198310" y="4519394"/>
            <a:ext cx="0" cy="1758455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341535" y="4854463"/>
            <a:ext cx="79861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smtClean="0"/>
              <a:t>구매 취득</a:t>
            </a:r>
            <a:endParaRPr lang="ko-KR" altLang="en-US" sz="1100" b="1" dirty="0" err="1" smtClean="0"/>
          </a:p>
        </p:txBody>
      </p:sp>
      <p:sp>
        <p:nvSpPr>
          <p:cNvPr id="44" name="TextBox 43"/>
          <p:cNvSpPr txBox="1"/>
          <p:nvPr/>
        </p:nvSpPr>
        <p:spPr>
          <a:xfrm>
            <a:off x="334214" y="5414312"/>
            <a:ext cx="748923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smtClean="0"/>
              <a:t>공사용역</a:t>
            </a:r>
            <a:endParaRPr lang="en-US" altLang="ko-KR" sz="1100" b="1" smtClean="0"/>
          </a:p>
          <a:p>
            <a:r>
              <a:rPr lang="ko-KR" altLang="en-US" sz="1100" b="1" smtClean="0"/>
              <a:t>취득</a:t>
            </a:r>
            <a:endParaRPr lang="ko-KR" altLang="en-US" sz="1100" b="1" dirty="0" err="1" smtClean="0"/>
          </a:p>
        </p:txBody>
      </p:sp>
      <p:sp>
        <p:nvSpPr>
          <p:cNvPr id="45" name="TextBox 44"/>
          <p:cNvSpPr txBox="1"/>
          <p:nvPr/>
        </p:nvSpPr>
        <p:spPr>
          <a:xfrm>
            <a:off x="326083" y="5877272"/>
            <a:ext cx="889987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smtClean="0"/>
              <a:t>사용권자산</a:t>
            </a:r>
            <a:endParaRPr lang="en-US" altLang="ko-KR" sz="1100" b="1" smtClean="0"/>
          </a:p>
          <a:p>
            <a:r>
              <a:rPr lang="ko-KR" altLang="en-US" sz="1100" b="1" smtClean="0"/>
              <a:t>취득</a:t>
            </a:r>
            <a:endParaRPr lang="ko-KR" altLang="en-US" sz="1100" b="1" dirty="0" err="1" smtClean="0"/>
          </a:p>
        </p:txBody>
      </p:sp>
      <p:sp>
        <p:nvSpPr>
          <p:cNvPr id="46" name="순서도: 처리 45"/>
          <p:cNvSpPr/>
          <p:nvPr/>
        </p:nvSpPr>
        <p:spPr>
          <a:xfrm>
            <a:off x="3584848" y="55172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자산취득</a:t>
            </a:r>
          </a:p>
        </p:txBody>
      </p:sp>
      <p:sp>
        <p:nvSpPr>
          <p:cNvPr id="47" name="순서도: 처리 46"/>
          <p:cNvSpPr/>
          <p:nvPr/>
        </p:nvSpPr>
        <p:spPr>
          <a:xfrm>
            <a:off x="3584848" y="5969918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자산취득</a:t>
            </a:r>
          </a:p>
        </p:txBody>
      </p:sp>
      <p:sp>
        <p:nvSpPr>
          <p:cNvPr id="48" name="순서도: 처리 47"/>
          <p:cNvSpPr/>
          <p:nvPr/>
        </p:nvSpPr>
        <p:spPr>
          <a:xfrm>
            <a:off x="4590489" y="551714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취득자산 입력</a:t>
            </a:r>
          </a:p>
        </p:txBody>
      </p:sp>
      <p:sp>
        <p:nvSpPr>
          <p:cNvPr id="49" name="순서도: 처리 48"/>
          <p:cNvSpPr/>
          <p:nvPr/>
        </p:nvSpPr>
        <p:spPr>
          <a:xfrm>
            <a:off x="4592960" y="5969918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취득자산 입력</a:t>
            </a:r>
          </a:p>
        </p:txBody>
      </p:sp>
      <p:cxnSp>
        <p:nvCxnSpPr>
          <p:cNvPr id="43" name="직선 화살표 연결선 42"/>
          <p:cNvCxnSpPr>
            <a:endCxn id="46" idx="1"/>
          </p:cNvCxnSpPr>
          <p:nvPr/>
        </p:nvCxnSpPr>
        <p:spPr>
          <a:xfrm>
            <a:off x="2257792" y="5645144"/>
            <a:ext cx="1327056" cy="1610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46" idx="3"/>
            <a:endCxn id="48" idx="1"/>
          </p:cNvCxnSpPr>
          <p:nvPr/>
        </p:nvCxnSpPr>
        <p:spPr>
          <a:xfrm flipV="1">
            <a:off x="4448944" y="5661158"/>
            <a:ext cx="141545" cy="9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꺾인 연결선 52"/>
          <p:cNvCxnSpPr>
            <a:stCxn id="48" idx="3"/>
            <a:endCxn id="15" idx="2"/>
          </p:cNvCxnSpPr>
          <p:nvPr/>
        </p:nvCxnSpPr>
        <p:spPr>
          <a:xfrm flipV="1">
            <a:off x="5454585" y="4901624"/>
            <a:ext cx="1510008" cy="75953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endCxn id="49" idx="1"/>
          </p:cNvCxnSpPr>
          <p:nvPr/>
        </p:nvCxnSpPr>
        <p:spPr>
          <a:xfrm>
            <a:off x="4482237" y="6108104"/>
            <a:ext cx="110723" cy="58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꺾인 연결선 58"/>
          <p:cNvCxnSpPr>
            <a:stCxn id="49" idx="3"/>
            <a:endCxn id="15" idx="2"/>
          </p:cNvCxnSpPr>
          <p:nvPr/>
        </p:nvCxnSpPr>
        <p:spPr>
          <a:xfrm flipV="1">
            <a:off x="5457056" y="4901624"/>
            <a:ext cx="1507537" cy="121231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642890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2.6.2.3 </a:t>
            </a:r>
            <a:r>
              <a:rPr lang="ko-KR" altLang="en-US" sz="1800" smtClean="0"/>
              <a:t>자산실사 및 자산이동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자산실사 및 자산 이동 처리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" name="순서도: 처리 29"/>
          <p:cNvSpPr/>
          <p:nvPr/>
        </p:nvSpPr>
        <p:spPr>
          <a:xfrm>
            <a:off x="3452086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자산실사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4683570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실사결과등록</a:t>
            </a:r>
          </a:p>
        </p:txBody>
      </p:sp>
      <p:sp>
        <p:nvSpPr>
          <p:cNvPr id="40" name="순서도: 처리 39"/>
          <p:cNvSpPr/>
          <p:nvPr/>
        </p:nvSpPr>
        <p:spPr>
          <a:xfrm>
            <a:off x="7146538" y="1869808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결과 확인</a:t>
            </a:r>
          </a:p>
        </p:txBody>
      </p:sp>
      <p:cxnSp>
        <p:nvCxnSpPr>
          <p:cNvPr id="43" name="직선 화살표 연결선 42"/>
          <p:cNvCxnSpPr>
            <a:stCxn id="30" idx="3"/>
            <a:endCxn id="31" idx="1"/>
          </p:cNvCxnSpPr>
          <p:nvPr/>
        </p:nvCxnSpPr>
        <p:spPr>
          <a:xfrm>
            <a:off x="4316182" y="1647048"/>
            <a:ext cx="36738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31" idx="3"/>
            <a:endCxn id="47" idx="1"/>
          </p:cNvCxnSpPr>
          <p:nvPr/>
        </p:nvCxnSpPr>
        <p:spPr>
          <a:xfrm>
            <a:off x="5547666" y="1647048"/>
            <a:ext cx="36738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>
            <a:stCxn id="50" idx="3"/>
            <a:endCxn id="73" idx="1"/>
          </p:cNvCxnSpPr>
          <p:nvPr/>
        </p:nvCxnSpPr>
        <p:spPr>
          <a:xfrm flipV="1">
            <a:off x="1303934" y="1647048"/>
            <a:ext cx="916668" cy="36677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순서도: 처리 46"/>
          <p:cNvSpPr/>
          <p:nvPr/>
        </p:nvSpPr>
        <p:spPr>
          <a:xfrm>
            <a:off x="5915054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실사 보고</a:t>
            </a:r>
          </a:p>
        </p:txBody>
      </p:sp>
      <p:sp>
        <p:nvSpPr>
          <p:cNvPr id="50" name="순서도: 처리 49"/>
          <p:cNvSpPr/>
          <p:nvPr/>
        </p:nvSpPr>
        <p:spPr>
          <a:xfrm>
            <a:off x="439838" y="1869808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자산실사계획</a:t>
            </a:r>
          </a:p>
        </p:txBody>
      </p:sp>
      <p:sp>
        <p:nvSpPr>
          <p:cNvPr id="52" name="순서도: 처리 51"/>
          <p:cNvSpPr/>
          <p:nvPr/>
        </p:nvSpPr>
        <p:spPr>
          <a:xfrm>
            <a:off x="2266855" y="274196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이동입력</a:t>
            </a:r>
          </a:p>
        </p:txBody>
      </p:sp>
      <p:sp>
        <p:nvSpPr>
          <p:cNvPr id="60" name="순서도: 처리 59"/>
          <p:cNvSpPr/>
          <p:nvPr/>
        </p:nvSpPr>
        <p:spPr>
          <a:xfrm>
            <a:off x="7146538" y="2320153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자산관리자 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확인</a:t>
            </a:r>
          </a:p>
        </p:txBody>
      </p:sp>
      <p:sp>
        <p:nvSpPr>
          <p:cNvPr id="48" name="순서도: 처리 47"/>
          <p:cNvSpPr/>
          <p:nvPr/>
        </p:nvSpPr>
        <p:spPr>
          <a:xfrm>
            <a:off x="7146538" y="2728267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자산일괄이동</a:t>
            </a:r>
          </a:p>
        </p:txBody>
      </p:sp>
      <p:sp>
        <p:nvSpPr>
          <p:cNvPr id="61" name="순서도: 처리 60"/>
          <p:cNvSpPr/>
          <p:nvPr/>
        </p:nvSpPr>
        <p:spPr>
          <a:xfrm>
            <a:off x="4719239" y="2741960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자산인수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배치</a:t>
            </a:r>
          </a:p>
        </p:txBody>
      </p:sp>
      <p:sp>
        <p:nvSpPr>
          <p:cNvPr id="73" name="순서도: 처리 72"/>
          <p:cNvSpPr/>
          <p:nvPr/>
        </p:nvSpPr>
        <p:spPr>
          <a:xfrm>
            <a:off x="2220602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실사준비</a:t>
            </a:r>
          </a:p>
        </p:txBody>
      </p:sp>
      <p:cxnSp>
        <p:nvCxnSpPr>
          <p:cNvPr id="78" name="직선 연결선 77"/>
          <p:cNvCxnSpPr/>
          <p:nvPr/>
        </p:nvCxnSpPr>
        <p:spPr>
          <a:xfrm flipH="1">
            <a:off x="344488" y="3243888"/>
            <a:ext cx="917416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구름 모양 설명선 5"/>
          <p:cNvSpPr/>
          <p:nvPr/>
        </p:nvSpPr>
        <p:spPr>
          <a:xfrm>
            <a:off x="1494331" y="1196752"/>
            <a:ext cx="666081" cy="425062"/>
          </a:xfrm>
          <a:prstGeom prst="cloudCallout">
            <a:avLst>
              <a:gd name="adj1" fmla="val -64023"/>
              <a:gd name="adj2" fmla="val 98757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공람</a:t>
            </a:r>
          </a:p>
        </p:txBody>
      </p:sp>
      <p:cxnSp>
        <p:nvCxnSpPr>
          <p:cNvPr id="14" name="직선 화살표 연결선 13"/>
          <p:cNvCxnSpPr>
            <a:stCxn id="73" idx="3"/>
            <a:endCxn id="30" idx="1"/>
          </p:cNvCxnSpPr>
          <p:nvPr/>
        </p:nvCxnSpPr>
        <p:spPr>
          <a:xfrm>
            <a:off x="3084698" y="1647048"/>
            <a:ext cx="36738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순서도: 처리 66"/>
          <p:cNvSpPr/>
          <p:nvPr/>
        </p:nvSpPr>
        <p:spPr>
          <a:xfrm>
            <a:off x="8378022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결과 조치</a:t>
            </a:r>
          </a:p>
        </p:txBody>
      </p:sp>
      <p:cxnSp>
        <p:nvCxnSpPr>
          <p:cNvPr id="22" name="꺾인 연결선 21"/>
          <p:cNvCxnSpPr>
            <a:stCxn id="47" idx="3"/>
            <a:endCxn id="40" idx="1"/>
          </p:cNvCxnSpPr>
          <p:nvPr/>
        </p:nvCxnSpPr>
        <p:spPr>
          <a:xfrm>
            <a:off x="6779150" y="1647048"/>
            <a:ext cx="367388" cy="366776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꺾인 연결선 25"/>
          <p:cNvCxnSpPr>
            <a:stCxn id="40" idx="3"/>
            <a:endCxn id="67" idx="1"/>
          </p:cNvCxnSpPr>
          <p:nvPr/>
        </p:nvCxnSpPr>
        <p:spPr>
          <a:xfrm flipV="1">
            <a:off x="8010634" y="1647048"/>
            <a:ext cx="367388" cy="366776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다이아몬드 35"/>
          <p:cNvSpPr/>
          <p:nvPr/>
        </p:nvSpPr>
        <p:spPr>
          <a:xfrm>
            <a:off x="3523424" y="2729468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sp>
        <p:nvSpPr>
          <p:cNvPr id="71" name="다이아몬드 70"/>
          <p:cNvSpPr/>
          <p:nvPr/>
        </p:nvSpPr>
        <p:spPr>
          <a:xfrm>
            <a:off x="5975808" y="2729468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sp>
        <p:nvSpPr>
          <p:cNvPr id="45" name="직사각형 44"/>
          <p:cNvSpPr/>
          <p:nvPr/>
        </p:nvSpPr>
        <p:spPr>
          <a:xfrm>
            <a:off x="2072680" y="2424988"/>
            <a:ext cx="2376264" cy="73233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2906598" y="2404504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u="sng" smtClean="0"/>
              <a:t>인계부서</a:t>
            </a:r>
            <a:endParaRPr lang="ko-KR" altLang="en-US" sz="1100" b="1" u="sng" dirty="0" err="1" smtClean="0"/>
          </a:p>
        </p:txBody>
      </p:sp>
      <p:sp>
        <p:nvSpPr>
          <p:cNvPr id="77" name="직사각형 76"/>
          <p:cNvSpPr/>
          <p:nvPr/>
        </p:nvSpPr>
        <p:spPr>
          <a:xfrm>
            <a:off x="4518946" y="2432605"/>
            <a:ext cx="2376264" cy="73233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5397631" y="2423480"/>
            <a:ext cx="74892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u="sng" smtClean="0"/>
              <a:t>인수부서</a:t>
            </a:r>
            <a:endParaRPr lang="ko-KR" altLang="en-US" sz="1100" b="1" u="sng" dirty="0" err="1" smtClean="0"/>
          </a:p>
        </p:txBody>
      </p:sp>
      <p:cxnSp>
        <p:nvCxnSpPr>
          <p:cNvPr id="55" name="직선 화살표 연결선 54"/>
          <p:cNvCxnSpPr>
            <a:stCxn id="52" idx="3"/>
            <a:endCxn id="36" idx="1"/>
          </p:cNvCxnSpPr>
          <p:nvPr/>
        </p:nvCxnSpPr>
        <p:spPr>
          <a:xfrm>
            <a:off x="3130951" y="2885976"/>
            <a:ext cx="39247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화살표 연결선 57"/>
          <p:cNvCxnSpPr>
            <a:stCxn id="36" idx="3"/>
            <a:endCxn id="61" idx="1"/>
          </p:cNvCxnSpPr>
          <p:nvPr/>
        </p:nvCxnSpPr>
        <p:spPr>
          <a:xfrm>
            <a:off x="4326766" y="2885976"/>
            <a:ext cx="39247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/>
          <p:cNvCxnSpPr>
            <a:stCxn id="61" idx="3"/>
            <a:endCxn id="71" idx="1"/>
          </p:cNvCxnSpPr>
          <p:nvPr/>
        </p:nvCxnSpPr>
        <p:spPr>
          <a:xfrm>
            <a:off x="5583335" y="2885976"/>
            <a:ext cx="39247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꺾인 연결선 80"/>
          <p:cNvCxnSpPr>
            <a:stCxn id="71" idx="3"/>
            <a:endCxn id="60" idx="1"/>
          </p:cNvCxnSpPr>
          <p:nvPr/>
        </p:nvCxnSpPr>
        <p:spPr>
          <a:xfrm flipV="1">
            <a:off x="6779150" y="2464169"/>
            <a:ext cx="367388" cy="421807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연결선 85"/>
          <p:cNvCxnSpPr>
            <a:stCxn id="60" idx="2"/>
            <a:endCxn id="48" idx="0"/>
          </p:cNvCxnSpPr>
          <p:nvPr/>
        </p:nvCxnSpPr>
        <p:spPr>
          <a:xfrm>
            <a:off x="7578586" y="2608185"/>
            <a:ext cx="0" cy="12008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3457351"/>
              </p:ext>
            </p:extLst>
          </p:nvPr>
        </p:nvGraphicFramePr>
        <p:xfrm>
          <a:off x="389474" y="3274710"/>
          <a:ext cx="8928992" cy="28875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4117"/>
                <a:gridCol w="439089"/>
                <a:gridCol w="1152128"/>
                <a:gridCol w="1224136"/>
                <a:gridCol w="3384376"/>
                <a:gridCol w="1485146"/>
              </a:tblGrid>
              <a:tr h="19474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구분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작업 담당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 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94747">
                <a:tc rowSpan="7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실사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자산실사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실사계획을 작성하여 공람 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각 부서 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실사 준비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smtClean="0"/>
                        <a:t>부서별 보유자산 목록과 자산 부착표 출력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부서별 자산담당자 임명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실사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재물조사 및 자산 명패 부착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 정상적인 자산 파악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실사 결과 등록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</a:t>
                      </a:r>
                      <a:r>
                        <a:rPr lang="ko-KR" altLang="en-US" sz="1000" smtClean="0"/>
                        <a:t>실사 결과 등록</a:t>
                      </a:r>
                      <a:r>
                        <a:rPr lang="en-US" altLang="ko-KR" sz="1000" smtClean="0"/>
                        <a:t>(</a:t>
                      </a:r>
                      <a:r>
                        <a:rPr lang="ko-KR" altLang="en-US" sz="1000" smtClean="0"/>
                        <a:t>자산 과부족 및 자산의 상태 조사</a:t>
                      </a:r>
                      <a:r>
                        <a:rPr lang="en-US" altLang="ko-KR" sz="1000" smtClean="0"/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319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실사 보고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실사 보고서 상신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결과 확인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smtClean="0"/>
                        <a:t>재물조사 결과 확인 및 자산관리자의 조치 의견 등록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불용 및 처분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각부서 자산담당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결과 조치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자산의 불용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폐기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매각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이동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인계부서 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자산이동 입력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이동사항을 입력하여 결재 상신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연동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인계부서장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자산이동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이동에 대한 승인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474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인수부서 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인수 및 배치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자산의 인수 및 배치사항 등록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상신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전자결재 연동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1220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인수부서장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배치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배치사항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000" b="1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이동 확인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일괄이동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이동 확인 및 일괄이동이 필요한 자산의 이동처리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부서 재편성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사업 종료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3400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2.6.2.4 </a:t>
            </a:r>
            <a:r>
              <a:rPr lang="ko-KR" altLang="en-US" sz="1800" smtClean="0"/>
              <a:t>자산 불용 및 처분 처리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자산 불용 및 처분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" name="순서도: 처리 29"/>
          <p:cNvSpPr/>
          <p:nvPr/>
        </p:nvSpPr>
        <p:spPr>
          <a:xfrm>
            <a:off x="3452086" y="15030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자산불용처리</a:t>
            </a:r>
          </a:p>
        </p:txBody>
      </p:sp>
      <p:cxnSp>
        <p:nvCxnSpPr>
          <p:cNvPr id="49" name="직선 화살표 연결선 48"/>
          <p:cNvCxnSpPr>
            <a:stCxn id="50" idx="3"/>
            <a:endCxn id="90" idx="1"/>
          </p:cNvCxnSpPr>
          <p:nvPr/>
        </p:nvCxnSpPr>
        <p:spPr>
          <a:xfrm flipV="1">
            <a:off x="1784648" y="1639747"/>
            <a:ext cx="462425" cy="96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순서도: 처리 49"/>
          <p:cNvSpPr/>
          <p:nvPr/>
        </p:nvSpPr>
        <p:spPr>
          <a:xfrm>
            <a:off x="920552" y="1505332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자산불용신청</a:t>
            </a:r>
          </a:p>
        </p:txBody>
      </p:sp>
      <p:cxnSp>
        <p:nvCxnSpPr>
          <p:cNvPr id="78" name="직선 연결선 77"/>
          <p:cNvCxnSpPr/>
          <p:nvPr/>
        </p:nvCxnSpPr>
        <p:spPr>
          <a:xfrm flipH="1">
            <a:off x="344488" y="3243888"/>
            <a:ext cx="917416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>
            <a:stCxn id="90" idx="3"/>
            <a:endCxn id="30" idx="1"/>
          </p:cNvCxnSpPr>
          <p:nvPr/>
        </p:nvCxnSpPr>
        <p:spPr>
          <a:xfrm>
            <a:off x="3050415" y="1639747"/>
            <a:ext cx="401671" cy="73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860945"/>
              </p:ext>
            </p:extLst>
          </p:nvPr>
        </p:nvGraphicFramePr>
        <p:xfrm>
          <a:off x="389474" y="3527280"/>
          <a:ext cx="8928992" cy="27100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4117"/>
                <a:gridCol w="439089"/>
                <a:gridCol w="1152128"/>
                <a:gridCol w="1224136"/>
                <a:gridCol w="3384376"/>
                <a:gridCol w="1485146"/>
              </a:tblGrid>
              <a:tr h="27517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구분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</a:rPr>
                        <a:t>작업 담당</a:t>
                      </a:r>
                      <a:endParaRPr lang="ko-KR" altLang="en-US" sz="1000" b="1">
                        <a:solidFill>
                          <a:srgbClr val="0000CC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 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31707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불용처리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부서 자산담당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불용 신청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불용자산 등록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불용사유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및 결재 상신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연동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1707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부서장 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불용신청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smtClean="0"/>
                        <a:t>자산 불용신청에 대한 승인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자산관리자에게 이첩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1707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자산불용 확정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불용신청 자산에 대한 확정 처리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상태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불용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7074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처분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부서 자산담당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처분 신청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불용자산 처분 신청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매각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폐기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 및 결재 상신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연동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707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부서장 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처분신청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처분신청에 대한 승인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자산관리자에게 이첩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3241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처분 확정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smtClean="0"/>
                        <a:t>자산 불용신청에 대한 확정 처리</a:t>
                      </a:r>
                      <a:endParaRPr lang="en-US" altLang="ko-KR" sz="1000" smtClean="0"/>
                    </a:p>
                    <a:p>
                      <a:r>
                        <a:rPr lang="ko-KR" altLang="en-US" sz="1000" smtClean="0"/>
                        <a:t>자산 처분 전표</a:t>
                      </a:r>
                      <a:r>
                        <a:rPr lang="en-US" altLang="ko-KR" sz="1000" smtClean="0"/>
                        <a:t>(</a:t>
                      </a:r>
                      <a:r>
                        <a:rPr lang="ko-KR" altLang="en-US" sz="1000" smtClean="0"/>
                        <a:t>결의서</a:t>
                      </a:r>
                      <a:r>
                        <a:rPr lang="en-US" altLang="ko-KR" sz="1000" smtClean="0"/>
                        <a:t>) </a:t>
                      </a:r>
                      <a:r>
                        <a:rPr lang="ko-KR" altLang="en-US" sz="1000" smtClean="0"/>
                        <a:t>의 결재상신  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상태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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처분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707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자산관리부서장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처분결의서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자산처분 결의서의 승인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회계부서로 이첩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90" name="다이아몬드 89"/>
          <p:cNvSpPr/>
          <p:nvPr/>
        </p:nvSpPr>
        <p:spPr>
          <a:xfrm>
            <a:off x="2247073" y="1483239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sp>
        <p:nvSpPr>
          <p:cNvPr id="93" name="순서도: 처리 92"/>
          <p:cNvSpPr/>
          <p:nvPr/>
        </p:nvSpPr>
        <p:spPr>
          <a:xfrm>
            <a:off x="3440832" y="248770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자산처분처리</a:t>
            </a:r>
          </a:p>
        </p:txBody>
      </p:sp>
      <p:cxnSp>
        <p:nvCxnSpPr>
          <p:cNvPr id="94" name="직선 화살표 연결선 93"/>
          <p:cNvCxnSpPr>
            <a:stCxn id="95" idx="3"/>
            <a:endCxn id="97" idx="1"/>
          </p:cNvCxnSpPr>
          <p:nvPr/>
        </p:nvCxnSpPr>
        <p:spPr>
          <a:xfrm flipV="1">
            <a:off x="1773394" y="2624420"/>
            <a:ext cx="462425" cy="96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순서도: 처리 94"/>
          <p:cNvSpPr/>
          <p:nvPr/>
        </p:nvSpPr>
        <p:spPr>
          <a:xfrm>
            <a:off x="909298" y="2490005"/>
            <a:ext cx="864096" cy="288032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자산처분신청</a:t>
            </a:r>
          </a:p>
        </p:txBody>
      </p:sp>
      <p:cxnSp>
        <p:nvCxnSpPr>
          <p:cNvPr id="96" name="직선 화살표 연결선 95"/>
          <p:cNvCxnSpPr>
            <a:stCxn id="97" idx="3"/>
            <a:endCxn id="93" idx="1"/>
          </p:cNvCxnSpPr>
          <p:nvPr/>
        </p:nvCxnSpPr>
        <p:spPr>
          <a:xfrm>
            <a:off x="3039161" y="2624420"/>
            <a:ext cx="401671" cy="73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다이아몬드 96"/>
          <p:cNvSpPr/>
          <p:nvPr/>
        </p:nvSpPr>
        <p:spPr>
          <a:xfrm>
            <a:off x="2235819" y="2467912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cxnSp>
        <p:nvCxnSpPr>
          <p:cNvPr id="92" name="꺾인 연결선 91"/>
          <p:cNvCxnSpPr>
            <a:stCxn id="93" idx="3"/>
            <a:endCxn id="105" idx="0"/>
          </p:cNvCxnSpPr>
          <p:nvPr/>
        </p:nvCxnSpPr>
        <p:spPr>
          <a:xfrm flipV="1">
            <a:off x="4304928" y="2216397"/>
            <a:ext cx="2714616" cy="415324"/>
          </a:xfrm>
          <a:prstGeom prst="bentConnector4">
            <a:avLst>
              <a:gd name="adj1" fmla="val 32661"/>
              <a:gd name="adj2" fmla="val 155041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6078156" y="2216397"/>
            <a:ext cx="1899180" cy="780555"/>
            <a:chOff x="4590160" y="7471621"/>
            <a:chExt cx="1899180" cy="780555"/>
          </a:xfrm>
        </p:grpSpPr>
        <p:sp>
          <p:nvSpPr>
            <p:cNvPr id="105" name="Rectangle 7"/>
            <p:cNvSpPr>
              <a:spLocks noChangeArrowheads="1"/>
            </p:cNvSpPr>
            <p:nvPr/>
          </p:nvSpPr>
          <p:spPr bwMode="auto">
            <a:xfrm>
              <a:off x="4590160" y="7471621"/>
              <a:ext cx="1882775" cy="780555"/>
            </a:xfrm>
            <a:prstGeom prst="rect">
              <a:avLst/>
            </a:prstGeom>
            <a:solidFill>
              <a:schemeClr val="bg1"/>
            </a:solidFill>
            <a:ln w="3810">
              <a:solidFill>
                <a:srgbClr val="009900"/>
              </a:solidFill>
              <a:miter lim="800000"/>
              <a:headEnd/>
              <a:tailEnd/>
            </a:ln>
          </p:spPr>
          <p:txBody>
            <a:bodyPr wrap="none" lIns="90000" tIns="90000" rIns="90000" bIns="46800" anchor="ctr"/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106" name="Text Box 8"/>
            <p:cNvSpPr txBox="1">
              <a:spLocks noChangeArrowheads="1"/>
            </p:cNvSpPr>
            <p:nvPr/>
          </p:nvSpPr>
          <p:spPr bwMode="auto">
            <a:xfrm>
              <a:off x="4652603" y="7769311"/>
              <a:ext cx="857250" cy="415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미수금</a:t>
              </a:r>
              <a:endParaRPr lang="en-US" altLang="ko-KR" sz="900" smtClean="0">
                <a:solidFill>
                  <a:srgbClr val="000000"/>
                </a:solidFill>
                <a:latin typeface="+mn-ea"/>
                <a:ea typeface="+mn-ea"/>
              </a:endParaRPr>
            </a:p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감가상각누계액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  <a:p>
              <a:pPr eaLnBrk="1" latinLnBrk="1" hangingPunct="1"/>
              <a:r>
                <a:rPr lang="ko-KR" altLang="en-US" sz="900" dirty="0" smtClean="0">
                  <a:solidFill>
                    <a:srgbClr val="000000"/>
                  </a:solidFill>
                  <a:latin typeface="+mn-ea"/>
                  <a:ea typeface="+mn-ea"/>
                </a:rPr>
                <a:t>자산처분손실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107" name="Line 9"/>
            <p:cNvSpPr>
              <a:spLocks noChangeShapeType="1"/>
            </p:cNvSpPr>
            <p:nvPr/>
          </p:nvSpPr>
          <p:spPr bwMode="auto">
            <a:xfrm>
              <a:off x="4617678" y="7751382"/>
              <a:ext cx="1871662" cy="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8" name="Line 10"/>
            <p:cNvSpPr>
              <a:spLocks noChangeShapeType="1"/>
            </p:cNvSpPr>
            <p:nvPr/>
          </p:nvSpPr>
          <p:spPr bwMode="auto">
            <a:xfrm>
              <a:off x="5525728" y="7771089"/>
              <a:ext cx="0" cy="46800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16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9" name="Text Box 11"/>
            <p:cNvSpPr txBox="1">
              <a:spLocks noChangeArrowheads="1"/>
            </p:cNvSpPr>
            <p:nvPr/>
          </p:nvSpPr>
          <p:spPr bwMode="auto">
            <a:xfrm>
              <a:off x="5670330" y="7772317"/>
              <a:ext cx="6924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자산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자산처분이익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110" name="Text Box 12"/>
            <p:cNvSpPr txBox="1">
              <a:spLocks noChangeArrowheads="1"/>
            </p:cNvSpPr>
            <p:nvPr/>
          </p:nvSpPr>
          <p:spPr bwMode="auto">
            <a:xfrm>
              <a:off x="5186428" y="7530360"/>
              <a:ext cx="73257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자산처분 전표</a:t>
              </a:r>
              <a:endParaRPr lang="ko-KR" altLang="en-US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4286018" y="1652029"/>
            <a:ext cx="10823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smtClean="0">
                <a:solidFill>
                  <a:srgbClr val="0000CC"/>
                </a:solidFill>
              </a:rPr>
              <a:t>자산상태</a:t>
            </a:r>
            <a:r>
              <a:rPr lang="en-US" altLang="ko-KR" sz="1000" smtClean="0">
                <a:solidFill>
                  <a:srgbClr val="0000CC"/>
                </a:solidFill>
                <a:sym typeface="Wingdings" panose="05000000000000000000" pitchFamily="2" charset="2"/>
              </a:rPr>
              <a:t></a:t>
            </a:r>
            <a:r>
              <a:rPr lang="ko-KR" altLang="en-US" sz="1000" smtClean="0">
                <a:solidFill>
                  <a:srgbClr val="0000CC"/>
                </a:solidFill>
              </a:rPr>
              <a:t>불용</a:t>
            </a:r>
            <a:endParaRPr lang="ko-KR" altLang="en-US" sz="1000" dirty="0" err="1" smtClean="0">
              <a:solidFill>
                <a:srgbClr val="0000CC"/>
              </a:solidFill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237357" y="2663506"/>
            <a:ext cx="109036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smtClean="0">
                <a:solidFill>
                  <a:srgbClr val="0000CC"/>
                </a:solidFill>
              </a:rPr>
              <a:t>자산상태</a:t>
            </a:r>
            <a:r>
              <a:rPr lang="en-US" altLang="ko-KR" sz="1000" smtClean="0">
                <a:solidFill>
                  <a:srgbClr val="0000CC"/>
                </a:solidFill>
                <a:sym typeface="Wingdings" panose="05000000000000000000" pitchFamily="2" charset="2"/>
              </a:rPr>
              <a:t></a:t>
            </a:r>
            <a:r>
              <a:rPr lang="ko-KR" altLang="en-US" sz="1000" smtClean="0">
                <a:solidFill>
                  <a:srgbClr val="0000CC"/>
                </a:solidFill>
                <a:sym typeface="Wingdings" panose="05000000000000000000" pitchFamily="2" charset="2"/>
              </a:rPr>
              <a:t>처분</a:t>
            </a:r>
            <a:endParaRPr lang="ko-KR" altLang="en-US" sz="1000" dirty="0" err="1" smtClean="0">
              <a:solidFill>
                <a:srgbClr val="0000C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522128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2.6.2.5 </a:t>
            </a:r>
            <a:r>
              <a:rPr lang="ko-KR" altLang="en-US" sz="1800" smtClean="0"/>
              <a:t>자산 전표 처리 자동화</a:t>
            </a:r>
            <a:r>
              <a:rPr lang="en-US" altLang="ko-KR" sz="1800" smtClean="0"/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873311"/>
            <a:ext cx="9174167" cy="5473514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자산 결산전표 처리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49" name="직선 화살표 연결선 48"/>
          <p:cNvCxnSpPr/>
          <p:nvPr/>
        </p:nvCxnSpPr>
        <p:spPr>
          <a:xfrm>
            <a:off x="1784648" y="1755544"/>
            <a:ext cx="625060" cy="318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순서도: 처리 49"/>
          <p:cNvSpPr/>
          <p:nvPr/>
        </p:nvSpPr>
        <p:spPr>
          <a:xfrm>
            <a:off x="920552" y="1553485"/>
            <a:ext cx="864096" cy="407304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감가상각</a:t>
            </a:r>
          </a:p>
        </p:txBody>
      </p:sp>
      <p:cxnSp>
        <p:nvCxnSpPr>
          <p:cNvPr id="78" name="직선 연결선 77"/>
          <p:cNvCxnSpPr/>
          <p:nvPr/>
        </p:nvCxnSpPr>
        <p:spPr>
          <a:xfrm flipH="1">
            <a:off x="344488" y="3645024"/>
            <a:ext cx="9174167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/>
          <p:nvPr/>
        </p:nvCxnSpPr>
        <p:spPr>
          <a:xfrm flipV="1">
            <a:off x="3213050" y="1750860"/>
            <a:ext cx="625060" cy="1255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2469334"/>
              </p:ext>
            </p:extLst>
          </p:nvPr>
        </p:nvGraphicFramePr>
        <p:xfrm>
          <a:off x="389474" y="3698626"/>
          <a:ext cx="8928992" cy="25715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4117"/>
                <a:gridCol w="439089"/>
                <a:gridCol w="1152128"/>
                <a:gridCol w="1224136"/>
                <a:gridCol w="3384376"/>
                <a:gridCol w="1485146"/>
              </a:tblGrid>
              <a:tr h="27688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구분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작업 담당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구 분</a:t>
                      </a:r>
                      <a:endParaRPr lang="ko-KR" altLang="en-US" sz="10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내용</a:t>
                      </a:r>
                      <a:endParaRPr lang="ko-KR" altLang="en-US" sz="10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319040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감가상각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 작업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매월 보유자산에 대한 감가상각 계산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정액법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2500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 마감처리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감가상각 내역과 계정별 집계금액 확인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감가상각 전표</a:t>
                      </a:r>
                      <a:r>
                        <a:rPr lang="en-US" altLang="ko-KR" sz="1000" smtClean="0"/>
                        <a:t>(</a:t>
                      </a:r>
                      <a:r>
                        <a:rPr lang="ko-KR" altLang="en-US" sz="1000" smtClean="0"/>
                        <a:t>결의서</a:t>
                      </a:r>
                      <a:r>
                        <a:rPr lang="en-US" altLang="ko-KR" sz="1000" smtClean="0"/>
                        <a:t>)</a:t>
                      </a:r>
                      <a:r>
                        <a:rPr lang="ko-KR" altLang="en-US" sz="1000" smtClean="0"/>
                        <a:t>  확인 및 결재상신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마감시 전표 자동 생성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190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 부서장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감가상각전표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 전표 승인 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승인시 회계 이첩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040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건설중인 자산 결산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건설중인 자산 조회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가계정으로 집계된 금액 조회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951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자산관리자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 마감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 마감 후 생성된 전표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및 결재 상신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환원전표도 생성됨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마감시 전표 자동 생성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3571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자산관리 부서장</a:t>
                      </a: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건설중인자산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결산전표 승인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건설중인자산 결산 전표 승인 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승인시 회계 이첩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90" name="다이아몬드 89"/>
          <p:cNvSpPr/>
          <p:nvPr/>
        </p:nvSpPr>
        <p:spPr>
          <a:xfrm>
            <a:off x="2409708" y="1600629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마감</a:t>
            </a:r>
          </a:p>
        </p:txBody>
      </p:sp>
      <p:cxnSp>
        <p:nvCxnSpPr>
          <p:cNvPr id="94" name="직선 화살표 연결선 93"/>
          <p:cNvCxnSpPr/>
          <p:nvPr/>
        </p:nvCxnSpPr>
        <p:spPr>
          <a:xfrm>
            <a:off x="1773394" y="2862181"/>
            <a:ext cx="625060" cy="318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순서도: 처리 94"/>
          <p:cNvSpPr/>
          <p:nvPr/>
        </p:nvSpPr>
        <p:spPr>
          <a:xfrm>
            <a:off x="909298" y="2660122"/>
            <a:ext cx="864096" cy="407304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가계정 조회</a:t>
            </a:r>
            <a:endParaRPr lang="en-US" altLang="ko-KR" sz="900" smtClean="0">
              <a:solidFill>
                <a:schemeClr val="tx1"/>
              </a:solidFill>
            </a:endParaRPr>
          </a:p>
        </p:txBody>
      </p:sp>
      <p:cxnSp>
        <p:nvCxnSpPr>
          <p:cNvPr id="96" name="직선 화살표 연결선 95"/>
          <p:cNvCxnSpPr/>
          <p:nvPr/>
        </p:nvCxnSpPr>
        <p:spPr>
          <a:xfrm>
            <a:off x="3201796" y="2862648"/>
            <a:ext cx="625060" cy="225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다이아몬드 96"/>
          <p:cNvSpPr/>
          <p:nvPr/>
        </p:nvSpPr>
        <p:spPr>
          <a:xfrm>
            <a:off x="2398454" y="2707266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결산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마감</a:t>
            </a:r>
          </a:p>
        </p:txBody>
      </p:sp>
      <p:sp>
        <p:nvSpPr>
          <p:cNvPr id="27" name="순서도: 종속 처리 26"/>
          <p:cNvSpPr/>
          <p:nvPr/>
        </p:nvSpPr>
        <p:spPr>
          <a:xfrm>
            <a:off x="3838110" y="1565154"/>
            <a:ext cx="1077652" cy="383966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감</a:t>
            </a:r>
            <a:r>
              <a:rPr lang="ko-KR" altLang="en-US" sz="900" smtClean="0">
                <a:solidFill>
                  <a:schemeClr val="tx1"/>
                </a:solidFill>
              </a:rPr>
              <a:t>가상각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전표생성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95359" y="1241565"/>
            <a:ext cx="33137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1) </a:t>
            </a:r>
            <a:r>
              <a:rPr lang="ko-KR" altLang="en-US" sz="1200" smtClean="0"/>
              <a:t>매월 감가상각에 의한 감가상각 전표 생성 </a:t>
            </a:r>
            <a:endParaRPr lang="ko-KR" altLang="en-US" sz="1200" dirty="0" err="1" smtClean="0"/>
          </a:p>
        </p:txBody>
      </p:sp>
      <p:cxnSp>
        <p:nvCxnSpPr>
          <p:cNvPr id="31" name="직선 화살표 연결선 30"/>
          <p:cNvCxnSpPr/>
          <p:nvPr/>
        </p:nvCxnSpPr>
        <p:spPr>
          <a:xfrm flipV="1">
            <a:off x="6344164" y="1754697"/>
            <a:ext cx="625060" cy="488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다이아몬드 31"/>
          <p:cNvSpPr/>
          <p:nvPr/>
        </p:nvSpPr>
        <p:spPr>
          <a:xfrm>
            <a:off x="5540822" y="1600629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cxnSp>
        <p:nvCxnSpPr>
          <p:cNvPr id="7" name="직선 화살표 연결선 6"/>
          <p:cNvCxnSpPr/>
          <p:nvPr/>
        </p:nvCxnSpPr>
        <p:spPr>
          <a:xfrm>
            <a:off x="4915762" y="1757137"/>
            <a:ext cx="625060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순서도: 페이지 연결자 8"/>
          <p:cNvSpPr/>
          <p:nvPr/>
        </p:nvSpPr>
        <p:spPr>
          <a:xfrm>
            <a:off x="6825208" y="1563532"/>
            <a:ext cx="544770" cy="387210"/>
          </a:xfrm>
          <a:prstGeom prst="flowChartOffpageConnector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회계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89474" y="2246809"/>
            <a:ext cx="57855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smtClean="0"/>
              <a:t>2) </a:t>
            </a:r>
            <a:r>
              <a:rPr lang="ko-KR" altLang="en-US" sz="1200" smtClean="0"/>
              <a:t>결산시점에 자산취득중인 건에 대한 건설중인자산 처리 및 익일 환원전표 처리</a:t>
            </a:r>
            <a:endParaRPr lang="ko-KR" altLang="en-US" sz="1200" dirty="0" err="1" smtClean="0"/>
          </a:p>
        </p:txBody>
      </p:sp>
      <p:sp>
        <p:nvSpPr>
          <p:cNvPr id="38" name="순서도: 종속 처리 37"/>
          <p:cNvSpPr/>
          <p:nvPr/>
        </p:nvSpPr>
        <p:spPr>
          <a:xfrm>
            <a:off x="3826856" y="2671791"/>
            <a:ext cx="1088906" cy="383966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건설중인자산 결산전표</a:t>
            </a:r>
          </a:p>
        </p:txBody>
      </p:sp>
      <p:cxnSp>
        <p:nvCxnSpPr>
          <p:cNvPr id="39" name="직선 화살표 연결선 38"/>
          <p:cNvCxnSpPr/>
          <p:nvPr/>
        </p:nvCxnSpPr>
        <p:spPr>
          <a:xfrm flipV="1">
            <a:off x="6344164" y="2861334"/>
            <a:ext cx="625060" cy="488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다이아몬드 39"/>
          <p:cNvSpPr/>
          <p:nvPr/>
        </p:nvSpPr>
        <p:spPr>
          <a:xfrm>
            <a:off x="5540822" y="2707266"/>
            <a:ext cx="803342" cy="313016"/>
          </a:xfrm>
          <a:prstGeom prst="diamond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승인</a:t>
            </a:r>
          </a:p>
        </p:txBody>
      </p:sp>
      <p:cxnSp>
        <p:nvCxnSpPr>
          <p:cNvPr id="41" name="직선 화살표 연결선 40"/>
          <p:cNvCxnSpPr/>
          <p:nvPr/>
        </p:nvCxnSpPr>
        <p:spPr>
          <a:xfrm>
            <a:off x="4915762" y="2863774"/>
            <a:ext cx="625060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순서도: 페이지 연결자 41"/>
          <p:cNvSpPr/>
          <p:nvPr/>
        </p:nvSpPr>
        <p:spPr>
          <a:xfrm>
            <a:off x="6825208" y="2670169"/>
            <a:ext cx="544770" cy="387210"/>
          </a:xfrm>
          <a:prstGeom prst="flowChartOffpageConnector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회계</a:t>
            </a:r>
          </a:p>
        </p:txBody>
      </p:sp>
      <p:grpSp>
        <p:nvGrpSpPr>
          <p:cNvPr id="51" name="그룹 50"/>
          <p:cNvGrpSpPr/>
          <p:nvPr/>
        </p:nvGrpSpPr>
        <p:grpSpPr>
          <a:xfrm>
            <a:off x="7448036" y="1628775"/>
            <a:ext cx="1899180" cy="780555"/>
            <a:chOff x="4590160" y="7471621"/>
            <a:chExt cx="1899180" cy="780555"/>
          </a:xfrm>
        </p:grpSpPr>
        <p:sp>
          <p:nvSpPr>
            <p:cNvPr id="52" name="Rectangle 7"/>
            <p:cNvSpPr>
              <a:spLocks noChangeArrowheads="1"/>
            </p:cNvSpPr>
            <p:nvPr/>
          </p:nvSpPr>
          <p:spPr bwMode="auto">
            <a:xfrm>
              <a:off x="4590160" y="7471621"/>
              <a:ext cx="1882775" cy="780555"/>
            </a:xfrm>
            <a:prstGeom prst="rect">
              <a:avLst/>
            </a:prstGeom>
            <a:solidFill>
              <a:schemeClr val="bg1"/>
            </a:solidFill>
            <a:ln w="3810">
              <a:solidFill>
                <a:srgbClr val="009900"/>
              </a:solidFill>
              <a:miter lim="800000"/>
              <a:headEnd/>
              <a:tailEnd/>
            </a:ln>
          </p:spPr>
          <p:txBody>
            <a:bodyPr wrap="none" lIns="90000" tIns="90000" rIns="90000" bIns="46800" anchor="ctr"/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53" name="Text Box 8"/>
            <p:cNvSpPr txBox="1">
              <a:spLocks noChangeArrowheads="1"/>
            </p:cNvSpPr>
            <p:nvPr/>
          </p:nvSpPr>
          <p:spPr bwMode="auto">
            <a:xfrm>
              <a:off x="4652603" y="7769311"/>
              <a:ext cx="85725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감가상각비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54" name="Line 9"/>
            <p:cNvSpPr>
              <a:spLocks noChangeShapeType="1"/>
            </p:cNvSpPr>
            <p:nvPr/>
          </p:nvSpPr>
          <p:spPr bwMode="auto">
            <a:xfrm>
              <a:off x="4617678" y="7751382"/>
              <a:ext cx="1871662" cy="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55" name="Line 10"/>
            <p:cNvSpPr>
              <a:spLocks noChangeShapeType="1"/>
            </p:cNvSpPr>
            <p:nvPr/>
          </p:nvSpPr>
          <p:spPr bwMode="auto">
            <a:xfrm>
              <a:off x="5525728" y="7771089"/>
              <a:ext cx="0" cy="46800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16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56" name="Text Box 11"/>
            <p:cNvSpPr txBox="1">
              <a:spLocks noChangeArrowheads="1"/>
            </p:cNvSpPr>
            <p:nvPr/>
          </p:nvSpPr>
          <p:spPr bwMode="auto">
            <a:xfrm>
              <a:off x="5572056" y="7772317"/>
              <a:ext cx="80791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감가상각누계액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57" name="Text Box 12"/>
            <p:cNvSpPr txBox="1">
              <a:spLocks noChangeArrowheads="1"/>
            </p:cNvSpPr>
            <p:nvPr/>
          </p:nvSpPr>
          <p:spPr bwMode="auto">
            <a:xfrm>
              <a:off x="5186428" y="7530360"/>
              <a:ext cx="73257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감가상각 전표</a:t>
              </a:r>
              <a:endParaRPr lang="ko-KR" altLang="en-US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58" name="그룹 57"/>
          <p:cNvGrpSpPr/>
          <p:nvPr/>
        </p:nvGrpSpPr>
        <p:grpSpPr>
          <a:xfrm>
            <a:off x="7461000" y="2751754"/>
            <a:ext cx="1899180" cy="780555"/>
            <a:chOff x="4590160" y="7471621"/>
            <a:chExt cx="1899180" cy="780555"/>
          </a:xfrm>
        </p:grpSpPr>
        <p:sp>
          <p:nvSpPr>
            <p:cNvPr id="59" name="Rectangle 7"/>
            <p:cNvSpPr>
              <a:spLocks noChangeArrowheads="1"/>
            </p:cNvSpPr>
            <p:nvPr/>
          </p:nvSpPr>
          <p:spPr bwMode="auto">
            <a:xfrm>
              <a:off x="4590160" y="7471621"/>
              <a:ext cx="1882775" cy="780555"/>
            </a:xfrm>
            <a:prstGeom prst="rect">
              <a:avLst/>
            </a:prstGeom>
            <a:solidFill>
              <a:schemeClr val="bg1"/>
            </a:solidFill>
            <a:ln w="3810">
              <a:solidFill>
                <a:srgbClr val="009900"/>
              </a:solidFill>
              <a:miter lim="800000"/>
              <a:headEnd/>
              <a:tailEnd/>
            </a:ln>
          </p:spPr>
          <p:txBody>
            <a:bodyPr wrap="none" lIns="90000" tIns="90000" rIns="90000" bIns="46800" anchor="ctr"/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60" name="Text Box 8"/>
            <p:cNvSpPr txBox="1">
              <a:spLocks noChangeArrowheads="1"/>
            </p:cNvSpPr>
            <p:nvPr/>
          </p:nvSpPr>
          <p:spPr bwMode="auto">
            <a:xfrm>
              <a:off x="4652603" y="7769311"/>
              <a:ext cx="85725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건설중인자산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61" name="Line 9"/>
            <p:cNvSpPr>
              <a:spLocks noChangeShapeType="1"/>
            </p:cNvSpPr>
            <p:nvPr/>
          </p:nvSpPr>
          <p:spPr bwMode="auto">
            <a:xfrm>
              <a:off x="4617678" y="7751382"/>
              <a:ext cx="1871662" cy="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9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62" name="Line 10"/>
            <p:cNvSpPr>
              <a:spLocks noChangeShapeType="1"/>
            </p:cNvSpPr>
            <p:nvPr/>
          </p:nvSpPr>
          <p:spPr bwMode="auto">
            <a:xfrm>
              <a:off x="5525728" y="7771089"/>
              <a:ext cx="0" cy="468000"/>
            </a:xfrm>
            <a:prstGeom prst="line">
              <a:avLst/>
            </a:prstGeom>
            <a:noFill/>
            <a:ln w="3810">
              <a:solidFill>
                <a:srgbClr val="0066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90000" rIns="90000" bIns="46800"/>
            <a:lstStyle/>
            <a:p>
              <a:pPr eaLnBrk="1" latinLnBrk="1" hangingPunct="1"/>
              <a:endParaRPr lang="ko-KR" altLang="en-US" sz="1600" smtClea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63" name="Text Box 11"/>
            <p:cNvSpPr txBox="1">
              <a:spLocks noChangeArrowheads="1"/>
            </p:cNvSpPr>
            <p:nvPr/>
          </p:nvSpPr>
          <p:spPr bwMode="auto">
            <a:xfrm>
              <a:off x="5670330" y="7772317"/>
              <a:ext cx="50174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자산 비용</a:t>
              </a:r>
              <a:endParaRPr lang="en-US" altLang="ko-KR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  <p:sp>
          <p:nvSpPr>
            <p:cNvPr id="64" name="Text Box 12"/>
            <p:cNvSpPr txBox="1">
              <a:spLocks noChangeArrowheads="1"/>
            </p:cNvSpPr>
            <p:nvPr/>
          </p:nvSpPr>
          <p:spPr bwMode="auto">
            <a:xfrm>
              <a:off x="4962480" y="7530360"/>
              <a:ext cx="12343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1100">
                  <a:solidFill>
                    <a:schemeClr val="tx1"/>
                  </a:solidFill>
                  <a:latin typeface="Arial" panose="020B0604020202020204" pitchFamily="34" charset="0"/>
                  <a:ea typeface="굴림" panose="020B0600000101010101" pitchFamily="50" charset="-127"/>
                </a:defRPr>
              </a:lvl9pPr>
            </a:lstStyle>
            <a:p>
              <a:pPr eaLnBrk="1" latinLnBrk="1" hangingPunct="1"/>
              <a:r>
                <a:rPr lang="ko-KR" altLang="en-US" sz="900" smtClean="0">
                  <a:solidFill>
                    <a:srgbClr val="000000"/>
                  </a:solidFill>
                  <a:latin typeface="+mn-ea"/>
                  <a:ea typeface="+mn-ea"/>
                </a:rPr>
                <a:t>건설중인자산 결산 전표</a:t>
              </a:r>
              <a:endParaRPr lang="ko-KR" altLang="en-US" sz="900" dirty="0" smtClean="0">
                <a:solidFill>
                  <a:srgbClr val="000000"/>
                </a:solidFill>
                <a:latin typeface="+mn-ea"/>
                <a:ea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042883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2.6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2.6.2.5 </a:t>
            </a:r>
            <a:r>
              <a:rPr lang="ko-KR" altLang="en-US" sz="1800" smtClean="0"/>
              <a:t>자산 전표 처리 자동화</a:t>
            </a:r>
            <a:r>
              <a:rPr lang="en-US" altLang="ko-KR" sz="1800" smtClean="0"/>
              <a:t>(2/2)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2.6 </a:t>
            </a:r>
            <a:r>
              <a:rPr lang="ko-KR" altLang="en-US" smtClean="0"/>
              <a:t>자산관리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308" y="1411870"/>
            <a:ext cx="9174167" cy="5041466"/>
            <a:chOff x="350833" y="1650531"/>
            <a:chExt cx="9174167" cy="4625912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252239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</a:rPr>
                <a:t>자산 전표 처리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23885"/>
              <a:ext cx="9174167" cy="4352558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720322"/>
              </p:ext>
            </p:extLst>
          </p:nvPr>
        </p:nvGraphicFramePr>
        <p:xfrm>
          <a:off x="371519" y="1743477"/>
          <a:ext cx="8901961" cy="46033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001"/>
                <a:gridCol w="936104"/>
                <a:gridCol w="1800200"/>
                <a:gridCol w="2520280"/>
                <a:gridCol w="2952328"/>
                <a:gridCol w="432048"/>
              </a:tblGrid>
              <a:tr h="162306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No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업무명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구 분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전표 분개 내용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1623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차변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</a:rPr>
                        <a:t>대변</a:t>
                      </a:r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7259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 취득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 취득시 가계정에 집계된 금액과 취득자산계정 취득하는 자산의 취득금액으로 대체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기타유형자산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취득자산의 계정과목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기타유형자산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                          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x,xxx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단기선급금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기자재발주금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기타유형자산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단기선급금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기자재발주금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  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x,xxx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72590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감가상각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 마감시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계정별 감가상각비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ex) </a:t>
                      </a:r>
                      <a:r>
                        <a:rPr lang="ko-KR" altLang="en-US" sz="1000" smtClean="0"/>
                        <a:t>건물 감가상각비 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    </a:t>
                      </a:r>
                      <a:r>
                        <a:rPr lang="ko-KR" altLang="en-US" sz="1000" smtClean="0"/>
                        <a:t>기계장치 감가상각비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계정별</a:t>
                      </a:r>
                      <a:r>
                        <a:rPr lang="en-US" altLang="ko-KR" sz="1000" smtClean="0"/>
                        <a:t> </a:t>
                      </a:r>
                      <a:r>
                        <a:rPr lang="ko-KR" altLang="en-US" sz="1000" smtClean="0"/>
                        <a:t>감가상각 누계액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ex) </a:t>
                      </a:r>
                      <a:r>
                        <a:rPr lang="ko-KR" altLang="en-US" sz="1000" smtClean="0"/>
                        <a:t>건물 감가상각누계액 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     </a:t>
                      </a:r>
                      <a:r>
                        <a:rPr lang="ko-KR" altLang="en-US" sz="1000" smtClean="0"/>
                        <a:t>기계장치 감가상각누계액</a:t>
                      </a:r>
                      <a:endParaRPr lang="ko-KR" altLang="en-US" sz="1000"/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7259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정부보조금 감가상각비 없이 직접 상계처리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계정별 정부보조금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ex) </a:t>
                      </a:r>
                      <a:r>
                        <a:rPr lang="ko-KR" altLang="en-US" sz="1000" smtClean="0"/>
                        <a:t>건물 정부보조금 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    </a:t>
                      </a:r>
                      <a:r>
                        <a:rPr lang="ko-KR" altLang="en-US" sz="1000" smtClean="0"/>
                        <a:t>기계장치 정부보조금</a:t>
                      </a:r>
                      <a:endParaRPr lang="ko-KR" altLang="en-US" sz="10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/>
                        <a:t>계정별 감가상각비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ex) </a:t>
                      </a:r>
                      <a:r>
                        <a:rPr lang="ko-KR" altLang="en-US" sz="1000" smtClean="0"/>
                        <a:t>건물 감가상각비 </a:t>
                      </a:r>
                      <a:endParaRPr lang="en-US" altLang="ko-KR" sz="1000" smtClean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/>
                        <a:t>    </a:t>
                      </a:r>
                      <a:r>
                        <a:rPr lang="ko-KR" altLang="en-US" sz="1000" smtClean="0"/>
                        <a:t>기계장치 감가상각비</a:t>
                      </a:r>
                      <a:endParaRPr lang="ko-KR" altLang="en-US" sz="1000"/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2128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자산처분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각 부서 신청</a:t>
                      </a:r>
                      <a:r>
                        <a:rPr lang="en-US" altLang="ko-KR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처분시점에 취득금액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상각누계액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처분금액으로 대차변 금액을 계산하여 전표 생성</a:t>
                      </a:r>
                    </a:p>
                    <a:p>
                      <a:pPr algn="l" latinLnBrk="1"/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처분금액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감가상각누계액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유형자산처분손실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                       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10,000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기계장치감가상각누계액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210,000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유형자산처분손실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90,000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자산취득금액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유형자산처분이익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        220,000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8882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건설중인자산</a:t>
                      </a:r>
                      <a:endParaRPr lang="en-US" altLang="ko-KR" sz="1000" b="1" smtClean="0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b="1" smtClean="0">
                          <a:solidFill>
                            <a:srgbClr val="0000CC"/>
                          </a:solidFill>
                          <a:latin typeface="+mn-ea"/>
                          <a:ea typeface="+mn-ea"/>
                        </a:rPr>
                        <a:t>결산</a:t>
                      </a:r>
                      <a:endParaRPr lang="ko-KR" altLang="en-US" sz="1000" b="1">
                        <a:solidFill>
                          <a:srgbClr val="0000CC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자산을 취득하기 위해 지출된 금액을 집계한 가계정번호별로 집계금액과 지출내역으로 전표 생성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익일 환원전표는 금액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 - )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가계정별 자산의 건설중인 자산계정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건설중인자산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개발중인 무형자산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해당가계정번호로 지출된 결의서 금액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시설운영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단기선급금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기자재발주금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소프트웨어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익일환원전표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3" name="텍스트 개체 틀 1"/>
          <p:cNvSpPr>
            <a:spLocks noGrp="1"/>
          </p:cNvSpPr>
          <p:nvPr>
            <p:ph type="body" idx="1"/>
          </p:nvPr>
        </p:nvSpPr>
        <p:spPr>
          <a:xfrm>
            <a:off x="360452" y="881941"/>
            <a:ext cx="9180512" cy="762275"/>
          </a:xfrm>
        </p:spPr>
        <p:txBody>
          <a:bodyPr vert="horz" lIns="0" tIns="0" rIns="0" bIns="0" rtlCol="0" anchor="t" anchorCtr="0">
            <a:noAutofit/>
          </a:bodyPr>
          <a:lstStyle/>
          <a:p>
            <a:pPr lvl="0" algn="l" fontAlgn="ctr" latinLnBrk="1">
              <a:spcBef>
                <a:spcPts val="0"/>
              </a:spcBef>
              <a:defRPr/>
            </a:pPr>
            <a:r>
              <a:rPr lang="ko-KR" altLang="en-US" smtClean="0"/>
              <a:t>자산시스템에서 재무변동사항</a:t>
            </a:r>
            <a:r>
              <a:rPr lang="en-US" altLang="ko-KR" smtClean="0"/>
              <a:t>(</a:t>
            </a:r>
            <a:r>
              <a:rPr lang="ko-KR" altLang="en-US" smtClean="0"/>
              <a:t>자산취득</a:t>
            </a:r>
            <a:r>
              <a:rPr lang="en-US" altLang="ko-KR" smtClean="0"/>
              <a:t>, </a:t>
            </a:r>
            <a:r>
              <a:rPr lang="ko-KR" altLang="en-US" smtClean="0"/>
              <a:t>감가상각</a:t>
            </a:r>
            <a:r>
              <a:rPr lang="en-US" altLang="ko-KR" smtClean="0"/>
              <a:t>, </a:t>
            </a:r>
            <a:r>
              <a:rPr lang="ko-KR" altLang="en-US" smtClean="0"/>
              <a:t>자산처분</a:t>
            </a:r>
            <a:r>
              <a:rPr lang="en-US" altLang="ko-KR" smtClean="0"/>
              <a:t>, </a:t>
            </a:r>
            <a:r>
              <a:rPr lang="ko-KR" altLang="en-US" smtClean="0"/>
              <a:t>손상</a:t>
            </a:r>
            <a:r>
              <a:rPr lang="en-US" altLang="ko-KR" smtClean="0"/>
              <a:t>, </a:t>
            </a:r>
            <a:r>
              <a:rPr lang="ko-KR" altLang="en-US" smtClean="0"/>
              <a:t>건설중인 자산 결산 등</a:t>
            </a:r>
            <a:r>
              <a:rPr lang="en-US" altLang="ko-KR" smtClean="0"/>
              <a:t>)</a:t>
            </a:r>
            <a:r>
              <a:rPr lang="ko-KR" altLang="en-US" smtClean="0"/>
              <a:t>이 발생할 경우</a:t>
            </a:r>
            <a:r>
              <a:rPr lang="en-US" altLang="ko-KR" smtClean="0"/>
              <a:t>, </a:t>
            </a:r>
            <a:r>
              <a:rPr lang="ko-KR" altLang="en-US" smtClean="0"/>
              <a:t>이를 확정하는 시점에 전표</a:t>
            </a:r>
            <a:r>
              <a:rPr lang="en-US" altLang="ko-KR" smtClean="0"/>
              <a:t>(</a:t>
            </a:r>
            <a:r>
              <a:rPr lang="ko-KR" altLang="en-US" smtClean="0"/>
              <a:t>결의서</a:t>
            </a:r>
            <a:r>
              <a:rPr lang="en-US" altLang="ko-KR" smtClean="0"/>
              <a:t>)</a:t>
            </a:r>
            <a:r>
              <a:rPr lang="ko-KR" altLang="en-US" smtClean="0"/>
              <a:t>를 자동 생성하여 전자결재를 상신하여 회계에 이첩함</a:t>
            </a:r>
            <a:endParaRPr lang="en-US" altLang="ko-KR" spc="-15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79096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smtClean="0"/>
              <a:t>사업계획부터 수주과정의 진행정보를 관리하고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수주확</a:t>
            </a:r>
            <a:r>
              <a:rPr lang="ko-KR" altLang="en-US" smtClean="0"/>
              <a:t>정된 사업은 표준 사업계획</a:t>
            </a:r>
            <a:r>
              <a:rPr lang="en-US" altLang="ko-KR"/>
              <a:t> </a:t>
            </a:r>
            <a:r>
              <a:rPr lang="ko-KR" altLang="en-US" smtClean="0"/>
              <a:t>체제를 도입하여 표준 일정에 의한 인력과 자재 투입 계획을 세부공정별로 계획하고</a:t>
            </a:r>
            <a:r>
              <a:rPr lang="en-US" altLang="ko-KR" smtClean="0"/>
              <a:t>, </a:t>
            </a:r>
            <a:r>
              <a:rPr lang="ko-KR" altLang="en-US" smtClean="0"/>
              <a:t>계획 기준으로 실적을 취합하고 일정을 관리하여 기성 신청 및 사업별 원가계산을 용이하게 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 dirty="0"/>
              <a:t>업무 효율화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2.7.1 </a:t>
            </a:r>
            <a:r>
              <a:rPr lang="ko-KR" altLang="en-US" sz="1800" dirty="0"/>
              <a:t>과제</a:t>
            </a:r>
            <a:r>
              <a:rPr lang="en-US" altLang="ko-KR" sz="1800" dirty="0"/>
              <a:t> </a:t>
            </a:r>
            <a:r>
              <a:rPr lang="ko-KR" altLang="en-US" sz="1800" dirty="0"/>
              <a:t>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 dirty="0"/>
              <a:t>업무 효율화</a:t>
            </a:r>
            <a:endParaRPr lang="en-US" altLang="ko-KR" dirty="0"/>
          </a:p>
        </p:txBody>
      </p:sp>
      <p:grpSp>
        <p:nvGrpSpPr>
          <p:cNvPr id="5" name="그룹 77">
            <a:extLst>
              <a:ext uri="{FF2B5EF4-FFF2-40B4-BE49-F238E27FC236}">
                <a16:creationId xmlns="" xmlns:a16="http://schemas.microsoft.com/office/drawing/2014/main" id="{B0511B2C-F5D4-492B-8A5A-D90A0D0B3868}"/>
              </a:ext>
            </a:extLst>
          </p:cNvPr>
          <p:cNvGrpSpPr/>
          <p:nvPr/>
        </p:nvGrpSpPr>
        <p:grpSpPr>
          <a:xfrm>
            <a:off x="355147" y="1592796"/>
            <a:ext cx="9180512" cy="4788532"/>
            <a:chOff x="200025" y="1592796"/>
            <a:chExt cx="6733195" cy="4788532"/>
          </a:xfrm>
        </p:grpSpPr>
        <p:sp>
          <p:nvSpPr>
            <p:cNvPr id="79" name="직사각형 78">
              <a:extLst>
                <a:ext uri="{FF2B5EF4-FFF2-40B4-BE49-F238E27FC236}">
                  <a16:creationId xmlns="" xmlns:a16="http://schemas.microsoft.com/office/drawing/2014/main" id="{7A02AF25-67DB-49E8-A9F5-7456F591158A}"/>
                </a:ext>
              </a:extLst>
            </p:cNvPr>
            <p:cNvSpPr/>
            <p:nvPr/>
          </p:nvSpPr>
          <p:spPr bwMode="auto">
            <a:xfrm>
              <a:off x="200025" y="1592796"/>
              <a:ext cx="6733195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lvl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 개요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="" xmlns:a16="http://schemas.microsoft.com/office/drawing/2014/main" id="{2D8432D5-5596-482C-A21A-563B582C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" y="1916832"/>
              <a:ext cx="6733195" cy="4464496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자유형: 도형 7">
            <a:extLst>
              <a:ext uri="{FF2B5EF4-FFF2-40B4-BE49-F238E27FC236}">
                <a16:creationId xmlns="" xmlns:a16="http://schemas.microsoft.com/office/drawing/2014/main" id="{DC8F9B3D-33EF-48D3-A461-A50900D519EB}"/>
              </a:ext>
            </a:extLst>
          </p:cNvPr>
          <p:cNvSpPr/>
          <p:nvPr/>
        </p:nvSpPr>
        <p:spPr>
          <a:xfrm>
            <a:off x="2463951" y="2002612"/>
            <a:ext cx="529865" cy="4299947"/>
          </a:xfrm>
          <a:custGeom>
            <a:avLst/>
            <a:gdLst>
              <a:gd name="connsiteX0" fmla="*/ 0 w 528992"/>
              <a:gd name="connsiteY0" fmla="*/ 324952 h 4299947"/>
              <a:gd name="connsiteX1" fmla="*/ 37785 w 528992"/>
              <a:gd name="connsiteY1" fmla="*/ 4012780 h 4299947"/>
              <a:gd name="connsiteX2" fmla="*/ 521435 w 528992"/>
              <a:gd name="connsiteY2" fmla="*/ 4299947 h 4299947"/>
              <a:gd name="connsiteX3" fmla="*/ 528992 w 528992"/>
              <a:gd name="connsiteY3" fmla="*/ 0 h 4299947"/>
              <a:gd name="connsiteX4" fmla="*/ 0 w 528992"/>
              <a:gd name="connsiteY4" fmla="*/ 324952 h 429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8992" h="4299947">
                <a:moveTo>
                  <a:pt x="0" y="324952"/>
                </a:moveTo>
                <a:lnTo>
                  <a:pt x="37785" y="4012780"/>
                </a:lnTo>
                <a:lnTo>
                  <a:pt x="521435" y="4299947"/>
                </a:lnTo>
                <a:lnTo>
                  <a:pt x="528992" y="0"/>
                </a:lnTo>
                <a:lnTo>
                  <a:pt x="0" y="324952"/>
                </a:lnTo>
                <a:close/>
              </a:path>
            </a:pathLst>
          </a:custGeom>
          <a:gradFill>
            <a:gsLst>
              <a:gs pos="82000">
                <a:schemeClr val="bg1">
                  <a:lumMod val="85000"/>
                </a:schemeClr>
              </a:gs>
              <a:gs pos="0">
                <a:schemeClr val="bg1">
                  <a:lumMod val="95000"/>
                </a:schemeClr>
              </a:gs>
            </a:gsLst>
            <a:lin ang="0" scaled="0"/>
          </a:gra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defRPr/>
            </a:pP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사업관리 </a:t>
            </a:r>
            <a:r>
              <a:rPr lang="ko-KR" altLang="en-US" sz="1400" b="1" kern="0" spc="-150" dirty="0">
                <a:solidFill>
                  <a:prstClr val="black"/>
                </a:solidFill>
                <a:latin typeface="+mn-ea"/>
              </a:rPr>
              <a:t>업무 효율화</a:t>
            </a:r>
            <a:endParaRPr kumimoji="0" lang="ko-KR" altLang="en-US" sz="1400" b="1" i="0" u="none" strike="noStrike" kern="0" cap="none" spc="-1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6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9"/>
            <a:ext cx="2028386" cy="527511"/>
            <a:chOff x="401216" y="2918940"/>
            <a:chExt cx="2310143" cy="551720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단계별 수주 진행관리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1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7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370156"/>
            <a:ext cx="2028386" cy="527511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체계적인 사업실행계획 관리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2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="" xmlns:a16="http://schemas.microsoft.com/office/drawing/2014/main" id="{3D81FFC0-71B9-46DA-943A-B129A730D4BD}"/>
              </a:ext>
            </a:extLst>
          </p:cNvPr>
          <p:cNvSpPr/>
          <p:nvPr/>
        </p:nvSpPr>
        <p:spPr>
          <a:xfrm>
            <a:off x="2923626" y="1975288"/>
            <a:ext cx="6433414" cy="4345672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79488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9" name="그룹 85">
            <a:extLst>
              <a:ext uri="{FF2B5EF4-FFF2-40B4-BE49-F238E27FC236}">
                <a16:creationId xmlns="" xmlns:a16="http://schemas.microsoft.com/office/drawing/2014/main" id="{73987A2F-326C-4CD0-B79A-54DB536D835A}"/>
              </a:ext>
            </a:extLst>
          </p:cNvPr>
          <p:cNvGrpSpPr/>
          <p:nvPr/>
        </p:nvGrpSpPr>
        <p:grpSpPr>
          <a:xfrm>
            <a:off x="2993826" y="2026778"/>
            <a:ext cx="6177272" cy="4255416"/>
            <a:chOff x="2748955" y="2035656"/>
            <a:chExt cx="6071105" cy="4255416"/>
          </a:xfrm>
        </p:grpSpPr>
        <p:sp>
          <p:nvSpPr>
            <p:cNvPr id="87" name="직사각형 86">
              <a:extLst>
                <a:ext uri="{FF2B5EF4-FFF2-40B4-BE49-F238E27FC236}">
                  <a16:creationId xmlns="" xmlns:a16="http://schemas.microsoft.com/office/drawing/2014/main" id="{3BD8B947-9794-4DA9-A8A0-A2416C4E54C6}"/>
                </a:ext>
              </a:extLst>
            </p:cNvPr>
            <p:cNvSpPr/>
            <p:nvPr/>
          </p:nvSpPr>
          <p:spPr>
            <a:xfrm>
              <a:off x="2748955" y="2035656"/>
              <a:ext cx="838975" cy="4255416"/>
            </a:xfrm>
            <a:prstGeom prst="rect">
              <a:avLst/>
            </a:prstGeom>
            <a:solidFill>
              <a:srgbClr val="C7DDFD"/>
            </a:solidFill>
            <a:ln>
              <a:noFill/>
            </a:ln>
          </p:spPr>
          <p:txBody>
            <a:bodyPr vert="horz" wrap="square" lIns="97969" tIns="48984" rIns="97969" bIns="48984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="" xmlns:a16="http://schemas.microsoft.com/office/drawing/2014/main" id="{462C3777-4666-48F1-B8E7-F560F769B567}"/>
                </a:ext>
              </a:extLst>
            </p:cNvPr>
            <p:cNvSpPr/>
            <p:nvPr/>
          </p:nvSpPr>
          <p:spPr>
            <a:xfrm>
              <a:off x="2814261" y="2111448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과제 정의</a:t>
              </a: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3197124E-28D4-472B-9558-9173E8CA2836}"/>
                </a:ext>
              </a:extLst>
            </p:cNvPr>
            <p:cNvSpPr/>
            <p:nvPr/>
          </p:nvSpPr>
          <p:spPr>
            <a:xfrm>
              <a:off x="3831300" y="2111448"/>
              <a:ext cx="4988760" cy="410375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사업 계획부터 준공까지의 표준화된 계획 및 실적 집계로 체계적이고 효율적인 관리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="" xmlns:a16="http://schemas.microsoft.com/office/drawing/2014/main" id="{4A3DA6E3-91CE-4B46-AB40-3122683B6F23}"/>
                </a:ext>
              </a:extLst>
            </p:cNvPr>
            <p:cNvSpPr/>
            <p:nvPr/>
          </p:nvSpPr>
          <p:spPr>
            <a:xfrm>
              <a:off x="2814261" y="32847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현황 및 문제점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3645D26A-84A7-4B58-98CD-009CE5F34953}"/>
                </a:ext>
              </a:extLst>
            </p:cNvPr>
            <p:cNvSpPr/>
            <p:nvPr/>
          </p:nvSpPr>
          <p:spPr>
            <a:xfrm>
              <a:off x="3831300" y="3284714"/>
              <a:ext cx="4988760" cy="873244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계획 사업에 대한 발주진행 정보 수집 및 제안서 및 입찰에 필요한 자료 작성 어려움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표준화에 의한 체계적인 사업계획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작성의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필요성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공정별로 세분화된 사업실적 작성을 위한 기준이 되는 계획 자료 필요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기성고 신청 및 합리적인 원가계산을 위한 체계적인 일정 진행 및 실적 관리 요구</a:t>
              </a:r>
              <a:endParaRPr kumimoji="1" lang="ko-KR" altLang="en-US" sz="100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="" xmlns:a16="http://schemas.microsoft.com/office/drawing/2014/main" id="{B22CB68C-1A52-4323-9BA6-715C4CA74F06}"/>
                </a:ext>
              </a:extLst>
            </p:cNvPr>
            <p:cNvSpPr/>
            <p:nvPr/>
          </p:nvSpPr>
          <p:spPr>
            <a:xfrm>
              <a:off x="2814261" y="2596957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목적 및 필요성</a:t>
              </a: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="" xmlns:a16="http://schemas.microsoft.com/office/drawing/2014/main" id="{746CCBF5-18E3-4846-B382-B28F40C95B89}"/>
                </a:ext>
              </a:extLst>
            </p:cNvPr>
            <p:cNvSpPr/>
            <p:nvPr/>
          </p:nvSpPr>
          <p:spPr>
            <a:xfrm>
              <a:off x="3831300" y="2596957"/>
              <a:ext cx="4988760" cy="61956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사업계획에서부터 수주진행과정의 진행이력 관리</a:t>
              </a:r>
              <a:endParaRPr kumimoji="1" lang="en-US" altLang="ko-KR" sz="1000" kern="0" smtClean="0">
                <a:solidFill>
                  <a:prstClr val="black"/>
                </a:solidFill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사업계획 표준화 및 세분화된 실적 집계로 기성신청 및 원가계산 자료 제공 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="" xmlns:a16="http://schemas.microsoft.com/office/drawing/2014/main" id="{C70CC1FB-D735-4714-A12C-D27BF40CD53F}"/>
                </a:ext>
              </a:extLst>
            </p:cNvPr>
            <p:cNvSpPr/>
            <p:nvPr/>
          </p:nvSpPr>
          <p:spPr>
            <a:xfrm>
              <a:off x="2814261" y="4216414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개선 방향</a:t>
              </a: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="" xmlns:a16="http://schemas.microsoft.com/office/drawing/2014/main" id="{5FC3F293-C2CE-4C3A-A082-2985541B2A49}"/>
                </a:ext>
              </a:extLst>
            </p:cNvPr>
            <p:cNvSpPr/>
            <p:nvPr/>
          </p:nvSpPr>
          <p:spPr>
            <a:xfrm>
              <a:off x="3831299" y="4216414"/>
              <a:ext cx="4988760" cy="1436887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계획사업에 대한 진행정보 수집 자동화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(RPA-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조달정보 자동 수집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)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도입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사업부문 유형별 표준자료 관리에 의해 표준 일정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투입계획 생성 후 사업별 현행화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사업실적의 세분화된 집계로 다양한 자료 제공 및 기성고 신청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원가계산 자료 제공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lvl="0" indent="-93663" defTabSz="979488" latinLnBrk="0">
                <a:spcBef>
                  <a:spcPct val="50000"/>
                </a:spcBef>
                <a:buFont typeface="Wingdings" pitchFamily="2" charset="2"/>
                <a:buChar char="§"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사업별 예실대비표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,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기성고</a:t>
              </a:r>
              <a:r>
                <a:rPr kumimoji="1" lang="ko-KR" altLang="en-US" sz="1000" b="0" i="0" u="none" strike="noStrike" kern="0" cap="none" spc="0" normalizeH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수입결의서 자동생성 등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예산</a:t>
              </a:r>
              <a:r>
                <a:rPr kumimoji="1" lang="en-US" altLang="ko-KR" sz="1000" kern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00" kern="0">
                  <a:solidFill>
                    <a:prstClr val="black"/>
                  </a:solidFill>
                  <a:latin typeface="+mn-ea"/>
                </a:rPr>
                <a:t>회계시스템과 긴밀한 </a:t>
              </a: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연계</a:t>
              </a:r>
              <a:endParaRPr kumimoji="1" lang="en-US" altLang="ko-KR" sz="1000" b="0" i="0" u="none" strike="noStrike" kern="0" cap="none" spc="0" normalizeH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세분화되고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신뢰성있는 실적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DATA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에 의한 합리적인 원가계산 </a:t>
              </a:r>
              <a:r>
                <a:rPr kumimoji="1" lang="ko-KR" altLang="en-US" sz="1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및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분석자료 제공</a:t>
              </a:r>
              <a:endParaRPr kumimoji="1" lang="en-US" altLang="ko-KR" sz="10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kern="0" smtClean="0">
                  <a:solidFill>
                    <a:prstClr val="black"/>
                  </a:solidFill>
                  <a:latin typeface="+mn-ea"/>
                </a:rPr>
                <a:t>사업관리 부문의 주력 정보화로 중점 관리대상 업무 도출 및 체계적인 관리 유도</a:t>
              </a:r>
              <a:endParaRPr kumimoji="1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9F60708A-697A-422E-84EB-603677EFF344}"/>
                </a:ext>
              </a:extLst>
            </p:cNvPr>
            <p:cNvSpPr/>
            <p:nvPr/>
          </p:nvSpPr>
          <p:spPr>
            <a:xfrm>
              <a:off x="2814261" y="5713669"/>
              <a:ext cx="951723" cy="410375"/>
            </a:xfrm>
            <a:prstGeom prst="rect">
              <a:avLst/>
            </a:prstGeom>
            <a:pattFill prst="pct20">
              <a:fgClr>
                <a:srgbClr val="C7DDFD"/>
              </a:fgClr>
              <a:bgClr>
                <a:sysClr val="window" lastClr="FFFFFF"/>
              </a:bgClr>
            </a:patt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고려사항</a:t>
              </a: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="" xmlns:a16="http://schemas.microsoft.com/office/drawing/2014/main" id="{F3587659-245E-46A2-96B1-18B88C25A318}"/>
                </a:ext>
              </a:extLst>
            </p:cNvPr>
            <p:cNvSpPr/>
            <p:nvPr/>
          </p:nvSpPr>
          <p:spPr>
            <a:xfrm>
              <a:off x="3831300" y="5713669"/>
              <a:ext cx="4988760" cy="505551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93663" marR="0" lvl="0" indent="-93663" defTabSz="979488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Char char="§"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수주정보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파악을 위한 </a:t>
              </a:r>
              <a:r>
                <a:rPr kumimoji="1" lang="en-US" altLang="ko-KR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RPA </a:t>
              </a:r>
              <a:r>
                <a:rPr kumimoji="1" lang="ko-KR" altLang="en-US" sz="10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도입 및 사업부문 유형별 표준 계획 체제 도입</a:t>
              </a:r>
              <a:endPara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10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963824"/>
            <a:ext cx="2028386" cy="527511"/>
            <a:chOff x="401216" y="2918940"/>
            <a:chExt cx="2310143" cy="551720"/>
          </a:xfrm>
        </p:grpSpPr>
        <p:sp>
          <p:nvSpPr>
            <p:cNvPr id="33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세부 사업계획 단위의 실적집계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3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5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342" y="4581128"/>
            <a:ext cx="2028386" cy="527511"/>
            <a:chOff x="401216" y="2918940"/>
            <a:chExt cx="2310143" cy="551720"/>
          </a:xfrm>
        </p:grpSpPr>
        <p:sp>
          <p:nvSpPr>
            <p:cNvPr id="36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사업실적 </a:t>
              </a:r>
              <a:r>
                <a:rPr lang="ko-KR" altLang="en-US" sz="1000" b="1" smtClean="0"/>
                <a:t>제공 </a:t>
              </a:r>
              <a:r>
                <a:rPr lang="ko-KR" altLang="en-US" sz="1000" b="1"/>
                <a:t>및 기성고 관리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kern="0" dirty="0">
                  <a:solidFill>
                    <a:prstClr val="white"/>
                  </a:solidFill>
                  <a:latin typeface="+mn-ea"/>
                </a:rPr>
                <a:t>4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grpSp>
        <p:nvGrpSpPr>
          <p:cNvPr id="38" name="그룹 31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88504" y="5205745"/>
            <a:ext cx="2028386" cy="527511"/>
            <a:chOff x="401216" y="2918940"/>
            <a:chExt cx="2310143" cy="551720"/>
          </a:xfrm>
        </p:grpSpPr>
        <p:sp>
          <p:nvSpPr>
            <p:cNvPr id="39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lvl="0" algn="ctr" defTabSz="979488" latinLnBrk="0">
                <a:spcBef>
                  <a:spcPct val="50000"/>
                </a:spcBef>
                <a:defRPr/>
              </a:pPr>
              <a:r>
                <a:rPr lang="ko-KR" altLang="en-US" sz="1000" b="1"/>
                <a:t>합리적인 사업별 원가 계산</a:t>
              </a:r>
              <a:endParaRPr kumimoji="1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40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79488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200" b="1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</a:rPr>
                <a:t>5</a:t>
              </a: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809077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수주계획부터 입찰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수주까지의 단계별 준비자료와 진행정보를 체계적으로 관리하여 수주 진행상태 를 파악하고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수주 건별 중점관리 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Ponit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를 관리하여 수주 활동을 지원하고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향후 사업부문별 사업계 획 물량 산출 및 사업 추이를 예측 정보를 제공함</a:t>
            </a:r>
            <a:endParaRPr kumimoji="1" lang="en-US" altLang="ko-KR" kern="0">
              <a:solidFill>
                <a:prstClr val="black"/>
              </a:solidFill>
              <a:latin typeface="+mn-ea"/>
            </a:endParaRPr>
          </a:p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고 </a:t>
            </a:r>
            <a:r>
              <a:rPr lang="ko-KR" altLang="en-US" sz="1600" smtClean="0"/>
              <a:t>구매 물품의 구매 관련정보와 자산 분류 등의 추가 관리로 구매 요청 및 입고시 자산 취득대상정보 생성을 용이하게 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정부권장정책 자료를 관리하여 구매실적 보고자료 생성을 용이하게 함</a:t>
            </a:r>
            <a:r>
              <a:rPr lang="en-US" altLang="ko-KR" sz="1600" smtClean="0"/>
              <a:t>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사업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2.7.2.1 </a:t>
            </a:r>
            <a:r>
              <a:rPr lang="ko-KR" altLang="en-US" sz="1800" smtClean="0"/>
              <a:t>단계별 수주 진행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27894"/>
            <a:ext cx="9174167" cy="4969458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수주단계별 자료 관리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455309"/>
              </p:ext>
            </p:extLst>
          </p:nvPr>
        </p:nvGraphicFramePr>
        <p:xfrm>
          <a:off x="470248" y="3586445"/>
          <a:ext cx="8928991" cy="27441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6288"/>
                <a:gridCol w="1152128"/>
                <a:gridCol w="1224136"/>
                <a:gridCol w="5328592"/>
                <a:gridCol w="917847"/>
              </a:tblGrid>
              <a:tr h="36885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진행단계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 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4098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 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 등록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예측되는 사업정보를 등록하여 사업계획의 기초자료로 관리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사업부분 사업분류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입찰공고 예상일자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수주예정일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사업규모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사업기간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입력일시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신행단계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영업진행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사전규격등록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입찰공고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Drop), Drop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Drop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결정자 등의 항목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 등록 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지속적인 진행현황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진행정보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 진행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사업코드별 진행상태를 관리하여 진행상태별 통계자료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정보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현행화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진행 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사업이 구체화 되는 단계에서 영업단계별로 절차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계획기간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저리 내용 등의 계획과 영업활동 실적을 입력하여 진행이력을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주요사업 대상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700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진행정보 수집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(RPA)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조달청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진행정보 수집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RPA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활용하여 조달정 신행정보 수집하여 담당자에게 메일로 발송하거나 시스템에 입력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RPA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내부 보유 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수행실적 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수행실적 자료를 관리하여 제안 견적시 자료 제공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집계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보유 기술자 정보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공종별 자격증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면허를 보유하고 있는 인력 정보와 기술자의 현재 투입사업과 기간을 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변동사항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6" name="순서도: 준비 5"/>
          <p:cNvSpPr/>
          <p:nvPr/>
        </p:nvSpPr>
        <p:spPr>
          <a:xfrm>
            <a:off x="920552" y="2485790"/>
            <a:ext cx="936104" cy="431304"/>
          </a:xfrm>
          <a:prstGeom prst="flowChartPreparat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사업코드 등록</a:t>
            </a:r>
          </a:p>
        </p:txBody>
      </p:sp>
      <p:sp>
        <p:nvSpPr>
          <p:cNvPr id="7" name="순서도: 처리 6"/>
          <p:cNvSpPr/>
          <p:nvPr/>
        </p:nvSpPr>
        <p:spPr>
          <a:xfrm>
            <a:off x="3080792" y="2449216"/>
            <a:ext cx="1440160" cy="504453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단계별 진행관리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단계별 영업실적</a:t>
            </a:r>
          </a:p>
        </p:txBody>
      </p:sp>
      <p:sp>
        <p:nvSpPr>
          <p:cNvPr id="8" name="순서도: 자기 디스크 7"/>
          <p:cNvSpPr/>
          <p:nvPr/>
        </p:nvSpPr>
        <p:spPr>
          <a:xfrm>
            <a:off x="5925108" y="2452265"/>
            <a:ext cx="1368152" cy="498354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수행실적 정보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보유 기술자 정보</a:t>
            </a:r>
          </a:p>
        </p:txBody>
      </p:sp>
      <p:sp>
        <p:nvSpPr>
          <p:cNvPr id="10" name="순서도: 페이지 연결자 9"/>
          <p:cNvSpPr/>
          <p:nvPr/>
        </p:nvSpPr>
        <p:spPr>
          <a:xfrm>
            <a:off x="8409384" y="2531174"/>
            <a:ext cx="576064" cy="340537"/>
          </a:xfrm>
          <a:prstGeom prst="flowChartOffpageConnector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제안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견적</a:t>
            </a:r>
          </a:p>
        </p:txBody>
      </p:sp>
      <p:cxnSp>
        <p:nvCxnSpPr>
          <p:cNvPr id="12" name="직선 화살표 연결선 11"/>
          <p:cNvCxnSpPr>
            <a:stCxn id="6" idx="3"/>
          </p:cNvCxnSpPr>
          <p:nvPr/>
        </p:nvCxnSpPr>
        <p:spPr>
          <a:xfrm>
            <a:off x="1856656" y="2701442"/>
            <a:ext cx="122413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/>
          <p:nvPr/>
        </p:nvCxnSpPr>
        <p:spPr>
          <a:xfrm flipV="1">
            <a:off x="4520952" y="2701442"/>
            <a:ext cx="1404156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화살표 연결선 15"/>
          <p:cNvCxnSpPr>
            <a:stCxn id="8" idx="4"/>
            <a:endCxn id="10" idx="1"/>
          </p:cNvCxnSpPr>
          <p:nvPr/>
        </p:nvCxnSpPr>
        <p:spPr>
          <a:xfrm>
            <a:off x="7293260" y="2701442"/>
            <a:ext cx="111612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순서도: 다중 문서 18"/>
          <p:cNvSpPr/>
          <p:nvPr/>
        </p:nvSpPr>
        <p:spPr>
          <a:xfrm>
            <a:off x="6281401" y="2986966"/>
            <a:ext cx="828092" cy="432048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입찰서류</a:t>
            </a:r>
          </a:p>
        </p:txBody>
      </p:sp>
      <p:sp>
        <p:nvSpPr>
          <p:cNvPr id="20" name="순서도: 데이터 19"/>
          <p:cNvSpPr/>
          <p:nvPr/>
        </p:nvSpPr>
        <p:spPr>
          <a:xfrm>
            <a:off x="560512" y="3109164"/>
            <a:ext cx="1656184" cy="319836"/>
          </a:xfrm>
          <a:prstGeom prst="flowChartInputOutpu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사업분야</a:t>
            </a:r>
            <a:r>
              <a:rPr lang="en-US" altLang="ko-KR" sz="900" smtClean="0">
                <a:solidFill>
                  <a:schemeClr val="tx1"/>
                </a:solidFill>
              </a:rPr>
              <a:t>&gt;</a:t>
            </a:r>
            <a:r>
              <a:rPr lang="ko-KR" altLang="en-US" sz="900" smtClean="0">
                <a:solidFill>
                  <a:schemeClr val="tx1"/>
                </a:solidFill>
              </a:rPr>
              <a:t>부문별 코드 생성</a:t>
            </a:r>
          </a:p>
        </p:txBody>
      </p:sp>
      <p:cxnSp>
        <p:nvCxnSpPr>
          <p:cNvPr id="23" name="직선 화살표 연결선 22"/>
          <p:cNvCxnSpPr>
            <a:stCxn id="6" idx="2"/>
            <a:endCxn id="20" idx="1"/>
          </p:cNvCxnSpPr>
          <p:nvPr/>
        </p:nvCxnSpPr>
        <p:spPr>
          <a:xfrm>
            <a:off x="1388604" y="2917094"/>
            <a:ext cx="0" cy="19207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순서도: 종속 처리 23"/>
          <p:cNvSpPr/>
          <p:nvPr/>
        </p:nvSpPr>
        <p:spPr>
          <a:xfrm>
            <a:off x="3080792" y="3109164"/>
            <a:ext cx="1440160" cy="319836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진행상태 관리</a:t>
            </a:r>
          </a:p>
        </p:txBody>
      </p:sp>
      <p:cxnSp>
        <p:nvCxnSpPr>
          <p:cNvPr id="26" name="직선 화살표 연결선 25"/>
          <p:cNvCxnSpPr>
            <a:stCxn id="7" idx="2"/>
            <a:endCxn id="24" idx="0"/>
          </p:cNvCxnSpPr>
          <p:nvPr/>
        </p:nvCxnSpPr>
        <p:spPr>
          <a:xfrm>
            <a:off x="3800872" y="2953669"/>
            <a:ext cx="0" cy="15549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타원형 설명선 26"/>
          <p:cNvSpPr/>
          <p:nvPr/>
        </p:nvSpPr>
        <p:spPr>
          <a:xfrm>
            <a:off x="1730388" y="2409243"/>
            <a:ext cx="792088" cy="194635"/>
          </a:xfrm>
          <a:prstGeom prst="wedgeEllipseCallout">
            <a:avLst>
              <a:gd name="adj1" fmla="val -31120"/>
              <a:gd name="adj2" fmla="val 78257"/>
            </a:avLst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검색어</a:t>
            </a:r>
          </a:p>
        </p:txBody>
      </p:sp>
      <p:sp>
        <p:nvSpPr>
          <p:cNvPr id="28" name="타원 27"/>
          <p:cNvSpPr/>
          <p:nvPr/>
        </p:nvSpPr>
        <p:spPr>
          <a:xfrm>
            <a:off x="2198441" y="1959603"/>
            <a:ext cx="432302" cy="38951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norm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조달청</a:t>
            </a:r>
          </a:p>
        </p:txBody>
      </p:sp>
      <p:sp>
        <p:nvSpPr>
          <p:cNvPr id="32" name="순서도: 종속 처리 31"/>
          <p:cNvSpPr/>
          <p:nvPr/>
        </p:nvSpPr>
        <p:spPr>
          <a:xfrm>
            <a:off x="3393781" y="2114885"/>
            <a:ext cx="814182" cy="233995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RPA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30" name="구부러진 연결선 29"/>
          <p:cNvCxnSpPr>
            <a:stCxn id="28" idx="6"/>
            <a:endCxn id="32" idx="1"/>
          </p:cNvCxnSpPr>
          <p:nvPr/>
        </p:nvCxnSpPr>
        <p:spPr>
          <a:xfrm>
            <a:off x="2630743" y="2154360"/>
            <a:ext cx="763038" cy="77523"/>
          </a:xfrm>
          <a:prstGeom prst="curved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화살표 연결선 34"/>
          <p:cNvCxnSpPr>
            <a:stCxn id="27" idx="6"/>
            <a:endCxn id="32" idx="1"/>
          </p:cNvCxnSpPr>
          <p:nvPr/>
        </p:nvCxnSpPr>
        <p:spPr>
          <a:xfrm flipV="1">
            <a:off x="2522476" y="2231883"/>
            <a:ext cx="871305" cy="27467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/>
          <p:cNvCxnSpPr>
            <a:stCxn id="32" idx="2"/>
            <a:endCxn id="7" idx="0"/>
          </p:cNvCxnSpPr>
          <p:nvPr/>
        </p:nvCxnSpPr>
        <p:spPr>
          <a:xfrm>
            <a:off x="3800872" y="2348880"/>
            <a:ext cx="0" cy="10033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9536211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확정된 사업의 예산 편성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일정 계획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원가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(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인력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/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자재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)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투입에 대한 구체적인 실행계획을 관리하여 각 계획에 대한 실적을 집계할 수 있는 체계를 구축하여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예산집행률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일정계획에 대한 공정률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기성률을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관리하고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원가부문별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(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재료비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노무비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경비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)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직접비를 집계할 수 있도록 체계화함</a:t>
            </a:r>
          </a:p>
          <a:p>
            <a:pPr algn="l"/>
            <a:endParaRPr kumimoji="1" lang="en-US" altLang="ko-KR" kern="0">
              <a:solidFill>
                <a:prstClr val="black"/>
              </a:solidFill>
              <a:latin typeface="+mn-ea"/>
            </a:endParaRPr>
          </a:p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고 </a:t>
            </a:r>
            <a:r>
              <a:rPr lang="ko-KR" altLang="en-US" sz="1600" smtClean="0"/>
              <a:t>구매 물품의 구매 관련정보와 자산 분류 등의 추가 관리로 구매 요청 및 입고시 자산 취득대상정보 생성을 용이하게 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정부권장정책 자료를 관리하여 구매실적 보고자료 생성을 용이하게 함</a:t>
            </a:r>
            <a:r>
              <a:rPr lang="en-US" altLang="ko-KR" sz="1600" smtClean="0"/>
              <a:t>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2.7.2.2 </a:t>
            </a:r>
            <a:r>
              <a:rPr lang="ko-KR" altLang="en-US" sz="1800" smtClean="0"/>
              <a:t>체계적인 사업실행계획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28775"/>
            <a:ext cx="9174167" cy="4718050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사업 실행계획 관리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9235025"/>
              </p:ext>
            </p:extLst>
          </p:nvPr>
        </p:nvGraphicFramePr>
        <p:xfrm>
          <a:off x="470248" y="3586445"/>
          <a:ext cx="8928991" cy="26508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6288"/>
                <a:gridCol w="1008112"/>
                <a:gridCol w="1296144"/>
                <a:gridCol w="5400600"/>
                <a:gridCol w="917847"/>
              </a:tblGrid>
              <a:tr h="36885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288708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사업표준 관리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 예산 편성표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사업부문별 표준 예산 편성표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예산편성 표준항목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예산과목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예산항목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DATA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16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 일정표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단계별 표준일정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시작일기준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납기일기준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단계별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LEAD TIME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16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 투입 공수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공종별 표준 투입공수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소요량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자재별 표준 소요량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사업계획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일정계획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수주자료에 의한 표준 사업계획 생성 및 보완으로 실행계획 수립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납기일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주요사업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실행 예산 편성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 편성 및 배정 요청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일정계획표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관련 부서 일정계획표 공유 및 단계별 이행계획 수립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투입계획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공종별 인력 계획 수립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0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 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자재 투입계획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수급계획 수립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6" name="순서도: 준비 5"/>
          <p:cNvSpPr/>
          <p:nvPr/>
        </p:nvSpPr>
        <p:spPr>
          <a:xfrm>
            <a:off x="416496" y="2133600"/>
            <a:ext cx="792088" cy="359296"/>
          </a:xfrm>
          <a:prstGeom prst="flowChartPreparat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수주확정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위탁사업</a:t>
            </a:r>
          </a:p>
        </p:txBody>
      </p:sp>
      <p:sp>
        <p:nvSpPr>
          <p:cNvPr id="7" name="순서도: 처리 6"/>
          <p:cNvSpPr/>
          <p:nvPr/>
        </p:nvSpPr>
        <p:spPr>
          <a:xfrm>
            <a:off x="1496616" y="2492896"/>
            <a:ext cx="648072" cy="569965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표준 예산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표준 일정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표준 투입</a:t>
            </a:r>
          </a:p>
        </p:txBody>
      </p:sp>
      <p:sp>
        <p:nvSpPr>
          <p:cNvPr id="8" name="순서도: 처리 7"/>
          <p:cNvSpPr/>
          <p:nvPr/>
        </p:nvSpPr>
        <p:spPr>
          <a:xfrm>
            <a:off x="2360712" y="2598230"/>
            <a:ext cx="86409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사업계획 생성</a:t>
            </a:r>
          </a:p>
        </p:txBody>
      </p:sp>
      <p:sp>
        <p:nvSpPr>
          <p:cNvPr id="12" name="순서도: 처리 11"/>
          <p:cNvSpPr/>
          <p:nvPr/>
        </p:nvSpPr>
        <p:spPr>
          <a:xfrm>
            <a:off x="4040898" y="2133600"/>
            <a:ext cx="1344150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실행계획 작성</a:t>
            </a:r>
          </a:p>
        </p:txBody>
      </p:sp>
      <p:cxnSp>
        <p:nvCxnSpPr>
          <p:cNvPr id="10" name="꺾인 연결선 9"/>
          <p:cNvCxnSpPr>
            <a:stCxn id="6" idx="3"/>
            <a:endCxn id="7" idx="1"/>
          </p:cNvCxnSpPr>
          <p:nvPr/>
        </p:nvCxnSpPr>
        <p:spPr>
          <a:xfrm>
            <a:off x="1208584" y="2313248"/>
            <a:ext cx="288032" cy="464631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>
            <a:stCxn id="7" idx="3"/>
            <a:endCxn id="8" idx="1"/>
          </p:cNvCxnSpPr>
          <p:nvPr/>
        </p:nvCxnSpPr>
        <p:spPr>
          <a:xfrm flipV="1">
            <a:off x="2144688" y="2777878"/>
            <a:ext cx="216024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꺾인 연결선 15"/>
          <p:cNvCxnSpPr>
            <a:stCxn id="8" idx="3"/>
            <a:endCxn id="12" idx="1"/>
          </p:cNvCxnSpPr>
          <p:nvPr/>
        </p:nvCxnSpPr>
        <p:spPr>
          <a:xfrm flipV="1">
            <a:off x="3224808" y="2313248"/>
            <a:ext cx="816090" cy="464630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순서도: 처리 20"/>
          <p:cNvSpPr/>
          <p:nvPr/>
        </p:nvSpPr>
        <p:spPr>
          <a:xfrm>
            <a:off x="4057024" y="2536039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사</a:t>
            </a:r>
            <a:r>
              <a:rPr lang="ko-KR" altLang="en-US" sz="900" smtClean="0">
                <a:solidFill>
                  <a:schemeClr val="tx1"/>
                </a:solidFill>
              </a:rPr>
              <a:t>업별 실행예산 편성</a:t>
            </a:r>
          </a:p>
        </p:txBody>
      </p:sp>
      <p:sp>
        <p:nvSpPr>
          <p:cNvPr id="22" name="순서도: 처리 21"/>
          <p:cNvSpPr/>
          <p:nvPr/>
        </p:nvSpPr>
        <p:spPr>
          <a:xfrm>
            <a:off x="4057024" y="2765346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일정계획 작성</a:t>
            </a:r>
          </a:p>
        </p:txBody>
      </p:sp>
      <p:sp>
        <p:nvSpPr>
          <p:cNvPr id="23" name="순서도: 처리 22"/>
          <p:cNvSpPr/>
          <p:nvPr/>
        </p:nvSpPr>
        <p:spPr>
          <a:xfrm>
            <a:off x="4057024" y="2987013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인력투입 계획</a:t>
            </a:r>
          </a:p>
        </p:txBody>
      </p:sp>
      <p:sp>
        <p:nvSpPr>
          <p:cNvPr id="24" name="순서도: 처리 23"/>
          <p:cNvSpPr/>
          <p:nvPr/>
        </p:nvSpPr>
        <p:spPr>
          <a:xfrm>
            <a:off x="4057024" y="3212371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자재투입 계획</a:t>
            </a:r>
          </a:p>
        </p:txBody>
      </p:sp>
      <p:sp>
        <p:nvSpPr>
          <p:cNvPr id="26" name="순서도: 처리 25"/>
          <p:cNvSpPr/>
          <p:nvPr/>
        </p:nvSpPr>
        <p:spPr>
          <a:xfrm>
            <a:off x="6281401" y="2133600"/>
            <a:ext cx="1344150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관련부서 공유</a:t>
            </a:r>
          </a:p>
        </p:txBody>
      </p:sp>
      <p:cxnSp>
        <p:nvCxnSpPr>
          <p:cNvPr id="20" name="직선 화살표 연결선 19"/>
          <p:cNvCxnSpPr>
            <a:stCxn id="12" idx="3"/>
          </p:cNvCxnSpPr>
          <p:nvPr/>
        </p:nvCxnSpPr>
        <p:spPr>
          <a:xfrm>
            <a:off x="5385048" y="2313248"/>
            <a:ext cx="896353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순서도: 다중 문서 24"/>
          <p:cNvSpPr/>
          <p:nvPr/>
        </p:nvSpPr>
        <p:spPr>
          <a:xfrm>
            <a:off x="6559654" y="2485216"/>
            <a:ext cx="1065897" cy="464631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사업계획</a:t>
            </a:r>
          </a:p>
        </p:txBody>
      </p:sp>
    </p:spTree>
    <p:extLst>
      <p:ext uri="{BB962C8B-B14F-4D97-AF65-F5344CB8AC3E}">
        <p14:creationId xmlns:p14="http://schemas.microsoft.com/office/powerpoint/2010/main" val="47145303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사업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공정별로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사업실적을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집계하기 위해서는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실행사업의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계획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단위별로 실적을 세분화하여 입력하도록 구성하고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계획 수치와 실적누계를 입력 화면에 제공함으로써 정확한 사업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/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공정을 선택하여 입력할 수 있도록 함으로써 입력 오류를 사전에 방지함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2.7.2.3 </a:t>
            </a:r>
            <a:r>
              <a:rPr lang="ko-KR" altLang="en-US" sz="1800" smtClean="0"/>
              <a:t>세부 사업계획 단위의 실적집계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741" y="1636888"/>
            <a:ext cx="9174167" cy="4718050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계획단위의 사업 실적 집계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355579"/>
              </p:ext>
            </p:extLst>
          </p:nvPr>
        </p:nvGraphicFramePr>
        <p:xfrm>
          <a:off x="470248" y="3526812"/>
          <a:ext cx="8928991" cy="270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6288"/>
                <a:gridCol w="1008112"/>
                <a:gridCol w="1512168"/>
                <a:gridCol w="5184576"/>
                <a:gridCol w="917847"/>
              </a:tblGrid>
              <a:tr h="27460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24309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예산집행현황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예실 대비표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예산과목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예산항목별 메실대비표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결의서에서 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자동취합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예산 집행내역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예산과목별 상세집행내역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경의서 내역 현황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진행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일정 진행현황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일정 진행현황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예상지연일 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중점관리대상 조회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지연이 예측되는 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공정별 현황 및 일자별 추이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4309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중점관리대상 대책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중점관리 대상에 대한 대책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 일보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 관련 보고서 일보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일보 입력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투입관리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투입 계획실적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수업계획 및 실적 현황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보고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과부족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과부족에 대한 현황 및 대책 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 수급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투입계획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투입 계획 자재별 재고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투업계획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현황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보고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4309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수급계획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부족 자재에 대한 수급계획 및 수급 요청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수급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2" name="순서도: 처리 11"/>
          <p:cNvSpPr/>
          <p:nvPr/>
        </p:nvSpPr>
        <p:spPr>
          <a:xfrm>
            <a:off x="776536" y="2093844"/>
            <a:ext cx="1344150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실행계획 작성</a:t>
            </a:r>
          </a:p>
        </p:txBody>
      </p:sp>
      <p:sp>
        <p:nvSpPr>
          <p:cNvPr id="21" name="순서도: 처리 20"/>
          <p:cNvSpPr/>
          <p:nvPr/>
        </p:nvSpPr>
        <p:spPr>
          <a:xfrm>
            <a:off x="792662" y="2496283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사</a:t>
            </a:r>
            <a:r>
              <a:rPr lang="ko-KR" altLang="en-US" sz="900" smtClean="0">
                <a:solidFill>
                  <a:schemeClr val="tx1"/>
                </a:solidFill>
              </a:rPr>
              <a:t>업별 실행예산 편성</a:t>
            </a:r>
          </a:p>
        </p:txBody>
      </p:sp>
      <p:sp>
        <p:nvSpPr>
          <p:cNvPr id="22" name="순서도: 처리 21"/>
          <p:cNvSpPr/>
          <p:nvPr/>
        </p:nvSpPr>
        <p:spPr>
          <a:xfrm>
            <a:off x="792662" y="2725590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일정계획 작성</a:t>
            </a:r>
          </a:p>
        </p:txBody>
      </p:sp>
      <p:sp>
        <p:nvSpPr>
          <p:cNvPr id="23" name="순서도: 처리 22"/>
          <p:cNvSpPr/>
          <p:nvPr/>
        </p:nvSpPr>
        <p:spPr>
          <a:xfrm>
            <a:off x="792662" y="2947257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인력투입 계획</a:t>
            </a:r>
          </a:p>
        </p:txBody>
      </p:sp>
      <p:sp>
        <p:nvSpPr>
          <p:cNvPr id="24" name="순서도: 처리 23"/>
          <p:cNvSpPr/>
          <p:nvPr/>
        </p:nvSpPr>
        <p:spPr>
          <a:xfrm>
            <a:off x="792662" y="3172615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자재투입 계획</a:t>
            </a:r>
          </a:p>
        </p:txBody>
      </p:sp>
      <p:sp>
        <p:nvSpPr>
          <p:cNvPr id="26" name="순서도: 처리 25"/>
          <p:cNvSpPr/>
          <p:nvPr/>
        </p:nvSpPr>
        <p:spPr>
          <a:xfrm>
            <a:off x="5635203" y="2093844"/>
            <a:ext cx="1324082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사업실적 취합</a:t>
            </a:r>
          </a:p>
        </p:txBody>
      </p:sp>
      <p:cxnSp>
        <p:nvCxnSpPr>
          <p:cNvPr id="20" name="직선 화살표 연결선 19"/>
          <p:cNvCxnSpPr>
            <a:stCxn id="12" idx="3"/>
            <a:endCxn id="26" idx="1"/>
          </p:cNvCxnSpPr>
          <p:nvPr/>
        </p:nvCxnSpPr>
        <p:spPr>
          <a:xfrm>
            <a:off x="2120686" y="2273492"/>
            <a:ext cx="3514517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순서도: 처리 24"/>
          <p:cNvSpPr/>
          <p:nvPr/>
        </p:nvSpPr>
        <p:spPr>
          <a:xfrm>
            <a:off x="2980846" y="2493421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지출결의서</a:t>
            </a:r>
          </a:p>
        </p:txBody>
      </p:sp>
      <p:sp>
        <p:nvSpPr>
          <p:cNvPr id="27" name="순서도: 처리 26"/>
          <p:cNvSpPr/>
          <p:nvPr/>
        </p:nvSpPr>
        <p:spPr>
          <a:xfrm>
            <a:off x="2980846" y="2722728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진도 보고서</a:t>
            </a:r>
          </a:p>
        </p:txBody>
      </p:sp>
      <p:sp>
        <p:nvSpPr>
          <p:cNvPr id="28" name="순서도: 처리 27"/>
          <p:cNvSpPr/>
          <p:nvPr/>
        </p:nvSpPr>
        <p:spPr>
          <a:xfrm>
            <a:off x="2980846" y="2944395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작업보고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작업인력</a:t>
            </a:r>
          </a:p>
        </p:txBody>
      </p:sp>
      <p:sp>
        <p:nvSpPr>
          <p:cNvPr id="29" name="순서도: 처리 28"/>
          <p:cNvSpPr/>
          <p:nvPr/>
        </p:nvSpPr>
        <p:spPr>
          <a:xfrm>
            <a:off x="2980846" y="3169753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작업보고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사용자재</a:t>
            </a:r>
          </a:p>
        </p:txBody>
      </p:sp>
      <p:sp>
        <p:nvSpPr>
          <p:cNvPr id="30" name="순서도: 처리 29"/>
          <p:cNvSpPr/>
          <p:nvPr/>
        </p:nvSpPr>
        <p:spPr>
          <a:xfrm>
            <a:off x="5635203" y="2495331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사</a:t>
            </a:r>
            <a:r>
              <a:rPr lang="ko-KR" altLang="en-US" sz="900" smtClean="0">
                <a:solidFill>
                  <a:schemeClr val="tx1"/>
                </a:solidFill>
              </a:rPr>
              <a:t>업별 예산집계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5635203" y="2724638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일정계획 작성</a:t>
            </a:r>
          </a:p>
        </p:txBody>
      </p:sp>
      <p:sp>
        <p:nvSpPr>
          <p:cNvPr id="32" name="순서도: 처리 31"/>
          <p:cNvSpPr/>
          <p:nvPr/>
        </p:nvSpPr>
        <p:spPr>
          <a:xfrm>
            <a:off x="5635203" y="2946305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인력투입 계획</a:t>
            </a:r>
          </a:p>
        </p:txBody>
      </p:sp>
      <p:sp>
        <p:nvSpPr>
          <p:cNvPr id="33" name="순서도: 처리 32"/>
          <p:cNvSpPr/>
          <p:nvPr/>
        </p:nvSpPr>
        <p:spPr>
          <a:xfrm>
            <a:off x="5635203" y="3171663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자재투입 계획</a:t>
            </a:r>
          </a:p>
        </p:txBody>
      </p:sp>
      <p:cxnSp>
        <p:nvCxnSpPr>
          <p:cNvPr id="14" name="직선 화살표 연결선 13"/>
          <p:cNvCxnSpPr>
            <a:stCxn id="25" idx="3"/>
            <a:endCxn id="30" idx="1"/>
          </p:cNvCxnSpPr>
          <p:nvPr/>
        </p:nvCxnSpPr>
        <p:spPr>
          <a:xfrm>
            <a:off x="4304928" y="2608136"/>
            <a:ext cx="1330275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27" idx="3"/>
            <a:endCxn id="31" idx="1"/>
          </p:cNvCxnSpPr>
          <p:nvPr/>
        </p:nvCxnSpPr>
        <p:spPr>
          <a:xfrm>
            <a:off x="4304928" y="2837443"/>
            <a:ext cx="1330275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화살표 연결선 18"/>
          <p:cNvCxnSpPr>
            <a:stCxn id="28" idx="3"/>
            <a:endCxn id="32" idx="1"/>
          </p:cNvCxnSpPr>
          <p:nvPr/>
        </p:nvCxnSpPr>
        <p:spPr>
          <a:xfrm>
            <a:off x="4304928" y="3059110"/>
            <a:ext cx="1330275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stCxn id="29" idx="3"/>
            <a:endCxn id="33" idx="1"/>
          </p:cNvCxnSpPr>
          <p:nvPr/>
        </p:nvCxnSpPr>
        <p:spPr>
          <a:xfrm>
            <a:off x="4304928" y="3284468"/>
            <a:ext cx="1330275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순서도: 종속 처리 36"/>
          <p:cNvSpPr/>
          <p:nvPr/>
        </p:nvSpPr>
        <p:spPr>
          <a:xfrm>
            <a:off x="2980846" y="2122917"/>
            <a:ext cx="1324082" cy="279664"/>
          </a:xfrm>
          <a:prstGeom prst="flowChartPredefinedProcess">
            <a:avLst/>
          </a:prstGeom>
          <a:solidFill>
            <a:schemeClr val="accent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실적 입력</a:t>
            </a:r>
          </a:p>
        </p:txBody>
      </p:sp>
      <p:sp>
        <p:nvSpPr>
          <p:cNvPr id="38" name="순서도: 다중 문서 37"/>
          <p:cNvSpPr/>
          <p:nvPr/>
        </p:nvSpPr>
        <p:spPr>
          <a:xfrm>
            <a:off x="7113240" y="2456409"/>
            <a:ext cx="1008112" cy="656529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실적 보고서</a:t>
            </a:r>
          </a:p>
        </p:txBody>
      </p:sp>
      <p:sp>
        <p:nvSpPr>
          <p:cNvPr id="42" name="순서도: 페이지 연결자 41"/>
          <p:cNvSpPr/>
          <p:nvPr/>
        </p:nvSpPr>
        <p:spPr>
          <a:xfrm>
            <a:off x="8609336" y="2078211"/>
            <a:ext cx="544770" cy="387210"/>
          </a:xfrm>
          <a:prstGeom prst="flowChartOffpageConnector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원가계산</a:t>
            </a:r>
          </a:p>
        </p:txBody>
      </p:sp>
      <p:cxnSp>
        <p:nvCxnSpPr>
          <p:cNvPr id="40" name="직선 화살표 연결선 39"/>
          <p:cNvCxnSpPr>
            <a:stCxn id="26" idx="3"/>
            <a:endCxn id="42" idx="1"/>
          </p:cNvCxnSpPr>
          <p:nvPr/>
        </p:nvCxnSpPr>
        <p:spPr>
          <a:xfrm flipV="1">
            <a:off x="6959285" y="2271816"/>
            <a:ext cx="1650051" cy="167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872355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사업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공정별로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입력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/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취합되는 실적자료를 다양한 형태로 조회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/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출력하여 각종 보고서및 통계자료를 제공하고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매월 마감작업에 의해 공통비 및 간접비를 배부하여 원가를 계산하고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 사업별 예산 집행률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공정률을 계산하여 기성고를 신청하는 자료를 생성하며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기성 확정이 되면 수입결의서를 생성한다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.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2.7.2.4 </a:t>
            </a:r>
            <a:r>
              <a:rPr lang="ko-KR" altLang="en-US" sz="1800" smtClean="0"/>
              <a:t>사업실적 자료 제공 및 기성고 관리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1741" y="1636888"/>
            <a:ext cx="9174167" cy="4718050"/>
            <a:chOff x="350833" y="1650531"/>
            <a:chExt cx="9174167" cy="4715929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실적 보고자료 및 기성과 자료 생성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391929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1140562"/>
              </p:ext>
            </p:extLst>
          </p:nvPr>
        </p:nvGraphicFramePr>
        <p:xfrm>
          <a:off x="470248" y="3586445"/>
          <a:ext cx="8928991" cy="26508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6288"/>
                <a:gridCol w="1008112"/>
                <a:gridCol w="1512168"/>
                <a:gridCol w="5184576"/>
                <a:gridCol w="917847"/>
              </a:tblGrid>
              <a:tr h="22040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</a:tr>
              <a:tr h="59414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실적보고서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직접비 집계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분석 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인력투입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자재투입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근태정보 집계 사업별 예실대비표 조회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 계정별 원장 조회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작업일보 및 작업실적 내역 조회 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실적집계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및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원가계산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140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원가계산 후 보고자료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공동비 및 간접비 배분이 포함된 사업별 집계 현황 및 보고서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9414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기성관리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 일정관리의 기성신청 내역에 신청일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기성률 등의 항목 관리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수주사업 정보에 현 예산집행률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공정률과 이전 기성률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기성신청일 항목 관리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기성관리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1405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기성신청 및 자료 출력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기성신청에 필요한 자료 조회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출력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기성신청서 입력 및 기성고 신청에 필요한 자료 출력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1405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수입결의서 생성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기성신청 확정시 수입결의서 생성 및 결재상신 처리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2" name="순서도: 처리 11"/>
          <p:cNvSpPr/>
          <p:nvPr/>
        </p:nvSpPr>
        <p:spPr>
          <a:xfrm>
            <a:off x="776536" y="2133600"/>
            <a:ext cx="1716326" cy="359296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실적</a:t>
            </a:r>
          </a:p>
        </p:txBody>
      </p:sp>
      <p:sp>
        <p:nvSpPr>
          <p:cNvPr id="21" name="순서도: 처리 20"/>
          <p:cNvSpPr/>
          <p:nvPr/>
        </p:nvSpPr>
        <p:spPr>
          <a:xfrm>
            <a:off x="792661" y="2536039"/>
            <a:ext cx="1690701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부서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공정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예산항목별</a:t>
            </a:r>
          </a:p>
        </p:txBody>
      </p:sp>
      <p:sp>
        <p:nvSpPr>
          <p:cNvPr id="22" name="순서도: 처리 21"/>
          <p:cNvSpPr/>
          <p:nvPr/>
        </p:nvSpPr>
        <p:spPr>
          <a:xfrm>
            <a:off x="792661" y="2765346"/>
            <a:ext cx="1690701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일정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일자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진도율</a:t>
            </a:r>
          </a:p>
        </p:txBody>
      </p:sp>
      <p:sp>
        <p:nvSpPr>
          <p:cNvPr id="23" name="순서도: 처리 22"/>
          <p:cNvSpPr/>
          <p:nvPr/>
        </p:nvSpPr>
        <p:spPr>
          <a:xfrm>
            <a:off x="792661" y="2987013"/>
            <a:ext cx="1690701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공정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일자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공종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투입인력</a:t>
            </a:r>
          </a:p>
        </p:txBody>
      </p:sp>
      <p:sp>
        <p:nvSpPr>
          <p:cNvPr id="24" name="순서도: 처리 23"/>
          <p:cNvSpPr/>
          <p:nvPr/>
        </p:nvSpPr>
        <p:spPr>
          <a:xfrm>
            <a:off x="792661" y="3212371"/>
            <a:ext cx="1690701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사업</a:t>
            </a:r>
            <a:r>
              <a:rPr lang="en-US" altLang="ko-KR" sz="900">
                <a:solidFill>
                  <a:schemeClr val="tx1"/>
                </a:solidFill>
              </a:rPr>
              <a:t>/</a:t>
            </a:r>
            <a:r>
              <a:rPr lang="ko-KR" altLang="en-US" sz="900">
                <a:solidFill>
                  <a:schemeClr val="tx1"/>
                </a:solidFill>
              </a:rPr>
              <a:t>공정</a:t>
            </a:r>
            <a:r>
              <a:rPr lang="en-US" altLang="ko-KR" sz="900">
                <a:solidFill>
                  <a:schemeClr val="tx1"/>
                </a:solidFill>
              </a:rPr>
              <a:t>/</a:t>
            </a:r>
            <a:r>
              <a:rPr lang="ko-KR" altLang="en-US" sz="900">
                <a:solidFill>
                  <a:schemeClr val="tx1"/>
                </a:solidFill>
              </a:rPr>
              <a:t>일자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자재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투입수량</a:t>
            </a:r>
            <a:endParaRPr lang="ko-KR" altLang="en-US" sz="90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/>
          <p:cNvCxnSpPr/>
          <p:nvPr/>
        </p:nvCxnSpPr>
        <p:spPr>
          <a:xfrm>
            <a:off x="2492862" y="2310716"/>
            <a:ext cx="3160751" cy="506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순서도: 처리 24"/>
          <p:cNvSpPr/>
          <p:nvPr/>
        </p:nvSpPr>
        <p:spPr>
          <a:xfrm>
            <a:off x="2980846" y="2533177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예산 집행실적</a:t>
            </a:r>
          </a:p>
        </p:txBody>
      </p:sp>
      <p:sp>
        <p:nvSpPr>
          <p:cNvPr id="27" name="순서도: 처리 26"/>
          <p:cNvSpPr/>
          <p:nvPr/>
        </p:nvSpPr>
        <p:spPr>
          <a:xfrm>
            <a:off x="2980846" y="2762484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일정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진도 관리</a:t>
            </a:r>
          </a:p>
        </p:txBody>
      </p:sp>
      <p:sp>
        <p:nvSpPr>
          <p:cNvPr id="28" name="순서도: 처리 27"/>
          <p:cNvSpPr/>
          <p:nvPr/>
        </p:nvSpPr>
        <p:spPr>
          <a:xfrm>
            <a:off x="2980846" y="2984151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투입실적 관리</a:t>
            </a:r>
          </a:p>
        </p:txBody>
      </p:sp>
      <p:sp>
        <p:nvSpPr>
          <p:cNvPr id="30" name="순서도: 처리 29"/>
          <p:cNvSpPr/>
          <p:nvPr/>
        </p:nvSpPr>
        <p:spPr>
          <a:xfrm>
            <a:off x="5457056" y="2535087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사</a:t>
            </a:r>
            <a:r>
              <a:rPr lang="ko-KR" altLang="en-US" sz="900" smtClean="0">
                <a:solidFill>
                  <a:schemeClr val="tx1"/>
                </a:solidFill>
              </a:rPr>
              <a:t>업별 원가계산</a:t>
            </a:r>
          </a:p>
        </p:txBody>
      </p:sp>
      <p:sp>
        <p:nvSpPr>
          <p:cNvPr id="31" name="순서도: 처리 30"/>
          <p:cNvSpPr/>
          <p:nvPr/>
        </p:nvSpPr>
        <p:spPr>
          <a:xfrm>
            <a:off x="5457056" y="2764394"/>
            <a:ext cx="1324082" cy="229430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사업별 진도관리</a:t>
            </a:r>
          </a:p>
        </p:txBody>
      </p:sp>
      <p:cxnSp>
        <p:nvCxnSpPr>
          <p:cNvPr id="14" name="직선 화살표 연결선 13"/>
          <p:cNvCxnSpPr>
            <a:stCxn id="25" idx="3"/>
            <a:endCxn id="30" idx="1"/>
          </p:cNvCxnSpPr>
          <p:nvPr/>
        </p:nvCxnSpPr>
        <p:spPr>
          <a:xfrm>
            <a:off x="4304928" y="2647892"/>
            <a:ext cx="1152128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27" idx="3"/>
            <a:endCxn id="31" idx="1"/>
          </p:cNvCxnSpPr>
          <p:nvPr/>
        </p:nvCxnSpPr>
        <p:spPr>
          <a:xfrm>
            <a:off x="4304928" y="2877199"/>
            <a:ext cx="1152128" cy="191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순서도: 종속 처리 36"/>
          <p:cNvSpPr/>
          <p:nvPr/>
        </p:nvSpPr>
        <p:spPr>
          <a:xfrm>
            <a:off x="2980846" y="2173416"/>
            <a:ext cx="1324082" cy="279664"/>
          </a:xfrm>
          <a:prstGeom prst="flowChartPredefinedProcess">
            <a:avLst/>
          </a:prstGeom>
          <a:solidFill>
            <a:schemeClr val="accent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실적 집계</a:t>
            </a:r>
          </a:p>
        </p:txBody>
      </p:sp>
      <p:sp>
        <p:nvSpPr>
          <p:cNvPr id="42" name="순서도: 페이지 연결자 41"/>
          <p:cNvSpPr/>
          <p:nvPr/>
        </p:nvSpPr>
        <p:spPr>
          <a:xfrm>
            <a:off x="9082421" y="3101869"/>
            <a:ext cx="353396" cy="278761"/>
          </a:xfrm>
          <a:prstGeom prst="flowChartOffpageConnector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회계</a:t>
            </a:r>
          </a:p>
        </p:txBody>
      </p:sp>
      <p:cxnSp>
        <p:nvCxnSpPr>
          <p:cNvPr id="40" name="직선 화살표 연결선 39"/>
          <p:cNvCxnSpPr>
            <a:stCxn id="43" idx="3"/>
            <a:endCxn id="44" idx="1"/>
          </p:cNvCxnSpPr>
          <p:nvPr/>
        </p:nvCxnSpPr>
        <p:spPr>
          <a:xfrm flipV="1">
            <a:off x="6781138" y="2297968"/>
            <a:ext cx="918545" cy="1528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화살표 연결선 9"/>
          <p:cNvCxnSpPr>
            <a:endCxn id="25" idx="1"/>
          </p:cNvCxnSpPr>
          <p:nvPr/>
        </p:nvCxnSpPr>
        <p:spPr>
          <a:xfrm>
            <a:off x="2492862" y="2647892"/>
            <a:ext cx="487984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>
            <a:stCxn id="22" idx="3"/>
            <a:endCxn id="27" idx="1"/>
          </p:cNvCxnSpPr>
          <p:nvPr/>
        </p:nvCxnSpPr>
        <p:spPr>
          <a:xfrm flipV="1">
            <a:off x="2483362" y="2877199"/>
            <a:ext cx="497484" cy="286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화살표 연결선 15"/>
          <p:cNvCxnSpPr>
            <a:stCxn id="23" idx="3"/>
            <a:endCxn id="28" idx="1"/>
          </p:cNvCxnSpPr>
          <p:nvPr/>
        </p:nvCxnSpPr>
        <p:spPr>
          <a:xfrm flipV="1">
            <a:off x="2483362" y="3098866"/>
            <a:ext cx="497484" cy="286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꺾인 연결선 33"/>
          <p:cNvCxnSpPr>
            <a:stCxn id="24" idx="3"/>
            <a:endCxn id="28" idx="1"/>
          </p:cNvCxnSpPr>
          <p:nvPr/>
        </p:nvCxnSpPr>
        <p:spPr>
          <a:xfrm flipV="1">
            <a:off x="2483362" y="3098866"/>
            <a:ext cx="497484" cy="228220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순서도: 종속 처리 42"/>
          <p:cNvSpPr/>
          <p:nvPr/>
        </p:nvSpPr>
        <p:spPr>
          <a:xfrm>
            <a:off x="5457056" y="2173416"/>
            <a:ext cx="1324082" cy="279664"/>
          </a:xfrm>
          <a:prstGeom prst="flowChartPredefinedProcess">
            <a:avLst/>
          </a:prstGeom>
          <a:solidFill>
            <a:schemeClr val="accent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원가 계산</a:t>
            </a:r>
          </a:p>
        </p:txBody>
      </p:sp>
      <p:cxnSp>
        <p:nvCxnSpPr>
          <p:cNvPr id="41" name="꺾인 연결선 40"/>
          <p:cNvCxnSpPr>
            <a:stCxn id="28" idx="3"/>
            <a:endCxn id="31" idx="1"/>
          </p:cNvCxnSpPr>
          <p:nvPr/>
        </p:nvCxnSpPr>
        <p:spPr>
          <a:xfrm flipV="1">
            <a:off x="4304928" y="2879109"/>
            <a:ext cx="1152128" cy="219757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순서도: 처리 43"/>
          <p:cNvSpPr/>
          <p:nvPr/>
        </p:nvSpPr>
        <p:spPr>
          <a:xfrm>
            <a:off x="7699683" y="2132856"/>
            <a:ext cx="792088" cy="330223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기성 관리</a:t>
            </a:r>
          </a:p>
        </p:txBody>
      </p:sp>
      <p:sp>
        <p:nvSpPr>
          <p:cNvPr id="50" name="순서도: 처리 49"/>
          <p:cNvSpPr/>
          <p:nvPr/>
        </p:nvSpPr>
        <p:spPr>
          <a:xfrm>
            <a:off x="7699683" y="2513236"/>
            <a:ext cx="792088" cy="228511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기성 신청</a:t>
            </a:r>
          </a:p>
        </p:txBody>
      </p:sp>
      <p:sp>
        <p:nvSpPr>
          <p:cNvPr id="51" name="순서도: 처리 50"/>
          <p:cNvSpPr/>
          <p:nvPr/>
        </p:nvSpPr>
        <p:spPr>
          <a:xfrm>
            <a:off x="7699683" y="3128481"/>
            <a:ext cx="792088" cy="228511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수입결의서</a:t>
            </a:r>
          </a:p>
        </p:txBody>
      </p:sp>
      <p:sp>
        <p:nvSpPr>
          <p:cNvPr id="38" name="순서도: 다중 문서 37"/>
          <p:cNvSpPr/>
          <p:nvPr/>
        </p:nvSpPr>
        <p:spPr>
          <a:xfrm>
            <a:off x="4502079" y="3000928"/>
            <a:ext cx="929779" cy="47764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실적 보고서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(64</a:t>
            </a:r>
            <a:r>
              <a:rPr lang="ko-KR" altLang="en-US" sz="900" smtClean="0">
                <a:solidFill>
                  <a:schemeClr val="tx1"/>
                </a:solidFill>
              </a:rPr>
              <a:t>종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49" name="순서도: 판단 48"/>
          <p:cNvSpPr/>
          <p:nvPr/>
        </p:nvSpPr>
        <p:spPr>
          <a:xfrm>
            <a:off x="7732350" y="2816602"/>
            <a:ext cx="726754" cy="233238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확정</a:t>
            </a:r>
          </a:p>
        </p:txBody>
      </p:sp>
      <p:cxnSp>
        <p:nvCxnSpPr>
          <p:cNvPr id="53" name="직선 연결선 52"/>
          <p:cNvCxnSpPr>
            <a:stCxn id="50" idx="2"/>
            <a:endCxn id="49" idx="0"/>
          </p:cNvCxnSpPr>
          <p:nvPr/>
        </p:nvCxnSpPr>
        <p:spPr>
          <a:xfrm>
            <a:off x="8095727" y="2741747"/>
            <a:ext cx="0" cy="74855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/>
          <p:cNvCxnSpPr>
            <a:stCxn id="49" idx="2"/>
            <a:endCxn id="51" idx="0"/>
          </p:cNvCxnSpPr>
          <p:nvPr/>
        </p:nvCxnSpPr>
        <p:spPr>
          <a:xfrm>
            <a:off x="8095727" y="3049840"/>
            <a:ext cx="0" cy="78641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화살표 연결선 56"/>
          <p:cNvCxnSpPr>
            <a:stCxn id="51" idx="3"/>
            <a:endCxn id="42" idx="1"/>
          </p:cNvCxnSpPr>
          <p:nvPr/>
        </p:nvCxnSpPr>
        <p:spPr>
          <a:xfrm flipV="1">
            <a:off x="8491771" y="3241250"/>
            <a:ext cx="590650" cy="148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929707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공통비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간접비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지원부서 비용을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해당기간의 각 사업별로 배부하기 위해</a:t>
            </a:r>
            <a:r>
              <a:rPr kumimoji="1" lang="en-US" altLang="ko-KR" kern="0" smtClean="0">
                <a:solidFill>
                  <a:prstClr val="black"/>
                </a:solidFill>
                <a:latin typeface="+mn-ea"/>
              </a:rPr>
              <a:t>,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 계정과목별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계정별 특성에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적합한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배부기준을 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1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차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2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차 배부기준을 지정하여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배부할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수 </a:t>
            </a:r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있는 체계를 구축함으로써 보다 합리적인 원가를 산출할 수 있도록 함</a:t>
            </a:r>
            <a:endParaRPr kumimoji="1" lang="en-US" altLang="ko-KR" kern="0">
              <a:solidFill>
                <a:prstClr val="black"/>
              </a:solidFill>
              <a:latin typeface="+mn-ea"/>
            </a:endParaRPr>
          </a:p>
          <a:p>
            <a:pPr algn="l"/>
            <a:r>
              <a:rPr kumimoji="1" lang="ko-KR" altLang="en-US" kern="0" smtClean="0">
                <a:solidFill>
                  <a:prstClr val="black"/>
                </a:solidFill>
                <a:latin typeface="+mn-ea"/>
              </a:rPr>
              <a:t>고 </a:t>
            </a:r>
            <a:r>
              <a:rPr lang="ko-KR" altLang="en-US" sz="1600" smtClean="0"/>
              <a:t>구매 물품의 구매 관련정보와 자산 분류 등의 추가 관리로 구매 요청 및 입고시 자산 취득대상정보 생성을 용이하게 하고</a:t>
            </a:r>
            <a:r>
              <a:rPr lang="en-US" altLang="ko-KR" sz="1600" smtClean="0"/>
              <a:t>, </a:t>
            </a:r>
            <a:r>
              <a:rPr lang="ko-KR" altLang="en-US" sz="1600" smtClean="0"/>
              <a:t>정부권장정책 자료를 관리하여 구매실적 보고자료 생성을 용이하게 함</a:t>
            </a:r>
            <a:r>
              <a:rPr lang="en-US" altLang="ko-KR" sz="1600" smtClean="0"/>
              <a:t>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2.7.2.5 </a:t>
            </a:r>
            <a:r>
              <a:rPr lang="ko-KR" altLang="en-US" sz="1800" smtClean="0"/>
              <a:t>합리적인 사업별 원가 계산</a:t>
            </a:r>
            <a:r>
              <a:rPr lang="en-US" altLang="ko-KR" sz="1800" smtClean="0"/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27894"/>
            <a:ext cx="9174167" cy="4718932"/>
            <a:chOff x="350833" y="1650531"/>
            <a:chExt cx="9174167" cy="4478184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원가 배부기준</a:t>
              </a:r>
              <a:r>
                <a:rPr lang="en-US" altLang="ko-KR" sz="1400" b="1" smtClean="0">
                  <a:solidFill>
                    <a:schemeClr val="bg1"/>
                  </a:solidFill>
                </a:rPr>
                <a:t>(</a:t>
              </a:r>
              <a:r>
                <a:rPr lang="ko-KR" altLang="en-US" sz="1400" b="1" smtClean="0">
                  <a:solidFill>
                    <a:schemeClr val="bg1"/>
                  </a:solidFill>
                </a:rPr>
                <a:t>예시</a:t>
              </a:r>
              <a:r>
                <a:rPr lang="en-US" altLang="ko-KR" sz="1400" b="1" smtClean="0">
                  <a:solidFill>
                    <a:schemeClr val="bg1"/>
                  </a:solidFill>
                </a:rPr>
                <a:t>)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154184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8487690"/>
              </p:ext>
            </p:extLst>
          </p:nvPr>
        </p:nvGraphicFramePr>
        <p:xfrm>
          <a:off x="479452" y="1988840"/>
          <a:ext cx="8928991" cy="19614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54360"/>
                <a:gridCol w="2736304"/>
                <a:gridCol w="4320480"/>
                <a:gridCol w="917847"/>
              </a:tblGrid>
              <a:tr h="2667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배부기준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배부 방법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배부 방법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19485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 귀속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등록되어 있는 사업부문으로 귀속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사업부문으로 귀속 후 사업별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배부대상사업의 기간공정율 비율을 가중치로 반영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399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인원수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소속 인원수로 배부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배부금액을 각 사업의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투입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혹은 계획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인력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비율로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399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인건비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인건비 비율로 배부 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배부금액을 각 사업의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표준인건비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공종별 투입인력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표준임금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비율로 배부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718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예산규모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예산 규모 비율로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배부금액을 각 사업의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 규모비율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해당사업 예산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 전체 예산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배부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718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수주금액비율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수주금액 규모 비율로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부문별 배부금액을 각 사업의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aseline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수주금액 규모비율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해당사업 수주액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 전체 수주액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="" xmlns:a16="http://schemas.microsoft.com/office/drawing/2014/main" id="{B9CCFF9F-D826-4F53-A031-AAA0CDD8979D}"/>
              </a:ext>
            </a:extLst>
          </p:cNvPr>
          <p:cNvSpPr/>
          <p:nvPr/>
        </p:nvSpPr>
        <p:spPr bwMode="auto">
          <a:xfrm>
            <a:off x="344488" y="4077072"/>
            <a:ext cx="9174167" cy="341418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lvl="0" algn="ctr" latinLnBrk="0">
              <a:defRPr/>
            </a:pPr>
            <a:r>
              <a:rPr lang="ko-KR" altLang="en-US" sz="1400" b="1" smtClean="0">
                <a:solidFill>
                  <a:schemeClr val="bg1"/>
                </a:solidFill>
              </a:rPr>
              <a:t>계정별 배부기준</a:t>
            </a:r>
            <a:r>
              <a:rPr lang="en-US" altLang="ko-KR" sz="1400" b="1" smtClean="0">
                <a:solidFill>
                  <a:schemeClr val="bg1"/>
                </a:solidFill>
              </a:rPr>
              <a:t>(</a:t>
            </a:r>
            <a:r>
              <a:rPr lang="ko-KR" altLang="en-US" sz="1400" b="1" smtClean="0">
                <a:solidFill>
                  <a:schemeClr val="bg1"/>
                </a:solidFill>
              </a:rPr>
              <a:t>예시</a:t>
            </a:r>
            <a:r>
              <a:rPr lang="en-US" altLang="ko-KR" sz="1400" b="1" smtClean="0">
                <a:solidFill>
                  <a:schemeClr val="bg1"/>
                </a:solidFill>
              </a:rPr>
              <a:t>)</a:t>
            </a:r>
            <a:endParaRPr lang="en-US" altLang="ko-KR" sz="1400" b="1" kern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504652"/>
              </p:ext>
            </p:extLst>
          </p:nvPr>
        </p:nvGraphicFramePr>
        <p:xfrm>
          <a:off x="488504" y="4490498"/>
          <a:ext cx="8928991" cy="18253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2288"/>
                <a:gridCol w="1512168"/>
                <a:gridCol w="1656184"/>
                <a:gridCol w="3168351"/>
              </a:tblGrid>
              <a:tr h="2667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계정명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배부기준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배부기준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1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194855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급여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상여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각종 수당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소속인원 인건비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투입시간 표준인건비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급여는 인건비 비율로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399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복리후생비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소속 인원수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투입시간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복리후생비는 인원수로 배부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399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보험료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수주금액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수주금액 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기간 공정율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7189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감가상각비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예산금액 비율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예산금액 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예산금액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사업별 기간 공정율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7189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업무추진비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소속 인원수 비율</a:t>
                      </a:r>
                      <a:endParaRPr lang="en-US" altLang="ko-KR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투입시간 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488274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6738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l"/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부서별 배부기준에 의해 간접부서와 지원부서의 발생원가를 사업부문별로 배부하고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각 사업부문별 금액을 계정과목의 배부기준에 따라 개별사업으로 배부하여</a:t>
            </a:r>
            <a:r>
              <a:rPr kumimoji="1" lang="en-US" altLang="ko-KR" kern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kern="0">
                <a:solidFill>
                  <a:prstClr val="black"/>
                </a:solidFill>
                <a:latin typeface="+mn-ea"/>
              </a:rPr>
              <a:t>사업별로 직접귀속비와 배부된 금액의 합계액을 해당사업의 원가로 산정함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2.7 </a:t>
            </a:r>
            <a:r>
              <a:rPr lang="ko-KR" altLang="en-US" smtClean="0"/>
              <a:t>자산</a:t>
            </a:r>
            <a:r>
              <a:rPr lang="ko-KR" altLang="en-US" smtClean="0">
                <a:solidFill>
                  <a:schemeClr val="tx1"/>
                </a:solidFill>
              </a:rPr>
              <a:t>관리 </a:t>
            </a:r>
            <a:r>
              <a:rPr lang="ko-KR" altLang="en-US">
                <a:solidFill>
                  <a:schemeClr val="tx1"/>
                </a:solidFill>
              </a:rPr>
              <a:t>개선 및 업무 효율화</a:t>
            </a:r>
            <a:r>
              <a:rPr lang="en-US" altLang="ko-KR" sz="1800">
                <a:solidFill>
                  <a:srgbClr val="00437A"/>
                </a:solidFill>
              </a:rPr>
              <a:t/>
            </a:r>
            <a:br>
              <a:rPr lang="en-US" altLang="ko-KR" sz="1800">
                <a:solidFill>
                  <a:srgbClr val="00437A"/>
                </a:solidFill>
              </a:rPr>
            </a:br>
            <a:r>
              <a:rPr lang="en-US" altLang="ko-KR" sz="1800" smtClean="0"/>
              <a:t>2.7.2.5 </a:t>
            </a:r>
            <a:r>
              <a:rPr lang="ko-KR" altLang="en-US" sz="1800" smtClean="0"/>
              <a:t>합리적인 사업별 원가 계산</a:t>
            </a:r>
            <a:r>
              <a:rPr lang="en-US" altLang="ko-KR" sz="1800" smtClean="0"/>
              <a:t>(2/2)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smtClean="0"/>
              <a:t>2.7 </a:t>
            </a:r>
            <a:r>
              <a:rPr lang="ko-KR" altLang="en-US" smtClean="0"/>
              <a:t>사업관리 </a:t>
            </a:r>
            <a:r>
              <a:rPr lang="ko-KR" altLang="en-US"/>
              <a:t>개선 및 업무 효율화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50833" y="1627894"/>
            <a:ext cx="9174167" cy="4718932"/>
            <a:chOff x="350833" y="1650531"/>
            <a:chExt cx="9174167" cy="4478184"/>
          </a:xfrm>
        </p:grpSpPr>
        <p:sp>
          <p:nvSpPr>
            <p:cNvPr id="193" name="직사각형 192">
              <a:extLst>
                <a:ext uri="{FF2B5EF4-FFF2-40B4-BE49-F238E27FC236}">
                  <a16:creationId xmlns="" xmlns:a16="http://schemas.microsoft.com/office/drawing/2014/main" id="{B9CCFF9F-D826-4F53-A031-AAA0CDD8979D}"/>
                </a:ext>
              </a:extLst>
            </p:cNvPr>
            <p:cNvSpPr/>
            <p:nvPr/>
          </p:nvSpPr>
          <p:spPr bwMode="auto">
            <a:xfrm>
              <a:off x="350833" y="1650531"/>
              <a:ext cx="9174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lvl="0" algn="ctr" latinLnBrk="0">
                <a:defRPr/>
              </a:pPr>
              <a:r>
                <a:rPr lang="ko-KR" altLang="en-US" sz="1400" b="1" smtClean="0">
                  <a:solidFill>
                    <a:schemeClr val="bg1"/>
                  </a:solidFill>
                </a:rPr>
                <a:t>사업별 원가계산 예시</a:t>
              </a:r>
              <a:endParaRPr lang="en-US" altLang="ko-KR" sz="1400" b="1" kern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4">
              <a:extLst>
                <a:ext uri="{FF2B5EF4-FFF2-40B4-BE49-F238E27FC236}">
                  <a16:creationId xmlns="" xmlns:a16="http://schemas.microsoft.com/office/drawing/2014/main" id="{EE7531E9-E1A0-4046-9870-699013DB9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33" y="1974531"/>
              <a:ext cx="9174167" cy="4154184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3" name="표 1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8717344"/>
              </p:ext>
            </p:extLst>
          </p:nvPr>
        </p:nvGraphicFramePr>
        <p:xfrm>
          <a:off x="479452" y="2060847"/>
          <a:ext cx="3753468" cy="9908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198"/>
                <a:gridCol w="392198"/>
                <a:gridCol w="520800"/>
                <a:gridCol w="576064"/>
                <a:gridCol w="676903"/>
                <a:gridCol w="597653"/>
                <a:gridCol w="597652"/>
              </a:tblGrid>
              <a:tr h="18199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년월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발생비용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배부금액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2022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공통사업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2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지원사업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2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2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7.000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7.000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오른쪽 화살표 7"/>
          <p:cNvSpPr/>
          <p:nvPr/>
        </p:nvSpPr>
        <p:spPr>
          <a:xfrm>
            <a:off x="4361539" y="2298310"/>
            <a:ext cx="432048" cy="1082406"/>
          </a:xfrm>
          <a:prstGeom prst="right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1</a:t>
            </a:r>
            <a:r>
              <a:rPr lang="ko-KR" altLang="en-US" sz="900" smtClean="0">
                <a:solidFill>
                  <a:schemeClr val="tx1"/>
                </a:solidFill>
              </a:rPr>
              <a:t>차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배부</a:t>
            </a:r>
          </a:p>
        </p:txBody>
      </p:sp>
      <p:sp>
        <p:nvSpPr>
          <p:cNvPr id="11" name="순서도: 자기 디스크 10"/>
          <p:cNvSpPr/>
          <p:nvPr/>
        </p:nvSpPr>
        <p:spPr>
          <a:xfrm>
            <a:off x="920552" y="3123728"/>
            <a:ext cx="1080120" cy="504056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부서별 배부기준</a:t>
            </a:r>
          </a:p>
        </p:txBody>
      </p:sp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5426757"/>
              </p:ext>
            </p:extLst>
          </p:nvPr>
        </p:nvGraphicFramePr>
        <p:xfrm>
          <a:off x="2000672" y="3101212"/>
          <a:ext cx="188126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198"/>
                <a:gridCol w="392198"/>
                <a:gridCol w="520800"/>
                <a:gridCol w="576064"/>
              </a:tblGrid>
              <a:tr h="109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년월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사업부분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비율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957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957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6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630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" name="표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020509"/>
              </p:ext>
            </p:extLst>
          </p:nvPr>
        </p:nvGraphicFramePr>
        <p:xfrm>
          <a:off x="4953000" y="2060846"/>
          <a:ext cx="3753468" cy="16389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198"/>
                <a:gridCol w="392198"/>
                <a:gridCol w="520800"/>
                <a:gridCol w="639020"/>
                <a:gridCol w="613947"/>
                <a:gridCol w="597653"/>
                <a:gridCol w="597652"/>
              </a:tblGrid>
              <a:tr h="2137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년월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발생비용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배부금액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공통사업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지원사업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6,900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752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8,100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8" name="오른쪽 화살표 17"/>
          <p:cNvSpPr/>
          <p:nvPr/>
        </p:nvSpPr>
        <p:spPr>
          <a:xfrm>
            <a:off x="4394872" y="4218257"/>
            <a:ext cx="432048" cy="1082406"/>
          </a:xfrm>
          <a:prstGeom prst="rightArrow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2</a:t>
            </a:r>
            <a:r>
              <a:rPr lang="ko-KR" altLang="en-US" sz="900" smtClean="0">
                <a:solidFill>
                  <a:schemeClr val="tx1"/>
                </a:solidFill>
              </a:rPr>
              <a:t>차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배부</a:t>
            </a:r>
          </a:p>
        </p:txBody>
      </p:sp>
      <p:sp>
        <p:nvSpPr>
          <p:cNvPr id="19" name="순서도: 자기 디스크 18"/>
          <p:cNvSpPr/>
          <p:nvPr/>
        </p:nvSpPr>
        <p:spPr>
          <a:xfrm>
            <a:off x="560512" y="5517232"/>
            <a:ext cx="1080120" cy="504056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사업코드 체계</a:t>
            </a: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404619"/>
              </p:ext>
            </p:extLst>
          </p:nvPr>
        </p:nvGraphicFramePr>
        <p:xfrm>
          <a:off x="1771070" y="5437171"/>
          <a:ext cx="2029802" cy="670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7634"/>
                <a:gridCol w="504056"/>
                <a:gridCol w="576064"/>
                <a:gridCol w="432048"/>
              </a:tblGrid>
              <a:tr h="109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사업부문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적용</a:t>
                      </a:r>
                      <a:endParaRPr lang="en-US" altLang="ko-KR" sz="8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배부비율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8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9572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40</a:t>
                      </a:r>
                      <a:r>
                        <a:rPr lang="en-US" altLang="ko-KR" sz="7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9572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63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63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10%</a:t>
                      </a: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88416"/>
              </p:ext>
            </p:extLst>
          </p:nvPr>
        </p:nvGraphicFramePr>
        <p:xfrm>
          <a:off x="479452" y="3979639"/>
          <a:ext cx="3753468" cy="14329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198"/>
                <a:gridCol w="392198"/>
                <a:gridCol w="520800"/>
                <a:gridCol w="639020"/>
                <a:gridCol w="613947"/>
                <a:gridCol w="597653"/>
                <a:gridCol w="597652"/>
              </a:tblGrid>
              <a:tr h="2137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년월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발생비용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배부금액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20,000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6,900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8,100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87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40,000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661869"/>
              </p:ext>
            </p:extLst>
          </p:nvPr>
        </p:nvGraphicFramePr>
        <p:xfrm>
          <a:off x="4953000" y="3979636"/>
          <a:ext cx="4464496" cy="18976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2198"/>
                <a:gridCol w="392198"/>
                <a:gridCol w="520800"/>
                <a:gridCol w="639020"/>
                <a:gridCol w="613947"/>
                <a:gridCol w="1258261"/>
                <a:gridCol w="648072"/>
              </a:tblGrid>
              <a:tr h="28622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년월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사업코드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발생비용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배부금액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  <a:endParaRPr lang="ko-KR" altLang="en-US" sz="9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5,700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10,000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5700*40% = 2,280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12,280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5700*30% = 1,710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1,710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5700*20% = 1,140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1,140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5700*10% =   570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부문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7,300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0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020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20,000</a:t>
                      </a:r>
                      <a:endParaRPr lang="ko-KR" altLang="en-US" sz="100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4903305" y="4250905"/>
            <a:ext cx="4572000" cy="1191527"/>
          </a:xfrm>
          <a:prstGeom prst="rect">
            <a:avLst/>
          </a:prstGeom>
          <a:noFill/>
          <a:ln w="63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30" name="직사각형 29"/>
          <p:cNvSpPr/>
          <p:nvPr/>
        </p:nvSpPr>
        <p:spPr>
          <a:xfrm flipV="1">
            <a:off x="414869" y="4149080"/>
            <a:ext cx="3872499" cy="407512"/>
          </a:xfrm>
          <a:prstGeom prst="rect">
            <a:avLst/>
          </a:prstGeom>
          <a:noFill/>
          <a:ln w="63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900" smtClean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086840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mtClean="0"/>
              <a:t>경영정보시스템의 </a:t>
            </a:r>
            <a:r>
              <a:rPr lang="ko-KR" altLang="en-US" dirty="0"/>
              <a:t>응용 아키텍처 통합설계의 방향에 부합되는 설계 원칙</a:t>
            </a:r>
            <a:r>
              <a:rPr lang="en-US" altLang="ko-KR" dirty="0"/>
              <a:t>(</a:t>
            </a:r>
            <a:r>
              <a:rPr lang="ko-KR" altLang="en-US" dirty="0"/>
              <a:t>서비스 지원 표준화</a:t>
            </a:r>
            <a:r>
              <a:rPr lang="en-US" altLang="ko-KR" dirty="0"/>
              <a:t>, </a:t>
            </a:r>
            <a:r>
              <a:rPr lang="ko-KR" altLang="en-US" dirty="0"/>
              <a:t>서비스 수준향상</a:t>
            </a:r>
            <a:r>
              <a:rPr lang="en-US" altLang="ko-KR" dirty="0"/>
              <a:t>, </a:t>
            </a:r>
            <a:r>
              <a:rPr lang="ko-KR" altLang="en-US" dirty="0"/>
              <a:t>자원 효율성 향상</a:t>
            </a:r>
            <a:r>
              <a:rPr lang="en-US" altLang="ko-KR" dirty="0"/>
              <a:t>, </a:t>
            </a:r>
            <a:r>
              <a:rPr lang="ko-KR" altLang="en-US" dirty="0"/>
              <a:t>사용자 편의성 확보</a:t>
            </a:r>
            <a:r>
              <a:rPr lang="en-US" altLang="ko-KR" dirty="0"/>
              <a:t>)</a:t>
            </a:r>
            <a:r>
              <a:rPr lang="ko-KR" altLang="en-US" dirty="0"/>
              <a:t>을 도출함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2.8 </a:t>
            </a:r>
            <a:r>
              <a:rPr lang="ko-KR" altLang="en-US" dirty="0"/>
              <a:t>응용 아키텍처</a:t>
            </a:r>
            <a:r>
              <a:rPr lang="en-US" altLang="ko-KR" dirty="0"/>
              <a:t>(AA</a:t>
            </a:r>
            <a:r>
              <a:rPr lang="en-US" altLang="ko-KR"/>
              <a:t>) </a:t>
            </a:r>
            <a:r>
              <a:rPr lang="ko-KR" altLang="en-US" smtClean="0"/>
              <a:t>표준</a:t>
            </a:r>
            <a:r>
              <a:rPr lang="en-US" altLang="ko-KR" sz="1800" smtClean="0"/>
              <a:t/>
            </a:r>
            <a:br>
              <a:rPr lang="en-US" altLang="ko-KR" sz="1800" smtClean="0"/>
            </a:br>
            <a:r>
              <a:rPr lang="en-US" altLang="ko-KR" sz="1800" smtClean="0"/>
              <a:t>2.8.1 </a:t>
            </a:r>
            <a:r>
              <a:rPr lang="ko-KR" altLang="en-US" sz="1800" smtClean="0"/>
              <a:t>설계 원칙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smtClean="0"/>
              <a:t>2.8 </a:t>
            </a:r>
            <a:r>
              <a:rPr lang="ko-KR" altLang="en-US" smtClean="0"/>
              <a:t>응용 아키텍쳐 표준</a:t>
            </a:r>
            <a:endParaRPr lang="en-US" altLang="ko-KR" dirty="0"/>
          </a:p>
        </p:txBody>
      </p:sp>
      <p:grpSp>
        <p:nvGrpSpPr>
          <p:cNvPr id="5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응용 아키텍처 설계 원칙 도출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" name="Rectangle 62">
            <a:extLst>
              <a:ext uri="{FF2B5EF4-FFF2-40B4-BE49-F238E27FC236}">
                <a16:creationId xmlns="" xmlns:a16="http://schemas.microsoft.com/office/drawing/2014/main" id="{E801D691-BC95-462B-B347-B7781CA17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2127684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개발환경의 표준화</a:t>
            </a: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BCE82A8D-03C5-4E1A-9962-51EA65044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2127684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전자정부 표준프레임워크를 이용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개발환경을 구축하여 개발 표준을 수립함</a:t>
            </a:r>
          </a:p>
        </p:txBody>
      </p:sp>
      <p:sp>
        <p:nvSpPr>
          <p:cNvPr id="32" name="Rectangle 62">
            <a:extLst>
              <a:ext uri="{FF2B5EF4-FFF2-40B4-BE49-F238E27FC236}">
                <a16:creationId xmlns="" xmlns:a16="http://schemas.microsoft.com/office/drawing/2014/main" id="{601AD107-2FAF-4DAA-8D46-B67D62DF5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2679708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데이터연계 표준화</a:t>
            </a:r>
          </a:p>
        </p:txBody>
      </p:sp>
      <p:sp>
        <p:nvSpPr>
          <p:cNvPr id="33" name="Rectangle 62">
            <a:extLst>
              <a:ext uri="{FF2B5EF4-FFF2-40B4-BE49-F238E27FC236}">
                <a16:creationId xmlns="" xmlns:a16="http://schemas.microsoft.com/office/drawing/2014/main" id="{7C2A4751-778B-4AFE-9035-5F5A3264B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2679708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EAI/ESB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기반 시스템 연계를 통한 메시지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연동 표준 규격을 준수함</a:t>
            </a:r>
          </a:p>
        </p:txBody>
      </p:sp>
      <p:sp>
        <p:nvSpPr>
          <p:cNvPr id="34" name="Rectangle 62">
            <a:extLst>
              <a:ext uri="{FF2B5EF4-FFF2-40B4-BE49-F238E27FC236}">
                <a16:creationId xmlns="" xmlns:a16="http://schemas.microsoft.com/office/drawing/2014/main" id="{4C7E25D4-A794-4F41-8AA7-008270BE8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3297646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다계층</a:t>
            </a:r>
            <a:r>
              <a:rPr kumimoji="1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이중화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8C72C4FD-8B83-4C8B-81CD-19E10E9AC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3297646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WEB/WAS/DBMS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를 분리 운영하고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이중화하여 서비스 가용성을 향상 시킴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="" xmlns:a16="http://schemas.microsoft.com/office/drawing/2014/main" id="{6341D111-F16E-4D59-BE5E-ECA51C6EF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3849670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연동체계 단순화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831B9E20-82C6-4738-AE11-F87E1A767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3849670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DBMS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상호 간 연동부분을 통합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단순화 하여 관리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운영 효율성 향상 시킴</a:t>
            </a:r>
          </a:p>
        </p:txBody>
      </p:sp>
      <p:sp>
        <p:nvSpPr>
          <p:cNvPr id="38" name="Rectangle 62">
            <a:extLst>
              <a:ext uri="{FF2B5EF4-FFF2-40B4-BE49-F238E27FC236}">
                <a16:creationId xmlns="" xmlns:a16="http://schemas.microsoft.com/office/drawing/2014/main" id="{7FC7C71B-2FE0-48CF-9EB5-3C5E6A231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4503764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접속창구 서비스 통합</a:t>
            </a:r>
          </a:p>
        </p:txBody>
      </p:sp>
      <p:sp>
        <p:nvSpPr>
          <p:cNvPr id="39" name="Rectangle 62">
            <a:extLst>
              <a:ext uri="{FF2B5EF4-FFF2-40B4-BE49-F238E27FC236}">
                <a16:creationId xmlns="" xmlns:a16="http://schemas.microsoft.com/office/drawing/2014/main" id="{635580B7-041D-41AC-982A-D645A2269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4503764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예산관리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회계관리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자산관리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구매관리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사업관리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업무처리 서비스를 경영정보 포털로 통합함</a:t>
            </a:r>
          </a:p>
        </p:txBody>
      </p:sp>
      <p:sp>
        <p:nvSpPr>
          <p:cNvPr id="40" name="Rectangle 62">
            <a:extLst>
              <a:ext uri="{FF2B5EF4-FFF2-40B4-BE49-F238E27FC236}">
                <a16:creationId xmlns="" xmlns:a16="http://schemas.microsoft.com/office/drawing/2014/main" id="{665EC6EE-58D9-488C-841F-8E2EE2522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5103400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사용자 인터페이스</a:t>
            </a:r>
          </a:p>
        </p:txBody>
      </p:sp>
      <p:sp>
        <p:nvSpPr>
          <p:cNvPr id="41" name="Rectangle 62">
            <a:extLst>
              <a:ext uri="{FF2B5EF4-FFF2-40B4-BE49-F238E27FC236}">
                <a16:creationId xmlns="" xmlns:a16="http://schemas.microsoft.com/office/drawing/2014/main" id="{2E0B57B0-458D-48ED-8C79-AC0E360EC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5103400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사용자 편의성 극대화를 위해 웹 호환성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/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접근성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표준</a:t>
            </a:r>
            <a:r>
              <a:rPr kumimoji="1" lang="en-US" altLang="ko-KR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UI/UX </a:t>
            </a: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기반 사용자 인터페이스를 제공해야 함</a:t>
            </a:r>
          </a:p>
        </p:txBody>
      </p:sp>
      <p:sp>
        <p:nvSpPr>
          <p:cNvPr id="42" name="Rectangle 62">
            <a:extLst>
              <a:ext uri="{FF2B5EF4-FFF2-40B4-BE49-F238E27FC236}">
                <a16:creationId xmlns="" xmlns:a16="http://schemas.microsoft.com/office/drawing/2014/main" id="{746D8A99-DB64-4C26-9C43-2287C99BC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672" y="5655424"/>
            <a:ext cx="1584120" cy="5040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멀티디바이스 지원</a:t>
            </a:r>
          </a:p>
        </p:txBody>
      </p:sp>
      <p:sp>
        <p:nvSpPr>
          <p:cNvPr id="43" name="Rectangle 62">
            <a:extLst>
              <a:ext uri="{FF2B5EF4-FFF2-40B4-BE49-F238E27FC236}">
                <a16:creationId xmlns="" xmlns:a16="http://schemas.microsoft.com/office/drawing/2014/main" id="{05B6ED99-F5F2-4C97-9F91-0848C6A10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4896" y="5655424"/>
            <a:ext cx="6228000" cy="504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모바일 디바이스에 대한 통일화된 웹 서비스 환경을 </a:t>
            </a:r>
            <a:r>
              <a:rPr kumimoji="1" lang="ko-KR" altLang="en-US" sz="105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제공해야 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함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사업관리 현장용</a:t>
            </a:r>
            <a:r>
              <a:rPr kumimoji="1" lang="en-US" altLang="ko-KR" sz="105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)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Rectangle 62">
            <a:extLst>
              <a:ext uri="{FF2B5EF4-FFF2-40B4-BE49-F238E27FC236}">
                <a16:creationId xmlns="" xmlns:a16="http://schemas.microsoft.com/office/drawing/2014/main" id="{84B7F2C7-6AC9-4AC0-A4DC-6C0812224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370" y="2127684"/>
            <a:ext cx="945198" cy="1056024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서비스 지원 표준화</a:t>
            </a:r>
          </a:p>
        </p:txBody>
      </p:sp>
      <p:sp>
        <p:nvSpPr>
          <p:cNvPr id="45" name="Rectangle 62">
            <a:extLst>
              <a:ext uri="{FF2B5EF4-FFF2-40B4-BE49-F238E27FC236}">
                <a16:creationId xmlns="" xmlns:a16="http://schemas.microsoft.com/office/drawing/2014/main" id="{1F423B57-4C55-4E7F-9981-9439C63C8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370" y="3297646"/>
            <a:ext cx="945198" cy="1056024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서비스 수준 향상</a:t>
            </a:r>
          </a:p>
        </p:txBody>
      </p:sp>
      <p:sp>
        <p:nvSpPr>
          <p:cNvPr id="46" name="Rectangle 62">
            <a:extLst>
              <a:ext uri="{FF2B5EF4-FFF2-40B4-BE49-F238E27FC236}">
                <a16:creationId xmlns="" xmlns:a16="http://schemas.microsoft.com/office/drawing/2014/main" id="{28ABD8D4-69FF-4DE0-8A2C-BA318E655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370" y="5109868"/>
            <a:ext cx="945198" cy="1056024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사</a:t>
            </a: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용자 편의성 확보</a:t>
            </a:r>
          </a:p>
        </p:txBody>
      </p:sp>
      <p:sp>
        <p:nvSpPr>
          <p:cNvPr id="47" name="Rectangle 62">
            <a:extLst>
              <a:ext uri="{FF2B5EF4-FFF2-40B4-BE49-F238E27FC236}">
                <a16:creationId xmlns="" xmlns:a16="http://schemas.microsoft.com/office/drawing/2014/main" id="{313AFBF3-2F91-4064-A60B-369A5540E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370" y="4513674"/>
            <a:ext cx="945198" cy="50400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자원 효율성 향상</a:t>
            </a:r>
          </a:p>
        </p:txBody>
      </p:sp>
    </p:spTree>
    <p:extLst>
      <p:ext uri="{BB962C8B-B14F-4D97-AF65-F5344CB8AC3E}">
        <p14:creationId xmlns:p14="http://schemas.microsoft.com/office/powerpoint/2010/main" val="40792721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mtClean="0"/>
              <a:t>경영정보시스템의 </a:t>
            </a:r>
            <a:r>
              <a:rPr lang="ko-KR" altLang="en-US" dirty="0"/>
              <a:t>응용어플리케이션 표준프레임워크 정립을 통해 중복투자를 방지하고</a:t>
            </a:r>
            <a:r>
              <a:rPr lang="en-US" altLang="ko-KR" dirty="0"/>
              <a:t>, </a:t>
            </a:r>
            <a:r>
              <a:rPr lang="ko-KR" altLang="en-US" dirty="0"/>
              <a:t>응용 시스템간 연동의 편의성 및 효율성 향상</a:t>
            </a:r>
            <a:r>
              <a:rPr lang="en-US" altLang="ko-KR" dirty="0"/>
              <a:t>, </a:t>
            </a:r>
            <a:r>
              <a:rPr lang="ko-KR" altLang="en-US" dirty="0"/>
              <a:t>향후 고도화를 위한 확장성 있는 </a:t>
            </a:r>
            <a:r>
              <a:rPr lang="en-US" altLang="ko-KR" dirty="0"/>
              <a:t>To-Be </a:t>
            </a:r>
            <a:r>
              <a:rPr lang="ko-KR" altLang="en-US" dirty="0"/>
              <a:t>모델을 도출함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2.8 </a:t>
            </a:r>
            <a:r>
              <a:rPr lang="ko-KR" altLang="en-US" smtClean="0"/>
              <a:t>응용 아키텍처</a:t>
            </a:r>
            <a:r>
              <a:rPr lang="en-US" altLang="ko-KR" smtClean="0"/>
              <a:t>(</a:t>
            </a:r>
            <a:r>
              <a:rPr lang="en-US" altLang="ko-KR"/>
              <a:t>AA)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2.8.2 </a:t>
            </a:r>
            <a:r>
              <a:rPr lang="ko-KR" altLang="en-US" sz="1800" smtClean="0"/>
              <a:t>표준화 구성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smtClean="0"/>
              <a:t>2.8 </a:t>
            </a:r>
            <a:r>
              <a:rPr lang="ko-KR" altLang="en-US" smtClean="0"/>
              <a:t>응용 아키텍쳐 표준</a:t>
            </a:r>
            <a:endParaRPr lang="en-US" altLang="ko-KR" dirty="0"/>
          </a:p>
        </p:txBody>
      </p:sp>
      <p:grpSp>
        <p:nvGrpSpPr>
          <p:cNvPr id="5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3850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응용 아키텍처 표준화 구성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201" name="Rectangle 62">
            <a:extLst>
              <a:ext uri="{FF2B5EF4-FFF2-40B4-BE49-F238E27FC236}">
                <a16:creationId xmlns="" xmlns:a16="http://schemas.microsoft.com/office/drawing/2014/main" id="{159E6891-B9E3-4EA6-A4F5-6FD033E05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39" y="2332850"/>
            <a:ext cx="1281545" cy="1971361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marL="171450" lvl="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전자정부 표준프레임워크의 구성요소를 활용하여 표준화 진행</a:t>
            </a:r>
          </a:p>
          <a:p>
            <a:pPr marL="171450" lvl="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  <a:defRPr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재개발 및 신규 개발에 적용</a:t>
            </a:r>
            <a:endParaRPr kumimoji="1" lang="ko-KR" altLang="en-US" sz="11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03" name="Rectangle 62">
            <a:extLst>
              <a:ext uri="{FF2B5EF4-FFF2-40B4-BE49-F238E27FC236}">
                <a16:creationId xmlns="" xmlns:a16="http://schemas.microsoft.com/office/drawing/2014/main" id="{1A7F4B5A-11BA-466A-9239-0C4968C49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39" y="4664427"/>
            <a:ext cx="1281545" cy="1566556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EAI/ESB </a:t>
            </a: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기반의 아키텍처로 구현</a:t>
            </a:r>
          </a:p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시스템 및 유관기관 외부시스템과 효율적 연동</a:t>
            </a:r>
          </a:p>
        </p:txBody>
      </p:sp>
      <p:grpSp>
        <p:nvGrpSpPr>
          <p:cNvPr id="8" name="그룹 295">
            <a:extLst>
              <a:ext uri="{FF2B5EF4-FFF2-40B4-BE49-F238E27FC236}">
                <a16:creationId xmlns="" xmlns:a16="http://schemas.microsoft.com/office/drawing/2014/main" id="{CA5759BB-99E7-4925-8AF9-863F6C2F6B26}"/>
              </a:ext>
            </a:extLst>
          </p:cNvPr>
          <p:cNvGrpSpPr/>
          <p:nvPr/>
        </p:nvGrpSpPr>
        <p:grpSpPr>
          <a:xfrm>
            <a:off x="1784647" y="2045799"/>
            <a:ext cx="6247972" cy="4191489"/>
            <a:chOff x="1784647" y="2045799"/>
            <a:chExt cx="6247972" cy="4191489"/>
          </a:xfrm>
        </p:grpSpPr>
        <p:sp>
          <p:nvSpPr>
            <p:cNvPr id="10" name="Border">
              <a:extLst>
                <a:ext uri="{FF2B5EF4-FFF2-40B4-BE49-F238E27FC236}">
                  <a16:creationId xmlns="" xmlns:a16="http://schemas.microsoft.com/office/drawing/2014/main" id="{D05091E1-DAB6-4F0C-9BD2-BAD021BF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647" y="2060848"/>
              <a:ext cx="3065545" cy="343956"/>
            </a:xfrm>
            <a:prstGeom prst="roundRect">
              <a:avLst>
                <a:gd name="adj" fmla="val 31606"/>
              </a:avLst>
            </a:prstGeom>
            <a:solidFill>
              <a:srgbClr val="01458C"/>
            </a:solidFill>
            <a:ln w="6350">
              <a:solidFill>
                <a:srgbClr val="01458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="" xmlns:a16="http://schemas.microsoft.com/office/drawing/2014/main" id="{70C45A6E-4BE0-420E-B6D9-49ED9A19EDF8}"/>
                </a:ext>
              </a:extLst>
            </p:cNvPr>
            <p:cNvSpPr/>
            <p:nvPr/>
          </p:nvSpPr>
          <p:spPr>
            <a:xfrm>
              <a:off x="2087222" y="2068305"/>
              <a:ext cx="2267638" cy="25391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</a:rPr>
                <a:t>프레임워크 표준화</a:t>
              </a:r>
            </a:p>
          </p:txBody>
        </p:sp>
        <p:sp>
          <p:nvSpPr>
            <p:cNvPr id="12" name="Border">
              <a:extLst>
                <a:ext uri="{FF2B5EF4-FFF2-40B4-BE49-F238E27FC236}">
                  <a16:creationId xmlns="" xmlns:a16="http://schemas.microsoft.com/office/drawing/2014/main" id="{997D896C-4477-48EA-942C-73E84864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647" y="2321848"/>
              <a:ext cx="3065545" cy="196856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6" name="그림 5">
              <a:extLst>
                <a:ext uri="{FF2B5EF4-FFF2-40B4-BE49-F238E27FC236}">
                  <a16:creationId xmlns="" xmlns:a16="http://schemas.microsoft.com/office/drawing/2014/main" id="{A114B962-799D-46AF-AD65-2A4B8F8E94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38575" y="2365313"/>
              <a:ext cx="3008911" cy="1889589"/>
            </a:xfrm>
            <a:prstGeom prst="rect">
              <a:avLst/>
            </a:prstGeom>
          </p:spPr>
        </p:pic>
        <p:sp>
          <p:nvSpPr>
            <p:cNvPr id="144" name="Border">
              <a:extLst>
                <a:ext uri="{FF2B5EF4-FFF2-40B4-BE49-F238E27FC236}">
                  <a16:creationId xmlns="" xmlns:a16="http://schemas.microsoft.com/office/drawing/2014/main" id="{2F97DC86-F564-46B0-B9E6-E080B1A1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647" y="4381045"/>
              <a:ext cx="3065545" cy="343956"/>
            </a:xfrm>
            <a:prstGeom prst="roundRect">
              <a:avLst>
                <a:gd name="adj" fmla="val 31606"/>
              </a:avLst>
            </a:prstGeom>
            <a:solidFill>
              <a:srgbClr val="01458C"/>
            </a:solidFill>
            <a:ln w="6350">
              <a:solidFill>
                <a:srgbClr val="01458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="" xmlns:a16="http://schemas.microsoft.com/office/drawing/2014/main" id="{013CFF9E-5161-4FEC-8CD2-2E626202665F}"/>
                </a:ext>
              </a:extLst>
            </p:cNvPr>
            <p:cNvSpPr/>
            <p:nvPr/>
          </p:nvSpPr>
          <p:spPr>
            <a:xfrm>
              <a:off x="2087222" y="4388502"/>
              <a:ext cx="2267638" cy="25391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</a:rPr>
                <a:t>연계 표준화</a:t>
              </a:r>
            </a:p>
          </p:txBody>
        </p:sp>
        <p:sp>
          <p:nvSpPr>
            <p:cNvPr id="146" name="Border">
              <a:extLst>
                <a:ext uri="{FF2B5EF4-FFF2-40B4-BE49-F238E27FC236}">
                  <a16:creationId xmlns="" xmlns:a16="http://schemas.microsoft.com/office/drawing/2014/main" id="{3D66B696-DFAB-4809-9E3D-5E0DEDE0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647" y="4642045"/>
              <a:ext cx="3065545" cy="159524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47" name="Border">
              <a:extLst>
                <a:ext uri="{FF2B5EF4-FFF2-40B4-BE49-F238E27FC236}">
                  <a16:creationId xmlns="" xmlns:a16="http://schemas.microsoft.com/office/drawing/2014/main" id="{B6BAB40E-1CD7-4699-95AD-6A976D09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074" y="2045799"/>
              <a:ext cx="3065545" cy="343956"/>
            </a:xfrm>
            <a:prstGeom prst="roundRect">
              <a:avLst>
                <a:gd name="adj" fmla="val 31606"/>
              </a:avLst>
            </a:prstGeom>
            <a:solidFill>
              <a:srgbClr val="01458C"/>
            </a:solidFill>
            <a:ln w="6350">
              <a:solidFill>
                <a:srgbClr val="01458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="" xmlns:a16="http://schemas.microsoft.com/office/drawing/2014/main" id="{66C7F769-5F79-40BD-90F2-AB62D89BF3DD}"/>
                </a:ext>
              </a:extLst>
            </p:cNvPr>
            <p:cNvSpPr/>
            <p:nvPr/>
          </p:nvSpPr>
          <p:spPr>
            <a:xfrm>
              <a:off x="5269649" y="2053256"/>
              <a:ext cx="2267638" cy="25391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</a:rPr>
                <a:t>기술구조 표준화</a:t>
              </a:r>
            </a:p>
          </p:txBody>
        </p:sp>
        <p:sp>
          <p:nvSpPr>
            <p:cNvPr id="149" name="Border">
              <a:extLst>
                <a:ext uri="{FF2B5EF4-FFF2-40B4-BE49-F238E27FC236}">
                  <a16:creationId xmlns="" xmlns:a16="http://schemas.microsoft.com/office/drawing/2014/main" id="{217FB170-FB74-4EF3-BAFF-FAEA33DE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074" y="2306799"/>
              <a:ext cx="3065545" cy="392418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45720" rIns="720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50" name="Rectangle 65">
              <a:extLst>
                <a:ext uri="{FF2B5EF4-FFF2-40B4-BE49-F238E27FC236}">
                  <a16:creationId xmlns="" xmlns:a16="http://schemas.microsoft.com/office/drawing/2014/main" id="{438E1FFB-521E-423C-AF56-A2659E54E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201" y="4940919"/>
              <a:ext cx="284495" cy="1080369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내부시스템</a:t>
              </a:r>
            </a:p>
          </p:txBody>
        </p:sp>
        <p:sp>
          <p:nvSpPr>
            <p:cNvPr id="151" name="Rectangle 65">
              <a:extLst>
                <a:ext uri="{FF2B5EF4-FFF2-40B4-BE49-F238E27FC236}">
                  <a16:creationId xmlns="" xmlns:a16="http://schemas.microsoft.com/office/drawing/2014/main" id="{AFD7A2C1-3E04-4D99-BD19-121FCEDE7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939" y="4940919"/>
              <a:ext cx="284495" cy="1080369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rPr>
                <a:t>외부시스템</a:t>
              </a:r>
            </a:p>
          </p:txBody>
        </p:sp>
        <p:grpSp>
          <p:nvGrpSpPr>
            <p:cNvPr id="9" name="그룹 155">
              <a:extLst>
                <a:ext uri="{FF2B5EF4-FFF2-40B4-BE49-F238E27FC236}">
                  <a16:creationId xmlns="" xmlns:a16="http://schemas.microsoft.com/office/drawing/2014/main" id="{19F35035-45D8-4AC0-8BA3-9F0F09CD408A}"/>
                </a:ext>
              </a:extLst>
            </p:cNvPr>
            <p:cNvGrpSpPr/>
            <p:nvPr/>
          </p:nvGrpSpPr>
          <p:grpSpPr>
            <a:xfrm>
              <a:off x="2252975" y="4971167"/>
              <a:ext cx="392853" cy="252285"/>
              <a:chOff x="-2336563" y="1803296"/>
              <a:chExt cx="765559" cy="369369"/>
            </a:xfrm>
          </p:grpSpPr>
          <p:sp>
            <p:nvSpPr>
              <p:cNvPr id="157" name="사각형: 둥근 모서리 156">
                <a:extLst>
                  <a:ext uri="{FF2B5EF4-FFF2-40B4-BE49-F238E27FC236}">
                    <a16:creationId xmlns="" xmlns:a16="http://schemas.microsoft.com/office/drawing/2014/main" id="{C93276E2-FB8A-4DB4-970D-68E12F0C3E6C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58" name="Rectangle 62">
                <a:extLst>
                  <a:ext uri="{FF2B5EF4-FFF2-40B4-BE49-F238E27FC236}">
                    <a16:creationId xmlns="" xmlns:a16="http://schemas.microsoft.com/office/drawing/2014/main" id="{D24DCCE5-B4A2-471C-8041-8BFE65D55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59" name="Rectangle 62">
                <a:extLst>
                  <a:ext uri="{FF2B5EF4-FFF2-40B4-BE49-F238E27FC236}">
                    <a16:creationId xmlns="" xmlns:a16="http://schemas.microsoft.com/office/drawing/2014/main" id="{5092E7E4-D9D7-43D2-A6E8-7F9E5E4C7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grpSp>
          <p:nvGrpSpPr>
            <p:cNvPr id="13" name="그룹 159">
              <a:extLst>
                <a:ext uri="{FF2B5EF4-FFF2-40B4-BE49-F238E27FC236}">
                  <a16:creationId xmlns="" xmlns:a16="http://schemas.microsoft.com/office/drawing/2014/main" id="{B63E0643-04E4-4F0F-9248-6EA4848FA7E3}"/>
                </a:ext>
              </a:extLst>
            </p:cNvPr>
            <p:cNvGrpSpPr/>
            <p:nvPr/>
          </p:nvGrpSpPr>
          <p:grpSpPr>
            <a:xfrm>
              <a:off x="2252975" y="5356081"/>
              <a:ext cx="392853" cy="252285"/>
              <a:chOff x="-2336563" y="1803296"/>
              <a:chExt cx="765559" cy="369369"/>
            </a:xfrm>
          </p:grpSpPr>
          <p:sp>
            <p:nvSpPr>
              <p:cNvPr id="161" name="사각형: 둥근 모서리 160">
                <a:extLst>
                  <a:ext uri="{FF2B5EF4-FFF2-40B4-BE49-F238E27FC236}">
                    <a16:creationId xmlns="" xmlns:a16="http://schemas.microsoft.com/office/drawing/2014/main" id="{71EB368B-0BEA-40F8-A058-E81A1F5F3B00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62" name="Rectangle 62">
                <a:extLst>
                  <a:ext uri="{FF2B5EF4-FFF2-40B4-BE49-F238E27FC236}">
                    <a16:creationId xmlns="" xmlns:a16="http://schemas.microsoft.com/office/drawing/2014/main" id="{4F675789-D310-45BD-BDD4-CFD94E1EC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63" name="Rectangle 62">
                <a:extLst>
                  <a:ext uri="{FF2B5EF4-FFF2-40B4-BE49-F238E27FC236}">
                    <a16:creationId xmlns="" xmlns:a16="http://schemas.microsoft.com/office/drawing/2014/main" id="{01F14CEF-C3F9-4D81-8FEF-2BCB885E1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grpSp>
          <p:nvGrpSpPr>
            <p:cNvPr id="14" name="그룹 163">
              <a:extLst>
                <a:ext uri="{FF2B5EF4-FFF2-40B4-BE49-F238E27FC236}">
                  <a16:creationId xmlns="" xmlns:a16="http://schemas.microsoft.com/office/drawing/2014/main" id="{EC348209-7FE8-4BE3-86E1-7B6B6B1610A8}"/>
                </a:ext>
              </a:extLst>
            </p:cNvPr>
            <p:cNvGrpSpPr/>
            <p:nvPr/>
          </p:nvGrpSpPr>
          <p:grpSpPr>
            <a:xfrm>
              <a:off x="2252975" y="5740994"/>
              <a:ext cx="392853" cy="252285"/>
              <a:chOff x="-2336563" y="1803296"/>
              <a:chExt cx="765559" cy="369369"/>
            </a:xfrm>
          </p:grpSpPr>
          <p:sp>
            <p:nvSpPr>
              <p:cNvPr id="165" name="사각형: 둥근 모서리 164">
                <a:extLst>
                  <a:ext uri="{FF2B5EF4-FFF2-40B4-BE49-F238E27FC236}">
                    <a16:creationId xmlns="" xmlns:a16="http://schemas.microsoft.com/office/drawing/2014/main" id="{4DF1C586-13A4-4460-9B58-B9D261F1B186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66" name="Rectangle 62">
                <a:extLst>
                  <a:ext uri="{FF2B5EF4-FFF2-40B4-BE49-F238E27FC236}">
                    <a16:creationId xmlns="" xmlns:a16="http://schemas.microsoft.com/office/drawing/2014/main" id="{A90C2FFE-3E78-4D1D-8607-7F3408558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67" name="Rectangle 62">
                <a:extLst>
                  <a:ext uri="{FF2B5EF4-FFF2-40B4-BE49-F238E27FC236}">
                    <a16:creationId xmlns="" xmlns:a16="http://schemas.microsoft.com/office/drawing/2014/main" id="{8C086A4F-3EA6-4817-AC99-9D86D3DE4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grpSp>
          <p:nvGrpSpPr>
            <p:cNvPr id="15" name="그룹 167">
              <a:extLst>
                <a:ext uri="{FF2B5EF4-FFF2-40B4-BE49-F238E27FC236}">
                  <a16:creationId xmlns="" xmlns:a16="http://schemas.microsoft.com/office/drawing/2014/main" id="{F70B772E-0BF5-483C-92D5-A54C1FD1AB9D}"/>
                </a:ext>
              </a:extLst>
            </p:cNvPr>
            <p:cNvGrpSpPr/>
            <p:nvPr/>
          </p:nvGrpSpPr>
          <p:grpSpPr>
            <a:xfrm flipH="1">
              <a:off x="4016896" y="4971167"/>
              <a:ext cx="392853" cy="252285"/>
              <a:chOff x="-2336563" y="1803296"/>
              <a:chExt cx="765559" cy="369369"/>
            </a:xfrm>
          </p:grpSpPr>
          <p:sp>
            <p:nvSpPr>
              <p:cNvPr id="169" name="사각형: 둥근 모서리 168">
                <a:extLst>
                  <a:ext uri="{FF2B5EF4-FFF2-40B4-BE49-F238E27FC236}">
                    <a16:creationId xmlns="" xmlns:a16="http://schemas.microsoft.com/office/drawing/2014/main" id="{BD130669-53B3-4298-84A7-6BA00A2CF23D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70" name="Rectangle 62">
                <a:extLst>
                  <a:ext uri="{FF2B5EF4-FFF2-40B4-BE49-F238E27FC236}">
                    <a16:creationId xmlns="" xmlns:a16="http://schemas.microsoft.com/office/drawing/2014/main" id="{5BAA0F8F-F1B0-4BC6-85AC-DAAEC6740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71" name="Rectangle 62">
                <a:extLst>
                  <a:ext uri="{FF2B5EF4-FFF2-40B4-BE49-F238E27FC236}">
                    <a16:creationId xmlns="" xmlns:a16="http://schemas.microsoft.com/office/drawing/2014/main" id="{842744EA-7500-416A-B54F-D99C34D93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grpSp>
          <p:nvGrpSpPr>
            <p:cNvPr id="16" name="그룹 171">
              <a:extLst>
                <a:ext uri="{FF2B5EF4-FFF2-40B4-BE49-F238E27FC236}">
                  <a16:creationId xmlns="" xmlns:a16="http://schemas.microsoft.com/office/drawing/2014/main" id="{6AAE6F5A-5823-4759-B515-5DA60B5BB141}"/>
                </a:ext>
              </a:extLst>
            </p:cNvPr>
            <p:cNvGrpSpPr/>
            <p:nvPr/>
          </p:nvGrpSpPr>
          <p:grpSpPr>
            <a:xfrm flipH="1">
              <a:off x="4016896" y="5356081"/>
              <a:ext cx="392853" cy="252285"/>
              <a:chOff x="-2336563" y="1803296"/>
              <a:chExt cx="765559" cy="369369"/>
            </a:xfrm>
          </p:grpSpPr>
          <p:sp>
            <p:nvSpPr>
              <p:cNvPr id="173" name="사각형: 둥근 모서리 172">
                <a:extLst>
                  <a:ext uri="{FF2B5EF4-FFF2-40B4-BE49-F238E27FC236}">
                    <a16:creationId xmlns="" xmlns:a16="http://schemas.microsoft.com/office/drawing/2014/main" id="{293A223E-67B2-4D9B-8FB3-C65D69E0A898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74" name="Rectangle 62">
                <a:extLst>
                  <a:ext uri="{FF2B5EF4-FFF2-40B4-BE49-F238E27FC236}">
                    <a16:creationId xmlns="" xmlns:a16="http://schemas.microsoft.com/office/drawing/2014/main" id="{B875537A-01E6-4964-9DFB-BAF58D8DF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75" name="Rectangle 62">
                <a:extLst>
                  <a:ext uri="{FF2B5EF4-FFF2-40B4-BE49-F238E27FC236}">
                    <a16:creationId xmlns="" xmlns:a16="http://schemas.microsoft.com/office/drawing/2014/main" id="{6177C966-9709-4FEE-87A0-359D717E6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grpSp>
          <p:nvGrpSpPr>
            <p:cNvPr id="19" name="그룹 175">
              <a:extLst>
                <a:ext uri="{FF2B5EF4-FFF2-40B4-BE49-F238E27FC236}">
                  <a16:creationId xmlns="" xmlns:a16="http://schemas.microsoft.com/office/drawing/2014/main" id="{6C3E1C18-1D74-4060-AE34-2E98AA6119D5}"/>
                </a:ext>
              </a:extLst>
            </p:cNvPr>
            <p:cNvGrpSpPr/>
            <p:nvPr/>
          </p:nvGrpSpPr>
          <p:grpSpPr>
            <a:xfrm flipH="1">
              <a:off x="4016896" y="5740994"/>
              <a:ext cx="392853" cy="252285"/>
              <a:chOff x="-2336563" y="1803296"/>
              <a:chExt cx="765559" cy="369369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="" xmlns:a16="http://schemas.microsoft.com/office/drawing/2014/main" id="{C3DE570E-CD21-4E69-9137-2D2D3C45D9D0}"/>
                  </a:ext>
                </a:extLst>
              </p:cNvPr>
              <p:cNvSpPr/>
              <p:nvPr/>
            </p:nvSpPr>
            <p:spPr>
              <a:xfrm>
                <a:off x="-2225954" y="1803296"/>
                <a:ext cx="654950" cy="369369"/>
              </a:xfrm>
              <a:prstGeom prst="roundRect">
                <a:avLst/>
              </a:prstGeom>
              <a:solidFill>
                <a:schemeClr val="bg1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eaLnBrk="0" fontAlgn="base" latinLnBrk="0" hangingPunct="0">
                  <a:spcAft>
                    <a:spcPct val="0"/>
                  </a:spcAft>
                </a:pPr>
                <a:endParaRPr kumimoji="1" lang="ko-KR" altLang="en-US" kern="0" dirty="0">
                  <a:solidFill>
                    <a:srgbClr val="FFFFFF"/>
                  </a:solidFill>
                  <a:latin typeface="+mn-ea"/>
                </a:endParaRPr>
              </a:p>
            </p:txBody>
          </p:sp>
          <p:sp>
            <p:nvSpPr>
              <p:cNvPr id="178" name="Rectangle 62">
                <a:extLst>
                  <a:ext uri="{FF2B5EF4-FFF2-40B4-BE49-F238E27FC236}">
                    <a16:creationId xmlns="" xmlns:a16="http://schemas.microsoft.com/office/drawing/2014/main" id="{3E6EE013-B7B7-49B6-9EF1-BC2E152F6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1899719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79" name="Rectangle 62">
                <a:extLst>
                  <a:ext uri="{FF2B5EF4-FFF2-40B4-BE49-F238E27FC236}">
                    <a16:creationId xmlns="" xmlns:a16="http://schemas.microsoft.com/office/drawing/2014/main" id="{248B2415-141C-463D-8967-C0C73A675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336563" y="2007890"/>
                <a:ext cx="198107" cy="65826"/>
              </a:xfrm>
              <a:prstGeom prst="rect">
                <a:avLst/>
              </a:prstGeom>
              <a:solidFill>
                <a:srgbClr val="BFBFBF"/>
              </a:solidFill>
              <a:ln w="6350" algn="ctr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 wrap="square" lIns="72000" tIns="36000" rIns="72000" bIns="36000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7" name="십자형 6">
              <a:extLst>
                <a:ext uri="{FF2B5EF4-FFF2-40B4-BE49-F238E27FC236}">
                  <a16:creationId xmlns="" xmlns:a16="http://schemas.microsoft.com/office/drawing/2014/main" id="{B2E8F4B7-5EB2-492C-A5FA-6D8940D35CD2}"/>
                </a:ext>
              </a:extLst>
            </p:cNvPr>
            <p:cNvSpPr/>
            <p:nvPr/>
          </p:nvSpPr>
          <p:spPr>
            <a:xfrm>
              <a:off x="2890499" y="5258441"/>
              <a:ext cx="910373" cy="391666"/>
            </a:xfrm>
            <a:prstGeom prst="plus">
              <a:avLst/>
            </a:prstGeom>
            <a:solidFill>
              <a:srgbClr val="BFBFBF"/>
            </a:solidFill>
            <a:ln w="6350">
              <a:solidFill>
                <a:srgbClr val="BFBFB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>
                  <a:solidFill>
                    <a:schemeClr val="tx1"/>
                  </a:solidFill>
                  <a:latin typeface="+mn-ea"/>
                </a:rPr>
                <a:t>EAI/ESB</a:t>
              </a:r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3" name="직선 화살표 연결선 182">
              <a:extLst>
                <a:ext uri="{FF2B5EF4-FFF2-40B4-BE49-F238E27FC236}">
                  <a16:creationId xmlns="" xmlns:a16="http://schemas.microsoft.com/office/drawing/2014/main" id="{7087A633-DF96-4CCF-A19F-43C53B41A43B}"/>
                </a:ext>
              </a:extLst>
            </p:cNvPr>
            <p:cNvCxnSpPr>
              <a:cxnSpLocks/>
              <a:stCxn id="157" idx="3"/>
              <a:endCxn id="7" idx="1"/>
            </p:cNvCxnSpPr>
            <p:nvPr/>
          </p:nvCxnSpPr>
          <p:spPr>
            <a:xfrm>
              <a:off x="2645828" y="5097310"/>
              <a:ext cx="244671" cy="356964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직선 화살표 연결선 185">
              <a:extLst>
                <a:ext uri="{FF2B5EF4-FFF2-40B4-BE49-F238E27FC236}">
                  <a16:creationId xmlns="" xmlns:a16="http://schemas.microsoft.com/office/drawing/2014/main" id="{F6CC3D4B-DCA9-49E1-940B-BFEC5E37730E}"/>
                </a:ext>
              </a:extLst>
            </p:cNvPr>
            <p:cNvCxnSpPr>
              <a:cxnSpLocks/>
              <a:stCxn id="161" idx="3"/>
              <a:endCxn id="7" idx="1"/>
            </p:cNvCxnSpPr>
            <p:nvPr/>
          </p:nvCxnSpPr>
          <p:spPr>
            <a:xfrm flipV="1">
              <a:off x="2645828" y="5454274"/>
              <a:ext cx="244671" cy="27950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직선 화살표 연결선 188">
              <a:extLst>
                <a:ext uri="{FF2B5EF4-FFF2-40B4-BE49-F238E27FC236}">
                  <a16:creationId xmlns="" xmlns:a16="http://schemas.microsoft.com/office/drawing/2014/main" id="{A66D2EE5-AEE3-4528-BCC4-2D26E4370B3B}"/>
                </a:ext>
              </a:extLst>
            </p:cNvPr>
            <p:cNvCxnSpPr>
              <a:cxnSpLocks/>
              <a:stCxn id="165" idx="3"/>
              <a:endCxn id="7" idx="1"/>
            </p:cNvCxnSpPr>
            <p:nvPr/>
          </p:nvCxnSpPr>
          <p:spPr>
            <a:xfrm flipV="1">
              <a:off x="2645828" y="5454274"/>
              <a:ext cx="244671" cy="412863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직선 화살표 연결선 191">
              <a:extLst>
                <a:ext uri="{FF2B5EF4-FFF2-40B4-BE49-F238E27FC236}">
                  <a16:creationId xmlns="" xmlns:a16="http://schemas.microsoft.com/office/drawing/2014/main" id="{05DBE6FE-1C02-434B-868A-237E2D4E0C3C}"/>
                </a:ext>
              </a:extLst>
            </p:cNvPr>
            <p:cNvCxnSpPr>
              <a:cxnSpLocks/>
              <a:stCxn id="7" idx="3"/>
              <a:endCxn id="169" idx="3"/>
            </p:cNvCxnSpPr>
            <p:nvPr/>
          </p:nvCxnSpPr>
          <p:spPr>
            <a:xfrm flipV="1">
              <a:off x="3800872" y="5097310"/>
              <a:ext cx="216024" cy="356964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직선 화살표 연결선 194">
              <a:extLst>
                <a:ext uri="{FF2B5EF4-FFF2-40B4-BE49-F238E27FC236}">
                  <a16:creationId xmlns="" xmlns:a16="http://schemas.microsoft.com/office/drawing/2014/main" id="{9DB6EB7D-E7F1-494E-853D-0468395B7EDF}"/>
                </a:ext>
              </a:extLst>
            </p:cNvPr>
            <p:cNvCxnSpPr>
              <a:cxnSpLocks/>
              <a:stCxn id="7" idx="3"/>
              <a:endCxn id="173" idx="3"/>
            </p:cNvCxnSpPr>
            <p:nvPr/>
          </p:nvCxnSpPr>
          <p:spPr>
            <a:xfrm>
              <a:off x="3800872" y="5454274"/>
              <a:ext cx="216024" cy="27950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직선 화살표 연결선 197">
              <a:extLst>
                <a:ext uri="{FF2B5EF4-FFF2-40B4-BE49-F238E27FC236}">
                  <a16:creationId xmlns="" xmlns:a16="http://schemas.microsoft.com/office/drawing/2014/main" id="{C370B7CE-9CC9-460D-9BC1-6B9D8440ED77}"/>
                </a:ext>
              </a:extLst>
            </p:cNvPr>
            <p:cNvCxnSpPr>
              <a:cxnSpLocks/>
              <a:stCxn id="7" idx="3"/>
              <a:endCxn id="177" idx="3"/>
            </p:cNvCxnSpPr>
            <p:nvPr/>
          </p:nvCxnSpPr>
          <p:spPr>
            <a:xfrm>
              <a:off x="3800872" y="5454274"/>
              <a:ext cx="216024" cy="412863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Rectangle 65">
              <a:extLst>
                <a:ext uri="{FF2B5EF4-FFF2-40B4-BE49-F238E27FC236}">
                  <a16:creationId xmlns="" xmlns:a16="http://schemas.microsoft.com/office/drawing/2014/main" id="{8170CE34-8F3F-4A2F-B4DF-A6D54375D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2458" y="2372120"/>
              <a:ext cx="2934877" cy="12807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11" name="Rectangle 65">
              <a:extLst>
                <a:ext uri="{FF2B5EF4-FFF2-40B4-BE49-F238E27FC236}">
                  <a16:creationId xmlns="" xmlns:a16="http://schemas.microsoft.com/office/drawing/2014/main" id="{25A3B527-E33F-45B6-B7FF-C611D7069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2458" y="3715245"/>
              <a:ext cx="2934877" cy="1327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12" name="Rectangle 65">
              <a:extLst>
                <a:ext uri="{FF2B5EF4-FFF2-40B4-BE49-F238E27FC236}">
                  <a16:creationId xmlns="" xmlns:a16="http://schemas.microsoft.com/office/drawing/2014/main" id="{F8F89131-B352-49EE-B3F0-FF2250A2F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2458" y="5081985"/>
              <a:ext cx="2934877" cy="1083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13" name="사각형: 둥근 모서리 212">
              <a:extLst>
                <a:ext uri="{FF2B5EF4-FFF2-40B4-BE49-F238E27FC236}">
                  <a16:creationId xmlns="" xmlns:a16="http://schemas.microsoft.com/office/drawing/2014/main" id="{3B954378-AD02-4B51-B728-8A9D7A33E810}"/>
                </a:ext>
              </a:extLst>
            </p:cNvPr>
            <p:cNvSpPr/>
            <p:nvPr/>
          </p:nvSpPr>
          <p:spPr>
            <a:xfrm>
              <a:off x="5787649" y="2479970"/>
              <a:ext cx="1444494" cy="221964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SLB(L4</a:t>
              </a:r>
              <a:r>
                <a:rPr kumimoji="1" lang="ko-KR" altLang="en-US" sz="1050" kern="0" dirty="0">
                  <a:latin typeface="+mn-ea"/>
                </a:rPr>
                <a:t> 스위치</a:t>
              </a:r>
              <a:r>
                <a:rPr kumimoji="1" lang="en-US" altLang="ko-KR" sz="1050" kern="0" dirty="0">
                  <a:latin typeface="+mn-ea"/>
                </a:rPr>
                <a:t>)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15" name="사각형: 둥근 모서리 214">
              <a:extLst>
                <a:ext uri="{FF2B5EF4-FFF2-40B4-BE49-F238E27FC236}">
                  <a16:creationId xmlns="" xmlns:a16="http://schemas.microsoft.com/office/drawing/2014/main" id="{B73CEAEB-3407-47F6-BF8E-053D6175AF3B}"/>
                </a:ext>
              </a:extLst>
            </p:cNvPr>
            <p:cNvSpPr/>
            <p:nvPr/>
          </p:nvSpPr>
          <p:spPr>
            <a:xfrm>
              <a:off x="5132448" y="3208447"/>
              <a:ext cx="896916" cy="221964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WEB/WAS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16" name="사각형: 둥근 모서리 215">
              <a:extLst>
                <a:ext uri="{FF2B5EF4-FFF2-40B4-BE49-F238E27FC236}">
                  <a16:creationId xmlns="" xmlns:a16="http://schemas.microsoft.com/office/drawing/2014/main" id="{CFC86DC6-D5C8-4327-943B-519AD0973756}"/>
                </a:ext>
              </a:extLst>
            </p:cNvPr>
            <p:cNvSpPr/>
            <p:nvPr/>
          </p:nvSpPr>
          <p:spPr>
            <a:xfrm>
              <a:off x="6075989" y="3208447"/>
              <a:ext cx="896916" cy="221964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WEB/WAS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17" name="사각형: 둥근 모서리 216">
              <a:extLst>
                <a:ext uri="{FF2B5EF4-FFF2-40B4-BE49-F238E27FC236}">
                  <a16:creationId xmlns="" xmlns:a16="http://schemas.microsoft.com/office/drawing/2014/main" id="{D9ED9ECF-5BBA-4318-9B59-2D872705C6B3}"/>
                </a:ext>
              </a:extLst>
            </p:cNvPr>
            <p:cNvSpPr/>
            <p:nvPr/>
          </p:nvSpPr>
          <p:spPr>
            <a:xfrm>
              <a:off x="7019530" y="3208447"/>
              <a:ext cx="896916" cy="221964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WEB/WAS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18" name="원통형 217">
              <a:extLst>
                <a:ext uri="{FF2B5EF4-FFF2-40B4-BE49-F238E27FC236}">
                  <a16:creationId xmlns="" xmlns:a16="http://schemas.microsoft.com/office/drawing/2014/main" id="{9F541E68-DFC1-48D0-9087-F71E1A59418A}"/>
                </a:ext>
              </a:extLst>
            </p:cNvPr>
            <p:cNvSpPr/>
            <p:nvPr/>
          </p:nvSpPr>
          <p:spPr>
            <a:xfrm>
              <a:off x="5189809" y="4001241"/>
              <a:ext cx="566844" cy="375981"/>
            </a:xfrm>
            <a:prstGeom prst="can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주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19" name="원통형 218">
              <a:extLst>
                <a:ext uri="{FF2B5EF4-FFF2-40B4-BE49-F238E27FC236}">
                  <a16:creationId xmlns="" xmlns:a16="http://schemas.microsoft.com/office/drawing/2014/main" id="{752F9488-79D8-4FD1-AF7C-DD41B916249C}"/>
                </a:ext>
              </a:extLst>
            </p:cNvPr>
            <p:cNvSpPr/>
            <p:nvPr/>
          </p:nvSpPr>
          <p:spPr>
            <a:xfrm>
              <a:off x="5880138" y="4001241"/>
              <a:ext cx="566844" cy="375981"/>
            </a:xfrm>
            <a:prstGeom prst="can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주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0" name="원통형 219">
              <a:extLst>
                <a:ext uri="{FF2B5EF4-FFF2-40B4-BE49-F238E27FC236}">
                  <a16:creationId xmlns="" xmlns:a16="http://schemas.microsoft.com/office/drawing/2014/main" id="{58675111-6A24-4AB6-BCF4-E73128B25FDA}"/>
                </a:ext>
              </a:extLst>
            </p:cNvPr>
            <p:cNvSpPr/>
            <p:nvPr/>
          </p:nvSpPr>
          <p:spPr>
            <a:xfrm>
              <a:off x="6570467" y="4001241"/>
              <a:ext cx="566844" cy="375981"/>
            </a:xfrm>
            <a:prstGeom prst="can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주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1" name="원통형 220">
              <a:extLst>
                <a:ext uri="{FF2B5EF4-FFF2-40B4-BE49-F238E27FC236}">
                  <a16:creationId xmlns="" xmlns:a16="http://schemas.microsoft.com/office/drawing/2014/main" id="{B1FA55C3-B2CA-45F1-A127-523399EC44BA}"/>
                </a:ext>
              </a:extLst>
            </p:cNvPr>
            <p:cNvSpPr/>
            <p:nvPr/>
          </p:nvSpPr>
          <p:spPr>
            <a:xfrm>
              <a:off x="7260795" y="4001241"/>
              <a:ext cx="566844" cy="375981"/>
            </a:xfrm>
            <a:prstGeom prst="can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주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2" name="원통형 221">
              <a:extLst>
                <a:ext uri="{FF2B5EF4-FFF2-40B4-BE49-F238E27FC236}">
                  <a16:creationId xmlns="" xmlns:a16="http://schemas.microsoft.com/office/drawing/2014/main" id="{AD073C6D-4483-485A-A608-227BD15A327C}"/>
                </a:ext>
              </a:extLst>
            </p:cNvPr>
            <p:cNvSpPr/>
            <p:nvPr/>
          </p:nvSpPr>
          <p:spPr>
            <a:xfrm>
              <a:off x="5189809" y="4503975"/>
              <a:ext cx="566844" cy="293177"/>
            </a:xfrm>
            <a:prstGeom prst="can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보조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3" name="원통형 222">
              <a:extLst>
                <a:ext uri="{FF2B5EF4-FFF2-40B4-BE49-F238E27FC236}">
                  <a16:creationId xmlns="" xmlns:a16="http://schemas.microsoft.com/office/drawing/2014/main" id="{F587624C-93EB-4661-BD43-BFB8D3FA12D2}"/>
                </a:ext>
              </a:extLst>
            </p:cNvPr>
            <p:cNvSpPr/>
            <p:nvPr/>
          </p:nvSpPr>
          <p:spPr>
            <a:xfrm>
              <a:off x="5880138" y="4503975"/>
              <a:ext cx="566844" cy="293177"/>
            </a:xfrm>
            <a:prstGeom prst="can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보조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4" name="원통형 223">
              <a:extLst>
                <a:ext uri="{FF2B5EF4-FFF2-40B4-BE49-F238E27FC236}">
                  <a16:creationId xmlns="" xmlns:a16="http://schemas.microsoft.com/office/drawing/2014/main" id="{070A87C3-CF7A-4A3A-9756-7E03113E4FE6}"/>
                </a:ext>
              </a:extLst>
            </p:cNvPr>
            <p:cNvSpPr/>
            <p:nvPr/>
          </p:nvSpPr>
          <p:spPr>
            <a:xfrm>
              <a:off x="6570467" y="4503975"/>
              <a:ext cx="566844" cy="293177"/>
            </a:xfrm>
            <a:prstGeom prst="can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보조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5" name="원통형 224">
              <a:extLst>
                <a:ext uri="{FF2B5EF4-FFF2-40B4-BE49-F238E27FC236}">
                  <a16:creationId xmlns="" xmlns:a16="http://schemas.microsoft.com/office/drawing/2014/main" id="{53C7E901-5CE9-45AC-880E-32C7FF07BB0E}"/>
                </a:ext>
              </a:extLst>
            </p:cNvPr>
            <p:cNvSpPr/>
            <p:nvPr/>
          </p:nvSpPr>
          <p:spPr>
            <a:xfrm>
              <a:off x="7260795" y="4503975"/>
              <a:ext cx="566844" cy="293177"/>
            </a:xfrm>
            <a:prstGeom prst="can">
              <a:avLst/>
            </a:prstGeom>
            <a:solidFill>
              <a:schemeClr val="accent2">
                <a:lumMod val="60000"/>
                <a:lumOff val="40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보조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DB</a:t>
              </a:r>
              <a:endParaRPr kumimoji="1" lang="ko-KR" altLang="en-US" sz="1050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26" name="Rectangle 67">
              <a:extLst>
                <a:ext uri="{FF2B5EF4-FFF2-40B4-BE49-F238E27FC236}">
                  <a16:creationId xmlns="" xmlns:a16="http://schemas.microsoft.com/office/drawing/2014/main" id="{EE308917-931E-4E05-9496-DA91B15C2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756" y="4314301"/>
              <a:ext cx="2520280" cy="216986"/>
            </a:xfrm>
            <a:prstGeom prst="rect">
              <a:avLst/>
            </a:prstGeom>
            <a:solidFill>
              <a:srgbClr val="003058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solidFill>
                    <a:srgbClr val="FFFFFF"/>
                  </a:solidFill>
                  <a:latin typeface="+mn-ea"/>
                </a:rPr>
                <a:t>DB </a:t>
              </a: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복제</a:t>
              </a:r>
              <a:r>
                <a:rPr kumimoji="1" lang="en-US" altLang="ko-KR" sz="1050" kern="0" dirty="0">
                  <a:solidFill>
                    <a:srgbClr val="FFFFFF"/>
                  </a:solidFill>
                  <a:latin typeface="+mn-ea"/>
                </a:rPr>
                <a:t>(</a:t>
              </a: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이중화</a:t>
              </a:r>
              <a:r>
                <a:rPr kumimoji="1" lang="en-US" altLang="ko-KR" sz="1050" kern="0" dirty="0">
                  <a:solidFill>
                    <a:srgbClr val="FFFFFF"/>
                  </a:solidFill>
                  <a:latin typeface="+mn-ea"/>
                </a:rPr>
                <a:t>)</a:t>
              </a:r>
              <a:endParaRPr kumimoji="1" lang="ko-KR" altLang="en-US" sz="1050" kern="0" dirty="0">
                <a:solidFill>
                  <a:srgbClr val="FFFFFF"/>
                </a:solidFill>
                <a:latin typeface="+mn-ea"/>
              </a:endParaRPr>
            </a:p>
          </p:txBody>
        </p:sp>
        <p:sp>
          <p:nvSpPr>
            <p:cNvPr id="227" name="Rectangle 67">
              <a:extLst>
                <a:ext uri="{FF2B5EF4-FFF2-40B4-BE49-F238E27FC236}">
                  <a16:creationId xmlns="" xmlns:a16="http://schemas.microsoft.com/office/drawing/2014/main" id="{696EEC2D-D706-414E-AF0D-3CA809B9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741" y="5937304"/>
              <a:ext cx="2856311" cy="196435"/>
            </a:xfrm>
            <a:prstGeom prst="rect">
              <a:avLst/>
            </a:prstGeom>
            <a:solidFill>
              <a:sysClr val="windowText" lastClr="000000">
                <a:lumMod val="50000"/>
                <a:lumOff val="50000"/>
              </a:sysClr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schemeClr val="bg1"/>
                  </a:solidFill>
                  <a:latin typeface="+mn-ea"/>
                </a:rPr>
                <a:t>가상화 관리 시스템</a:t>
              </a:r>
            </a:p>
          </p:txBody>
        </p:sp>
        <p:sp>
          <p:nvSpPr>
            <p:cNvPr id="228" name="Rectangle 67">
              <a:extLst>
                <a:ext uri="{FF2B5EF4-FFF2-40B4-BE49-F238E27FC236}">
                  <a16:creationId xmlns="" xmlns:a16="http://schemas.microsoft.com/office/drawing/2014/main" id="{DE157340-0019-431F-913C-1C4F9B3FA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741" y="5676602"/>
              <a:ext cx="1224000" cy="216986"/>
            </a:xfrm>
            <a:prstGeom prst="rect">
              <a:avLst/>
            </a:prstGeom>
            <a:solidFill>
              <a:srgbClr val="003058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하이퍼바이저</a:t>
              </a:r>
            </a:p>
          </p:txBody>
        </p:sp>
        <p:sp>
          <p:nvSpPr>
            <p:cNvPr id="229" name="Rectangle 67">
              <a:extLst>
                <a:ext uri="{FF2B5EF4-FFF2-40B4-BE49-F238E27FC236}">
                  <a16:creationId xmlns="" xmlns:a16="http://schemas.microsoft.com/office/drawing/2014/main" id="{F70F423F-28F5-49D4-ACCF-6E34FA38A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4052" y="5676602"/>
              <a:ext cx="1224000" cy="216986"/>
            </a:xfrm>
            <a:prstGeom prst="rect">
              <a:avLst/>
            </a:prstGeom>
            <a:solidFill>
              <a:srgbClr val="003058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하이퍼바이저</a:t>
              </a:r>
            </a:p>
          </p:txBody>
        </p:sp>
        <p:sp>
          <p:nvSpPr>
            <p:cNvPr id="230" name="사각형: 둥근 모서리 229">
              <a:extLst>
                <a:ext uri="{FF2B5EF4-FFF2-40B4-BE49-F238E27FC236}">
                  <a16:creationId xmlns="" xmlns:a16="http://schemas.microsoft.com/office/drawing/2014/main" id="{9624A669-5547-439D-89A5-76E794486777}"/>
                </a:ext>
              </a:extLst>
            </p:cNvPr>
            <p:cNvSpPr/>
            <p:nvPr/>
          </p:nvSpPr>
          <p:spPr>
            <a:xfrm>
              <a:off x="5071077" y="5115664"/>
              <a:ext cx="612000" cy="54396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0" anchor="b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VM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31" name="사각형: 둥근 모서리 230">
              <a:extLst>
                <a:ext uri="{FF2B5EF4-FFF2-40B4-BE49-F238E27FC236}">
                  <a16:creationId xmlns="" xmlns:a16="http://schemas.microsoft.com/office/drawing/2014/main" id="{830447E5-F313-4ED1-92CF-AD45ACBFAAFD}"/>
                </a:ext>
              </a:extLst>
            </p:cNvPr>
            <p:cNvSpPr/>
            <p:nvPr/>
          </p:nvSpPr>
          <p:spPr>
            <a:xfrm>
              <a:off x="5693741" y="5115664"/>
              <a:ext cx="612000" cy="54396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0" anchor="b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VM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32" name="사각형: 둥근 모서리 231">
              <a:extLst>
                <a:ext uri="{FF2B5EF4-FFF2-40B4-BE49-F238E27FC236}">
                  <a16:creationId xmlns="" xmlns:a16="http://schemas.microsoft.com/office/drawing/2014/main" id="{607017B5-C7BE-43C6-B6A6-B9DDFA371FAC}"/>
                </a:ext>
              </a:extLst>
            </p:cNvPr>
            <p:cNvSpPr/>
            <p:nvPr/>
          </p:nvSpPr>
          <p:spPr>
            <a:xfrm>
              <a:off x="5102760" y="5141952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SW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33" name="사각형: 둥근 모서리 232">
              <a:extLst>
                <a:ext uri="{FF2B5EF4-FFF2-40B4-BE49-F238E27FC236}">
                  <a16:creationId xmlns="" xmlns:a16="http://schemas.microsoft.com/office/drawing/2014/main" id="{2235A77F-A5BE-48EB-A913-66C96AA32B89}"/>
                </a:ext>
              </a:extLst>
            </p:cNvPr>
            <p:cNvSpPr/>
            <p:nvPr/>
          </p:nvSpPr>
          <p:spPr>
            <a:xfrm>
              <a:off x="5102760" y="5352433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OS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34" name="사각형: 둥근 모서리 233">
              <a:extLst>
                <a:ext uri="{FF2B5EF4-FFF2-40B4-BE49-F238E27FC236}">
                  <a16:creationId xmlns="" xmlns:a16="http://schemas.microsoft.com/office/drawing/2014/main" id="{1DE5064B-88FD-4B8D-B686-00694921D5D0}"/>
                </a:ext>
              </a:extLst>
            </p:cNvPr>
            <p:cNvSpPr/>
            <p:nvPr/>
          </p:nvSpPr>
          <p:spPr>
            <a:xfrm>
              <a:off x="5741485" y="5141952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SW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35" name="사각형: 둥근 모서리 234">
              <a:extLst>
                <a:ext uri="{FF2B5EF4-FFF2-40B4-BE49-F238E27FC236}">
                  <a16:creationId xmlns="" xmlns:a16="http://schemas.microsoft.com/office/drawing/2014/main" id="{F2626A67-5517-47E7-AB89-A4EECC3ACAD8}"/>
                </a:ext>
              </a:extLst>
            </p:cNvPr>
            <p:cNvSpPr/>
            <p:nvPr/>
          </p:nvSpPr>
          <p:spPr>
            <a:xfrm>
              <a:off x="5741485" y="5352433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OS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="" xmlns:a16="http://schemas.microsoft.com/office/drawing/2014/main" id="{48B0FA50-430A-42AE-B281-F1DBA659165A}"/>
                </a:ext>
              </a:extLst>
            </p:cNvPr>
            <p:cNvSpPr/>
            <p:nvPr/>
          </p:nvSpPr>
          <p:spPr>
            <a:xfrm>
              <a:off x="6700242" y="5115664"/>
              <a:ext cx="612000" cy="54396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0" anchor="b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VM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="" xmlns:a16="http://schemas.microsoft.com/office/drawing/2014/main" id="{78465B70-3AF3-4E02-89CE-AF15FE4FDD9C}"/>
                </a:ext>
              </a:extLst>
            </p:cNvPr>
            <p:cNvSpPr/>
            <p:nvPr/>
          </p:nvSpPr>
          <p:spPr>
            <a:xfrm>
              <a:off x="7322906" y="5115664"/>
              <a:ext cx="612000" cy="54396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0" anchor="b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50" kern="0" dirty="0">
                  <a:latin typeface="+mn-ea"/>
                </a:rPr>
                <a:t>VM</a:t>
              </a:r>
              <a:endParaRPr kumimoji="1" lang="ko-KR" altLang="en-US" sz="1050" kern="0" dirty="0">
                <a:latin typeface="+mn-ea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="" xmlns:a16="http://schemas.microsoft.com/office/drawing/2014/main" id="{53B72D97-01D5-406C-9B0F-4B140B060D94}"/>
                </a:ext>
              </a:extLst>
            </p:cNvPr>
            <p:cNvSpPr/>
            <p:nvPr/>
          </p:nvSpPr>
          <p:spPr>
            <a:xfrm>
              <a:off x="6731925" y="5141952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SW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39" name="사각형: 둥근 모서리 238">
              <a:extLst>
                <a:ext uri="{FF2B5EF4-FFF2-40B4-BE49-F238E27FC236}">
                  <a16:creationId xmlns="" xmlns:a16="http://schemas.microsoft.com/office/drawing/2014/main" id="{EEA487FF-25D2-487D-8DCF-CA383445C7D6}"/>
                </a:ext>
              </a:extLst>
            </p:cNvPr>
            <p:cNvSpPr/>
            <p:nvPr/>
          </p:nvSpPr>
          <p:spPr>
            <a:xfrm>
              <a:off x="6731925" y="5352433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OS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40" name="사각형: 둥근 모서리 239">
              <a:extLst>
                <a:ext uri="{FF2B5EF4-FFF2-40B4-BE49-F238E27FC236}">
                  <a16:creationId xmlns="" xmlns:a16="http://schemas.microsoft.com/office/drawing/2014/main" id="{9663E4BD-4F37-4F44-843E-44829C7C7C01}"/>
                </a:ext>
              </a:extLst>
            </p:cNvPr>
            <p:cNvSpPr/>
            <p:nvPr/>
          </p:nvSpPr>
          <p:spPr>
            <a:xfrm>
              <a:off x="7370650" y="5141952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SW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41" name="사각형: 둥근 모서리 240">
              <a:extLst>
                <a:ext uri="{FF2B5EF4-FFF2-40B4-BE49-F238E27FC236}">
                  <a16:creationId xmlns="" xmlns:a16="http://schemas.microsoft.com/office/drawing/2014/main" id="{6245E709-9B2D-497C-8630-25B70E4463D1}"/>
                </a:ext>
              </a:extLst>
            </p:cNvPr>
            <p:cNvSpPr/>
            <p:nvPr/>
          </p:nvSpPr>
          <p:spPr>
            <a:xfrm>
              <a:off x="7370650" y="5352433"/>
              <a:ext cx="535697" cy="166765"/>
            </a:xfrm>
            <a:prstGeom prst="roundRect">
              <a:avLst/>
            </a:prstGeom>
            <a:solidFill>
              <a:schemeClr val="bg1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en-US" altLang="ko-KR" sz="1000" kern="0" dirty="0">
                  <a:latin typeface="+mn-ea"/>
                </a:rPr>
                <a:t>OS</a:t>
              </a:r>
              <a:endParaRPr kumimoji="1" lang="ko-KR" altLang="en-US" sz="1000" kern="0" dirty="0">
                <a:latin typeface="+mn-ea"/>
              </a:endParaRPr>
            </a:p>
          </p:txBody>
        </p:sp>
        <p:sp>
          <p:nvSpPr>
            <p:cNvPr id="242" name="AutoShape 35">
              <a:extLst>
                <a:ext uri="{FF2B5EF4-FFF2-40B4-BE49-F238E27FC236}">
                  <a16:creationId xmlns="" xmlns:a16="http://schemas.microsoft.com/office/drawing/2014/main" id="{6560324D-0A67-41D3-B4A9-D96657685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4384" y="5366048"/>
              <a:ext cx="468488" cy="151184"/>
            </a:xfrm>
            <a:prstGeom prst="rect">
              <a:avLst/>
            </a:prstGeom>
            <a:noFill/>
            <a:effectLst>
              <a:glow rad="101600">
                <a:srgbClr val="E6E6E6">
                  <a:alpha val="60000"/>
                </a:srgbClr>
              </a:glow>
            </a:effectLst>
            <a:extLst/>
          </p:spPr>
          <p:txBody>
            <a:bodyPr wrap="square" rtlCol="0" anchor="ctr">
              <a:noAutofit/>
            </a:bodyPr>
            <a:lstStyle/>
            <a:p>
              <a:pPr algn="ctr" fontAlgn="base">
                <a:spcAft>
                  <a:spcPts val="120"/>
                </a:spcAft>
                <a:buClr>
                  <a:srgbClr val="7F7F7F"/>
                </a:buClr>
                <a:buSzPct val="110000"/>
                <a:tabLst>
                  <a:tab pos="628650" algn="l"/>
                </a:tabLst>
              </a:pPr>
              <a:r>
                <a:rPr lang="en-US" altLang="ko-KR" b="1" kern="0" dirty="0">
                  <a:ln>
                    <a:solidFill>
                      <a:srgbClr val="808080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…</a:t>
              </a:r>
              <a:endParaRPr lang="ko-KR" altLang="en-US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cxnSp>
          <p:nvCxnSpPr>
            <p:cNvPr id="243" name="직선 화살표 연결선 242">
              <a:extLst>
                <a:ext uri="{FF2B5EF4-FFF2-40B4-BE49-F238E27FC236}">
                  <a16:creationId xmlns="" xmlns:a16="http://schemas.microsoft.com/office/drawing/2014/main" id="{5BB64EA3-50AD-4F62-89A7-3F9E42FA2AF8}"/>
                </a:ext>
              </a:extLst>
            </p:cNvPr>
            <p:cNvCxnSpPr>
              <a:cxnSpLocks/>
              <a:stCxn id="213" idx="2"/>
              <a:endCxn id="215" idx="0"/>
            </p:cNvCxnSpPr>
            <p:nvPr/>
          </p:nvCxnSpPr>
          <p:spPr>
            <a:xfrm flipH="1">
              <a:off x="5580906" y="2701934"/>
              <a:ext cx="928990" cy="506513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직선 화살표 연결선 245">
              <a:extLst>
                <a:ext uri="{FF2B5EF4-FFF2-40B4-BE49-F238E27FC236}">
                  <a16:creationId xmlns="" xmlns:a16="http://schemas.microsoft.com/office/drawing/2014/main" id="{1422B56D-543A-4302-9F5E-60B3BBDBBC8F}"/>
                </a:ext>
              </a:extLst>
            </p:cNvPr>
            <p:cNvCxnSpPr>
              <a:cxnSpLocks/>
              <a:stCxn id="213" idx="2"/>
              <a:endCxn id="216" idx="0"/>
            </p:cNvCxnSpPr>
            <p:nvPr/>
          </p:nvCxnSpPr>
          <p:spPr>
            <a:xfrm>
              <a:off x="6509896" y="2701934"/>
              <a:ext cx="14551" cy="506513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직선 화살표 연결선 248">
              <a:extLst>
                <a:ext uri="{FF2B5EF4-FFF2-40B4-BE49-F238E27FC236}">
                  <a16:creationId xmlns="" xmlns:a16="http://schemas.microsoft.com/office/drawing/2014/main" id="{DC374383-9DD6-4457-8469-DAF0B0F34E08}"/>
                </a:ext>
              </a:extLst>
            </p:cNvPr>
            <p:cNvCxnSpPr>
              <a:cxnSpLocks/>
              <a:stCxn id="213" idx="2"/>
              <a:endCxn id="217" idx="0"/>
            </p:cNvCxnSpPr>
            <p:nvPr/>
          </p:nvCxnSpPr>
          <p:spPr>
            <a:xfrm>
              <a:off x="6509896" y="2701934"/>
              <a:ext cx="958092" cy="506513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oval"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Rectangle 67">
              <a:extLst>
                <a:ext uri="{FF2B5EF4-FFF2-40B4-BE49-F238E27FC236}">
                  <a16:creationId xmlns="" xmlns:a16="http://schemas.microsoft.com/office/drawing/2014/main" id="{0CE0B543-8CF3-466C-B70C-4A681EFB9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756" y="2851792"/>
              <a:ext cx="2520280" cy="196435"/>
            </a:xfrm>
            <a:prstGeom prst="rect">
              <a:avLst/>
            </a:prstGeom>
            <a:solidFill>
              <a:srgbClr val="003058"/>
            </a:solidFill>
            <a:ln w="6350" algn="ctr">
              <a:solidFill>
                <a:schemeClr val="tx1">
                  <a:lumMod val="65000"/>
                  <a:lumOff val="35000"/>
                </a:schemeClr>
              </a:solidFill>
              <a:miter lim="800000"/>
              <a:headEnd/>
              <a:tailEnd/>
            </a:ln>
            <a:effectLst/>
          </p:spPr>
          <p:txBody>
            <a:bodyPr wrap="square" lIns="72000" tIns="36000" rIns="72000" bIns="36000" anchor="ctr"/>
            <a:lstStyle/>
            <a:p>
              <a:pPr algn="ctr" eaLnBrk="0" fontAlgn="base" latinLnBrk="0" hangingPunct="0">
                <a:spcAft>
                  <a:spcPct val="0"/>
                </a:spcAft>
              </a:pP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웹</a:t>
              </a:r>
              <a:r>
                <a:rPr kumimoji="1" lang="en-US" altLang="ko-KR" sz="1050" kern="0" dirty="0">
                  <a:solidFill>
                    <a:srgbClr val="FFFFFF"/>
                  </a:solidFill>
                  <a:latin typeface="+mn-ea"/>
                </a:rPr>
                <a:t> Load Balance / </a:t>
              </a:r>
              <a:r>
                <a:rPr kumimoji="1" lang="ko-KR" altLang="en-US" sz="1050" kern="0" dirty="0">
                  <a:solidFill>
                    <a:srgbClr val="FFFFFF"/>
                  </a:solidFill>
                  <a:latin typeface="+mn-ea"/>
                </a:rPr>
                <a:t>세션 </a:t>
              </a:r>
              <a:r>
                <a:rPr kumimoji="1" lang="en-US" altLang="ko-KR" sz="1050" kern="0" dirty="0">
                  <a:solidFill>
                    <a:srgbClr val="FFFFFF"/>
                  </a:solidFill>
                  <a:latin typeface="+mn-ea"/>
                </a:rPr>
                <a:t>Cluster</a:t>
              </a:r>
              <a:endParaRPr kumimoji="1" lang="ko-KR" altLang="en-US" sz="1050" kern="0" dirty="0">
                <a:solidFill>
                  <a:srgbClr val="FFFFFF"/>
                </a:solidFill>
                <a:latin typeface="+mn-ea"/>
              </a:endParaRPr>
            </a:p>
          </p:txBody>
        </p:sp>
        <p:cxnSp>
          <p:nvCxnSpPr>
            <p:cNvPr id="253" name="직선 화살표 연결선 252">
              <a:extLst>
                <a:ext uri="{FF2B5EF4-FFF2-40B4-BE49-F238E27FC236}">
                  <a16:creationId xmlns="" xmlns:a16="http://schemas.microsoft.com/office/drawing/2014/main" id="{FFBD6091-5F61-4DED-9A17-675F82711146}"/>
                </a:ext>
              </a:extLst>
            </p:cNvPr>
            <p:cNvCxnSpPr>
              <a:cxnSpLocks/>
              <a:stCxn id="215" idx="2"/>
              <a:endCxn id="218" idx="1"/>
            </p:cNvCxnSpPr>
            <p:nvPr/>
          </p:nvCxnSpPr>
          <p:spPr>
            <a:xfrm flipH="1">
              <a:off x="5473231" y="3430411"/>
              <a:ext cx="107675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화살표 연결선 255">
              <a:extLst>
                <a:ext uri="{FF2B5EF4-FFF2-40B4-BE49-F238E27FC236}">
                  <a16:creationId xmlns="" xmlns:a16="http://schemas.microsoft.com/office/drawing/2014/main" id="{9096EBEC-5008-4203-9C2E-0956F34B6701}"/>
                </a:ext>
              </a:extLst>
            </p:cNvPr>
            <p:cNvCxnSpPr>
              <a:cxnSpLocks/>
              <a:stCxn id="215" idx="2"/>
              <a:endCxn id="219" idx="1"/>
            </p:cNvCxnSpPr>
            <p:nvPr/>
          </p:nvCxnSpPr>
          <p:spPr>
            <a:xfrm>
              <a:off x="5580906" y="3430411"/>
              <a:ext cx="582654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화살표 연결선 258">
              <a:extLst>
                <a:ext uri="{FF2B5EF4-FFF2-40B4-BE49-F238E27FC236}">
                  <a16:creationId xmlns="" xmlns:a16="http://schemas.microsoft.com/office/drawing/2014/main" id="{96ADD271-9B63-4946-A87D-392F6E3742E9}"/>
                </a:ext>
              </a:extLst>
            </p:cNvPr>
            <p:cNvCxnSpPr>
              <a:cxnSpLocks/>
              <a:stCxn id="215" idx="2"/>
              <a:endCxn id="220" idx="1"/>
            </p:cNvCxnSpPr>
            <p:nvPr/>
          </p:nvCxnSpPr>
          <p:spPr>
            <a:xfrm>
              <a:off x="5580906" y="3430411"/>
              <a:ext cx="1272983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직선 화살표 연결선 263">
              <a:extLst>
                <a:ext uri="{FF2B5EF4-FFF2-40B4-BE49-F238E27FC236}">
                  <a16:creationId xmlns="" xmlns:a16="http://schemas.microsoft.com/office/drawing/2014/main" id="{2922E267-478D-4E55-BE6F-44A697BDE0A8}"/>
                </a:ext>
              </a:extLst>
            </p:cNvPr>
            <p:cNvCxnSpPr>
              <a:cxnSpLocks/>
              <a:stCxn id="215" idx="2"/>
              <a:endCxn id="221" idx="1"/>
            </p:cNvCxnSpPr>
            <p:nvPr/>
          </p:nvCxnSpPr>
          <p:spPr>
            <a:xfrm>
              <a:off x="5580906" y="3430411"/>
              <a:ext cx="1963311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직선 화살표 연결선 266">
              <a:extLst>
                <a:ext uri="{FF2B5EF4-FFF2-40B4-BE49-F238E27FC236}">
                  <a16:creationId xmlns="" xmlns:a16="http://schemas.microsoft.com/office/drawing/2014/main" id="{37E9C460-A4DC-4D4C-8D61-4554FDCF36A8}"/>
                </a:ext>
              </a:extLst>
            </p:cNvPr>
            <p:cNvCxnSpPr>
              <a:cxnSpLocks/>
              <a:stCxn id="216" idx="2"/>
              <a:endCxn id="218" idx="1"/>
            </p:cNvCxnSpPr>
            <p:nvPr/>
          </p:nvCxnSpPr>
          <p:spPr>
            <a:xfrm flipH="1">
              <a:off x="5473231" y="3430411"/>
              <a:ext cx="1051216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직선 화살표 연결선 270">
              <a:extLst>
                <a:ext uri="{FF2B5EF4-FFF2-40B4-BE49-F238E27FC236}">
                  <a16:creationId xmlns="" xmlns:a16="http://schemas.microsoft.com/office/drawing/2014/main" id="{C0C4383A-D4F3-438E-8984-1ADEA9806F5B}"/>
                </a:ext>
              </a:extLst>
            </p:cNvPr>
            <p:cNvCxnSpPr>
              <a:cxnSpLocks/>
              <a:stCxn id="216" idx="2"/>
              <a:endCxn id="219" idx="1"/>
            </p:cNvCxnSpPr>
            <p:nvPr/>
          </p:nvCxnSpPr>
          <p:spPr>
            <a:xfrm flipH="1">
              <a:off x="6163560" y="3430411"/>
              <a:ext cx="360887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직선 화살표 연결선 273">
              <a:extLst>
                <a:ext uri="{FF2B5EF4-FFF2-40B4-BE49-F238E27FC236}">
                  <a16:creationId xmlns="" xmlns:a16="http://schemas.microsoft.com/office/drawing/2014/main" id="{BEC0B531-F8E4-4F00-A03E-A6FD248CEDD1}"/>
                </a:ext>
              </a:extLst>
            </p:cNvPr>
            <p:cNvCxnSpPr>
              <a:cxnSpLocks/>
              <a:stCxn id="216" idx="2"/>
              <a:endCxn id="220" idx="1"/>
            </p:cNvCxnSpPr>
            <p:nvPr/>
          </p:nvCxnSpPr>
          <p:spPr>
            <a:xfrm>
              <a:off x="6524447" y="3430411"/>
              <a:ext cx="329442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직선 화살표 연결선 276">
              <a:extLst>
                <a:ext uri="{FF2B5EF4-FFF2-40B4-BE49-F238E27FC236}">
                  <a16:creationId xmlns="" xmlns:a16="http://schemas.microsoft.com/office/drawing/2014/main" id="{B85F2A16-5791-48B6-B5F0-BBEF3C2F20EF}"/>
                </a:ext>
              </a:extLst>
            </p:cNvPr>
            <p:cNvCxnSpPr>
              <a:cxnSpLocks/>
              <a:stCxn id="216" idx="2"/>
              <a:endCxn id="221" idx="1"/>
            </p:cNvCxnSpPr>
            <p:nvPr/>
          </p:nvCxnSpPr>
          <p:spPr>
            <a:xfrm>
              <a:off x="6524447" y="3430411"/>
              <a:ext cx="1019770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직선 화살표 연결선 279">
              <a:extLst>
                <a:ext uri="{FF2B5EF4-FFF2-40B4-BE49-F238E27FC236}">
                  <a16:creationId xmlns="" xmlns:a16="http://schemas.microsoft.com/office/drawing/2014/main" id="{F1481AF6-E479-4630-9E83-1FAF5256A5BD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 flipH="1">
              <a:off x="5499365" y="3430411"/>
              <a:ext cx="1968623" cy="567891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화살표 연결선 283">
              <a:extLst>
                <a:ext uri="{FF2B5EF4-FFF2-40B4-BE49-F238E27FC236}">
                  <a16:creationId xmlns="" xmlns:a16="http://schemas.microsoft.com/office/drawing/2014/main" id="{4FBB1D2B-0A32-49DC-B2F7-84E2BB0408A2}"/>
                </a:ext>
              </a:extLst>
            </p:cNvPr>
            <p:cNvCxnSpPr>
              <a:cxnSpLocks/>
              <a:stCxn id="217" idx="2"/>
              <a:endCxn id="219" idx="1"/>
            </p:cNvCxnSpPr>
            <p:nvPr/>
          </p:nvCxnSpPr>
          <p:spPr>
            <a:xfrm flipH="1">
              <a:off x="6163560" y="3430411"/>
              <a:ext cx="1304428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화살표 연결선 286">
              <a:extLst>
                <a:ext uri="{FF2B5EF4-FFF2-40B4-BE49-F238E27FC236}">
                  <a16:creationId xmlns="" xmlns:a16="http://schemas.microsoft.com/office/drawing/2014/main" id="{49887B8F-8B63-4301-B7C1-3C96DE8E5EB9}"/>
                </a:ext>
              </a:extLst>
            </p:cNvPr>
            <p:cNvCxnSpPr>
              <a:cxnSpLocks/>
              <a:stCxn id="217" idx="2"/>
              <a:endCxn id="220" idx="1"/>
            </p:cNvCxnSpPr>
            <p:nvPr/>
          </p:nvCxnSpPr>
          <p:spPr>
            <a:xfrm flipH="1">
              <a:off x="6853889" y="3430411"/>
              <a:ext cx="614099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화살표 연결선 289">
              <a:extLst>
                <a:ext uri="{FF2B5EF4-FFF2-40B4-BE49-F238E27FC236}">
                  <a16:creationId xmlns="" xmlns:a16="http://schemas.microsoft.com/office/drawing/2014/main" id="{42ECA1A7-68F1-4350-93ED-14352C91ABCB}"/>
                </a:ext>
              </a:extLst>
            </p:cNvPr>
            <p:cNvCxnSpPr>
              <a:cxnSpLocks/>
              <a:stCxn id="217" idx="2"/>
              <a:endCxn id="221" idx="1"/>
            </p:cNvCxnSpPr>
            <p:nvPr/>
          </p:nvCxnSpPr>
          <p:spPr>
            <a:xfrm>
              <a:off x="7467988" y="3430411"/>
              <a:ext cx="76229" cy="570830"/>
            </a:xfrm>
            <a:prstGeom prst="straightConnector1">
              <a:avLst/>
            </a:prstGeom>
            <a:ln w="12700">
              <a:solidFill>
                <a:srgbClr val="0070C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3" name="Rectangle 62">
            <a:extLst>
              <a:ext uri="{FF2B5EF4-FFF2-40B4-BE49-F238E27FC236}">
                <a16:creationId xmlns="" xmlns:a16="http://schemas.microsoft.com/office/drawing/2014/main" id="{C4BFA594-ACB8-4FFD-886E-7CE869A96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4844" y="2045799"/>
            <a:ext cx="1401607" cy="1607047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marL="171450" indent="-171450" eaLnBrk="0" fontAlgn="base" latinLnBrk="0" hangingPunct="0">
              <a:spcBef>
                <a:spcPts val="3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서비스 부하 분산을 위한 로드 밸런싱</a:t>
            </a:r>
          </a:p>
          <a:p>
            <a:pPr marL="171450" indent="-171450" eaLnBrk="0" fontAlgn="base" latinLnBrk="0" hangingPunct="0">
              <a:spcBef>
                <a:spcPts val="3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서비스 중단 최소화를 위한 </a:t>
            </a: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fail-over, </a:t>
            </a: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세션 클러스터링</a:t>
            </a:r>
          </a:p>
          <a:p>
            <a:pPr marL="171450" indent="-171450" eaLnBrk="0" fontAlgn="base" latinLnBrk="0" hangingPunct="0">
              <a:spcBef>
                <a:spcPts val="3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서버 가상화 기반 가상머신 할당</a:t>
            </a:r>
          </a:p>
        </p:txBody>
      </p:sp>
      <p:sp>
        <p:nvSpPr>
          <p:cNvPr id="294" name="Rectangle 62">
            <a:extLst>
              <a:ext uri="{FF2B5EF4-FFF2-40B4-BE49-F238E27FC236}">
                <a16:creationId xmlns="" xmlns:a16="http://schemas.microsoft.com/office/drawing/2014/main" id="{B1DD0325-58EB-4EA6-8429-8DE6D662E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4844" y="3714356"/>
            <a:ext cx="1401607" cy="1305555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DB</a:t>
            </a: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이중화</a:t>
            </a: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(HA)</a:t>
            </a:r>
          </a:p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데이터복제 기능</a:t>
            </a:r>
          </a:p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통합</a:t>
            </a: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DB </a:t>
            </a: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또는 시스템별 </a:t>
            </a:r>
            <a:r>
              <a:rPr kumimoji="1" lang="en-US" altLang="ko-KR" sz="1100" b="1" kern="0" dirty="0">
                <a:solidFill>
                  <a:schemeClr val="bg1"/>
                </a:solidFill>
                <a:latin typeface="+mn-ea"/>
              </a:rPr>
              <a:t>DB </a:t>
            </a: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분리 구성</a:t>
            </a:r>
          </a:p>
        </p:txBody>
      </p:sp>
      <p:sp>
        <p:nvSpPr>
          <p:cNvPr id="295" name="Rectangle 62">
            <a:extLst>
              <a:ext uri="{FF2B5EF4-FFF2-40B4-BE49-F238E27FC236}">
                <a16:creationId xmlns="" xmlns:a16="http://schemas.microsoft.com/office/drawing/2014/main" id="{70BC97B2-B388-4AD8-A40C-CC8870652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4844" y="5097310"/>
            <a:ext cx="1401607" cy="113367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자원 동적배치</a:t>
            </a:r>
          </a:p>
          <a:p>
            <a:pPr marL="171450" indent="-171450" eaLnBrk="0" fontAlgn="base" latinLnBrk="0" hangingPunct="0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solidFill>
                  <a:schemeClr val="bg1"/>
                </a:solidFill>
                <a:latin typeface="+mn-ea"/>
              </a:rPr>
              <a:t>매니저 기반의 가상화 통합 시스템 구축</a:t>
            </a:r>
          </a:p>
        </p:txBody>
      </p:sp>
    </p:spTree>
    <p:extLst>
      <p:ext uri="{BB962C8B-B14F-4D97-AF65-F5344CB8AC3E}">
        <p14:creationId xmlns:p14="http://schemas.microsoft.com/office/powerpoint/2010/main" val="230921045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mtClean="0"/>
              <a:t>경영정보시스템 </a:t>
            </a:r>
            <a:r>
              <a:rPr lang="ko-KR" altLang="en-US" dirty="0"/>
              <a:t>응용 아키텍처는 계층별로</a:t>
            </a:r>
            <a:r>
              <a:rPr lang="en-US" altLang="ko-KR" dirty="0"/>
              <a:t>(Layered) </a:t>
            </a:r>
            <a:r>
              <a:rPr lang="ko-KR" altLang="en-US" dirty="0"/>
              <a:t>어플리케이션을 구성하는 컴포넌트</a:t>
            </a:r>
            <a:r>
              <a:rPr lang="en-US" altLang="ko-KR" dirty="0"/>
              <a:t>, </a:t>
            </a:r>
            <a:r>
              <a:rPr lang="ko-KR" altLang="en-US" dirty="0"/>
              <a:t>컴포넌트의 상호 관계</a:t>
            </a:r>
            <a:r>
              <a:rPr lang="en-US" altLang="ko-KR" dirty="0"/>
              <a:t>, </a:t>
            </a:r>
            <a:r>
              <a:rPr lang="ko-KR" altLang="en-US" dirty="0"/>
              <a:t>각 컴포넌트간의 호출 통신 인터페이스에 대한 패턴과 프로토콜로 구성함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2.8 </a:t>
            </a:r>
            <a:r>
              <a:rPr lang="ko-KR" altLang="en-US" smtClean="0"/>
              <a:t>응용 아키텍처</a:t>
            </a:r>
            <a:r>
              <a:rPr lang="en-US" altLang="ko-KR" smtClean="0"/>
              <a:t>(</a:t>
            </a:r>
            <a:r>
              <a:rPr lang="en-US" altLang="ko-KR"/>
              <a:t>AA)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2.8.3 </a:t>
            </a:r>
            <a:r>
              <a:rPr lang="ko-KR" altLang="en-US" sz="1800" smtClean="0"/>
              <a:t>아키덱쳐 구성도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2.8 </a:t>
            </a:r>
            <a:r>
              <a:rPr lang="ko-KR" altLang="en-US" smtClean="0"/>
              <a:t>응용 아키텍쳐 </a:t>
            </a:r>
            <a:r>
              <a:rPr lang="ko-KR" altLang="en-US"/>
              <a:t>표준</a:t>
            </a:r>
            <a:endParaRPr lang="en-US" altLang="ko-KR" dirty="0"/>
          </a:p>
        </p:txBody>
      </p:sp>
      <p:grpSp>
        <p:nvGrpSpPr>
          <p:cNvPr id="5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응용 아키텍처 구성도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8" name="직사각형 7">
            <a:extLst>
              <a:ext uri="{FF2B5EF4-FFF2-40B4-BE49-F238E27FC236}">
                <a16:creationId xmlns="" xmlns:a16="http://schemas.microsoft.com/office/drawing/2014/main" id="{2E4B1E08-689C-4392-9027-B6B0723A1BB2}"/>
              </a:ext>
            </a:extLst>
          </p:cNvPr>
          <p:cNvSpPr/>
          <p:nvPr/>
        </p:nvSpPr>
        <p:spPr>
          <a:xfrm>
            <a:off x="488483" y="2295846"/>
            <a:ext cx="2015556" cy="4012880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93663" indent="-93663" defTabSz="979488" latinLnBrk="0">
              <a:spcBef>
                <a:spcPct val="50000"/>
              </a:spcBef>
              <a:buFont typeface="Wingdings" pitchFamily="2" charset="2"/>
              <a:buChar char="§"/>
              <a:defRPr/>
            </a:pPr>
            <a:endParaRPr kumimoji="1" lang="ko-KR" altLang="en-US" sz="10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="" xmlns:a16="http://schemas.microsoft.com/office/drawing/2014/main" id="{45449F05-C501-4DB3-AAD2-050BC3C538D8}"/>
              </a:ext>
            </a:extLst>
          </p:cNvPr>
          <p:cNvSpPr/>
          <p:nvPr/>
        </p:nvSpPr>
        <p:spPr bwMode="auto">
          <a:xfrm>
            <a:off x="488483" y="1989984"/>
            <a:ext cx="2015556" cy="291600"/>
          </a:xfrm>
          <a:prstGeom prst="rect">
            <a:avLst/>
          </a:prstGeom>
          <a:solidFill>
            <a:srgbClr val="01458C"/>
          </a:solidFill>
          <a:ln w="6350" cap="flat" cmpd="sng" algn="ctr">
            <a:solidFill>
              <a:srgbClr val="01458C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User</a:t>
            </a: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 </a:t>
            </a: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Interface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8B2AC2B7-60C6-43FA-BB93-1F04E179C9BA}"/>
              </a:ext>
            </a:extLst>
          </p:cNvPr>
          <p:cNvSpPr/>
          <p:nvPr/>
        </p:nvSpPr>
        <p:spPr>
          <a:xfrm>
            <a:off x="2772631" y="2295846"/>
            <a:ext cx="2015556" cy="4012880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93663" indent="-93663" defTabSz="979488" latinLnBrk="0">
              <a:spcBef>
                <a:spcPct val="50000"/>
              </a:spcBef>
              <a:buFont typeface="Wingdings" pitchFamily="2" charset="2"/>
              <a:buChar char="§"/>
              <a:defRPr/>
            </a:pPr>
            <a:endParaRPr kumimoji="1" lang="ko-KR" altLang="en-US" sz="10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="" xmlns:a16="http://schemas.microsoft.com/office/drawing/2014/main" id="{BC38D9ED-E3F0-444D-AFFD-77FA5E67D4D6}"/>
              </a:ext>
            </a:extLst>
          </p:cNvPr>
          <p:cNvSpPr/>
          <p:nvPr/>
        </p:nvSpPr>
        <p:spPr bwMode="auto">
          <a:xfrm>
            <a:off x="2772631" y="1989984"/>
            <a:ext cx="2015556" cy="291600"/>
          </a:xfrm>
          <a:prstGeom prst="rect">
            <a:avLst/>
          </a:prstGeom>
          <a:solidFill>
            <a:srgbClr val="01458C"/>
          </a:solidFill>
          <a:ln w="6350" cap="flat" cmpd="sng" algn="ctr">
            <a:solidFill>
              <a:srgbClr val="01458C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Access Layer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="" xmlns:a16="http://schemas.microsoft.com/office/drawing/2014/main" id="{3B7F6ADA-EBA6-4A16-BB09-37A709AEED9D}"/>
              </a:ext>
            </a:extLst>
          </p:cNvPr>
          <p:cNvSpPr/>
          <p:nvPr/>
        </p:nvSpPr>
        <p:spPr>
          <a:xfrm>
            <a:off x="5056779" y="2295846"/>
            <a:ext cx="2015556" cy="4012880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93663" indent="-93663" defTabSz="979488" latinLnBrk="0">
              <a:spcBef>
                <a:spcPct val="50000"/>
              </a:spcBef>
              <a:buFont typeface="Wingdings" pitchFamily="2" charset="2"/>
              <a:buChar char="§"/>
              <a:defRPr/>
            </a:pPr>
            <a:endParaRPr kumimoji="1" lang="ko-KR" altLang="en-US" sz="10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384330B7-8807-49C4-BF74-2E97A6C8CB28}"/>
              </a:ext>
            </a:extLst>
          </p:cNvPr>
          <p:cNvSpPr/>
          <p:nvPr/>
        </p:nvSpPr>
        <p:spPr bwMode="auto">
          <a:xfrm>
            <a:off x="5056779" y="1989984"/>
            <a:ext cx="2015556" cy="291600"/>
          </a:xfrm>
          <a:prstGeom prst="rect">
            <a:avLst/>
          </a:prstGeom>
          <a:solidFill>
            <a:srgbClr val="01458C"/>
          </a:solidFill>
          <a:ln w="6350" cap="flat" cmpd="sng" algn="ctr">
            <a:solidFill>
              <a:srgbClr val="01458C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Business Layer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="" xmlns:a16="http://schemas.microsoft.com/office/drawing/2014/main" id="{8B652D9F-698A-400A-AC79-E695B80971A9}"/>
              </a:ext>
            </a:extLst>
          </p:cNvPr>
          <p:cNvSpPr/>
          <p:nvPr/>
        </p:nvSpPr>
        <p:spPr>
          <a:xfrm>
            <a:off x="7340926" y="2295846"/>
            <a:ext cx="2015556" cy="4012880"/>
          </a:xfrm>
          <a:prstGeom prst="rect">
            <a:avLst/>
          </a:prstGeom>
          <a:solidFill>
            <a:sysClr val="window" lastClr="FFFFFF"/>
          </a:solidFill>
          <a:ln>
            <a:solidFill>
              <a:sysClr val="window" lastClr="FFFFFF">
                <a:lumMod val="50000"/>
              </a:sysClr>
            </a:solidFill>
          </a:ln>
        </p:spPr>
        <p:txBody>
          <a:bodyPr vert="horz" wrap="square" lIns="97969" tIns="48984" rIns="97969" bIns="48984" numCol="1" rtlCol="0" anchor="t" anchorCtr="0" compatLnSpc="1">
            <a:prstTxWarp prst="textNoShape">
              <a:avLst/>
            </a:prstTxWarp>
            <a:noAutofit/>
          </a:bodyPr>
          <a:lstStyle/>
          <a:p>
            <a:pPr marL="93663" indent="-93663" defTabSz="979488" latinLnBrk="0">
              <a:spcBef>
                <a:spcPct val="50000"/>
              </a:spcBef>
              <a:buFont typeface="Wingdings" pitchFamily="2" charset="2"/>
              <a:buChar char="§"/>
              <a:defRPr/>
            </a:pPr>
            <a:endParaRPr kumimoji="1" lang="ko-KR" altLang="en-US" sz="10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="" xmlns:a16="http://schemas.microsoft.com/office/drawing/2014/main" id="{A1D53C1B-29B8-4FED-B595-8B7BD7D8A501}"/>
              </a:ext>
            </a:extLst>
          </p:cNvPr>
          <p:cNvSpPr/>
          <p:nvPr/>
        </p:nvSpPr>
        <p:spPr bwMode="auto">
          <a:xfrm>
            <a:off x="7340926" y="1989984"/>
            <a:ext cx="2015556" cy="291600"/>
          </a:xfrm>
          <a:prstGeom prst="rect">
            <a:avLst/>
          </a:prstGeom>
          <a:solidFill>
            <a:srgbClr val="01458C"/>
          </a:solidFill>
          <a:ln w="6350" cap="flat" cmpd="sng" algn="ctr">
            <a:solidFill>
              <a:srgbClr val="01458C"/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Storage Layer</a:t>
            </a:r>
          </a:p>
        </p:txBody>
      </p:sp>
      <p:sp>
        <p:nvSpPr>
          <p:cNvPr id="25" name="Border">
            <a:extLst>
              <a:ext uri="{FF2B5EF4-FFF2-40B4-BE49-F238E27FC236}">
                <a16:creationId xmlns="" xmlns:a16="http://schemas.microsoft.com/office/drawing/2014/main" id="{0DFED57E-ED36-4E4E-8B8A-ACE0D2640451}"/>
              </a:ext>
            </a:extLst>
          </p:cNvPr>
          <p:cNvSpPr>
            <a:spLocks/>
          </p:cNvSpPr>
          <p:nvPr/>
        </p:nvSpPr>
        <p:spPr bwMode="auto">
          <a:xfrm>
            <a:off x="776536" y="2924944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="" xmlns:a16="http://schemas.microsoft.com/office/drawing/2014/main" id="{6BD28C59-561C-4172-A8D6-766CABA69098}"/>
              </a:ext>
            </a:extLst>
          </p:cNvPr>
          <p:cNvSpPr/>
          <p:nvPr/>
        </p:nvSpPr>
        <p:spPr>
          <a:xfrm>
            <a:off x="1130315" y="2932401"/>
            <a:ext cx="722541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WEB UI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order">
            <a:extLst>
              <a:ext uri="{FF2B5EF4-FFF2-40B4-BE49-F238E27FC236}">
                <a16:creationId xmlns="" xmlns:a16="http://schemas.microsoft.com/office/drawing/2014/main" id="{7E24125B-394A-4F89-B9A8-754292DEC187}"/>
              </a:ext>
            </a:extLst>
          </p:cNvPr>
          <p:cNvSpPr>
            <a:spLocks/>
          </p:cNvSpPr>
          <p:nvPr/>
        </p:nvSpPr>
        <p:spPr bwMode="auto">
          <a:xfrm>
            <a:off x="776536" y="3185944"/>
            <a:ext cx="1430099" cy="1755224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30" name="사각형: 둥근 모서리 29">
            <a:extLst>
              <a:ext uri="{FF2B5EF4-FFF2-40B4-BE49-F238E27FC236}">
                <a16:creationId xmlns="" xmlns:a16="http://schemas.microsoft.com/office/drawing/2014/main" id="{167713C9-1C55-4C73-BEB6-41671A6A1E91}"/>
              </a:ext>
            </a:extLst>
          </p:cNvPr>
          <p:cNvSpPr/>
          <p:nvPr/>
        </p:nvSpPr>
        <p:spPr>
          <a:xfrm>
            <a:off x="856154" y="3264027"/>
            <a:ext cx="1288534" cy="268578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WYSIWYG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="" xmlns:a16="http://schemas.microsoft.com/office/drawing/2014/main" id="{1B7CAF2F-23C8-4BB7-9D7D-FCDFC544C9D7}"/>
              </a:ext>
            </a:extLst>
          </p:cNvPr>
          <p:cNvSpPr/>
          <p:nvPr/>
        </p:nvSpPr>
        <p:spPr>
          <a:xfrm>
            <a:off x="856154" y="3593542"/>
            <a:ext cx="1288534" cy="268578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표준 </a:t>
            </a:r>
            <a:r>
              <a:rPr kumimoji="1" lang="en-US" altLang="ko-KR" sz="1000" kern="0" dirty="0">
                <a:latin typeface="+mn-ea"/>
              </a:rPr>
              <a:t>CSS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="" xmlns:a16="http://schemas.microsoft.com/office/drawing/2014/main" id="{753972A0-33BE-4C78-977B-A9F8D3F87BAA}"/>
              </a:ext>
            </a:extLst>
          </p:cNvPr>
          <p:cNvSpPr/>
          <p:nvPr/>
        </p:nvSpPr>
        <p:spPr>
          <a:xfrm>
            <a:off x="856154" y="3923057"/>
            <a:ext cx="1288534" cy="268578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HTML5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33" name="Workstation">
            <a:extLst>
              <a:ext uri="{FF2B5EF4-FFF2-40B4-BE49-F238E27FC236}">
                <a16:creationId xmlns="" xmlns:a16="http://schemas.microsoft.com/office/drawing/2014/main" id="{6EFE45DC-D36E-4F65-9F88-4779FE596D0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35978" y="4304667"/>
            <a:ext cx="347102" cy="347102"/>
          </a:xfrm>
          <a:custGeom>
            <a:avLst/>
            <a:gdLst>
              <a:gd name="T0" fmla="*/ 162 w 1411"/>
              <a:gd name="T1" fmla="*/ 0 h 1411"/>
              <a:gd name="T2" fmla="*/ 0 w 1411"/>
              <a:gd name="T3" fmla="*/ 162 h 1411"/>
              <a:gd name="T4" fmla="*/ 0 w 1411"/>
              <a:gd name="T5" fmla="*/ 868 h 1411"/>
              <a:gd name="T6" fmla="*/ 162 w 1411"/>
              <a:gd name="T7" fmla="*/ 1031 h 1411"/>
              <a:gd name="T8" fmla="*/ 1248 w 1411"/>
              <a:gd name="T9" fmla="*/ 1031 h 1411"/>
              <a:gd name="T10" fmla="*/ 1411 w 1411"/>
              <a:gd name="T11" fmla="*/ 868 h 1411"/>
              <a:gd name="T12" fmla="*/ 1411 w 1411"/>
              <a:gd name="T13" fmla="*/ 162 h 1411"/>
              <a:gd name="T14" fmla="*/ 1248 w 1411"/>
              <a:gd name="T15" fmla="*/ 0 h 1411"/>
              <a:gd name="T16" fmla="*/ 162 w 1411"/>
              <a:gd name="T17" fmla="*/ 0 h 1411"/>
              <a:gd name="T18" fmla="*/ 162 w 1411"/>
              <a:gd name="T19" fmla="*/ 108 h 1411"/>
              <a:gd name="T20" fmla="*/ 1248 w 1411"/>
              <a:gd name="T21" fmla="*/ 108 h 1411"/>
              <a:gd name="T22" fmla="*/ 1302 w 1411"/>
              <a:gd name="T23" fmla="*/ 162 h 1411"/>
              <a:gd name="T24" fmla="*/ 1302 w 1411"/>
              <a:gd name="T25" fmla="*/ 759 h 1411"/>
              <a:gd name="T26" fmla="*/ 1248 w 1411"/>
              <a:gd name="T27" fmla="*/ 814 h 1411"/>
              <a:gd name="T28" fmla="*/ 162 w 1411"/>
              <a:gd name="T29" fmla="*/ 814 h 1411"/>
              <a:gd name="T30" fmla="*/ 108 w 1411"/>
              <a:gd name="T31" fmla="*/ 759 h 1411"/>
              <a:gd name="T32" fmla="*/ 108 w 1411"/>
              <a:gd name="T33" fmla="*/ 162 h 1411"/>
              <a:gd name="T34" fmla="*/ 162 w 1411"/>
              <a:gd name="T35" fmla="*/ 108 h 1411"/>
              <a:gd name="T36" fmla="*/ 54 w 1411"/>
              <a:gd name="T37" fmla="*/ 1085 h 1411"/>
              <a:gd name="T38" fmla="*/ 0 w 1411"/>
              <a:gd name="T39" fmla="*/ 1139 h 1411"/>
              <a:gd name="T40" fmla="*/ 0 w 1411"/>
              <a:gd name="T41" fmla="*/ 1356 h 1411"/>
              <a:gd name="T42" fmla="*/ 54 w 1411"/>
              <a:gd name="T43" fmla="*/ 1411 h 1411"/>
              <a:gd name="T44" fmla="*/ 1356 w 1411"/>
              <a:gd name="T45" fmla="*/ 1411 h 1411"/>
              <a:gd name="T46" fmla="*/ 1411 w 1411"/>
              <a:gd name="T47" fmla="*/ 1356 h 1411"/>
              <a:gd name="T48" fmla="*/ 1411 w 1411"/>
              <a:gd name="T49" fmla="*/ 1139 h 1411"/>
              <a:gd name="T50" fmla="*/ 1356 w 1411"/>
              <a:gd name="T51" fmla="*/ 1085 h 1411"/>
              <a:gd name="T52" fmla="*/ 54 w 1411"/>
              <a:gd name="T53" fmla="*/ 1085 h 1411"/>
              <a:gd name="T54" fmla="*/ 1248 w 1411"/>
              <a:gd name="T55" fmla="*/ 1183 h 1411"/>
              <a:gd name="T56" fmla="*/ 1312 w 1411"/>
              <a:gd name="T57" fmla="*/ 1248 h 1411"/>
              <a:gd name="T58" fmla="*/ 1248 w 1411"/>
              <a:gd name="T59" fmla="*/ 1312 h 1411"/>
              <a:gd name="T60" fmla="*/ 1183 w 1411"/>
              <a:gd name="T61" fmla="*/ 1248 h 1411"/>
              <a:gd name="T62" fmla="*/ 1248 w 1411"/>
              <a:gd name="T63" fmla="*/ 1183 h 1411"/>
              <a:gd name="T64" fmla="*/ 108 w 1411"/>
              <a:gd name="T65" fmla="*/ 1194 h 1411"/>
              <a:gd name="T66" fmla="*/ 814 w 1411"/>
              <a:gd name="T67" fmla="*/ 1194 h 1411"/>
              <a:gd name="T68" fmla="*/ 814 w 1411"/>
              <a:gd name="T69" fmla="*/ 1248 h 1411"/>
              <a:gd name="T70" fmla="*/ 108 w 1411"/>
              <a:gd name="T71" fmla="*/ 1248 h 1411"/>
              <a:gd name="T72" fmla="*/ 108 w 1411"/>
              <a:gd name="T73" fmla="*/ 119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11" h="1411">
                <a:moveTo>
                  <a:pt x="162" y="0"/>
                </a:moveTo>
                <a:cubicBezTo>
                  <a:pt x="72" y="0"/>
                  <a:pt x="0" y="72"/>
                  <a:pt x="0" y="162"/>
                </a:cubicBezTo>
                <a:lnTo>
                  <a:pt x="0" y="868"/>
                </a:lnTo>
                <a:cubicBezTo>
                  <a:pt x="0" y="958"/>
                  <a:pt x="72" y="1031"/>
                  <a:pt x="162" y="1031"/>
                </a:cubicBezTo>
                <a:lnTo>
                  <a:pt x="1248" y="1031"/>
                </a:lnTo>
                <a:cubicBezTo>
                  <a:pt x="1338" y="1031"/>
                  <a:pt x="1411" y="958"/>
                  <a:pt x="1411" y="868"/>
                </a:cubicBezTo>
                <a:lnTo>
                  <a:pt x="1411" y="162"/>
                </a:lnTo>
                <a:cubicBezTo>
                  <a:pt x="1411" y="72"/>
                  <a:pt x="1338" y="0"/>
                  <a:pt x="1248" y="0"/>
                </a:cubicBezTo>
                <a:lnTo>
                  <a:pt x="162" y="0"/>
                </a:lnTo>
                <a:close/>
                <a:moveTo>
                  <a:pt x="162" y="108"/>
                </a:moveTo>
                <a:lnTo>
                  <a:pt x="1248" y="108"/>
                </a:lnTo>
                <a:cubicBezTo>
                  <a:pt x="1278" y="108"/>
                  <a:pt x="1302" y="132"/>
                  <a:pt x="1302" y="162"/>
                </a:cubicBezTo>
                <a:lnTo>
                  <a:pt x="1302" y="759"/>
                </a:lnTo>
                <a:cubicBezTo>
                  <a:pt x="1302" y="789"/>
                  <a:pt x="1278" y="814"/>
                  <a:pt x="1248" y="814"/>
                </a:cubicBezTo>
                <a:lnTo>
                  <a:pt x="162" y="814"/>
                </a:lnTo>
                <a:cubicBezTo>
                  <a:pt x="132" y="814"/>
                  <a:pt x="108" y="789"/>
                  <a:pt x="108" y="759"/>
                </a:cubicBezTo>
                <a:lnTo>
                  <a:pt x="108" y="162"/>
                </a:lnTo>
                <a:cubicBezTo>
                  <a:pt x="108" y="132"/>
                  <a:pt x="132" y="108"/>
                  <a:pt x="162" y="108"/>
                </a:cubicBezTo>
                <a:close/>
                <a:moveTo>
                  <a:pt x="54" y="1085"/>
                </a:moveTo>
                <a:cubicBezTo>
                  <a:pt x="24" y="1085"/>
                  <a:pt x="0" y="1109"/>
                  <a:pt x="0" y="1139"/>
                </a:cubicBezTo>
                <a:lnTo>
                  <a:pt x="0" y="1356"/>
                </a:lnTo>
                <a:cubicBezTo>
                  <a:pt x="0" y="1386"/>
                  <a:pt x="24" y="1411"/>
                  <a:pt x="54" y="1411"/>
                </a:cubicBezTo>
                <a:lnTo>
                  <a:pt x="1356" y="1411"/>
                </a:lnTo>
                <a:cubicBezTo>
                  <a:pt x="1386" y="1411"/>
                  <a:pt x="1411" y="1386"/>
                  <a:pt x="1411" y="1356"/>
                </a:cubicBezTo>
                <a:lnTo>
                  <a:pt x="1411" y="1139"/>
                </a:lnTo>
                <a:cubicBezTo>
                  <a:pt x="1411" y="1109"/>
                  <a:pt x="1386" y="1085"/>
                  <a:pt x="1356" y="1085"/>
                </a:cubicBezTo>
                <a:lnTo>
                  <a:pt x="54" y="1085"/>
                </a:lnTo>
                <a:close/>
                <a:moveTo>
                  <a:pt x="1248" y="1183"/>
                </a:moveTo>
                <a:cubicBezTo>
                  <a:pt x="1283" y="1183"/>
                  <a:pt x="1312" y="1212"/>
                  <a:pt x="1312" y="1248"/>
                </a:cubicBezTo>
                <a:cubicBezTo>
                  <a:pt x="1312" y="1283"/>
                  <a:pt x="1283" y="1312"/>
                  <a:pt x="1248" y="1312"/>
                </a:cubicBezTo>
                <a:cubicBezTo>
                  <a:pt x="1212" y="1312"/>
                  <a:pt x="1183" y="1283"/>
                  <a:pt x="1183" y="1248"/>
                </a:cubicBezTo>
                <a:cubicBezTo>
                  <a:pt x="1183" y="1212"/>
                  <a:pt x="1212" y="1183"/>
                  <a:pt x="1248" y="1183"/>
                </a:cubicBezTo>
                <a:close/>
                <a:moveTo>
                  <a:pt x="108" y="1194"/>
                </a:moveTo>
                <a:lnTo>
                  <a:pt x="814" y="1194"/>
                </a:lnTo>
                <a:lnTo>
                  <a:pt x="814" y="1248"/>
                </a:lnTo>
                <a:lnTo>
                  <a:pt x="108" y="1248"/>
                </a:lnTo>
                <a:lnTo>
                  <a:pt x="108" y="11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6" name="Smartphone">
            <a:extLst>
              <a:ext uri="{FF2B5EF4-FFF2-40B4-BE49-F238E27FC236}">
                <a16:creationId xmlns="" xmlns:a16="http://schemas.microsoft.com/office/drawing/2014/main" id="{0702C0BC-405E-441E-9876-29C0914F8E6F}"/>
              </a:ext>
            </a:extLst>
          </p:cNvPr>
          <p:cNvGrpSpPr>
            <a:grpSpLocks noChangeAspect="1"/>
          </p:cNvGrpSpPr>
          <p:nvPr/>
        </p:nvGrpSpPr>
        <p:grpSpPr>
          <a:xfrm>
            <a:off x="1679587" y="4275952"/>
            <a:ext cx="192429" cy="377160"/>
            <a:chOff x="9165945" y="1228296"/>
            <a:chExt cx="2479208" cy="4859248"/>
          </a:xfrm>
        </p:grpSpPr>
        <p:sp>
          <p:nvSpPr>
            <p:cNvPr id="41" name="Case">
              <a:extLst>
                <a:ext uri="{FF2B5EF4-FFF2-40B4-BE49-F238E27FC236}">
                  <a16:creationId xmlns="" xmlns:a16="http://schemas.microsoft.com/office/drawing/2014/main" id="{FCBBF11D-36E0-472F-B2AF-285C8813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5945" y="1228296"/>
              <a:ext cx="2479208" cy="4859248"/>
            </a:xfrm>
            <a:custGeom>
              <a:avLst/>
              <a:gdLst>
                <a:gd name="T0" fmla="*/ 403 w 4052"/>
                <a:gd name="T1" fmla="*/ 0 h 7922"/>
                <a:gd name="T2" fmla="*/ 3649 w 4052"/>
                <a:gd name="T3" fmla="*/ 0 h 7922"/>
                <a:gd name="T4" fmla="*/ 4052 w 4052"/>
                <a:gd name="T5" fmla="*/ 403 h 7922"/>
                <a:gd name="T6" fmla="*/ 4052 w 4052"/>
                <a:gd name="T7" fmla="*/ 7519 h 7922"/>
                <a:gd name="T8" fmla="*/ 3649 w 4052"/>
                <a:gd name="T9" fmla="*/ 7922 h 7922"/>
                <a:gd name="T10" fmla="*/ 403 w 4052"/>
                <a:gd name="T11" fmla="*/ 7922 h 7922"/>
                <a:gd name="T12" fmla="*/ 0 w 4052"/>
                <a:gd name="T13" fmla="*/ 7519 h 7922"/>
                <a:gd name="T14" fmla="*/ 0 w 4052"/>
                <a:gd name="T15" fmla="*/ 403 h 7922"/>
                <a:gd name="T16" fmla="*/ 403 w 4052"/>
                <a:gd name="T17" fmla="*/ 0 h 7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52" h="7922">
                  <a:moveTo>
                    <a:pt x="403" y="0"/>
                  </a:moveTo>
                  <a:lnTo>
                    <a:pt x="3649" y="0"/>
                  </a:lnTo>
                  <a:cubicBezTo>
                    <a:pt x="3872" y="0"/>
                    <a:pt x="4052" y="179"/>
                    <a:pt x="4052" y="403"/>
                  </a:cubicBezTo>
                  <a:lnTo>
                    <a:pt x="4052" y="7519"/>
                  </a:lnTo>
                  <a:cubicBezTo>
                    <a:pt x="4052" y="7742"/>
                    <a:pt x="3872" y="7922"/>
                    <a:pt x="3649" y="7922"/>
                  </a:cubicBezTo>
                  <a:lnTo>
                    <a:pt x="403" y="7922"/>
                  </a:lnTo>
                  <a:cubicBezTo>
                    <a:pt x="180" y="7922"/>
                    <a:pt x="0" y="7742"/>
                    <a:pt x="0" y="7519"/>
                  </a:cubicBezTo>
                  <a:lnTo>
                    <a:pt x="0" y="403"/>
                  </a:lnTo>
                  <a:cubicBezTo>
                    <a:pt x="0" y="179"/>
                    <a:pt x="180" y="0"/>
                    <a:pt x="403" y="0"/>
                  </a:cubicBezTo>
                  <a:close/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2" name="Button">
              <a:extLst>
                <a:ext uri="{FF2B5EF4-FFF2-40B4-BE49-F238E27FC236}">
                  <a16:creationId xmlns="" xmlns:a16="http://schemas.microsoft.com/office/drawing/2014/main" id="{D9444804-1F48-417A-87F6-80ABAF9B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1072" y="5811732"/>
              <a:ext cx="488955" cy="161837"/>
            </a:xfrm>
            <a:custGeom>
              <a:avLst/>
              <a:gdLst>
                <a:gd name="T0" fmla="*/ 131 w 796"/>
                <a:gd name="T1" fmla="*/ 0 h 262"/>
                <a:gd name="T2" fmla="*/ 665 w 796"/>
                <a:gd name="T3" fmla="*/ 0 h 262"/>
                <a:gd name="T4" fmla="*/ 796 w 796"/>
                <a:gd name="T5" fmla="*/ 131 h 262"/>
                <a:gd name="T6" fmla="*/ 665 w 796"/>
                <a:gd name="T7" fmla="*/ 262 h 262"/>
                <a:gd name="T8" fmla="*/ 131 w 796"/>
                <a:gd name="T9" fmla="*/ 262 h 262"/>
                <a:gd name="T10" fmla="*/ 0 w 796"/>
                <a:gd name="T11" fmla="*/ 131 h 262"/>
                <a:gd name="T12" fmla="*/ 131 w 796"/>
                <a:gd name="T13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6" h="262">
                  <a:moveTo>
                    <a:pt x="131" y="0"/>
                  </a:moveTo>
                  <a:lnTo>
                    <a:pt x="665" y="0"/>
                  </a:lnTo>
                  <a:cubicBezTo>
                    <a:pt x="738" y="0"/>
                    <a:pt x="796" y="59"/>
                    <a:pt x="796" y="131"/>
                  </a:cubicBezTo>
                  <a:cubicBezTo>
                    <a:pt x="796" y="204"/>
                    <a:pt x="738" y="262"/>
                    <a:pt x="665" y="262"/>
                  </a:cubicBezTo>
                  <a:lnTo>
                    <a:pt x="131" y="262"/>
                  </a:lnTo>
                  <a:cubicBezTo>
                    <a:pt x="58" y="262"/>
                    <a:pt x="0" y="204"/>
                    <a:pt x="0" y="131"/>
                  </a:cubicBezTo>
                  <a:cubicBezTo>
                    <a:pt x="0" y="59"/>
                    <a:pt x="58" y="0"/>
                    <a:pt x="131" y="0"/>
                  </a:cubicBezTo>
                  <a:close/>
                </a:path>
              </a:pathLst>
            </a:custGeom>
            <a:no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" name="Camera">
              <a:extLst>
                <a:ext uri="{FF2B5EF4-FFF2-40B4-BE49-F238E27FC236}">
                  <a16:creationId xmlns="" xmlns:a16="http://schemas.microsoft.com/office/drawing/2014/main" id="{9C6C0109-0055-4643-ABB2-8921C7956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1952" y="1352256"/>
              <a:ext cx="123960" cy="123960"/>
            </a:xfrm>
            <a:prstGeom prst="ellipse">
              <a:avLst/>
            </a:prstGeom>
            <a:no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4" name="Speaker">
              <a:extLst>
                <a:ext uri="{FF2B5EF4-FFF2-40B4-BE49-F238E27FC236}">
                  <a16:creationId xmlns="" xmlns:a16="http://schemas.microsoft.com/office/drawing/2014/main" id="{7E0AFB3D-BF72-4C6C-A0BD-4814DEF5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0411" y="1414237"/>
              <a:ext cx="530275" cy="61980"/>
            </a:xfrm>
            <a:custGeom>
              <a:avLst/>
              <a:gdLst>
                <a:gd name="T0" fmla="*/ 50 w 866"/>
                <a:gd name="T1" fmla="*/ 0 h 101"/>
                <a:gd name="T2" fmla="*/ 816 w 866"/>
                <a:gd name="T3" fmla="*/ 0 h 101"/>
                <a:gd name="T4" fmla="*/ 866 w 866"/>
                <a:gd name="T5" fmla="*/ 50 h 101"/>
                <a:gd name="T6" fmla="*/ 816 w 866"/>
                <a:gd name="T7" fmla="*/ 101 h 101"/>
                <a:gd name="T8" fmla="*/ 50 w 866"/>
                <a:gd name="T9" fmla="*/ 101 h 101"/>
                <a:gd name="T10" fmla="*/ 0 w 866"/>
                <a:gd name="T11" fmla="*/ 50 h 101"/>
                <a:gd name="T12" fmla="*/ 50 w 866"/>
                <a:gd name="T1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6" h="101">
                  <a:moveTo>
                    <a:pt x="50" y="0"/>
                  </a:moveTo>
                  <a:lnTo>
                    <a:pt x="816" y="0"/>
                  </a:lnTo>
                  <a:cubicBezTo>
                    <a:pt x="844" y="0"/>
                    <a:pt x="866" y="22"/>
                    <a:pt x="866" y="50"/>
                  </a:cubicBezTo>
                  <a:cubicBezTo>
                    <a:pt x="866" y="78"/>
                    <a:pt x="844" y="101"/>
                    <a:pt x="816" y="101"/>
                  </a:cubicBezTo>
                  <a:lnTo>
                    <a:pt x="50" y="101"/>
                  </a:lnTo>
                  <a:cubicBezTo>
                    <a:pt x="22" y="101"/>
                    <a:pt x="0" y="78"/>
                    <a:pt x="0" y="50"/>
                  </a:cubicBezTo>
                  <a:cubicBezTo>
                    <a:pt x="0" y="22"/>
                    <a:pt x="22" y="0"/>
                    <a:pt x="50" y="0"/>
                  </a:cubicBezTo>
                  <a:close/>
                </a:path>
              </a:pathLst>
            </a:custGeom>
            <a:no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5" name="Display">
              <a:extLst>
                <a:ext uri="{FF2B5EF4-FFF2-40B4-BE49-F238E27FC236}">
                  <a16:creationId xmlns="" xmlns:a16="http://schemas.microsoft.com/office/drawing/2014/main" id="{8BB0F1F2-B99C-4FD3-9564-6A360D82DA8C}"/>
                </a:ext>
              </a:extLst>
            </p:cNvPr>
            <p:cNvSpPr/>
            <p:nvPr/>
          </p:nvSpPr>
          <p:spPr>
            <a:xfrm>
              <a:off x="9262549" y="1643046"/>
              <a:ext cx="2286000" cy="40640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6" name="AutoShape 35">
            <a:extLst>
              <a:ext uri="{FF2B5EF4-FFF2-40B4-BE49-F238E27FC236}">
                <a16:creationId xmlns="" xmlns:a16="http://schemas.microsoft.com/office/drawing/2014/main" id="{A9D3DB13-23BA-477A-AAAD-0851AB4D1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7318" y="4654127"/>
            <a:ext cx="351982" cy="221348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PC</a:t>
            </a:r>
            <a:endParaRPr lang="ko-KR" altLang="en-US" sz="900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48" name="AutoShape 35">
            <a:extLst>
              <a:ext uri="{FF2B5EF4-FFF2-40B4-BE49-F238E27FC236}">
                <a16:creationId xmlns="" xmlns:a16="http://schemas.microsoft.com/office/drawing/2014/main" id="{F5760521-5D2B-4388-ADCC-37B39F006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5869" y="4654127"/>
            <a:ext cx="566871" cy="221348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Mobile</a:t>
            </a:r>
            <a:r>
              <a:rPr lang="ko-KR" altLang="en-US" sz="900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</a:p>
        </p:txBody>
      </p:sp>
      <p:sp>
        <p:nvSpPr>
          <p:cNvPr id="49" name="Border">
            <a:extLst>
              <a:ext uri="{FF2B5EF4-FFF2-40B4-BE49-F238E27FC236}">
                <a16:creationId xmlns="" xmlns:a16="http://schemas.microsoft.com/office/drawing/2014/main" id="{973551D8-5901-446C-B386-1EBCB03C1518}"/>
              </a:ext>
            </a:extLst>
          </p:cNvPr>
          <p:cNvSpPr>
            <a:spLocks/>
          </p:cNvSpPr>
          <p:nvPr/>
        </p:nvSpPr>
        <p:spPr bwMode="auto">
          <a:xfrm>
            <a:off x="3047739" y="2420888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50" name="Border">
            <a:extLst>
              <a:ext uri="{FF2B5EF4-FFF2-40B4-BE49-F238E27FC236}">
                <a16:creationId xmlns="" xmlns:a16="http://schemas.microsoft.com/office/drawing/2014/main" id="{18F89838-9F74-406D-A953-889E278CF3FF}"/>
              </a:ext>
            </a:extLst>
          </p:cNvPr>
          <p:cNvSpPr>
            <a:spLocks/>
          </p:cNvSpPr>
          <p:nvPr/>
        </p:nvSpPr>
        <p:spPr bwMode="auto">
          <a:xfrm>
            <a:off x="3047739" y="2681888"/>
            <a:ext cx="1430099" cy="948269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="" xmlns:a16="http://schemas.microsoft.com/office/drawing/2014/main" id="{34486A59-FDDF-4483-A00C-C66F44408F3E}"/>
              </a:ext>
            </a:extLst>
          </p:cNvPr>
          <p:cNvSpPr/>
          <p:nvPr/>
        </p:nvSpPr>
        <p:spPr>
          <a:xfrm>
            <a:off x="3127357" y="2741832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Load</a:t>
            </a:r>
            <a:r>
              <a:rPr kumimoji="1" lang="ko-KR" altLang="en-US" sz="1000" kern="0" dirty="0">
                <a:latin typeface="+mn-ea"/>
              </a:rPr>
              <a:t> </a:t>
            </a:r>
            <a:r>
              <a:rPr kumimoji="1" lang="en-US" altLang="ko-KR" sz="1000" kern="0" dirty="0">
                <a:latin typeface="+mn-ea"/>
              </a:rPr>
              <a:t>Balancing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="" xmlns:a16="http://schemas.microsoft.com/office/drawing/2014/main" id="{344EDD4F-F0E6-43F5-A5E2-86E5AC181812}"/>
              </a:ext>
            </a:extLst>
          </p:cNvPr>
          <p:cNvSpPr/>
          <p:nvPr/>
        </p:nvSpPr>
        <p:spPr>
          <a:xfrm>
            <a:off x="3127357" y="3035343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Logging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="" xmlns:a16="http://schemas.microsoft.com/office/drawing/2014/main" id="{27832891-71D2-4F86-B23A-FEA78C0D72A4}"/>
              </a:ext>
            </a:extLst>
          </p:cNvPr>
          <p:cNvSpPr/>
          <p:nvPr/>
        </p:nvSpPr>
        <p:spPr>
          <a:xfrm>
            <a:off x="3127357" y="3328854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Filtering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37020FB6-7E71-407A-8D89-98A6ED732E09}"/>
              </a:ext>
            </a:extLst>
          </p:cNvPr>
          <p:cNvSpPr/>
          <p:nvPr/>
        </p:nvSpPr>
        <p:spPr>
          <a:xfrm>
            <a:off x="3107052" y="2408696"/>
            <a:ext cx="1280026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Gateway /</a:t>
            </a:r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Proxy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Border">
            <a:extLst>
              <a:ext uri="{FF2B5EF4-FFF2-40B4-BE49-F238E27FC236}">
                <a16:creationId xmlns="" xmlns:a16="http://schemas.microsoft.com/office/drawing/2014/main" id="{7357A71C-A5AB-4B4D-B78F-CD7747DF9B4C}"/>
              </a:ext>
            </a:extLst>
          </p:cNvPr>
          <p:cNvSpPr>
            <a:spLocks/>
          </p:cNvSpPr>
          <p:nvPr/>
        </p:nvSpPr>
        <p:spPr bwMode="auto">
          <a:xfrm>
            <a:off x="3047739" y="3758560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57" name="Border">
            <a:extLst>
              <a:ext uri="{FF2B5EF4-FFF2-40B4-BE49-F238E27FC236}">
                <a16:creationId xmlns="" xmlns:a16="http://schemas.microsoft.com/office/drawing/2014/main" id="{F4DCCD90-78F8-4B0F-9CBA-A5270FE3D31E}"/>
              </a:ext>
            </a:extLst>
          </p:cNvPr>
          <p:cNvSpPr>
            <a:spLocks/>
          </p:cNvSpPr>
          <p:nvPr/>
        </p:nvSpPr>
        <p:spPr bwMode="auto">
          <a:xfrm>
            <a:off x="3047739" y="4019559"/>
            <a:ext cx="1430099" cy="1219025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="" xmlns:a16="http://schemas.microsoft.com/office/drawing/2014/main" id="{02DE58FC-FE1C-4996-82B8-5B73D5F34F61}"/>
              </a:ext>
            </a:extLst>
          </p:cNvPr>
          <p:cNvSpPr/>
          <p:nvPr/>
        </p:nvSpPr>
        <p:spPr>
          <a:xfrm>
            <a:off x="3127357" y="4073275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User Profile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="" xmlns:a16="http://schemas.microsoft.com/office/drawing/2014/main" id="{BA07C552-C57E-4100-B233-BA83FA5F2528}"/>
              </a:ext>
            </a:extLst>
          </p:cNvPr>
          <p:cNvSpPr/>
          <p:nvPr/>
        </p:nvSpPr>
        <p:spPr>
          <a:xfrm>
            <a:off x="3127357" y="4352681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Authenticator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="" xmlns:a16="http://schemas.microsoft.com/office/drawing/2014/main" id="{57B7CE29-1E99-483A-B1E5-2D38ADCA01E6}"/>
              </a:ext>
            </a:extLst>
          </p:cNvPr>
          <p:cNvSpPr/>
          <p:nvPr/>
        </p:nvSpPr>
        <p:spPr>
          <a:xfrm>
            <a:off x="3127357" y="4640713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Single-Sign-On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="" xmlns:a16="http://schemas.microsoft.com/office/drawing/2014/main" id="{DA5438AF-D27D-4F2A-80AE-13A2042615ED}"/>
              </a:ext>
            </a:extLst>
          </p:cNvPr>
          <p:cNvSpPr/>
          <p:nvPr/>
        </p:nvSpPr>
        <p:spPr>
          <a:xfrm>
            <a:off x="2919592" y="3764656"/>
            <a:ext cx="17037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Identity Management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Border">
            <a:extLst>
              <a:ext uri="{FF2B5EF4-FFF2-40B4-BE49-F238E27FC236}">
                <a16:creationId xmlns="" xmlns:a16="http://schemas.microsoft.com/office/drawing/2014/main" id="{8D5882E3-0F03-444E-BAF8-A6BDA56307E9}"/>
              </a:ext>
            </a:extLst>
          </p:cNvPr>
          <p:cNvSpPr>
            <a:spLocks/>
          </p:cNvSpPr>
          <p:nvPr/>
        </p:nvSpPr>
        <p:spPr bwMode="auto">
          <a:xfrm>
            <a:off x="3047739" y="5301208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" name="Border">
            <a:extLst>
              <a:ext uri="{FF2B5EF4-FFF2-40B4-BE49-F238E27FC236}">
                <a16:creationId xmlns="" xmlns:a16="http://schemas.microsoft.com/office/drawing/2014/main" id="{13810FC1-0DD7-4F27-89CB-49B1031CA8EA}"/>
              </a:ext>
            </a:extLst>
          </p:cNvPr>
          <p:cNvSpPr>
            <a:spLocks/>
          </p:cNvSpPr>
          <p:nvPr/>
        </p:nvSpPr>
        <p:spPr bwMode="auto">
          <a:xfrm>
            <a:off x="3047739" y="5562208"/>
            <a:ext cx="1430099" cy="675080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="" xmlns:a16="http://schemas.microsoft.com/office/drawing/2014/main" id="{A0D03215-EE06-4D2A-B285-10007C490177}"/>
              </a:ext>
            </a:extLst>
          </p:cNvPr>
          <p:cNvSpPr/>
          <p:nvPr/>
        </p:nvSpPr>
        <p:spPr>
          <a:xfrm>
            <a:off x="3127357" y="5652499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Virus Protection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="" xmlns:a16="http://schemas.microsoft.com/office/drawing/2014/main" id="{486C0200-8090-44BE-8DF1-B982DE0A07CB}"/>
              </a:ext>
            </a:extLst>
          </p:cNvPr>
          <p:cNvSpPr/>
          <p:nvPr/>
        </p:nvSpPr>
        <p:spPr>
          <a:xfrm>
            <a:off x="2907400" y="5307059"/>
            <a:ext cx="17037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Security</a:t>
            </a:r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Management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="" xmlns:a16="http://schemas.microsoft.com/office/drawing/2014/main" id="{F7D3D213-BDFE-4ACE-BE6B-0EB813BD274C}"/>
              </a:ext>
            </a:extLst>
          </p:cNvPr>
          <p:cNvSpPr/>
          <p:nvPr/>
        </p:nvSpPr>
        <p:spPr>
          <a:xfrm>
            <a:off x="3127357" y="4924766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Provisioning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="" xmlns:a16="http://schemas.microsoft.com/office/drawing/2014/main" id="{8CD35003-4B83-4DF9-B568-B79D6F9D6231}"/>
              </a:ext>
            </a:extLst>
          </p:cNvPr>
          <p:cNvSpPr/>
          <p:nvPr/>
        </p:nvSpPr>
        <p:spPr>
          <a:xfrm>
            <a:off x="3127357" y="5937088"/>
            <a:ext cx="1288534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Contents Filter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72" name="Border">
            <a:extLst>
              <a:ext uri="{FF2B5EF4-FFF2-40B4-BE49-F238E27FC236}">
                <a16:creationId xmlns="" xmlns:a16="http://schemas.microsoft.com/office/drawing/2014/main" id="{163F3028-0F72-4C15-916C-6CF131920792}"/>
              </a:ext>
            </a:extLst>
          </p:cNvPr>
          <p:cNvSpPr>
            <a:spLocks/>
          </p:cNvSpPr>
          <p:nvPr/>
        </p:nvSpPr>
        <p:spPr bwMode="auto">
          <a:xfrm>
            <a:off x="5107396" y="2420888"/>
            <a:ext cx="1903462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3" name="Border">
            <a:extLst>
              <a:ext uri="{FF2B5EF4-FFF2-40B4-BE49-F238E27FC236}">
                <a16:creationId xmlns="" xmlns:a16="http://schemas.microsoft.com/office/drawing/2014/main" id="{08B3609E-C010-4983-AC90-2F1EF2F2E906}"/>
              </a:ext>
            </a:extLst>
          </p:cNvPr>
          <p:cNvSpPr>
            <a:spLocks/>
          </p:cNvSpPr>
          <p:nvPr/>
        </p:nvSpPr>
        <p:spPr bwMode="auto">
          <a:xfrm>
            <a:off x="5107396" y="2681888"/>
            <a:ext cx="1903462" cy="1603685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71A4A980-1D31-4B88-B800-D9FAF44ABC07}"/>
              </a:ext>
            </a:extLst>
          </p:cNvPr>
          <p:cNvSpPr/>
          <p:nvPr/>
        </p:nvSpPr>
        <p:spPr>
          <a:xfrm>
            <a:off x="5284711" y="2430290"/>
            <a:ext cx="1548832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Internal</a:t>
            </a:r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Transaction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Border">
            <a:extLst>
              <a:ext uri="{FF2B5EF4-FFF2-40B4-BE49-F238E27FC236}">
                <a16:creationId xmlns="" xmlns:a16="http://schemas.microsoft.com/office/drawing/2014/main" id="{43DADCB3-8D49-46C0-A05A-05A356C8630C}"/>
              </a:ext>
            </a:extLst>
          </p:cNvPr>
          <p:cNvSpPr>
            <a:spLocks/>
          </p:cNvSpPr>
          <p:nvPr/>
        </p:nvSpPr>
        <p:spPr bwMode="auto">
          <a:xfrm>
            <a:off x="5107396" y="4451601"/>
            <a:ext cx="1903462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6" name="Border">
            <a:extLst>
              <a:ext uri="{FF2B5EF4-FFF2-40B4-BE49-F238E27FC236}">
                <a16:creationId xmlns="" xmlns:a16="http://schemas.microsoft.com/office/drawing/2014/main" id="{54483DD0-5D05-41FA-B1B3-C9DE55A165C1}"/>
              </a:ext>
            </a:extLst>
          </p:cNvPr>
          <p:cNvSpPr>
            <a:spLocks/>
          </p:cNvSpPr>
          <p:nvPr/>
        </p:nvSpPr>
        <p:spPr bwMode="auto">
          <a:xfrm>
            <a:off x="5107396" y="4712601"/>
            <a:ext cx="1903462" cy="1020655"/>
          </a:xfrm>
          <a:prstGeom prst="roundRect">
            <a:avLst>
              <a:gd name="adj" fmla="val 0"/>
            </a:avLst>
          </a:prstGeom>
          <a:solidFill>
            <a:srgbClr val="BFBFBF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="" xmlns:a16="http://schemas.microsoft.com/office/drawing/2014/main" id="{AD438B5B-4AF0-4674-995E-F517BB99B4FA}"/>
              </a:ext>
            </a:extLst>
          </p:cNvPr>
          <p:cNvSpPr/>
          <p:nvPr/>
        </p:nvSpPr>
        <p:spPr>
          <a:xfrm>
            <a:off x="5284711" y="4471646"/>
            <a:ext cx="1548832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External</a:t>
            </a:r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Transaction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="" xmlns:a16="http://schemas.microsoft.com/office/drawing/2014/main" id="{85E610A9-16F4-4832-B16B-82A908495D14}"/>
              </a:ext>
            </a:extLst>
          </p:cNvPr>
          <p:cNvSpPr/>
          <p:nvPr/>
        </p:nvSpPr>
        <p:spPr>
          <a:xfrm>
            <a:off x="5188126" y="4791079"/>
            <a:ext cx="1715039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Gathering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="" xmlns:a16="http://schemas.microsoft.com/office/drawing/2014/main" id="{554F9531-C5E7-40EC-8EBC-3BA24E442426}"/>
              </a:ext>
            </a:extLst>
          </p:cNvPr>
          <p:cNvSpPr/>
          <p:nvPr/>
        </p:nvSpPr>
        <p:spPr>
          <a:xfrm>
            <a:off x="5188126" y="5084590"/>
            <a:ext cx="1715039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Transform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="" xmlns:a16="http://schemas.microsoft.com/office/drawing/2014/main" id="{C6DABD0F-B9B4-4947-B5AD-3D2FB038D67E}"/>
              </a:ext>
            </a:extLst>
          </p:cNvPr>
          <p:cNvSpPr/>
          <p:nvPr/>
        </p:nvSpPr>
        <p:spPr>
          <a:xfrm>
            <a:off x="5188126" y="5378101"/>
            <a:ext cx="1715039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Interworking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="" xmlns:a16="http://schemas.microsoft.com/office/drawing/2014/main" id="{3291F95F-54BE-426D-B058-3DF9BFF6816F}"/>
              </a:ext>
            </a:extLst>
          </p:cNvPr>
          <p:cNvSpPr/>
          <p:nvPr/>
        </p:nvSpPr>
        <p:spPr>
          <a:xfrm>
            <a:off x="5124593" y="4001310"/>
            <a:ext cx="908528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공통모듈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="" xmlns:a16="http://schemas.microsoft.com/office/drawing/2014/main" id="{7901E09C-B7F0-47F7-A586-00541CA907BF}"/>
              </a:ext>
            </a:extLst>
          </p:cNvPr>
          <p:cNvSpPr/>
          <p:nvPr/>
        </p:nvSpPr>
        <p:spPr>
          <a:xfrm>
            <a:off x="6075272" y="4001310"/>
            <a:ext cx="908528" cy="244162"/>
          </a:xfrm>
          <a:prstGeom prst="roundRect">
            <a:avLst/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응용모듈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="" xmlns:a16="http://schemas.microsoft.com/office/drawing/2014/main" id="{6B988C06-7D4D-4EF9-A3FF-74007CF8957D}"/>
              </a:ext>
            </a:extLst>
          </p:cNvPr>
          <p:cNvSpPr/>
          <p:nvPr/>
        </p:nvSpPr>
        <p:spPr>
          <a:xfrm>
            <a:off x="6075272" y="3722772"/>
            <a:ext cx="908528" cy="2441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업무로직</a:t>
            </a:r>
            <a:r>
              <a:rPr kumimoji="1" lang="en-US" altLang="ko-KR" sz="1000" kern="0" dirty="0">
                <a:latin typeface="+mn-ea"/>
              </a:rPr>
              <a:t>N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="" xmlns:a16="http://schemas.microsoft.com/office/drawing/2014/main" id="{50FDBAA4-3790-4748-8D6B-7A7F05CBB7AD}"/>
              </a:ext>
            </a:extLst>
          </p:cNvPr>
          <p:cNvSpPr/>
          <p:nvPr/>
        </p:nvSpPr>
        <p:spPr>
          <a:xfrm>
            <a:off x="6075272" y="2733304"/>
            <a:ext cx="908528" cy="2441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업무로직</a:t>
            </a:r>
            <a:r>
              <a:rPr kumimoji="1" lang="en-US" altLang="ko-KR" sz="1000" kern="0" dirty="0">
                <a:latin typeface="+mn-ea"/>
              </a:rPr>
              <a:t>1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="" xmlns:a16="http://schemas.microsoft.com/office/drawing/2014/main" id="{7F53413A-0BD3-446D-9A95-9DE0DC2EF4D1}"/>
              </a:ext>
            </a:extLst>
          </p:cNvPr>
          <p:cNvSpPr/>
          <p:nvPr/>
        </p:nvSpPr>
        <p:spPr>
          <a:xfrm>
            <a:off x="6075272" y="3005250"/>
            <a:ext cx="908528" cy="2441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업무로직</a:t>
            </a:r>
            <a:r>
              <a:rPr kumimoji="1" lang="en-US" altLang="ko-KR" sz="1000" kern="0" dirty="0">
                <a:latin typeface="+mn-ea"/>
              </a:rPr>
              <a:t>2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="" xmlns:a16="http://schemas.microsoft.com/office/drawing/2014/main" id="{E21C9D5C-1C06-461C-843A-5DB62CBFE231}"/>
              </a:ext>
            </a:extLst>
          </p:cNvPr>
          <p:cNvSpPr/>
          <p:nvPr/>
        </p:nvSpPr>
        <p:spPr>
          <a:xfrm>
            <a:off x="6075272" y="3265216"/>
            <a:ext cx="908528" cy="2441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업무로직</a:t>
            </a:r>
            <a:r>
              <a:rPr kumimoji="1" lang="en-US" altLang="ko-KR" sz="1000" kern="0" dirty="0">
                <a:latin typeface="+mn-ea"/>
              </a:rPr>
              <a:t>3</a:t>
            </a:r>
            <a:endParaRPr kumimoji="1" lang="ko-KR" altLang="en-US" sz="1000" kern="0" dirty="0">
              <a:latin typeface="+mn-ea"/>
            </a:endParaRPr>
          </a:p>
        </p:txBody>
      </p:sp>
      <p:sp>
        <p:nvSpPr>
          <p:cNvPr id="87" name="AutoShape 35">
            <a:extLst>
              <a:ext uri="{FF2B5EF4-FFF2-40B4-BE49-F238E27FC236}">
                <a16:creationId xmlns="" xmlns:a16="http://schemas.microsoft.com/office/drawing/2014/main" id="{EB06782A-5839-469D-B2B7-6896E8D43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4384" y="3468440"/>
            <a:ext cx="468488" cy="151184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…</a:t>
            </a:r>
            <a:endParaRPr lang="ko-KR" altLang="en-US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="" xmlns:a16="http://schemas.microsoft.com/office/drawing/2014/main" id="{E1F3007C-605E-4E15-8C58-2B9E8E60E624}"/>
              </a:ext>
            </a:extLst>
          </p:cNvPr>
          <p:cNvSpPr/>
          <p:nvPr/>
        </p:nvSpPr>
        <p:spPr>
          <a:xfrm>
            <a:off x="5130630" y="2733303"/>
            <a:ext cx="259432" cy="124456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NW</a:t>
            </a:r>
          </a:p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통신모듈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="" xmlns:a16="http://schemas.microsoft.com/office/drawing/2014/main" id="{B90E41D8-CB22-44DE-A884-8BB8A3E1F4E8}"/>
              </a:ext>
            </a:extLst>
          </p:cNvPr>
          <p:cNvSpPr/>
          <p:nvPr/>
        </p:nvSpPr>
        <p:spPr>
          <a:xfrm>
            <a:off x="5446324" y="2733303"/>
            <a:ext cx="259432" cy="124456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000" kern="0" dirty="0">
                <a:latin typeface="+mn-ea"/>
              </a:rPr>
              <a:t>DB</a:t>
            </a:r>
          </a:p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처리모듈</a:t>
            </a:r>
          </a:p>
        </p:txBody>
      </p:sp>
      <p:sp>
        <p:nvSpPr>
          <p:cNvPr id="91" name="사각형: 둥근 모서리 90">
            <a:extLst>
              <a:ext uri="{FF2B5EF4-FFF2-40B4-BE49-F238E27FC236}">
                <a16:creationId xmlns="" xmlns:a16="http://schemas.microsoft.com/office/drawing/2014/main" id="{639D596B-B12C-4BE7-B6D3-0FA8DCB054F2}"/>
              </a:ext>
            </a:extLst>
          </p:cNvPr>
          <p:cNvSpPr/>
          <p:nvPr/>
        </p:nvSpPr>
        <p:spPr>
          <a:xfrm>
            <a:off x="5762017" y="2733303"/>
            <a:ext cx="259432" cy="124456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00" kern="0" dirty="0">
                <a:latin typeface="+mn-ea"/>
              </a:rPr>
              <a:t>흐름제어모듈</a:t>
            </a:r>
          </a:p>
        </p:txBody>
      </p:sp>
      <p:sp>
        <p:nvSpPr>
          <p:cNvPr id="92" name="십자형 91">
            <a:extLst>
              <a:ext uri="{FF2B5EF4-FFF2-40B4-BE49-F238E27FC236}">
                <a16:creationId xmlns="" xmlns:a16="http://schemas.microsoft.com/office/drawing/2014/main" id="{252CA960-8FC1-400B-BF26-BDDDDBF7B6F7}"/>
              </a:ext>
            </a:extLst>
          </p:cNvPr>
          <p:cNvSpPr/>
          <p:nvPr/>
        </p:nvSpPr>
        <p:spPr>
          <a:xfrm>
            <a:off x="5087373" y="5890554"/>
            <a:ext cx="467165" cy="221086"/>
          </a:xfrm>
          <a:prstGeom prst="plus">
            <a:avLst/>
          </a:prstGeom>
          <a:solidFill>
            <a:srgbClr val="BFBFBF"/>
          </a:solidFill>
          <a:ln w="6350">
            <a:solidFill>
              <a:srgbClr val="BFBFB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EAI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십자형 92">
            <a:extLst>
              <a:ext uri="{FF2B5EF4-FFF2-40B4-BE49-F238E27FC236}">
                <a16:creationId xmlns="" xmlns:a16="http://schemas.microsoft.com/office/drawing/2014/main" id="{F16170E7-2CC4-411D-B192-0BEA5686AB2E}"/>
              </a:ext>
            </a:extLst>
          </p:cNvPr>
          <p:cNvSpPr/>
          <p:nvPr/>
        </p:nvSpPr>
        <p:spPr>
          <a:xfrm>
            <a:off x="5582083" y="5890554"/>
            <a:ext cx="467165" cy="221086"/>
          </a:xfrm>
          <a:prstGeom prst="plus">
            <a:avLst/>
          </a:prstGeom>
          <a:solidFill>
            <a:srgbClr val="BFBFBF"/>
          </a:solidFill>
          <a:ln w="6350">
            <a:solidFill>
              <a:srgbClr val="BFBFB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ESB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십자형 93">
            <a:extLst>
              <a:ext uri="{FF2B5EF4-FFF2-40B4-BE49-F238E27FC236}">
                <a16:creationId xmlns="" xmlns:a16="http://schemas.microsoft.com/office/drawing/2014/main" id="{CB5335B1-AFD8-4EE6-AAFE-64871054CEDA}"/>
              </a:ext>
            </a:extLst>
          </p:cNvPr>
          <p:cNvSpPr/>
          <p:nvPr/>
        </p:nvSpPr>
        <p:spPr>
          <a:xfrm>
            <a:off x="6085710" y="5890554"/>
            <a:ext cx="467165" cy="221086"/>
          </a:xfrm>
          <a:prstGeom prst="plus">
            <a:avLst/>
          </a:prstGeom>
          <a:solidFill>
            <a:srgbClr val="BFBFBF"/>
          </a:solidFill>
          <a:ln w="6350">
            <a:solidFill>
              <a:srgbClr val="BFBFB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  <a:latin typeface="+mn-ea"/>
              </a:rPr>
              <a:t>ETL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십자형 94">
            <a:extLst>
              <a:ext uri="{FF2B5EF4-FFF2-40B4-BE49-F238E27FC236}">
                <a16:creationId xmlns="" xmlns:a16="http://schemas.microsoft.com/office/drawing/2014/main" id="{9A3DC3A6-8FC7-472B-9D8A-553AA3C670AA}"/>
              </a:ext>
            </a:extLst>
          </p:cNvPr>
          <p:cNvSpPr/>
          <p:nvPr/>
        </p:nvSpPr>
        <p:spPr>
          <a:xfrm>
            <a:off x="6580420" y="5890554"/>
            <a:ext cx="467165" cy="221086"/>
          </a:xfrm>
          <a:prstGeom prst="plus">
            <a:avLst/>
          </a:prstGeom>
          <a:solidFill>
            <a:srgbClr val="BFBFBF"/>
          </a:solidFill>
          <a:ln w="6350">
            <a:solidFill>
              <a:srgbClr val="BFBFB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CDC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Border">
            <a:extLst>
              <a:ext uri="{FF2B5EF4-FFF2-40B4-BE49-F238E27FC236}">
                <a16:creationId xmlns="" xmlns:a16="http://schemas.microsoft.com/office/drawing/2014/main" id="{470A8F72-6594-41C9-8AA2-4E4600C095CA}"/>
              </a:ext>
            </a:extLst>
          </p:cNvPr>
          <p:cNvSpPr>
            <a:spLocks/>
          </p:cNvSpPr>
          <p:nvPr/>
        </p:nvSpPr>
        <p:spPr bwMode="auto">
          <a:xfrm>
            <a:off x="7613619" y="2712102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97" name="Border">
            <a:extLst>
              <a:ext uri="{FF2B5EF4-FFF2-40B4-BE49-F238E27FC236}">
                <a16:creationId xmlns="" xmlns:a16="http://schemas.microsoft.com/office/drawing/2014/main" id="{359306FC-B42E-42EA-8C9A-E5728CCE1F83}"/>
              </a:ext>
            </a:extLst>
          </p:cNvPr>
          <p:cNvSpPr>
            <a:spLocks/>
          </p:cNvSpPr>
          <p:nvPr/>
        </p:nvSpPr>
        <p:spPr bwMode="auto">
          <a:xfrm>
            <a:off x="7613619" y="2973102"/>
            <a:ext cx="1430099" cy="6750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="" xmlns:a16="http://schemas.microsoft.com/office/drawing/2014/main" id="{99A1DB33-4956-4D8F-8867-ABA668245698}"/>
              </a:ext>
            </a:extLst>
          </p:cNvPr>
          <p:cNvSpPr/>
          <p:nvPr/>
        </p:nvSpPr>
        <p:spPr>
          <a:xfrm>
            <a:off x="7473280" y="2692553"/>
            <a:ext cx="17037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통합 </a:t>
            </a:r>
            <a:r>
              <a:rPr lang="en-US" altLang="ko-KR" sz="1050" b="1" dirty="0">
                <a:solidFill>
                  <a:schemeClr val="bg1"/>
                </a:solidFill>
                <a:latin typeface="+mn-ea"/>
              </a:rPr>
              <a:t>DB</a:t>
            </a:r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1" name="Border">
            <a:extLst>
              <a:ext uri="{FF2B5EF4-FFF2-40B4-BE49-F238E27FC236}">
                <a16:creationId xmlns="" xmlns:a16="http://schemas.microsoft.com/office/drawing/2014/main" id="{2E74C340-02CE-4551-8BC2-CB0EF647FDAA}"/>
              </a:ext>
            </a:extLst>
          </p:cNvPr>
          <p:cNvSpPr>
            <a:spLocks/>
          </p:cNvSpPr>
          <p:nvPr/>
        </p:nvSpPr>
        <p:spPr bwMode="auto">
          <a:xfrm>
            <a:off x="7613619" y="3726555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02" name="Border">
            <a:extLst>
              <a:ext uri="{FF2B5EF4-FFF2-40B4-BE49-F238E27FC236}">
                <a16:creationId xmlns="" xmlns:a16="http://schemas.microsoft.com/office/drawing/2014/main" id="{B94564B6-B0C5-4EFF-9E7E-7A1353A1E42D}"/>
              </a:ext>
            </a:extLst>
          </p:cNvPr>
          <p:cNvSpPr>
            <a:spLocks/>
          </p:cNvSpPr>
          <p:nvPr/>
        </p:nvSpPr>
        <p:spPr bwMode="auto">
          <a:xfrm>
            <a:off x="7613619" y="3987555"/>
            <a:ext cx="1430099" cy="6750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="" xmlns:a16="http://schemas.microsoft.com/office/drawing/2014/main" id="{CF61822F-EEE7-4800-8F1A-41239D7B185D}"/>
              </a:ext>
            </a:extLst>
          </p:cNvPr>
          <p:cNvSpPr/>
          <p:nvPr/>
        </p:nvSpPr>
        <p:spPr>
          <a:xfrm>
            <a:off x="7473280" y="3722246"/>
            <a:ext cx="17037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가상화</a:t>
            </a:r>
          </a:p>
        </p:txBody>
      </p:sp>
      <p:sp>
        <p:nvSpPr>
          <p:cNvPr id="106" name="Border">
            <a:extLst>
              <a:ext uri="{FF2B5EF4-FFF2-40B4-BE49-F238E27FC236}">
                <a16:creationId xmlns="" xmlns:a16="http://schemas.microsoft.com/office/drawing/2014/main" id="{3151AD56-7FA1-471B-BA76-28B16EE90895}"/>
              </a:ext>
            </a:extLst>
          </p:cNvPr>
          <p:cNvSpPr>
            <a:spLocks/>
          </p:cNvSpPr>
          <p:nvPr/>
        </p:nvSpPr>
        <p:spPr bwMode="auto">
          <a:xfrm>
            <a:off x="7613619" y="4725168"/>
            <a:ext cx="1430099" cy="343956"/>
          </a:xfrm>
          <a:prstGeom prst="roundRect">
            <a:avLst>
              <a:gd name="adj" fmla="val 19791"/>
            </a:avLst>
          </a:prstGeom>
          <a:solidFill>
            <a:srgbClr val="508CD2"/>
          </a:solidFill>
          <a:ln w="6350">
            <a:solidFill>
              <a:srgbClr val="01458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07" name="Border">
            <a:extLst>
              <a:ext uri="{FF2B5EF4-FFF2-40B4-BE49-F238E27FC236}">
                <a16:creationId xmlns="" xmlns:a16="http://schemas.microsoft.com/office/drawing/2014/main" id="{6629260B-CDCB-4167-A6B6-9054BDE340D8}"/>
              </a:ext>
            </a:extLst>
          </p:cNvPr>
          <p:cNvSpPr>
            <a:spLocks/>
          </p:cNvSpPr>
          <p:nvPr/>
        </p:nvSpPr>
        <p:spPr bwMode="auto">
          <a:xfrm>
            <a:off x="7613619" y="4986168"/>
            <a:ext cx="1430099" cy="6750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72000" tIns="45720" rIns="72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="" xmlns:a16="http://schemas.microsoft.com/office/drawing/2014/main" id="{571327E4-C7A8-45D1-86B3-88FDC3A059C7}"/>
              </a:ext>
            </a:extLst>
          </p:cNvPr>
          <p:cNvSpPr/>
          <p:nvPr/>
        </p:nvSpPr>
        <p:spPr>
          <a:xfrm>
            <a:off x="7473280" y="4720859"/>
            <a:ext cx="170371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sz="1050" b="1" dirty="0">
                <a:solidFill>
                  <a:schemeClr val="bg1"/>
                </a:solidFill>
                <a:latin typeface="+mn-ea"/>
              </a:rPr>
              <a:t>백업</a:t>
            </a:r>
          </a:p>
        </p:txBody>
      </p:sp>
      <p:sp>
        <p:nvSpPr>
          <p:cNvPr id="116" name="Database">
            <a:extLst>
              <a:ext uri="{FF2B5EF4-FFF2-40B4-BE49-F238E27FC236}">
                <a16:creationId xmlns="" xmlns:a16="http://schemas.microsoft.com/office/drawing/2014/main" id="{E2C3FB17-532E-4F4A-AA34-6A702121B8E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01952" y="3056191"/>
            <a:ext cx="491602" cy="559015"/>
          </a:xfrm>
          <a:custGeom>
            <a:avLst/>
            <a:gdLst>
              <a:gd name="T0" fmla="*/ 587 w 1173"/>
              <a:gd name="T1" fmla="*/ 0 h 1337"/>
              <a:gd name="T2" fmla="*/ 0 w 1173"/>
              <a:gd name="T3" fmla="*/ 262 h 1337"/>
              <a:gd name="T4" fmla="*/ 587 w 1173"/>
              <a:gd name="T5" fmla="*/ 523 h 1337"/>
              <a:gd name="T6" fmla="*/ 1173 w 1173"/>
              <a:gd name="T7" fmla="*/ 262 h 1337"/>
              <a:gd name="T8" fmla="*/ 587 w 1173"/>
              <a:gd name="T9" fmla="*/ 0 h 1337"/>
              <a:gd name="T10" fmla="*/ 0 w 1173"/>
              <a:gd name="T11" fmla="*/ 333 h 1337"/>
              <a:gd name="T12" fmla="*/ 0 w 1173"/>
              <a:gd name="T13" fmla="*/ 533 h 1337"/>
              <a:gd name="T14" fmla="*/ 587 w 1173"/>
              <a:gd name="T15" fmla="*/ 794 h 1337"/>
              <a:gd name="T16" fmla="*/ 1173 w 1173"/>
              <a:gd name="T17" fmla="*/ 533 h 1337"/>
              <a:gd name="T18" fmla="*/ 1173 w 1173"/>
              <a:gd name="T19" fmla="*/ 333 h 1337"/>
              <a:gd name="T20" fmla="*/ 587 w 1173"/>
              <a:gd name="T21" fmla="*/ 594 h 1337"/>
              <a:gd name="T22" fmla="*/ 0 w 1173"/>
              <a:gd name="T23" fmla="*/ 333 h 1337"/>
              <a:gd name="T24" fmla="*/ 0 w 1173"/>
              <a:gd name="T25" fmla="*/ 604 h 1337"/>
              <a:gd name="T26" fmla="*/ 0 w 1173"/>
              <a:gd name="T27" fmla="*/ 804 h 1337"/>
              <a:gd name="T28" fmla="*/ 587 w 1173"/>
              <a:gd name="T29" fmla="*/ 1066 h 1337"/>
              <a:gd name="T30" fmla="*/ 1173 w 1173"/>
              <a:gd name="T31" fmla="*/ 804 h 1337"/>
              <a:gd name="T32" fmla="*/ 1173 w 1173"/>
              <a:gd name="T33" fmla="*/ 604 h 1337"/>
              <a:gd name="T34" fmla="*/ 587 w 1173"/>
              <a:gd name="T35" fmla="*/ 865 h 1337"/>
              <a:gd name="T36" fmla="*/ 0 w 1173"/>
              <a:gd name="T37" fmla="*/ 604 h 1337"/>
              <a:gd name="T38" fmla="*/ 0 w 1173"/>
              <a:gd name="T39" fmla="*/ 876 h 1337"/>
              <a:gd name="T40" fmla="*/ 0 w 1173"/>
              <a:gd name="T41" fmla="*/ 1076 h 1337"/>
              <a:gd name="T42" fmla="*/ 587 w 1173"/>
              <a:gd name="T43" fmla="*/ 1337 h 1337"/>
              <a:gd name="T44" fmla="*/ 1173 w 1173"/>
              <a:gd name="T45" fmla="*/ 1076 h 1337"/>
              <a:gd name="T46" fmla="*/ 1173 w 1173"/>
              <a:gd name="T47" fmla="*/ 876 h 1337"/>
              <a:gd name="T48" fmla="*/ 587 w 1173"/>
              <a:gd name="T49" fmla="*/ 1137 h 1337"/>
              <a:gd name="T50" fmla="*/ 0 w 1173"/>
              <a:gd name="T51" fmla="*/ 876 h 1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73" h="1337">
                <a:moveTo>
                  <a:pt x="587" y="0"/>
                </a:moveTo>
                <a:cubicBezTo>
                  <a:pt x="262" y="0"/>
                  <a:pt x="0" y="117"/>
                  <a:pt x="0" y="262"/>
                </a:cubicBezTo>
                <a:cubicBezTo>
                  <a:pt x="0" y="406"/>
                  <a:pt x="262" y="523"/>
                  <a:pt x="587" y="523"/>
                </a:cubicBezTo>
                <a:cubicBezTo>
                  <a:pt x="911" y="523"/>
                  <a:pt x="1173" y="406"/>
                  <a:pt x="1173" y="262"/>
                </a:cubicBezTo>
                <a:cubicBezTo>
                  <a:pt x="1173" y="117"/>
                  <a:pt x="911" y="0"/>
                  <a:pt x="587" y="0"/>
                </a:cubicBezTo>
                <a:close/>
                <a:moveTo>
                  <a:pt x="0" y="333"/>
                </a:moveTo>
                <a:lnTo>
                  <a:pt x="0" y="533"/>
                </a:lnTo>
                <a:cubicBezTo>
                  <a:pt x="0" y="677"/>
                  <a:pt x="262" y="794"/>
                  <a:pt x="587" y="794"/>
                </a:cubicBezTo>
                <a:cubicBezTo>
                  <a:pt x="911" y="794"/>
                  <a:pt x="1173" y="677"/>
                  <a:pt x="1173" y="533"/>
                </a:cubicBezTo>
                <a:lnTo>
                  <a:pt x="1173" y="333"/>
                </a:lnTo>
                <a:cubicBezTo>
                  <a:pt x="1173" y="477"/>
                  <a:pt x="911" y="594"/>
                  <a:pt x="587" y="594"/>
                </a:cubicBezTo>
                <a:cubicBezTo>
                  <a:pt x="262" y="594"/>
                  <a:pt x="0" y="477"/>
                  <a:pt x="0" y="333"/>
                </a:cubicBezTo>
                <a:close/>
                <a:moveTo>
                  <a:pt x="0" y="604"/>
                </a:moveTo>
                <a:lnTo>
                  <a:pt x="0" y="804"/>
                </a:lnTo>
                <a:cubicBezTo>
                  <a:pt x="0" y="949"/>
                  <a:pt x="262" y="1066"/>
                  <a:pt x="587" y="1066"/>
                </a:cubicBezTo>
                <a:cubicBezTo>
                  <a:pt x="911" y="1066"/>
                  <a:pt x="1173" y="949"/>
                  <a:pt x="1173" y="804"/>
                </a:cubicBezTo>
                <a:lnTo>
                  <a:pt x="1173" y="604"/>
                </a:lnTo>
                <a:cubicBezTo>
                  <a:pt x="1173" y="749"/>
                  <a:pt x="911" y="865"/>
                  <a:pt x="587" y="865"/>
                </a:cubicBezTo>
                <a:cubicBezTo>
                  <a:pt x="262" y="865"/>
                  <a:pt x="0" y="749"/>
                  <a:pt x="0" y="604"/>
                </a:cubicBezTo>
                <a:close/>
                <a:moveTo>
                  <a:pt x="0" y="876"/>
                </a:moveTo>
                <a:lnTo>
                  <a:pt x="0" y="1076"/>
                </a:lnTo>
                <a:cubicBezTo>
                  <a:pt x="0" y="1220"/>
                  <a:pt x="262" y="1337"/>
                  <a:pt x="587" y="1337"/>
                </a:cubicBezTo>
                <a:cubicBezTo>
                  <a:pt x="911" y="1337"/>
                  <a:pt x="1173" y="1220"/>
                  <a:pt x="1173" y="1076"/>
                </a:cubicBezTo>
                <a:lnTo>
                  <a:pt x="1173" y="876"/>
                </a:lnTo>
                <a:cubicBezTo>
                  <a:pt x="1173" y="1020"/>
                  <a:pt x="911" y="1137"/>
                  <a:pt x="587" y="1137"/>
                </a:cubicBezTo>
                <a:cubicBezTo>
                  <a:pt x="262" y="1137"/>
                  <a:pt x="0" y="1020"/>
                  <a:pt x="0" y="8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7" name="AutoShape 35">
            <a:extLst>
              <a:ext uri="{FF2B5EF4-FFF2-40B4-BE49-F238E27FC236}">
                <a16:creationId xmlns="" xmlns:a16="http://schemas.microsoft.com/office/drawing/2014/main" id="{2F0922AA-C3B8-40F4-B8C8-1FA954D70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1833" y="3091347"/>
            <a:ext cx="566871" cy="151184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DBMS</a:t>
            </a:r>
            <a:endParaRPr lang="ko-KR" altLang="en-US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19" name="Database">
            <a:extLst>
              <a:ext uri="{FF2B5EF4-FFF2-40B4-BE49-F238E27FC236}">
                <a16:creationId xmlns="" xmlns:a16="http://schemas.microsoft.com/office/drawing/2014/main" id="{C024C3D2-73A5-4CB8-BC34-6FC4E6194E3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89609" y="3056191"/>
            <a:ext cx="491602" cy="559015"/>
          </a:xfrm>
          <a:custGeom>
            <a:avLst/>
            <a:gdLst>
              <a:gd name="T0" fmla="*/ 587 w 1173"/>
              <a:gd name="T1" fmla="*/ 0 h 1337"/>
              <a:gd name="T2" fmla="*/ 0 w 1173"/>
              <a:gd name="T3" fmla="*/ 262 h 1337"/>
              <a:gd name="T4" fmla="*/ 587 w 1173"/>
              <a:gd name="T5" fmla="*/ 523 h 1337"/>
              <a:gd name="T6" fmla="*/ 1173 w 1173"/>
              <a:gd name="T7" fmla="*/ 262 h 1337"/>
              <a:gd name="T8" fmla="*/ 587 w 1173"/>
              <a:gd name="T9" fmla="*/ 0 h 1337"/>
              <a:gd name="T10" fmla="*/ 0 w 1173"/>
              <a:gd name="T11" fmla="*/ 333 h 1337"/>
              <a:gd name="T12" fmla="*/ 0 w 1173"/>
              <a:gd name="T13" fmla="*/ 533 h 1337"/>
              <a:gd name="T14" fmla="*/ 587 w 1173"/>
              <a:gd name="T15" fmla="*/ 794 h 1337"/>
              <a:gd name="T16" fmla="*/ 1173 w 1173"/>
              <a:gd name="T17" fmla="*/ 533 h 1337"/>
              <a:gd name="T18" fmla="*/ 1173 w 1173"/>
              <a:gd name="T19" fmla="*/ 333 h 1337"/>
              <a:gd name="T20" fmla="*/ 587 w 1173"/>
              <a:gd name="T21" fmla="*/ 594 h 1337"/>
              <a:gd name="T22" fmla="*/ 0 w 1173"/>
              <a:gd name="T23" fmla="*/ 333 h 1337"/>
              <a:gd name="T24" fmla="*/ 0 w 1173"/>
              <a:gd name="T25" fmla="*/ 604 h 1337"/>
              <a:gd name="T26" fmla="*/ 0 w 1173"/>
              <a:gd name="T27" fmla="*/ 804 h 1337"/>
              <a:gd name="T28" fmla="*/ 587 w 1173"/>
              <a:gd name="T29" fmla="*/ 1066 h 1337"/>
              <a:gd name="T30" fmla="*/ 1173 w 1173"/>
              <a:gd name="T31" fmla="*/ 804 h 1337"/>
              <a:gd name="T32" fmla="*/ 1173 w 1173"/>
              <a:gd name="T33" fmla="*/ 604 h 1337"/>
              <a:gd name="T34" fmla="*/ 587 w 1173"/>
              <a:gd name="T35" fmla="*/ 865 h 1337"/>
              <a:gd name="T36" fmla="*/ 0 w 1173"/>
              <a:gd name="T37" fmla="*/ 604 h 1337"/>
              <a:gd name="T38" fmla="*/ 0 w 1173"/>
              <a:gd name="T39" fmla="*/ 876 h 1337"/>
              <a:gd name="T40" fmla="*/ 0 w 1173"/>
              <a:gd name="T41" fmla="*/ 1076 h 1337"/>
              <a:gd name="T42" fmla="*/ 587 w 1173"/>
              <a:gd name="T43" fmla="*/ 1337 h 1337"/>
              <a:gd name="T44" fmla="*/ 1173 w 1173"/>
              <a:gd name="T45" fmla="*/ 1076 h 1337"/>
              <a:gd name="T46" fmla="*/ 1173 w 1173"/>
              <a:gd name="T47" fmla="*/ 876 h 1337"/>
              <a:gd name="T48" fmla="*/ 587 w 1173"/>
              <a:gd name="T49" fmla="*/ 1137 h 1337"/>
              <a:gd name="T50" fmla="*/ 0 w 1173"/>
              <a:gd name="T51" fmla="*/ 876 h 1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73" h="1337">
                <a:moveTo>
                  <a:pt x="587" y="0"/>
                </a:moveTo>
                <a:cubicBezTo>
                  <a:pt x="262" y="0"/>
                  <a:pt x="0" y="117"/>
                  <a:pt x="0" y="262"/>
                </a:cubicBezTo>
                <a:cubicBezTo>
                  <a:pt x="0" y="406"/>
                  <a:pt x="262" y="523"/>
                  <a:pt x="587" y="523"/>
                </a:cubicBezTo>
                <a:cubicBezTo>
                  <a:pt x="911" y="523"/>
                  <a:pt x="1173" y="406"/>
                  <a:pt x="1173" y="262"/>
                </a:cubicBezTo>
                <a:cubicBezTo>
                  <a:pt x="1173" y="117"/>
                  <a:pt x="911" y="0"/>
                  <a:pt x="587" y="0"/>
                </a:cubicBezTo>
                <a:close/>
                <a:moveTo>
                  <a:pt x="0" y="333"/>
                </a:moveTo>
                <a:lnTo>
                  <a:pt x="0" y="533"/>
                </a:lnTo>
                <a:cubicBezTo>
                  <a:pt x="0" y="677"/>
                  <a:pt x="262" y="794"/>
                  <a:pt x="587" y="794"/>
                </a:cubicBezTo>
                <a:cubicBezTo>
                  <a:pt x="911" y="794"/>
                  <a:pt x="1173" y="677"/>
                  <a:pt x="1173" y="533"/>
                </a:cubicBezTo>
                <a:lnTo>
                  <a:pt x="1173" y="333"/>
                </a:lnTo>
                <a:cubicBezTo>
                  <a:pt x="1173" y="477"/>
                  <a:pt x="911" y="594"/>
                  <a:pt x="587" y="594"/>
                </a:cubicBezTo>
                <a:cubicBezTo>
                  <a:pt x="262" y="594"/>
                  <a:pt x="0" y="477"/>
                  <a:pt x="0" y="333"/>
                </a:cubicBezTo>
                <a:close/>
                <a:moveTo>
                  <a:pt x="0" y="604"/>
                </a:moveTo>
                <a:lnTo>
                  <a:pt x="0" y="804"/>
                </a:lnTo>
                <a:cubicBezTo>
                  <a:pt x="0" y="949"/>
                  <a:pt x="262" y="1066"/>
                  <a:pt x="587" y="1066"/>
                </a:cubicBezTo>
                <a:cubicBezTo>
                  <a:pt x="911" y="1066"/>
                  <a:pt x="1173" y="949"/>
                  <a:pt x="1173" y="804"/>
                </a:cubicBezTo>
                <a:lnTo>
                  <a:pt x="1173" y="604"/>
                </a:lnTo>
                <a:cubicBezTo>
                  <a:pt x="1173" y="749"/>
                  <a:pt x="911" y="865"/>
                  <a:pt x="587" y="865"/>
                </a:cubicBezTo>
                <a:cubicBezTo>
                  <a:pt x="262" y="865"/>
                  <a:pt x="0" y="749"/>
                  <a:pt x="0" y="604"/>
                </a:cubicBezTo>
                <a:close/>
                <a:moveTo>
                  <a:pt x="0" y="876"/>
                </a:moveTo>
                <a:lnTo>
                  <a:pt x="0" y="1076"/>
                </a:lnTo>
                <a:cubicBezTo>
                  <a:pt x="0" y="1220"/>
                  <a:pt x="262" y="1337"/>
                  <a:pt x="587" y="1337"/>
                </a:cubicBezTo>
                <a:cubicBezTo>
                  <a:pt x="911" y="1337"/>
                  <a:pt x="1173" y="1220"/>
                  <a:pt x="1173" y="1076"/>
                </a:cubicBezTo>
                <a:lnTo>
                  <a:pt x="1173" y="876"/>
                </a:lnTo>
                <a:cubicBezTo>
                  <a:pt x="1173" y="1020"/>
                  <a:pt x="911" y="1137"/>
                  <a:pt x="587" y="1137"/>
                </a:cubicBezTo>
                <a:cubicBezTo>
                  <a:pt x="262" y="1137"/>
                  <a:pt x="0" y="1020"/>
                  <a:pt x="0" y="8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20" name="AutoShape 35">
            <a:extLst>
              <a:ext uri="{FF2B5EF4-FFF2-40B4-BE49-F238E27FC236}">
                <a16:creationId xmlns="" xmlns:a16="http://schemas.microsoft.com/office/drawing/2014/main" id="{89F8BF94-9F8B-428B-B190-DE13BE597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4711" y="3091347"/>
            <a:ext cx="566871" cy="151184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DBMS</a:t>
            </a:r>
            <a:endParaRPr lang="ko-KR" altLang="en-US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21" name="Database">
            <a:extLst>
              <a:ext uri="{FF2B5EF4-FFF2-40B4-BE49-F238E27FC236}">
                <a16:creationId xmlns="" xmlns:a16="http://schemas.microsoft.com/office/drawing/2014/main" id="{F0F657DF-12C5-4705-B849-695BD79A63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66055" y="4059182"/>
            <a:ext cx="491602" cy="559015"/>
          </a:xfrm>
          <a:custGeom>
            <a:avLst/>
            <a:gdLst>
              <a:gd name="T0" fmla="*/ 587 w 1173"/>
              <a:gd name="T1" fmla="*/ 0 h 1337"/>
              <a:gd name="T2" fmla="*/ 0 w 1173"/>
              <a:gd name="T3" fmla="*/ 262 h 1337"/>
              <a:gd name="T4" fmla="*/ 587 w 1173"/>
              <a:gd name="T5" fmla="*/ 523 h 1337"/>
              <a:gd name="T6" fmla="*/ 1173 w 1173"/>
              <a:gd name="T7" fmla="*/ 262 h 1337"/>
              <a:gd name="T8" fmla="*/ 587 w 1173"/>
              <a:gd name="T9" fmla="*/ 0 h 1337"/>
              <a:gd name="T10" fmla="*/ 0 w 1173"/>
              <a:gd name="T11" fmla="*/ 333 h 1337"/>
              <a:gd name="T12" fmla="*/ 0 w 1173"/>
              <a:gd name="T13" fmla="*/ 533 h 1337"/>
              <a:gd name="T14" fmla="*/ 587 w 1173"/>
              <a:gd name="T15" fmla="*/ 794 h 1337"/>
              <a:gd name="T16" fmla="*/ 1173 w 1173"/>
              <a:gd name="T17" fmla="*/ 533 h 1337"/>
              <a:gd name="T18" fmla="*/ 1173 w 1173"/>
              <a:gd name="T19" fmla="*/ 333 h 1337"/>
              <a:gd name="T20" fmla="*/ 587 w 1173"/>
              <a:gd name="T21" fmla="*/ 594 h 1337"/>
              <a:gd name="T22" fmla="*/ 0 w 1173"/>
              <a:gd name="T23" fmla="*/ 333 h 1337"/>
              <a:gd name="T24" fmla="*/ 0 w 1173"/>
              <a:gd name="T25" fmla="*/ 604 h 1337"/>
              <a:gd name="T26" fmla="*/ 0 w 1173"/>
              <a:gd name="T27" fmla="*/ 804 h 1337"/>
              <a:gd name="T28" fmla="*/ 587 w 1173"/>
              <a:gd name="T29" fmla="*/ 1066 h 1337"/>
              <a:gd name="T30" fmla="*/ 1173 w 1173"/>
              <a:gd name="T31" fmla="*/ 804 h 1337"/>
              <a:gd name="T32" fmla="*/ 1173 w 1173"/>
              <a:gd name="T33" fmla="*/ 604 h 1337"/>
              <a:gd name="T34" fmla="*/ 587 w 1173"/>
              <a:gd name="T35" fmla="*/ 865 h 1337"/>
              <a:gd name="T36" fmla="*/ 0 w 1173"/>
              <a:gd name="T37" fmla="*/ 604 h 1337"/>
              <a:gd name="T38" fmla="*/ 0 w 1173"/>
              <a:gd name="T39" fmla="*/ 876 h 1337"/>
              <a:gd name="T40" fmla="*/ 0 w 1173"/>
              <a:gd name="T41" fmla="*/ 1076 h 1337"/>
              <a:gd name="T42" fmla="*/ 587 w 1173"/>
              <a:gd name="T43" fmla="*/ 1337 h 1337"/>
              <a:gd name="T44" fmla="*/ 1173 w 1173"/>
              <a:gd name="T45" fmla="*/ 1076 h 1337"/>
              <a:gd name="T46" fmla="*/ 1173 w 1173"/>
              <a:gd name="T47" fmla="*/ 876 h 1337"/>
              <a:gd name="T48" fmla="*/ 587 w 1173"/>
              <a:gd name="T49" fmla="*/ 1137 h 1337"/>
              <a:gd name="T50" fmla="*/ 0 w 1173"/>
              <a:gd name="T51" fmla="*/ 876 h 1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73" h="1337">
                <a:moveTo>
                  <a:pt x="587" y="0"/>
                </a:moveTo>
                <a:cubicBezTo>
                  <a:pt x="262" y="0"/>
                  <a:pt x="0" y="117"/>
                  <a:pt x="0" y="262"/>
                </a:cubicBezTo>
                <a:cubicBezTo>
                  <a:pt x="0" y="406"/>
                  <a:pt x="262" y="523"/>
                  <a:pt x="587" y="523"/>
                </a:cubicBezTo>
                <a:cubicBezTo>
                  <a:pt x="911" y="523"/>
                  <a:pt x="1173" y="406"/>
                  <a:pt x="1173" y="262"/>
                </a:cubicBezTo>
                <a:cubicBezTo>
                  <a:pt x="1173" y="117"/>
                  <a:pt x="911" y="0"/>
                  <a:pt x="587" y="0"/>
                </a:cubicBezTo>
                <a:close/>
                <a:moveTo>
                  <a:pt x="0" y="333"/>
                </a:moveTo>
                <a:lnTo>
                  <a:pt x="0" y="533"/>
                </a:lnTo>
                <a:cubicBezTo>
                  <a:pt x="0" y="677"/>
                  <a:pt x="262" y="794"/>
                  <a:pt x="587" y="794"/>
                </a:cubicBezTo>
                <a:cubicBezTo>
                  <a:pt x="911" y="794"/>
                  <a:pt x="1173" y="677"/>
                  <a:pt x="1173" y="533"/>
                </a:cubicBezTo>
                <a:lnTo>
                  <a:pt x="1173" y="333"/>
                </a:lnTo>
                <a:cubicBezTo>
                  <a:pt x="1173" y="477"/>
                  <a:pt x="911" y="594"/>
                  <a:pt x="587" y="594"/>
                </a:cubicBezTo>
                <a:cubicBezTo>
                  <a:pt x="262" y="594"/>
                  <a:pt x="0" y="477"/>
                  <a:pt x="0" y="333"/>
                </a:cubicBezTo>
                <a:close/>
                <a:moveTo>
                  <a:pt x="0" y="604"/>
                </a:moveTo>
                <a:lnTo>
                  <a:pt x="0" y="804"/>
                </a:lnTo>
                <a:cubicBezTo>
                  <a:pt x="0" y="949"/>
                  <a:pt x="262" y="1066"/>
                  <a:pt x="587" y="1066"/>
                </a:cubicBezTo>
                <a:cubicBezTo>
                  <a:pt x="911" y="1066"/>
                  <a:pt x="1173" y="949"/>
                  <a:pt x="1173" y="804"/>
                </a:cubicBezTo>
                <a:lnTo>
                  <a:pt x="1173" y="604"/>
                </a:lnTo>
                <a:cubicBezTo>
                  <a:pt x="1173" y="749"/>
                  <a:pt x="911" y="865"/>
                  <a:pt x="587" y="865"/>
                </a:cubicBezTo>
                <a:cubicBezTo>
                  <a:pt x="262" y="865"/>
                  <a:pt x="0" y="749"/>
                  <a:pt x="0" y="604"/>
                </a:cubicBezTo>
                <a:close/>
                <a:moveTo>
                  <a:pt x="0" y="876"/>
                </a:moveTo>
                <a:lnTo>
                  <a:pt x="0" y="1076"/>
                </a:lnTo>
                <a:cubicBezTo>
                  <a:pt x="0" y="1220"/>
                  <a:pt x="262" y="1337"/>
                  <a:pt x="587" y="1337"/>
                </a:cubicBezTo>
                <a:cubicBezTo>
                  <a:pt x="911" y="1337"/>
                  <a:pt x="1173" y="1220"/>
                  <a:pt x="1173" y="1076"/>
                </a:cubicBezTo>
                <a:lnTo>
                  <a:pt x="1173" y="876"/>
                </a:lnTo>
                <a:cubicBezTo>
                  <a:pt x="1173" y="1020"/>
                  <a:pt x="911" y="1137"/>
                  <a:pt x="587" y="1137"/>
                </a:cubicBezTo>
                <a:cubicBezTo>
                  <a:pt x="262" y="1137"/>
                  <a:pt x="0" y="1020"/>
                  <a:pt x="0" y="8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22" name="AutoShape 35">
            <a:extLst>
              <a:ext uri="{FF2B5EF4-FFF2-40B4-BE49-F238E27FC236}">
                <a16:creationId xmlns="" xmlns:a16="http://schemas.microsoft.com/office/drawing/2014/main" id="{1ECEAD50-B786-4194-B325-63921CB93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936" y="4094338"/>
            <a:ext cx="566871" cy="151184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VM</a:t>
            </a:r>
            <a:endParaRPr lang="ko-KR" altLang="en-US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23" name="Server Rack">
            <a:extLst>
              <a:ext uri="{FF2B5EF4-FFF2-40B4-BE49-F238E27FC236}">
                <a16:creationId xmlns="" xmlns:a16="http://schemas.microsoft.com/office/drawing/2014/main" id="{06E6C695-0AD3-49E7-9FCC-CEBD8CC004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0457" y="5091467"/>
            <a:ext cx="424109" cy="424107"/>
          </a:xfrm>
          <a:custGeom>
            <a:avLst/>
            <a:gdLst>
              <a:gd name="T0" fmla="*/ 271 w 1411"/>
              <a:gd name="T1" fmla="*/ 0 h 1411"/>
              <a:gd name="T2" fmla="*/ 109 w 1411"/>
              <a:gd name="T3" fmla="*/ 163 h 1411"/>
              <a:gd name="T4" fmla="*/ 3 w 1411"/>
              <a:gd name="T5" fmla="*/ 448 h 1411"/>
              <a:gd name="T6" fmla="*/ 54 w 1411"/>
              <a:gd name="T7" fmla="*/ 434 h 1411"/>
              <a:gd name="T8" fmla="*/ 1357 w 1411"/>
              <a:gd name="T9" fmla="*/ 434 h 1411"/>
              <a:gd name="T10" fmla="*/ 1408 w 1411"/>
              <a:gd name="T11" fmla="*/ 448 h 1411"/>
              <a:gd name="T12" fmla="*/ 1303 w 1411"/>
              <a:gd name="T13" fmla="*/ 163 h 1411"/>
              <a:gd name="T14" fmla="*/ 1140 w 1411"/>
              <a:gd name="T15" fmla="*/ 0 h 1411"/>
              <a:gd name="T16" fmla="*/ 271 w 1411"/>
              <a:gd name="T17" fmla="*/ 0 h 1411"/>
              <a:gd name="T18" fmla="*/ 54 w 1411"/>
              <a:gd name="T19" fmla="*/ 488 h 1411"/>
              <a:gd name="T20" fmla="*/ 0 w 1411"/>
              <a:gd name="T21" fmla="*/ 543 h 1411"/>
              <a:gd name="T22" fmla="*/ 0 w 1411"/>
              <a:gd name="T23" fmla="*/ 706 h 1411"/>
              <a:gd name="T24" fmla="*/ 54 w 1411"/>
              <a:gd name="T25" fmla="*/ 760 h 1411"/>
              <a:gd name="T26" fmla="*/ 1357 w 1411"/>
              <a:gd name="T27" fmla="*/ 760 h 1411"/>
              <a:gd name="T28" fmla="*/ 1411 w 1411"/>
              <a:gd name="T29" fmla="*/ 706 h 1411"/>
              <a:gd name="T30" fmla="*/ 1411 w 1411"/>
              <a:gd name="T31" fmla="*/ 543 h 1411"/>
              <a:gd name="T32" fmla="*/ 1357 w 1411"/>
              <a:gd name="T33" fmla="*/ 488 h 1411"/>
              <a:gd name="T34" fmla="*/ 54 w 1411"/>
              <a:gd name="T35" fmla="*/ 488 h 1411"/>
              <a:gd name="T36" fmla="*/ 1221 w 1411"/>
              <a:gd name="T37" fmla="*/ 543 h 1411"/>
              <a:gd name="T38" fmla="*/ 1303 w 1411"/>
              <a:gd name="T39" fmla="*/ 624 h 1411"/>
              <a:gd name="T40" fmla="*/ 1221 w 1411"/>
              <a:gd name="T41" fmla="*/ 706 h 1411"/>
              <a:gd name="T42" fmla="*/ 1140 w 1411"/>
              <a:gd name="T43" fmla="*/ 624 h 1411"/>
              <a:gd name="T44" fmla="*/ 1221 w 1411"/>
              <a:gd name="T45" fmla="*/ 543 h 1411"/>
              <a:gd name="T46" fmla="*/ 54 w 1411"/>
              <a:gd name="T47" fmla="*/ 814 h 1411"/>
              <a:gd name="T48" fmla="*/ 0 w 1411"/>
              <a:gd name="T49" fmla="*/ 868 h 1411"/>
              <a:gd name="T50" fmla="*/ 0 w 1411"/>
              <a:gd name="T51" fmla="*/ 1031 h 1411"/>
              <a:gd name="T52" fmla="*/ 54 w 1411"/>
              <a:gd name="T53" fmla="*/ 1085 h 1411"/>
              <a:gd name="T54" fmla="*/ 1357 w 1411"/>
              <a:gd name="T55" fmla="*/ 1085 h 1411"/>
              <a:gd name="T56" fmla="*/ 1411 w 1411"/>
              <a:gd name="T57" fmla="*/ 1031 h 1411"/>
              <a:gd name="T58" fmla="*/ 1411 w 1411"/>
              <a:gd name="T59" fmla="*/ 868 h 1411"/>
              <a:gd name="T60" fmla="*/ 1357 w 1411"/>
              <a:gd name="T61" fmla="*/ 814 h 1411"/>
              <a:gd name="T62" fmla="*/ 54 w 1411"/>
              <a:gd name="T63" fmla="*/ 814 h 1411"/>
              <a:gd name="T64" fmla="*/ 1221 w 1411"/>
              <a:gd name="T65" fmla="*/ 868 h 1411"/>
              <a:gd name="T66" fmla="*/ 1303 w 1411"/>
              <a:gd name="T67" fmla="*/ 950 h 1411"/>
              <a:gd name="T68" fmla="*/ 1221 w 1411"/>
              <a:gd name="T69" fmla="*/ 1031 h 1411"/>
              <a:gd name="T70" fmla="*/ 1140 w 1411"/>
              <a:gd name="T71" fmla="*/ 950 h 1411"/>
              <a:gd name="T72" fmla="*/ 1221 w 1411"/>
              <a:gd name="T73" fmla="*/ 868 h 1411"/>
              <a:gd name="T74" fmla="*/ 54 w 1411"/>
              <a:gd name="T75" fmla="*/ 1140 h 1411"/>
              <a:gd name="T76" fmla="*/ 0 w 1411"/>
              <a:gd name="T77" fmla="*/ 1194 h 1411"/>
              <a:gd name="T78" fmla="*/ 0 w 1411"/>
              <a:gd name="T79" fmla="*/ 1357 h 1411"/>
              <a:gd name="T80" fmla="*/ 54 w 1411"/>
              <a:gd name="T81" fmla="*/ 1411 h 1411"/>
              <a:gd name="T82" fmla="*/ 1357 w 1411"/>
              <a:gd name="T83" fmla="*/ 1411 h 1411"/>
              <a:gd name="T84" fmla="*/ 1411 w 1411"/>
              <a:gd name="T85" fmla="*/ 1357 h 1411"/>
              <a:gd name="T86" fmla="*/ 1411 w 1411"/>
              <a:gd name="T87" fmla="*/ 1194 h 1411"/>
              <a:gd name="T88" fmla="*/ 1357 w 1411"/>
              <a:gd name="T89" fmla="*/ 1140 h 1411"/>
              <a:gd name="T90" fmla="*/ 54 w 1411"/>
              <a:gd name="T91" fmla="*/ 1140 h 1411"/>
              <a:gd name="T92" fmla="*/ 1221 w 1411"/>
              <a:gd name="T93" fmla="*/ 1194 h 1411"/>
              <a:gd name="T94" fmla="*/ 1303 w 1411"/>
              <a:gd name="T95" fmla="*/ 1275 h 1411"/>
              <a:gd name="T96" fmla="*/ 1221 w 1411"/>
              <a:gd name="T97" fmla="*/ 1357 h 1411"/>
              <a:gd name="T98" fmla="*/ 1140 w 1411"/>
              <a:gd name="T99" fmla="*/ 1275 h 1411"/>
              <a:gd name="T100" fmla="*/ 1221 w 1411"/>
              <a:gd name="T101" fmla="*/ 119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11" h="1411">
                <a:moveTo>
                  <a:pt x="271" y="0"/>
                </a:moveTo>
                <a:cubicBezTo>
                  <a:pt x="181" y="0"/>
                  <a:pt x="142" y="77"/>
                  <a:pt x="109" y="163"/>
                </a:cubicBezTo>
                <a:lnTo>
                  <a:pt x="3" y="448"/>
                </a:lnTo>
                <a:cubicBezTo>
                  <a:pt x="19" y="439"/>
                  <a:pt x="35" y="434"/>
                  <a:pt x="54" y="434"/>
                </a:cubicBezTo>
                <a:lnTo>
                  <a:pt x="1357" y="434"/>
                </a:lnTo>
                <a:cubicBezTo>
                  <a:pt x="1376" y="434"/>
                  <a:pt x="1392" y="439"/>
                  <a:pt x="1408" y="448"/>
                </a:cubicBezTo>
                <a:lnTo>
                  <a:pt x="1303" y="163"/>
                </a:lnTo>
                <a:cubicBezTo>
                  <a:pt x="1264" y="80"/>
                  <a:pt x="1230" y="0"/>
                  <a:pt x="1140" y="0"/>
                </a:cubicBezTo>
                <a:lnTo>
                  <a:pt x="271" y="0"/>
                </a:lnTo>
                <a:close/>
                <a:moveTo>
                  <a:pt x="54" y="488"/>
                </a:moveTo>
                <a:cubicBezTo>
                  <a:pt x="24" y="488"/>
                  <a:pt x="0" y="513"/>
                  <a:pt x="0" y="543"/>
                </a:cubicBezTo>
                <a:lnTo>
                  <a:pt x="0" y="706"/>
                </a:lnTo>
                <a:cubicBezTo>
                  <a:pt x="0" y="735"/>
                  <a:pt x="24" y="760"/>
                  <a:pt x="54" y="760"/>
                </a:cubicBezTo>
                <a:lnTo>
                  <a:pt x="1357" y="760"/>
                </a:lnTo>
                <a:cubicBezTo>
                  <a:pt x="1387" y="760"/>
                  <a:pt x="1411" y="735"/>
                  <a:pt x="1411" y="706"/>
                </a:cubicBezTo>
                <a:lnTo>
                  <a:pt x="1411" y="543"/>
                </a:lnTo>
                <a:cubicBezTo>
                  <a:pt x="1411" y="513"/>
                  <a:pt x="1387" y="488"/>
                  <a:pt x="1357" y="488"/>
                </a:cubicBezTo>
                <a:lnTo>
                  <a:pt x="54" y="488"/>
                </a:lnTo>
                <a:close/>
                <a:moveTo>
                  <a:pt x="1221" y="543"/>
                </a:moveTo>
                <a:cubicBezTo>
                  <a:pt x="1266" y="543"/>
                  <a:pt x="1303" y="579"/>
                  <a:pt x="1303" y="624"/>
                </a:cubicBezTo>
                <a:cubicBezTo>
                  <a:pt x="1303" y="669"/>
                  <a:pt x="1266" y="706"/>
                  <a:pt x="1221" y="706"/>
                </a:cubicBezTo>
                <a:cubicBezTo>
                  <a:pt x="1176" y="706"/>
                  <a:pt x="1140" y="669"/>
                  <a:pt x="1140" y="624"/>
                </a:cubicBezTo>
                <a:cubicBezTo>
                  <a:pt x="1140" y="579"/>
                  <a:pt x="1176" y="543"/>
                  <a:pt x="1221" y="543"/>
                </a:cubicBezTo>
                <a:close/>
                <a:moveTo>
                  <a:pt x="54" y="814"/>
                </a:moveTo>
                <a:cubicBezTo>
                  <a:pt x="24" y="814"/>
                  <a:pt x="0" y="838"/>
                  <a:pt x="0" y="868"/>
                </a:cubicBezTo>
                <a:lnTo>
                  <a:pt x="0" y="1031"/>
                </a:lnTo>
                <a:cubicBezTo>
                  <a:pt x="0" y="1061"/>
                  <a:pt x="24" y="1085"/>
                  <a:pt x="54" y="1085"/>
                </a:cubicBezTo>
                <a:lnTo>
                  <a:pt x="1357" y="1085"/>
                </a:lnTo>
                <a:cubicBezTo>
                  <a:pt x="1387" y="1085"/>
                  <a:pt x="1411" y="1061"/>
                  <a:pt x="1411" y="1031"/>
                </a:cubicBezTo>
                <a:lnTo>
                  <a:pt x="1411" y="868"/>
                </a:lnTo>
                <a:cubicBezTo>
                  <a:pt x="1411" y="838"/>
                  <a:pt x="1387" y="814"/>
                  <a:pt x="1357" y="814"/>
                </a:cubicBezTo>
                <a:lnTo>
                  <a:pt x="54" y="814"/>
                </a:lnTo>
                <a:close/>
                <a:moveTo>
                  <a:pt x="1221" y="868"/>
                </a:moveTo>
                <a:cubicBezTo>
                  <a:pt x="1266" y="868"/>
                  <a:pt x="1303" y="905"/>
                  <a:pt x="1303" y="950"/>
                </a:cubicBezTo>
                <a:cubicBezTo>
                  <a:pt x="1303" y="995"/>
                  <a:pt x="1266" y="1031"/>
                  <a:pt x="1221" y="1031"/>
                </a:cubicBezTo>
                <a:cubicBezTo>
                  <a:pt x="1176" y="1031"/>
                  <a:pt x="1140" y="995"/>
                  <a:pt x="1140" y="950"/>
                </a:cubicBezTo>
                <a:cubicBezTo>
                  <a:pt x="1140" y="905"/>
                  <a:pt x="1176" y="868"/>
                  <a:pt x="1221" y="868"/>
                </a:cubicBezTo>
                <a:close/>
                <a:moveTo>
                  <a:pt x="54" y="1140"/>
                </a:moveTo>
                <a:cubicBezTo>
                  <a:pt x="24" y="1140"/>
                  <a:pt x="0" y="1164"/>
                  <a:pt x="0" y="1194"/>
                </a:cubicBezTo>
                <a:lnTo>
                  <a:pt x="0" y="1357"/>
                </a:lnTo>
                <a:cubicBezTo>
                  <a:pt x="0" y="1387"/>
                  <a:pt x="24" y="1411"/>
                  <a:pt x="54" y="1411"/>
                </a:cubicBezTo>
                <a:lnTo>
                  <a:pt x="1357" y="1411"/>
                </a:lnTo>
                <a:cubicBezTo>
                  <a:pt x="1387" y="1411"/>
                  <a:pt x="1411" y="1387"/>
                  <a:pt x="1411" y="1357"/>
                </a:cubicBezTo>
                <a:lnTo>
                  <a:pt x="1411" y="1194"/>
                </a:lnTo>
                <a:cubicBezTo>
                  <a:pt x="1411" y="1164"/>
                  <a:pt x="1387" y="1140"/>
                  <a:pt x="1357" y="1140"/>
                </a:cubicBezTo>
                <a:lnTo>
                  <a:pt x="54" y="1140"/>
                </a:lnTo>
                <a:close/>
                <a:moveTo>
                  <a:pt x="1221" y="1194"/>
                </a:moveTo>
                <a:cubicBezTo>
                  <a:pt x="1266" y="1194"/>
                  <a:pt x="1303" y="1230"/>
                  <a:pt x="1303" y="1275"/>
                </a:cubicBezTo>
                <a:cubicBezTo>
                  <a:pt x="1303" y="1320"/>
                  <a:pt x="1266" y="1357"/>
                  <a:pt x="1221" y="1357"/>
                </a:cubicBezTo>
                <a:cubicBezTo>
                  <a:pt x="1176" y="1357"/>
                  <a:pt x="1140" y="1320"/>
                  <a:pt x="1140" y="1275"/>
                </a:cubicBezTo>
                <a:cubicBezTo>
                  <a:pt x="1140" y="1230"/>
                  <a:pt x="1176" y="1194"/>
                  <a:pt x="1221" y="119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24" name="Server Rack">
            <a:extLst>
              <a:ext uri="{FF2B5EF4-FFF2-40B4-BE49-F238E27FC236}">
                <a16:creationId xmlns="" xmlns:a16="http://schemas.microsoft.com/office/drawing/2014/main" id="{15D4523F-A142-4871-AC9E-9DD17841804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09384" y="5091467"/>
            <a:ext cx="424109" cy="424107"/>
          </a:xfrm>
          <a:custGeom>
            <a:avLst/>
            <a:gdLst>
              <a:gd name="T0" fmla="*/ 271 w 1411"/>
              <a:gd name="T1" fmla="*/ 0 h 1411"/>
              <a:gd name="T2" fmla="*/ 109 w 1411"/>
              <a:gd name="T3" fmla="*/ 163 h 1411"/>
              <a:gd name="T4" fmla="*/ 3 w 1411"/>
              <a:gd name="T5" fmla="*/ 448 h 1411"/>
              <a:gd name="T6" fmla="*/ 54 w 1411"/>
              <a:gd name="T7" fmla="*/ 434 h 1411"/>
              <a:gd name="T8" fmla="*/ 1357 w 1411"/>
              <a:gd name="T9" fmla="*/ 434 h 1411"/>
              <a:gd name="T10" fmla="*/ 1408 w 1411"/>
              <a:gd name="T11" fmla="*/ 448 h 1411"/>
              <a:gd name="T12" fmla="*/ 1303 w 1411"/>
              <a:gd name="T13" fmla="*/ 163 h 1411"/>
              <a:gd name="T14" fmla="*/ 1140 w 1411"/>
              <a:gd name="T15" fmla="*/ 0 h 1411"/>
              <a:gd name="T16" fmla="*/ 271 w 1411"/>
              <a:gd name="T17" fmla="*/ 0 h 1411"/>
              <a:gd name="T18" fmla="*/ 54 w 1411"/>
              <a:gd name="T19" fmla="*/ 488 h 1411"/>
              <a:gd name="T20" fmla="*/ 0 w 1411"/>
              <a:gd name="T21" fmla="*/ 543 h 1411"/>
              <a:gd name="T22" fmla="*/ 0 w 1411"/>
              <a:gd name="T23" fmla="*/ 706 h 1411"/>
              <a:gd name="T24" fmla="*/ 54 w 1411"/>
              <a:gd name="T25" fmla="*/ 760 h 1411"/>
              <a:gd name="T26" fmla="*/ 1357 w 1411"/>
              <a:gd name="T27" fmla="*/ 760 h 1411"/>
              <a:gd name="T28" fmla="*/ 1411 w 1411"/>
              <a:gd name="T29" fmla="*/ 706 h 1411"/>
              <a:gd name="T30" fmla="*/ 1411 w 1411"/>
              <a:gd name="T31" fmla="*/ 543 h 1411"/>
              <a:gd name="T32" fmla="*/ 1357 w 1411"/>
              <a:gd name="T33" fmla="*/ 488 h 1411"/>
              <a:gd name="T34" fmla="*/ 54 w 1411"/>
              <a:gd name="T35" fmla="*/ 488 h 1411"/>
              <a:gd name="T36" fmla="*/ 1221 w 1411"/>
              <a:gd name="T37" fmla="*/ 543 h 1411"/>
              <a:gd name="T38" fmla="*/ 1303 w 1411"/>
              <a:gd name="T39" fmla="*/ 624 h 1411"/>
              <a:gd name="T40" fmla="*/ 1221 w 1411"/>
              <a:gd name="T41" fmla="*/ 706 h 1411"/>
              <a:gd name="T42" fmla="*/ 1140 w 1411"/>
              <a:gd name="T43" fmla="*/ 624 h 1411"/>
              <a:gd name="T44" fmla="*/ 1221 w 1411"/>
              <a:gd name="T45" fmla="*/ 543 h 1411"/>
              <a:gd name="T46" fmla="*/ 54 w 1411"/>
              <a:gd name="T47" fmla="*/ 814 h 1411"/>
              <a:gd name="T48" fmla="*/ 0 w 1411"/>
              <a:gd name="T49" fmla="*/ 868 h 1411"/>
              <a:gd name="T50" fmla="*/ 0 w 1411"/>
              <a:gd name="T51" fmla="*/ 1031 h 1411"/>
              <a:gd name="T52" fmla="*/ 54 w 1411"/>
              <a:gd name="T53" fmla="*/ 1085 h 1411"/>
              <a:gd name="T54" fmla="*/ 1357 w 1411"/>
              <a:gd name="T55" fmla="*/ 1085 h 1411"/>
              <a:gd name="T56" fmla="*/ 1411 w 1411"/>
              <a:gd name="T57" fmla="*/ 1031 h 1411"/>
              <a:gd name="T58" fmla="*/ 1411 w 1411"/>
              <a:gd name="T59" fmla="*/ 868 h 1411"/>
              <a:gd name="T60" fmla="*/ 1357 w 1411"/>
              <a:gd name="T61" fmla="*/ 814 h 1411"/>
              <a:gd name="T62" fmla="*/ 54 w 1411"/>
              <a:gd name="T63" fmla="*/ 814 h 1411"/>
              <a:gd name="T64" fmla="*/ 1221 w 1411"/>
              <a:gd name="T65" fmla="*/ 868 h 1411"/>
              <a:gd name="T66" fmla="*/ 1303 w 1411"/>
              <a:gd name="T67" fmla="*/ 950 h 1411"/>
              <a:gd name="T68" fmla="*/ 1221 w 1411"/>
              <a:gd name="T69" fmla="*/ 1031 h 1411"/>
              <a:gd name="T70" fmla="*/ 1140 w 1411"/>
              <a:gd name="T71" fmla="*/ 950 h 1411"/>
              <a:gd name="T72" fmla="*/ 1221 w 1411"/>
              <a:gd name="T73" fmla="*/ 868 h 1411"/>
              <a:gd name="T74" fmla="*/ 54 w 1411"/>
              <a:gd name="T75" fmla="*/ 1140 h 1411"/>
              <a:gd name="T76" fmla="*/ 0 w 1411"/>
              <a:gd name="T77" fmla="*/ 1194 h 1411"/>
              <a:gd name="T78" fmla="*/ 0 w 1411"/>
              <a:gd name="T79" fmla="*/ 1357 h 1411"/>
              <a:gd name="T80" fmla="*/ 54 w 1411"/>
              <a:gd name="T81" fmla="*/ 1411 h 1411"/>
              <a:gd name="T82" fmla="*/ 1357 w 1411"/>
              <a:gd name="T83" fmla="*/ 1411 h 1411"/>
              <a:gd name="T84" fmla="*/ 1411 w 1411"/>
              <a:gd name="T85" fmla="*/ 1357 h 1411"/>
              <a:gd name="T86" fmla="*/ 1411 w 1411"/>
              <a:gd name="T87" fmla="*/ 1194 h 1411"/>
              <a:gd name="T88" fmla="*/ 1357 w 1411"/>
              <a:gd name="T89" fmla="*/ 1140 h 1411"/>
              <a:gd name="T90" fmla="*/ 54 w 1411"/>
              <a:gd name="T91" fmla="*/ 1140 h 1411"/>
              <a:gd name="T92" fmla="*/ 1221 w 1411"/>
              <a:gd name="T93" fmla="*/ 1194 h 1411"/>
              <a:gd name="T94" fmla="*/ 1303 w 1411"/>
              <a:gd name="T95" fmla="*/ 1275 h 1411"/>
              <a:gd name="T96" fmla="*/ 1221 w 1411"/>
              <a:gd name="T97" fmla="*/ 1357 h 1411"/>
              <a:gd name="T98" fmla="*/ 1140 w 1411"/>
              <a:gd name="T99" fmla="*/ 1275 h 1411"/>
              <a:gd name="T100" fmla="*/ 1221 w 1411"/>
              <a:gd name="T101" fmla="*/ 119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11" h="1411">
                <a:moveTo>
                  <a:pt x="271" y="0"/>
                </a:moveTo>
                <a:cubicBezTo>
                  <a:pt x="181" y="0"/>
                  <a:pt x="142" y="77"/>
                  <a:pt x="109" y="163"/>
                </a:cubicBezTo>
                <a:lnTo>
                  <a:pt x="3" y="448"/>
                </a:lnTo>
                <a:cubicBezTo>
                  <a:pt x="19" y="439"/>
                  <a:pt x="35" y="434"/>
                  <a:pt x="54" y="434"/>
                </a:cubicBezTo>
                <a:lnTo>
                  <a:pt x="1357" y="434"/>
                </a:lnTo>
                <a:cubicBezTo>
                  <a:pt x="1376" y="434"/>
                  <a:pt x="1392" y="439"/>
                  <a:pt x="1408" y="448"/>
                </a:cubicBezTo>
                <a:lnTo>
                  <a:pt x="1303" y="163"/>
                </a:lnTo>
                <a:cubicBezTo>
                  <a:pt x="1264" y="80"/>
                  <a:pt x="1230" y="0"/>
                  <a:pt x="1140" y="0"/>
                </a:cubicBezTo>
                <a:lnTo>
                  <a:pt x="271" y="0"/>
                </a:lnTo>
                <a:close/>
                <a:moveTo>
                  <a:pt x="54" y="488"/>
                </a:moveTo>
                <a:cubicBezTo>
                  <a:pt x="24" y="488"/>
                  <a:pt x="0" y="513"/>
                  <a:pt x="0" y="543"/>
                </a:cubicBezTo>
                <a:lnTo>
                  <a:pt x="0" y="706"/>
                </a:lnTo>
                <a:cubicBezTo>
                  <a:pt x="0" y="735"/>
                  <a:pt x="24" y="760"/>
                  <a:pt x="54" y="760"/>
                </a:cubicBezTo>
                <a:lnTo>
                  <a:pt x="1357" y="760"/>
                </a:lnTo>
                <a:cubicBezTo>
                  <a:pt x="1387" y="760"/>
                  <a:pt x="1411" y="735"/>
                  <a:pt x="1411" y="706"/>
                </a:cubicBezTo>
                <a:lnTo>
                  <a:pt x="1411" y="543"/>
                </a:lnTo>
                <a:cubicBezTo>
                  <a:pt x="1411" y="513"/>
                  <a:pt x="1387" y="488"/>
                  <a:pt x="1357" y="488"/>
                </a:cubicBezTo>
                <a:lnTo>
                  <a:pt x="54" y="488"/>
                </a:lnTo>
                <a:close/>
                <a:moveTo>
                  <a:pt x="1221" y="543"/>
                </a:moveTo>
                <a:cubicBezTo>
                  <a:pt x="1266" y="543"/>
                  <a:pt x="1303" y="579"/>
                  <a:pt x="1303" y="624"/>
                </a:cubicBezTo>
                <a:cubicBezTo>
                  <a:pt x="1303" y="669"/>
                  <a:pt x="1266" y="706"/>
                  <a:pt x="1221" y="706"/>
                </a:cubicBezTo>
                <a:cubicBezTo>
                  <a:pt x="1176" y="706"/>
                  <a:pt x="1140" y="669"/>
                  <a:pt x="1140" y="624"/>
                </a:cubicBezTo>
                <a:cubicBezTo>
                  <a:pt x="1140" y="579"/>
                  <a:pt x="1176" y="543"/>
                  <a:pt x="1221" y="543"/>
                </a:cubicBezTo>
                <a:close/>
                <a:moveTo>
                  <a:pt x="54" y="814"/>
                </a:moveTo>
                <a:cubicBezTo>
                  <a:pt x="24" y="814"/>
                  <a:pt x="0" y="838"/>
                  <a:pt x="0" y="868"/>
                </a:cubicBezTo>
                <a:lnTo>
                  <a:pt x="0" y="1031"/>
                </a:lnTo>
                <a:cubicBezTo>
                  <a:pt x="0" y="1061"/>
                  <a:pt x="24" y="1085"/>
                  <a:pt x="54" y="1085"/>
                </a:cubicBezTo>
                <a:lnTo>
                  <a:pt x="1357" y="1085"/>
                </a:lnTo>
                <a:cubicBezTo>
                  <a:pt x="1387" y="1085"/>
                  <a:pt x="1411" y="1061"/>
                  <a:pt x="1411" y="1031"/>
                </a:cubicBezTo>
                <a:lnTo>
                  <a:pt x="1411" y="868"/>
                </a:lnTo>
                <a:cubicBezTo>
                  <a:pt x="1411" y="838"/>
                  <a:pt x="1387" y="814"/>
                  <a:pt x="1357" y="814"/>
                </a:cubicBezTo>
                <a:lnTo>
                  <a:pt x="54" y="814"/>
                </a:lnTo>
                <a:close/>
                <a:moveTo>
                  <a:pt x="1221" y="868"/>
                </a:moveTo>
                <a:cubicBezTo>
                  <a:pt x="1266" y="868"/>
                  <a:pt x="1303" y="905"/>
                  <a:pt x="1303" y="950"/>
                </a:cubicBezTo>
                <a:cubicBezTo>
                  <a:pt x="1303" y="995"/>
                  <a:pt x="1266" y="1031"/>
                  <a:pt x="1221" y="1031"/>
                </a:cubicBezTo>
                <a:cubicBezTo>
                  <a:pt x="1176" y="1031"/>
                  <a:pt x="1140" y="995"/>
                  <a:pt x="1140" y="950"/>
                </a:cubicBezTo>
                <a:cubicBezTo>
                  <a:pt x="1140" y="905"/>
                  <a:pt x="1176" y="868"/>
                  <a:pt x="1221" y="868"/>
                </a:cubicBezTo>
                <a:close/>
                <a:moveTo>
                  <a:pt x="54" y="1140"/>
                </a:moveTo>
                <a:cubicBezTo>
                  <a:pt x="24" y="1140"/>
                  <a:pt x="0" y="1164"/>
                  <a:pt x="0" y="1194"/>
                </a:cubicBezTo>
                <a:lnTo>
                  <a:pt x="0" y="1357"/>
                </a:lnTo>
                <a:cubicBezTo>
                  <a:pt x="0" y="1387"/>
                  <a:pt x="24" y="1411"/>
                  <a:pt x="54" y="1411"/>
                </a:cubicBezTo>
                <a:lnTo>
                  <a:pt x="1357" y="1411"/>
                </a:lnTo>
                <a:cubicBezTo>
                  <a:pt x="1387" y="1411"/>
                  <a:pt x="1411" y="1387"/>
                  <a:pt x="1411" y="1357"/>
                </a:cubicBezTo>
                <a:lnTo>
                  <a:pt x="1411" y="1194"/>
                </a:lnTo>
                <a:cubicBezTo>
                  <a:pt x="1411" y="1164"/>
                  <a:pt x="1387" y="1140"/>
                  <a:pt x="1357" y="1140"/>
                </a:cubicBezTo>
                <a:lnTo>
                  <a:pt x="54" y="1140"/>
                </a:lnTo>
                <a:close/>
                <a:moveTo>
                  <a:pt x="1221" y="1194"/>
                </a:moveTo>
                <a:cubicBezTo>
                  <a:pt x="1266" y="1194"/>
                  <a:pt x="1303" y="1230"/>
                  <a:pt x="1303" y="1275"/>
                </a:cubicBezTo>
                <a:cubicBezTo>
                  <a:pt x="1303" y="1320"/>
                  <a:pt x="1266" y="1357"/>
                  <a:pt x="1221" y="1357"/>
                </a:cubicBezTo>
                <a:cubicBezTo>
                  <a:pt x="1176" y="1357"/>
                  <a:pt x="1140" y="1320"/>
                  <a:pt x="1140" y="1275"/>
                </a:cubicBezTo>
                <a:cubicBezTo>
                  <a:pt x="1140" y="1230"/>
                  <a:pt x="1176" y="1194"/>
                  <a:pt x="1221" y="119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26" name="AutoShape 35">
            <a:extLst>
              <a:ext uri="{FF2B5EF4-FFF2-40B4-BE49-F238E27FC236}">
                <a16:creationId xmlns="" xmlns:a16="http://schemas.microsoft.com/office/drawing/2014/main" id="{A69C5FE6-D143-4558-9456-EC1142753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7140" y="5480600"/>
            <a:ext cx="425898" cy="182932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LTO</a:t>
            </a:r>
            <a:endParaRPr lang="ko-KR" altLang="en-US" sz="900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27" name="AutoShape 35">
            <a:extLst>
              <a:ext uri="{FF2B5EF4-FFF2-40B4-BE49-F238E27FC236}">
                <a16:creationId xmlns="" xmlns:a16="http://schemas.microsoft.com/office/drawing/2014/main" id="{22A49DDF-3ED7-442D-B0D7-DB8627269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8580" y="5483318"/>
            <a:ext cx="425898" cy="182932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en-US" altLang="ko-KR" sz="900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VTL</a:t>
            </a:r>
            <a:endParaRPr lang="ko-KR" altLang="en-US" sz="900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cxnSp>
        <p:nvCxnSpPr>
          <p:cNvPr id="130" name="연결선: 꺾임 129">
            <a:extLst>
              <a:ext uri="{FF2B5EF4-FFF2-40B4-BE49-F238E27FC236}">
                <a16:creationId xmlns="" xmlns:a16="http://schemas.microsoft.com/office/drawing/2014/main" id="{4BE7C604-5984-4BE6-934B-1ED82A787823}"/>
              </a:ext>
            </a:extLst>
          </p:cNvPr>
          <p:cNvCxnSpPr>
            <a:cxnSpLocks/>
            <a:stCxn id="27" idx="3"/>
            <a:endCxn id="50" idx="1"/>
          </p:cNvCxnSpPr>
          <p:nvPr/>
        </p:nvCxnSpPr>
        <p:spPr>
          <a:xfrm flipV="1">
            <a:off x="2206635" y="3156023"/>
            <a:ext cx="841104" cy="907533"/>
          </a:xfrm>
          <a:prstGeom prst="bentConnector3">
            <a:avLst/>
          </a:prstGeom>
          <a:ln w="12700">
            <a:solidFill>
              <a:srgbClr val="0070C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연결선: 꺾임 132">
            <a:extLst>
              <a:ext uri="{FF2B5EF4-FFF2-40B4-BE49-F238E27FC236}">
                <a16:creationId xmlns="" xmlns:a16="http://schemas.microsoft.com/office/drawing/2014/main" id="{03BFB1E7-01EB-44EC-BF98-948A59F3A988}"/>
              </a:ext>
            </a:extLst>
          </p:cNvPr>
          <p:cNvCxnSpPr>
            <a:cxnSpLocks/>
          </p:cNvCxnSpPr>
          <p:nvPr/>
        </p:nvCxnSpPr>
        <p:spPr>
          <a:xfrm>
            <a:off x="4477838" y="2852936"/>
            <a:ext cx="629558" cy="327708"/>
          </a:xfrm>
          <a:prstGeom prst="bentConnector3">
            <a:avLst>
              <a:gd name="adj1" fmla="val 60288"/>
            </a:avLst>
          </a:prstGeom>
          <a:ln w="12700">
            <a:solidFill>
              <a:srgbClr val="0070C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연결선: 꺾임 145">
            <a:extLst>
              <a:ext uri="{FF2B5EF4-FFF2-40B4-BE49-F238E27FC236}">
                <a16:creationId xmlns="" xmlns:a16="http://schemas.microsoft.com/office/drawing/2014/main" id="{EE92C737-32EF-4BC7-82AF-170CE4B7F53B}"/>
              </a:ext>
            </a:extLst>
          </p:cNvPr>
          <p:cNvCxnSpPr>
            <a:cxnSpLocks/>
            <a:stCxn id="73" idx="2"/>
            <a:endCxn id="75" idx="0"/>
          </p:cNvCxnSpPr>
          <p:nvPr/>
        </p:nvCxnSpPr>
        <p:spPr>
          <a:xfrm rot="5400000">
            <a:off x="5982463" y="4374937"/>
            <a:ext cx="166028" cy="0"/>
          </a:xfrm>
          <a:prstGeom prst="bentConnector3">
            <a:avLst>
              <a:gd name="adj1" fmla="val 50000"/>
            </a:avLst>
          </a:prstGeom>
          <a:ln w="12700">
            <a:solidFill>
              <a:srgbClr val="0070C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연결선: 꺾임 151">
            <a:extLst>
              <a:ext uri="{FF2B5EF4-FFF2-40B4-BE49-F238E27FC236}">
                <a16:creationId xmlns="" xmlns:a16="http://schemas.microsoft.com/office/drawing/2014/main" id="{95EACC60-4FB1-40A2-A307-D82CC5AD7416}"/>
              </a:ext>
            </a:extLst>
          </p:cNvPr>
          <p:cNvCxnSpPr>
            <a:cxnSpLocks/>
            <a:stCxn id="63" idx="3"/>
            <a:endCxn id="50" idx="3"/>
          </p:cNvCxnSpPr>
          <p:nvPr/>
        </p:nvCxnSpPr>
        <p:spPr>
          <a:xfrm flipV="1">
            <a:off x="4477838" y="3156023"/>
            <a:ext cx="12700" cy="2743725"/>
          </a:xfrm>
          <a:prstGeom prst="bentConnector3">
            <a:avLst>
              <a:gd name="adj1" fmla="val 1800000"/>
            </a:avLst>
          </a:prstGeom>
          <a:ln w="12700">
            <a:solidFill>
              <a:srgbClr val="0070C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연결선: 꺾임 154">
            <a:extLst>
              <a:ext uri="{FF2B5EF4-FFF2-40B4-BE49-F238E27FC236}">
                <a16:creationId xmlns="" xmlns:a16="http://schemas.microsoft.com/office/drawing/2014/main" id="{632E8339-89EA-4797-A5FE-8A73ED8E47B2}"/>
              </a:ext>
            </a:extLst>
          </p:cNvPr>
          <p:cNvCxnSpPr>
            <a:cxnSpLocks/>
            <a:stCxn id="107" idx="3"/>
            <a:endCxn id="97" idx="3"/>
          </p:cNvCxnSpPr>
          <p:nvPr/>
        </p:nvCxnSpPr>
        <p:spPr>
          <a:xfrm flipV="1">
            <a:off x="9043718" y="3310642"/>
            <a:ext cx="12700" cy="2013066"/>
          </a:xfrm>
          <a:prstGeom prst="bentConnector3">
            <a:avLst>
              <a:gd name="adj1" fmla="val 1800000"/>
            </a:avLst>
          </a:prstGeom>
          <a:ln w="12700">
            <a:solidFill>
              <a:srgbClr val="0070C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158">
            <a:extLst>
              <a:ext uri="{FF2B5EF4-FFF2-40B4-BE49-F238E27FC236}">
                <a16:creationId xmlns="" xmlns:a16="http://schemas.microsoft.com/office/drawing/2014/main" id="{8DBB60DE-EC8B-4B6F-81FD-3E210BE1B201}"/>
              </a:ext>
            </a:extLst>
          </p:cNvPr>
          <p:cNvCxnSpPr>
            <a:cxnSpLocks/>
            <a:stCxn id="107" idx="3"/>
            <a:endCxn id="102" idx="3"/>
          </p:cNvCxnSpPr>
          <p:nvPr/>
        </p:nvCxnSpPr>
        <p:spPr>
          <a:xfrm flipV="1">
            <a:off x="9043718" y="4325095"/>
            <a:ext cx="12700" cy="998613"/>
          </a:xfrm>
          <a:prstGeom prst="bentConnector3">
            <a:avLst>
              <a:gd name="adj1" fmla="val 1320000"/>
            </a:avLst>
          </a:prstGeom>
          <a:ln w="12700">
            <a:solidFill>
              <a:srgbClr val="0070C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화살표: 왼쪽/오른쪽 162">
            <a:extLst>
              <a:ext uri="{FF2B5EF4-FFF2-40B4-BE49-F238E27FC236}">
                <a16:creationId xmlns="" xmlns:a16="http://schemas.microsoft.com/office/drawing/2014/main" id="{6E6A0390-663D-47C0-8B78-691E2040A70F}"/>
              </a:ext>
            </a:extLst>
          </p:cNvPr>
          <p:cNvSpPr/>
          <p:nvPr/>
        </p:nvSpPr>
        <p:spPr>
          <a:xfrm>
            <a:off x="2450579" y="4218711"/>
            <a:ext cx="372965" cy="292069"/>
          </a:xfrm>
          <a:prstGeom prst="leftRightArrow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49" name="연결선: 꺾임 148">
            <a:extLst>
              <a:ext uri="{FF2B5EF4-FFF2-40B4-BE49-F238E27FC236}">
                <a16:creationId xmlns="" xmlns:a16="http://schemas.microsoft.com/office/drawing/2014/main" id="{4C8B5756-6022-412F-A2D4-78429AA58E53}"/>
              </a:ext>
            </a:extLst>
          </p:cNvPr>
          <p:cNvCxnSpPr>
            <a:cxnSpLocks/>
          </p:cNvCxnSpPr>
          <p:nvPr/>
        </p:nvCxnSpPr>
        <p:spPr>
          <a:xfrm rot="10800000">
            <a:off x="3047739" y="3396111"/>
            <a:ext cx="12700" cy="1473049"/>
          </a:xfrm>
          <a:prstGeom prst="bentConnector3">
            <a:avLst>
              <a:gd name="adj1" fmla="val 1800000"/>
            </a:avLst>
          </a:prstGeom>
          <a:ln w="12700">
            <a:solidFill>
              <a:srgbClr val="0070C0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화살표: 왼쪽/오른쪽 164">
            <a:extLst>
              <a:ext uri="{FF2B5EF4-FFF2-40B4-BE49-F238E27FC236}">
                <a16:creationId xmlns="" xmlns:a16="http://schemas.microsoft.com/office/drawing/2014/main" id="{6F68EEA0-C5D1-4C1B-B375-098DE4A13600}"/>
              </a:ext>
            </a:extLst>
          </p:cNvPr>
          <p:cNvSpPr/>
          <p:nvPr/>
        </p:nvSpPr>
        <p:spPr>
          <a:xfrm>
            <a:off x="4704812" y="4218711"/>
            <a:ext cx="372965" cy="292069"/>
          </a:xfrm>
          <a:prstGeom prst="leftRightArrow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화살표: 왼쪽/오른쪽 165">
            <a:extLst>
              <a:ext uri="{FF2B5EF4-FFF2-40B4-BE49-F238E27FC236}">
                <a16:creationId xmlns="" xmlns:a16="http://schemas.microsoft.com/office/drawing/2014/main" id="{11F14E60-383B-48C4-BE09-30AC99724E36}"/>
              </a:ext>
            </a:extLst>
          </p:cNvPr>
          <p:cNvSpPr/>
          <p:nvPr/>
        </p:nvSpPr>
        <p:spPr>
          <a:xfrm>
            <a:off x="7008174" y="4218711"/>
            <a:ext cx="372965" cy="292069"/>
          </a:xfrm>
          <a:prstGeom prst="leftRightArrow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39" name="연결선: 꺾임 138">
            <a:extLst>
              <a:ext uri="{FF2B5EF4-FFF2-40B4-BE49-F238E27FC236}">
                <a16:creationId xmlns="" xmlns:a16="http://schemas.microsoft.com/office/drawing/2014/main" id="{868E7DA1-472D-49A4-B1E6-C90EDD4F8A2F}"/>
              </a:ext>
            </a:extLst>
          </p:cNvPr>
          <p:cNvCxnSpPr>
            <a:cxnSpLocks/>
            <a:stCxn id="76" idx="3"/>
            <a:endCxn id="97" idx="1"/>
          </p:cNvCxnSpPr>
          <p:nvPr/>
        </p:nvCxnSpPr>
        <p:spPr>
          <a:xfrm flipV="1">
            <a:off x="7010858" y="3310642"/>
            <a:ext cx="602761" cy="1912287"/>
          </a:xfrm>
          <a:prstGeom prst="bentConnector3">
            <a:avLst>
              <a:gd name="adj1" fmla="val 39255"/>
            </a:avLst>
          </a:prstGeom>
          <a:ln w="12700">
            <a:solidFill>
              <a:srgbClr val="0070C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9087464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dirty="0"/>
              <a:t>데이터 아키텍처는 데이터 품질 방침</a:t>
            </a:r>
            <a:r>
              <a:rPr lang="en-US" altLang="ko-KR" dirty="0"/>
              <a:t>, </a:t>
            </a:r>
            <a:r>
              <a:rPr lang="ko-KR" altLang="en-US" dirty="0"/>
              <a:t>데이터 관리 조직</a:t>
            </a:r>
            <a:r>
              <a:rPr lang="en-US" altLang="ko-KR" dirty="0"/>
              <a:t>, </a:t>
            </a:r>
            <a:r>
              <a:rPr lang="ko-KR" altLang="en-US" dirty="0"/>
              <a:t>데이터 품질지표 관리</a:t>
            </a:r>
            <a:r>
              <a:rPr lang="en-US" altLang="ko-KR" dirty="0"/>
              <a:t>, </a:t>
            </a:r>
            <a:r>
              <a:rPr lang="ko-KR" altLang="en-US" dirty="0"/>
              <a:t>데이터 구조관리</a:t>
            </a:r>
            <a:r>
              <a:rPr lang="en-US" altLang="ko-KR" dirty="0"/>
              <a:t>, </a:t>
            </a:r>
            <a:r>
              <a:rPr lang="ko-KR" altLang="en-US" dirty="0"/>
              <a:t>연계정보 관리</a:t>
            </a:r>
            <a:r>
              <a:rPr lang="en-US" altLang="ko-KR" dirty="0"/>
              <a:t>, </a:t>
            </a:r>
            <a:r>
              <a:rPr lang="ko-KR" altLang="en-US" dirty="0"/>
              <a:t>데이터 표준관리</a:t>
            </a:r>
            <a:r>
              <a:rPr lang="en-US" altLang="ko-KR" dirty="0"/>
              <a:t>, </a:t>
            </a:r>
            <a:r>
              <a:rPr lang="ko-KR" altLang="en-US" dirty="0"/>
              <a:t>데이터 품질관리 프로세스로 구분하여 설계 원칙을 수립함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</a:t>
            </a:r>
            <a:r>
              <a:rPr lang="en-US" altLang="ko-KR" smtClean="0"/>
              <a:t>) </a:t>
            </a:r>
            <a:r>
              <a:rPr lang="ko-KR" altLang="en-US" smtClean="0"/>
              <a:t>표준</a:t>
            </a:r>
            <a:r>
              <a:rPr lang="en-US" altLang="ko-KR" sz="1800" smtClean="0"/>
              <a:t/>
            </a:r>
            <a:br>
              <a:rPr lang="en-US" altLang="ko-KR" sz="1800" smtClean="0"/>
            </a:br>
            <a:r>
              <a:rPr lang="en-US" altLang="ko-KR" sz="1800" smtClean="0"/>
              <a:t>2.9.1 </a:t>
            </a:r>
            <a:r>
              <a:rPr lang="ko-KR" altLang="en-US" sz="1800" dirty="0"/>
              <a:t>설계 원칙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5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아키텍처 설계 원칙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012335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  <a:endParaRPr kumimoji="1" lang="ko-KR" altLang="en-US" sz="105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9" name="Rectangle 62">
            <a:extLst>
              <a:ext uri="{FF2B5EF4-FFF2-40B4-BE49-F238E27FC236}">
                <a16:creationId xmlns="" xmlns:a16="http://schemas.microsoft.com/office/drawing/2014/main" id="{D8A4FF40-8468-43CF-9B6F-96B692017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2012349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표준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구조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품질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교환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보안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50">
                <a:latin typeface="맑은 고딕" pitchFamily="50" charset="-127"/>
                <a:ea typeface="맑은 고딕" pitchFamily="50" charset="-127"/>
              </a:rPr>
              <a:t>대상으로 </a:t>
            </a:r>
            <a:r>
              <a:rPr lang="ko-KR" altLang="en-US" sz="1050" smtClean="0"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품질 목표 달성을 위한 원칙을 수립함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636903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4" name="Rectangle 62">
            <a:extLst>
              <a:ext uri="{FF2B5EF4-FFF2-40B4-BE49-F238E27FC236}">
                <a16:creationId xmlns="" xmlns:a16="http://schemas.microsoft.com/office/drawing/2014/main" id="{D6DC7053-4087-4F25-9689-AA3BEFEA6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2636884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Ownership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이 있는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『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소유부문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』,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설계 및 구축을 담당하는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『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설계 부문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』,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품질관리와 부문별 이해관계 조정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통제를 담당하는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『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관리 부문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』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과 각 부문 간 상호 시너지를 낼 수 있도록 조직 체계 구성을 위한 원칙을 설계함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3261471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  <a:endParaRPr kumimoji="1" lang="ko-KR" altLang="en-US" sz="105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Rectangle 62">
            <a:extLst>
              <a:ext uri="{FF2B5EF4-FFF2-40B4-BE49-F238E27FC236}">
                <a16:creationId xmlns="" xmlns:a16="http://schemas.microsoft.com/office/drawing/2014/main" id="{DE48648A-6B8D-4EC7-9037-4B78545F7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3261419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품질을 정량적으로 관리하기 위한 원칙을 설계함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3886039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6" name="Rectangle 62">
            <a:extLst>
              <a:ext uri="{FF2B5EF4-FFF2-40B4-BE49-F238E27FC236}">
                <a16:creationId xmlns="" xmlns:a16="http://schemas.microsoft.com/office/drawing/2014/main" id="{19A084ED-7257-4092-8E96-EEF9D7FF0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3885954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개념 데이터 모델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참조 모델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논리 데이터 모델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물리 데이터 모델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DB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관리구조 요소별 관리 방안과 데이터 개발 산출물 관리 방안의 원칙을 수립함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4510607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105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Rectangle 62">
            <a:extLst>
              <a:ext uri="{FF2B5EF4-FFF2-40B4-BE49-F238E27FC236}">
                <a16:creationId xmlns="" xmlns:a16="http://schemas.microsoft.com/office/drawing/2014/main" id="{9A490B6B-2C86-4F15-8C33-C6804041B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4510489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표준화 및 데이터 표준관리 방안을 수립하기 위해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개의 데이터 표준화 대상별 관리 방안과 표준화 방안을 제시함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5135175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0" name="Rectangle 62">
            <a:extLst>
              <a:ext uri="{FF2B5EF4-FFF2-40B4-BE49-F238E27FC236}">
                <a16:creationId xmlns="" xmlns:a16="http://schemas.microsoft.com/office/drawing/2014/main" id="{383BE2B4-64AC-4A5D-9730-58FF92061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5135024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연계 데이터의 품질과 성능 개선을 위한 연계 정보 관리를 위한 표준 연계 정보 관리 항목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연계 정보 관리 절차 및 품질 관리 방안의 원칙을 설계함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5759742"/>
            <a:ext cx="1584120" cy="579624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62" name="Rectangle 62">
            <a:extLst>
              <a:ext uri="{FF2B5EF4-FFF2-40B4-BE49-F238E27FC236}">
                <a16:creationId xmlns="" xmlns:a16="http://schemas.microsoft.com/office/drawing/2014/main" id="{D974F42D-6A45-4681-9E84-82D8E4993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719" y="5759559"/>
            <a:ext cx="7348843" cy="57979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algn="ctr">
            <a:solidFill>
              <a:schemeClr val="bg1">
                <a:lumMod val="6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표준관리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구조관리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연계관리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품질관리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데이터베이스 관리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데이터 보안관리의 </a:t>
            </a:r>
            <a:r>
              <a:rPr lang="en-US" altLang="ko-KR" sz="1050" dirty="0">
                <a:latin typeface="맑은 고딕" pitchFamily="50" charset="-127"/>
                <a:ea typeface="맑은 고딕" pitchFamily="50" charset="-127"/>
              </a:rPr>
              <a:t>6</a:t>
            </a:r>
            <a:r>
              <a:rPr lang="ko-KR" altLang="en-US" sz="1050" dirty="0">
                <a:latin typeface="맑은 고딕" pitchFamily="50" charset="-127"/>
                <a:ea typeface="맑은 고딕" pitchFamily="50" charset="-127"/>
              </a:rPr>
              <a:t>개 표준 프로세스 관리 절차의 원칙을 설계함</a:t>
            </a:r>
            <a:endParaRPr kumimoji="1" lang="ko-KR" altLang="en-US" sz="105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51832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dirty="0"/>
              <a:t>데이터 표준</a:t>
            </a:r>
            <a:r>
              <a:rPr lang="en-US" altLang="ko-KR" dirty="0"/>
              <a:t>, </a:t>
            </a:r>
            <a:r>
              <a:rPr lang="ko-KR" altLang="en-US" dirty="0"/>
              <a:t>데이터 구조</a:t>
            </a:r>
            <a:r>
              <a:rPr lang="en-US" altLang="ko-KR" dirty="0"/>
              <a:t>, </a:t>
            </a:r>
            <a:r>
              <a:rPr lang="ko-KR" altLang="en-US" dirty="0"/>
              <a:t>데이터 품질</a:t>
            </a:r>
            <a:r>
              <a:rPr lang="en-US" altLang="ko-KR" dirty="0"/>
              <a:t>, </a:t>
            </a:r>
            <a:r>
              <a:rPr lang="ko-KR" altLang="en-US" dirty="0"/>
              <a:t>데이터 교환</a:t>
            </a:r>
            <a:r>
              <a:rPr lang="en-US" altLang="ko-KR" dirty="0"/>
              <a:t>, </a:t>
            </a:r>
            <a:r>
              <a:rPr lang="ko-KR" altLang="en-US" dirty="0"/>
              <a:t>데이터 보안</a:t>
            </a:r>
            <a:r>
              <a:rPr lang="en-US" altLang="ko-KR" dirty="0"/>
              <a:t> </a:t>
            </a:r>
            <a:r>
              <a:rPr lang="ko-KR" altLang="en-US"/>
              <a:t>대상으로 </a:t>
            </a:r>
            <a:r>
              <a:rPr lang="ko-KR" altLang="en-US" smtClean="0"/>
              <a:t>데이터 </a:t>
            </a:r>
            <a:r>
              <a:rPr lang="ko-KR" altLang="en-US" dirty="0"/>
              <a:t>품질 목표 달성을 위한 원칙을 수립하여 적용함</a:t>
            </a:r>
            <a:endParaRPr kumimoji="1" lang="ko-KR" altLang="en-US" b="0" kern="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2.9.1 </a:t>
            </a:r>
            <a:r>
              <a:rPr lang="ko-KR" altLang="en-US" sz="1800" smtClean="0"/>
              <a:t>품질관리 방침</a:t>
            </a:r>
            <a:r>
              <a:rPr lang="en-US" altLang="ko-KR" sz="1800" smtClean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품질관리 방침 정의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576176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860777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145378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C5EC57FF-E5BF-4E82-A78F-AC56931A4A13}"/>
              </a:ext>
            </a:extLst>
          </p:cNvPr>
          <p:cNvSpPr/>
          <p:nvPr/>
        </p:nvSpPr>
        <p:spPr bwMode="auto">
          <a:xfrm>
            <a:off x="2451009" y="1988840"/>
            <a:ext cx="34380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DC3BC59A-5EF9-4A22-B264-DD2451365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9" y="2276872"/>
            <a:ext cx="3438096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2525414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Rectangle 62">
            <a:extLst>
              <a:ext uri="{FF2B5EF4-FFF2-40B4-BE49-F238E27FC236}">
                <a16:creationId xmlns="" xmlns:a16="http://schemas.microsoft.com/office/drawing/2014/main" id="{09467A98-DF32-4809-8EB8-33CCEFA71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2981857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표준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Rectangle 62">
            <a:extLst>
              <a:ext uri="{FF2B5EF4-FFF2-40B4-BE49-F238E27FC236}">
                <a16:creationId xmlns="" xmlns:a16="http://schemas.microsoft.com/office/drawing/2014/main" id="{BB5B4C52-C729-4DBE-BE8D-C34A879F7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254713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구조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Rectangle 62">
            <a:extLst>
              <a:ext uri="{FF2B5EF4-FFF2-40B4-BE49-F238E27FC236}">
                <a16:creationId xmlns="" xmlns:a16="http://schemas.microsoft.com/office/drawing/2014/main" id="{D22E5C3F-1A43-4B8C-BD20-AF3613588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527569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교환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Rectangle 62">
            <a:extLst>
              <a:ext uri="{FF2B5EF4-FFF2-40B4-BE49-F238E27FC236}">
                <a16:creationId xmlns="" xmlns:a16="http://schemas.microsoft.com/office/drawing/2014/main" id="{D7B5AE97-EDCE-4E17-B454-9360EF7C2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800425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품질관리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Rectangle 62">
            <a:extLst>
              <a:ext uri="{FF2B5EF4-FFF2-40B4-BE49-F238E27FC236}">
                <a16:creationId xmlns="" xmlns:a16="http://schemas.microsoft.com/office/drawing/2014/main" id="{4D1F3C74-6DBA-4C41-B035-DC073AAC0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4073281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보안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3" name="Group 350">
            <a:extLst>
              <a:ext uri="{FF2B5EF4-FFF2-40B4-BE49-F238E27FC236}">
                <a16:creationId xmlns="" xmlns:a16="http://schemas.microsoft.com/office/drawing/2014/main" id="{13D7756C-0819-4619-8EF5-6D1175F9BC1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04728" y="2348880"/>
          <a:ext cx="3348000" cy="3919878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1852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 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표준관리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표준관리</a:t>
                      </a:r>
                      <a:r>
                        <a:rPr kumimoji="1" lang="ko-KR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는 데이터의 표준 관련 요소를 정의하고 적용하는 작업을 말하며 명칭, 정의, 도메인, 코드의 표준 관리를 포함한다. 코드의 경우에는 코드 분류 절차 및 코드 값 모두를 대상으로 한다.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1888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조직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</a:t>
                      </a:r>
                      <a:r>
                        <a:rPr kumimoji="1" lang="ko-KR" altLang="en-US" sz="75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표준관리는 </a:t>
                      </a:r>
                      <a:r>
                        <a:rPr kumimoji="1" lang="ko-KR" altLang="en-US" sz="75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데이터표준관리자가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6430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표준관리는 데이터 표준관리 프로세스를 엄격하게 준수하여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99257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및 적용 방법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 및 데이터 명명은 데이터 표준관리 정책에 </a:t>
                      </a:r>
                      <a:r>
                        <a:rPr kumimoji="1" lang="ko-KR" altLang="en-US" sz="75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근거하여</a:t>
                      </a:r>
                      <a:r>
                        <a:rPr kumimoji="1" lang="en-US" altLang="ko-KR" sz="75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75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및 협력업체의 개발자 등이 신규 등록 또는 변경을 요청할 수 있다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요소 명명은 데이터 표준관리자의 감독 하에 전사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표준 준수 여부 검토를 받아야 하며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데이터베이스 명명의 경우는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DBA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최종 검토 후 데이터베이스 생성이 진행되어야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 및 명명 규칙 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변경으로 인해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 적용된 시스템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대한 영향이</a:t>
                      </a:r>
                      <a:r>
                        <a:rPr kumimoji="1" lang="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예상되는 경우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 적용 데이터 표준은 유지하는 것을 원칙으로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111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표준데이터의 신규 등록 및 변경은 메타데이터관리시스템을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통해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이루어져야</a:t>
                      </a:r>
                      <a:r>
                        <a:rPr kumimoji="1" lang="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cxnSp>
        <p:nvCxnSpPr>
          <p:cNvPr id="65" name="연결선: 꺾임 64">
            <a:extLst>
              <a:ext uri="{FF2B5EF4-FFF2-40B4-BE49-F238E27FC236}">
                <a16:creationId xmlns="" xmlns:a16="http://schemas.microsoft.com/office/drawing/2014/main" id="{8F1431E7-8E3F-44D6-8CFA-C6A646832F11}"/>
              </a:ext>
            </a:extLst>
          </p:cNvPr>
          <p:cNvCxnSpPr>
            <a:cxnSpLocks/>
            <a:stCxn id="49" idx="1"/>
            <a:endCxn id="7" idx="2"/>
          </p:cNvCxnSpPr>
          <p:nvPr/>
        </p:nvCxnSpPr>
        <p:spPr>
          <a:xfrm rot="10800000">
            <a:off x="632521" y="2855634"/>
            <a:ext cx="72003" cy="132938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>
            <a:extLst>
              <a:ext uri="{FF2B5EF4-FFF2-40B4-BE49-F238E27FC236}">
                <a16:creationId xmlns="" xmlns:a16="http://schemas.microsoft.com/office/drawing/2014/main" id="{FAD39C4F-314D-4A64-B6B6-AD9601B5D0DE}"/>
              </a:ext>
            </a:extLst>
          </p:cNvPr>
          <p:cNvSpPr/>
          <p:nvPr/>
        </p:nvSpPr>
        <p:spPr>
          <a:xfrm>
            <a:off x="560512" y="2564904"/>
            <a:ext cx="144016" cy="29072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연결선: 꺾임 65">
            <a:extLst>
              <a:ext uri="{FF2B5EF4-FFF2-40B4-BE49-F238E27FC236}">
                <a16:creationId xmlns="" xmlns:a16="http://schemas.microsoft.com/office/drawing/2014/main" id="{9F74FCF4-1F5D-494F-9E53-9104877ED925}"/>
              </a:ext>
            </a:extLst>
          </p:cNvPr>
          <p:cNvCxnSpPr>
            <a:cxnSpLocks/>
            <a:stCxn id="48" idx="1"/>
            <a:endCxn id="7" idx="2"/>
          </p:cNvCxnSpPr>
          <p:nvPr/>
        </p:nvCxnSpPr>
        <p:spPr>
          <a:xfrm rot="10800000">
            <a:off x="632521" y="2855634"/>
            <a:ext cx="72003" cy="1056527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연결선: 꺾임 66">
            <a:extLst>
              <a:ext uri="{FF2B5EF4-FFF2-40B4-BE49-F238E27FC236}">
                <a16:creationId xmlns="" xmlns:a16="http://schemas.microsoft.com/office/drawing/2014/main" id="{37FE786D-FC6E-4B08-B3C7-8E96189FD7F8}"/>
              </a:ext>
            </a:extLst>
          </p:cNvPr>
          <p:cNvCxnSpPr>
            <a:cxnSpLocks/>
            <a:stCxn id="47" idx="1"/>
            <a:endCxn id="7" idx="2"/>
          </p:cNvCxnSpPr>
          <p:nvPr/>
        </p:nvCxnSpPr>
        <p:spPr>
          <a:xfrm rot="10800000">
            <a:off x="632521" y="2855634"/>
            <a:ext cx="72003" cy="783671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7">
            <a:extLst>
              <a:ext uri="{FF2B5EF4-FFF2-40B4-BE49-F238E27FC236}">
                <a16:creationId xmlns="" xmlns:a16="http://schemas.microsoft.com/office/drawing/2014/main" id="{77669297-F7EC-4A05-B600-EA6B680D0E1B}"/>
              </a:ext>
            </a:extLst>
          </p:cNvPr>
          <p:cNvCxnSpPr>
            <a:cxnSpLocks/>
            <a:stCxn id="46" idx="1"/>
            <a:endCxn id="7" idx="2"/>
          </p:cNvCxnSpPr>
          <p:nvPr/>
        </p:nvCxnSpPr>
        <p:spPr>
          <a:xfrm rot="10800000">
            <a:off x="632521" y="2855634"/>
            <a:ext cx="72003" cy="510815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연결선: 꺾임 68">
            <a:extLst>
              <a:ext uri="{FF2B5EF4-FFF2-40B4-BE49-F238E27FC236}">
                <a16:creationId xmlns="" xmlns:a16="http://schemas.microsoft.com/office/drawing/2014/main" id="{A569AD6F-EB54-485B-A8A9-5B66925F9628}"/>
              </a:ext>
            </a:extLst>
          </p:cNvPr>
          <p:cNvCxnSpPr>
            <a:cxnSpLocks/>
            <a:stCxn id="45" idx="1"/>
            <a:endCxn id="7" idx="2"/>
          </p:cNvCxnSpPr>
          <p:nvPr/>
        </p:nvCxnSpPr>
        <p:spPr>
          <a:xfrm rot="10800000">
            <a:off x="632521" y="2855634"/>
            <a:ext cx="72003" cy="237959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420888"/>
            <a:ext cx="1584120" cy="479028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  <a:endParaRPr kumimoji="1" lang="ko-KR" altLang="en-US" sz="105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="" xmlns:a16="http://schemas.microsoft.com/office/drawing/2014/main" id="{975D6E7A-1445-4A40-A67A-455B8F607934}"/>
              </a:ext>
            </a:extLst>
          </p:cNvPr>
          <p:cNvSpPr/>
          <p:nvPr/>
        </p:nvSpPr>
        <p:spPr bwMode="auto">
          <a:xfrm>
            <a:off x="5948920" y="1988840"/>
            <a:ext cx="34380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4">
            <a:extLst>
              <a:ext uri="{FF2B5EF4-FFF2-40B4-BE49-F238E27FC236}">
                <a16:creationId xmlns="" xmlns:a16="http://schemas.microsoft.com/office/drawing/2014/main" id="{7E02141E-9B76-4F6E-9C3A-5A9FDDED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920" y="2276872"/>
            <a:ext cx="3438096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2" name="Group 350">
            <a:extLst>
              <a:ext uri="{FF2B5EF4-FFF2-40B4-BE49-F238E27FC236}">
                <a16:creationId xmlns="" xmlns:a16="http://schemas.microsoft.com/office/drawing/2014/main" id="{CEB28EB1-CBAB-4D5B-BDC7-6D7AF6FCC9B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02639" y="2348880"/>
          <a:ext cx="3348000" cy="3920055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3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280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 및 명명 규칙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데이터모델링을 통하여 정의되는 엔티티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속성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컬럼에 대한 신규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/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변경 적용 시 반드시 데이터 표준관리 프로세스에 따라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841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관리조직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데이터모델 등록 및 표준화 준수 여부 등에 대해 반드시 데이터 표준관리자의 검토를 받아야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물리모델인 경우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DBA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로부터 시스템 성능 관점 검토 등 최종 검토 후 데이터베이스 생성이 진행되어야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데이터모델 변경 시 타 주제영역에 영향을 미치는 경우는 해당 영역 담당자와 모델 변경에 대한 회의를 소집하여 영향도를 파악한 뒤 변경을 진행한다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73554150"/>
                  </a:ext>
                </a:extLst>
              </a:tr>
              <a:tr h="3047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프로세스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구조관리는 데이터 구조관리 프로세스를 엄격하게 준수하여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957784255"/>
                  </a:ext>
                </a:extLst>
              </a:tr>
              <a:tr h="53649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생성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및 변경된 데이터모델은 품질관리시스템을 통해서 조회가 가능하도록 지원되어야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모델 생성 요청 및 등록은 품질관리시스템을 통해 이루어져야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670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관리평가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주기적으로 각 데이터모델의 표준 준수여부를 평가한다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3624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관리기준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모델은 데이터모델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(ERD)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파일을 기반으로 관리한다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682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예외 규정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신규 시스템 개발 전 전사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와 협의하여 데이터 표준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/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구조 관리 대상여부를 결정 후 진행하도록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데이터모델 미 관리 대상 업무 즉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패키지에 의한 시스템 개발인 경우에는 데이터모델 관리 적용 대상에서 제외하고 물리적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카탈로그 정보만을 품질관리시스템에서 관리하도록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741646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dirty="0"/>
              <a:t>데이터 표준</a:t>
            </a:r>
            <a:r>
              <a:rPr lang="en-US" altLang="ko-KR" dirty="0"/>
              <a:t>, </a:t>
            </a:r>
            <a:r>
              <a:rPr lang="ko-KR" altLang="en-US" dirty="0"/>
              <a:t>데이터 구조</a:t>
            </a:r>
            <a:r>
              <a:rPr lang="en-US" altLang="ko-KR" dirty="0"/>
              <a:t>, </a:t>
            </a:r>
            <a:r>
              <a:rPr lang="ko-KR" altLang="en-US" dirty="0"/>
              <a:t>데이터 품질</a:t>
            </a:r>
            <a:r>
              <a:rPr lang="en-US" altLang="ko-KR" dirty="0"/>
              <a:t>, </a:t>
            </a:r>
            <a:r>
              <a:rPr lang="ko-KR" altLang="en-US" dirty="0"/>
              <a:t>데이터 교환</a:t>
            </a:r>
            <a:r>
              <a:rPr lang="en-US" altLang="ko-KR" dirty="0"/>
              <a:t>, </a:t>
            </a:r>
            <a:r>
              <a:rPr lang="ko-KR" altLang="en-US" dirty="0"/>
              <a:t>데이터 보안</a:t>
            </a:r>
            <a:r>
              <a:rPr lang="en-US" altLang="ko-KR" dirty="0"/>
              <a:t> </a:t>
            </a:r>
            <a:r>
              <a:rPr lang="ko-KR" altLang="en-US"/>
              <a:t>대상으로 </a:t>
            </a:r>
            <a:r>
              <a:rPr lang="ko-KR" altLang="en-US" smtClean="0"/>
              <a:t>데이터 </a:t>
            </a:r>
            <a:r>
              <a:rPr lang="ko-KR" altLang="en-US" dirty="0"/>
              <a:t>품질 목표 달성을 위한 원칙을 수립하여 적용함</a:t>
            </a:r>
            <a:endParaRPr kumimoji="1" lang="ko-KR" altLang="en-US" b="0" kern="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2.9.1 </a:t>
            </a:r>
            <a:r>
              <a:rPr lang="ko-KR" altLang="en-US" sz="1800"/>
              <a:t>품질관리 방침</a:t>
            </a:r>
            <a:r>
              <a:rPr lang="en-US" altLang="ko-KR" sz="1800" smtClean="0"/>
              <a:t>(2/2</a:t>
            </a:r>
            <a:r>
              <a:rPr lang="en-US" altLang="ko-KR" sz="180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>
          <a:xfrm>
            <a:off x="7041232" y="0"/>
            <a:ext cx="2474676" cy="782680"/>
          </a:xfrm>
        </p:spPr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3293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품질관리 방침 정의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576176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860777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145378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C5EC57FF-E5BF-4E82-A78F-AC56931A4A13}"/>
              </a:ext>
            </a:extLst>
          </p:cNvPr>
          <p:cNvSpPr/>
          <p:nvPr/>
        </p:nvSpPr>
        <p:spPr bwMode="auto">
          <a:xfrm>
            <a:off x="2451009" y="1988840"/>
            <a:ext cx="34380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교환관리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DC3BC59A-5EF9-4A22-B264-DD2451365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9" y="2276872"/>
            <a:ext cx="3438096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2525414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Rectangle 62">
            <a:extLst>
              <a:ext uri="{FF2B5EF4-FFF2-40B4-BE49-F238E27FC236}">
                <a16:creationId xmlns="" xmlns:a16="http://schemas.microsoft.com/office/drawing/2014/main" id="{09467A98-DF32-4809-8EB8-33CCEFA71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2981857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표준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Rectangle 62">
            <a:extLst>
              <a:ext uri="{FF2B5EF4-FFF2-40B4-BE49-F238E27FC236}">
                <a16:creationId xmlns="" xmlns:a16="http://schemas.microsoft.com/office/drawing/2014/main" id="{BB5B4C52-C729-4DBE-BE8D-C34A879F7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254713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구조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Rectangle 62">
            <a:extLst>
              <a:ext uri="{FF2B5EF4-FFF2-40B4-BE49-F238E27FC236}">
                <a16:creationId xmlns="" xmlns:a16="http://schemas.microsoft.com/office/drawing/2014/main" id="{D22E5C3F-1A43-4B8C-BD20-AF3613588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527569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교환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Rectangle 62">
            <a:extLst>
              <a:ext uri="{FF2B5EF4-FFF2-40B4-BE49-F238E27FC236}">
                <a16:creationId xmlns="" xmlns:a16="http://schemas.microsoft.com/office/drawing/2014/main" id="{D7B5AE97-EDCE-4E17-B454-9360EF7C2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3800425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품질관리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Rectangle 62">
            <a:extLst>
              <a:ext uri="{FF2B5EF4-FFF2-40B4-BE49-F238E27FC236}">
                <a16:creationId xmlns="" xmlns:a16="http://schemas.microsoft.com/office/drawing/2014/main" id="{4D1F3C74-6DBA-4C41-B035-DC073AAC0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3" y="4073281"/>
            <a:ext cx="1440109" cy="22347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데이터 보안 방침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3" name="Group 350">
            <a:extLst>
              <a:ext uri="{FF2B5EF4-FFF2-40B4-BE49-F238E27FC236}">
                <a16:creationId xmlns="" xmlns:a16="http://schemas.microsoft.com/office/drawing/2014/main" id="{13D7756C-0819-4619-8EF5-6D1175F9BC1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04728" y="2348880"/>
          <a:ext cx="3348000" cy="3911858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186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921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연계관리를 위해서는 연계 대상 시스템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연계정보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연계 기술 매뉴얼 등 연계 구성에 대한 상세한 메타데이터 정보가 관리되어야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시스템 연계구현을 위한 기술적인 문서를 관리하여야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연계정보는 품질관리시스템에 등록 관리하여야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연계 데이터의 품질 확인을 위한 데이터 오류정보와 성능정보를 관리해야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5191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관리조직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연계를 수행한 정보시스템 구축 및 운영 사업자는 데이터 품질담당자의 책임 하에 데이터 연계 정보와 연계 데이터의 성능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품질정보를 등록하여야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품질관리자는 연계정보 관리와 연계 데이터의 품질 성능에 대한 최종 책임을 지며 전사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에게 해당 업무 지시를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0921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관리평가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품질관리자는 시스템 구축 후 품질관리시스템에 등록된 연계 정보와 실제 연계 내용과의  정합성만을 평가한다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품질관리자는 정기적으로 품질관리시스템에 등록된 연계 정보를 대상으로 연계 데이터의 품질과 성능을 진단한다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데이터의 품질과 성능 저하 발생 시 정보시스템 운영사업자가 데이터 품질 담당자의 주관 하에 품질 개선과 성능 개선을 수행한다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331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endParaRPr kumimoji="1" lang="en-US" altLang="ko-KR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연계에 대한 정보는 품질관리시스템을 통해 통합 관리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품질관리시스템을 통해 데이터 연계 정보를 조회할 수 있어야 한다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65" name="연결선: 꺾임 64">
            <a:extLst>
              <a:ext uri="{FF2B5EF4-FFF2-40B4-BE49-F238E27FC236}">
                <a16:creationId xmlns="" xmlns:a16="http://schemas.microsoft.com/office/drawing/2014/main" id="{8F1431E7-8E3F-44D6-8CFA-C6A646832F11}"/>
              </a:ext>
            </a:extLst>
          </p:cNvPr>
          <p:cNvCxnSpPr>
            <a:cxnSpLocks/>
            <a:stCxn id="49" idx="1"/>
            <a:endCxn id="7" idx="2"/>
          </p:cNvCxnSpPr>
          <p:nvPr/>
        </p:nvCxnSpPr>
        <p:spPr>
          <a:xfrm rot="10800000">
            <a:off x="632521" y="2855634"/>
            <a:ext cx="72003" cy="132938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>
            <a:extLst>
              <a:ext uri="{FF2B5EF4-FFF2-40B4-BE49-F238E27FC236}">
                <a16:creationId xmlns="" xmlns:a16="http://schemas.microsoft.com/office/drawing/2014/main" id="{FAD39C4F-314D-4A64-B6B6-AD9601B5D0DE}"/>
              </a:ext>
            </a:extLst>
          </p:cNvPr>
          <p:cNvSpPr/>
          <p:nvPr/>
        </p:nvSpPr>
        <p:spPr>
          <a:xfrm>
            <a:off x="560512" y="2564904"/>
            <a:ext cx="144016" cy="29072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6" name="연결선: 꺾임 65">
            <a:extLst>
              <a:ext uri="{FF2B5EF4-FFF2-40B4-BE49-F238E27FC236}">
                <a16:creationId xmlns="" xmlns:a16="http://schemas.microsoft.com/office/drawing/2014/main" id="{9F74FCF4-1F5D-494F-9E53-9104877ED925}"/>
              </a:ext>
            </a:extLst>
          </p:cNvPr>
          <p:cNvCxnSpPr>
            <a:cxnSpLocks/>
            <a:stCxn id="48" idx="1"/>
            <a:endCxn id="7" idx="2"/>
          </p:cNvCxnSpPr>
          <p:nvPr/>
        </p:nvCxnSpPr>
        <p:spPr>
          <a:xfrm rot="10800000">
            <a:off x="632521" y="2855634"/>
            <a:ext cx="72003" cy="1056527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연결선: 꺾임 66">
            <a:extLst>
              <a:ext uri="{FF2B5EF4-FFF2-40B4-BE49-F238E27FC236}">
                <a16:creationId xmlns="" xmlns:a16="http://schemas.microsoft.com/office/drawing/2014/main" id="{37FE786D-FC6E-4B08-B3C7-8E96189FD7F8}"/>
              </a:ext>
            </a:extLst>
          </p:cNvPr>
          <p:cNvCxnSpPr>
            <a:cxnSpLocks/>
            <a:stCxn id="47" idx="1"/>
            <a:endCxn id="7" idx="2"/>
          </p:cNvCxnSpPr>
          <p:nvPr/>
        </p:nvCxnSpPr>
        <p:spPr>
          <a:xfrm rot="10800000">
            <a:off x="632521" y="2855634"/>
            <a:ext cx="72003" cy="783671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7">
            <a:extLst>
              <a:ext uri="{FF2B5EF4-FFF2-40B4-BE49-F238E27FC236}">
                <a16:creationId xmlns="" xmlns:a16="http://schemas.microsoft.com/office/drawing/2014/main" id="{77669297-F7EC-4A05-B600-EA6B680D0E1B}"/>
              </a:ext>
            </a:extLst>
          </p:cNvPr>
          <p:cNvCxnSpPr>
            <a:cxnSpLocks/>
            <a:stCxn id="46" idx="1"/>
            <a:endCxn id="7" idx="2"/>
          </p:cNvCxnSpPr>
          <p:nvPr/>
        </p:nvCxnSpPr>
        <p:spPr>
          <a:xfrm rot="10800000">
            <a:off x="632521" y="2855634"/>
            <a:ext cx="72003" cy="510815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연결선: 꺾임 68">
            <a:extLst>
              <a:ext uri="{FF2B5EF4-FFF2-40B4-BE49-F238E27FC236}">
                <a16:creationId xmlns="" xmlns:a16="http://schemas.microsoft.com/office/drawing/2014/main" id="{A569AD6F-EB54-485B-A8A9-5B66925F9628}"/>
              </a:ext>
            </a:extLst>
          </p:cNvPr>
          <p:cNvCxnSpPr>
            <a:cxnSpLocks/>
            <a:stCxn id="45" idx="1"/>
            <a:endCxn id="7" idx="2"/>
          </p:cNvCxnSpPr>
          <p:nvPr/>
        </p:nvCxnSpPr>
        <p:spPr>
          <a:xfrm rot="10800000">
            <a:off x="632521" y="2855634"/>
            <a:ext cx="72003" cy="237959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420888"/>
            <a:ext cx="1584120" cy="479028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  <a:endParaRPr kumimoji="1" lang="ko-KR" altLang="en-US" sz="105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="" xmlns:a16="http://schemas.microsoft.com/office/drawing/2014/main" id="{975D6E7A-1445-4A40-A67A-455B8F607934}"/>
              </a:ext>
            </a:extLst>
          </p:cNvPr>
          <p:cNvSpPr/>
          <p:nvPr/>
        </p:nvSpPr>
        <p:spPr bwMode="auto">
          <a:xfrm>
            <a:off x="5948920" y="1988840"/>
            <a:ext cx="34380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품질관리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4">
            <a:extLst>
              <a:ext uri="{FF2B5EF4-FFF2-40B4-BE49-F238E27FC236}">
                <a16:creationId xmlns="" xmlns:a16="http://schemas.microsoft.com/office/drawing/2014/main" id="{7E02141E-9B76-4F6E-9C3A-5A9FDDED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920" y="2276872"/>
            <a:ext cx="3438096" cy="1620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2" name="Group 350">
            <a:extLst>
              <a:ext uri="{FF2B5EF4-FFF2-40B4-BE49-F238E27FC236}">
                <a16:creationId xmlns="" xmlns:a16="http://schemas.microsoft.com/office/drawing/2014/main" id="{CEB28EB1-CBAB-4D5B-BDC7-6D7AF6FCC9B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02639" y="2348880"/>
          <a:ext cx="3348000" cy="15532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0132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93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9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명확화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적정 수준의 데이터 품질관리를 수행하기 위해서는 조직별로 구체화된 역할을 부여하고 전담 조직을 운영함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 조직은 데이터 품질 활용과 유지관리 역할의 수행을 위해 적정한 권한을 부여함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9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체계화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조직의 책임과 역할에 부합하는 품질관리 프로세스를 개발함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 프로세스를 지속적으로 개선</a:t>
                      </a:r>
                      <a:r>
                        <a:rPr kumimoji="1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/</a:t>
                      </a: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보완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73554150"/>
                  </a:ext>
                </a:extLst>
              </a:tr>
              <a:tr h="2004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9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지속화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품질관리는 정기적 활동으로 주기적으로 측정하고 관리함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지속적인 개선활동을 통해 적정 수준의 데이터 품질을 유지함</a:t>
                      </a:r>
                      <a:endParaRPr kumimoji="1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957784255"/>
                  </a:ext>
                </a:extLst>
              </a:tr>
              <a:tr h="10443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9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계량화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업무 규칙 만족을 정량적으로 측정 가능한 적정한 평가기준 개발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="" xmlns:a16="http://schemas.microsoft.com/office/drawing/2014/main" id="{A212FD94-77F5-4FF7-A5F2-A1C5F09C86E8}"/>
              </a:ext>
            </a:extLst>
          </p:cNvPr>
          <p:cNvSpPr/>
          <p:nvPr/>
        </p:nvSpPr>
        <p:spPr bwMode="auto">
          <a:xfrm>
            <a:off x="5948920" y="3932612"/>
            <a:ext cx="34380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보안관리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Rectangle 4">
            <a:extLst>
              <a:ext uri="{FF2B5EF4-FFF2-40B4-BE49-F238E27FC236}">
                <a16:creationId xmlns="" xmlns:a16="http://schemas.microsoft.com/office/drawing/2014/main" id="{FFAC47AA-838D-4409-A7F1-41A3623140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8920" y="4249708"/>
            <a:ext cx="3438096" cy="2124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39" name="Group 350">
            <a:extLst>
              <a:ext uri="{FF2B5EF4-FFF2-40B4-BE49-F238E27FC236}">
                <a16:creationId xmlns="" xmlns:a16="http://schemas.microsoft.com/office/drawing/2014/main" id="{79114AB3-002D-4E73-9DC0-C1975BAD63A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02639" y="4292652"/>
          <a:ext cx="3348000" cy="2060784"/>
        </p:xfrm>
        <a:graphic>
          <a:graphicData uri="http://schemas.openxmlformats.org/drawingml/2006/table">
            <a:tbl>
              <a:tblPr/>
              <a:tblGrid>
                <a:gridCol w="66841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67958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1338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341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부당한 접근보호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권한을 가진 사용자에게만 데이터베이스 접근 가능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96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추론</a:t>
                      </a:r>
                      <a:endParaRPr kumimoji="1" lang="en-US" altLang="ko-KR" sz="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방지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비기밀 데이터에서 기밀정보를 얻어낼 가능성 의미함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통계적 집계 정보에서 각 개체에 대한 정보가 추적당하지 않도록 조치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02887781"/>
                  </a:ext>
                </a:extLst>
              </a:tr>
              <a:tr h="3005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</a:t>
                      </a:r>
                      <a:endParaRPr kumimoji="1" lang="en-US" altLang="ko-KR" sz="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내용을 수정할 수 있는 비권한 접근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오류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바이러스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데이터를  손상 시킬 수 있는 시스템 장애로부터 데이터베이스를 보호함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Backup 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과 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Recovery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통해 구현함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196101450"/>
                  </a:ext>
                </a:extLst>
              </a:tr>
              <a:tr h="2296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데이터의 연산적 </a:t>
                      </a:r>
                      <a:endParaRPr kumimoji="1" lang="en-US" altLang="ko-KR" sz="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트랜잭션 처리 시 데이터베이스 내 데이터의 논리적 일치성 보장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Locking 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기법을 통해 구현함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813542246"/>
                  </a:ext>
                </a:extLst>
              </a:tr>
              <a:tr h="2296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데이터의 의미적 </a:t>
                      </a:r>
                      <a:endParaRPr kumimoji="1" lang="en-US" altLang="ko-KR" sz="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허용된 범위내의 데이터 값으로 수정될 데이터의 논리적 일치성 보장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무결성 제약조건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(Integrity Constraints)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통해 구현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292820138"/>
                  </a:ext>
                </a:extLst>
              </a:tr>
              <a:tr h="2119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감사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모든 접근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(Read, Write)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을 기록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성능이 허락하는 범위 내에서 감사작업</a:t>
                      </a:r>
                      <a:r>
                        <a:rPr kumimoji="1" lang="en-US" altLang="ko-KR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(Auditing) </a:t>
                      </a: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상세화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599918694"/>
                  </a:ext>
                </a:extLst>
              </a:tr>
              <a:tr h="21197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사용자인증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데이터베이스 사용자 식별하여 관리함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권한 설정 및 할당에 대한 기본적 관리 수행과 수행내용의 기밀유지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807499645"/>
                  </a:ext>
                </a:extLst>
              </a:tr>
              <a:tr h="2296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기밀 데이터의</a:t>
                      </a:r>
                      <a:endParaRPr kumimoji="1" lang="en-US" altLang="ko-KR" sz="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</a:t>
                      </a:r>
                      <a:r>
                        <a:rPr kumimoji="1" lang="en-US" altLang="ko-KR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6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보호</a:t>
                      </a:r>
                    </a:p>
                  </a:txBody>
                  <a:tcPr marL="36000" marR="36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개인정보보호에 관련한 데이터 및 사업관리 프로세스에서 기밀을 요하는 주요한 데이터는 데이터베이스에 물리적으로 저장 시 암호화</a:t>
                      </a:r>
                    </a:p>
                  </a:txBody>
                  <a:tcPr marL="90000" marR="90000" marT="18000" marB="18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6875073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91238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/>
              <a:t>데이터</a:t>
            </a:r>
            <a:r>
              <a:rPr lang="ko-KR" altLang="ko-KR"/>
              <a:t> </a:t>
            </a:r>
            <a:r>
              <a:rPr lang="en-US" altLang="ko-KR" smtClean="0"/>
              <a:t>OwnerShip</a:t>
            </a:r>
            <a:r>
              <a:rPr lang="ko-KR" altLang="en-US" smtClean="0"/>
              <a:t>의 </a:t>
            </a:r>
            <a:r>
              <a:rPr lang="en-US" altLang="ko-KR" dirty="0"/>
              <a:t>『</a:t>
            </a:r>
            <a:r>
              <a:rPr lang="ko-KR" altLang="en-US" dirty="0"/>
              <a:t>데이터 소유부문</a:t>
            </a:r>
            <a:r>
              <a:rPr lang="en-US" altLang="ko-KR" dirty="0"/>
              <a:t>』</a:t>
            </a:r>
            <a:r>
              <a:rPr lang="ko-KR" altLang="ko-KR" dirty="0"/>
              <a:t>, 데이터 설계</a:t>
            </a:r>
            <a:r>
              <a:rPr lang="en-US" altLang="ko-KR" dirty="0"/>
              <a:t>/</a:t>
            </a:r>
            <a:r>
              <a:rPr lang="ko-KR" altLang="ko-KR" dirty="0"/>
              <a:t>구</a:t>
            </a:r>
            <a:r>
              <a:rPr lang="ko-KR" altLang="en-US" dirty="0"/>
              <a:t>축</a:t>
            </a:r>
            <a:r>
              <a:rPr lang="ko-KR" altLang="ko-KR" dirty="0"/>
              <a:t> 담당</a:t>
            </a:r>
            <a:r>
              <a:rPr lang="ko-KR" altLang="en-US" dirty="0"/>
              <a:t>의</a:t>
            </a:r>
            <a:r>
              <a:rPr lang="en-US" altLang="ko-KR" dirty="0"/>
              <a:t> 『</a:t>
            </a:r>
            <a:r>
              <a:rPr lang="ko-KR" altLang="en-US" dirty="0"/>
              <a:t>데이터 설계 부문</a:t>
            </a:r>
            <a:r>
              <a:rPr lang="en-US" altLang="ko-KR" dirty="0"/>
              <a:t>』</a:t>
            </a:r>
            <a:r>
              <a:rPr lang="ko-KR" altLang="ko-KR" dirty="0"/>
              <a:t>, </a:t>
            </a:r>
            <a:r>
              <a:rPr lang="ko-KR" altLang="en-US" dirty="0"/>
              <a:t>데이터 품질관리와 </a:t>
            </a:r>
            <a:r>
              <a:rPr lang="ko-KR" altLang="ko-KR" dirty="0"/>
              <a:t>이해관계</a:t>
            </a:r>
            <a:r>
              <a:rPr lang="ko-KR" altLang="en-US" dirty="0"/>
              <a:t>자</a:t>
            </a:r>
            <a:r>
              <a:rPr lang="ko-KR" altLang="ko-KR" dirty="0"/>
              <a:t> 조정</a:t>
            </a:r>
            <a:r>
              <a:rPr lang="en-US" altLang="ko-KR" dirty="0"/>
              <a:t>·</a:t>
            </a:r>
            <a:r>
              <a:rPr lang="ko-KR" altLang="ko-KR" dirty="0"/>
              <a:t>통제 담당</a:t>
            </a:r>
            <a:r>
              <a:rPr lang="ko-KR" altLang="en-US" dirty="0"/>
              <a:t>의 </a:t>
            </a:r>
            <a:r>
              <a:rPr lang="en-US" altLang="ko-KR" dirty="0"/>
              <a:t>『</a:t>
            </a:r>
            <a:r>
              <a:rPr lang="ko-KR" altLang="ko-KR" dirty="0"/>
              <a:t>데이터 관리 부문</a:t>
            </a:r>
            <a:r>
              <a:rPr lang="en-US" altLang="ko-KR" dirty="0"/>
              <a:t>』</a:t>
            </a:r>
            <a:r>
              <a:rPr lang="ko-KR" altLang="en-US" dirty="0"/>
              <a:t>으로</a:t>
            </a:r>
            <a:r>
              <a:rPr lang="en-US" altLang="ko-KR" dirty="0"/>
              <a:t> </a:t>
            </a:r>
            <a:r>
              <a:rPr lang="ko-KR" altLang="en-US" dirty="0"/>
              <a:t>구분하여 관리조직 체계를 적용함</a:t>
            </a:r>
            <a:endParaRPr kumimoji="1" lang="ko-KR" altLang="en-US" b="0" kern="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2.9.2 </a:t>
            </a:r>
            <a:r>
              <a:rPr lang="ko-KR" altLang="en-US" sz="1800" smtClean="0"/>
              <a:t>데이터 </a:t>
            </a:r>
            <a:r>
              <a:rPr lang="ko-KR" altLang="en-US" sz="1800" dirty="0"/>
              <a:t>관리 조직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관리 조직체계 정의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81680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860777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145378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2804890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7936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grpSp>
        <p:nvGrpSpPr>
          <p:cNvPr id="7" name="그룹 35">
            <a:extLst>
              <a:ext uri="{FF2B5EF4-FFF2-40B4-BE49-F238E27FC236}">
                <a16:creationId xmlns="" xmlns:a16="http://schemas.microsoft.com/office/drawing/2014/main" id="{F4BEEC61-A76B-4E76-AD2D-DA614B3D506E}"/>
              </a:ext>
            </a:extLst>
          </p:cNvPr>
          <p:cNvGrpSpPr/>
          <p:nvPr/>
        </p:nvGrpSpPr>
        <p:grpSpPr>
          <a:xfrm rot="10800000" flipH="1">
            <a:off x="6815930" y="2643488"/>
            <a:ext cx="491902" cy="2901300"/>
            <a:chOff x="4781869" y="2101850"/>
            <a:chExt cx="671538" cy="3082852"/>
          </a:xfrm>
        </p:grpSpPr>
        <p:sp>
          <p:nvSpPr>
            <p:cNvPr id="38" name="이등변 삼각형 37">
              <a:extLst>
                <a:ext uri="{FF2B5EF4-FFF2-40B4-BE49-F238E27FC236}">
                  <a16:creationId xmlns="" xmlns:a16="http://schemas.microsoft.com/office/drawing/2014/main" id="{7FD4223C-F2F2-4259-9BF6-427D25FF199C}"/>
                </a:ext>
              </a:extLst>
            </p:cNvPr>
            <p:cNvSpPr/>
            <p:nvPr/>
          </p:nvSpPr>
          <p:spPr bwMode="auto">
            <a:xfrm rot="5400000">
              <a:off x="3650665" y="3381960"/>
              <a:ext cx="3082852" cy="522632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tx1">
                    <a:lumMod val="50000"/>
                    <a:lumOff val="50000"/>
                    <a:alpha val="50000"/>
                  </a:schemeClr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9" name="이등변 삼각형 38">
              <a:extLst>
                <a:ext uri="{FF2B5EF4-FFF2-40B4-BE49-F238E27FC236}">
                  <a16:creationId xmlns="" xmlns:a16="http://schemas.microsoft.com/office/drawing/2014/main" id="{363B396E-3853-46BC-A5BF-F02498E2C798}"/>
                </a:ext>
              </a:extLst>
            </p:cNvPr>
            <p:cNvSpPr/>
            <p:nvPr/>
          </p:nvSpPr>
          <p:spPr bwMode="auto">
            <a:xfrm rot="5400000">
              <a:off x="3919084" y="3315388"/>
              <a:ext cx="2381346" cy="655776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C5EC57FF-E5BF-4E82-A78F-AC56931A4A13}"/>
              </a:ext>
            </a:extLst>
          </p:cNvPr>
          <p:cNvSpPr/>
          <p:nvPr/>
        </p:nvSpPr>
        <p:spPr bwMode="auto">
          <a:xfrm>
            <a:off x="2451008" y="1988840"/>
            <a:ext cx="457587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 조직체계 방향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DC3BC59A-5EF9-4A22-B264-DD2451365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8" y="2276872"/>
            <a:ext cx="4575879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="" xmlns:a16="http://schemas.microsoft.com/office/drawing/2014/main" id="{975D6E7A-1445-4A40-A67A-455B8F607934}"/>
              </a:ext>
            </a:extLst>
          </p:cNvPr>
          <p:cNvSpPr/>
          <p:nvPr/>
        </p:nvSpPr>
        <p:spPr bwMode="auto">
          <a:xfrm>
            <a:off x="7314976" y="1988840"/>
            <a:ext cx="2134787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 조직체계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4">
            <a:extLst>
              <a:ext uri="{FF2B5EF4-FFF2-40B4-BE49-F238E27FC236}">
                <a16:creationId xmlns="" xmlns:a16="http://schemas.microsoft.com/office/drawing/2014/main" id="{7E02141E-9B76-4F6E-9C3A-5A9FDDED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4976" y="2276872"/>
            <a:ext cx="2134787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데이터 관련 업무 그룹을 데이터 소유부문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사업본부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),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 데이터 관리 </a:t>
            </a:r>
            <a:r>
              <a:rPr lang="ko-KR" altLang="en-US" sz="800">
                <a:latin typeface="맑은 고딕" pitchFamily="50" charset="-127"/>
                <a:ea typeface="맑은 고딕" pitchFamily="50" charset="-127"/>
              </a:rPr>
              <a:t>부문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smtClean="0">
                <a:latin typeface="맑은 고딕" pitchFamily="50" charset="-127"/>
                <a:ea typeface="맑은 고딕" pitchFamily="50" charset="-127"/>
              </a:rPr>
              <a:t>코레일테크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), 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데이터 설계 부문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정보시스템 개발 업체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정보시스템 운영 업체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), 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외부 데이터 품질 감리업체로 구성함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각 업무 그룹은 데이터 품질관리 체계 전체를 커버하면서도 전문성과 고유 역량을 발휘할 수 있도록 데이터 담당자를 세분화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최소한의 인력으로 최대의 효과를 거둘 수 있도록 유관 업무의 집중 부여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smtClean="0">
                <a:latin typeface="맑은 고딕" pitchFamily="50" charset="-127"/>
                <a:ea typeface="맑은 고딕" pitchFamily="50" charset="-127"/>
              </a:rPr>
              <a:t>코레일테크의 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구성 인력에게 데이터 품질관리 관련 직무를 부여하여 데이터 품질관리 업무 병행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데이터 품질관리 수행 직무를 분류하고 명확한 직무 내용을 기술함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각각의 데이터 담당자에게 직무 부여를 통하여 명확한 업무 할당과 업무 숙지가 가능하도록 함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담당 직무 분야를 반복적 수행함으로써 생산성 향상 및 직무 역량이 강화될 수 있도록 함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정보시스템 구축</a:t>
            </a: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운영과정의 데이터 품질 향상을 위하여 협력업체 담당자의 엄격한 직무 요건 부여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lang="ko-KR" altLang="en-US" sz="800" dirty="0">
                <a:latin typeface="맑은 고딕" pitchFamily="50" charset="-127"/>
                <a:ea typeface="맑은 고딕" pitchFamily="50" charset="-127"/>
              </a:rPr>
              <a:t>전문성과 객관성을 담보한 데이터 품질 점검을 수행하기 위하여 외부 데이터 품질 감리 업체를 조직 체계에 포함</a:t>
            </a:r>
            <a:endParaRPr lang="en-US" altLang="ko-KR" sz="8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="" xmlns:a16="http://schemas.microsoft.com/office/drawing/2014/main" id="{8F78B32E-CBD6-4126-82AC-9FC3552B3A03}"/>
              </a:ext>
            </a:extLst>
          </p:cNvPr>
          <p:cNvSpPr/>
          <p:nvPr/>
        </p:nvSpPr>
        <p:spPr>
          <a:xfrm>
            <a:off x="2881817" y="4796018"/>
            <a:ext cx="4087407" cy="1086113"/>
          </a:xfrm>
          <a:prstGeom prst="rect">
            <a:avLst/>
          </a:prstGeom>
          <a:solidFill>
            <a:srgbClr val="E6F0FF">
              <a:alpha val="50000"/>
            </a:srgbClr>
          </a:solidFill>
          <a:ln w="19050">
            <a:solidFill>
              <a:schemeClr val="bg1">
                <a:lumMod val="6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="" xmlns:a16="http://schemas.microsoft.com/office/drawing/2014/main" id="{6DD268C7-514C-425F-A9FB-50FD3F80C966}"/>
              </a:ext>
            </a:extLst>
          </p:cNvPr>
          <p:cNvSpPr/>
          <p:nvPr/>
        </p:nvSpPr>
        <p:spPr>
          <a:xfrm>
            <a:off x="2518568" y="4796018"/>
            <a:ext cx="357025" cy="1086113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6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marL="0" marR="0" lvl="0" indent="0" algn="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-15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="" xmlns:a16="http://schemas.microsoft.com/office/drawing/2014/main" id="{55526F86-BE26-404A-974C-71F1B6A0F3B2}"/>
              </a:ext>
            </a:extLst>
          </p:cNvPr>
          <p:cNvSpPr/>
          <p:nvPr/>
        </p:nvSpPr>
        <p:spPr>
          <a:xfrm>
            <a:off x="2881816" y="2348880"/>
            <a:ext cx="4087406" cy="702779"/>
          </a:xfrm>
          <a:prstGeom prst="rect">
            <a:avLst/>
          </a:prstGeom>
          <a:solidFill>
            <a:srgbClr val="E6F0FF">
              <a:alpha val="50000"/>
            </a:srgbClr>
          </a:solidFill>
          <a:ln w="19050">
            <a:solidFill>
              <a:schemeClr val="bg1">
                <a:lumMod val="6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="" xmlns:a16="http://schemas.microsoft.com/office/drawing/2014/main" id="{0199F6A3-2549-4C74-B3E3-F5F64B4959A8}"/>
              </a:ext>
            </a:extLst>
          </p:cNvPr>
          <p:cNvSpPr/>
          <p:nvPr/>
        </p:nvSpPr>
        <p:spPr>
          <a:xfrm>
            <a:off x="2524792" y="2348880"/>
            <a:ext cx="357025" cy="70277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6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marL="0" marR="0" lvl="0" indent="0" algn="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-15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="" xmlns:a16="http://schemas.microsoft.com/office/drawing/2014/main" id="{AE3C43CC-C6A4-47FF-80BD-806EC3BBF390}"/>
              </a:ext>
            </a:extLst>
          </p:cNvPr>
          <p:cNvSpPr/>
          <p:nvPr/>
        </p:nvSpPr>
        <p:spPr>
          <a:xfrm>
            <a:off x="2875593" y="3230716"/>
            <a:ext cx="4093631" cy="1373614"/>
          </a:xfrm>
          <a:prstGeom prst="rect">
            <a:avLst/>
          </a:prstGeom>
          <a:solidFill>
            <a:srgbClr val="E6F0FF">
              <a:alpha val="50000"/>
            </a:srgbClr>
          </a:solidFill>
          <a:ln w="19050">
            <a:solidFill>
              <a:schemeClr val="bg1">
                <a:lumMod val="6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="" xmlns:a16="http://schemas.microsoft.com/office/drawing/2014/main" id="{5873BF6A-E9C5-4D75-88EA-C1AAB02B7B0B}"/>
              </a:ext>
            </a:extLst>
          </p:cNvPr>
          <p:cNvSpPr/>
          <p:nvPr/>
        </p:nvSpPr>
        <p:spPr>
          <a:xfrm>
            <a:off x="2518568" y="3230716"/>
            <a:ext cx="357025" cy="1373614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6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marL="0" marR="0" lvl="0" indent="0" algn="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-15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0" name="AutoShape 117">
            <a:extLst>
              <a:ext uri="{FF2B5EF4-FFF2-40B4-BE49-F238E27FC236}">
                <a16:creationId xmlns="" xmlns:a16="http://schemas.microsoft.com/office/drawing/2014/main" id="{01CA30AA-8EB0-40F0-8EE4-2EEB57DBA195}"/>
              </a:ext>
            </a:extLst>
          </p:cNvPr>
          <p:cNvCxnSpPr>
            <a:cxnSpLocks noChangeShapeType="1"/>
            <a:stCxn id="161" idx="2"/>
            <a:endCxn id="179" idx="0"/>
          </p:cNvCxnSpPr>
          <p:nvPr/>
        </p:nvCxnSpPr>
        <p:spPr bwMode="auto">
          <a:xfrm rot="5400000">
            <a:off x="4817607" y="4114496"/>
            <a:ext cx="191724" cy="344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161" name="Rectangle 11">
            <a:extLst>
              <a:ext uri="{FF2B5EF4-FFF2-40B4-BE49-F238E27FC236}">
                <a16:creationId xmlns="" xmlns:a16="http://schemas.microsoft.com/office/drawing/2014/main" id="{67AF4F89-E627-4386-B901-85CE698D010C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277676" y="3699361"/>
            <a:ext cx="1271930" cy="319445"/>
          </a:xfrm>
          <a:prstGeom prst="rect">
            <a:avLst/>
          </a:prstGeom>
          <a:solidFill>
            <a:srgbClr val="BEDCFF">
              <a:lumMod val="90000"/>
            </a:srgbClr>
          </a:solidFill>
          <a:ln w="3175" algn="ctr">
            <a:solidFill>
              <a:sysClr val="windowText" lastClr="000000">
                <a:lumMod val="95000"/>
                <a:lumOff val="5000"/>
              </a:sys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정보관리담당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2" name="AutoShape 116">
            <a:extLst>
              <a:ext uri="{FF2B5EF4-FFF2-40B4-BE49-F238E27FC236}">
                <a16:creationId xmlns="" xmlns:a16="http://schemas.microsoft.com/office/drawing/2014/main" id="{7EEFE5E3-0BDF-4E5F-8620-209F0EA8E30C}"/>
              </a:ext>
            </a:extLst>
          </p:cNvPr>
          <p:cNvCxnSpPr>
            <a:cxnSpLocks noChangeShapeType="1"/>
          </p:cNvCxnSpPr>
          <p:nvPr/>
        </p:nvCxnSpPr>
        <p:spPr bwMode="auto">
          <a:xfrm rot="5400000">
            <a:off x="4865528" y="4130472"/>
            <a:ext cx="95884" cy="344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163" name="AutoShape 116">
            <a:extLst>
              <a:ext uri="{FF2B5EF4-FFF2-40B4-BE49-F238E27FC236}">
                <a16:creationId xmlns="" xmlns:a16="http://schemas.microsoft.com/office/drawing/2014/main" id="{DBC2900E-93E4-47BF-8A31-D3B6774A7931}"/>
              </a:ext>
            </a:extLst>
          </p:cNvPr>
          <p:cNvCxnSpPr>
            <a:cxnSpLocks noChangeShapeType="1"/>
            <a:stCxn id="199" idx="2"/>
            <a:endCxn id="194" idx="0"/>
          </p:cNvCxnSpPr>
          <p:nvPr/>
        </p:nvCxnSpPr>
        <p:spPr bwMode="auto">
          <a:xfrm rot="5400000">
            <a:off x="4267792" y="4266761"/>
            <a:ext cx="317048" cy="992186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grpSp>
        <p:nvGrpSpPr>
          <p:cNvPr id="8" name="그룹 163">
            <a:extLst>
              <a:ext uri="{FF2B5EF4-FFF2-40B4-BE49-F238E27FC236}">
                <a16:creationId xmlns="" xmlns:a16="http://schemas.microsoft.com/office/drawing/2014/main" id="{9A28EDD9-47B4-4358-8FF1-DFCCAA2660C2}"/>
              </a:ext>
            </a:extLst>
          </p:cNvPr>
          <p:cNvGrpSpPr/>
          <p:nvPr/>
        </p:nvGrpSpPr>
        <p:grpSpPr>
          <a:xfrm>
            <a:off x="3000209" y="4921378"/>
            <a:ext cx="1860026" cy="826664"/>
            <a:chOff x="794703" y="4006712"/>
            <a:chExt cx="2952000" cy="931613"/>
          </a:xfrm>
        </p:grpSpPr>
        <p:sp>
          <p:nvSpPr>
            <p:cNvPr id="194" name="Rectangle 114">
              <a:extLst>
                <a:ext uri="{FF2B5EF4-FFF2-40B4-BE49-F238E27FC236}">
                  <a16:creationId xmlns="" xmlns:a16="http://schemas.microsoft.com/office/drawing/2014/main" id="{304C2AB1-075A-4251-B252-CA0EFF31A26A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794703" y="4006712"/>
              <a:ext cx="2952000" cy="93161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t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개발 업체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5" name="Rectangle 11">
              <a:extLst>
                <a:ext uri="{FF2B5EF4-FFF2-40B4-BE49-F238E27FC236}">
                  <a16:creationId xmlns="" xmlns:a16="http://schemas.microsoft.com/office/drawing/2014/main" id="{9B618543-D575-4B65-8D50-2F2BA405A151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blackWhite">
            <a:xfrm>
              <a:off x="842801" y="4247357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DBA</a:t>
              </a:r>
            </a:p>
          </p:txBody>
        </p:sp>
        <p:sp>
          <p:nvSpPr>
            <p:cNvPr id="196" name="Rectangle 11">
              <a:extLst>
                <a:ext uri="{FF2B5EF4-FFF2-40B4-BE49-F238E27FC236}">
                  <a16:creationId xmlns="" xmlns:a16="http://schemas.microsoft.com/office/drawing/2014/main" id="{512A7F4D-AA2A-4014-B90E-CE26B64BE5E6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blackWhite">
            <a:xfrm>
              <a:off x="842801" y="4595409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SQA</a:t>
              </a:r>
              <a:b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</a:b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DQA)</a:t>
              </a:r>
            </a:p>
          </p:txBody>
        </p:sp>
        <p:sp>
          <p:nvSpPr>
            <p:cNvPr id="197" name="Rectangle 11">
              <a:extLst>
                <a:ext uri="{FF2B5EF4-FFF2-40B4-BE49-F238E27FC236}">
                  <a16:creationId xmlns="" xmlns:a16="http://schemas.microsoft.com/office/drawing/2014/main" id="{5171A20E-FEB1-4378-BDA1-8FA23051FD8A}"/>
                </a:ext>
              </a:extLst>
            </p:cNvPr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blackWhite">
            <a:xfrm>
              <a:off x="2296382" y="4247357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데이터 모델러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8" name="Rectangle 11">
              <a:extLst>
                <a:ext uri="{FF2B5EF4-FFF2-40B4-BE49-F238E27FC236}">
                  <a16:creationId xmlns="" xmlns:a16="http://schemas.microsoft.com/office/drawing/2014/main" id="{D5A6BCFB-C5A8-4B79-B04B-4E676E831A36}"/>
                </a:ext>
              </a:extLst>
            </p:cNvPr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blackWhite">
            <a:xfrm>
              <a:off x="2296382" y="4595409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응용 프로그래머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65" name="Rectangle 114">
            <a:extLst>
              <a:ext uri="{FF2B5EF4-FFF2-40B4-BE49-F238E27FC236}">
                <a16:creationId xmlns="" xmlns:a16="http://schemas.microsoft.com/office/drawing/2014/main" id="{C564D23F-AA6F-46A0-8E1C-F1F6B33221FC}"/>
              </a:ext>
            </a:extLst>
          </p:cNvPr>
          <p:cNvSpPr>
            <a:spLocks noChangeArrowheads="1"/>
          </p:cNvSpPr>
          <p:nvPr/>
        </p:nvSpPr>
        <p:spPr bwMode="blackWhite">
          <a:xfrm>
            <a:off x="5663358" y="3730266"/>
            <a:ext cx="1215431" cy="255556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외부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</a:b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데이터품질감리 업체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66" name="AutoShape 116">
            <a:extLst>
              <a:ext uri="{FF2B5EF4-FFF2-40B4-BE49-F238E27FC236}">
                <a16:creationId xmlns="" xmlns:a16="http://schemas.microsoft.com/office/drawing/2014/main" id="{D2349DD5-146B-447F-AE32-AF74B95BDADE}"/>
              </a:ext>
            </a:extLst>
          </p:cNvPr>
          <p:cNvCxnSpPr>
            <a:cxnSpLocks noChangeShapeType="1"/>
            <a:stCxn id="161" idx="3"/>
            <a:endCxn id="165" idx="1"/>
          </p:cNvCxnSpPr>
          <p:nvPr/>
        </p:nvCxnSpPr>
        <p:spPr bwMode="auto">
          <a:xfrm flipV="1">
            <a:off x="5549606" y="3858044"/>
            <a:ext cx="113752" cy="1040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" lastClr="FFFFFF">
                <a:lumMod val="50000"/>
              </a:sys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167" name="직사각형 166">
            <a:extLst>
              <a:ext uri="{FF2B5EF4-FFF2-40B4-BE49-F238E27FC236}">
                <a16:creationId xmlns="" xmlns:a16="http://schemas.microsoft.com/office/drawing/2014/main" id="{794FD722-7A8A-4476-AF29-FAA1D84BA1BB}"/>
              </a:ext>
            </a:extLst>
          </p:cNvPr>
          <p:cNvSpPr/>
          <p:nvPr/>
        </p:nvSpPr>
        <p:spPr>
          <a:xfrm>
            <a:off x="2812232" y="3233296"/>
            <a:ext cx="1351975" cy="3488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5725" marR="0" lvl="0" indent="-85725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타 업무와 병행 가능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단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직무 역량 보유자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cxnSp>
        <p:nvCxnSpPr>
          <p:cNvPr id="168" name="AutoShape 117">
            <a:extLst>
              <a:ext uri="{FF2B5EF4-FFF2-40B4-BE49-F238E27FC236}">
                <a16:creationId xmlns="" xmlns:a16="http://schemas.microsoft.com/office/drawing/2014/main" id="{FB18B4E1-DB9D-429A-9D35-2B274185EBDF}"/>
              </a:ext>
            </a:extLst>
          </p:cNvPr>
          <p:cNvCxnSpPr>
            <a:cxnSpLocks noChangeShapeType="1"/>
            <a:stCxn id="161" idx="2"/>
            <a:endCxn id="178" idx="0"/>
          </p:cNvCxnSpPr>
          <p:nvPr/>
        </p:nvCxnSpPr>
        <p:spPr bwMode="auto">
          <a:xfrm rot="5400000">
            <a:off x="4155550" y="3452439"/>
            <a:ext cx="191724" cy="1324458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169" name="직사각형 168">
            <a:extLst>
              <a:ext uri="{FF2B5EF4-FFF2-40B4-BE49-F238E27FC236}">
                <a16:creationId xmlns="" xmlns:a16="http://schemas.microsoft.com/office/drawing/2014/main" id="{62E35FA8-8FE9-4BAD-97FE-05E1D8EEB9C2}"/>
              </a:ext>
            </a:extLst>
          </p:cNvPr>
          <p:cNvSpPr/>
          <p:nvPr/>
        </p:nvSpPr>
        <p:spPr>
          <a:xfrm>
            <a:off x="2465242" y="5882251"/>
            <a:ext cx="149750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5725" marR="0" lvl="0" indent="-85725" defTabSz="914400" eaLnBrk="1" fontAlgn="auto" latinLnBrk="0" hangingPunct="1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6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DBA : Database Administrator</a:t>
            </a:r>
          </a:p>
          <a:p>
            <a:pPr marL="85725" marR="0" lvl="0" indent="-85725" defTabSz="914400" eaLnBrk="1" fontAlgn="auto" latinLnBrk="0" hangingPunct="1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6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DA : Data Architect</a:t>
            </a:r>
          </a:p>
          <a:p>
            <a:pPr marL="85725" marR="0" lvl="0" indent="-85725" defTabSz="914400" eaLnBrk="1" fontAlgn="auto" latinLnBrk="0" hangingPunct="1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6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SQA : Software Quality Assurance</a:t>
            </a:r>
          </a:p>
          <a:p>
            <a:pPr marL="85725" marR="0" lvl="0" indent="-85725" defTabSz="914400" eaLnBrk="1" fontAlgn="auto" latinLnBrk="0" hangingPunct="1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ko-KR" sz="6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DQA : Data Quality Assurance</a:t>
            </a:r>
          </a:p>
        </p:txBody>
      </p:sp>
      <p:grpSp>
        <p:nvGrpSpPr>
          <p:cNvPr id="9" name="그룹 169">
            <a:extLst>
              <a:ext uri="{FF2B5EF4-FFF2-40B4-BE49-F238E27FC236}">
                <a16:creationId xmlns="" xmlns:a16="http://schemas.microsoft.com/office/drawing/2014/main" id="{D1339C65-5F0A-4F36-B550-8C66948A041D}"/>
              </a:ext>
            </a:extLst>
          </p:cNvPr>
          <p:cNvGrpSpPr/>
          <p:nvPr/>
        </p:nvGrpSpPr>
        <p:grpSpPr>
          <a:xfrm>
            <a:off x="4575745" y="5978096"/>
            <a:ext cx="2391190" cy="235886"/>
            <a:chOff x="2789017" y="6043487"/>
            <a:chExt cx="2893340" cy="265833"/>
          </a:xfrm>
        </p:grpSpPr>
        <p:sp>
          <p:nvSpPr>
            <p:cNvPr id="189" name="Rectangle 11">
              <a:extLst>
                <a:ext uri="{FF2B5EF4-FFF2-40B4-BE49-F238E27FC236}">
                  <a16:creationId xmlns="" xmlns:a16="http://schemas.microsoft.com/office/drawing/2014/main" id="{28521FCE-7120-4C83-8F38-E86245B1C5D1}"/>
                </a:ext>
              </a:extLst>
            </p:cNvPr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blackWhite">
            <a:xfrm>
              <a:off x="3911440" y="6093502"/>
              <a:ext cx="837800" cy="173395"/>
            </a:xfrm>
            <a:prstGeom prst="rect">
              <a:avLst/>
            </a:prstGeom>
            <a:solidFill>
              <a:srgbClr val="91C4FF"/>
            </a:solidFill>
            <a:ln w="3175" algn="ctr">
              <a:solidFill>
                <a:sysClr val="windowText" lastClr="000000">
                  <a:lumMod val="95000"/>
                  <a:lumOff val="5000"/>
                </a:sys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코레일테크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0" name="Rectangle 11">
              <a:extLst>
                <a:ext uri="{FF2B5EF4-FFF2-40B4-BE49-F238E27FC236}">
                  <a16:creationId xmlns="" xmlns:a16="http://schemas.microsoft.com/office/drawing/2014/main" id="{4D944272-4C27-438F-8CAD-D527E940E681}"/>
                </a:ext>
              </a:extLst>
            </p:cNvPr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blackWhite">
            <a:xfrm>
              <a:off x="4799276" y="6093502"/>
              <a:ext cx="837800" cy="173395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square" lIns="0" rIns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외부 기관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업체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1" name="직사각형 190">
              <a:extLst>
                <a:ext uri="{FF2B5EF4-FFF2-40B4-BE49-F238E27FC236}">
                  <a16:creationId xmlns="" xmlns:a16="http://schemas.microsoft.com/office/drawing/2014/main" id="{F7F6A43C-FDB6-4E56-A2AD-E28EE835E6DF}"/>
                </a:ext>
              </a:extLst>
            </p:cNvPr>
            <p:cNvSpPr/>
            <p:nvPr/>
          </p:nvSpPr>
          <p:spPr>
            <a:xfrm>
              <a:off x="2970146" y="6043487"/>
              <a:ext cx="2712211" cy="265833"/>
            </a:xfrm>
            <a:prstGeom prst="rect">
              <a:avLst/>
            </a:prstGeom>
            <a:noFill/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marR="0" lvl="0" indent="-85725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="" xmlns:a16="http://schemas.microsoft.com/office/drawing/2014/main" id="{92926391-F835-4DDB-91EE-6D54BFFF11C4}"/>
                </a:ext>
              </a:extLst>
            </p:cNvPr>
            <p:cNvSpPr/>
            <p:nvPr/>
          </p:nvSpPr>
          <p:spPr>
            <a:xfrm>
              <a:off x="2789017" y="6043487"/>
              <a:ext cx="183763" cy="265833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>
              <a:solidFill>
                <a:sysClr val="window" lastClr="FFFFFF">
                  <a:lumMod val="50000"/>
                </a:sys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범례</a:t>
              </a:r>
            </a:p>
          </p:txBody>
        </p:sp>
        <p:sp>
          <p:nvSpPr>
            <p:cNvPr id="193" name="Rectangle 11">
              <a:extLst>
                <a:ext uri="{FF2B5EF4-FFF2-40B4-BE49-F238E27FC236}">
                  <a16:creationId xmlns="" xmlns:a16="http://schemas.microsoft.com/office/drawing/2014/main" id="{9218ECF0-73BE-466B-A1B0-4C4667AE1874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blackWhite">
            <a:xfrm>
              <a:off x="3023604" y="6093502"/>
              <a:ext cx="837800" cy="173395"/>
            </a:xfrm>
            <a:prstGeom prst="rect">
              <a:avLst/>
            </a:prstGeom>
            <a:solidFill>
              <a:sysClr val="window" lastClr="FFFFFF"/>
            </a:solidFill>
            <a:ln w="19050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사업본부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0" name="그룹 170">
            <a:extLst>
              <a:ext uri="{FF2B5EF4-FFF2-40B4-BE49-F238E27FC236}">
                <a16:creationId xmlns="" xmlns:a16="http://schemas.microsoft.com/office/drawing/2014/main" id="{7712E092-4AFD-4544-B3C3-344747D15E73}"/>
              </a:ext>
            </a:extLst>
          </p:cNvPr>
          <p:cNvGrpSpPr/>
          <p:nvPr/>
        </p:nvGrpSpPr>
        <p:grpSpPr>
          <a:xfrm>
            <a:off x="4979256" y="4921378"/>
            <a:ext cx="1860026" cy="826664"/>
            <a:chOff x="794703" y="4006712"/>
            <a:chExt cx="2952000" cy="931613"/>
          </a:xfrm>
        </p:grpSpPr>
        <p:sp>
          <p:nvSpPr>
            <p:cNvPr id="184" name="Rectangle 114">
              <a:extLst>
                <a:ext uri="{FF2B5EF4-FFF2-40B4-BE49-F238E27FC236}">
                  <a16:creationId xmlns="" xmlns:a16="http://schemas.microsoft.com/office/drawing/2014/main" id="{9794872F-0EB4-43E0-8FD4-1B479D4E4D03}"/>
                </a:ext>
              </a:extLst>
            </p:cNvPr>
            <p:cNvSpPr>
              <a:spLocks noChangeArrowheads="1"/>
            </p:cNvSpPr>
            <p:nvPr/>
          </p:nvSpPr>
          <p:spPr bwMode="blackWhite">
            <a:xfrm>
              <a:off x="794703" y="4006712"/>
              <a:ext cx="2952000" cy="93161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t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운영 업체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5" name="Rectangle 11">
              <a:extLst>
                <a:ext uri="{FF2B5EF4-FFF2-40B4-BE49-F238E27FC236}">
                  <a16:creationId xmlns="" xmlns:a16="http://schemas.microsoft.com/office/drawing/2014/main" id="{11BB5B72-3882-469E-B97E-947538460581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blackWhite">
            <a:xfrm>
              <a:off x="842801" y="4247357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DBA</a:t>
              </a:r>
            </a:p>
          </p:txBody>
        </p:sp>
        <p:sp>
          <p:nvSpPr>
            <p:cNvPr id="186" name="Rectangle 11">
              <a:extLst>
                <a:ext uri="{FF2B5EF4-FFF2-40B4-BE49-F238E27FC236}">
                  <a16:creationId xmlns="" xmlns:a16="http://schemas.microsoft.com/office/drawing/2014/main" id="{441C6273-172B-445E-B237-443F2AB6C7D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blackWhite">
            <a:xfrm>
              <a:off x="842801" y="4595409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SQA</a:t>
              </a:r>
              <a:b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</a:b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DQA)</a:t>
              </a:r>
            </a:p>
          </p:txBody>
        </p:sp>
        <p:sp>
          <p:nvSpPr>
            <p:cNvPr id="187" name="Rectangle 11">
              <a:extLst>
                <a:ext uri="{FF2B5EF4-FFF2-40B4-BE49-F238E27FC236}">
                  <a16:creationId xmlns="" xmlns:a16="http://schemas.microsoft.com/office/drawing/2014/main" id="{3331FF07-74E3-4DEA-81BF-A71256CB34E3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blackWhite">
            <a:xfrm>
              <a:off x="2296382" y="4247357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데이터 모델러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8" name="Rectangle 11">
              <a:extLst>
                <a:ext uri="{FF2B5EF4-FFF2-40B4-BE49-F238E27FC236}">
                  <a16:creationId xmlns="" xmlns:a16="http://schemas.microsoft.com/office/drawing/2014/main" id="{F1D3790A-F4D9-4009-ABAF-2B9A3D80CC64}"/>
                </a:ext>
              </a:extLst>
            </p:cNvPr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blackWhite">
            <a:xfrm>
              <a:off x="2296382" y="4595409"/>
              <a:ext cx="1381218" cy="288073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응용 프로그래머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172" name="AutoShape 117">
            <a:extLst>
              <a:ext uri="{FF2B5EF4-FFF2-40B4-BE49-F238E27FC236}">
                <a16:creationId xmlns="" xmlns:a16="http://schemas.microsoft.com/office/drawing/2014/main" id="{04B1735F-B1DA-45E5-BBF2-0D1D860FA6AA}"/>
              </a:ext>
            </a:extLst>
          </p:cNvPr>
          <p:cNvCxnSpPr>
            <a:cxnSpLocks noChangeShapeType="1"/>
            <a:stCxn id="161" idx="2"/>
            <a:endCxn id="180" idx="0"/>
          </p:cNvCxnSpPr>
          <p:nvPr/>
        </p:nvCxnSpPr>
        <p:spPr bwMode="auto">
          <a:xfrm rot="16200000" flipH="1">
            <a:off x="5479665" y="3452783"/>
            <a:ext cx="191724" cy="1323770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173" name="AutoShape 116">
            <a:extLst>
              <a:ext uri="{FF2B5EF4-FFF2-40B4-BE49-F238E27FC236}">
                <a16:creationId xmlns="" xmlns:a16="http://schemas.microsoft.com/office/drawing/2014/main" id="{042FE68C-CA0B-4739-AD1C-C52814B01588}"/>
              </a:ext>
            </a:extLst>
          </p:cNvPr>
          <p:cNvCxnSpPr>
            <a:cxnSpLocks noChangeShapeType="1"/>
            <a:stCxn id="199" idx="2"/>
            <a:endCxn id="184" idx="0"/>
          </p:cNvCxnSpPr>
          <p:nvPr/>
        </p:nvCxnSpPr>
        <p:spPr bwMode="auto">
          <a:xfrm rot="16200000" flipH="1">
            <a:off x="5257315" y="4269423"/>
            <a:ext cx="317048" cy="986861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174" name="Rectangle 11">
            <a:extLst>
              <a:ext uri="{FF2B5EF4-FFF2-40B4-BE49-F238E27FC236}">
                <a16:creationId xmlns="" xmlns:a16="http://schemas.microsoft.com/office/drawing/2014/main" id="{21A9474D-E03E-4304-845A-E1617CE98023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4277676" y="2427076"/>
            <a:ext cx="1271930" cy="552736"/>
          </a:xfrm>
          <a:prstGeom prst="rect">
            <a:avLst/>
          </a:prstGeom>
          <a:solidFill>
            <a:sysClr val="window" lastClr="FFFFFF"/>
          </a:solidFill>
          <a:ln w="19050" algn="ctr">
            <a:solidFill>
              <a:srgbClr val="2377F7"/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75" name="AutoShape 117">
            <a:extLst>
              <a:ext uri="{FF2B5EF4-FFF2-40B4-BE49-F238E27FC236}">
                <a16:creationId xmlns="" xmlns:a16="http://schemas.microsoft.com/office/drawing/2014/main" id="{F1DD62AB-D6CC-4539-86A1-CE2A5829BFEE}"/>
              </a:ext>
            </a:extLst>
          </p:cNvPr>
          <p:cNvCxnSpPr>
            <a:cxnSpLocks noChangeShapeType="1"/>
            <a:stCxn id="174" idx="2"/>
            <a:endCxn id="161" idx="0"/>
          </p:cNvCxnSpPr>
          <p:nvPr/>
        </p:nvCxnSpPr>
        <p:spPr bwMode="auto">
          <a:xfrm>
            <a:off x="4913641" y="2979811"/>
            <a:ext cx="0" cy="719550"/>
          </a:xfrm>
          <a:prstGeom prst="straightConnector1">
            <a:avLst/>
          </a:prstGeom>
          <a:noFill/>
          <a:ln w="3175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176" name="직선 연결선 175">
            <a:extLst>
              <a:ext uri="{FF2B5EF4-FFF2-40B4-BE49-F238E27FC236}">
                <a16:creationId xmlns="" xmlns:a16="http://schemas.microsoft.com/office/drawing/2014/main" id="{331E4D81-B3A5-4EA2-9B46-B6C2D77EBBEE}"/>
              </a:ext>
            </a:extLst>
          </p:cNvPr>
          <p:cNvCxnSpPr/>
          <p:nvPr/>
        </p:nvCxnSpPr>
        <p:spPr bwMode="auto">
          <a:xfrm>
            <a:off x="4277676" y="2788450"/>
            <a:ext cx="1271930" cy="0"/>
          </a:xfrm>
          <a:prstGeom prst="line">
            <a:avLst/>
          </a:prstGeom>
          <a:solidFill>
            <a:srgbClr val="FBB779"/>
          </a:solidFill>
          <a:ln w="6350" cap="flat" cmpd="sng" algn="ctr">
            <a:solidFill>
              <a:srgbClr val="7DAFFA">
                <a:lumMod val="7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77" name="직사각형 176">
            <a:extLst>
              <a:ext uri="{FF2B5EF4-FFF2-40B4-BE49-F238E27FC236}">
                <a16:creationId xmlns="" xmlns:a16="http://schemas.microsoft.com/office/drawing/2014/main" id="{AEFF440C-1111-469C-93D8-83B914C1050D}"/>
              </a:ext>
            </a:extLst>
          </p:cNvPr>
          <p:cNvSpPr/>
          <p:nvPr/>
        </p:nvSpPr>
        <p:spPr>
          <a:xfrm>
            <a:off x="4698007" y="2755171"/>
            <a:ext cx="44114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본부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8" name="Rectangle 11">
            <a:extLst>
              <a:ext uri="{FF2B5EF4-FFF2-40B4-BE49-F238E27FC236}">
                <a16:creationId xmlns="" xmlns:a16="http://schemas.microsoft.com/office/drawing/2014/main" id="{6A5BC14F-1BDF-4A6F-A057-BA2E512CDB56}"/>
              </a:ext>
            </a:extLst>
          </p:cNvPr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3014983" y="4210530"/>
            <a:ext cx="1148400" cy="319445"/>
          </a:xfrm>
          <a:prstGeom prst="rect">
            <a:avLst/>
          </a:prstGeom>
          <a:solidFill>
            <a:srgbClr val="BEDCFF">
              <a:lumMod val="90000"/>
            </a:srgbClr>
          </a:solidFill>
          <a:ln w="3175" algn="ctr">
            <a:solidFill>
              <a:sysClr val="windowText" lastClr="000000">
                <a:lumMod val="95000"/>
                <a:lumOff val="5000"/>
              </a:sys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데이터표준관리자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9" name="Rectangle 11">
            <a:extLst>
              <a:ext uri="{FF2B5EF4-FFF2-40B4-BE49-F238E27FC236}">
                <a16:creationId xmlns="" xmlns:a16="http://schemas.microsoft.com/office/drawing/2014/main" id="{667E2651-25CA-4AE7-88BE-688B53A13155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4339097" y="4210530"/>
            <a:ext cx="1148400" cy="319445"/>
          </a:xfrm>
          <a:prstGeom prst="rect">
            <a:avLst/>
          </a:prstGeom>
          <a:solidFill>
            <a:srgbClr val="BEDCFF">
              <a:lumMod val="90000"/>
            </a:srgbClr>
          </a:solidFill>
          <a:ln w="3175" algn="ctr">
            <a:solidFill>
              <a:sysClr val="windowText" lastClr="000000">
                <a:lumMod val="95000"/>
                <a:lumOff val="5000"/>
              </a:sys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데이터품질관리자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" name="Rectangle 11">
            <a:extLst>
              <a:ext uri="{FF2B5EF4-FFF2-40B4-BE49-F238E27FC236}">
                <a16:creationId xmlns="" xmlns:a16="http://schemas.microsoft.com/office/drawing/2014/main" id="{E3932CD3-8CDB-4C07-BD6E-2D2739E6E4FF}"/>
              </a:ext>
            </a:extLst>
          </p:cNvPr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5663212" y="4210530"/>
            <a:ext cx="1148400" cy="319445"/>
          </a:xfrm>
          <a:prstGeom prst="rect">
            <a:avLst/>
          </a:prstGeom>
          <a:solidFill>
            <a:srgbClr val="BEDCFF">
              <a:lumMod val="90000"/>
            </a:srgbClr>
          </a:solidFill>
          <a:ln w="3175" algn="ctr">
            <a:solidFill>
              <a:sysClr val="windowText" lastClr="000000">
                <a:lumMod val="95000"/>
                <a:lumOff val="5000"/>
              </a:sys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DA</a:t>
            </a:r>
            <a:b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외주업체 채용 가능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sp>
        <p:nvSpPr>
          <p:cNvPr id="181" name="Rectangle 11">
            <a:extLst>
              <a:ext uri="{FF2B5EF4-FFF2-40B4-BE49-F238E27FC236}">
                <a16:creationId xmlns="" xmlns:a16="http://schemas.microsoft.com/office/drawing/2014/main" id="{CDF3A125-FDBF-4C3F-924F-B4CC82D7B74F}"/>
              </a:ext>
            </a:extLst>
          </p:cNvPr>
          <p:cNvSpPr>
            <a:spLocks noChangeArrowheads="1"/>
          </p:cNvSpPr>
          <p:nvPr>
            <p:custDataLst>
              <p:tags r:id="rId6"/>
            </p:custDataLst>
          </p:nvPr>
        </p:nvSpPr>
        <p:spPr bwMode="blackWhite">
          <a:xfrm>
            <a:off x="4277676" y="3284037"/>
            <a:ext cx="1271930" cy="319445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95000"/>
                <a:lumOff val="5000"/>
              </a:sys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0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4" name="AutoShape 35">
            <a:extLst>
              <a:ext uri="{FF2B5EF4-FFF2-40B4-BE49-F238E27FC236}">
                <a16:creationId xmlns="" xmlns:a16="http://schemas.microsoft.com/office/drawing/2014/main" id="{6C7C98F2-D924-45CF-832D-15F18EAC5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6736" y="2316238"/>
            <a:ext cx="264452" cy="764152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vert="eaVert"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데이터 소유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AutoShape 35">
            <a:extLst>
              <a:ext uri="{FF2B5EF4-FFF2-40B4-BE49-F238E27FC236}">
                <a16:creationId xmlns="" xmlns:a16="http://schemas.microsoft.com/office/drawing/2014/main" id="{875C1956-A366-4B69-90A3-4D001AAD0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6736" y="3493858"/>
            <a:ext cx="264452" cy="764152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vert="eaVert"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데이터 관리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7" name="AutoShape 35">
            <a:extLst>
              <a:ext uri="{FF2B5EF4-FFF2-40B4-BE49-F238E27FC236}">
                <a16:creationId xmlns="" xmlns:a16="http://schemas.microsoft.com/office/drawing/2014/main" id="{C1022721-D01A-487F-AE3C-EB39279A0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6736" y="4974083"/>
            <a:ext cx="264452" cy="764152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vert="eaVert" wrap="square" rtlCol="0" anchor="ctr">
            <a:noAutofit/>
          </a:bodyPr>
          <a:lstStyle/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base"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9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데이터 설계</a:t>
            </a:r>
            <a:endParaRPr lang="en-US" altLang="ko-KR" sz="900" b="1" kern="0" dirty="0">
              <a:ln>
                <a:solidFill>
                  <a:srgbClr val="80808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4436243" y="2482774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smtClean="0"/>
              <a:t>코레일테크</a:t>
            </a:r>
            <a:endParaRPr lang="ko-KR" altLang="en-US" sz="1200" b="1" dirty="0" err="1" smtClean="0"/>
          </a:p>
        </p:txBody>
      </p:sp>
      <p:sp>
        <p:nvSpPr>
          <p:cNvPr id="12" name="TextBox 11"/>
          <p:cNvSpPr txBox="1"/>
          <p:nvPr/>
        </p:nvSpPr>
        <p:spPr>
          <a:xfrm>
            <a:off x="4516560" y="3317363"/>
            <a:ext cx="85792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smtClean="0"/>
              <a:t>경영지원팀</a:t>
            </a:r>
            <a:endParaRPr lang="ko-KR" altLang="en-US" sz="1050" dirty="0" err="1" smtClean="0"/>
          </a:p>
        </p:txBody>
      </p:sp>
    </p:spTree>
    <p:extLst>
      <p:ext uri="{BB962C8B-B14F-4D97-AF65-F5344CB8AC3E}">
        <p14:creationId xmlns:p14="http://schemas.microsoft.com/office/powerpoint/2010/main" val="225816134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dirty="0"/>
              <a:t>데이터 품질지표 관리는 데이터 품질을 정량적으로 관리하기 위한 것으로</a:t>
            </a:r>
            <a:r>
              <a:rPr lang="en-US" altLang="ko-KR" dirty="0"/>
              <a:t>, </a:t>
            </a:r>
            <a:r>
              <a:rPr lang="ko-KR" altLang="en-US" dirty="0"/>
              <a:t>데이터 품질관리의 여타 부분이 내재화 된 후 적용하는 것이 타당함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2.10.3 </a:t>
            </a:r>
            <a:r>
              <a:rPr lang="ko-KR" altLang="en-US" sz="1800" smtClean="0"/>
              <a:t>데이터 품질지표 관리</a:t>
            </a:r>
            <a:r>
              <a:rPr lang="en-US" altLang="ko-KR" sz="1800" smtClean="0"/>
              <a:t>(</a:t>
            </a:r>
            <a:r>
              <a:rPr lang="en-US" altLang="ko-KR" sz="1800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품질지표 정의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622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973712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145378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079842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5992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C5EC57FF-E5BF-4E82-A78F-AC56931A4A13}"/>
              </a:ext>
            </a:extLst>
          </p:cNvPr>
          <p:cNvSpPr/>
          <p:nvPr/>
        </p:nvSpPr>
        <p:spPr bwMode="auto">
          <a:xfrm>
            <a:off x="2451008" y="1988840"/>
            <a:ext cx="70384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정의</a:t>
            </a:r>
            <a:r>
              <a:rPr kumimoji="1" lang="en-US" altLang="ko-KR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(1/2)</a:t>
            </a: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DC3BC59A-5EF9-4A22-B264-DD2451365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8" y="2276872"/>
            <a:ext cx="7038496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5" name="Group 350">
            <a:extLst>
              <a:ext uri="{FF2B5EF4-FFF2-40B4-BE49-F238E27FC236}">
                <a16:creationId xmlns="" xmlns:a16="http://schemas.microsoft.com/office/drawing/2014/main" id="{ACBDF2EA-7D12-4879-A718-8426B56169C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04727" y="2349310"/>
          <a:ext cx="6923697" cy="3888002"/>
        </p:xfrm>
        <a:graphic>
          <a:graphicData uri="http://schemas.openxmlformats.org/drawingml/2006/table">
            <a:tbl>
              <a:tblPr/>
              <a:tblGrid>
                <a:gridCol w="51559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31189">
                  <a:extLst>
                    <a:ext uri="{9D8B030D-6E8A-4147-A177-3AD203B41FA5}">
                      <a16:colId xmlns="" xmlns:a16="http://schemas.microsoft.com/office/drawing/2014/main" val="1641533946"/>
                    </a:ext>
                  </a:extLst>
                </a:gridCol>
                <a:gridCol w="537691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8284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8284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준비성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관리요소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품질 제고를 위해 기본적으로 관리해야 할 기본 구성 요소를 정의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59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내용 충실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정의한 구성 요소의 내용이 빠짐없이 기술되고 변경에 따른 변화관리가 정해진 기간 내에 이루어져야 함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59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완전성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논리모델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모델의 완전성은 데이터 품질관리의 가장 기본 사항이며 대상이 되는 업무를 표현하는 엔티티와 엔티티 간의 관계가 논리적으로 명확한지를 평가함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828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식별자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모든 엔티티는 레코드들을 유일하게 구분하는 식별자가 존재해야 함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5828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물리구조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논리 데이터 모델에서 정의한 데이터 규칙을 반영하여 물리구조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가 구현되어야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858016721"/>
                  </a:ext>
                </a:extLst>
              </a:tr>
              <a:tr h="25828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속성의 의미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 저장된 속성의 데이터 값은 각기 독립된 의미를 가지고 있어야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720310026"/>
                  </a:ext>
                </a:extLst>
              </a:tr>
              <a:tr h="4059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일관성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속성 무결성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(Domain Integrity)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기관 내 혹은 범정부 단위에서 같은 이름을 갖는 속성은 같은 의미로 사용되어야 하며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같은 의미의 속성은 같은 이름과 형식으로 사용해야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97198380"/>
                  </a:ext>
                </a:extLst>
              </a:tr>
              <a:tr h="4059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기관 내 표준 데이터 항목을 정의해야 하며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범정부 단위에서 준수해야 할 행정 표준 항목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용어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코드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을 식별하고 준수해야 함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80102843"/>
                  </a:ext>
                </a:extLst>
              </a:tr>
              <a:tr h="4059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중복값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중복 데이터는 하나의 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내에서 원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(Original)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값이 존재하고 이를 복사하여 사용하는 값들로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같은 시점의 중복 데이터 값은 동일한 값으로 유지되어야 한다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중복 값에는 테이블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컬럼 포함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b="0" dirty="0">
                        <a:solidFill>
                          <a:srgbClr val="000000">
                            <a:lumMod val="95000"/>
                            <a:lumOff val="5000"/>
                          </a:srgb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955229232"/>
                  </a:ext>
                </a:extLst>
              </a:tr>
              <a:tr h="56674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연계값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흐름 데이터는 기관 간 혹은 기관 내 시스템 간 연계에 의해 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DB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간 이동이 일어나는 데이터로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타 기관에 제공하는 데이터와 타 기관으로 부터 제공받은 데이터의 값은 데이터 연계 절차와 규칙이 정의되고 준수되어야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4436822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834483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vl="0" eaLnBrk="0" fontAlgn="base" latinLnBrk="0" hangingPunct="0">
              <a:spcAft>
                <a:spcPct val="0"/>
              </a:spcAft>
              <a:defRPr/>
            </a:pPr>
            <a:r>
              <a:rPr lang="ko-KR" altLang="en-US" dirty="0"/>
              <a:t>데이터 품질지표 관리는 데이터 품질을 정량적으로 관리하기 위한 것으로</a:t>
            </a:r>
            <a:r>
              <a:rPr lang="en-US" altLang="ko-KR" dirty="0"/>
              <a:t>, </a:t>
            </a:r>
            <a:r>
              <a:rPr lang="ko-KR" altLang="en-US" dirty="0"/>
              <a:t>데이터 품질관리의 여타 부분이 내재화된 후 적용하는 것이 타당함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2.10.3 </a:t>
            </a:r>
            <a:r>
              <a:rPr lang="ko-KR" altLang="en-US" sz="1800" smtClean="0"/>
              <a:t>데이터 품질지표 관리</a:t>
            </a:r>
            <a:r>
              <a:rPr lang="en-US" altLang="ko-KR" sz="1800" smtClean="0"/>
              <a:t>(2/2</a:t>
            </a:r>
            <a:r>
              <a:rPr lang="en-US" altLang="ko-KR" sz="1800"/>
              <a:t>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품질지표 정의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6986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000380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145378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106510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C5EC57FF-E5BF-4E82-A78F-AC56931A4A13}"/>
              </a:ext>
            </a:extLst>
          </p:cNvPr>
          <p:cNvSpPr/>
          <p:nvPr/>
        </p:nvSpPr>
        <p:spPr bwMode="auto">
          <a:xfrm>
            <a:off x="2451008" y="1988840"/>
            <a:ext cx="7038496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정의</a:t>
            </a:r>
            <a:r>
              <a:rPr kumimoji="1" lang="en-US" altLang="ko-KR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(2/2)</a:t>
            </a: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DC3BC59A-5EF9-4A22-B264-DD2451365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8" y="2276872"/>
            <a:ext cx="7038496" cy="403244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>
              <a:lnSpc>
                <a:spcPts val="900"/>
              </a:lnSpc>
              <a:spcBef>
                <a:spcPts val="0"/>
              </a:spcBef>
              <a:buFontTx/>
              <a:buNone/>
            </a:pPr>
            <a:endParaRPr lang="ko-KR" altLang="en-US" sz="14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5" name="Group 350">
            <a:extLst>
              <a:ext uri="{FF2B5EF4-FFF2-40B4-BE49-F238E27FC236}">
                <a16:creationId xmlns="" xmlns:a16="http://schemas.microsoft.com/office/drawing/2014/main" id="{ACBDF2EA-7D12-4879-A718-8426B56169C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04727" y="2348880"/>
          <a:ext cx="6923697" cy="3860928"/>
        </p:xfrm>
        <a:graphic>
          <a:graphicData uri="http://schemas.openxmlformats.org/drawingml/2006/table">
            <a:tbl>
              <a:tblPr/>
              <a:tblGrid>
                <a:gridCol w="51559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31189">
                  <a:extLst>
                    <a:ext uri="{9D8B030D-6E8A-4147-A177-3AD203B41FA5}">
                      <a16:colId xmlns="" xmlns:a16="http://schemas.microsoft.com/office/drawing/2014/main" val="1641533946"/>
                    </a:ext>
                  </a:extLst>
                </a:gridCol>
                <a:gridCol w="537691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0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59326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정확성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입력값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입력 시 오류를 사전 검증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(Edit)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하고 수정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(Imputation)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하는 방법과 절차를 정의하고 준수되어야 함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407674821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업무규칙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법</a:t>
                      </a:r>
                      <a:r>
                        <a:rPr lang="en-US" altLang="ko-KR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․</a:t>
                      </a: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규정에 의해 업무를 수행함에 있어 관리하는 데이터의 생성 규칙</a:t>
                      </a:r>
                      <a:r>
                        <a:rPr lang="en-US" altLang="ko-KR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산출식</a:t>
                      </a:r>
                      <a:r>
                        <a:rPr lang="en-US" altLang="ko-KR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으로 여러 테이블간의 관계에 의해 의미적인 데이터의 정확성을 진단하는 로직이 적용 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07959479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범위</a:t>
                      </a:r>
                      <a:r>
                        <a:rPr kumimoji="1" lang="en-US" altLang="ko-KR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형식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en-US" altLang="ko-KR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</a:t>
                      </a: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저장된 데이터 값은 유효한 범위와 형식을 가져야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281308192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참조관계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kern="120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참조관계 데이터 간의 값은 참조되는 값의 범위 내에 존재해야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740169028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계산식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계산 또는 집계된 값의 원값의 일부 혹은 전부는 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 이미 저장된 값이어야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113286736"/>
                  </a:ext>
                </a:extLst>
              </a:tr>
              <a:tr h="15932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보안성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오너십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데이터와 표준 데이터 품질관리를 위해 정보생명주기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생성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갱신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삭제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 따른 담당자가 배정되고 관리되어야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99080777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접근제한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중요 데이터에 대한 보기 접근 권한이 설정되어야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152160749"/>
                  </a:ext>
                </a:extLst>
              </a:tr>
              <a:tr h="15932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적시성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응답시간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정보는 사용자가 만족하는 응답 시간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성능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내에 전달되어야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964943005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제공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사용자에 의한 새로운 정보 요구가 있을 때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서비스하기 위한 시간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수집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DB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저장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가공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은 최소화 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113524381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최신값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실제 업무에서 변경된 값을 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 반영하기 위한 규칙과 절차가 정의되어 있어야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481700469"/>
                  </a:ext>
                </a:extLst>
              </a:tr>
              <a:tr h="15932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유용성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충분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사용자가 만족할 수 있는 충분한 데이터 량을 수집 및 제공해야 한다</a:t>
                      </a:r>
                      <a:r>
                        <a:rPr lang="en-US" altLang="ko-KR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또한 충분한 정보 항목도 제공 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692980954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접근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데이터는 사용자의 다양한 요구에 유연하게 대응할 수 있는 형식과 구조이어야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24053795"/>
                  </a:ext>
                </a:extLst>
              </a:tr>
              <a:tr h="1593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활용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900" b="0" dirty="0">
                          <a:solidFill>
                            <a:srgbClr val="000000">
                              <a:lumMod val="95000"/>
                              <a:lumOff val="5000"/>
                            </a:srgb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정보의 가치 측정을 위해 제공하는 정보의 사용자 만족도와 활용 현황을 측정하여야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5969883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68025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/>
            <a:r>
              <a:rPr lang="ko-KR" altLang="en-US" dirty="0"/>
              <a:t>개념 데이터 모델 등 </a:t>
            </a:r>
            <a:r>
              <a:rPr lang="en-US" altLang="ko-KR" dirty="0"/>
              <a:t>5</a:t>
            </a:r>
            <a:r>
              <a:rPr lang="ko-KR" altLang="en-US" dirty="0"/>
              <a:t>개의 요소를 대상으로 하며</a:t>
            </a:r>
            <a:r>
              <a:rPr lang="en-US" altLang="ko-KR" dirty="0"/>
              <a:t>, </a:t>
            </a:r>
            <a:r>
              <a:rPr lang="ko-KR" altLang="en-US" dirty="0"/>
              <a:t>데이터 구조와 관련된 표준 산출물은 엔티티 정의서 등 </a:t>
            </a:r>
            <a:r>
              <a:rPr lang="en-US" altLang="ko-KR" dirty="0"/>
              <a:t>8</a:t>
            </a:r>
            <a:r>
              <a:rPr lang="ko-KR" altLang="en-US" dirty="0"/>
              <a:t>개를 대상으로 데이터 구조관리 방안의</a:t>
            </a:r>
            <a:r>
              <a:rPr lang="en-US" altLang="ko-KR" dirty="0"/>
              <a:t> </a:t>
            </a:r>
            <a:r>
              <a:rPr lang="ko-KR" altLang="en-US" dirty="0"/>
              <a:t>원칙을 수립하여 적용함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2.9.4 </a:t>
            </a:r>
            <a:r>
              <a:rPr lang="ko-KR" altLang="en-US" sz="1800" smtClean="0"/>
              <a:t>데이터 구조관리</a:t>
            </a:r>
            <a:r>
              <a:rPr lang="en-US" altLang="ko-KR" sz="1800" smtClean="0"/>
              <a:t>(1/2)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구조관리 방안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6986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00038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444660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Rectangle 62">
            <a:extLst>
              <a:ext uri="{FF2B5EF4-FFF2-40B4-BE49-F238E27FC236}">
                <a16:creationId xmlns="" xmlns:a16="http://schemas.microsoft.com/office/drawing/2014/main" id="{5004E9DB-6F92-49EB-81C3-E709A95BB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3861100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개념 데이터 모델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Rectangle 62">
            <a:extLst>
              <a:ext uri="{FF2B5EF4-FFF2-40B4-BE49-F238E27FC236}">
                <a16:creationId xmlns="" xmlns:a16="http://schemas.microsoft.com/office/drawing/2014/main" id="{F13EF51C-8D4B-4324-A941-A2FD59F50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084744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참조 모델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="" xmlns:a16="http://schemas.microsoft.com/office/drawing/2014/main" id="{C17BA43B-E138-43D5-91DC-ABF872EF4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308388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논리 데이터 모델</a:t>
            </a:r>
          </a:p>
        </p:txBody>
      </p:sp>
      <p:sp>
        <p:nvSpPr>
          <p:cNvPr id="38" name="Rectangle 62">
            <a:extLst>
              <a:ext uri="{FF2B5EF4-FFF2-40B4-BE49-F238E27FC236}">
                <a16:creationId xmlns="" xmlns:a16="http://schemas.microsoft.com/office/drawing/2014/main" id="{EB123A55-236D-483A-ABF5-726D5A4E9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532032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물리 데이터 모델</a:t>
            </a:r>
          </a:p>
        </p:txBody>
      </p:sp>
      <p:sp>
        <p:nvSpPr>
          <p:cNvPr id="39" name="Rectangle 62">
            <a:extLst>
              <a:ext uri="{FF2B5EF4-FFF2-40B4-BE49-F238E27FC236}">
                <a16:creationId xmlns="" xmlns:a16="http://schemas.microsoft.com/office/drawing/2014/main" id="{67559D25-A08B-4003-A8E7-C065C274F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755676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DB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0" name="연결선: 꺾임 39">
            <a:extLst>
              <a:ext uri="{FF2B5EF4-FFF2-40B4-BE49-F238E27FC236}">
                <a16:creationId xmlns="" xmlns:a16="http://schemas.microsoft.com/office/drawing/2014/main" id="{9FA8876B-5890-4645-8D0C-3709D955EB07}"/>
              </a:ext>
            </a:extLst>
          </p:cNvPr>
          <p:cNvCxnSpPr>
            <a:cxnSpLocks/>
            <a:stCxn id="39" idx="1"/>
          </p:cNvCxnSpPr>
          <p:nvPr/>
        </p:nvCxnSpPr>
        <p:spPr>
          <a:xfrm rot="10800000">
            <a:off x="632667" y="3499715"/>
            <a:ext cx="71919" cy="1352205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="" xmlns:a16="http://schemas.microsoft.com/office/drawing/2014/main" id="{9FD08A4E-9BF0-4489-836C-2F7CB596EEAF}"/>
              </a:ext>
            </a:extLst>
          </p:cNvPr>
          <p:cNvSpPr/>
          <p:nvPr/>
        </p:nvSpPr>
        <p:spPr>
          <a:xfrm>
            <a:off x="560569" y="3444013"/>
            <a:ext cx="144016" cy="29072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4" name="연결선: 꺾임 43">
            <a:extLst>
              <a:ext uri="{FF2B5EF4-FFF2-40B4-BE49-F238E27FC236}">
                <a16:creationId xmlns="" xmlns:a16="http://schemas.microsoft.com/office/drawing/2014/main" id="{77BC85FC-92EB-4C21-AC83-322A2B17DBA7}"/>
              </a:ext>
            </a:extLst>
          </p:cNvPr>
          <p:cNvCxnSpPr>
            <a:cxnSpLocks/>
            <a:stCxn id="38" idx="1"/>
          </p:cNvCxnSpPr>
          <p:nvPr/>
        </p:nvCxnSpPr>
        <p:spPr>
          <a:xfrm rot="10800000">
            <a:off x="632667" y="3554959"/>
            <a:ext cx="71919" cy="1073317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연결선: 꺾임 49">
            <a:extLst>
              <a:ext uri="{FF2B5EF4-FFF2-40B4-BE49-F238E27FC236}">
                <a16:creationId xmlns="" xmlns:a16="http://schemas.microsoft.com/office/drawing/2014/main" id="{180B909D-9C9B-490A-A2B7-5E2CEAB1BBEC}"/>
              </a:ext>
            </a:extLst>
          </p:cNvPr>
          <p:cNvCxnSpPr>
            <a:cxnSpLocks/>
            <a:stCxn id="36" idx="1"/>
          </p:cNvCxnSpPr>
          <p:nvPr/>
        </p:nvCxnSpPr>
        <p:spPr>
          <a:xfrm rot="10800000">
            <a:off x="632667" y="3595599"/>
            <a:ext cx="71919" cy="80903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연결선: 꺾임 50">
            <a:extLst>
              <a:ext uri="{FF2B5EF4-FFF2-40B4-BE49-F238E27FC236}">
                <a16:creationId xmlns="" xmlns:a16="http://schemas.microsoft.com/office/drawing/2014/main" id="{884AF61B-1415-49EA-B196-B97DF55A209D}"/>
              </a:ext>
            </a:extLst>
          </p:cNvPr>
          <p:cNvCxnSpPr>
            <a:cxnSpLocks/>
            <a:stCxn id="34" idx="1"/>
          </p:cNvCxnSpPr>
          <p:nvPr/>
        </p:nvCxnSpPr>
        <p:spPr>
          <a:xfrm rot="10800000">
            <a:off x="632667" y="3675777"/>
            <a:ext cx="71919" cy="505211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51">
            <a:extLst>
              <a:ext uri="{FF2B5EF4-FFF2-40B4-BE49-F238E27FC236}">
                <a16:creationId xmlns="" xmlns:a16="http://schemas.microsoft.com/office/drawing/2014/main" id="{F7ACD162-4EC8-456A-AECC-E1311936EB55}"/>
              </a:ext>
            </a:extLst>
          </p:cNvPr>
          <p:cNvCxnSpPr>
            <a:cxnSpLocks/>
            <a:stCxn id="33" idx="1"/>
          </p:cNvCxnSpPr>
          <p:nvPr/>
        </p:nvCxnSpPr>
        <p:spPr>
          <a:xfrm rot="10800000">
            <a:off x="632665" y="3719421"/>
            <a:ext cx="71921" cy="23792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le 62">
            <a:extLst>
              <a:ext uri="{FF2B5EF4-FFF2-40B4-BE49-F238E27FC236}">
                <a16:creationId xmlns="" xmlns:a16="http://schemas.microsoft.com/office/drawing/2014/main" id="{FDE91289-3286-49D5-AE4B-324C252AF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979320"/>
            <a:ext cx="1440109" cy="230243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 dirty="0">
                <a:latin typeface="맑은 고딕" pitchFamily="50" charset="-127"/>
                <a:ea typeface="맑은 고딕" pitchFamily="50" charset="-127"/>
              </a:rPr>
              <a:t>데이터 구조 관련 </a:t>
            </a:r>
            <a:endParaRPr kumimoji="1" lang="en-US" altLang="ko-KR" sz="800" b="1" kern="0" dirty="0">
              <a:latin typeface="맑은 고딕" pitchFamily="50" charset="-127"/>
              <a:ea typeface="맑은 고딕" pitchFamily="50" charset="-127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표준 산출물</a:t>
            </a:r>
          </a:p>
        </p:txBody>
      </p:sp>
      <p:cxnSp>
        <p:nvCxnSpPr>
          <p:cNvPr id="54" name="연결선: 꺾임 53">
            <a:extLst>
              <a:ext uri="{FF2B5EF4-FFF2-40B4-BE49-F238E27FC236}">
                <a16:creationId xmlns="" xmlns:a16="http://schemas.microsoft.com/office/drawing/2014/main" id="{89F8B68A-222F-40D0-892D-10F7E9981FD1}"/>
              </a:ext>
            </a:extLst>
          </p:cNvPr>
          <p:cNvCxnSpPr>
            <a:cxnSpLocks/>
            <a:stCxn id="53" idx="1"/>
            <a:endCxn id="43" idx="2"/>
          </p:cNvCxnSpPr>
          <p:nvPr/>
        </p:nvCxnSpPr>
        <p:spPr>
          <a:xfrm rot="10800000">
            <a:off x="632577" y="3734742"/>
            <a:ext cx="72008" cy="1359700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329940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E3A77B2C-42FA-4416-A45B-A5B31E65254A}"/>
              </a:ext>
            </a:extLst>
          </p:cNvPr>
          <p:cNvSpPr/>
          <p:nvPr/>
        </p:nvSpPr>
        <p:spPr bwMode="auto">
          <a:xfrm>
            <a:off x="2451009" y="1998112"/>
            <a:ext cx="3438096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개념 데이터 모델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="" xmlns:a16="http://schemas.microsoft.com/office/drawing/2014/main" id="{3638363D-0701-4436-AAFA-F4BE59E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9" y="2235216"/>
            <a:ext cx="3438096" cy="1512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8" name="Group 350">
            <a:extLst>
              <a:ext uri="{FF2B5EF4-FFF2-40B4-BE49-F238E27FC236}">
                <a16:creationId xmlns="" xmlns:a16="http://schemas.microsoft.com/office/drawing/2014/main" id="{B9C649EA-7476-47F5-A39F-D3A741543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7800068"/>
              </p:ext>
            </p:extLst>
          </p:nvPr>
        </p:nvGraphicFramePr>
        <p:xfrm>
          <a:off x="2504728" y="2256552"/>
          <a:ext cx="3348000" cy="14812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관리방안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업무 요건을 충족하는 데이터의 주제영역과 핵심 데이터 집합을 정의하고 상호 간의 관계를 정의한 모델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smtClean="0">
                          <a:latin typeface="맑은 고딕" pitchFamily="50" charset="-127"/>
                          <a:ea typeface="맑은 고딕" pitchFamily="50" charset="-127"/>
                        </a:rPr>
                        <a:t>업무 </a:t>
                      </a: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특성에 적합한 주제영역과 핵심 데이터 집합과의 관계를 정의하여 향후에 정의하게 될 상세 논리 데이터 모델과 물리 데이터 모델과의 데이터 구조적 연결</a:t>
                      </a:r>
                      <a:r>
                        <a:rPr lang="en-US" altLang="ko-KR" sz="750" b="0" dirty="0">
                          <a:latin typeface="맑은 고딕" pitchFamily="50" charset="-127"/>
                          <a:ea typeface="맑은 고딕" pitchFamily="50" charset="-127"/>
                        </a:rPr>
                        <a:t>(alignment)</a:t>
                      </a: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을 지원하도록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주제영역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핵심엔티티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핵심관계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0" name="직사각형 59">
            <a:extLst>
              <a:ext uri="{FF2B5EF4-FFF2-40B4-BE49-F238E27FC236}">
                <a16:creationId xmlns="" xmlns:a16="http://schemas.microsoft.com/office/drawing/2014/main" id="{47C81C4C-0C74-4605-B17E-B95F332DAE12}"/>
              </a:ext>
            </a:extLst>
          </p:cNvPr>
          <p:cNvSpPr/>
          <p:nvPr/>
        </p:nvSpPr>
        <p:spPr bwMode="auto">
          <a:xfrm>
            <a:off x="2456088" y="3801740"/>
            <a:ext cx="3438096" cy="23760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참조 모델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Rectangle 4">
            <a:extLst>
              <a:ext uri="{FF2B5EF4-FFF2-40B4-BE49-F238E27FC236}">
                <a16:creationId xmlns="" xmlns:a16="http://schemas.microsoft.com/office/drawing/2014/main" id="{29330EC8-44E7-42F0-BAA9-9A9329F1D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088" y="4016095"/>
            <a:ext cx="3438096" cy="2304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3" name="Group 350">
            <a:extLst>
              <a:ext uri="{FF2B5EF4-FFF2-40B4-BE49-F238E27FC236}">
                <a16:creationId xmlns="" xmlns:a16="http://schemas.microsoft.com/office/drawing/2014/main" id="{FD47E7D0-F747-4B32-90E5-9156D7146B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48062"/>
              </p:ext>
            </p:extLst>
          </p:nvPr>
        </p:nvGraphicFramePr>
        <p:xfrm>
          <a:off x="2509807" y="4056277"/>
          <a:ext cx="3348000" cy="20527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관리방안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아키텍처의 구축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유지관리 </a:t>
                      </a:r>
                      <a:r>
                        <a:rPr lang="ko-KR" altLang="en-US" sz="750" b="0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및 </a:t>
                      </a:r>
                      <a:r>
                        <a:rPr lang="ko-KR" altLang="en-US" sz="750" b="0" kern="12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사용하고 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있는 데이터 모델의 상호운영과 타 조직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소속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산하기관 등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데이터 모델의 참조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재사용을 목적으로 업무영역별</a:t>
                      </a:r>
                      <a:r>
                        <a:rPr lang="en-US" altLang="ko-KR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주제영역별로 표준 데이터 집합과 관리 항목들을 정의한 데이터 모델을 의미함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 데이터 모델링 시 사전에 기본 정보를 확보함으로써 전체 모델링에 소요되는 시간을 절약할 수 있음</a:t>
                      </a:r>
                      <a:endParaRPr lang="en-US" altLang="ko-KR" sz="75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새로운 데이터 모델링 시 데이터 참조 모델을 활용함으로써 정보의 누락을 예방할 수 있음</a:t>
                      </a:r>
                      <a:endParaRPr lang="en-US" altLang="ko-KR" sz="75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기존에 검증된 데이터 참조 모델을 이용하여 자사 데이터 모델의 오류를 확인하거나 보완할 수 있음</a:t>
                      </a:r>
                      <a:endParaRPr lang="en-US" altLang="ko-KR" sz="750" b="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재사용이 가능한 형태의 데이터 모델로</a:t>
                      </a:r>
                      <a:r>
                        <a:rPr lang="en-US" altLang="ko-KR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속성단위</a:t>
                      </a:r>
                      <a:r>
                        <a:rPr lang="en-US" altLang="ko-KR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엔티티</a:t>
                      </a:r>
                      <a:r>
                        <a:rPr lang="en-US" altLang="ko-KR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ERD </a:t>
                      </a: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전체 업무 영역 단위 등이 데이터 참조모델이 됨</a:t>
                      </a:r>
                      <a:endParaRPr lang="en-US" altLang="ko-KR" sz="750" b="0" kern="1200" noProof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개념 데이터 모델</a:t>
                      </a:r>
                      <a:r>
                        <a:rPr lang="en-US" altLang="ko-KR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 데이터 모델</a:t>
                      </a:r>
                      <a:r>
                        <a:rPr lang="en-US" altLang="ko-KR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750" b="0" kern="1200" noProof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 데이터 모델도 데이터 참조 모델의 범위가 될 수 있음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4" name="직사각형 63">
            <a:extLst>
              <a:ext uri="{FF2B5EF4-FFF2-40B4-BE49-F238E27FC236}">
                <a16:creationId xmlns="" xmlns:a16="http://schemas.microsoft.com/office/drawing/2014/main" id="{5462037B-CDEE-4F81-9746-70224A0F2135}"/>
              </a:ext>
            </a:extLst>
          </p:cNvPr>
          <p:cNvSpPr/>
          <p:nvPr/>
        </p:nvSpPr>
        <p:spPr bwMode="auto">
          <a:xfrm>
            <a:off x="6006070" y="1998112"/>
            <a:ext cx="3438096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논리 데이터 모델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Rectangle 4">
            <a:extLst>
              <a:ext uri="{FF2B5EF4-FFF2-40B4-BE49-F238E27FC236}">
                <a16:creationId xmlns="" xmlns:a16="http://schemas.microsoft.com/office/drawing/2014/main" id="{8C012311-4839-492B-B18D-35724E871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6070" y="2235216"/>
            <a:ext cx="3438096" cy="1764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1" name="Group 350">
            <a:extLst>
              <a:ext uri="{FF2B5EF4-FFF2-40B4-BE49-F238E27FC236}">
                <a16:creationId xmlns="" xmlns:a16="http://schemas.microsoft.com/office/drawing/2014/main" id="{E1C9AD4B-6DFF-4344-B205-DAEE96E08C4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59789" y="2256552"/>
          <a:ext cx="3348000" cy="15955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관리방안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논리 데이터 모델은 개념 데이터 모델을 상세화 하여 논리적인 데이터 집합</a:t>
                      </a:r>
                      <a:r>
                        <a:rPr lang="en-US" altLang="ko-KR" sz="75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관리 항목</a:t>
                      </a:r>
                      <a:r>
                        <a:rPr lang="en-US" altLang="ko-KR" sz="75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관계를 정의한 모델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전체 데이터 구조에서 가장 핵심을 이루는 모델로서 전체 업무 범위와 업무 구성 요소를 확인할 수 있어야 함</a:t>
                      </a:r>
                      <a:endParaRPr lang="en-US" altLang="ko-KR" sz="75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ko-KR" altLang="en-US" sz="750" b="0" dirty="0">
                          <a:latin typeface="맑은 고딕" pitchFamily="50" charset="-127"/>
                          <a:ea typeface="맑은 고딕" pitchFamily="50" charset="-127"/>
                        </a:rPr>
                        <a:t>데이터를 상세하게 정의 관리함으로써 불필요한 데이터 중복과 데이터의 불일치를 방지함</a:t>
                      </a:r>
                      <a:endParaRPr lang="en-US" altLang="ko-KR" sz="750" b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주제영역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엔티티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관계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속성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2" name="직사각형 71">
            <a:extLst>
              <a:ext uri="{FF2B5EF4-FFF2-40B4-BE49-F238E27FC236}">
                <a16:creationId xmlns="" xmlns:a16="http://schemas.microsoft.com/office/drawing/2014/main" id="{CB8C3EB8-4200-4B4F-B2C4-339996F808C0}"/>
              </a:ext>
            </a:extLst>
          </p:cNvPr>
          <p:cNvSpPr/>
          <p:nvPr/>
        </p:nvSpPr>
        <p:spPr bwMode="auto">
          <a:xfrm>
            <a:off x="6006070" y="4044756"/>
            <a:ext cx="3438096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물리 데이터 모델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Rectangle 4">
            <a:extLst>
              <a:ext uri="{FF2B5EF4-FFF2-40B4-BE49-F238E27FC236}">
                <a16:creationId xmlns="" xmlns:a16="http://schemas.microsoft.com/office/drawing/2014/main" id="{01A99AA3-1034-4332-8E80-EF2BB94DA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6070" y="4281860"/>
            <a:ext cx="3438096" cy="2016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4" name="Group 350">
            <a:extLst>
              <a:ext uri="{FF2B5EF4-FFF2-40B4-BE49-F238E27FC236}">
                <a16:creationId xmlns="" xmlns:a16="http://schemas.microsoft.com/office/drawing/2014/main" id="{1671F0CD-13D7-4D31-8434-A04A4B1ECF9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59789" y="4303196"/>
          <a:ext cx="3348000" cy="19384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관리방안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 데이터 모델이란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특성과 성능을 고려하여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/>
                      </a:r>
                      <a:b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</a:b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 데이터 모델을 구체화시킨 모델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해당 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최상의 성능을 보장하고 논리 데이터 모델에서 저장하는 데이터의 물리적 특성을 최대한 반영하여 설계</a:t>
                      </a: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·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관리함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샘플 데이터를 이용하여 논리 데이터 모델의 정합성 재 검증이 필요함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업무 요건과 필요에 따라 사용자 화면이 완성되어야 하므로 사용자 애플리케이션과 상호 검증 하에 설계되어야 함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주제영역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관계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컬럼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2033583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/>
            <a:r>
              <a:rPr lang="ko-KR" altLang="en-US" dirty="0"/>
              <a:t>개념 데이터 모델 등 </a:t>
            </a:r>
            <a:r>
              <a:rPr lang="en-US" altLang="ko-KR" dirty="0"/>
              <a:t>5</a:t>
            </a:r>
            <a:r>
              <a:rPr lang="ko-KR" altLang="en-US" dirty="0"/>
              <a:t>개의 요소를 대상으로 하며</a:t>
            </a:r>
            <a:r>
              <a:rPr lang="en-US" altLang="ko-KR" dirty="0"/>
              <a:t>, </a:t>
            </a:r>
            <a:r>
              <a:rPr lang="ko-KR" altLang="en-US" dirty="0"/>
              <a:t>데이터 구조와 관련된 표준 산출물은 엔티티 정의서 등 </a:t>
            </a:r>
            <a:r>
              <a:rPr lang="en-US" altLang="ko-KR" dirty="0"/>
              <a:t>8</a:t>
            </a:r>
            <a:r>
              <a:rPr lang="ko-KR" altLang="en-US" dirty="0"/>
              <a:t>개를 대상으로 데이터 구조관리 방안의</a:t>
            </a:r>
            <a:r>
              <a:rPr lang="en-US" altLang="ko-KR" dirty="0"/>
              <a:t> </a:t>
            </a:r>
            <a:r>
              <a:rPr lang="ko-KR" altLang="en-US" dirty="0"/>
              <a:t>원칙을 수립하여 적용함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2.9.4 </a:t>
            </a:r>
            <a:r>
              <a:rPr lang="ko-KR" altLang="en-US" sz="1800"/>
              <a:t>데이터 구조관리</a:t>
            </a:r>
            <a:r>
              <a:rPr lang="en-US" altLang="ko-KR" sz="1800" smtClean="0"/>
              <a:t>(2/2</a:t>
            </a:r>
            <a:r>
              <a:rPr lang="en-US" altLang="ko-KR" sz="1800"/>
              <a:t>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구조관리 방안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(2/2)</a:t>
              </a: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5158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93942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358176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429979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Rectangle 62">
            <a:extLst>
              <a:ext uri="{FF2B5EF4-FFF2-40B4-BE49-F238E27FC236}">
                <a16:creationId xmlns="" xmlns:a16="http://schemas.microsoft.com/office/drawing/2014/main" id="{5004E9DB-6F92-49EB-81C3-E709A95BB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3774616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개념 데이터 모델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Rectangle 62">
            <a:extLst>
              <a:ext uri="{FF2B5EF4-FFF2-40B4-BE49-F238E27FC236}">
                <a16:creationId xmlns="" xmlns:a16="http://schemas.microsoft.com/office/drawing/2014/main" id="{F13EF51C-8D4B-4324-A941-A2FD59F50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3998260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참조 모델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="" xmlns:a16="http://schemas.microsoft.com/office/drawing/2014/main" id="{C17BA43B-E138-43D5-91DC-ABF872EF4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221904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논리 데이터 모델</a:t>
            </a:r>
          </a:p>
        </p:txBody>
      </p:sp>
      <p:sp>
        <p:nvSpPr>
          <p:cNvPr id="38" name="Rectangle 62">
            <a:extLst>
              <a:ext uri="{FF2B5EF4-FFF2-40B4-BE49-F238E27FC236}">
                <a16:creationId xmlns="" xmlns:a16="http://schemas.microsoft.com/office/drawing/2014/main" id="{EB123A55-236D-483A-ABF5-726D5A4E9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445548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물리 데이터 모델</a:t>
            </a:r>
          </a:p>
        </p:txBody>
      </p:sp>
      <p:sp>
        <p:nvSpPr>
          <p:cNvPr id="39" name="Rectangle 62">
            <a:extLst>
              <a:ext uri="{FF2B5EF4-FFF2-40B4-BE49-F238E27FC236}">
                <a16:creationId xmlns="" xmlns:a16="http://schemas.microsoft.com/office/drawing/2014/main" id="{67559D25-A08B-4003-A8E7-C065C274F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669192"/>
            <a:ext cx="1440109" cy="192486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DB</a:t>
            </a:r>
            <a:endParaRPr kumimoji="1" lang="ko-KR" altLang="en-US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0" name="연결선: 꺾임 39">
            <a:extLst>
              <a:ext uri="{FF2B5EF4-FFF2-40B4-BE49-F238E27FC236}">
                <a16:creationId xmlns="" xmlns:a16="http://schemas.microsoft.com/office/drawing/2014/main" id="{9FA8876B-5890-4645-8D0C-3709D955EB07}"/>
              </a:ext>
            </a:extLst>
          </p:cNvPr>
          <p:cNvCxnSpPr>
            <a:cxnSpLocks/>
            <a:stCxn id="39" idx="1"/>
          </p:cNvCxnSpPr>
          <p:nvPr/>
        </p:nvCxnSpPr>
        <p:spPr>
          <a:xfrm rot="10800000">
            <a:off x="632667" y="3413231"/>
            <a:ext cx="71919" cy="1352205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="" xmlns:a16="http://schemas.microsoft.com/office/drawing/2014/main" id="{9FD08A4E-9BF0-4489-836C-2F7CB596EEAF}"/>
              </a:ext>
            </a:extLst>
          </p:cNvPr>
          <p:cNvSpPr/>
          <p:nvPr/>
        </p:nvSpPr>
        <p:spPr>
          <a:xfrm>
            <a:off x="560569" y="3357529"/>
            <a:ext cx="144016" cy="290729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44" name="연결선: 꺾임 43">
            <a:extLst>
              <a:ext uri="{FF2B5EF4-FFF2-40B4-BE49-F238E27FC236}">
                <a16:creationId xmlns="" xmlns:a16="http://schemas.microsoft.com/office/drawing/2014/main" id="{77BC85FC-92EB-4C21-AC83-322A2B17DBA7}"/>
              </a:ext>
            </a:extLst>
          </p:cNvPr>
          <p:cNvCxnSpPr>
            <a:cxnSpLocks/>
            <a:stCxn id="38" idx="1"/>
          </p:cNvCxnSpPr>
          <p:nvPr/>
        </p:nvCxnSpPr>
        <p:spPr>
          <a:xfrm rot="10800000">
            <a:off x="632667" y="3468475"/>
            <a:ext cx="71919" cy="1073317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연결선: 꺾임 49">
            <a:extLst>
              <a:ext uri="{FF2B5EF4-FFF2-40B4-BE49-F238E27FC236}">
                <a16:creationId xmlns="" xmlns:a16="http://schemas.microsoft.com/office/drawing/2014/main" id="{180B909D-9C9B-490A-A2B7-5E2CEAB1BBEC}"/>
              </a:ext>
            </a:extLst>
          </p:cNvPr>
          <p:cNvCxnSpPr>
            <a:cxnSpLocks/>
            <a:stCxn id="36" idx="1"/>
          </p:cNvCxnSpPr>
          <p:nvPr/>
        </p:nvCxnSpPr>
        <p:spPr>
          <a:xfrm rot="10800000">
            <a:off x="632667" y="3509115"/>
            <a:ext cx="71919" cy="80903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연결선: 꺾임 50">
            <a:extLst>
              <a:ext uri="{FF2B5EF4-FFF2-40B4-BE49-F238E27FC236}">
                <a16:creationId xmlns="" xmlns:a16="http://schemas.microsoft.com/office/drawing/2014/main" id="{884AF61B-1415-49EA-B196-B97DF55A209D}"/>
              </a:ext>
            </a:extLst>
          </p:cNvPr>
          <p:cNvCxnSpPr>
            <a:cxnSpLocks/>
            <a:stCxn id="34" idx="1"/>
          </p:cNvCxnSpPr>
          <p:nvPr/>
        </p:nvCxnSpPr>
        <p:spPr>
          <a:xfrm rot="10800000">
            <a:off x="632667" y="3589293"/>
            <a:ext cx="71919" cy="505211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51">
            <a:extLst>
              <a:ext uri="{FF2B5EF4-FFF2-40B4-BE49-F238E27FC236}">
                <a16:creationId xmlns="" xmlns:a16="http://schemas.microsoft.com/office/drawing/2014/main" id="{F7ACD162-4EC8-456A-AECC-E1311936EB55}"/>
              </a:ext>
            </a:extLst>
          </p:cNvPr>
          <p:cNvCxnSpPr>
            <a:cxnSpLocks/>
            <a:stCxn id="33" idx="1"/>
          </p:cNvCxnSpPr>
          <p:nvPr/>
        </p:nvCxnSpPr>
        <p:spPr>
          <a:xfrm rot="10800000">
            <a:off x="632665" y="3632937"/>
            <a:ext cx="71921" cy="237923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le 62">
            <a:extLst>
              <a:ext uri="{FF2B5EF4-FFF2-40B4-BE49-F238E27FC236}">
                <a16:creationId xmlns="" xmlns:a16="http://schemas.microsoft.com/office/drawing/2014/main" id="{FDE91289-3286-49D5-AE4B-324C252AF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85" y="4892836"/>
            <a:ext cx="1440109" cy="230243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 dirty="0">
                <a:latin typeface="맑은 고딕" pitchFamily="50" charset="-127"/>
                <a:ea typeface="맑은 고딕" pitchFamily="50" charset="-127"/>
              </a:rPr>
              <a:t>데이터 구조 관련 </a:t>
            </a:r>
            <a:endParaRPr kumimoji="1" lang="en-US" altLang="ko-KR" sz="800" b="1" kern="0" dirty="0">
              <a:latin typeface="맑은 고딕" pitchFamily="50" charset="-127"/>
              <a:ea typeface="맑은 고딕" pitchFamily="50" charset="-127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표준 산출물</a:t>
            </a:r>
          </a:p>
        </p:txBody>
      </p:sp>
      <p:cxnSp>
        <p:nvCxnSpPr>
          <p:cNvPr id="54" name="연결선: 꺾임 53">
            <a:extLst>
              <a:ext uri="{FF2B5EF4-FFF2-40B4-BE49-F238E27FC236}">
                <a16:creationId xmlns="" xmlns:a16="http://schemas.microsoft.com/office/drawing/2014/main" id="{89F8B68A-222F-40D0-892D-10F7E9981FD1}"/>
              </a:ext>
            </a:extLst>
          </p:cNvPr>
          <p:cNvCxnSpPr>
            <a:cxnSpLocks/>
            <a:stCxn id="53" idx="1"/>
            <a:endCxn id="43" idx="2"/>
          </p:cNvCxnSpPr>
          <p:nvPr/>
        </p:nvCxnSpPr>
        <p:spPr>
          <a:xfrm rot="10800000">
            <a:off x="632577" y="3648258"/>
            <a:ext cx="72008" cy="1359700"/>
          </a:xfrm>
          <a:prstGeom prst="bentConnector2">
            <a:avLst/>
          </a:prstGeom>
          <a:ln w="9525">
            <a:solidFill>
              <a:schemeClr val="bg1">
                <a:lumMod val="65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243456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E3A77B2C-42FA-4416-A45B-A5B31E65254A}"/>
              </a:ext>
            </a:extLst>
          </p:cNvPr>
          <p:cNvSpPr/>
          <p:nvPr/>
        </p:nvSpPr>
        <p:spPr bwMode="auto">
          <a:xfrm>
            <a:off x="2451009" y="1998112"/>
            <a:ext cx="3438096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en-US" altLang="ko-KR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DB</a:t>
            </a:r>
          </a:p>
        </p:txBody>
      </p:sp>
      <p:sp>
        <p:nvSpPr>
          <p:cNvPr id="56" name="Rectangle 4">
            <a:extLst>
              <a:ext uri="{FF2B5EF4-FFF2-40B4-BE49-F238E27FC236}">
                <a16:creationId xmlns="" xmlns:a16="http://schemas.microsoft.com/office/drawing/2014/main" id="{3638363D-0701-4436-AAFA-F4BE59E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009" y="2235216"/>
            <a:ext cx="3438096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8" name="Group 350">
            <a:extLst>
              <a:ext uri="{FF2B5EF4-FFF2-40B4-BE49-F238E27FC236}">
                <a16:creationId xmlns="" xmlns:a16="http://schemas.microsoft.com/office/drawing/2014/main" id="{B9C649EA-7476-47F5-A39F-D3A7415438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04728" y="2256552"/>
          <a:ext cx="3348000" cy="2090892"/>
        </p:xfrm>
        <a:graphic>
          <a:graphicData uri="http://schemas.openxmlformats.org/drawingml/2006/table">
            <a:tbl>
              <a:tblPr/>
              <a:tblGrid>
                <a:gridCol w="54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59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관리방안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en-US" altLang="ko-KR" sz="800" b="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800" b="0" dirty="0">
                          <a:latin typeface="맑은 고딕" pitchFamily="50" charset="-127"/>
                          <a:ea typeface="맑은 고딕" pitchFamily="50" charset="-127"/>
                        </a:rPr>
                        <a:t>는 물리 모델을 구현한 결과물이며 구축된 실제 데이터가 저장되는 데이터 저장소를 의미함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  <a:defRPr/>
                      </a:pPr>
                      <a:r>
                        <a:rPr lang="en-US" altLang="ko-KR" sz="800" b="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800" b="0" dirty="0">
                          <a:latin typeface="맑은 고딕" pitchFamily="50" charset="-127"/>
                          <a:ea typeface="맑은 고딕" pitchFamily="50" charset="-127"/>
                        </a:rPr>
                        <a:t>를 효과적으로 운영하기 위한 </a:t>
                      </a:r>
                      <a:r>
                        <a:rPr lang="en-US" altLang="ko-KR" sz="800" b="0" dirty="0">
                          <a:latin typeface="맑은 고딕" pitchFamily="50" charset="-127"/>
                          <a:ea typeface="맑은 고딕" pitchFamily="50" charset="-127"/>
                        </a:rPr>
                        <a:t>DB </a:t>
                      </a:r>
                      <a:r>
                        <a:rPr lang="ko-KR" altLang="en-US" sz="800" b="0" dirty="0">
                          <a:latin typeface="맑은 고딕" pitchFamily="50" charset="-127"/>
                          <a:ea typeface="맑은 고딕" pitchFamily="50" charset="-127"/>
                        </a:rPr>
                        <a:t>저장소인 테이블과 접근 속도를 보장하기 위한 인덱스</a:t>
                      </a:r>
                      <a:r>
                        <a:rPr lang="en-US" altLang="ko-KR" sz="800" b="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b="0" dirty="0">
                          <a:latin typeface="맑은 고딕" pitchFamily="50" charset="-127"/>
                          <a:ea typeface="맑은 고딕" pitchFamily="50" charset="-127"/>
                        </a:rPr>
                        <a:t>업무규칙이 반영된 제약 사항 및 기타 </a:t>
                      </a:r>
                      <a:r>
                        <a:rPr lang="en-US" altLang="ko-KR" sz="800" b="0" dirty="0">
                          <a:latin typeface="맑은 고딕" pitchFamily="50" charset="-127"/>
                          <a:ea typeface="맑은 고딕" pitchFamily="50" charset="-127"/>
                        </a:rPr>
                        <a:t>DB </a:t>
                      </a:r>
                      <a:r>
                        <a:rPr lang="ko-KR" altLang="en-US" sz="800" b="0" dirty="0">
                          <a:latin typeface="맑은 고딕" pitchFamily="50" charset="-127"/>
                          <a:ea typeface="맑은 고딕" pitchFamily="50" charset="-127"/>
                        </a:rPr>
                        <a:t>관련 객체를 정의하여 관리함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저장공간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제약조건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인덱스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트리거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 </a:t>
                      </a: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링크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프로시져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뷰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7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롤</a:t>
                      </a:r>
                      <a:endParaRPr kumimoji="1" lang="en-US" altLang="ko-KR" sz="7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4" name="직사각형 63">
            <a:extLst>
              <a:ext uri="{FF2B5EF4-FFF2-40B4-BE49-F238E27FC236}">
                <a16:creationId xmlns="" xmlns:a16="http://schemas.microsoft.com/office/drawing/2014/main" id="{5462037B-CDEE-4F81-9746-70224A0F2135}"/>
              </a:ext>
            </a:extLst>
          </p:cNvPr>
          <p:cNvSpPr/>
          <p:nvPr/>
        </p:nvSpPr>
        <p:spPr bwMode="auto">
          <a:xfrm>
            <a:off x="6006070" y="1998112"/>
            <a:ext cx="3438096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 관련 표준 산출물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Rectangle 4">
            <a:extLst>
              <a:ext uri="{FF2B5EF4-FFF2-40B4-BE49-F238E27FC236}">
                <a16:creationId xmlns="" xmlns:a16="http://schemas.microsoft.com/office/drawing/2014/main" id="{8C012311-4839-492B-B18D-35724E871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6070" y="2235215"/>
            <a:ext cx="3438096" cy="4073507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="" xmlns:a16="http://schemas.microsoft.com/office/drawing/2014/main" id="{27DE6579-D3B8-4EBB-8767-6036F19F3CFA}"/>
              </a:ext>
            </a:extLst>
          </p:cNvPr>
          <p:cNvSpPr/>
          <p:nvPr/>
        </p:nvSpPr>
        <p:spPr>
          <a:xfrm>
            <a:off x="6213141" y="5887537"/>
            <a:ext cx="3199374" cy="29812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wrap="square" anchor="ctr">
            <a:noAutofit/>
          </a:bodyPr>
          <a:lstStyle/>
          <a:p>
            <a:pPr>
              <a:buFontTx/>
              <a:buNone/>
            </a:pPr>
            <a:r>
              <a:rPr lang="en-US" altLang="ko-KR" sz="700" b="0" dirty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700" b="0" dirty="0">
                <a:latin typeface="맑은 고딕" pitchFamily="50" charset="-127"/>
                <a:ea typeface="맑은 고딕" pitchFamily="50" charset="-127"/>
              </a:rPr>
              <a:t>필수 </a:t>
            </a:r>
            <a:r>
              <a:rPr lang="en-US" altLang="ko-KR" sz="700" b="0" dirty="0"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700" b="0" dirty="0">
                <a:latin typeface="맑은 고딕" pitchFamily="50" charset="-127"/>
                <a:ea typeface="맑은 고딕" pitchFamily="50" charset="-127"/>
              </a:rPr>
              <a:t>필수 관리대상 산출물</a:t>
            </a:r>
            <a:r>
              <a:rPr lang="en-US" altLang="ko-KR" sz="700" b="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700" b="0" dirty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700" b="0" dirty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700" b="0" dirty="0">
                <a:latin typeface="맑은 고딕" pitchFamily="50" charset="-127"/>
                <a:ea typeface="맑은 고딕" pitchFamily="50" charset="-127"/>
              </a:rPr>
              <a:t>권장</a:t>
            </a:r>
            <a:r>
              <a:rPr lang="en-US" altLang="ko-KR" sz="700" b="0" dirty="0"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700" b="0" dirty="0">
                <a:latin typeface="맑은 고딕" pitchFamily="50" charset="-127"/>
                <a:ea typeface="맑은 고딕" pitchFamily="50" charset="-127"/>
              </a:rPr>
              <a:t>산출물 관리 대상으로 포함을 권고</a:t>
            </a: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CE38B395-C25C-41FA-93B9-2C097FC71DED}"/>
              </a:ext>
            </a:extLst>
          </p:cNvPr>
          <p:cNvSpPr/>
          <p:nvPr/>
        </p:nvSpPr>
        <p:spPr>
          <a:xfrm>
            <a:off x="8380712" y="5924227"/>
            <a:ext cx="866740" cy="228395"/>
          </a:xfrm>
          <a:prstGeom prst="rect">
            <a:avLst/>
          </a:prstGeom>
          <a:ln w="28575">
            <a:solidFill>
              <a:schemeClr val="accent2">
                <a:lumMod val="75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FontTx/>
              <a:buNone/>
            </a:pPr>
            <a:r>
              <a:rPr lang="ko-KR" altLang="en-US" sz="700" b="0" dirty="0">
                <a:ln w="28575">
                  <a:noFill/>
                </a:ln>
                <a:latin typeface="맑은 고딕" pitchFamily="50" charset="-127"/>
                <a:ea typeface="맑은 고딕" pitchFamily="50" charset="-127"/>
              </a:rPr>
              <a:t>데이터 구조 관련</a:t>
            </a:r>
            <a:r>
              <a:rPr lang="en-US" altLang="ko-KR" sz="700" b="0" dirty="0">
                <a:ln w="28575">
                  <a:noFill/>
                </a:ln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700" b="0" dirty="0">
                <a:ln w="28575">
                  <a:noFill/>
                </a:ln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700" b="0" dirty="0">
                <a:ln w="28575">
                  <a:noFill/>
                </a:ln>
                <a:latin typeface="맑은 고딕" pitchFamily="50" charset="-127"/>
                <a:ea typeface="맑은 고딕" pitchFamily="50" charset="-127"/>
              </a:rPr>
              <a:t>표준 산출물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="" xmlns:a16="http://schemas.microsoft.com/office/drawing/2014/main" id="{4A68B424-3233-4EEB-BEA7-B70B1B223E62}"/>
              </a:ext>
            </a:extLst>
          </p:cNvPr>
          <p:cNvSpPr/>
          <p:nvPr/>
        </p:nvSpPr>
        <p:spPr>
          <a:xfrm>
            <a:off x="6033120" y="5887537"/>
            <a:ext cx="190299" cy="29812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anchor="ctr">
            <a:noAutofit/>
          </a:bodyPr>
          <a:lstStyle/>
          <a:p>
            <a:pPr algn="ctr">
              <a:buFontTx/>
              <a:buNone/>
            </a:pPr>
            <a:r>
              <a:rPr lang="ko-KR" altLang="en-US" sz="800" b="0" dirty="0">
                <a:latin typeface="맑은 고딕" pitchFamily="50" charset="-127"/>
                <a:ea typeface="맑은 고딕" pitchFamily="50" charset="-127"/>
              </a:rPr>
              <a:t>범례</a:t>
            </a:r>
            <a:endParaRPr lang="ko-KR" altLang="en-US" sz="8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6" name="Group 350">
            <a:extLst>
              <a:ext uri="{FF2B5EF4-FFF2-40B4-BE49-F238E27FC236}">
                <a16:creationId xmlns="" xmlns:a16="http://schemas.microsoft.com/office/drawing/2014/main" id="{1AC3F558-FF4E-4E81-AB6B-4B6CC2B5DEB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057304" y="2252488"/>
          <a:ext cx="3357000" cy="3711312"/>
        </p:xfrm>
        <a:graphic>
          <a:graphicData uri="http://schemas.openxmlformats.org/drawingml/2006/table">
            <a:tbl>
              <a:tblPr/>
              <a:tblGrid>
                <a:gridCol w="837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368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76000">
                  <a:extLst>
                    <a:ext uri="{9D8B030D-6E8A-4147-A177-3AD203B41FA5}">
                      <a16:colId xmlns="" xmlns:a16="http://schemas.microsoft.com/office/drawing/2014/main" val="4264964925"/>
                    </a:ext>
                  </a:extLst>
                </a:gridCol>
                <a:gridCol w="576000">
                  <a:extLst>
                    <a:ext uri="{9D8B030D-6E8A-4147-A177-3AD203B41FA5}">
                      <a16:colId xmlns="" xmlns:a16="http://schemas.microsoft.com/office/drawing/2014/main" val="3023751029"/>
                    </a:ext>
                  </a:extLst>
                </a:gridCol>
              </a:tblGrid>
              <a:tr h="222595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산출물명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4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데이터사전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99453091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89578169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도메인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93515560"/>
                  </a:ext>
                </a:extLst>
              </a:tr>
              <a:tr h="144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요소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엔티티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23071430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7629213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ERD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50805588"/>
                  </a:ext>
                </a:extLst>
              </a:tr>
              <a:tr h="1440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요소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89906580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 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06282020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ERD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726724027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(DB)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정의서</a:t>
                      </a:r>
                    </a:p>
                  </a:txBody>
                  <a:tcPr marL="82649" marR="82649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4186075793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데이터 목록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(*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데이터 구축 시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4130347520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오너십 정의서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48829636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규칙 정의서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 대 응용프로그램 상관도</a:t>
                      </a:r>
                    </a:p>
                  </a:txBody>
                  <a:tcPr marL="92354" marR="92354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endParaRPr kumimoji="1" lang="ko-KR" altLang="en-US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●</a:t>
                      </a:r>
                    </a:p>
                  </a:txBody>
                  <a:tcPr marL="82649" marR="82649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="" xmlns:a16="http://schemas.microsoft.com/office/drawing/2014/main" id="{543E73FF-E7DC-4DD5-B27F-A930A12FBA68}"/>
              </a:ext>
            </a:extLst>
          </p:cNvPr>
          <p:cNvSpPr/>
          <p:nvPr/>
        </p:nvSpPr>
        <p:spPr>
          <a:xfrm>
            <a:off x="6878505" y="3156236"/>
            <a:ext cx="2497886" cy="1568282"/>
          </a:xfrm>
          <a:prstGeom prst="rect">
            <a:avLst/>
          </a:prstGeom>
          <a:ln w="28575">
            <a:solidFill>
              <a:schemeClr val="accent2">
                <a:lumMod val="75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="" xmlns:a16="http://schemas.microsoft.com/office/drawing/2014/main" id="{306E37A9-C498-4051-9D9F-13B77C04F62E}"/>
              </a:ext>
            </a:extLst>
          </p:cNvPr>
          <p:cNvSpPr/>
          <p:nvPr/>
        </p:nvSpPr>
        <p:spPr>
          <a:xfrm>
            <a:off x="6055514" y="5301208"/>
            <a:ext cx="3357000" cy="214042"/>
          </a:xfrm>
          <a:prstGeom prst="rect">
            <a:avLst/>
          </a:prstGeom>
          <a:ln w="28575">
            <a:solidFill>
              <a:schemeClr val="accent2">
                <a:lumMod val="75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94582782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/>
            <a:r>
              <a:rPr lang="en-US" altLang="ko-KR" dirty="0"/>
              <a:t>DB </a:t>
            </a:r>
            <a:r>
              <a:rPr lang="ko-KR" altLang="en-US" dirty="0"/>
              <a:t>설계와 개발을 지원하고</a:t>
            </a:r>
            <a:r>
              <a:rPr lang="en-US" altLang="ko-KR" dirty="0"/>
              <a:t>, </a:t>
            </a:r>
            <a:r>
              <a:rPr lang="ko-KR" altLang="en-US" dirty="0"/>
              <a:t>전사적인 데이터 표준의 사용 및 재사용을 통해 시스템 간 상호 운용성</a:t>
            </a:r>
            <a:r>
              <a:rPr lang="en-US" altLang="ko-KR" dirty="0"/>
              <a:t>, </a:t>
            </a:r>
            <a:r>
              <a:rPr lang="ko-KR" altLang="en-US" dirty="0"/>
              <a:t>데이터 공유</a:t>
            </a:r>
            <a:r>
              <a:rPr lang="en-US" altLang="ko-KR" dirty="0"/>
              <a:t>, </a:t>
            </a:r>
            <a:r>
              <a:rPr lang="ko-KR" altLang="en-US" dirty="0"/>
              <a:t>시스템 통합</a:t>
            </a:r>
            <a:r>
              <a:rPr lang="en-US" altLang="ko-KR" dirty="0"/>
              <a:t>, </a:t>
            </a:r>
            <a:r>
              <a:rPr lang="ko-KR" altLang="en-US" dirty="0"/>
              <a:t>프로세스 개선 등을 지원하도록 데이터 표준 원칙을 수립하여 적용함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2.9.5 </a:t>
            </a:r>
            <a:r>
              <a:rPr lang="ko-KR" altLang="en-US" sz="1800" smtClean="0"/>
              <a:t>데이터 </a:t>
            </a:r>
            <a:r>
              <a:rPr lang="ko-KR" altLang="en-US" sz="1800"/>
              <a:t>표준관리 </a:t>
            </a:r>
            <a:r>
              <a:rPr lang="en-US" altLang="ko-KR" sz="1800" smtClean="0"/>
              <a:t> 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표준화 대상 및 데이터 표준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45484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93104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714580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591344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482720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205736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E3A77B2C-42FA-4416-A45B-A5B31E65254A}"/>
              </a:ext>
            </a:extLst>
          </p:cNvPr>
          <p:cNvSpPr/>
          <p:nvPr/>
        </p:nvSpPr>
        <p:spPr bwMode="auto">
          <a:xfrm>
            <a:off x="2504728" y="1998112"/>
            <a:ext cx="1463434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표준화 대상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="" xmlns:a16="http://schemas.microsoft.com/office/drawing/2014/main" id="{3638363D-0701-4436-AAFA-F4BE59E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728" y="2235216"/>
            <a:ext cx="1463434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="" xmlns:a16="http://schemas.microsoft.com/office/drawing/2014/main" id="{AF2E66B7-D455-40CF-92DB-E3FF88C3EEDB}"/>
              </a:ext>
            </a:extLst>
          </p:cNvPr>
          <p:cNvSpPr/>
          <p:nvPr/>
        </p:nvSpPr>
        <p:spPr bwMode="auto">
          <a:xfrm>
            <a:off x="4160912" y="1998112"/>
            <a:ext cx="1837372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="" xmlns:a16="http://schemas.microsoft.com/office/drawing/2014/main" id="{A28F9B60-46ED-4F94-B969-65C86EB12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0912" y="2235216"/>
            <a:ext cx="1837372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="" xmlns:a16="http://schemas.microsoft.com/office/drawing/2014/main" id="{F06F9774-9FE3-45D9-B3B8-D682FC5497A0}"/>
              </a:ext>
            </a:extLst>
          </p:cNvPr>
          <p:cNvSpPr/>
          <p:nvPr/>
        </p:nvSpPr>
        <p:spPr bwMode="auto">
          <a:xfrm>
            <a:off x="7498334" y="1998112"/>
            <a:ext cx="1947830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 방침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Rectangle 4">
            <a:extLst>
              <a:ext uri="{FF2B5EF4-FFF2-40B4-BE49-F238E27FC236}">
                <a16:creationId xmlns="" xmlns:a16="http://schemas.microsoft.com/office/drawing/2014/main" id="{76296A4A-C7B6-4DD0-A4CE-CD49334E3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8334" y="2235216"/>
            <a:ext cx="1947830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구축 시 데이터 객체의 명명 시  적용하는 단어사전과       용어사전 정의</a:t>
            </a: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엔티티의 공통 속성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타입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사이즈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제약 조건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검증 조건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을 정의</a:t>
            </a: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객체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논리 모델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  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물리 모델에 적용하는 명명 규칙 정의</a:t>
            </a:r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표준 코드체계와 표준코드 목록을 정의</a:t>
            </a: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spc="-8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관리</a:t>
            </a:r>
            <a:r>
              <a:rPr kumimoji="1" lang="en-US" altLang="ko-KR" sz="1000" spc="-8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kumimoji="1" lang="ko-KR" altLang="en-US" sz="1000" spc="-8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개발에 사용되는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표준 데이터 도구를 정의</a:t>
            </a:r>
          </a:p>
        </p:txBody>
      </p:sp>
      <p:grpSp>
        <p:nvGrpSpPr>
          <p:cNvPr id="7" name="그룹 62">
            <a:extLst>
              <a:ext uri="{FF2B5EF4-FFF2-40B4-BE49-F238E27FC236}">
                <a16:creationId xmlns="" xmlns:a16="http://schemas.microsoft.com/office/drawing/2014/main" id="{9A9972A0-DA01-4C5E-9717-408F3D53F0EB}"/>
              </a:ext>
            </a:extLst>
          </p:cNvPr>
          <p:cNvGrpSpPr/>
          <p:nvPr/>
        </p:nvGrpSpPr>
        <p:grpSpPr>
          <a:xfrm rot="10800000" flipH="1">
            <a:off x="6969225" y="2643488"/>
            <a:ext cx="491902" cy="2901300"/>
            <a:chOff x="4781869" y="2101850"/>
            <a:chExt cx="671538" cy="3082852"/>
          </a:xfrm>
        </p:grpSpPr>
        <p:sp>
          <p:nvSpPr>
            <p:cNvPr id="69" name="이등변 삼각형 68">
              <a:extLst>
                <a:ext uri="{FF2B5EF4-FFF2-40B4-BE49-F238E27FC236}">
                  <a16:creationId xmlns="" xmlns:a16="http://schemas.microsoft.com/office/drawing/2014/main" id="{92573E2D-B098-4C1B-9B78-A102AD752AD5}"/>
                </a:ext>
              </a:extLst>
            </p:cNvPr>
            <p:cNvSpPr/>
            <p:nvPr/>
          </p:nvSpPr>
          <p:spPr bwMode="auto">
            <a:xfrm rot="5400000">
              <a:off x="3650665" y="3381960"/>
              <a:ext cx="3082852" cy="522632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tx1">
                    <a:lumMod val="50000"/>
                    <a:lumOff val="50000"/>
                    <a:alpha val="50000"/>
                  </a:schemeClr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1" name="이등변 삼각형 70">
              <a:extLst>
                <a:ext uri="{FF2B5EF4-FFF2-40B4-BE49-F238E27FC236}">
                  <a16:creationId xmlns="" xmlns:a16="http://schemas.microsoft.com/office/drawing/2014/main" id="{E0161BF4-F9B5-4071-810C-B55B6299DCBA}"/>
                </a:ext>
              </a:extLst>
            </p:cNvPr>
            <p:cNvSpPr/>
            <p:nvPr/>
          </p:nvSpPr>
          <p:spPr bwMode="auto">
            <a:xfrm rot="5400000">
              <a:off x="3919084" y="3315388"/>
              <a:ext cx="2381346" cy="655776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98" name="AutoShape 27">
            <a:extLst>
              <a:ext uri="{FF2B5EF4-FFF2-40B4-BE49-F238E27FC236}">
                <a16:creationId xmlns="" xmlns:a16="http://schemas.microsoft.com/office/drawing/2014/main" id="{38ED6ECE-2259-4420-A4A6-CF7DDF80D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4892318"/>
            <a:ext cx="1138098" cy="39933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코드 데이터</a:t>
            </a:r>
          </a:p>
        </p:txBody>
      </p:sp>
      <p:sp>
        <p:nvSpPr>
          <p:cNvPr id="99" name="AutoShape 27">
            <a:extLst>
              <a:ext uri="{FF2B5EF4-FFF2-40B4-BE49-F238E27FC236}">
                <a16:creationId xmlns="" xmlns:a16="http://schemas.microsoft.com/office/drawing/2014/main" id="{B30AD412-53A0-4F01-997B-2E76D24C5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5428615"/>
            <a:ext cx="1138098" cy="39933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데이터 관련 도구</a:t>
            </a:r>
          </a:p>
        </p:txBody>
      </p:sp>
      <p:sp>
        <p:nvSpPr>
          <p:cNvPr id="100" name="AutoShape 27">
            <a:extLst>
              <a:ext uri="{FF2B5EF4-FFF2-40B4-BE49-F238E27FC236}">
                <a16:creationId xmlns="" xmlns:a16="http://schemas.microsoft.com/office/drawing/2014/main" id="{A6021A6C-0F93-4175-B871-D21529AAD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2747129"/>
            <a:ext cx="1138098" cy="39933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단어 사전</a:t>
            </a:r>
          </a:p>
        </p:txBody>
      </p:sp>
      <p:sp>
        <p:nvSpPr>
          <p:cNvPr id="101" name="AutoShape 27">
            <a:extLst>
              <a:ext uri="{FF2B5EF4-FFF2-40B4-BE49-F238E27FC236}">
                <a16:creationId xmlns="" xmlns:a16="http://schemas.microsoft.com/office/drawing/2014/main" id="{2FE295A7-A41F-4AC2-9CA4-CE38C7B15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3283426"/>
            <a:ext cx="1138098" cy="39933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용어 사전</a:t>
            </a:r>
          </a:p>
        </p:txBody>
      </p:sp>
      <p:sp>
        <p:nvSpPr>
          <p:cNvPr id="102" name="AutoShape 27">
            <a:extLst>
              <a:ext uri="{FF2B5EF4-FFF2-40B4-BE49-F238E27FC236}">
                <a16:creationId xmlns="" xmlns:a16="http://schemas.microsoft.com/office/drawing/2014/main" id="{70BA28E5-9E6D-403C-BA2C-1E0EFE09F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3819723"/>
            <a:ext cx="1138098" cy="39933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도메인</a:t>
            </a:r>
          </a:p>
        </p:txBody>
      </p:sp>
      <p:sp>
        <p:nvSpPr>
          <p:cNvPr id="103" name="AutoShape 27">
            <a:extLst>
              <a:ext uri="{FF2B5EF4-FFF2-40B4-BE49-F238E27FC236}">
                <a16:creationId xmlns="" xmlns:a16="http://schemas.microsoft.com/office/drawing/2014/main" id="{C63BA6F8-4100-413A-8943-24185FD3B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2774" y="4356021"/>
            <a:ext cx="1138098" cy="39933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BABABA"/>
            </a:solidFill>
            <a:prstDash val="sysDash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데이터 객체의 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네이밍</a:t>
            </a:r>
          </a:p>
        </p:txBody>
      </p:sp>
      <p:sp>
        <p:nvSpPr>
          <p:cNvPr id="104" name="AutoShape 27">
            <a:extLst>
              <a:ext uri="{FF2B5EF4-FFF2-40B4-BE49-F238E27FC236}">
                <a16:creationId xmlns="" xmlns:a16="http://schemas.microsoft.com/office/drawing/2014/main" id="{AAA4C203-992E-45B0-B83B-BF64667D2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118" y="4758243"/>
            <a:ext cx="1138098" cy="39933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표준 코드</a:t>
            </a:r>
          </a:p>
        </p:txBody>
      </p:sp>
      <p:sp>
        <p:nvSpPr>
          <p:cNvPr id="105" name="AutoShape 27">
            <a:extLst>
              <a:ext uri="{FF2B5EF4-FFF2-40B4-BE49-F238E27FC236}">
                <a16:creationId xmlns="" xmlns:a16="http://schemas.microsoft.com/office/drawing/2014/main" id="{58A66676-CEDA-4EDC-A6B9-2D6FCF5E8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118" y="5428615"/>
            <a:ext cx="1138098" cy="399339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표준 데이터 도구</a:t>
            </a:r>
          </a:p>
        </p:txBody>
      </p:sp>
      <p:sp>
        <p:nvSpPr>
          <p:cNvPr id="106" name="AutoShape 27">
            <a:extLst>
              <a:ext uri="{FF2B5EF4-FFF2-40B4-BE49-F238E27FC236}">
                <a16:creationId xmlns="" xmlns:a16="http://schemas.microsoft.com/office/drawing/2014/main" id="{E8C21FD9-A18F-4863-A03E-9E62472FF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118" y="2747129"/>
            <a:ext cx="1138098" cy="39933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표준 자료 사전</a:t>
            </a:r>
          </a:p>
        </p:txBody>
      </p:sp>
      <p:sp>
        <p:nvSpPr>
          <p:cNvPr id="107" name="AutoShape 27">
            <a:extLst>
              <a:ext uri="{FF2B5EF4-FFF2-40B4-BE49-F238E27FC236}">
                <a16:creationId xmlns="" xmlns:a16="http://schemas.microsoft.com/office/drawing/2014/main" id="{B2C494E3-D038-4198-8D74-542641685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118" y="3417500"/>
            <a:ext cx="1138098" cy="399339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표준 도메인</a:t>
            </a:r>
          </a:p>
        </p:txBody>
      </p:sp>
      <p:sp>
        <p:nvSpPr>
          <p:cNvPr id="108" name="AutoShape 27">
            <a:extLst>
              <a:ext uri="{FF2B5EF4-FFF2-40B4-BE49-F238E27FC236}">
                <a16:creationId xmlns="" xmlns:a16="http://schemas.microsoft.com/office/drawing/2014/main" id="{A4AB38A9-06CC-4881-BB96-8C5E5AFAF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118" y="4087872"/>
            <a:ext cx="1138098" cy="39933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B1CFFC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latin typeface="맑은 고딕" pitchFamily="50" charset="-127"/>
                <a:ea typeface="맑은 고딕" pitchFamily="50" charset="-127"/>
              </a:rPr>
              <a:t>표준 네이밍 룰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="" xmlns:a16="http://schemas.microsoft.com/office/drawing/2014/main" id="{FB8A00DF-253C-4D57-AECD-1E43AD969385}"/>
              </a:ext>
            </a:extLst>
          </p:cNvPr>
          <p:cNvCxnSpPr>
            <a:stCxn id="100" idx="3"/>
            <a:endCxn id="106" idx="1"/>
          </p:cNvCxnSpPr>
          <p:nvPr/>
        </p:nvCxnSpPr>
        <p:spPr bwMode="auto">
          <a:xfrm>
            <a:off x="3800872" y="2946798"/>
            <a:ext cx="695246" cy="0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0" name="직선 연결선 109">
            <a:extLst>
              <a:ext uri="{FF2B5EF4-FFF2-40B4-BE49-F238E27FC236}">
                <a16:creationId xmlns="" xmlns:a16="http://schemas.microsoft.com/office/drawing/2014/main" id="{AA5D047D-1F9A-4F99-890D-86D818124D1C}"/>
              </a:ext>
            </a:extLst>
          </p:cNvPr>
          <p:cNvCxnSpPr>
            <a:stCxn id="101" idx="3"/>
            <a:endCxn id="106" idx="1"/>
          </p:cNvCxnSpPr>
          <p:nvPr/>
        </p:nvCxnSpPr>
        <p:spPr bwMode="auto">
          <a:xfrm flipV="1">
            <a:off x="3800872" y="2946798"/>
            <a:ext cx="695246" cy="536297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1" name="직선 연결선 110">
            <a:extLst>
              <a:ext uri="{FF2B5EF4-FFF2-40B4-BE49-F238E27FC236}">
                <a16:creationId xmlns="" xmlns:a16="http://schemas.microsoft.com/office/drawing/2014/main" id="{4DB28940-2741-48FF-B8FD-BC0459A93AB1}"/>
              </a:ext>
            </a:extLst>
          </p:cNvPr>
          <p:cNvCxnSpPr>
            <a:stCxn id="102" idx="3"/>
            <a:endCxn id="107" idx="1"/>
          </p:cNvCxnSpPr>
          <p:nvPr/>
        </p:nvCxnSpPr>
        <p:spPr bwMode="auto">
          <a:xfrm flipV="1">
            <a:off x="3800872" y="3617170"/>
            <a:ext cx="695246" cy="402223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2" name="직선 연결선 111">
            <a:extLst>
              <a:ext uri="{FF2B5EF4-FFF2-40B4-BE49-F238E27FC236}">
                <a16:creationId xmlns="" xmlns:a16="http://schemas.microsoft.com/office/drawing/2014/main" id="{060007DA-C5E2-46C3-8EA0-E8BE0DEE0F1F}"/>
              </a:ext>
            </a:extLst>
          </p:cNvPr>
          <p:cNvCxnSpPr>
            <a:stCxn id="103" idx="3"/>
            <a:endCxn id="108" idx="1"/>
          </p:cNvCxnSpPr>
          <p:nvPr/>
        </p:nvCxnSpPr>
        <p:spPr bwMode="auto">
          <a:xfrm flipV="1">
            <a:off x="3800872" y="4287541"/>
            <a:ext cx="695246" cy="268149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3" name="직선 연결선 112">
            <a:extLst>
              <a:ext uri="{FF2B5EF4-FFF2-40B4-BE49-F238E27FC236}">
                <a16:creationId xmlns="" xmlns:a16="http://schemas.microsoft.com/office/drawing/2014/main" id="{FEB490DA-1E46-497A-BF8E-6379F3A3D08C}"/>
              </a:ext>
            </a:extLst>
          </p:cNvPr>
          <p:cNvCxnSpPr>
            <a:stCxn id="98" idx="3"/>
            <a:endCxn id="104" idx="1"/>
          </p:cNvCxnSpPr>
          <p:nvPr/>
        </p:nvCxnSpPr>
        <p:spPr bwMode="auto">
          <a:xfrm flipV="1">
            <a:off x="3800872" y="4957912"/>
            <a:ext cx="695246" cy="134075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4" name="직선 연결선 113">
            <a:extLst>
              <a:ext uri="{FF2B5EF4-FFF2-40B4-BE49-F238E27FC236}">
                <a16:creationId xmlns="" xmlns:a16="http://schemas.microsoft.com/office/drawing/2014/main" id="{62682524-C33A-48F7-A54B-383DE46142D3}"/>
              </a:ext>
            </a:extLst>
          </p:cNvPr>
          <p:cNvCxnSpPr>
            <a:stCxn id="99" idx="3"/>
            <a:endCxn id="105" idx="1"/>
          </p:cNvCxnSpPr>
          <p:nvPr/>
        </p:nvCxnSpPr>
        <p:spPr bwMode="auto">
          <a:xfrm>
            <a:off x="3800872" y="5628285"/>
            <a:ext cx="695246" cy="0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sp>
        <p:nvSpPr>
          <p:cNvPr id="115" name="원통 114">
            <a:extLst>
              <a:ext uri="{FF2B5EF4-FFF2-40B4-BE49-F238E27FC236}">
                <a16:creationId xmlns="" xmlns:a16="http://schemas.microsoft.com/office/drawing/2014/main" id="{1F8BAF3C-E8A5-43A9-A4B5-13BC7382131A}"/>
              </a:ext>
            </a:extLst>
          </p:cNvPr>
          <p:cNvSpPr/>
          <p:nvPr/>
        </p:nvSpPr>
        <p:spPr>
          <a:xfrm>
            <a:off x="6284576" y="3769690"/>
            <a:ext cx="942904" cy="791223"/>
          </a:xfrm>
          <a:prstGeom prst="can">
            <a:avLst/>
          </a:prstGeom>
          <a:gradFill flip="none" rotWithShape="1">
            <a:gsLst>
              <a:gs pos="0">
                <a:srgbClr val="7DAFFA">
                  <a:tint val="66000"/>
                  <a:satMod val="160000"/>
                </a:srgbClr>
              </a:gs>
              <a:gs pos="50000">
                <a:srgbClr val="7DAFFA">
                  <a:tint val="44500"/>
                  <a:satMod val="160000"/>
                </a:srgbClr>
              </a:gs>
              <a:gs pos="100000">
                <a:srgbClr val="7DAFFA">
                  <a:tint val="23500"/>
                  <a:satMod val="160000"/>
                </a:srgbClr>
              </a:gs>
            </a:gsLst>
            <a:lin ang="10800000" scaled="1"/>
            <a:tileRect/>
          </a:gradFill>
          <a:ln>
            <a:solidFill>
              <a:srgbClr val="BABABA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메타데이터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리파지토리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="" xmlns:a16="http://schemas.microsoft.com/office/drawing/2014/main" id="{9DC9C2ED-F376-4D31-BD83-F7A1B3336013}"/>
              </a:ext>
            </a:extLst>
          </p:cNvPr>
          <p:cNvCxnSpPr>
            <a:stCxn id="106" idx="3"/>
            <a:endCxn id="115" idx="2"/>
          </p:cNvCxnSpPr>
          <p:nvPr/>
        </p:nvCxnSpPr>
        <p:spPr bwMode="auto">
          <a:xfrm>
            <a:off x="5634216" y="2946798"/>
            <a:ext cx="650360" cy="1218504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7" name="직선 연결선 116">
            <a:extLst>
              <a:ext uri="{FF2B5EF4-FFF2-40B4-BE49-F238E27FC236}">
                <a16:creationId xmlns="" xmlns:a16="http://schemas.microsoft.com/office/drawing/2014/main" id="{13BE9627-8722-4A83-A728-09A40747716D}"/>
              </a:ext>
            </a:extLst>
          </p:cNvPr>
          <p:cNvCxnSpPr>
            <a:stCxn id="108" idx="3"/>
            <a:endCxn id="115" idx="2"/>
          </p:cNvCxnSpPr>
          <p:nvPr/>
        </p:nvCxnSpPr>
        <p:spPr bwMode="auto">
          <a:xfrm flipV="1">
            <a:off x="5634216" y="4165302"/>
            <a:ext cx="650360" cy="122239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8" name="직선 연결선 117">
            <a:extLst>
              <a:ext uri="{FF2B5EF4-FFF2-40B4-BE49-F238E27FC236}">
                <a16:creationId xmlns="" xmlns:a16="http://schemas.microsoft.com/office/drawing/2014/main" id="{0CBA30EA-0765-4811-920B-C93DBDBFF374}"/>
              </a:ext>
            </a:extLst>
          </p:cNvPr>
          <p:cNvCxnSpPr>
            <a:stCxn id="107" idx="3"/>
            <a:endCxn id="115" idx="2"/>
          </p:cNvCxnSpPr>
          <p:nvPr/>
        </p:nvCxnSpPr>
        <p:spPr bwMode="auto">
          <a:xfrm>
            <a:off x="5634216" y="3617170"/>
            <a:ext cx="650360" cy="548132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9" name="직선 연결선 118">
            <a:extLst>
              <a:ext uri="{FF2B5EF4-FFF2-40B4-BE49-F238E27FC236}">
                <a16:creationId xmlns="" xmlns:a16="http://schemas.microsoft.com/office/drawing/2014/main" id="{5E46B2D5-5528-47DB-B1A8-8BB39333A466}"/>
              </a:ext>
            </a:extLst>
          </p:cNvPr>
          <p:cNvCxnSpPr>
            <a:stCxn id="104" idx="3"/>
            <a:endCxn id="115" idx="2"/>
          </p:cNvCxnSpPr>
          <p:nvPr/>
        </p:nvCxnSpPr>
        <p:spPr bwMode="auto">
          <a:xfrm flipV="1">
            <a:off x="5634216" y="4165302"/>
            <a:ext cx="650360" cy="792610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20" name="직선 연결선 119">
            <a:extLst>
              <a:ext uri="{FF2B5EF4-FFF2-40B4-BE49-F238E27FC236}">
                <a16:creationId xmlns="" xmlns:a16="http://schemas.microsoft.com/office/drawing/2014/main" id="{C63F006F-7942-4F10-83E8-A083B3B89B7D}"/>
              </a:ext>
            </a:extLst>
          </p:cNvPr>
          <p:cNvCxnSpPr>
            <a:stCxn id="105" idx="3"/>
            <a:endCxn id="115" idx="2"/>
          </p:cNvCxnSpPr>
          <p:nvPr/>
        </p:nvCxnSpPr>
        <p:spPr bwMode="auto">
          <a:xfrm flipV="1">
            <a:off x="5634216" y="4165302"/>
            <a:ext cx="650360" cy="1462983"/>
          </a:xfrm>
          <a:prstGeom prst="line">
            <a:avLst/>
          </a:prstGeom>
          <a:solidFill>
            <a:srgbClr val="FBB779"/>
          </a:solidFill>
          <a:ln w="12700" cap="rnd" cmpd="sng" algn="ctr">
            <a:solidFill>
              <a:srgbClr val="BABABA"/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sp>
        <p:nvSpPr>
          <p:cNvPr id="121" name="AutoShape 88">
            <a:extLst>
              <a:ext uri="{FF2B5EF4-FFF2-40B4-BE49-F238E27FC236}">
                <a16:creationId xmlns="" xmlns:a16="http://schemas.microsoft.com/office/drawing/2014/main" id="{947BFFDA-E172-46DC-A6A2-FC279572C9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45088" y="2917894"/>
            <a:ext cx="439063" cy="2528595"/>
          </a:xfrm>
          <a:prstGeom prst="rightArrow">
            <a:avLst>
              <a:gd name="adj1" fmla="val 74847"/>
              <a:gd name="adj2" fmla="val 49627"/>
            </a:avLst>
          </a:prstGeom>
          <a:solidFill>
            <a:schemeClr val="bg1">
              <a:lumMod val="85000"/>
            </a:schemeClr>
          </a:solidFill>
          <a:ln>
            <a:solidFill>
              <a:srgbClr val="BABABA"/>
            </a:solidFill>
          </a:ln>
          <a:effectLst/>
          <a:extLst/>
        </p:spPr>
        <p:txBody>
          <a:bodyPr vert="eaVert" wrap="none" lIns="14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메타 데이터리파지토리 저장</a:t>
            </a:r>
          </a:p>
        </p:txBody>
      </p:sp>
      <p:sp>
        <p:nvSpPr>
          <p:cNvPr id="122" name="AutoShape 88">
            <a:extLst>
              <a:ext uri="{FF2B5EF4-FFF2-40B4-BE49-F238E27FC236}">
                <a16:creationId xmlns="" xmlns:a16="http://schemas.microsoft.com/office/drawing/2014/main" id="{F565D146-3BD0-4DE9-BDD5-4DC5E07673A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921957" y="3009027"/>
            <a:ext cx="454979" cy="2620255"/>
          </a:xfrm>
          <a:prstGeom prst="rightArrow">
            <a:avLst>
              <a:gd name="adj1" fmla="val 74847"/>
              <a:gd name="adj2" fmla="val 49627"/>
            </a:avLst>
          </a:prstGeom>
          <a:solidFill>
            <a:schemeClr val="bg1">
              <a:lumMod val="85000"/>
            </a:schemeClr>
          </a:solidFill>
          <a:ln>
            <a:solidFill>
              <a:srgbClr val="BABABA"/>
            </a:solidFill>
          </a:ln>
          <a:effectLst/>
          <a:extLst/>
        </p:spPr>
        <p:txBody>
          <a:bodyPr vert="eaVert" wrap="none" lIns="14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표준화</a:t>
            </a:r>
          </a:p>
        </p:txBody>
      </p:sp>
    </p:spTree>
    <p:extLst>
      <p:ext uri="{BB962C8B-B14F-4D97-AF65-F5344CB8AC3E}">
        <p14:creationId xmlns:p14="http://schemas.microsoft.com/office/powerpoint/2010/main" val="39413101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전체 연계 정보를 일관되고 표준화된 방법으로 관리하여 종합적인 파악이 가능하고 연계 데이터의 품질과 성능을 정량적으로 관리할 수 있도록 표준 연계 정보 관리 항목을 정의하여 적용함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2.9.6 </a:t>
            </a:r>
            <a:r>
              <a:rPr lang="ko-KR" altLang="en-US" sz="1800" smtClean="0"/>
              <a:t>연계정보 </a:t>
            </a:r>
            <a:r>
              <a:rPr lang="ko-KR" altLang="en-US" sz="1800" dirty="0"/>
              <a:t>관리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연계정보 관리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45484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93104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758560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5999181"/>
            <a:ext cx="1584120" cy="242366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3854530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48272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205736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E3A77B2C-42FA-4416-A45B-A5B31E65254A}"/>
              </a:ext>
            </a:extLst>
          </p:cNvPr>
          <p:cNvSpPr/>
          <p:nvPr/>
        </p:nvSpPr>
        <p:spPr bwMode="auto">
          <a:xfrm>
            <a:off x="2504727" y="1998112"/>
            <a:ext cx="6948835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표준 연계정보 관리 항목 정의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="" xmlns:a16="http://schemas.microsoft.com/office/drawing/2014/main" id="{3638363D-0701-4436-AAFA-F4BE59E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727" y="2235216"/>
            <a:ext cx="6948835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6" name="Group 350">
            <a:extLst>
              <a:ext uri="{FF2B5EF4-FFF2-40B4-BE49-F238E27FC236}">
                <a16:creationId xmlns="" xmlns:a16="http://schemas.microsoft.com/office/drawing/2014/main" id="{88BD2394-7044-41B4-8ED3-5AF20D89696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576736" y="2288209"/>
          <a:ext cx="6768751" cy="3965137"/>
        </p:xfrm>
        <a:graphic>
          <a:graphicData uri="http://schemas.openxmlformats.org/drawingml/2006/table">
            <a:tbl>
              <a:tblPr/>
              <a:tblGrid>
                <a:gridCol w="57606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304144">
                  <a:extLst>
                    <a:ext uri="{9D8B030D-6E8A-4147-A177-3AD203B41FA5}">
                      <a16:colId xmlns="" xmlns:a16="http://schemas.microsoft.com/office/drawing/2014/main" val="912141599"/>
                    </a:ext>
                  </a:extLst>
                </a:gridCol>
                <a:gridCol w="488854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31453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연계정보 관리항목</a:t>
                      </a: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 anchorCtr="1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ABABA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1637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연계정보</a:t>
                      </a:r>
                      <a: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정보 구분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연계정보를 제공하는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연계정보를 활용하는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활용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＂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290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 정보명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 및 활용되는 연계 정보에 대한 정의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정보명은 연계 정보가 무엇을 의미하는지를 이해할 수 있는 수준에서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673978518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 주기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정보의 연계 주기를 정의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(ex: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실시간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매주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매월 등</a:t>
                      </a: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289024346"/>
                  </a:ext>
                </a:extLst>
              </a:tr>
              <a:tr h="201637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</a:t>
                      </a:r>
                      <a: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구성하는 세부 연계 항목들에 대한 명칭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854760321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설명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구성하는 세부 연계 항목들에 대한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628305755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데이터 타입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항목의 데이터 타입을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556425079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데이터 길이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항목의 데이터 길이를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00678785"/>
                  </a:ext>
                </a:extLst>
              </a:tr>
              <a:tr h="201637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</a:t>
                      </a:r>
                      <a: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출처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 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데이터베이스 명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667710253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 계정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데이터베이스 접근 시 필요한 계정과 비밀번호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비밀번호는 보안상의 문제로 별도 관리 필요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468520842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테이블 명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038869477"/>
                  </a:ext>
                </a:extLst>
              </a:tr>
              <a:tr h="201637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컬럼 명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컬럼명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724882524"/>
                  </a:ext>
                </a:extLst>
              </a:tr>
              <a:tr h="461057"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오너십 </a:t>
                      </a:r>
                      <a: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8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800" b="1" dirty="0">
                          <a:latin typeface="맑은 고딕" pitchFamily="50" charset="-127"/>
                          <a:ea typeface="맑은 고딕" pitchFamily="50" charset="-127"/>
                        </a:rPr>
                        <a:t>제공기관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제공하는 기관 정보를 관리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 기관 정보는 기관명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담당자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연락처 정도를 관리하여 향후 연계 협의 시 담당자 식별 등에 활용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23515416"/>
                  </a:ext>
                </a:extLst>
              </a:tr>
              <a:tr h="461057"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900" b="1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활용기관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활용하는 기관 정보를 관리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활용 기관 정보는 기관명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담당자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연락처 정도를 관리하여 향후 연계 협의 시 담당자 식별 등에 활용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61057">
                <a:tc gridSpan="2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36000" marR="36000" marT="36000" marB="36000" anchor="ctr" anchorCtr="1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 관련 행정적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·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기술적 사항을 기록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기술적 사항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형식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방법 등의 기술 사항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행정적 사항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제공기관과 활용기관간의 연계 관련 행정 사항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740617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데이터 관리요소 전체를 커버하는 표준 프로세스영역</a:t>
            </a:r>
            <a:r>
              <a:rPr lang="en-US" altLang="ko-KR" dirty="0"/>
              <a:t>(</a:t>
            </a:r>
            <a:r>
              <a:rPr lang="ko-KR" altLang="en-US" dirty="0"/>
              <a:t>데이터 표준관리</a:t>
            </a:r>
            <a:r>
              <a:rPr lang="en-US" altLang="ko-KR" dirty="0"/>
              <a:t>, </a:t>
            </a:r>
            <a:r>
              <a:rPr lang="ko-KR" altLang="en-US" dirty="0"/>
              <a:t>데이터 구조관리</a:t>
            </a:r>
            <a:r>
              <a:rPr lang="en-US" altLang="ko-KR" dirty="0"/>
              <a:t>, </a:t>
            </a:r>
            <a:r>
              <a:rPr lang="ko-KR" altLang="en-US" dirty="0"/>
              <a:t>데이터 연계관리</a:t>
            </a:r>
            <a:r>
              <a:rPr lang="en-US" altLang="ko-KR" dirty="0"/>
              <a:t>, </a:t>
            </a:r>
            <a:r>
              <a:rPr lang="ko-KR" altLang="en-US" dirty="0"/>
              <a:t>데이터 품질관리</a:t>
            </a:r>
            <a:r>
              <a:rPr lang="en-US" altLang="ko-KR" dirty="0"/>
              <a:t>, </a:t>
            </a:r>
            <a:r>
              <a:rPr lang="ko-KR" altLang="en-US" dirty="0"/>
              <a:t>데이터베이스 관리</a:t>
            </a:r>
            <a:r>
              <a:rPr lang="en-US" altLang="ko-KR" dirty="0"/>
              <a:t>, </a:t>
            </a:r>
            <a:r>
              <a:rPr lang="ko-KR" altLang="en-US" dirty="0"/>
              <a:t>데이터 보안관리</a:t>
            </a:r>
            <a:r>
              <a:rPr lang="en-US" altLang="ko-KR" dirty="0"/>
              <a:t>)</a:t>
            </a:r>
            <a:r>
              <a:rPr lang="ko-KR" altLang="en-US" dirty="0"/>
              <a:t>에</a:t>
            </a:r>
            <a:r>
              <a:rPr lang="en-US" altLang="ko-KR" dirty="0"/>
              <a:t> </a:t>
            </a:r>
            <a:r>
              <a:rPr lang="ko-KR" altLang="en-US" dirty="0"/>
              <a:t>대한 관리 절차를 수립하여 적용함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2.9 </a:t>
            </a:r>
            <a:r>
              <a:rPr lang="ko-KR" altLang="en-US" smtClean="0"/>
              <a:t>데이터 아키텍처</a:t>
            </a:r>
            <a:r>
              <a:rPr lang="en-US" altLang="ko-KR" smtClean="0"/>
              <a:t>(</a:t>
            </a:r>
            <a:r>
              <a:rPr lang="en-US" altLang="ko-KR"/>
              <a:t>DA) </a:t>
            </a:r>
            <a:r>
              <a:rPr lang="ko-KR" altLang="en-US"/>
              <a:t>표준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2.9.7 </a:t>
            </a:r>
            <a:r>
              <a:rPr lang="ko-KR" altLang="en-US" sz="1800" smtClean="0"/>
              <a:t>데이터 </a:t>
            </a:r>
            <a:r>
              <a:rPr lang="ko-KR" altLang="en-US" sz="1800" dirty="0"/>
              <a:t>품질관리 프로세스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r>
              <a:rPr lang="en-US" altLang="ko-KR" smtClean="0"/>
              <a:t>2.9 </a:t>
            </a:r>
            <a:r>
              <a:rPr lang="ko-KR" altLang="en-US" smtClean="0"/>
              <a:t>데이터 아키텍쳐 표준</a:t>
            </a:r>
            <a:endParaRPr lang="en-US" altLang="ko-KR" dirty="0"/>
          </a:p>
        </p:txBody>
      </p:sp>
      <p:grpSp>
        <p:nvGrpSpPr>
          <p:cNvPr id="6" name="그룹 15">
            <a:extLst>
              <a:ext uri="{FF2B5EF4-FFF2-40B4-BE49-F238E27FC236}">
                <a16:creationId xmlns="" xmlns:a16="http://schemas.microsoft.com/office/drawing/2014/main" id="{5EA3A309-9094-4DE1-8B56-A0FF213903F2}"/>
              </a:ext>
            </a:extLst>
          </p:cNvPr>
          <p:cNvGrpSpPr/>
          <p:nvPr/>
        </p:nvGrpSpPr>
        <p:grpSpPr>
          <a:xfrm>
            <a:off x="344489" y="1592796"/>
            <a:ext cx="9171420" cy="4788035"/>
            <a:chOff x="354519" y="1592796"/>
            <a:chExt cx="6594107" cy="4788035"/>
          </a:xfrm>
        </p:grpSpPr>
        <p:sp>
          <p:nvSpPr>
            <p:cNvPr id="17" name="직사각형 16">
              <a:extLst>
                <a:ext uri="{FF2B5EF4-FFF2-40B4-BE49-F238E27FC236}">
                  <a16:creationId xmlns="" xmlns:a16="http://schemas.microsoft.com/office/drawing/2014/main" id="{21185E6B-A0BB-49C3-AD9A-D384B252AE1F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6350" cap="flat" cmpd="sng" algn="ctr">
              <a:solidFill>
                <a:srgbClr val="00437A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품질관리 프로세스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4">
              <a:extLst>
                <a:ext uri="{FF2B5EF4-FFF2-40B4-BE49-F238E27FC236}">
                  <a16:creationId xmlns="" xmlns:a16="http://schemas.microsoft.com/office/drawing/2014/main" id="{D2409568-0805-4FA2-A65A-042B5E1EA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1"/>
              <a:ext cx="6594107" cy="44640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defTabSz="914400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="" xmlns:a16="http://schemas.microsoft.com/office/drawing/2014/main" id="{408703FC-F8F8-410C-A1EC-2DB393200318}"/>
              </a:ext>
            </a:extLst>
          </p:cNvPr>
          <p:cNvSpPr/>
          <p:nvPr/>
        </p:nvSpPr>
        <p:spPr bwMode="auto">
          <a:xfrm>
            <a:off x="416496" y="1988840"/>
            <a:ext cx="1966119" cy="320792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데이터 아키텍처 설계 원칙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4">
            <a:extLst>
              <a:ext uri="{FF2B5EF4-FFF2-40B4-BE49-F238E27FC236}">
                <a16:creationId xmlns="" xmlns:a16="http://schemas.microsoft.com/office/drawing/2014/main" id="{B538C675-C12A-4351-90DD-A2913959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496" y="2315979"/>
            <a:ext cx="1368152" cy="399274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marL="265113" lvl="0" indent="-265113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en-US" altLang="ko-KR" sz="1200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Rectangle 62">
            <a:extLst>
              <a:ext uri="{FF2B5EF4-FFF2-40B4-BE49-F238E27FC236}">
                <a16:creationId xmlns="" xmlns:a16="http://schemas.microsoft.com/office/drawing/2014/main" id="{D67817C8-3A7E-4C8F-B60A-1AAD9859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645484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관리조직</a:t>
            </a:r>
          </a:p>
        </p:txBody>
      </p:sp>
      <p:sp>
        <p:nvSpPr>
          <p:cNvPr id="35" name="Rectangle 62">
            <a:extLst>
              <a:ext uri="{FF2B5EF4-FFF2-40B4-BE49-F238E27FC236}">
                <a16:creationId xmlns="" xmlns:a16="http://schemas.microsoft.com/office/drawing/2014/main" id="{943FF63B-9357-458D-A896-7165342D8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93104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품질지표 관리</a:t>
            </a:r>
          </a:p>
        </p:txBody>
      </p:sp>
      <p:sp>
        <p:nvSpPr>
          <p:cNvPr id="59" name="Rectangle 62">
            <a:extLst>
              <a:ext uri="{FF2B5EF4-FFF2-40B4-BE49-F238E27FC236}">
                <a16:creationId xmlns="" xmlns:a16="http://schemas.microsoft.com/office/drawing/2014/main" id="{7D694B5F-C5CE-4A8A-A6D8-7CFAA146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75856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연계정보 관리</a:t>
            </a:r>
          </a:p>
        </p:txBody>
      </p:sp>
      <p:sp>
        <p:nvSpPr>
          <p:cNvPr id="61" name="Rectangle 62">
            <a:extLst>
              <a:ext uri="{FF2B5EF4-FFF2-40B4-BE49-F238E27FC236}">
                <a16:creationId xmlns="" xmlns:a16="http://schemas.microsoft.com/office/drawing/2014/main" id="{2322F7CA-2197-4E12-B138-E0690FB10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4040496"/>
            <a:ext cx="1584120" cy="478800"/>
          </a:xfrm>
          <a:prstGeom prst="rect">
            <a:avLst/>
          </a:prstGeom>
          <a:solidFill>
            <a:srgbClr val="508CD2"/>
          </a:solidFill>
          <a:ln w="9525" algn="ctr">
            <a:solidFill>
              <a:srgbClr val="508CD2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05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5" name="이등변 삼각형 4">
            <a:extLst>
              <a:ext uri="{FF2B5EF4-FFF2-40B4-BE49-F238E27FC236}">
                <a16:creationId xmlns="" xmlns:a16="http://schemas.microsoft.com/office/drawing/2014/main" id="{63CD5287-5CB8-41AF-883B-666B9D445D8B}"/>
              </a:ext>
            </a:extLst>
          </p:cNvPr>
          <p:cNvSpPr/>
          <p:nvPr/>
        </p:nvSpPr>
        <p:spPr>
          <a:xfrm rot="5400000">
            <a:off x="2126440" y="4160168"/>
            <a:ext cx="371770" cy="240790"/>
          </a:xfrm>
          <a:prstGeom prst="triangle">
            <a:avLst/>
          </a:prstGeom>
          <a:gradFill>
            <a:gsLst>
              <a:gs pos="100000">
                <a:schemeClr val="accent1">
                  <a:lumMod val="5000"/>
                  <a:lumOff val="95000"/>
                </a:schemeClr>
              </a:gs>
              <a:gs pos="80000">
                <a:srgbClr val="508CD2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endParaRPr kumimoji="1" lang="ko-KR" altLang="en-US" sz="105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62">
            <a:extLst>
              <a:ext uri="{FF2B5EF4-FFF2-40B4-BE49-F238E27FC236}">
                <a16:creationId xmlns="" xmlns:a16="http://schemas.microsoft.com/office/drawing/2014/main" id="{4554A362-00B3-4D83-A423-18E46D65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2367548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57" name="Rectangle 62">
            <a:extLst>
              <a:ext uri="{FF2B5EF4-FFF2-40B4-BE49-F238E27FC236}">
                <a16:creationId xmlns="" xmlns:a16="http://schemas.microsoft.com/office/drawing/2014/main" id="{A773A3D6-4058-41A1-8C6B-B2B617E3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482720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</a:p>
        </p:txBody>
      </p:sp>
      <p:sp>
        <p:nvSpPr>
          <p:cNvPr id="37" name="Rectangle 62">
            <a:extLst>
              <a:ext uri="{FF2B5EF4-FFF2-40B4-BE49-F238E27FC236}">
                <a16:creationId xmlns="" xmlns:a16="http://schemas.microsoft.com/office/drawing/2014/main" id="{923C4A4B-70BA-46DF-B767-198FB2EBF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512" y="3205736"/>
            <a:ext cx="1584120" cy="241200"/>
          </a:xfrm>
          <a:prstGeom prst="rect">
            <a:avLst/>
          </a:prstGeom>
          <a:solidFill>
            <a:srgbClr val="A6A6A6"/>
          </a:solidFill>
          <a:ln w="9525" algn="ctr">
            <a:solidFill>
              <a:srgbClr val="A6A6A6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9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E3A77B2C-42FA-4416-A45B-A5B31E65254A}"/>
              </a:ext>
            </a:extLst>
          </p:cNvPr>
          <p:cNvSpPr/>
          <p:nvPr/>
        </p:nvSpPr>
        <p:spPr bwMode="auto">
          <a:xfrm>
            <a:off x="2504727" y="1998112"/>
            <a:ext cx="4633623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데이터 품질관리 프로세스 구성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="" xmlns:a16="http://schemas.microsoft.com/office/drawing/2014/main" id="{3638363D-0701-4436-AAFA-F4BE59E2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727" y="2235216"/>
            <a:ext cx="4633623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="" xmlns:a16="http://schemas.microsoft.com/office/drawing/2014/main" id="{A8CC2F15-C15D-48AF-9F39-D40F9A1AD16C}"/>
              </a:ext>
            </a:extLst>
          </p:cNvPr>
          <p:cNvSpPr/>
          <p:nvPr/>
        </p:nvSpPr>
        <p:spPr bwMode="auto">
          <a:xfrm>
            <a:off x="7498334" y="1998112"/>
            <a:ext cx="1947830" cy="238630"/>
          </a:xfrm>
          <a:prstGeom prst="rect">
            <a:avLst/>
          </a:prstGeom>
          <a:solidFill>
            <a:srgbClr val="01458C"/>
          </a:solidFill>
          <a:ln w="9525" algn="ctr">
            <a:solidFill>
              <a:srgbClr val="01458C"/>
            </a:solidFill>
            <a:miter lim="800000"/>
            <a:headEnd/>
            <a:tailEnd/>
          </a:ln>
          <a:effectLst/>
        </p:spPr>
        <p:txBody>
          <a:bodyPr wrap="square" lIns="36000" tIns="0" rIns="36000" bIns="36000" anchor="ctr"/>
          <a:lstStyle/>
          <a:p>
            <a:pPr algn="ctr" eaLnBrk="0" fontAlgn="base" latinLnBrk="0" hangingPunct="0">
              <a:spcAft>
                <a:spcPct val="0"/>
              </a:spcAft>
            </a:pPr>
            <a:r>
              <a:rPr kumimoji="1" lang="ko-KR" altLang="en-US" sz="12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구성 방안</a:t>
            </a:r>
            <a:endParaRPr kumimoji="1" lang="en-US" altLang="ko-KR" sz="12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4">
            <a:extLst>
              <a:ext uri="{FF2B5EF4-FFF2-40B4-BE49-F238E27FC236}">
                <a16:creationId xmlns="" xmlns:a16="http://schemas.microsoft.com/office/drawing/2014/main" id="{7F80A425-9198-4813-AB40-A0EC21E02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8334" y="2235216"/>
            <a:ext cx="1947830" cy="407350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품질관리 프로세스는 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개의 프로세스 영역 별로 작성되며 데이터 품질관리 프로세스는 각 프로세스    영역을 통합한 통합         프로세스 문서로 작성됨</a:t>
            </a: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현행 각 기관의 업무 처리  방식 중 효율적인 업무     절차를 반영하여 작성함</a:t>
            </a:r>
          </a:p>
          <a:p>
            <a:pPr marL="182563" indent="-182563">
              <a:spcBef>
                <a:spcPts val="300"/>
              </a:spcBef>
              <a:buClr>
                <a:srgbClr val="000000"/>
              </a:buClr>
              <a:buFont typeface="Wingdings" pitchFamily="2" charset="2"/>
              <a:buChar char="q"/>
            </a:pP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품질관리 프로세스 수립 시 고려 사항</a:t>
            </a: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-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관리 요소의 기능 정의</a:t>
            </a: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-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프로세스 정의</a:t>
            </a: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-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프로세스 수행을 위한 시작   </a:t>
            </a:r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조건</a:t>
            </a: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출력조건 관련 시스템</a:t>
            </a: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-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프로세스 수행 조건</a:t>
            </a: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-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프로세스 수행 주체자의    </a:t>
            </a:r>
            <a:endParaRPr kumimoji="1" lang="en-US" altLang="ko-KR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spcBef>
                <a:spcPts val="300"/>
              </a:spcBef>
              <a:buClr>
                <a:srgbClr val="000000"/>
              </a:buClr>
            </a:pPr>
            <a:r>
              <a:rPr kumimoji="1"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kumimoji="1"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책임과 역할</a:t>
            </a:r>
          </a:p>
        </p:txBody>
      </p:sp>
      <p:grpSp>
        <p:nvGrpSpPr>
          <p:cNvPr id="7" name="그룹 44">
            <a:extLst>
              <a:ext uri="{FF2B5EF4-FFF2-40B4-BE49-F238E27FC236}">
                <a16:creationId xmlns="" xmlns:a16="http://schemas.microsoft.com/office/drawing/2014/main" id="{7F53E171-6BDA-478E-8092-564E5E58AF98}"/>
              </a:ext>
            </a:extLst>
          </p:cNvPr>
          <p:cNvGrpSpPr/>
          <p:nvPr/>
        </p:nvGrpSpPr>
        <p:grpSpPr>
          <a:xfrm rot="10800000" flipH="1">
            <a:off x="6969225" y="2643488"/>
            <a:ext cx="491902" cy="2901300"/>
            <a:chOff x="4781869" y="2101850"/>
            <a:chExt cx="671538" cy="3082852"/>
          </a:xfrm>
        </p:grpSpPr>
        <p:sp>
          <p:nvSpPr>
            <p:cNvPr id="46" name="이등변 삼각형 45">
              <a:extLst>
                <a:ext uri="{FF2B5EF4-FFF2-40B4-BE49-F238E27FC236}">
                  <a16:creationId xmlns="" xmlns:a16="http://schemas.microsoft.com/office/drawing/2014/main" id="{5F4EB45D-F342-4702-B7A0-147BBFFF8F47}"/>
                </a:ext>
              </a:extLst>
            </p:cNvPr>
            <p:cNvSpPr/>
            <p:nvPr/>
          </p:nvSpPr>
          <p:spPr bwMode="auto">
            <a:xfrm rot="5400000">
              <a:off x="3650665" y="3381960"/>
              <a:ext cx="3082852" cy="522632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tx1">
                    <a:lumMod val="50000"/>
                    <a:lumOff val="50000"/>
                    <a:alpha val="50000"/>
                  </a:schemeClr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7" name="이등변 삼각형 46">
              <a:extLst>
                <a:ext uri="{FF2B5EF4-FFF2-40B4-BE49-F238E27FC236}">
                  <a16:creationId xmlns="" xmlns:a16="http://schemas.microsoft.com/office/drawing/2014/main" id="{1290D817-BA18-44CC-9664-2AA1E7E5245F}"/>
                </a:ext>
              </a:extLst>
            </p:cNvPr>
            <p:cNvSpPr/>
            <p:nvPr/>
          </p:nvSpPr>
          <p:spPr bwMode="auto">
            <a:xfrm rot="5400000">
              <a:off x="3919084" y="3315388"/>
              <a:ext cx="2381346" cy="655776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96" name="Rectangle 40">
            <a:extLst>
              <a:ext uri="{FF2B5EF4-FFF2-40B4-BE49-F238E27FC236}">
                <a16:creationId xmlns="" xmlns:a16="http://schemas.microsoft.com/office/drawing/2014/main" id="{AF59DB5D-EBB4-417A-B966-B420AAFA2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7148" y="3717035"/>
            <a:ext cx="1297255" cy="718949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보안</a:t>
            </a:r>
          </a:p>
        </p:txBody>
      </p:sp>
      <p:sp>
        <p:nvSpPr>
          <p:cNvPr id="97" name="Rectangle 46">
            <a:extLst>
              <a:ext uri="{FF2B5EF4-FFF2-40B4-BE49-F238E27FC236}">
                <a16:creationId xmlns="" xmlns:a16="http://schemas.microsoft.com/office/drawing/2014/main" id="{39295972-ECD3-4E0F-B4EE-97622DFC3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8226" y="4464748"/>
            <a:ext cx="1297255" cy="329518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보안관리</a:t>
            </a:r>
          </a:p>
        </p:txBody>
      </p:sp>
      <p:sp>
        <p:nvSpPr>
          <p:cNvPr id="98" name="Rectangle 81">
            <a:extLst>
              <a:ext uri="{FF2B5EF4-FFF2-40B4-BE49-F238E27FC236}">
                <a16:creationId xmlns="" xmlns:a16="http://schemas.microsoft.com/office/drawing/2014/main" id="{C8A68150-750A-4A76-9B00-D95B0A451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5080" y="3717035"/>
            <a:ext cx="258879" cy="2869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Rectangle 84">
            <a:extLst>
              <a:ext uri="{FF2B5EF4-FFF2-40B4-BE49-F238E27FC236}">
                <a16:creationId xmlns="" xmlns:a16="http://schemas.microsoft.com/office/drawing/2014/main" id="{662800B4-3583-420A-A393-CC66D7643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1837" y="3717035"/>
            <a:ext cx="258879" cy="2869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Rectangle 101">
            <a:extLst>
              <a:ext uri="{FF2B5EF4-FFF2-40B4-BE49-F238E27FC236}">
                <a16:creationId xmlns="" xmlns:a16="http://schemas.microsoft.com/office/drawing/2014/main" id="{1D0BA83A-1B92-4F5E-A437-4AAD5B490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080" y="3726495"/>
            <a:ext cx="434802" cy="14189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Rectangle 24">
            <a:extLst>
              <a:ext uri="{FF2B5EF4-FFF2-40B4-BE49-F238E27FC236}">
                <a16:creationId xmlns="" xmlns:a16="http://schemas.microsoft.com/office/drawing/2014/main" id="{148634E8-177B-42D8-A07E-83BA6E94B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6974" y="2348880"/>
            <a:ext cx="1298682" cy="720725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교환</a:t>
            </a:r>
          </a:p>
        </p:txBody>
      </p:sp>
      <p:sp>
        <p:nvSpPr>
          <p:cNvPr id="102" name="Rectangle 31">
            <a:extLst>
              <a:ext uri="{FF2B5EF4-FFF2-40B4-BE49-F238E27FC236}">
                <a16:creationId xmlns="" xmlns:a16="http://schemas.microsoft.com/office/drawing/2014/main" id="{AB4962AF-30EC-4968-BA99-F715A68C3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6974" y="3099771"/>
            <a:ext cx="1298682" cy="331788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데이터연계관리</a:t>
            </a:r>
          </a:p>
        </p:txBody>
      </p:sp>
      <p:sp>
        <p:nvSpPr>
          <p:cNvPr id="103" name="Rectangle 20">
            <a:extLst>
              <a:ext uri="{FF2B5EF4-FFF2-40B4-BE49-F238E27FC236}">
                <a16:creationId xmlns="" xmlns:a16="http://schemas.microsoft.com/office/drawing/2014/main" id="{F0183709-2D22-48D5-B17E-BA8D92CEA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5258" y="2348880"/>
            <a:ext cx="1298681" cy="719471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구조</a:t>
            </a:r>
          </a:p>
        </p:txBody>
      </p:sp>
      <p:sp>
        <p:nvSpPr>
          <p:cNvPr id="104" name="Rectangle 30">
            <a:extLst>
              <a:ext uri="{FF2B5EF4-FFF2-40B4-BE49-F238E27FC236}">
                <a16:creationId xmlns="" xmlns:a16="http://schemas.microsoft.com/office/drawing/2014/main" id="{1EBF9465-8B14-4E49-B80F-9ECD5B986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5258" y="3099771"/>
            <a:ext cx="1298681" cy="31993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데이터구조관리</a:t>
            </a:r>
          </a:p>
        </p:txBody>
      </p:sp>
      <p:sp>
        <p:nvSpPr>
          <p:cNvPr id="105" name="Rectangle 85">
            <a:extLst>
              <a:ext uri="{FF2B5EF4-FFF2-40B4-BE49-F238E27FC236}">
                <a16:creationId xmlns="" xmlns:a16="http://schemas.microsoft.com/office/drawing/2014/main" id="{522C75F7-73DE-4B0E-8A61-B0AB081E0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0046" y="3137301"/>
            <a:ext cx="259161" cy="27860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Rectangle 26">
            <a:extLst>
              <a:ext uri="{FF2B5EF4-FFF2-40B4-BE49-F238E27FC236}">
                <a16:creationId xmlns="" xmlns:a16="http://schemas.microsoft.com/office/drawing/2014/main" id="{4D3E45E6-1EFB-4282-AA94-CBA269D3C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6102" y="3717035"/>
            <a:ext cx="1297730" cy="723900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베이스</a:t>
            </a:r>
          </a:p>
        </p:txBody>
      </p:sp>
      <p:sp>
        <p:nvSpPr>
          <p:cNvPr id="107" name="Rectangle 33">
            <a:extLst>
              <a:ext uri="{FF2B5EF4-FFF2-40B4-BE49-F238E27FC236}">
                <a16:creationId xmlns="" xmlns:a16="http://schemas.microsoft.com/office/drawing/2014/main" id="{95244983-1F3C-4AAB-8CED-309CD67B3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5383" y="4464748"/>
            <a:ext cx="1297730" cy="331788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데이터베이스관리</a:t>
            </a:r>
          </a:p>
        </p:txBody>
      </p:sp>
      <p:sp>
        <p:nvSpPr>
          <p:cNvPr id="108" name="Rectangle 19">
            <a:extLst>
              <a:ext uri="{FF2B5EF4-FFF2-40B4-BE49-F238E27FC236}">
                <a16:creationId xmlns="" xmlns:a16="http://schemas.microsoft.com/office/drawing/2014/main" id="{5062ED35-82DC-47AA-8B5C-D5658BA8B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514" y="2348880"/>
            <a:ext cx="1298681" cy="719471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표준</a:t>
            </a:r>
          </a:p>
        </p:txBody>
      </p:sp>
      <p:sp>
        <p:nvSpPr>
          <p:cNvPr id="109" name="Rectangle 29">
            <a:extLst>
              <a:ext uri="{FF2B5EF4-FFF2-40B4-BE49-F238E27FC236}">
                <a16:creationId xmlns="" xmlns:a16="http://schemas.microsoft.com/office/drawing/2014/main" id="{F5D8B141-CF81-4364-85BC-C0D5658DE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514" y="3099771"/>
            <a:ext cx="1298681" cy="31993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데이터표준관리</a:t>
            </a:r>
          </a:p>
        </p:txBody>
      </p:sp>
      <p:sp>
        <p:nvSpPr>
          <p:cNvPr id="110" name="Rectangle 89">
            <a:extLst>
              <a:ext uri="{FF2B5EF4-FFF2-40B4-BE49-F238E27FC236}">
                <a16:creationId xmlns="" xmlns:a16="http://schemas.microsoft.com/office/drawing/2014/main" id="{F8728496-B83E-4C9E-8988-CFBDEC76A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262" y="3138087"/>
            <a:ext cx="259161" cy="27860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Rectangle 25">
            <a:extLst>
              <a:ext uri="{FF2B5EF4-FFF2-40B4-BE49-F238E27FC236}">
                <a16:creationId xmlns="" xmlns:a16="http://schemas.microsoft.com/office/drawing/2014/main" id="{CAEF822E-A93B-48DA-952B-D3C1F7E46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024" y="3717035"/>
            <a:ext cx="1298682" cy="718949"/>
          </a:xfrm>
          <a:prstGeom prst="flowChartOffpageConnector">
            <a:avLst/>
          </a:prstGeom>
          <a:solidFill>
            <a:sysClr val="window" lastClr="FFFFFF"/>
          </a:solidFill>
          <a:ln w="3175" algn="ctr">
            <a:solidFill>
              <a:sysClr val="window" lastClr="FFFFFF">
                <a:lumMod val="50000"/>
              </a:sys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 품질</a:t>
            </a:r>
          </a:p>
        </p:txBody>
      </p:sp>
      <p:sp>
        <p:nvSpPr>
          <p:cNvPr id="112" name="Rectangle 32">
            <a:extLst>
              <a:ext uri="{FF2B5EF4-FFF2-40B4-BE49-F238E27FC236}">
                <a16:creationId xmlns="" xmlns:a16="http://schemas.microsoft.com/office/drawing/2014/main" id="{7F99EFBB-C12F-45A2-A396-9B49B76FB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024" y="4464748"/>
            <a:ext cx="1298682" cy="329518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BABABA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144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-5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데이터품질관리</a:t>
            </a:r>
          </a:p>
        </p:txBody>
      </p:sp>
      <p:sp>
        <p:nvSpPr>
          <p:cNvPr id="113" name="Rectangle 79">
            <a:extLst>
              <a:ext uri="{FF2B5EF4-FFF2-40B4-BE49-F238E27FC236}">
                <a16:creationId xmlns="" xmlns:a16="http://schemas.microsoft.com/office/drawing/2014/main" id="{88709C8E-B922-4E38-A7D1-44A7009AB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512" y="3717035"/>
            <a:ext cx="231359" cy="2869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Rectangle 86">
            <a:extLst>
              <a:ext uri="{FF2B5EF4-FFF2-40B4-BE49-F238E27FC236}">
                <a16:creationId xmlns="" xmlns:a16="http://schemas.microsoft.com/office/drawing/2014/main" id="{67CA1F8E-DDF7-4773-9418-E3084F9A0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0325" y="3724972"/>
            <a:ext cx="231359" cy="2869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Rectangle 87">
            <a:extLst>
              <a:ext uri="{FF2B5EF4-FFF2-40B4-BE49-F238E27FC236}">
                <a16:creationId xmlns="" xmlns:a16="http://schemas.microsoft.com/office/drawing/2014/main" id="{8F3CED89-5D7B-4654-9453-258EF02EC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5844" y="3722591"/>
            <a:ext cx="231359" cy="2869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AutoShape 62">
            <a:extLst>
              <a:ext uri="{FF2B5EF4-FFF2-40B4-BE49-F238E27FC236}">
                <a16:creationId xmlns="" xmlns:a16="http://schemas.microsoft.com/office/drawing/2014/main" id="{E6517967-DEE0-48F1-9E0A-6F4526649EAF}"/>
              </a:ext>
            </a:extLst>
          </p:cNvPr>
          <p:cNvCxnSpPr>
            <a:cxnSpLocks noChangeShapeType="1"/>
            <a:stCxn id="114" idx="0"/>
            <a:endCxn id="104" idx="2"/>
          </p:cNvCxnSpPr>
          <p:nvPr/>
        </p:nvCxnSpPr>
        <p:spPr bwMode="auto">
          <a:xfrm rot="5400000" flipH="1" flipV="1">
            <a:off x="3932669" y="2863042"/>
            <a:ext cx="305266" cy="1418594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" lastClr="FFFFFF">
                <a:lumMod val="50000"/>
              </a:sysClr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7" name="AutoShape 64">
            <a:extLst>
              <a:ext uri="{FF2B5EF4-FFF2-40B4-BE49-F238E27FC236}">
                <a16:creationId xmlns="" xmlns:a16="http://schemas.microsoft.com/office/drawing/2014/main" id="{B612052A-757B-43E3-B32E-F9EB4C3C8174}"/>
              </a:ext>
            </a:extLst>
          </p:cNvPr>
          <p:cNvCxnSpPr>
            <a:cxnSpLocks noChangeShapeType="1"/>
            <a:stCxn id="115" idx="0"/>
            <a:endCxn id="102" idx="2"/>
          </p:cNvCxnSpPr>
          <p:nvPr/>
        </p:nvCxnSpPr>
        <p:spPr bwMode="auto">
          <a:xfrm rot="5400000" flipH="1" flipV="1">
            <a:off x="4803403" y="2179680"/>
            <a:ext cx="291032" cy="2794791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" lastClr="FFFFFF">
                <a:lumMod val="50000"/>
              </a:sysClr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8" name="AutoShape 68">
            <a:extLst>
              <a:ext uri="{FF2B5EF4-FFF2-40B4-BE49-F238E27FC236}">
                <a16:creationId xmlns="" xmlns:a16="http://schemas.microsoft.com/office/drawing/2014/main" id="{AF2C76A5-DD2A-42E2-B9C0-45AC7F36FBCA}"/>
              </a:ext>
            </a:extLst>
          </p:cNvPr>
          <p:cNvCxnSpPr>
            <a:cxnSpLocks noChangeShapeType="1"/>
          </p:cNvCxnSpPr>
          <p:nvPr/>
        </p:nvCxnSpPr>
        <p:spPr bwMode="auto">
          <a:xfrm rot="16200000" flipH="1">
            <a:off x="5473781" y="2944244"/>
            <a:ext cx="273755" cy="1232261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" lastClr="FFFFFF">
                <a:lumMod val="50000"/>
              </a:sysClr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9" name="AutoShape 88">
            <a:extLst>
              <a:ext uri="{FF2B5EF4-FFF2-40B4-BE49-F238E27FC236}">
                <a16:creationId xmlns="" xmlns:a16="http://schemas.microsoft.com/office/drawing/2014/main" id="{580AAC3B-8676-4674-92EC-5E0A7CB84AA3}"/>
              </a:ext>
            </a:extLst>
          </p:cNvPr>
          <p:cNvCxnSpPr>
            <a:cxnSpLocks noChangeShapeType="1"/>
            <a:stCxn id="111" idx="0"/>
            <a:endCxn id="109" idx="2"/>
          </p:cNvCxnSpPr>
          <p:nvPr/>
        </p:nvCxnSpPr>
        <p:spPr bwMode="auto">
          <a:xfrm flipV="1">
            <a:off x="3244365" y="3419706"/>
            <a:ext cx="2490" cy="297329"/>
          </a:xfrm>
          <a:prstGeom prst="straightConnector1">
            <a:avLst/>
          </a:prstGeom>
          <a:noFill/>
          <a:ln w="3175">
            <a:solidFill>
              <a:sysClr val="window" lastClr="FFFFFF">
                <a:lumMod val="50000"/>
              </a:sysClr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0" name="AutoShape 64">
            <a:extLst>
              <a:ext uri="{FF2B5EF4-FFF2-40B4-BE49-F238E27FC236}">
                <a16:creationId xmlns="" xmlns:a16="http://schemas.microsoft.com/office/drawing/2014/main" id="{6A4842B8-966A-4EF9-8F3A-A8864B7A2941}"/>
              </a:ext>
            </a:extLst>
          </p:cNvPr>
          <p:cNvCxnSpPr>
            <a:cxnSpLocks noChangeShapeType="1"/>
          </p:cNvCxnSpPr>
          <p:nvPr/>
        </p:nvCxnSpPr>
        <p:spPr bwMode="auto">
          <a:xfrm rot="16200000" flipH="1">
            <a:off x="4693513" y="1966274"/>
            <a:ext cx="309804" cy="3210638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ysClr val="window" lastClr="FFFFFF">
                <a:lumMod val="50000"/>
              </a:sysClr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1" name="AutoShape 65">
            <a:extLst>
              <a:ext uri="{FF2B5EF4-FFF2-40B4-BE49-F238E27FC236}">
                <a16:creationId xmlns="" xmlns:a16="http://schemas.microsoft.com/office/drawing/2014/main" id="{474CE479-B256-4708-8C80-118028FE9E1A}"/>
              </a:ext>
            </a:extLst>
          </p:cNvPr>
          <p:cNvCxnSpPr>
            <a:cxnSpLocks noChangeShapeType="1"/>
            <a:stCxn id="106" idx="3"/>
            <a:endCxn id="96" idx="1"/>
          </p:cNvCxnSpPr>
          <p:nvPr/>
        </p:nvCxnSpPr>
        <p:spPr bwMode="auto">
          <a:xfrm flipV="1">
            <a:off x="5443832" y="4076510"/>
            <a:ext cx="253316" cy="2475"/>
          </a:xfrm>
          <a:prstGeom prst="straightConnector1">
            <a:avLst/>
          </a:prstGeom>
          <a:noFill/>
          <a:ln w="3175">
            <a:solidFill>
              <a:sysClr val="window" lastClr="FFFFFF">
                <a:lumMod val="50000"/>
              </a:sysClr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2" name="AutoShape 58">
            <a:extLst>
              <a:ext uri="{FF2B5EF4-FFF2-40B4-BE49-F238E27FC236}">
                <a16:creationId xmlns="" xmlns:a16="http://schemas.microsoft.com/office/drawing/2014/main" id="{929BF755-77CD-403D-939F-74AA4429B27C}"/>
              </a:ext>
            </a:extLst>
          </p:cNvPr>
          <p:cNvCxnSpPr>
            <a:cxnSpLocks noChangeShapeType="1"/>
            <a:stCxn id="108" idx="3"/>
            <a:endCxn id="103" idx="1"/>
          </p:cNvCxnSpPr>
          <p:nvPr/>
        </p:nvCxnSpPr>
        <p:spPr bwMode="auto">
          <a:xfrm>
            <a:off x="3896195" y="2708616"/>
            <a:ext cx="249063" cy="0"/>
          </a:xfrm>
          <a:prstGeom prst="straightConnector1">
            <a:avLst/>
          </a:prstGeom>
          <a:noFill/>
          <a:ln w="9525">
            <a:solidFill>
              <a:sysClr val="window" lastClr="FFFFFF">
                <a:lumMod val="50000"/>
              </a:sysClr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3" name="AutoShape 59">
            <a:extLst>
              <a:ext uri="{FF2B5EF4-FFF2-40B4-BE49-F238E27FC236}">
                <a16:creationId xmlns="" xmlns:a16="http://schemas.microsoft.com/office/drawing/2014/main" id="{F5D5A393-C1C9-408E-9032-817C36D6179D}"/>
              </a:ext>
            </a:extLst>
          </p:cNvPr>
          <p:cNvCxnSpPr>
            <a:cxnSpLocks noChangeShapeType="1"/>
            <a:stCxn id="103" idx="3"/>
            <a:endCxn id="101" idx="1"/>
          </p:cNvCxnSpPr>
          <p:nvPr/>
        </p:nvCxnSpPr>
        <p:spPr bwMode="auto">
          <a:xfrm>
            <a:off x="5443939" y="2708616"/>
            <a:ext cx="253035" cy="627"/>
          </a:xfrm>
          <a:prstGeom prst="straightConnector1">
            <a:avLst/>
          </a:prstGeom>
          <a:noFill/>
          <a:ln w="9525">
            <a:solidFill>
              <a:sysClr val="window" lastClr="FFFFFF">
                <a:lumMod val="50000"/>
              </a:sysClr>
            </a:solidFill>
            <a:round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1" name="Rectangle 15">
            <a:extLst>
              <a:ext uri="{FF2B5EF4-FFF2-40B4-BE49-F238E27FC236}">
                <a16:creationId xmlns="" xmlns:a16="http://schemas.microsoft.com/office/drawing/2014/main" id="{E0CB96C6-D0B1-4C69-9DA6-41FE0D7AC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2024" y="5391973"/>
            <a:ext cx="4131216" cy="871560"/>
          </a:xfrm>
          <a:prstGeom prst="rect">
            <a:avLst/>
          </a:prstGeom>
          <a:noFill/>
          <a:ln w="3175" algn="ctr">
            <a:solidFill>
              <a:schemeClr val="bg1">
                <a:lumMod val="50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buFontTx/>
              <a:buNone/>
            </a:pP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2" name="Rectangle 32">
            <a:extLst>
              <a:ext uri="{FF2B5EF4-FFF2-40B4-BE49-F238E27FC236}">
                <a16:creationId xmlns="" xmlns:a16="http://schemas.microsoft.com/office/drawing/2014/main" id="{2CB18252-588C-4752-AC87-22CDD0FE1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2024" y="5274538"/>
            <a:ext cx="4131216" cy="265827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>
              <a:buFontTx/>
              <a:buNone/>
            </a:pPr>
            <a:r>
              <a:rPr lang="en-US" altLang="ko-KR" sz="7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ETVX </a:t>
            </a:r>
            <a:r>
              <a:rPr lang="ko-KR" altLang="en-US" sz="7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모델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="" xmlns:a16="http://schemas.microsoft.com/office/drawing/2014/main" id="{8BC0C631-3E33-4564-AE1B-8955710F5E37}"/>
              </a:ext>
            </a:extLst>
          </p:cNvPr>
          <p:cNvSpPr/>
          <p:nvPr/>
        </p:nvSpPr>
        <p:spPr>
          <a:xfrm>
            <a:off x="5601072" y="5389185"/>
            <a:ext cx="1390124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FontTx/>
              <a:buNone/>
            </a:pPr>
            <a:r>
              <a:rPr lang="en-US" altLang="ko-KR" sz="700" b="0" i="1" dirty="0">
                <a:latin typeface="맑은 고딕" pitchFamily="50" charset="-127"/>
                <a:ea typeface="맑은 고딕" pitchFamily="50" charset="-127"/>
              </a:rPr>
              <a:t>(Entry, Task, Verification, eXit)</a:t>
            </a:r>
            <a:endParaRPr lang="ko-KR" altLang="en-US" sz="700" b="0" i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4" name="Rectangle 19">
            <a:extLst>
              <a:ext uri="{FF2B5EF4-FFF2-40B4-BE49-F238E27FC236}">
                <a16:creationId xmlns="" xmlns:a16="http://schemas.microsoft.com/office/drawing/2014/main" id="{8D140822-A821-4274-A61D-CF208B7F1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2201" y="5759477"/>
            <a:ext cx="435419" cy="397658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시작 조건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(Entry)</a:t>
            </a:r>
            <a:endParaRPr lang="ko-KR" altLang="en-US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AutoShape 56">
            <a:extLst>
              <a:ext uri="{FF2B5EF4-FFF2-40B4-BE49-F238E27FC236}">
                <a16:creationId xmlns="" xmlns:a16="http://schemas.microsoft.com/office/drawing/2014/main" id="{E669F62B-05FD-48EC-A794-ACC7221E27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04313" y="5013176"/>
            <a:ext cx="3094941" cy="243860"/>
          </a:xfrm>
          <a:prstGeom prst="triangle">
            <a:avLst>
              <a:gd name="adj" fmla="val 49530"/>
            </a:avLst>
          </a:prstGeom>
          <a:solidFill>
            <a:schemeClr val="bg1">
              <a:lumMod val="85000"/>
            </a:schemeClr>
          </a:solidFill>
          <a:ln w="38100" algn="ctr">
            <a:noFill/>
            <a:miter lim="800000"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9pPr>
          </a:lstStyle>
          <a:p>
            <a:pPr algn="ctr">
              <a:buFontTx/>
              <a:buNone/>
              <a:defRPr/>
            </a:pPr>
            <a:endParaRPr lang="ko-KR" altLang="en-US" sz="7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="" xmlns:a16="http://schemas.microsoft.com/office/drawing/2014/main" id="{9EDD5493-CF48-45EB-8F01-6D07F1F6B6B7}"/>
              </a:ext>
            </a:extLst>
          </p:cNvPr>
          <p:cNvSpPr/>
          <p:nvPr/>
        </p:nvSpPr>
        <p:spPr>
          <a:xfrm>
            <a:off x="4302731" y="5039398"/>
            <a:ext cx="1507144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buFontTx/>
              <a:buNone/>
            </a:pP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ETVX </a:t>
            </a: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모델 구조로 프로세스 작성</a:t>
            </a:r>
          </a:p>
        </p:txBody>
      </p:sp>
      <p:sp>
        <p:nvSpPr>
          <p:cNvPr id="137" name="Rectangle 19">
            <a:extLst>
              <a:ext uri="{FF2B5EF4-FFF2-40B4-BE49-F238E27FC236}">
                <a16:creationId xmlns="" xmlns:a16="http://schemas.microsoft.com/office/drawing/2014/main" id="{249D98E6-9F7E-482D-B382-1F433421E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223" y="5759477"/>
            <a:ext cx="435419" cy="397658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작업 절차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(Task)</a:t>
            </a:r>
            <a:endParaRPr lang="ko-KR" altLang="en-US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8" name="Rectangle 19">
            <a:extLst>
              <a:ext uri="{FF2B5EF4-FFF2-40B4-BE49-F238E27FC236}">
                <a16:creationId xmlns="" xmlns:a16="http://schemas.microsoft.com/office/drawing/2014/main" id="{78307834-2E77-4F59-9AFC-F9533299F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245" y="5759477"/>
            <a:ext cx="504786" cy="397658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확인 검증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(Verification)</a:t>
            </a:r>
            <a:endParaRPr lang="ko-KR" altLang="en-US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Rectangle 19">
            <a:extLst>
              <a:ext uri="{FF2B5EF4-FFF2-40B4-BE49-F238E27FC236}">
                <a16:creationId xmlns="" xmlns:a16="http://schemas.microsoft.com/office/drawing/2014/main" id="{F5AD79A3-7038-4418-9F79-4F70EB7AB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0634" y="5759477"/>
            <a:ext cx="504786" cy="397658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종료 조건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(eXit)</a:t>
            </a:r>
            <a:endParaRPr lang="ko-KR" altLang="en-US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40" name="직선 화살표 연결선 139">
            <a:extLst>
              <a:ext uri="{FF2B5EF4-FFF2-40B4-BE49-F238E27FC236}">
                <a16:creationId xmlns="" xmlns:a16="http://schemas.microsoft.com/office/drawing/2014/main" id="{872CEE4B-DD33-42D8-88E6-150D7D760E3C}"/>
              </a:ext>
            </a:extLst>
          </p:cNvPr>
          <p:cNvCxnSpPr>
            <a:stCxn id="134" idx="3"/>
            <a:endCxn id="137" idx="1"/>
          </p:cNvCxnSpPr>
          <p:nvPr/>
        </p:nvCxnSpPr>
        <p:spPr bwMode="auto">
          <a:xfrm>
            <a:off x="4317620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41" name="직선 화살표 연결선 140">
            <a:extLst>
              <a:ext uri="{FF2B5EF4-FFF2-40B4-BE49-F238E27FC236}">
                <a16:creationId xmlns="" xmlns:a16="http://schemas.microsoft.com/office/drawing/2014/main" id="{0FAF7961-1920-4E3C-BF25-D20D101EDEBC}"/>
              </a:ext>
            </a:extLst>
          </p:cNvPr>
          <p:cNvCxnSpPr>
            <a:stCxn id="137" idx="3"/>
            <a:endCxn id="138" idx="1"/>
          </p:cNvCxnSpPr>
          <p:nvPr/>
        </p:nvCxnSpPr>
        <p:spPr bwMode="auto">
          <a:xfrm>
            <a:off x="4880642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42" name="직선 화살표 연결선 141">
            <a:extLst>
              <a:ext uri="{FF2B5EF4-FFF2-40B4-BE49-F238E27FC236}">
                <a16:creationId xmlns="" xmlns:a16="http://schemas.microsoft.com/office/drawing/2014/main" id="{115156B9-2B7E-4B59-B526-59A8C9A959FC}"/>
              </a:ext>
            </a:extLst>
          </p:cNvPr>
          <p:cNvCxnSpPr>
            <a:stCxn id="138" idx="3"/>
            <a:endCxn id="139" idx="1"/>
          </p:cNvCxnSpPr>
          <p:nvPr/>
        </p:nvCxnSpPr>
        <p:spPr bwMode="auto">
          <a:xfrm>
            <a:off x="5513031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3" name="Rectangle 19">
            <a:extLst>
              <a:ext uri="{FF2B5EF4-FFF2-40B4-BE49-F238E27FC236}">
                <a16:creationId xmlns="" xmlns:a16="http://schemas.microsoft.com/office/drawing/2014/main" id="{4623EE77-6B83-4D9E-8860-E039C734F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3156" y="5759477"/>
            <a:ext cx="305668" cy="39765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목적</a:t>
            </a:r>
          </a:p>
        </p:txBody>
      </p:sp>
      <p:sp>
        <p:nvSpPr>
          <p:cNvPr id="144" name="Rectangle 19">
            <a:extLst>
              <a:ext uri="{FF2B5EF4-FFF2-40B4-BE49-F238E27FC236}">
                <a16:creationId xmlns="" xmlns:a16="http://schemas.microsoft.com/office/drawing/2014/main" id="{3B5B7C27-3EE0-4F45-9A39-FB7C1BAC7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6427" y="5759477"/>
            <a:ext cx="258171" cy="39765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책임과</a:t>
            </a:r>
            <a: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역할</a:t>
            </a:r>
          </a:p>
        </p:txBody>
      </p:sp>
      <p:sp>
        <p:nvSpPr>
          <p:cNvPr id="145" name="Rectangle 19">
            <a:extLst>
              <a:ext uri="{FF2B5EF4-FFF2-40B4-BE49-F238E27FC236}">
                <a16:creationId xmlns="" xmlns:a16="http://schemas.microsoft.com/office/drawing/2014/main" id="{B7E913CA-AFF4-4256-BD92-4272BE4CD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3023" y="5759477"/>
            <a:ext cx="352573" cy="39765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측정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분석</a:t>
            </a:r>
          </a:p>
        </p:txBody>
      </p:sp>
      <p:cxnSp>
        <p:nvCxnSpPr>
          <p:cNvPr id="146" name="직선 화살표 연결선 145">
            <a:extLst>
              <a:ext uri="{FF2B5EF4-FFF2-40B4-BE49-F238E27FC236}">
                <a16:creationId xmlns="" xmlns:a16="http://schemas.microsoft.com/office/drawing/2014/main" id="{1B0710D1-46EA-4602-AA62-7AE7659FB2FD}"/>
              </a:ext>
            </a:extLst>
          </p:cNvPr>
          <p:cNvCxnSpPr>
            <a:stCxn id="143" idx="3"/>
            <a:endCxn id="144" idx="1"/>
          </p:cNvCxnSpPr>
          <p:nvPr/>
        </p:nvCxnSpPr>
        <p:spPr bwMode="auto">
          <a:xfrm>
            <a:off x="3368824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47" name="직선 화살표 연결선 146">
            <a:extLst>
              <a:ext uri="{FF2B5EF4-FFF2-40B4-BE49-F238E27FC236}">
                <a16:creationId xmlns="" xmlns:a16="http://schemas.microsoft.com/office/drawing/2014/main" id="{874491E5-6753-4E46-BCC8-215FEFED0A30}"/>
              </a:ext>
            </a:extLst>
          </p:cNvPr>
          <p:cNvCxnSpPr>
            <a:cxnSpLocks/>
            <a:stCxn id="144" idx="3"/>
            <a:endCxn id="134" idx="1"/>
          </p:cNvCxnSpPr>
          <p:nvPr/>
        </p:nvCxnSpPr>
        <p:spPr bwMode="auto">
          <a:xfrm>
            <a:off x="3754598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48" name="직선 화살표 연결선 147">
            <a:extLst>
              <a:ext uri="{FF2B5EF4-FFF2-40B4-BE49-F238E27FC236}">
                <a16:creationId xmlns="" xmlns:a16="http://schemas.microsoft.com/office/drawing/2014/main" id="{E4E146AD-9F7A-4ACD-B77E-3BF497989E06}"/>
              </a:ext>
            </a:extLst>
          </p:cNvPr>
          <p:cNvCxnSpPr>
            <a:stCxn id="139" idx="3"/>
            <a:endCxn id="145" idx="1"/>
          </p:cNvCxnSpPr>
          <p:nvPr/>
        </p:nvCxnSpPr>
        <p:spPr bwMode="auto">
          <a:xfrm>
            <a:off x="6145420" y="5958306"/>
            <a:ext cx="127603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9" name="Rectangle 19">
            <a:extLst>
              <a:ext uri="{FF2B5EF4-FFF2-40B4-BE49-F238E27FC236}">
                <a16:creationId xmlns="" xmlns:a16="http://schemas.microsoft.com/office/drawing/2014/main" id="{7AB083B7-CB2F-45F9-A2B2-1E9E8CBD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200" y="5759477"/>
            <a:ext cx="352573" cy="39765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관련</a:t>
            </a:r>
            <a:endParaRPr lang="en-US" altLang="ko-KR" sz="700" b="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  <a:spcBef>
                <a:spcPts val="0"/>
              </a:spcBef>
              <a:buFontTx/>
              <a:buNone/>
            </a:pPr>
            <a:r>
              <a:rPr lang="ko-KR" altLang="en-US" sz="700" b="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문서</a:t>
            </a:r>
          </a:p>
        </p:txBody>
      </p:sp>
      <p:cxnSp>
        <p:nvCxnSpPr>
          <p:cNvPr id="150" name="직선 화살표 연결선 149">
            <a:extLst>
              <a:ext uri="{FF2B5EF4-FFF2-40B4-BE49-F238E27FC236}">
                <a16:creationId xmlns="" xmlns:a16="http://schemas.microsoft.com/office/drawing/2014/main" id="{52E43D6E-FAD4-4362-B037-4D14E1941E73}"/>
              </a:ext>
            </a:extLst>
          </p:cNvPr>
          <p:cNvCxnSpPr>
            <a:stCxn id="145" idx="3"/>
            <a:endCxn id="149" idx="1"/>
          </p:cNvCxnSpPr>
          <p:nvPr/>
        </p:nvCxnSpPr>
        <p:spPr bwMode="auto">
          <a:xfrm>
            <a:off x="6625596" y="5958306"/>
            <a:ext cx="127604" cy="0"/>
          </a:xfrm>
          <a:prstGeom prst="straightConnector1">
            <a:avLst/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51" name="Rectangle 21">
            <a:extLst>
              <a:ext uri="{FF2B5EF4-FFF2-40B4-BE49-F238E27FC236}">
                <a16:creationId xmlns="" xmlns:a16="http://schemas.microsoft.com/office/drawing/2014/main" id="{5257AFEA-6C16-480A-93F3-1E286920D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7048" y="5301208"/>
            <a:ext cx="471736" cy="962747"/>
          </a:xfrm>
          <a:prstGeom prst="homePlate">
            <a:avLst>
              <a:gd name="adj" fmla="val 28170"/>
            </a:avLst>
          </a:prstGeom>
          <a:solidFill>
            <a:schemeClr val="bg1">
              <a:lumMod val="75000"/>
            </a:schemeClr>
          </a:solidFill>
          <a:ln w="3175" algn="ctr">
            <a:solidFill>
              <a:schemeClr val="bg1">
                <a:lumMod val="50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buFontTx/>
              <a:buNone/>
            </a:pPr>
            <a:r>
              <a:rPr lang="ko-KR" altLang="en-US" sz="700" dirty="0">
                <a:latin typeface="맑은 고딕" pitchFamily="50" charset="-127"/>
                <a:ea typeface="맑은 고딕" pitchFamily="50" charset="-127"/>
              </a:rPr>
              <a:t>프로세스</a:t>
            </a:r>
            <a:r>
              <a:rPr lang="en-US" altLang="ko-KR" sz="7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70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700" dirty="0">
                <a:latin typeface="맑은 고딕" pitchFamily="50" charset="-127"/>
                <a:ea typeface="맑은 고딕" pitchFamily="50" charset="-127"/>
              </a:rPr>
              <a:t>모델</a:t>
            </a:r>
          </a:p>
        </p:txBody>
      </p:sp>
    </p:spTree>
    <p:extLst>
      <p:ext uri="{BB962C8B-B14F-4D97-AF65-F5344CB8AC3E}">
        <p14:creationId xmlns:p14="http://schemas.microsoft.com/office/powerpoint/2010/main" val="208491975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5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7" name="직사각형 46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과제개요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endParaRPr>
            </a:p>
          </p:txBody>
        </p:sp>
        <p:sp>
          <p:nvSpPr>
            <p:cNvPr id="48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+mn-ea"/>
              </a:endParaRPr>
            </a:p>
          </p:txBody>
        </p:sp>
      </p:grpSp>
      <p:grpSp>
        <p:nvGrpSpPr>
          <p:cNvPr id="6" name="그룹 4"/>
          <p:cNvGrpSpPr/>
          <p:nvPr/>
        </p:nvGrpSpPr>
        <p:grpSpPr>
          <a:xfrm>
            <a:off x="2463951" y="1975288"/>
            <a:ext cx="7026124" cy="4248000"/>
            <a:chOff x="2463951" y="1975288"/>
            <a:chExt cx="6893089" cy="4345672"/>
          </a:xfrm>
        </p:grpSpPr>
        <p:sp>
          <p:nvSpPr>
            <p:cNvPr id="8" name="자유형: 도형 7">
              <a:extLst>
                <a:ext uri="{FF2B5EF4-FFF2-40B4-BE49-F238E27FC236}">
                  <a16:creationId xmlns="" xmlns:a16="http://schemas.microsoft.com/office/drawing/2014/main" id="{DC8F9B3D-33EF-48D3-A461-A50900D519EB}"/>
                </a:ext>
              </a:extLst>
            </p:cNvPr>
            <p:cNvSpPr/>
            <p:nvPr/>
          </p:nvSpPr>
          <p:spPr>
            <a:xfrm>
              <a:off x="2463951" y="2002612"/>
              <a:ext cx="529865" cy="4299947"/>
            </a:xfrm>
            <a:custGeom>
              <a:avLst/>
              <a:gdLst>
                <a:gd name="connsiteX0" fmla="*/ 0 w 528992"/>
                <a:gd name="connsiteY0" fmla="*/ 324952 h 4299947"/>
                <a:gd name="connsiteX1" fmla="*/ 37785 w 528992"/>
                <a:gd name="connsiteY1" fmla="*/ 4012780 h 4299947"/>
                <a:gd name="connsiteX2" fmla="*/ 521435 w 528992"/>
                <a:gd name="connsiteY2" fmla="*/ 4299947 h 4299947"/>
                <a:gd name="connsiteX3" fmla="*/ 528992 w 528992"/>
                <a:gd name="connsiteY3" fmla="*/ 0 h 4299947"/>
                <a:gd name="connsiteX4" fmla="*/ 0 w 528992"/>
                <a:gd name="connsiteY4" fmla="*/ 324952 h 429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992" h="4299947">
                  <a:moveTo>
                    <a:pt x="0" y="324952"/>
                  </a:moveTo>
                  <a:lnTo>
                    <a:pt x="37785" y="4012780"/>
                  </a:lnTo>
                  <a:lnTo>
                    <a:pt x="521435" y="4299947"/>
                  </a:lnTo>
                  <a:lnTo>
                    <a:pt x="528992" y="0"/>
                  </a:lnTo>
                  <a:lnTo>
                    <a:pt x="0" y="324952"/>
                  </a:lnTo>
                  <a:close/>
                </a:path>
              </a:pathLst>
            </a:custGeom>
            <a:gradFill>
              <a:gsLst>
                <a:gs pos="82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0" scaled="0"/>
            </a:gra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="" xmlns:a16="http://schemas.microsoft.com/office/drawing/2014/main" id="{3D81FFC0-71B9-46DA-943A-B129A730D4BD}"/>
                </a:ext>
              </a:extLst>
            </p:cNvPr>
            <p:cNvSpPr/>
            <p:nvPr/>
          </p:nvSpPr>
          <p:spPr>
            <a:xfrm>
              <a:off x="2923626" y="1975288"/>
              <a:ext cx="6433414" cy="4345672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>
                  <a:lumMod val="50000"/>
                </a:sys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7969" tIns="48984" rIns="97969" bIns="48984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defTabSz="979488" latinLnBrk="0">
                <a:spcBef>
                  <a:spcPct val="50000"/>
                </a:spcBef>
                <a:defRPr/>
              </a:pPr>
              <a:endParaRPr kumimoji="1" lang="ko-KR" altLang="en-US" kern="0" dirty="0">
                <a:solidFill>
                  <a:srgbClr val="000099"/>
                </a:solidFill>
                <a:latin typeface="+mn-ea"/>
              </a:endParaRPr>
            </a:p>
          </p:txBody>
        </p:sp>
        <p:grpSp>
          <p:nvGrpSpPr>
            <p:cNvPr id="7" name="그룹 85">
              <a:extLst>
                <a:ext uri="{FF2B5EF4-FFF2-40B4-BE49-F238E27FC236}">
                  <a16:creationId xmlns="" xmlns:a16="http://schemas.microsoft.com/office/drawing/2014/main" id="{73987A2F-326C-4CD0-B79A-54DB536D835A}"/>
                </a:ext>
              </a:extLst>
            </p:cNvPr>
            <p:cNvGrpSpPr/>
            <p:nvPr/>
          </p:nvGrpSpPr>
          <p:grpSpPr>
            <a:xfrm>
              <a:off x="2993826" y="2026778"/>
              <a:ext cx="6177272" cy="4255416"/>
              <a:chOff x="2748955" y="2035656"/>
              <a:chExt cx="6071105" cy="4255416"/>
            </a:xfrm>
          </p:grpSpPr>
          <p:sp>
            <p:nvSpPr>
              <p:cNvPr id="87" name="직사각형 86">
                <a:extLst>
                  <a:ext uri="{FF2B5EF4-FFF2-40B4-BE49-F238E27FC236}">
                    <a16:creationId xmlns="" xmlns:a16="http://schemas.microsoft.com/office/drawing/2014/main" id="{3BD8B947-9794-4DA9-A8A0-A2416C4E54C6}"/>
                  </a:ext>
                </a:extLst>
              </p:cNvPr>
              <p:cNvSpPr/>
              <p:nvPr/>
            </p:nvSpPr>
            <p:spPr>
              <a:xfrm>
                <a:off x="2748955" y="2035656"/>
                <a:ext cx="838975" cy="4255416"/>
              </a:xfrm>
              <a:prstGeom prst="rect">
                <a:avLst/>
              </a:prstGeom>
              <a:solidFill>
                <a:srgbClr val="C7DDFD"/>
              </a:solidFill>
              <a:ln>
                <a:noFill/>
              </a:ln>
            </p:spPr>
            <p:txBody>
              <a:bodyPr vert="horz" wrap="square" lIns="97969" tIns="48984" rIns="97969" bIns="48984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defTabSz="979488" latinLnBrk="0">
                  <a:spcBef>
                    <a:spcPct val="50000"/>
                  </a:spcBef>
                  <a:defRPr/>
                </a:pPr>
                <a:endParaRPr kumimoji="1" lang="ko-KR" altLang="en-US" kern="0" dirty="0">
                  <a:solidFill>
                    <a:srgbClr val="000099"/>
                  </a:solidFill>
                  <a:latin typeface="+mn-ea"/>
                </a:endParaRPr>
              </a:p>
            </p:txBody>
          </p:sp>
          <p:sp>
            <p:nvSpPr>
              <p:cNvPr id="88" name="직사각형 87">
                <a:extLst>
                  <a:ext uri="{FF2B5EF4-FFF2-40B4-BE49-F238E27FC236}">
                    <a16:creationId xmlns="" xmlns:a16="http://schemas.microsoft.com/office/drawing/2014/main" id="{462C3777-4666-48F1-B8E7-F560F769B567}"/>
                  </a:ext>
                </a:extLst>
              </p:cNvPr>
              <p:cNvSpPr/>
              <p:nvPr/>
            </p:nvSpPr>
            <p:spPr>
              <a:xfrm>
                <a:off x="2814261" y="2111448"/>
                <a:ext cx="951723" cy="410375"/>
              </a:xfrm>
              <a:prstGeom prst="rect">
                <a:avLst/>
              </a:prstGeom>
              <a:pattFill prst="pct20">
                <a:fgClr>
                  <a:srgbClr val="C7DDFD"/>
                </a:fgClr>
                <a:bgClr>
                  <a:sysClr val="window" lastClr="FFFFFF"/>
                </a:bgClr>
              </a:patt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79488" latinLnBrk="0">
                  <a:spcBef>
                    <a:spcPct val="50000"/>
                  </a:spcBef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과제 정의</a:t>
                </a:r>
              </a:p>
            </p:txBody>
          </p:sp>
          <p:sp>
            <p:nvSpPr>
              <p:cNvPr id="89" name="직사각형 88">
                <a:extLst>
                  <a:ext uri="{FF2B5EF4-FFF2-40B4-BE49-F238E27FC236}">
                    <a16:creationId xmlns="" xmlns:a16="http://schemas.microsoft.com/office/drawing/2014/main" id="{3197124E-28D4-472B-9558-9173E8CA2836}"/>
                  </a:ext>
                </a:extLst>
              </p:cNvPr>
              <p:cNvSpPr/>
              <p:nvPr/>
            </p:nvSpPr>
            <p:spPr>
              <a:xfrm>
                <a:off x="3831300" y="2111448"/>
                <a:ext cx="4988760" cy="410375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데이터 품질관리 체계를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강화하고 체계적인 품질관리 업무 지원을 위한 </a:t>
                </a:r>
                <a:r>
                  <a:rPr kumimoji="1" lang="ko-KR" altLang="en-US" sz="1000" kern="0">
                    <a:solidFill>
                      <a:prstClr val="black"/>
                    </a:solidFill>
                    <a:latin typeface="+mn-ea"/>
                  </a:rPr>
                  <a:t>데이터 </a:t>
                </a: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품질관리 표준화 방안 수립</a:t>
                </a:r>
                <a:endParaRPr kumimoji="1" lang="ko-KR" altLang="en-US" sz="10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90" name="직사각형 89">
                <a:extLst>
                  <a:ext uri="{FF2B5EF4-FFF2-40B4-BE49-F238E27FC236}">
                    <a16:creationId xmlns="" xmlns:a16="http://schemas.microsoft.com/office/drawing/2014/main" id="{4A3DA6E3-91CE-4B46-AB40-3122683B6F23}"/>
                  </a:ext>
                </a:extLst>
              </p:cNvPr>
              <p:cNvSpPr/>
              <p:nvPr/>
            </p:nvSpPr>
            <p:spPr>
              <a:xfrm>
                <a:off x="2814261" y="3306469"/>
                <a:ext cx="951723" cy="410375"/>
              </a:xfrm>
              <a:prstGeom prst="rect">
                <a:avLst/>
              </a:prstGeom>
              <a:pattFill prst="pct20">
                <a:fgClr>
                  <a:srgbClr val="C7DDFD"/>
                </a:fgClr>
                <a:bgClr>
                  <a:sysClr val="window" lastClr="FFFFFF"/>
                </a:bgClr>
              </a:patt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79488" latinLnBrk="0">
                  <a:spcBef>
                    <a:spcPct val="50000"/>
                  </a:spcBef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현황 및 문제점</a:t>
                </a:r>
              </a:p>
            </p:txBody>
          </p:sp>
          <p:sp>
            <p:nvSpPr>
              <p:cNvPr id="91" name="직사각형 90">
                <a:extLst>
                  <a:ext uri="{FF2B5EF4-FFF2-40B4-BE49-F238E27FC236}">
                    <a16:creationId xmlns="" xmlns:a16="http://schemas.microsoft.com/office/drawing/2014/main" id="{3645D26A-84A7-4B58-98CD-009CE5F34953}"/>
                  </a:ext>
                </a:extLst>
              </p:cNvPr>
              <p:cNvSpPr/>
              <p:nvPr/>
            </p:nvSpPr>
            <p:spPr>
              <a:xfrm>
                <a:off x="3831300" y="3306469"/>
                <a:ext cx="4988760" cy="810210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93663" indent="-93663" defTabSz="979488" latinLnBrk="0">
                  <a:spcBef>
                    <a:spcPts val="3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데이터베이스 설계 및 관리 미흡으로 산출물의 현행화가 되지 않음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  <a:p>
                <a:pPr marL="93663" indent="-93663" defTabSz="979488" latinLnBrk="0">
                  <a:spcBef>
                    <a:spcPts val="3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표준화 등 일관된 데이터 품질관리 미흡으로 데이터 품질 저하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  <a:p>
                <a:pPr marL="93663" indent="-93663" defTabSz="979488" latinLnBrk="0">
                  <a:spcBef>
                    <a:spcPts val="3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품질관리 업무를 수작업에 의존하여 엄격한 데이터 품질관리 제약</a:t>
                </a:r>
              </a:p>
            </p:txBody>
          </p:sp>
          <p:sp>
            <p:nvSpPr>
              <p:cNvPr id="92" name="직사각형 91">
                <a:extLst>
                  <a:ext uri="{FF2B5EF4-FFF2-40B4-BE49-F238E27FC236}">
                    <a16:creationId xmlns="" xmlns:a16="http://schemas.microsoft.com/office/drawing/2014/main" id="{B22CB68C-1A52-4323-9BA6-715C4CA74F06}"/>
                  </a:ext>
                </a:extLst>
              </p:cNvPr>
              <p:cNvSpPr/>
              <p:nvPr/>
            </p:nvSpPr>
            <p:spPr>
              <a:xfrm>
                <a:off x="2814261" y="2596957"/>
                <a:ext cx="951723" cy="410375"/>
              </a:xfrm>
              <a:prstGeom prst="rect">
                <a:avLst/>
              </a:prstGeom>
              <a:pattFill prst="pct20">
                <a:fgClr>
                  <a:srgbClr val="C7DDFD"/>
                </a:fgClr>
                <a:bgClr>
                  <a:sysClr val="window" lastClr="FFFFFF"/>
                </a:bgClr>
              </a:patt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79488" latinLnBrk="0">
                  <a:spcBef>
                    <a:spcPct val="50000"/>
                  </a:spcBef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목적 및 필요성</a:t>
                </a:r>
              </a:p>
            </p:txBody>
          </p:sp>
          <p:sp>
            <p:nvSpPr>
              <p:cNvPr id="93" name="직사각형 92">
                <a:extLst>
                  <a:ext uri="{FF2B5EF4-FFF2-40B4-BE49-F238E27FC236}">
                    <a16:creationId xmlns="" xmlns:a16="http://schemas.microsoft.com/office/drawing/2014/main" id="{746CCBF5-18E3-4846-B382-B28F40C95B89}"/>
                  </a:ext>
                </a:extLst>
              </p:cNvPr>
              <p:cNvSpPr/>
              <p:nvPr/>
            </p:nvSpPr>
            <p:spPr>
              <a:xfrm>
                <a:off x="3831300" y="2596957"/>
                <a:ext cx="4988760" cy="619567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데이터 </a:t>
                </a:r>
                <a:r>
                  <a:rPr kumimoji="1" lang="ko-KR" altLang="en-US" sz="1000" kern="0">
                    <a:solidFill>
                      <a:prstClr val="black"/>
                    </a:solidFill>
                    <a:latin typeface="+mn-ea"/>
                  </a:rPr>
                  <a:t>품질관리 </a:t>
                </a: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활동 미비로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품질 및 신뢰도 저하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경영정보시스템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구축에 따른 전사적인 데이터 표준화 및 지속적 적용 필요</a:t>
                </a:r>
              </a:p>
            </p:txBody>
          </p:sp>
          <p:sp>
            <p:nvSpPr>
              <p:cNvPr id="94" name="직사각형 93">
                <a:extLst>
                  <a:ext uri="{FF2B5EF4-FFF2-40B4-BE49-F238E27FC236}">
                    <a16:creationId xmlns="" xmlns:a16="http://schemas.microsoft.com/office/drawing/2014/main" id="{C70CC1FB-D735-4714-A12C-D27BF40CD53F}"/>
                  </a:ext>
                </a:extLst>
              </p:cNvPr>
              <p:cNvSpPr/>
              <p:nvPr/>
            </p:nvSpPr>
            <p:spPr>
              <a:xfrm>
                <a:off x="2814261" y="4207938"/>
                <a:ext cx="951723" cy="410375"/>
              </a:xfrm>
              <a:prstGeom prst="rect">
                <a:avLst/>
              </a:prstGeom>
              <a:pattFill prst="pct20">
                <a:fgClr>
                  <a:srgbClr val="C7DDFD"/>
                </a:fgClr>
                <a:bgClr>
                  <a:sysClr val="window" lastClr="FFFFFF"/>
                </a:bgClr>
              </a:patt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79488" latinLnBrk="0">
                  <a:spcBef>
                    <a:spcPct val="50000"/>
                  </a:spcBef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개선 방향</a:t>
                </a:r>
              </a:p>
            </p:txBody>
          </p:sp>
          <p:sp>
            <p:nvSpPr>
              <p:cNvPr id="95" name="직사각형 94">
                <a:extLst>
                  <a:ext uri="{FF2B5EF4-FFF2-40B4-BE49-F238E27FC236}">
                    <a16:creationId xmlns="" xmlns:a16="http://schemas.microsoft.com/office/drawing/2014/main" id="{5FC3F293-C2CE-4C3A-A082-2985541B2A49}"/>
                  </a:ext>
                </a:extLst>
              </p:cNvPr>
              <p:cNvSpPr/>
              <p:nvPr/>
            </p:nvSpPr>
            <p:spPr>
              <a:xfrm>
                <a:off x="3831299" y="4207938"/>
                <a:ext cx="4988760" cy="1420811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표준화</a:t>
                </a:r>
                <a:r>
                  <a:rPr kumimoji="1" lang="en-US" altLang="ko-KR" sz="1000" kern="0" dirty="0">
                    <a:solidFill>
                      <a:prstClr val="black"/>
                    </a:solidFill>
                    <a:latin typeface="+mn-ea"/>
                  </a:rPr>
                  <a:t>,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품질관리 프로세스</a:t>
                </a:r>
                <a:r>
                  <a:rPr kumimoji="1" lang="en-US" altLang="ko-KR" sz="1000" kern="0" dirty="0">
                    <a:solidFill>
                      <a:prstClr val="black"/>
                    </a:solidFill>
                    <a:latin typeface="+mn-ea"/>
                  </a:rPr>
                  <a:t>,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데이터 품질 조직 등 핵심적인 데이터 품질관리 영역 강화 방안 제시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수작업에 의해 이루어지고 있는 데이터 품질관리 업무를 </a:t>
                </a:r>
                <a:r>
                  <a:rPr kumimoji="1" lang="ko-KR" altLang="en-US" sz="1000" kern="0">
                    <a:solidFill>
                      <a:prstClr val="black"/>
                    </a:solidFill>
                    <a:latin typeface="+mn-ea"/>
                  </a:rPr>
                  <a:t>지원하기 </a:t>
                </a: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위한 데이터 품질관리 표준화 방안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제시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목표 데이터품질관리 체계 및 데이터품질관리 도구를 </a:t>
                </a:r>
                <a:r>
                  <a:rPr kumimoji="1" lang="ko-KR" altLang="en-US" sz="1000" kern="0">
                    <a:solidFill>
                      <a:prstClr val="black"/>
                    </a:solidFill>
                    <a:latin typeface="+mn-ea"/>
                  </a:rPr>
                  <a:t>활용하여 </a:t>
                </a: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경영정보스템 </a:t>
                </a: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구축에 적용할 상세 데이터 표준화 수립 방안을 제시</a:t>
                </a:r>
                <a:endParaRPr kumimoji="1" lang="en-US" altLang="ko-KR" sz="10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="" xmlns:a16="http://schemas.microsoft.com/office/drawing/2014/main" id="{9F60708A-697A-422E-84EB-603677EFF344}"/>
                  </a:ext>
                </a:extLst>
              </p:cNvPr>
              <p:cNvSpPr/>
              <p:nvPr/>
            </p:nvSpPr>
            <p:spPr>
              <a:xfrm>
                <a:off x="2814261" y="5713669"/>
                <a:ext cx="951723" cy="410375"/>
              </a:xfrm>
              <a:prstGeom prst="rect">
                <a:avLst/>
              </a:prstGeom>
              <a:pattFill prst="pct20">
                <a:fgClr>
                  <a:srgbClr val="C7DDFD"/>
                </a:fgClr>
                <a:bgClr>
                  <a:sysClr val="window" lastClr="FFFFFF"/>
                </a:bgClr>
              </a:patt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79488" latinLnBrk="0">
                  <a:spcBef>
                    <a:spcPct val="50000"/>
                  </a:spcBef>
                  <a:defRPr/>
                </a:pPr>
                <a:r>
                  <a:rPr kumimoji="1" lang="ko-KR" altLang="en-US" sz="1000" kern="0" dirty="0">
                    <a:solidFill>
                      <a:prstClr val="black"/>
                    </a:solidFill>
                    <a:latin typeface="+mn-ea"/>
                  </a:rPr>
                  <a:t>고려사항</a:t>
                </a:r>
              </a:p>
            </p:txBody>
          </p:sp>
          <p:sp>
            <p:nvSpPr>
              <p:cNvPr id="97" name="직사각형 96">
                <a:extLst>
                  <a:ext uri="{FF2B5EF4-FFF2-40B4-BE49-F238E27FC236}">
                    <a16:creationId xmlns="" xmlns:a16="http://schemas.microsoft.com/office/drawing/2014/main" id="{F3587659-245E-46A2-96B1-18B88C25A318}"/>
                  </a:ext>
                </a:extLst>
              </p:cNvPr>
              <p:cNvSpPr/>
              <p:nvPr/>
            </p:nvSpPr>
            <p:spPr>
              <a:xfrm>
                <a:off x="3831300" y="5713669"/>
                <a:ext cx="4988760" cy="505551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7969" tIns="48984" rIns="97969" bIns="48984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93663" indent="-93663" defTabSz="979488" latinLnBrk="0">
                  <a:spcBef>
                    <a:spcPct val="50000"/>
                  </a:spcBef>
                  <a:buFont typeface="Wingdings" pitchFamily="2" charset="2"/>
                  <a:buChar char="§"/>
                  <a:defRPr/>
                </a:pP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현행 시스템의 구축된 </a:t>
                </a:r>
                <a:r>
                  <a:rPr kumimoji="1" lang="en-US" altLang="ko-KR" sz="1000" kern="0" smtClean="0">
                    <a:solidFill>
                      <a:prstClr val="black"/>
                    </a:solidFill>
                    <a:latin typeface="+mn-ea"/>
                  </a:rPr>
                  <a:t>DATABASE</a:t>
                </a:r>
                <a:r>
                  <a:rPr kumimoji="1" lang="ko-KR" altLang="en-US" sz="1000" kern="0" smtClean="0">
                    <a:solidFill>
                      <a:prstClr val="black"/>
                    </a:solidFill>
                    <a:latin typeface="+mn-ea"/>
                  </a:rPr>
                  <a:t>의 개선 및 재 구축에 대한 내부 정책 방향 선결</a:t>
                </a:r>
                <a:endParaRPr kumimoji="1" lang="ko-KR" altLang="en-US" sz="10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현행 </a:t>
            </a:r>
            <a:r>
              <a:rPr lang="en-US" altLang="ko-KR" smtClean="0"/>
              <a:t>DATABASE </a:t>
            </a:r>
            <a:r>
              <a:rPr lang="ko-KR" altLang="en-US" smtClean="0"/>
              <a:t>점검 결과 데이터품질관리체계를 </a:t>
            </a:r>
            <a:r>
              <a:rPr lang="ko-KR" altLang="en-US" dirty="0"/>
              <a:t>강화하고 체계적인 품질관리 업무 지원을 위한 </a:t>
            </a:r>
            <a:r>
              <a:rPr lang="ko-KR" altLang="en-US"/>
              <a:t>데이터 </a:t>
            </a:r>
            <a:r>
              <a:rPr lang="ko-KR" altLang="en-US" smtClean="0"/>
              <a:t>품질관리 표준화 방안 수립이 가장 우선 과제로 식별됨 </a:t>
            </a:r>
            <a:endParaRPr lang="ko-KR" altLang="en-US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2.10 </a:t>
            </a:r>
            <a:r>
              <a:rPr lang="ko-KR" altLang="en-US"/>
              <a:t>데이터관리체계 </a:t>
            </a:r>
            <a:r>
              <a:rPr lang="ko-KR" altLang="en-US" smtClean="0"/>
              <a:t>표준화 방안 수립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2.10.1 </a:t>
            </a:r>
            <a:r>
              <a:rPr lang="ko-KR" altLang="en-US" sz="1800" dirty="0"/>
              <a:t>과제 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81" name="모서리가 둥근 직사각형 19">
            <a:extLst>
              <a:ext uri="{FF2B5EF4-FFF2-40B4-BE49-F238E27FC236}">
                <a16:creationId xmlns="" xmlns:a16="http://schemas.microsoft.com/office/drawing/2014/main" id="{539E2FF8-462F-4EA5-A32E-3A3A41EAC070}"/>
              </a:ext>
            </a:extLst>
          </p:cNvPr>
          <p:cNvSpPr/>
          <p:nvPr/>
        </p:nvSpPr>
        <p:spPr>
          <a:xfrm>
            <a:off x="476077" y="2035656"/>
            <a:ext cx="2028386" cy="673957"/>
          </a:xfrm>
          <a:prstGeom prst="roundRect">
            <a:avLst>
              <a:gd name="adj" fmla="val 7000"/>
            </a:avLst>
          </a:prstGeom>
          <a:solidFill>
            <a:sysClr val="window" lastClr="FFFFFF"/>
          </a:solidFill>
          <a:ln w="28575" cap="flat" cmpd="sng" algn="ctr">
            <a:solidFill>
              <a:srgbClr val="4678B4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defRPr/>
            </a:pPr>
            <a:r>
              <a:rPr lang="ko-KR" altLang="en-US" sz="1400" b="1" kern="0" spc="-150">
                <a:solidFill>
                  <a:prstClr val="black"/>
                </a:solidFill>
                <a:latin typeface="+mn-ea"/>
              </a:rPr>
              <a:t>데이터관리체계 </a:t>
            </a:r>
            <a:r>
              <a:rPr lang="ko-KR" altLang="en-US" sz="1400" b="1" kern="0" spc="-150" smtClean="0">
                <a:solidFill>
                  <a:prstClr val="black"/>
                </a:solidFill>
                <a:latin typeface="+mn-ea"/>
              </a:rPr>
              <a:t>표준화 방안 수립</a:t>
            </a:r>
            <a:endParaRPr lang="ko-KR" altLang="en-US" sz="1400" b="1" kern="0" spc="-15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9" name="그룹 81">
            <a:extLst>
              <a:ext uri="{FF2B5EF4-FFF2-40B4-BE49-F238E27FC236}">
                <a16:creationId xmlns="" xmlns:a16="http://schemas.microsoft.com/office/drawing/2014/main" id="{D792162E-1A2F-4430-8D94-E50C5C7DDD9D}"/>
              </a:ext>
            </a:extLst>
          </p:cNvPr>
          <p:cNvGrpSpPr/>
          <p:nvPr/>
        </p:nvGrpSpPr>
        <p:grpSpPr>
          <a:xfrm>
            <a:off x="476077" y="2776129"/>
            <a:ext cx="2028386" cy="527511"/>
            <a:chOff x="401216" y="2918940"/>
            <a:chExt cx="2310143" cy="551720"/>
          </a:xfrm>
        </p:grpSpPr>
        <p:sp>
          <p:nvSpPr>
            <p:cNvPr id="83" name="모서리가 둥근 직사각형 24">
              <a:extLst>
                <a:ext uri="{FF2B5EF4-FFF2-40B4-BE49-F238E27FC236}">
                  <a16:creationId xmlns="" xmlns:a16="http://schemas.microsoft.com/office/drawing/2014/main" id="{5EEF05A2-CF17-4500-8CD5-18B4D1D2D591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데이터 품질관리 체계 수립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84" name="직사각형 10">
              <a:extLst>
                <a:ext uri="{FF2B5EF4-FFF2-40B4-BE49-F238E27FC236}">
                  <a16:creationId xmlns="" xmlns:a16="http://schemas.microsoft.com/office/drawing/2014/main" id="{485F56EC-22C4-4812-984A-A12C60678EBC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979488" fontAlgn="base" latinLnBrk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kumimoji="1" lang="en-US" altLang="ko-KR" sz="1200" b="1" kern="0" dirty="0">
                  <a:solidFill>
                    <a:prstClr val="white"/>
                  </a:solidFill>
                  <a:latin typeface="+mn-ea"/>
                </a:rPr>
                <a:t>1</a:t>
              </a:r>
              <a:endParaRPr kumimoji="1" lang="ko-KR" altLang="en-US" sz="1200" b="1" kern="0" dirty="0">
                <a:solidFill>
                  <a:prstClr val="white"/>
                </a:solidFill>
                <a:latin typeface="+mn-ea"/>
              </a:endParaRPr>
            </a:p>
          </p:txBody>
        </p:sp>
      </p:grpSp>
      <p:grpSp>
        <p:nvGrpSpPr>
          <p:cNvPr id="10" name="그룹 98">
            <a:extLst>
              <a:ext uri="{FF2B5EF4-FFF2-40B4-BE49-F238E27FC236}">
                <a16:creationId xmlns="" xmlns:a16="http://schemas.microsoft.com/office/drawing/2014/main" id="{9656F7BF-411B-4097-9FB1-3E53ADE28258}"/>
              </a:ext>
            </a:extLst>
          </p:cNvPr>
          <p:cNvGrpSpPr/>
          <p:nvPr/>
        </p:nvGrpSpPr>
        <p:grpSpPr>
          <a:xfrm>
            <a:off x="476077" y="3370156"/>
            <a:ext cx="2028386" cy="527511"/>
            <a:chOff x="401216" y="2918940"/>
            <a:chExt cx="2310143" cy="551720"/>
          </a:xfrm>
        </p:grpSpPr>
        <p:sp>
          <p:nvSpPr>
            <p:cNvPr id="100" name="모서리가 둥근 직사각형 44">
              <a:extLst>
                <a:ext uri="{FF2B5EF4-FFF2-40B4-BE49-F238E27FC236}">
                  <a16:creationId xmlns="" xmlns:a16="http://schemas.microsoft.com/office/drawing/2014/main" id="{FF82C688-A0DF-4BE3-8351-56F6BB3CF5FC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데이터 관리조직 체계 정립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01" name="직사각형 10">
              <a:extLst>
                <a:ext uri="{FF2B5EF4-FFF2-40B4-BE49-F238E27FC236}">
                  <a16:creationId xmlns="" xmlns:a16="http://schemas.microsoft.com/office/drawing/2014/main" id="{56B6DA92-25D8-43A6-AE8B-408C4FFF4AAA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979488" fontAlgn="base" latinLnBrk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kumimoji="1" lang="en-US" altLang="ko-KR" sz="1200" b="1" kern="0" dirty="0">
                  <a:solidFill>
                    <a:prstClr val="white"/>
                  </a:solidFill>
                  <a:latin typeface="+mn-ea"/>
                </a:rPr>
                <a:t>2</a:t>
              </a:r>
              <a:endParaRPr kumimoji="1" lang="ko-KR" altLang="en-US" sz="1200" b="1" kern="0" dirty="0">
                <a:solidFill>
                  <a:prstClr val="white"/>
                </a:solidFill>
                <a:latin typeface="+mn-ea"/>
              </a:endParaRPr>
            </a:p>
          </p:txBody>
        </p:sp>
      </p:grpSp>
      <p:grpSp>
        <p:nvGrpSpPr>
          <p:cNvPr id="11" name="그룹 101">
            <a:extLst>
              <a:ext uri="{FF2B5EF4-FFF2-40B4-BE49-F238E27FC236}">
                <a16:creationId xmlns="" xmlns:a16="http://schemas.microsoft.com/office/drawing/2014/main" id="{4A90894C-1414-4BBD-B13D-1A1AED9AE969}"/>
              </a:ext>
            </a:extLst>
          </p:cNvPr>
          <p:cNvGrpSpPr/>
          <p:nvPr/>
        </p:nvGrpSpPr>
        <p:grpSpPr>
          <a:xfrm>
            <a:off x="476077" y="3964183"/>
            <a:ext cx="2028386" cy="527511"/>
            <a:chOff x="401216" y="2918940"/>
            <a:chExt cx="2310143" cy="551720"/>
          </a:xfrm>
        </p:grpSpPr>
        <p:sp>
          <p:nvSpPr>
            <p:cNvPr id="103" name="모서리가 둥근 직사각형 48">
              <a:extLst>
                <a:ext uri="{FF2B5EF4-FFF2-40B4-BE49-F238E27FC236}">
                  <a16:creationId xmlns="" xmlns:a16="http://schemas.microsoft.com/office/drawing/2014/main" id="{BF190D8A-3A6B-4191-A5FB-BBE74A772C53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데이터 품질지표 관리방안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04" name="직사각형 10">
              <a:extLst>
                <a:ext uri="{FF2B5EF4-FFF2-40B4-BE49-F238E27FC236}">
                  <a16:creationId xmlns="" xmlns:a16="http://schemas.microsoft.com/office/drawing/2014/main" id="{7B8613EB-FA98-4B37-959E-E19C865BE43B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979488" fontAlgn="base" latinLnBrk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kumimoji="1" lang="en-US" altLang="ko-KR" sz="1200" b="1" kern="0" dirty="0">
                  <a:solidFill>
                    <a:prstClr val="white"/>
                  </a:solidFill>
                  <a:latin typeface="+mn-ea"/>
                </a:rPr>
                <a:t>3</a:t>
              </a:r>
              <a:endParaRPr kumimoji="1" lang="ko-KR" altLang="en-US" sz="1200" b="1" kern="0" dirty="0">
                <a:solidFill>
                  <a:prstClr val="white"/>
                </a:solidFill>
                <a:latin typeface="+mn-ea"/>
              </a:endParaRPr>
            </a:p>
          </p:txBody>
        </p:sp>
      </p:grpSp>
      <p:grpSp>
        <p:nvGrpSpPr>
          <p:cNvPr id="33" name="그룹 101">
            <a:extLst>
              <a:ext uri="{FF2B5EF4-FFF2-40B4-BE49-F238E27FC236}">
                <a16:creationId xmlns="" xmlns:a16="http://schemas.microsoft.com/office/drawing/2014/main" id="{4A90894C-1414-4BBD-B13D-1A1AED9AE969}"/>
              </a:ext>
            </a:extLst>
          </p:cNvPr>
          <p:cNvGrpSpPr/>
          <p:nvPr/>
        </p:nvGrpSpPr>
        <p:grpSpPr>
          <a:xfrm>
            <a:off x="488504" y="4581128"/>
            <a:ext cx="2028386" cy="527511"/>
            <a:chOff x="401216" y="2918940"/>
            <a:chExt cx="2310143" cy="551720"/>
          </a:xfrm>
        </p:grpSpPr>
        <p:sp>
          <p:nvSpPr>
            <p:cNvPr id="34" name="모서리가 둥근 직사각형 48">
              <a:extLst>
                <a:ext uri="{FF2B5EF4-FFF2-40B4-BE49-F238E27FC236}">
                  <a16:creationId xmlns="" xmlns:a16="http://schemas.microsoft.com/office/drawing/2014/main" id="{BF190D8A-3A6B-4191-A5FB-BBE74A772C53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데이터 구조 관리방안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35" name="직사각형 10">
              <a:extLst>
                <a:ext uri="{FF2B5EF4-FFF2-40B4-BE49-F238E27FC236}">
                  <a16:creationId xmlns="" xmlns:a16="http://schemas.microsoft.com/office/drawing/2014/main" id="{7B8613EB-FA98-4B37-959E-E19C865BE43B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979488" fontAlgn="base" latinLnBrk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kumimoji="1" lang="en-US" altLang="ko-KR" sz="1200" b="1" kern="0" smtClean="0">
                  <a:solidFill>
                    <a:prstClr val="white"/>
                  </a:solidFill>
                  <a:latin typeface="+mn-ea"/>
                </a:rPr>
                <a:t>4</a:t>
              </a:r>
              <a:endParaRPr kumimoji="1" lang="ko-KR" altLang="en-US" sz="1200" b="1" kern="0" dirty="0">
                <a:solidFill>
                  <a:prstClr val="white"/>
                </a:solidFill>
                <a:latin typeface="+mn-ea"/>
              </a:endParaRPr>
            </a:p>
          </p:txBody>
        </p:sp>
      </p:grpSp>
      <p:grpSp>
        <p:nvGrpSpPr>
          <p:cNvPr id="36" name="그룹 101">
            <a:extLst>
              <a:ext uri="{FF2B5EF4-FFF2-40B4-BE49-F238E27FC236}">
                <a16:creationId xmlns="" xmlns:a16="http://schemas.microsoft.com/office/drawing/2014/main" id="{4A90894C-1414-4BBD-B13D-1A1AED9AE969}"/>
              </a:ext>
            </a:extLst>
          </p:cNvPr>
          <p:cNvGrpSpPr/>
          <p:nvPr/>
        </p:nvGrpSpPr>
        <p:grpSpPr>
          <a:xfrm>
            <a:off x="488504" y="5301208"/>
            <a:ext cx="2028386" cy="527511"/>
            <a:chOff x="401216" y="2918940"/>
            <a:chExt cx="2310143" cy="551720"/>
          </a:xfrm>
        </p:grpSpPr>
        <p:sp>
          <p:nvSpPr>
            <p:cNvPr id="37" name="모서리가 둥근 직사각형 48">
              <a:extLst>
                <a:ext uri="{FF2B5EF4-FFF2-40B4-BE49-F238E27FC236}">
                  <a16:creationId xmlns="" xmlns:a16="http://schemas.microsoft.com/office/drawing/2014/main" id="{BF190D8A-3A6B-4191-A5FB-BBE74A772C53}"/>
                </a:ext>
              </a:extLst>
            </p:cNvPr>
            <p:cNvSpPr/>
            <p:nvPr/>
          </p:nvSpPr>
          <p:spPr>
            <a:xfrm>
              <a:off x="401216" y="2918940"/>
              <a:ext cx="2310143" cy="551720"/>
            </a:xfrm>
            <a:prstGeom prst="roundRect">
              <a:avLst>
                <a:gd name="adj" fmla="val 8624"/>
              </a:avLst>
            </a:prstGeom>
            <a:solidFill>
              <a:sysClr val="window" lastClr="FFFFFF"/>
            </a:solidFill>
            <a:ln>
              <a:solidFill>
                <a:sysClr val="window" lastClr="FFFFFF">
                  <a:lumMod val="65000"/>
                </a:sysClr>
              </a:solidFill>
            </a:ln>
          </p:spPr>
          <p:txBody>
            <a:bodyPr vert="horz" wrap="square" lIns="97969" tIns="48984" rIns="97969" bIns="48984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979488" latinLnBrk="0">
                <a:spcBef>
                  <a:spcPct val="50000"/>
                </a:spcBef>
                <a:defRPr/>
              </a:pPr>
              <a:r>
                <a:rPr kumimoji="1" lang="ko-KR" altLang="en-US" sz="1000" b="1" kern="0" smtClean="0">
                  <a:solidFill>
                    <a:prstClr val="black"/>
                  </a:solidFill>
                  <a:latin typeface="+mn-ea"/>
                </a:rPr>
                <a:t>연계정보 관리방안</a:t>
              </a:r>
              <a:endParaRPr kumimoji="1" lang="ko-KR" altLang="en-US" sz="1000" b="1" kern="0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38" name="직사각형 10">
              <a:extLst>
                <a:ext uri="{FF2B5EF4-FFF2-40B4-BE49-F238E27FC236}">
                  <a16:creationId xmlns="" xmlns:a16="http://schemas.microsoft.com/office/drawing/2014/main" id="{7B8613EB-FA98-4B37-959E-E19C865BE43B}"/>
                </a:ext>
              </a:extLst>
            </p:cNvPr>
            <p:cNvSpPr/>
            <p:nvPr/>
          </p:nvSpPr>
          <p:spPr>
            <a:xfrm>
              <a:off x="401216" y="2918940"/>
              <a:ext cx="326572" cy="326572"/>
            </a:xfrm>
            <a:custGeom>
              <a:avLst/>
              <a:gdLst/>
              <a:ahLst/>
              <a:cxnLst/>
              <a:rect l="l" t="t" r="r" b="b"/>
              <a:pathLst>
                <a:path w="429243" h="429243">
                  <a:moveTo>
                    <a:pt x="0" y="0"/>
                  </a:moveTo>
                  <a:lnTo>
                    <a:pt x="429243" y="0"/>
                  </a:lnTo>
                  <a:lnTo>
                    <a:pt x="429243" y="26427"/>
                  </a:lnTo>
                  <a:lnTo>
                    <a:pt x="26427" y="429243"/>
                  </a:lnTo>
                  <a:lnTo>
                    <a:pt x="0" y="429243"/>
                  </a:lnTo>
                  <a:close/>
                </a:path>
              </a:pathLst>
            </a:custGeom>
            <a:solidFill>
              <a:srgbClr val="82AFFA"/>
            </a:solidFill>
            <a:ln>
              <a:solidFill>
                <a:srgbClr val="82AFFA"/>
              </a:solidFill>
            </a:ln>
          </p:spPr>
          <p:txBody>
            <a:bodyPr rot="0" spcFirstLastPara="0" vertOverflow="overflow" horzOverflow="overflow" vert="horz" wrap="square" lIns="54000" tIns="18000" rIns="18000" bIns="46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979488" fontAlgn="base" latinLnBrk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kumimoji="1" lang="en-US" altLang="ko-KR" sz="1200" b="1" kern="0" smtClean="0">
                  <a:solidFill>
                    <a:prstClr val="white"/>
                  </a:solidFill>
                  <a:latin typeface="+mn-ea"/>
                </a:rPr>
                <a:t>5</a:t>
              </a:r>
              <a:endParaRPr kumimoji="1" lang="ko-KR" altLang="en-US" sz="1200" b="1" kern="0" dirty="0">
                <a:solidFill>
                  <a:prstClr val="white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328069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/>
            <a:r>
              <a:rPr lang="ko-KR" altLang="en-US" sz="1600" dirty="0"/>
              <a:t>데이터품질관리체계를 강화하고 체계적인 품질관리 업무 지원을 위한 </a:t>
            </a:r>
            <a:r>
              <a:rPr lang="ko-KR" altLang="en-US" sz="1600"/>
              <a:t>데이터 </a:t>
            </a:r>
            <a:r>
              <a:rPr lang="ko-KR" altLang="en-US" sz="1600" smtClean="0"/>
              <a:t>품질관리 표준화 방안을 수립함 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mtClean="0"/>
              <a:t>2.10 </a:t>
            </a:r>
            <a:r>
              <a:rPr lang="ko-KR" altLang="en-US" smtClean="0"/>
              <a:t>데이터관리체계 표준화 </a:t>
            </a:r>
            <a:r>
              <a:rPr lang="ko-KR" altLang="en-US"/>
              <a:t>방안 수립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z="1800" smtClean="0"/>
              <a:t>2.10.2 </a:t>
            </a:r>
            <a:r>
              <a:rPr lang="ko-KR" altLang="en-US" sz="1800" smtClean="0"/>
              <a:t>데이터 관리체계 </a:t>
            </a:r>
            <a:r>
              <a:rPr lang="en-US" altLang="ko-KR" sz="1800" smtClean="0"/>
              <a:t>AS-IS </a:t>
            </a:r>
            <a:r>
              <a:rPr lang="en-US" altLang="ko-KR" sz="1800" dirty="0"/>
              <a:t>vs. TO-BE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50" name="한쪽 모서리가 둥근 사각형 171">
            <a:extLst>
              <a:ext uri="{FF2B5EF4-FFF2-40B4-BE49-F238E27FC236}">
                <a16:creationId xmlns="" xmlns:a16="http://schemas.microsoft.com/office/drawing/2014/main" id="{F440E0BD-FC52-4568-A55B-EFE81922B993}"/>
              </a:ext>
            </a:extLst>
          </p:cNvPr>
          <p:cNvSpPr/>
          <p:nvPr/>
        </p:nvSpPr>
        <p:spPr>
          <a:xfrm flipH="1">
            <a:off x="416673" y="1916832"/>
            <a:ext cx="4421662" cy="4391893"/>
          </a:xfrm>
          <a:prstGeom prst="rect">
            <a:avLst/>
          </a:prstGeom>
          <a:solidFill>
            <a:srgbClr val="FFFFFF">
              <a:alpha val="69804"/>
            </a:srgb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  <a:scene3d>
              <a:camera prst="orthographicFront"/>
              <a:lightRig rig="threePt" dir="t"/>
            </a:scene3d>
            <a:sp3d>
              <a:bevelT w="1270"/>
              <a:contourClr>
                <a:schemeClr val="bg1"/>
              </a:contourClr>
            </a:sp3d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ko-KR" altLang="en-US" spc="-7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  <a:cs typeface="굴림" pitchFamily="50" charset="-127"/>
            </a:endParaRPr>
          </a:p>
        </p:txBody>
      </p:sp>
      <p:sp>
        <p:nvSpPr>
          <p:cNvPr id="51" name="한쪽 모서리가 둥근 사각형 171">
            <a:extLst>
              <a:ext uri="{FF2B5EF4-FFF2-40B4-BE49-F238E27FC236}">
                <a16:creationId xmlns="" xmlns:a16="http://schemas.microsoft.com/office/drawing/2014/main" id="{7C6F345D-B31C-4312-B099-9E39D6D7F717}"/>
              </a:ext>
            </a:extLst>
          </p:cNvPr>
          <p:cNvSpPr/>
          <p:nvPr/>
        </p:nvSpPr>
        <p:spPr>
          <a:xfrm flipH="1">
            <a:off x="416677" y="1628800"/>
            <a:ext cx="4421662" cy="313445"/>
          </a:xfrm>
          <a:prstGeom prst="round2Same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threePt" dir="t"/>
            </a:scene3d>
            <a:sp3d>
              <a:bevelT w="0" h="1270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SzPct val="80000"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현황 및 이슈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(AS-IS)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한쪽 모서리가 둥근 사각형 171">
            <a:extLst>
              <a:ext uri="{FF2B5EF4-FFF2-40B4-BE49-F238E27FC236}">
                <a16:creationId xmlns="" xmlns:a16="http://schemas.microsoft.com/office/drawing/2014/main" id="{44C65E04-1D62-4189-BB18-0393D5A4D0F7}"/>
              </a:ext>
            </a:extLst>
          </p:cNvPr>
          <p:cNvSpPr/>
          <p:nvPr/>
        </p:nvSpPr>
        <p:spPr>
          <a:xfrm flipH="1">
            <a:off x="5086143" y="1916832"/>
            <a:ext cx="4403181" cy="4391893"/>
          </a:xfrm>
          <a:prstGeom prst="rect">
            <a:avLst/>
          </a:prstGeom>
          <a:solidFill>
            <a:srgbClr val="FFFFFF">
              <a:alpha val="69804"/>
            </a:srgb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  <a:scene3d>
              <a:camera prst="orthographicFront"/>
              <a:lightRig rig="threePt" dir="t"/>
            </a:scene3d>
            <a:sp3d>
              <a:bevelT w="1270"/>
              <a:contourClr>
                <a:schemeClr val="bg1"/>
              </a:contourClr>
            </a:sp3d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ko-KR" altLang="en-US" spc="-7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  <a:cs typeface="굴림" pitchFamily="50" charset="-127"/>
            </a:endParaRPr>
          </a:p>
        </p:txBody>
      </p:sp>
      <p:sp>
        <p:nvSpPr>
          <p:cNvPr id="54" name="한쪽 모서리가 둥근 사각형 171">
            <a:extLst>
              <a:ext uri="{FF2B5EF4-FFF2-40B4-BE49-F238E27FC236}">
                <a16:creationId xmlns="" xmlns:a16="http://schemas.microsoft.com/office/drawing/2014/main" id="{FD7AD837-E838-454F-88B7-41578D5ED5E8}"/>
              </a:ext>
            </a:extLst>
          </p:cNvPr>
          <p:cNvSpPr/>
          <p:nvPr/>
        </p:nvSpPr>
        <p:spPr>
          <a:xfrm flipH="1">
            <a:off x="5086147" y="1628800"/>
            <a:ext cx="4403181" cy="313445"/>
          </a:xfrm>
          <a:prstGeom prst="round2Same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SzPct val="80000"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개선방향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5" name="그룹 54">
            <a:extLst>
              <a:ext uri="{FF2B5EF4-FFF2-40B4-BE49-F238E27FC236}">
                <a16:creationId xmlns="" xmlns:a16="http://schemas.microsoft.com/office/drawing/2014/main" id="{92E908EA-6A32-4D95-AEFE-FC1DD92DDF66}"/>
              </a:ext>
            </a:extLst>
          </p:cNvPr>
          <p:cNvGrpSpPr/>
          <p:nvPr/>
        </p:nvGrpSpPr>
        <p:grpSpPr>
          <a:xfrm rot="10800000" flipH="1">
            <a:off x="4601872" y="2706760"/>
            <a:ext cx="491902" cy="2901300"/>
            <a:chOff x="4781869" y="2101850"/>
            <a:chExt cx="671538" cy="3082852"/>
          </a:xfrm>
        </p:grpSpPr>
        <p:sp>
          <p:nvSpPr>
            <p:cNvPr id="56" name="이등변 삼각형 55">
              <a:extLst>
                <a:ext uri="{FF2B5EF4-FFF2-40B4-BE49-F238E27FC236}">
                  <a16:creationId xmlns="" xmlns:a16="http://schemas.microsoft.com/office/drawing/2014/main" id="{0858A7C5-1BA7-4C28-BD26-56CE0E472FA0}"/>
                </a:ext>
              </a:extLst>
            </p:cNvPr>
            <p:cNvSpPr/>
            <p:nvPr/>
          </p:nvSpPr>
          <p:spPr bwMode="auto">
            <a:xfrm rot="5400000">
              <a:off x="3650665" y="3381960"/>
              <a:ext cx="3082852" cy="522632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tx1">
                    <a:lumMod val="50000"/>
                    <a:lumOff val="50000"/>
                    <a:alpha val="50000"/>
                  </a:schemeClr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이등변 삼각형 56">
              <a:extLst>
                <a:ext uri="{FF2B5EF4-FFF2-40B4-BE49-F238E27FC236}">
                  <a16:creationId xmlns="" xmlns:a16="http://schemas.microsoft.com/office/drawing/2014/main" id="{99C93141-6D52-4507-BBC6-3902F8E2FD7B}"/>
                </a:ext>
              </a:extLst>
            </p:cNvPr>
            <p:cNvSpPr/>
            <p:nvPr/>
          </p:nvSpPr>
          <p:spPr bwMode="auto">
            <a:xfrm rot="5400000">
              <a:off x="3919084" y="3315388"/>
              <a:ext cx="2381346" cy="655776"/>
            </a:xfrm>
            <a:prstGeom prst="triangle">
              <a:avLst/>
            </a:prstGeom>
            <a:gradFill flip="none" rotWithShape="1">
              <a:gsLst>
                <a:gs pos="0">
                  <a:srgbClr val="FFFFFF">
                    <a:alpha val="0"/>
                  </a:srgb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noFill/>
              <a:miter lim="800000"/>
              <a:headEnd/>
              <a:tailEnd/>
            </a:ln>
          </p:spPr>
          <p:txBody>
            <a:bodyPr rot="10800000" wrap="none" bIns="0" anchor="ctr"/>
            <a:lstStyle/>
            <a:p>
              <a:pPr algn="ctr" defTabSz="2057400"/>
              <a:endPara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8" name="Rectangle 8">
            <a:extLst>
              <a:ext uri="{FF2B5EF4-FFF2-40B4-BE49-F238E27FC236}">
                <a16:creationId xmlns="" xmlns:a16="http://schemas.microsoft.com/office/drawing/2014/main" id="{4A407563-C429-4381-B8D1-0810EBF92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0795" y="4873155"/>
            <a:ext cx="3887572" cy="1401087"/>
          </a:xfrm>
          <a:prstGeom prst="roundRect">
            <a:avLst>
              <a:gd name="adj" fmla="val 3936"/>
            </a:avLst>
          </a:prstGeom>
          <a:solidFill>
            <a:schemeClr val="bg1"/>
          </a:solidFill>
          <a:ln w="12700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>
            <a:innerShdw blurRad="50800">
              <a:schemeClr val="bg1">
                <a:lumMod val="65000"/>
              </a:schemeClr>
            </a:innerShdw>
          </a:effectLst>
        </p:spPr>
        <p:txBody>
          <a:bodyPr wrap="square" lIns="3600" tIns="3600" rIns="3600" bIns="3600" anchor="ctr">
            <a:noAutofit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latinLnBrk="0"/>
            <a:endParaRPr lang="ko-KR" altLang="en-US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" name="그룹 48">
            <a:extLst>
              <a:ext uri="{FF2B5EF4-FFF2-40B4-BE49-F238E27FC236}">
                <a16:creationId xmlns="" xmlns:a16="http://schemas.microsoft.com/office/drawing/2014/main" id="{81BCFD9C-E25B-40AA-A3D0-E41891F4D5B4}"/>
              </a:ext>
            </a:extLst>
          </p:cNvPr>
          <p:cNvGrpSpPr/>
          <p:nvPr/>
        </p:nvGrpSpPr>
        <p:grpSpPr>
          <a:xfrm>
            <a:off x="453197" y="5069620"/>
            <a:ext cx="898248" cy="1010172"/>
            <a:chOff x="444286" y="5164143"/>
            <a:chExt cx="898248" cy="1010172"/>
          </a:xfrm>
        </p:grpSpPr>
        <p:cxnSp>
          <p:nvCxnSpPr>
            <p:cNvPr id="60" name="직선 연결선 59">
              <a:extLst>
                <a:ext uri="{FF2B5EF4-FFF2-40B4-BE49-F238E27FC236}">
                  <a16:creationId xmlns="" xmlns:a16="http://schemas.microsoft.com/office/drawing/2014/main" id="{33F2187A-B155-4C99-B579-2E330BA9BC93}"/>
                </a:ext>
              </a:extLst>
            </p:cNvPr>
            <p:cNvCxnSpPr/>
            <p:nvPr/>
          </p:nvCxnSpPr>
          <p:spPr bwMode="auto">
            <a:xfrm>
              <a:off x="881884" y="5164143"/>
              <a:ext cx="0" cy="1010172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rgbClr val="CB1F69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" name="그룹 52">
              <a:extLst>
                <a:ext uri="{FF2B5EF4-FFF2-40B4-BE49-F238E27FC236}">
                  <a16:creationId xmlns="" xmlns:a16="http://schemas.microsoft.com/office/drawing/2014/main" id="{7272409B-F782-41E4-985A-7DFBA7833292}"/>
                </a:ext>
              </a:extLst>
            </p:cNvPr>
            <p:cNvGrpSpPr/>
            <p:nvPr/>
          </p:nvGrpSpPr>
          <p:grpSpPr>
            <a:xfrm>
              <a:off x="444286" y="5224644"/>
              <a:ext cx="898248" cy="898244"/>
              <a:chOff x="2095477" y="7685016"/>
              <a:chExt cx="742607" cy="742604"/>
            </a:xfrm>
          </p:grpSpPr>
          <p:sp>
            <p:nvSpPr>
              <p:cNvPr id="62" name="타원 61">
                <a:extLst>
                  <a:ext uri="{FF2B5EF4-FFF2-40B4-BE49-F238E27FC236}">
                    <a16:creationId xmlns="" xmlns:a16="http://schemas.microsoft.com/office/drawing/2014/main" id="{EDF0B940-635A-4126-849E-310352F4ECEA}"/>
                  </a:ext>
                </a:extLst>
              </p:cNvPr>
              <p:cNvSpPr/>
              <p:nvPr/>
            </p:nvSpPr>
            <p:spPr>
              <a:xfrm>
                <a:off x="2095477" y="7685016"/>
                <a:ext cx="742607" cy="74260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latinLnBrk="0"/>
                <a:endParaRPr lang="ko-KR" altLang="en-US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3" name="타원 62">
                <a:extLst>
                  <a:ext uri="{FF2B5EF4-FFF2-40B4-BE49-F238E27FC236}">
                    <a16:creationId xmlns="" xmlns:a16="http://schemas.microsoft.com/office/drawing/2014/main" id="{8F87BD12-95E7-4C04-9477-AA0F9F8B412A}"/>
                  </a:ext>
                </a:extLst>
              </p:cNvPr>
              <p:cNvSpPr/>
              <p:nvPr/>
            </p:nvSpPr>
            <p:spPr>
              <a:xfrm>
                <a:off x="2178270" y="7767808"/>
                <a:ext cx="577019" cy="577018"/>
              </a:xfrm>
              <a:prstGeom prst="ellipse">
                <a:avLst/>
              </a:prstGeom>
              <a:solidFill>
                <a:srgbClr val="508CD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rthographicFront"/>
                  <a:lightRig rig="threePt" dir="t"/>
                </a:scene3d>
                <a:sp3d>
                  <a:bevelT w="0" h="12700"/>
                  <a:bevelB w="0" h="0"/>
                </a:sp3d>
              </a:bodyPr>
              <a:lstStyle/>
              <a:p>
                <a:pPr algn="ctr" latinLnBrk="0">
                  <a:buSzPct val="80000"/>
                  <a:defRPr/>
                </a:pPr>
                <a:endParaRPr lang="ko-KR" altLang="en-US" b="1" kern="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4" name="타원 63">
                <a:extLst>
                  <a:ext uri="{FF2B5EF4-FFF2-40B4-BE49-F238E27FC236}">
                    <a16:creationId xmlns="" xmlns:a16="http://schemas.microsoft.com/office/drawing/2014/main" id="{E59E3111-5E90-4746-BB32-80298CEF3096}"/>
                  </a:ext>
                </a:extLst>
              </p:cNvPr>
              <p:cNvSpPr/>
              <p:nvPr/>
            </p:nvSpPr>
            <p:spPr>
              <a:xfrm>
                <a:off x="2144816" y="7734357"/>
                <a:ext cx="643932" cy="643926"/>
              </a:xfrm>
              <a:prstGeom prst="ellipse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latinLnBrk="0"/>
                <a:endParaRPr lang="ko-KR" altLang="en-US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5" name="제목 1">
                <a:extLst>
                  <a:ext uri="{FF2B5EF4-FFF2-40B4-BE49-F238E27FC236}">
                    <a16:creationId xmlns="" xmlns:a16="http://schemas.microsoft.com/office/drawing/2014/main" id="{9F85DC7E-B07F-400A-8EC9-2A365039238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77017" y="7948176"/>
                <a:ext cx="360468" cy="216280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12700"/>
                </a:sp3d>
              </a:bodyPr>
              <a:lstStyle>
                <a:lvl1pPr algn="ctr" defTabSz="914400" rtl="0" eaLnBrk="1" latinLnBrk="1" hangingPunct="1"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pPr latinLnBrk="0">
                  <a:defRPr/>
                </a:pPr>
                <a:r>
                  <a:rPr lang="ko-KR" altLang="en-US" sz="1700" b="1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  <a:cs typeface="Arial" pitchFamily="34" charset="0"/>
                  </a:rPr>
                  <a:t>현황</a:t>
                </a:r>
              </a:p>
            </p:txBody>
          </p:sp>
        </p:grpSp>
      </p:grpSp>
      <p:sp>
        <p:nvSpPr>
          <p:cNvPr id="66" name="AutoShape 35">
            <a:extLst>
              <a:ext uri="{FF2B5EF4-FFF2-40B4-BE49-F238E27FC236}">
                <a16:creationId xmlns="" xmlns:a16="http://schemas.microsoft.com/office/drawing/2014/main" id="{BBDB1B9B-D4BC-41C2-939D-79F1D4A69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0801" y="4906681"/>
            <a:ext cx="3239006" cy="1333185"/>
          </a:xfrm>
          <a:prstGeom prst="rect">
            <a:avLst/>
          </a:prstGeom>
          <a:noFill/>
          <a:extLst/>
        </p:spPr>
        <p:txBody>
          <a:bodyPr wrap="square" lIns="0" tIns="0" rIns="0" bIns="0" rtlCol="0" anchor="ctr" anchorCtr="0">
            <a:noAutofit/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데이터품질관리체계의 미비로 무결성 오류 등 데이터 품질저하 및 관리 복잡도 증가</a:t>
            </a:r>
            <a:endParaRPr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구축 사업별 개별 표준 적용으로 </a:t>
            </a:r>
            <a: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</a:t>
            </a: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간</a:t>
            </a:r>
            <a: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b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사업 간 일관성 없는 데이터 객체 생성</a:t>
            </a:r>
            <a:endParaRPr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데이터품질관리 지원 도구 부재로 품질관리 업무 효율 저하 및 관리활동의 적극성 제약</a:t>
            </a:r>
          </a:p>
        </p:txBody>
      </p:sp>
      <p:pic>
        <p:nvPicPr>
          <p:cNvPr id="67" name="Picture 4" descr="C:\Users\hoya\Desktop\Vector Smart Object1.png">
            <a:extLst>
              <a:ext uri="{FF2B5EF4-FFF2-40B4-BE49-F238E27FC236}">
                <a16:creationId xmlns="" xmlns:a16="http://schemas.microsoft.com/office/drawing/2014/main" id="{8A0901CE-BC68-4488-8948-47E82A1F81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20000" contrast="-200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 bwMode="auto">
          <a:xfrm>
            <a:off x="4367961" y="4884076"/>
            <a:ext cx="368204" cy="312202"/>
          </a:xfrm>
          <a:prstGeom prst="rect">
            <a:avLst/>
          </a:prstGeom>
          <a:noFill/>
        </p:spPr>
      </p:pic>
      <p:sp>
        <p:nvSpPr>
          <p:cNvPr id="68" name="Rectangle 8">
            <a:extLst>
              <a:ext uri="{FF2B5EF4-FFF2-40B4-BE49-F238E27FC236}">
                <a16:creationId xmlns="" xmlns:a16="http://schemas.microsoft.com/office/drawing/2014/main" id="{41E58178-AC62-478A-9953-01EA059EE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3977" y="4873155"/>
            <a:ext cx="3887572" cy="1401087"/>
          </a:xfrm>
          <a:prstGeom prst="roundRect">
            <a:avLst>
              <a:gd name="adj" fmla="val 3936"/>
            </a:avLst>
          </a:prstGeom>
          <a:solidFill>
            <a:schemeClr val="bg1"/>
          </a:solidFill>
          <a:ln w="12700" algn="ctr">
            <a:solidFill>
              <a:schemeClr val="bg1">
                <a:lumMod val="65000"/>
              </a:schemeClr>
            </a:solidFill>
            <a:round/>
            <a:headEnd/>
            <a:tailEnd/>
          </a:ln>
          <a:effectLst>
            <a:innerShdw blurRad="50800">
              <a:schemeClr val="bg1">
                <a:lumMod val="65000"/>
              </a:schemeClr>
            </a:innerShdw>
          </a:effectLst>
        </p:spPr>
        <p:txBody>
          <a:bodyPr wrap="square" lIns="3600" tIns="3600" rIns="3600" bIns="3600" anchor="ctr">
            <a:noAutofit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latinLnBrk="0"/>
            <a:endParaRPr lang="ko-KR" altLang="en-US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59">
            <a:extLst>
              <a:ext uri="{FF2B5EF4-FFF2-40B4-BE49-F238E27FC236}">
                <a16:creationId xmlns="" xmlns:a16="http://schemas.microsoft.com/office/drawing/2014/main" id="{FC14CC47-C9C1-4395-9A5E-CF186D7E6D4F}"/>
              </a:ext>
            </a:extLst>
          </p:cNvPr>
          <p:cNvGrpSpPr/>
          <p:nvPr/>
        </p:nvGrpSpPr>
        <p:grpSpPr>
          <a:xfrm>
            <a:off x="5116379" y="5069620"/>
            <a:ext cx="898248" cy="1010172"/>
            <a:chOff x="444286" y="5164143"/>
            <a:chExt cx="898248" cy="1010172"/>
          </a:xfrm>
        </p:grpSpPr>
        <p:cxnSp>
          <p:nvCxnSpPr>
            <p:cNvPr id="70" name="직선 연결선 69">
              <a:extLst>
                <a:ext uri="{FF2B5EF4-FFF2-40B4-BE49-F238E27FC236}">
                  <a16:creationId xmlns="" xmlns:a16="http://schemas.microsoft.com/office/drawing/2014/main" id="{457C5B12-D204-490D-9D8C-0C75A56CF030}"/>
                </a:ext>
              </a:extLst>
            </p:cNvPr>
            <p:cNvCxnSpPr/>
            <p:nvPr/>
          </p:nvCxnSpPr>
          <p:spPr bwMode="auto">
            <a:xfrm>
              <a:off x="881884" y="5164143"/>
              <a:ext cx="0" cy="1010172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rgbClr val="CB1F69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9" name="그룹 63">
              <a:extLst>
                <a:ext uri="{FF2B5EF4-FFF2-40B4-BE49-F238E27FC236}">
                  <a16:creationId xmlns="" xmlns:a16="http://schemas.microsoft.com/office/drawing/2014/main" id="{F9021DE3-78BB-45C0-8285-BA9D82EF7450}"/>
                </a:ext>
              </a:extLst>
            </p:cNvPr>
            <p:cNvGrpSpPr/>
            <p:nvPr/>
          </p:nvGrpSpPr>
          <p:grpSpPr>
            <a:xfrm>
              <a:off x="444286" y="5224644"/>
              <a:ext cx="898248" cy="898244"/>
              <a:chOff x="2095477" y="7685016"/>
              <a:chExt cx="742607" cy="742604"/>
            </a:xfrm>
          </p:grpSpPr>
          <p:sp>
            <p:nvSpPr>
              <p:cNvPr id="72" name="타원 71">
                <a:extLst>
                  <a:ext uri="{FF2B5EF4-FFF2-40B4-BE49-F238E27FC236}">
                    <a16:creationId xmlns="" xmlns:a16="http://schemas.microsoft.com/office/drawing/2014/main" id="{CC17D912-3EA8-41E9-83AC-1E80C1BD73DD}"/>
                  </a:ext>
                </a:extLst>
              </p:cNvPr>
              <p:cNvSpPr/>
              <p:nvPr/>
            </p:nvSpPr>
            <p:spPr>
              <a:xfrm>
                <a:off x="2095477" y="7685016"/>
                <a:ext cx="742607" cy="74260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latinLnBrk="0"/>
                <a:endParaRPr lang="ko-KR" altLang="en-US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="" xmlns:a16="http://schemas.microsoft.com/office/drawing/2014/main" id="{6F10D0DF-C574-4F2D-87CD-BEA3D0C58001}"/>
                  </a:ext>
                </a:extLst>
              </p:cNvPr>
              <p:cNvSpPr/>
              <p:nvPr/>
            </p:nvSpPr>
            <p:spPr>
              <a:xfrm>
                <a:off x="2178270" y="7767808"/>
                <a:ext cx="577019" cy="577018"/>
              </a:xfrm>
              <a:prstGeom prst="ellipse">
                <a:avLst/>
              </a:prstGeom>
              <a:solidFill>
                <a:srgbClr val="508CD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rthographicFront"/>
                  <a:lightRig rig="threePt" dir="t"/>
                </a:scene3d>
                <a:sp3d>
                  <a:bevelT w="0" h="12700"/>
                  <a:bevelB w="0" h="0"/>
                </a:sp3d>
              </a:bodyPr>
              <a:lstStyle/>
              <a:p>
                <a:pPr algn="ctr" latinLnBrk="0">
                  <a:buSzPct val="80000"/>
                  <a:defRPr/>
                </a:pPr>
                <a:endParaRPr lang="ko-KR" altLang="en-US" b="1" kern="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="" xmlns:a16="http://schemas.microsoft.com/office/drawing/2014/main" id="{F9BC0245-1D9D-4379-9731-3507C9CD25E0}"/>
                  </a:ext>
                </a:extLst>
              </p:cNvPr>
              <p:cNvSpPr/>
              <p:nvPr/>
            </p:nvSpPr>
            <p:spPr>
              <a:xfrm>
                <a:off x="2144816" y="7734357"/>
                <a:ext cx="643932" cy="643926"/>
              </a:xfrm>
              <a:prstGeom prst="ellipse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latinLnBrk="0"/>
                <a:endParaRPr lang="ko-KR" altLang="en-US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5" name="제목 1">
                <a:extLst>
                  <a:ext uri="{FF2B5EF4-FFF2-40B4-BE49-F238E27FC236}">
                    <a16:creationId xmlns="" xmlns:a16="http://schemas.microsoft.com/office/drawing/2014/main" id="{F40546FA-914F-4727-8C3A-7A1D8E1F734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77017" y="7840036"/>
                <a:ext cx="360468" cy="432561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12700"/>
                </a:sp3d>
              </a:bodyPr>
              <a:lstStyle>
                <a:lvl1pPr algn="ctr" defTabSz="914400" rtl="0" eaLnBrk="1" latinLnBrk="1" hangingPunct="1"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pPr latinLnBrk="0">
                  <a:defRPr/>
                </a:pPr>
                <a:r>
                  <a:rPr lang="ko-KR" altLang="en-US" sz="1700" b="1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  <a:cs typeface="Arial" pitchFamily="34" charset="0"/>
                  </a:rPr>
                  <a:t>개선</a:t>
                </a:r>
                <a:r>
                  <a:rPr lang="en-US" altLang="ko-KR" sz="1700" b="1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  <a:cs typeface="Arial" pitchFamily="34" charset="0"/>
                  </a:rPr>
                  <a:t/>
                </a:r>
                <a:br>
                  <a:rPr lang="en-US" altLang="ko-KR" sz="1700" b="1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  <a:cs typeface="Arial" pitchFamily="34" charset="0"/>
                  </a:rPr>
                </a:br>
                <a:r>
                  <a:rPr lang="ko-KR" altLang="en-US" sz="1700" b="1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  <a:cs typeface="Arial" pitchFamily="34" charset="0"/>
                  </a:rPr>
                  <a:t>방안</a:t>
                </a:r>
              </a:p>
            </p:txBody>
          </p:sp>
        </p:grpSp>
      </p:grpSp>
      <p:sp>
        <p:nvSpPr>
          <p:cNvPr id="76" name="AutoShape 35">
            <a:extLst>
              <a:ext uri="{FF2B5EF4-FFF2-40B4-BE49-F238E27FC236}">
                <a16:creationId xmlns="" xmlns:a16="http://schemas.microsoft.com/office/drawing/2014/main" id="{975881C9-B194-4CE8-B334-76B870F33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3983" y="5113571"/>
            <a:ext cx="3345364" cy="893065"/>
          </a:xfrm>
          <a:prstGeom prst="rect">
            <a:avLst/>
          </a:prstGeom>
          <a:noFill/>
          <a:extLst/>
        </p:spPr>
        <p:txBody>
          <a:bodyPr wrap="square" lIns="0" tIns="0" rIns="0" bIns="0" rtlCol="0" anchor="ctr" anchorCtr="0">
            <a:noAutofit/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신뢰성 제고를 위한 견고한 </a:t>
            </a:r>
            <a: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품질관리체계 수립</a:t>
            </a:r>
            <a:endParaRPr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효율적인 데이터품질관리 수행을 </a:t>
            </a:r>
            <a:r>
              <a:rPr lang="ko-KR" altLang="en-US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위한 </a:t>
            </a:r>
            <a:r>
              <a:rPr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표준화 방안 수립 </a:t>
            </a:r>
            <a:r>
              <a:rPr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 </a:t>
            </a:r>
            <a:r>
              <a:rPr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적용</a:t>
            </a:r>
            <a:endParaRPr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82563" indent="-182563" latinLnBrk="0">
              <a:spcBef>
                <a:spcPts val="500"/>
              </a:spcBef>
              <a:buClr>
                <a:srgbClr val="7F7F7F"/>
              </a:buClr>
              <a:buSzPct val="110000"/>
              <a:buFontTx/>
              <a:buBlip>
                <a:blip r:embed="rId2"/>
              </a:buBlip>
              <a:tabLst>
                <a:tab pos="628650" algn="l"/>
              </a:tabLst>
            </a:pP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데이터표준화에 의한 통합 </a:t>
            </a:r>
            <a:r>
              <a:rPr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</a:t>
            </a:r>
            <a:r>
              <a:rPr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일관성 확보 및 데이터 품질 제고</a:t>
            </a:r>
            <a:endParaRPr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77" name="Picture 4" descr="C:\Users\hoya\Desktop\Vector Smart Object1.png">
            <a:extLst>
              <a:ext uri="{FF2B5EF4-FFF2-40B4-BE49-F238E27FC236}">
                <a16:creationId xmlns="" xmlns:a16="http://schemas.microsoft.com/office/drawing/2014/main" id="{FEF8D469-2E7D-4EF7-AB23-35A81E952B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20000" contrast="-200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 bwMode="auto">
          <a:xfrm>
            <a:off x="9031143" y="4884076"/>
            <a:ext cx="368204" cy="312202"/>
          </a:xfrm>
          <a:prstGeom prst="rect">
            <a:avLst/>
          </a:prstGeom>
          <a:noFill/>
        </p:spPr>
      </p:pic>
      <p:grpSp>
        <p:nvGrpSpPr>
          <p:cNvPr id="10" name="그룹 113">
            <a:extLst>
              <a:ext uri="{FF2B5EF4-FFF2-40B4-BE49-F238E27FC236}">
                <a16:creationId xmlns="" xmlns:a16="http://schemas.microsoft.com/office/drawing/2014/main" id="{F96E6D34-569D-4C56-8DF5-E625B40736BC}"/>
              </a:ext>
            </a:extLst>
          </p:cNvPr>
          <p:cNvGrpSpPr/>
          <p:nvPr/>
        </p:nvGrpSpPr>
        <p:grpSpPr>
          <a:xfrm>
            <a:off x="522067" y="2013484"/>
            <a:ext cx="3719763" cy="215444"/>
            <a:chOff x="569069" y="1542072"/>
            <a:chExt cx="3719763" cy="215444"/>
          </a:xfrm>
        </p:grpSpPr>
        <p:sp>
          <p:nvSpPr>
            <p:cNvPr id="115" name="TextBox 114">
              <a:extLst>
                <a:ext uri="{FF2B5EF4-FFF2-40B4-BE49-F238E27FC236}">
                  <a16:creationId xmlns="" xmlns:a16="http://schemas.microsoft.com/office/drawing/2014/main" id="{E234C87A-9D66-4F2C-9A69-F925A618D1A5}"/>
                </a:ext>
              </a:extLst>
            </p:cNvPr>
            <p:cNvSpPr txBox="1"/>
            <p:nvPr/>
          </p:nvSpPr>
          <p:spPr>
            <a:xfrm>
              <a:off x="798929" y="1542072"/>
              <a:ext cx="34899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>
              <a:defPPr>
                <a:defRPr lang="ko-KR"/>
              </a:defPPr>
              <a:lvl1pPr algn="ctr">
                <a:spcBef>
                  <a:spcPts val="20"/>
                </a:spcBef>
                <a:defRPr sz="1100" spc="-100"/>
              </a:lvl1pPr>
            </a:lstStyle>
            <a:p>
              <a:pPr algn="l" fontAlgn="base">
                <a:buClr>
                  <a:prstClr val="black"/>
                </a:buClr>
              </a:pPr>
              <a:r>
                <a:rPr lang="ko-KR" altLang="en-US" sz="1400" b="1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맑은 고딕" pitchFamily="50" charset="-127"/>
                  <a:ea typeface="맑은 고딕" pitchFamily="50" charset="-127"/>
                </a:rPr>
                <a:t>데이터 품질관리체계 미비로 데이터 품질 저하</a:t>
              </a:r>
              <a:endParaRPr lang="en-US" altLang="ko-KR" sz="1400" b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6" name="이등변 삼각형 115">
              <a:extLst>
                <a:ext uri="{FF2B5EF4-FFF2-40B4-BE49-F238E27FC236}">
                  <a16:creationId xmlns="" xmlns:a16="http://schemas.microsoft.com/office/drawing/2014/main" id="{7C7E0824-B05E-4817-B39D-4DEB68B59366}"/>
                </a:ext>
              </a:extLst>
            </p:cNvPr>
            <p:cNvSpPr/>
            <p:nvPr/>
          </p:nvSpPr>
          <p:spPr>
            <a:xfrm rot="5400000">
              <a:off x="569069" y="1559794"/>
              <a:ext cx="180000" cy="180000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12700"/>
                <a:bevelB w="0" h="0"/>
              </a:sp3d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  <a:buSzPct val="80000"/>
                <a:defRPr/>
              </a:pPr>
              <a:endParaRPr lang="ko-KR" altLang="en-US" b="1" kern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28" name="TextBox 127">
            <a:extLst>
              <a:ext uri="{FF2B5EF4-FFF2-40B4-BE49-F238E27FC236}">
                <a16:creationId xmlns="" xmlns:a16="http://schemas.microsoft.com/office/drawing/2014/main" id="{45B81D79-9E48-476D-8B07-36FA2FFB5BE0}"/>
              </a:ext>
            </a:extLst>
          </p:cNvPr>
          <p:cNvSpPr txBox="1"/>
          <p:nvPr/>
        </p:nvSpPr>
        <p:spPr>
          <a:xfrm>
            <a:off x="5435014" y="2013484"/>
            <a:ext cx="383803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  <a:scene3d>
              <a:camera prst="orthographicFront"/>
              <a:lightRig rig="threePt" dir="t"/>
            </a:scene3d>
            <a:sp3d>
              <a:bevelT w="0" h="38100"/>
            </a:sp3d>
          </a:bodyPr>
          <a:lstStyle>
            <a:defPPr>
              <a:defRPr lang="ko-KR"/>
            </a:defPPr>
            <a:lvl1pPr algn="ctr">
              <a:spcBef>
                <a:spcPts val="20"/>
              </a:spcBef>
              <a:defRPr sz="1100" spc="-100"/>
            </a:lvl1pPr>
          </a:lstStyle>
          <a:p>
            <a:pPr algn="l" fontAlgn="base">
              <a:buClr>
                <a:prstClr val="black"/>
              </a:buClr>
            </a:pPr>
            <a:r>
              <a:rPr lang="ko-KR" altLang="en-US" sz="1400" b="1" dirty="0">
                <a:solidFill>
                  <a:prstClr val="black">
                    <a:lumMod val="50000"/>
                    <a:lumOff val="50000"/>
                  </a:prstClr>
                </a:solidFill>
                <a:latin typeface="맑은 고딕" pitchFamily="50" charset="-127"/>
                <a:ea typeface="맑은 고딕" pitchFamily="50" charset="-127"/>
              </a:rPr>
              <a:t>데이터품질관리체계 강화 및 지원 시스템 구축</a:t>
            </a:r>
            <a:endParaRPr lang="en-US" altLang="ko-KR" sz="1400" b="1" dirty="0">
              <a:solidFill>
                <a:prstClr val="black">
                  <a:lumMod val="50000"/>
                  <a:lumOff val="50000"/>
                </a:prst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이등변 삼각형 128">
            <a:extLst>
              <a:ext uri="{FF2B5EF4-FFF2-40B4-BE49-F238E27FC236}">
                <a16:creationId xmlns="" xmlns:a16="http://schemas.microsoft.com/office/drawing/2014/main" id="{3DF384F5-72E8-457F-8BFA-893B9A088190}"/>
              </a:ext>
            </a:extLst>
          </p:cNvPr>
          <p:cNvSpPr/>
          <p:nvPr/>
        </p:nvSpPr>
        <p:spPr>
          <a:xfrm rot="5400000">
            <a:off x="5205154" y="2031206"/>
            <a:ext cx="180000" cy="180000"/>
          </a:xfrm>
          <a:prstGeom prst="triangle">
            <a:avLst/>
          </a:prstGeom>
          <a:solidFill>
            <a:srgbClr val="2195C1"/>
          </a:solidFill>
          <a:ln>
            <a:solidFill>
              <a:srgbClr val="2195C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" name="그룹 78"/>
          <p:cNvGrpSpPr/>
          <p:nvPr/>
        </p:nvGrpSpPr>
        <p:grpSpPr>
          <a:xfrm>
            <a:off x="641918" y="2403251"/>
            <a:ext cx="4033433" cy="2356311"/>
            <a:chOff x="568173" y="1997214"/>
            <a:chExt cx="4349356" cy="2690441"/>
          </a:xfrm>
        </p:grpSpPr>
        <p:grpSp>
          <p:nvGrpSpPr>
            <p:cNvPr id="12" name="그룹 79"/>
            <p:cNvGrpSpPr/>
            <p:nvPr/>
          </p:nvGrpSpPr>
          <p:grpSpPr>
            <a:xfrm>
              <a:off x="3811648" y="3037668"/>
              <a:ext cx="830911" cy="699663"/>
              <a:chOff x="3901001" y="3037668"/>
              <a:chExt cx="830911" cy="699663"/>
            </a:xfrm>
          </p:grpSpPr>
          <p:pic>
            <p:nvPicPr>
              <p:cNvPr id="182" name="Picture 155" descr="3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 l="8655" t="63850" r="62900" b="17926"/>
              <a:stretch>
                <a:fillRect/>
              </a:stretch>
            </p:blipFill>
            <p:spPr bwMode="auto">
              <a:xfrm>
                <a:off x="3901001" y="3037668"/>
                <a:ext cx="830911" cy="52913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83" name="직사각형 182"/>
              <p:cNvSpPr/>
              <p:nvPr/>
            </p:nvSpPr>
            <p:spPr>
              <a:xfrm>
                <a:off x="4086210" y="3605549"/>
                <a:ext cx="464982" cy="1317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ctr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ko-KR" altLang="en-US" sz="900" b="1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통합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DB</a:t>
                </a:r>
                <a:endParaRPr lang="ko-KR" altLang="en-US" sz="900" b="1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4" name="직사각형 183"/>
              <p:cNvSpPr/>
              <p:nvPr/>
            </p:nvSpPr>
            <p:spPr>
              <a:xfrm>
                <a:off x="3989832" y="3258051"/>
                <a:ext cx="201295" cy="88363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5" name="직사각형 184"/>
              <p:cNvSpPr/>
              <p:nvPr/>
            </p:nvSpPr>
            <p:spPr>
              <a:xfrm>
                <a:off x="4222907" y="3377106"/>
                <a:ext cx="201295" cy="88363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6" name="직사각형 185"/>
              <p:cNvSpPr/>
              <p:nvPr/>
            </p:nvSpPr>
            <p:spPr>
              <a:xfrm>
                <a:off x="4460877" y="3258051"/>
                <a:ext cx="201295" cy="88363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7" name="직사각형 186"/>
              <p:cNvSpPr/>
              <p:nvPr/>
            </p:nvSpPr>
            <p:spPr>
              <a:xfrm>
                <a:off x="4460877" y="3377106"/>
                <a:ext cx="201295" cy="88363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8" name="폭발 1 187"/>
              <p:cNvSpPr/>
              <p:nvPr/>
            </p:nvSpPr>
            <p:spPr>
              <a:xfrm>
                <a:off x="4249784" y="3223267"/>
                <a:ext cx="169078" cy="169077"/>
              </a:xfrm>
              <a:prstGeom prst="irregularSeal1">
                <a:avLst/>
              </a:prstGeom>
              <a:solidFill>
                <a:srgbClr val="FFC000"/>
              </a:solidFill>
              <a:ln w="63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error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9" name="폭발 1 188"/>
              <p:cNvSpPr/>
              <p:nvPr/>
            </p:nvSpPr>
            <p:spPr>
              <a:xfrm>
                <a:off x="4013218" y="3344703"/>
                <a:ext cx="169078" cy="169077"/>
              </a:xfrm>
              <a:prstGeom prst="irregularSeal1">
                <a:avLst/>
              </a:prstGeom>
              <a:solidFill>
                <a:srgbClr val="FFC000"/>
              </a:solidFill>
              <a:ln w="63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ko-KR" sz="5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error</a:t>
                </a:r>
                <a:endParaRPr lang="ko-KR" altLang="en-US" sz="5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81" name="오른쪽 중괄호 80"/>
            <p:cNvSpPr/>
            <p:nvPr/>
          </p:nvSpPr>
          <p:spPr>
            <a:xfrm>
              <a:off x="2945532" y="2060848"/>
              <a:ext cx="137285" cy="2573641"/>
            </a:xfrm>
            <a:prstGeom prst="rightBrace">
              <a:avLst>
                <a:gd name="adj1" fmla="val 58986"/>
                <a:gd name="adj2" fmla="val 53515"/>
              </a:avLst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3175843" y="2060848"/>
              <a:ext cx="326555" cy="257364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50000"/>
              </a:schemeClr>
            </a:solidFill>
            <a:ln w="12700">
              <a:solidFill>
                <a:schemeClr val="bg1">
                  <a:lumMod val="50000"/>
                </a:schemeClr>
              </a:solidFill>
            </a:ln>
            <a:effectLst>
              <a:outerShdw blurRad="254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0" rIns="36000" bIns="0" anchor="ctr">
              <a:noAutofit/>
            </a:bodyPr>
            <a:lstStyle/>
            <a:p>
              <a:pPr algn="ctr"/>
              <a:r>
                <a:rPr lang="ko-KR" altLang="en-US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품질관리</a:t>
              </a:r>
              <a: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체계 </a:t>
              </a:r>
              <a: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미비</a:t>
              </a:r>
            </a:p>
          </p:txBody>
        </p:sp>
        <p:grpSp>
          <p:nvGrpSpPr>
            <p:cNvPr id="13" name="그룹 82"/>
            <p:cNvGrpSpPr/>
            <p:nvPr/>
          </p:nvGrpSpPr>
          <p:grpSpPr>
            <a:xfrm>
              <a:off x="3667816" y="3753361"/>
              <a:ext cx="1194781" cy="934294"/>
              <a:chOff x="3688186" y="3753361"/>
              <a:chExt cx="1194781" cy="934294"/>
            </a:xfrm>
          </p:grpSpPr>
          <p:sp>
            <p:nvSpPr>
              <p:cNvPr id="178" name="직사각형 177"/>
              <p:cNvSpPr/>
              <p:nvPr/>
            </p:nvSpPr>
            <p:spPr>
              <a:xfrm>
                <a:off x="4021848" y="4555873"/>
                <a:ext cx="518568" cy="1317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t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ko-KR" altLang="en-US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업무담당자</a:t>
                </a:r>
              </a:p>
            </p:txBody>
          </p:sp>
          <p:pic>
            <p:nvPicPr>
              <p:cNvPr id="179" name="Picture 50" descr="D:\모스트비주얼\아이콘 작업\왜가리\2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4180341" y="4158144"/>
                <a:ext cx="201581" cy="35695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cxnSp>
            <p:nvCxnSpPr>
              <p:cNvPr id="180" name="직선 화살표 연결선 179"/>
              <p:cNvCxnSpPr/>
              <p:nvPr/>
            </p:nvCxnSpPr>
            <p:spPr>
              <a:xfrm flipV="1">
                <a:off x="4281131" y="3753361"/>
                <a:ext cx="0" cy="366597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직사각형 180"/>
              <p:cNvSpPr/>
              <p:nvPr/>
            </p:nvSpPr>
            <p:spPr>
              <a:xfrm>
                <a:off x="3688186" y="3796129"/>
                <a:ext cx="1194781" cy="4568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낮은 데이터 신뢰도</a:t>
                </a:r>
                <a:endParaRPr lang="en-US" altLang="ko-KR" sz="1000" b="1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업무 생산성 저하</a:t>
                </a:r>
                <a:endParaRPr lang="ko-KR" altLang="en-US" sz="1000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4" name="그룹 83"/>
            <p:cNvGrpSpPr/>
            <p:nvPr/>
          </p:nvGrpSpPr>
          <p:grpSpPr>
            <a:xfrm>
              <a:off x="3612345" y="1997214"/>
              <a:ext cx="1305184" cy="1067403"/>
              <a:chOff x="3664736" y="1997214"/>
              <a:chExt cx="1305184" cy="1067403"/>
            </a:xfrm>
          </p:grpSpPr>
          <p:sp>
            <p:nvSpPr>
              <p:cNvPr id="170" name="직사각형 169"/>
              <p:cNvSpPr/>
              <p:nvPr/>
            </p:nvSpPr>
            <p:spPr>
              <a:xfrm>
                <a:off x="3737229" y="2394942"/>
                <a:ext cx="518568" cy="2635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t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ko-KR" altLang="en-US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r>
                  <a:rPr lang="en-US" altLang="ko-KR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품질관리자</a:t>
                </a:r>
              </a:p>
            </p:txBody>
          </p:sp>
          <p:pic>
            <p:nvPicPr>
              <p:cNvPr id="171" name="Picture 50" descr="D:\모스트비주얼\아이콘 작업\왜가리\2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3895721" y="1997214"/>
                <a:ext cx="201581" cy="35695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cxnSp>
            <p:nvCxnSpPr>
              <p:cNvPr id="172" name="직선 화살표 연결선 171"/>
              <p:cNvCxnSpPr/>
              <p:nvPr/>
            </p:nvCxnSpPr>
            <p:spPr>
              <a:xfrm rot="10800000" flipV="1">
                <a:off x="3996512" y="2554866"/>
                <a:ext cx="0" cy="50400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직사각형 172"/>
              <p:cNvSpPr/>
              <p:nvPr/>
            </p:nvSpPr>
            <p:spPr>
              <a:xfrm>
                <a:off x="4360639" y="2394942"/>
                <a:ext cx="414854" cy="1317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t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ko-KR" altLang="en-US" sz="900" kern="0" spc="-1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개발업체</a:t>
                </a:r>
              </a:p>
            </p:txBody>
          </p:sp>
          <p:pic>
            <p:nvPicPr>
              <p:cNvPr id="174" name="Picture 50" descr="D:\모스트비주얼\아이콘 작업\왜가리\2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4467275" y="1997214"/>
                <a:ext cx="201581" cy="35695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cxnSp>
            <p:nvCxnSpPr>
              <p:cNvPr id="175" name="직선 화살표 연결선 174"/>
              <p:cNvCxnSpPr/>
              <p:nvPr/>
            </p:nvCxnSpPr>
            <p:spPr>
              <a:xfrm rot="10800000" flipV="1">
                <a:off x="4568066" y="2554866"/>
                <a:ext cx="0" cy="50400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직사각형 175"/>
              <p:cNvSpPr/>
              <p:nvPr/>
            </p:nvSpPr>
            <p:spPr>
              <a:xfrm>
                <a:off x="3664736" y="2607771"/>
                <a:ext cx="669299" cy="4568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품질업무</a:t>
                </a:r>
                <a:r>
                  <a:rPr lang="en-US" altLang="ko-KR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비효율</a:t>
                </a:r>
                <a:endParaRPr lang="ko-KR" altLang="en-US" sz="1000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4183079" y="2607771"/>
                <a:ext cx="786841" cy="4568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데이터설계</a:t>
                </a:r>
                <a:endParaRPr lang="en-US" altLang="ko-KR" sz="1000" b="1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1000" b="1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어려움</a:t>
                </a:r>
              </a:p>
            </p:txBody>
          </p:sp>
        </p:grpSp>
        <p:sp>
          <p:nvSpPr>
            <p:cNvPr id="85" name="이등변 삼각형 84"/>
            <p:cNvSpPr/>
            <p:nvPr/>
          </p:nvSpPr>
          <p:spPr>
            <a:xfrm rot="5400000">
              <a:off x="3366746" y="3242682"/>
              <a:ext cx="557566" cy="137514"/>
            </a:xfrm>
            <a:prstGeom prst="triangle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모서리가 둥근 직사각형 85"/>
            <p:cNvSpPr/>
            <p:nvPr/>
          </p:nvSpPr>
          <p:spPr>
            <a:xfrm>
              <a:off x="658161" y="4202489"/>
              <a:ext cx="2304000" cy="432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  <a:alpha val="20000"/>
              </a:schemeClr>
            </a:solidFill>
            <a:ln w="19050">
              <a:solidFill>
                <a:schemeClr val="bg1">
                  <a:lumMod val="50000"/>
                  <a:alpha val="92000"/>
                </a:schemeClr>
              </a:solidFill>
            </a:ln>
          </p:spPr>
          <p:txBody>
            <a:bodyPr wrap="square" lIns="0" rIns="540000" anchor="ctr">
              <a:noAutofit/>
            </a:bodyPr>
            <a:lstStyle/>
            <a:p>
              <a:pPr marL="88900" algn="ctr"/>
              <a:r>
                <a:rPr lang="ko-KR" altLang="en-US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데이터품질관리 </a:t>
              </a:r>
              <a:r>
                <a:rPr lang="en-US" altLang="ko-KR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지원 시스템 부재</a:t>
              </a:r>
            </a:p>
          </p:txBody>
        </p:sp>
        <p:sp>
          <p:nvSpPr>
            <p:cNvPr id="87" name="폭발 1 86"/>
            <p:cNvSpPr/>
            <p:nvPr/>
          </p:nvSpPr>
          <p:spPr>
            <a:xfrm>
              <a:off x="568173" y="4263182"/>
              <a:ext cx="288000" cy="299531"/>
            </a:xfrm>
            <a:prstGeom prst="irregularSeal1">
              <a:avLst/>
            </a:prstGeom>
            <a:solidFill>
              <a:srgbClr val="FFC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5" name="그룹 87"/>
            <p:cNvGrpSpPr/>
            <p:nvPr/>
          </p:nvGrpSpPr>
          <p:grpSpPr>
            <a:xfrm>
              <a:off x="2256711" y="4248837"/>
              <a:ext cx="613688" cy="335799"/>
              <a:chOff x="886041" y="4248837"/>
              <a:chExt cx="613688" cy="335799"/>
            </a:xfrm>
          </p:grpSpPr>
          <p:pic>
            <p:nvPicPr>
              <p:cNvPr id="166" name="Picture 79" descr="13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903519" y="4248837"/>
                <a:ext cx="232579" cy="2874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55" descr="3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 l="8655" t="63850" r="62900" b="17926"/>
              <a:stretch>
                <a:fillRect/>
              </a:stretch>
            </p:blipFill>
            <p:spPr bwMode="auto">
              <a:xfrm>
                <a:off x="1234975" y="4322891"/>
                <a:ext cx="264754" cy="13933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cxnSp>
            <p:nvCxnSpPr>
              <p:cNvPr id="168" name="직선 연결선 167"/>
              <p:cNvCxnSpPr>
                <a:stCxn id="166" idx="3"/>
                <a:endCxn id="167" idx="1"/>
              </p:cNvCxnSpPr>
              <p:nvPr/>
            </p:nvCxnSpPr>
            <p:spPr>
              <a:xfrm>
                <a:off x="1136098" y="4392559"/>
                <a:ext cx="98877" cy="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직사각형 168"/>
              <p:cNvSpPr/>
              <p:nvPr/>
            </p:nvSpPr>
            <p:spPr>
              <a:xfrm>
                <a:off x="886041" y="4409146"/>
                <a:ext cx="217798" cy="1754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t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en-US" altLang="ko-KR" sz="2400" b="1" kern="0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×</a:t>
                </a:r>
                <a:endParaRPr lang="ko-KR" altLang="en-US" sz="2400" b="1" kern="0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89" name="모서리가 둥근 직사각형 88"/>
            <p:cNvSpPr/>
            <p:nvPr/>
          </p:nvSpPr>
          <p:spPr>
            <a:xfrm>
              <a:off x="658161" y="2060849"/>
              <a:ext cx="2304000" cy="432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  <a:alpha val="20000"/>
              </a:schemeClr>
            </a:solidFill>
            <a:ln w="19050">
              <a:solidFill>
                <a:schemeClr val="bg1">
                  <a:lumMod val="50000"/>
                  <a:alpha val="92000"/>
                </a:schemeClr>
              </a:solidFill>
            </a:ln>
          </p:spPr>
          <p:txBody>
            <a:bodyPr wrap="none" lIns="108000" rIns="612000" anchor="ctr">
              <a:noAutofit/>
            </a:bodyPr>
            <a:lstStyle/>
            <a:p>
              <a:pPr marL="88900" algn="ctr"/>
              <a:r>
                <a:rPr lang="ko-KR" altLang="en-US" sz="1050" b="1" spc="-12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조직 </a:t>
              </a:r>
              <a:r>
                <a:rPr lang="en-US" altLang="ko-KR" sz="1050" b="1" spc="-12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1050" b="1" spc="-12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전담관리자 </a:t>
              </a:r>
              <a:r>
                <a:rPr lang="ko-KR" altLang="en-US" sz="1050" b="1" spc="-12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부재</a:t>
              </a:r>
            </a:p>
          </p:txBody>
        </p:sp>
        <p:sp>
          <p:nvSpPr>
            <p:cNvPr id="90" name="폭발 1 89"/>
            <p:cNvSpPr/>
            <p:nvPr/>
          </p:nvSpPr>
          <p:spPr>
            <a:xfrm>
              <a:off x="568173" y="2119247"/>
              <a:ext cx="288000" cy="299531"/>
            </a:xfrm>
            <a:prstGeom prst="irregularSeal1">
              <a:avLst/>
            </a:prstGeom>
            <a:solidFill>
              <a:srgbClr val="FFC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6" name="그룹 90"/>
            <p:cNvGrpSpPr/>
            <p:nvPr/>
          </p:nvGrpSpPr>
          <p:grpSpPr>
            <a:xfrm>
              <a:off x="2313237" y="2147687"/>
              <a:ext cx="518115" cy="231196"/>
              <a:chOff x="1353303" y="2059985"/>
              <a:chExt cx="1221688" cy="450537"/>
            </a:xfrm>
            <a:solidFill>
              <a:schemeClr val="bg1"/>
            </a:solidFill>
          </p:grpSpPr>
          <p:sp>
            <p:nvSpPr>
              <p:cNvPr id="160" name="직사각형 159"/>
              <p:cNvSpPr/>
              <p:nvPr/>
            </p:nvSpPr>
            <p:spPr>
              <a:xfrm>
                <a:off x="1676988" y="2059985"/>
                <a:ext cx="574319" cy="172195"/>
              </a:xfrm>
              <a:prstGeom prst="rect">
                <a:avLst/>
              </a:prstGeom>
              <a:grpFill/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grpSp>
            <p:nvGrpSpPr>
              <p:cNvPr id="17" name="그룹 160"/>
              <p:cNvGrpSpPr/>
              <p:nvPr/>
            </p:nvGrpSpPr>
            <p:grpSpPr>
              <a:xfrm>
                <a:off x="1353303" y="2338327"/>
                <a:ext cx="1221688" cy="172195"/>
                <a:chOff x="1353303" y="2338327"/>
                <a:chExt cx="1221688" cy="172195"/>
              </a:xfrm>
              <a:grpFill/>
            </p:grpSpPr>
            <p:sp>
              <p:nvSpPr>
                <p:cNvPr id="164" name="직사각형 163"/>
                <p:cNvSpPr/>
                <p:nvPr/>
              </p:nvSpPr>
              <p:spPr>
                <a:xfrm>
                  <a:off x="1353303" y="2338327"/>
                  <a:ext cx="574319" cy="172195"/>
                </a:xfrm>
                <a:prstGeom prst="rect">
                  <a:avLst/>
                </a:prstGeom>
                <a:grpFill/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65" name="직사각형 164"/>
                <p:cNvSpPr/>
                <p:nvPr/>
              </p:nvSpPr>
              <p:spPr>
                <a:xfrm>
                  <a:off x="2000672" y="2338327"/>
                  <a:ext cx="574319" cy="172195"/>
                </a:xfrm>
                <a:prstGeom prst="rect">
                  <a:avLst/>
                </a:prstGeom>
                <a:grpFill/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cxnSp>
            <p:nvCxnSpPr>
              <p:cNvPr id="162" name="꺾인 연결선 161"/>
              <p:cNvCxnSpPr>
                <a:stCxn id="164" idx="0"/>
                <a:endCxn id="160" idx="2"/>
              </p:cNvCxnSpPr>
              <p:nvPr/>
            </p:nvCxnSpPr>
            <p:spPr>
              <a:xfrm rot="5400000" flipH="1" flipV="1">
                <a:off x="1749232" y="2123412"/>
                <a:ext cx="106147" cy="323685"/>
              </a:xfrm>
              <a:prstGeom prst="bentConnector3">
                <a:avLst/>
              </a:prstGeom>
              <a:grpFill/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꺾인 연결선 162"/>
              <p:cNvCxnSpPr>
                <a:stCxn id="165" idx="0"/>
                <a:endCxn id="160" idx="2"/>
              </p:cNvCxnSpPr>
              <p:nvPr/>
            </p:nvCxnSpPr>
            <p:spPr>
              <a:xfrm rot="16200000" flipV="1">
                <a:off x="2072917" y="2123412"/>
                <a:ext cx="106147" cy="323684"/>
              </a:xfrm>
              <a:prstGeom prst="bentConnector3">
                <a:avLst/>
              </a:prstGeom>
              <a:grpFill/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2" name="모서리가 둥근 직사각형 91"/>
            <p:cNvSpPr/>
            <p:nvPr/>
          </p:nvSpPr>
          <p:spPr>
            <a:xfrm>
              <a:off x="658161" y="2630729"/>
              <a:ext cx="2304000" cy="648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  <a:alpha val="20000"/>
              </a:schemeClr>
            </a:solidFill>
            <a:ln w="19050">
              <a:solidFill>
                <a:schemeClr val="bg1">
                  <a:lumMod val="50000"/>
                  <a:alpha val="92000"/>
                </a:schemeClr>
              </a:solidFill>
            </a:ln>
          </p:spPr>
          <p:txBody>
            <a:bodyPr wrap="square" lIns="0" rIns="540000" anchor="ctr">
              <a:noAutofit/>
            </a:bodyPr>
            <a:lstStyle/>
            <a:p>
              <a:pPr marL="88900" algn="ctr"/>
              <a:r>
                <a:rPr lang="ko-KR" altLang="en-US" sz="1050" b="1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데이터품질관리 프로세스 </a:t>
              </a:r>
              <a:r>
                <a:rPr lang="en-US" altLang="ko-KR" sz="1050" b="1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1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50" b="1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1050" b="1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전사 데이터 표준 부재</a:t>
              </a:r>
            </a:p>
          </p:txBody>
        </p:sp>
        <p:sp>
          <p:nvSpPr>
            <p:cNvPr id="93" name="폭발 1 92"/>
            <p:cNvSpPr/>
            <p:nvPr/>
          </p:nvSpPr>
          <p:spPr>
            <a:xfrm>
              <a:off x="568173" y="2802942"/>
              <a:ext cx="288000" cy="299531"/>
            </a:xfrm>
            <a:prstGeom prst="irregularSeal1">
              <a:avLst/>
            </a:prstGeom>
            <a:solidFill>
              <a:srgbClr val="FFC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8" name="그룹 93"/>
            <p:cNvGrpSpPr/>
            <p:nvPr/>
          </p:nvGrpSpPr>
          <p:grpSpPr>
            <a:xfrm>
              <a:off x="2292198" y="2691470"/>
              <a:ext cx="560193" cy="519256"/>
              <a:chOff x="823142" y="2691470"/>
              <a:chExt cx="560193" cy="519256"/>
            </a:xfrm>
          </p:grpSpPr>
          <p:grpSp>
            <p:nvGrpSpPr>
              <p:cNvPr id="19" name="그룹 145"/>
              <p:cNvGrpSpPr/>
              <p:nvPr/>
            </p:nvGrpSpPr>
            <p:grpSpPr>
              <a:xfrm>
                <a:off x="916338" y="2691470"/>
                <a:ext cx="352571" cy="279349"/>
                <a:chOff x="932213" y="2588167"/>
                <a:chExt cx="352571" cy="371812"/>
              </a:xfrm>
            </p:grpSpPr>
            <p:grpSp>
              <p:nvGrpSpPr>
                <p:cNvPr id="20" name="그룹 150"/>
                <p:cNvGrpSpPr/>
                <p:nvPr/>
              </p:nvGrpSpPr>
              <p:grpSpPr>
                <a:xfrm>
                  <a:off x="932213" y="2588167"/>
                  <a:ext cx="352571" cy="272351"/>
                  <a:chOff x="544946" y="3019901"/>
                  <a:chExt cx="567819" cy="272351"/>
                </a:xfrm>
              </p:grpSpPr>
              <p:sp>
                <p:nvSpPr>
                  <p:cNvPr id="153" name="직사각형 152"/>
                  <p:cNvSpPr/>
                  <p:nvPr/>
                </p:nvSpPr>
                <p:spPr>
                  <a:xfrm>
                    <a:off x="544946" y="3019901"/>
                    <a:ext cx="567819" cy="272351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endParaRPr>
                  </a:p>
                </p:txBody>
              </p:sp>
              <p:grpSp>
                <p:nvGrpSpPr>
                  <p:cNvPr id="21" name="그룹 153"/>
                  <p:cNvGrpSpPr/>
                  <p:nvPr/>
                </p:nvGrpSpPr>
                <p:grpSpPr>
                  <a:xfrm>
                    <a:off x="589610" y="3048553"/>
                    <a:ext cx="478491" cy="217076"/>
                    <a:chOff x="2912783" y="2235053"/>
                    <a:chExt cx="700559" cy="401859"/>
                  </a:xfrm>
                </p:grpSpPr>
                <p:sp>
                  <p:nvSpPr>
                    <p:cNvPr id="155" name="직사각형 154"/>
                    <p:cNvSpPr/>
                    <p:nvPr/>
                  </p:nvSpPr>
                  <p:spPr>
                    <a:xfrm>
                      <a:off x="2912783" y="2235053"/>
                      <a:ext cx="243567" cy="8836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dirty="0">
                        <a:solidFill>
                          <a:prstClr val="white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p:txBody>
                </p:sp>
                <p:sp>
                  <p:nvSpPr>
                    <p:cNvPr id="156" name="다이아몬드 155"/>
                    <p:cNvSpPr/>
                    <p:nvPr/>
                  </p:nvSpPr>
                  <p:spPr>
                    <a:xfrm>
                      <a:off x="3148585" y="2348880"/>
                      <a:ext cx="243567" cy="88363"/>
                    </a:xfrm>
                    <a:prstGeom prst="diamond">
                      <a:avLst/>
                    </a:prstGeom>
                    <a:solidFill>
                      <a:schemeClr val="bg1"/>
                    </a:solidFill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dirty="0">
                        <a:solidFill>
                          <a:prstClr val="white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p:txBody>
                </p:sp>
                <p:sp>
                  <p:nvSpPr>
                    <p:cNvPr id="157" name="직사각형 156"/>
                    <p:cNvSpPr/>
                    <p:nvPr/>
                  </p:nvSpPr>
                  <p:spPr>
                    <a:xfrm>
                      <a:off x="3369775" y="2548549"/>
                      <a:ext cx="243567" cy="8836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dirty="0">
                        <a:solidFill>
                          <a:prstClr val="white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p:txBody>
                </p:sp>
                <p:cxnSp>
                  <p:nvCxnSpPr>
                    <p:cNvPr id="158" name="꺾인 연결선 157"/>
                    <p:cNvCxnSpPr>
                      <a:stCxn id="157" idx="0"/>
                      <a:endCxn id="156" idx="2"/>
                    </p:cNvCxnSpPr>
                    <p:nvPr/>
                  </p:nvCxnSpPr>
                  <p:spPr>
                    <a:xfrm rot="16200000" flipV="1">
                      <a:off x="3325311" y="2382300"/>
                      <a:ext cx="111306" cy="221191"/>
                    </a:xfrm>
                    <a:prstGeom prst="bentConnector3">
                      <a:avLst/>
                    </a:prstGeom>
                    <a:solidFill>
                      <a:schemeClr val="bg1"/>
                    </a:solidFill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9" name="꺾인 연결선 158"/>
                    <p:cNvCxnSpPr>
                      <a:stCxn id="156" idx="0"/>
                      <a:endCxn id="155" idx="3"/>
                    </p:cNvCxnSpPr>
                    <p:nvPr/>
                  </p:nvCxnSpPr>
                  <p:spPr>
                    <a:xfrm rot="16200000" flipV="1">
                      <a:off x="3178537" y="2257049"/>
                      <a:ext cx="69645" cy="114018"/>
                    </a:xfrm>
                    <a:prstGeom prst="bentConnector2">
                      <a:avLst/>
                    </a:prstGeom>
                    <a:solidFill>
                      <a:schemeClr val="bg1"/>
                    </a:solidFill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52" name="직사각형 151"/>
                <p:cNvSpPr/>
                <p:nvPr/>
              </p:nvSpPr>
              <p:spPr>
                <a:xfrm>
                  <a:off x="990035" y="2726403"/>
                  <a:ext cx="212614" cy="23357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 anchor="t">
                  <a:spAutoFit/>
                </a:bodyPr>
                <a:lstStyle/>
                <a:p>
                  <a:pPr algn="ctr" defTabSz="691134">
                    <a:lnSpc>
                      <a:spcPts val="907"/>
                    </a:lnSpc>
                    <a:buClr>
                      <a:srgbClr val="3271AA"/>
                    </a:buClr>
                    <a:buSzPct val="140000"/>
                    <a:tabLst>
                      <a:tab pos="5121591" algn="l"/>
                    </a:tabLst>
                  </a:pPr>
                  <a:r>
                    <a:rPr lang="en-US" altLang="ko-KR" sz="2400" kern="0" spc="-150" dirty="0">
                      <a:solidFill>
                        <a:srgbClr val="C00000"/>
                      </a:solidFill>
                      <a:latin typeface="맑은 고딕" pitchFamily="50" charset="-127"/>
                      <a:ea typeface="맑은 고딕" pitchFamily="50" charset="-127"/>
                    </a:rPr>
                    <a:t>×</a:t>
                  </a:r>
                  <a:endParaRPr lang="ko-KR" altLang="en-US" sz="2400" kern="0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22" name="그룹 146"/>
              <p:cNvGrpSpPr/>
              <p:nvPr/>
            </p:nvGrpSpPr>
            <p:grpSpPr>
              <a:xfrm>
                <a:off x="823142" y="2957041"/>
                <a:ext cx="560193" cy="253685"/>
                <a:chOff x="1383575" y="3487490"/>
                <a:chExt cx="677833" cy="306959"/>
              </a:xfrm>
            </p:grpSpPr>
            <p:sp>
              <p:nvSpPr>
                <p:cNvPr id="148" name="직사각형 147"/>
                <p:cNvSpPr/>
                <p:nvPr/>
              </p:nvSpPr>
              <p:spPr>
                <a:xfrm>
                  <a:off x="1617595" y="3611351"/>
                  <a:ext cx="167324" cy="18133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 anchor="t">
                  <a:spAutoFit/>
                </a:bodyPr>
                <a:lstStyle/>
                <a:p>
                  <a:pPr algn="ctr" defTabSz="691134">
                    <a:lnSpc>
                      <a:spcPts val="907"/>
                    </a:lnSpc>
                    <a:buClr>
                      <a:srgbClr val="3271AA"/>
                    </a:buClr>
                    <a:buSzPct val="140000"/>
                    <a:tabLst>
                      <a:tab pos="5121591" algn="l"/>
                    </a:tabLst>
                  </a:pPr>
                  <a:r>
                    <a:rPr lang="ko-KR" altLang="en-US" sz="1600" b="1" kern="0" spc="-150" dirty="0">
                      <a:solidFill>
                        <a:srgbClr val="C00000"/>
                      </a:solidFill>
                      <a:latin typeface="맑은 고딕" pitchFamily="50" charset="-127"/>
                      <a:ea typeface="맑은 고딕" pitchFamily="50" charset="-127"/>
                    </a:rPr>
                    <a:t>≠</a:t>
                  </a:r>
                </a:p>
              </p:txBody>
            </p:sp>
            <p:sp>
              <p:nvSpPr>
                <p:cNvPr id="149" name="모서리가 접힌 도형 148"/>
                <p:cNvSpPr/>
                <p:nvPr/>
              </p:nvSpPr>
              <p:spPr>
                <a:xfrm>
                  <a:off x="1383575" y="3487490"/>
                  <a:ext cx="289825" cy="306959"/>
                </a:xfrm>
                <a:prstGeom prst="foldedCorner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36000" rtlCol="0" anchor="t"/>
                <a:lstStyle/>
                <a:p>
                  <a:pPr algn="ctr"/>
                  <a:r>
                    <a:rPr lang="ko-KR" altLang="en-US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사업 </a:t>
                  </a:r>
                  <a:r>
                    <a:rPr lang="en-US" altLang="ko-KR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1</a:t>
                  </a:r>
                </a:p>
                <a:p>
                  <a:pPr algn="ctr"/>
                  <a:r>
                    <a:rPr lang="ko-KR" altLang="en-US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표준 </a:t>
                  </a:r>
                  <a:r>
                    <a:rPr lang="en-US" altLang="ko-KR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A</a:t>
                  </a:r>
                  <a:endParaRPr lang="ko-KR" altLang="en-US" sz="6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50" name="모서리가 접힌 도형 149"/>
                <p:cNvSpPr/>
                <p:nvPr/>
              </p:nvSpPr>
              <p:spPr>
                <a:xfrm>
                  <a:off x="1771582" y="3487490"/>
                  <a:ext cx="289826" cy="306959"/>
                </a:xfrm>
                <a:prstGeom prst="foldedCorner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36000" rtlCol="0" anchor="t"/>
                <a:lstStyle/>
                <a:p>
                  <a:pPr algn="ctr"/>
                  <a:r>
                    <a:rPr lang="ko-KR" altLang="en-US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사업 </a:t>
                  </a:r>
                  <a:r>
                    <a:rPr lang="en-US" altLang="ko-KR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2</a:t>
                  </a:r>
                </a:p>
                <a:p>
                  <a:pPr algn="ctr"/>
                  <a:r>
                    <a:rPr lang="ko-KR" altLang="en-US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표준 </a:t>
                  </a:r>
                  <a:r>
                    <a:rPr lang="en-US" altLang="ko-KR" sz="6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B</a:t>
                  </a:r>
                  <a:endParaRPr lang="ko-KR" altLang="en-US" sz="6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</p:grpSp>
        <p:sp>
          <p:nvSpPr>
            <p:cNvPr id="95" name="모서리가 둥근 직사각형 94"/>
            <p:cNvSpPr/>
            <p:nvPr/>
          </p:nvSpPr>
          <p:spPr>
            <a:xfrm>
              <a:off x="658161" y="3416609"/>
              <a:ext cx="2304000" cy="648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  <a:alpha val="20000"/>
              </a:schemeClr>
            </a:solidFill>
            <a:ln w="19050">
              <a:solidFill>
                <a:schemeClr val="bg1">
                  <a:lumMod val="50000"/>
                  <a:alpha val="92000"/>
                </a:schemeClr>
              </a:solidFill>
            </a:ln>
          </p:spPr>
          <p:txBody>
            <a:bodyPr wrap="none" lIns="252000" rIns="756000" anchor="ctr">
              <a:noAutofit/>
            </a:bodyPr>
            <a:lstStyle/>
            <a:p>
              <a:pPr marL="88900" algn="ctr"/>
              <a:r>
                <a:rPr lang="ko-KR" altLang="en-US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물리설계 최적화 및</a:t>
              </a:r>
              <a:endPara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8900" algn="ctr"/>
              <a:r>
                <a:rPr lang="ko-KR" altLang="en-US" sz="105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산출물 현행화 미흡</a:t>
              </a:r>
            </a:p>
          </p:txBody>
        </p:sp>
        <p:sp>
          <p:nvSpPr>
            <p:cNvPr id="96" name="폭발 1 95"/>
            <p:cNvSpPr/>
            <p:nvPr/>
          </p:nvSpPr>
          <p:spPr>
            <a:xfrm>
              <a:off x="568173" y="3570056"/>
              <a:ext cx="288000" cy="299531"/>
            </a:xfrm>
            <a:prstGeom prst="irregularSeal1">
              <a:avLst/>
            </a:prstGeom>
            <a:solidFill>
              <a:srgbClr val="FFC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23" name="그룹 96"/>
            <p:cNvGrpSpPr/>
            <p:nvPr/>
          </p:nvGrpSpPr>
          <p:grpSpPr>
            <a:xfrm>
              <a:off x="2279443" y="3455487"/>
              <a:ext cx="585702" cy="594704"/>
              <a:chOff x="2206858" y="3935124"/>
              <a:chExt cx="708699" cy="719592"/>
            </a:xfrm>
          </p:grpSpPr>
          <p:grpSp>
            <p:nvGrpSpPr>
              <p:cNvPr id="24" name="그룹 99"/>
              <p:cNvGrpSpPr/>
              <p:nvPr/>
            </p:nvGrpSpPr>
            <p:grpSpPr>
              <a:xfrm>
                <a:off x="2439123" y="3935124"/>
                <a:ext cx="267029" cy="345272"/>
                <a:chOff x="2901790" y="2012296"/>
                <a:chExt cx="438698" cy="567240"/>
              </a:xfrm>
            </p:grpSpPr>
            <p:grpSp>
              <p:nvGrpSpPr>
                <p:cNvPr id="25" name="그룹 105"/>
                <p:cNvGrpSpPr/>
                <p:nvPr/>
              </p:nvGrpSpPr>
              <p:grpSpPr>
                <a:xfrm>
                  <a:off x="2901790" y="2012296"/>
                  <a:ext cx="438698" cy="567240"/>
                  <a:chOff x="1654546" y="2059985"/>
                  <a:chExt cx="1251654" cy="387432"/>
                </a:xfrm>
                <a:solidFill>
                  <a:schemeClr val="bg1"/>
                </a:solidFill>
              </p:grpSpPr>
              <p:sp>
                <p:nvSpPr>
                  <p:cNvPr id="113" name="직사각형 112"/>
                  <p:cNvSpPr/>
                  <p:nvPr/>
                </p:nvSpPr>
                <p:spPr>
                  <a:xfrm>
                    <a:off x="1676988" y="2059985"/>
                    <a:ext cx="574319" cy="172195"/>
                  </a:xfrm>
                  <a:prstGeom prst="rect">
                    <a:avLst/>
                  </a:prstGeom>
                  <a:grpFill/>
                  <a:ln w="31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endParaRPr>
                  </a:p>
                </p:txBody>
              </p:sp>
              <p:grpSp>
                <p:nvGrpSpPr>
                  <p:cNvPr id="26" name="그룹 140"/>
                  <p:cNvGrpSpPr/>
                  <p:nvPr/>
                </p:nvGrpSpPr>
                <p:grpSpPr>
                  <a:xfrm>
                    <a:off x="1654546" y="2272700"/>
                    <a:ext cx="1251654" cy="174717"/>
                    <a:chOff x="1654546" y="2272700"/>
                    <a:chExt cx="1251654" cy="174717"/>
                  </a:xfrm>
                  <a:grpFill/>
                </p:grpSpPr>
                <p:sp>
                  <p:nvSpPr>
                    <p:cNvPr id="144" name="직사각형 143"/>
                    <p:cNvSpPr/>
                    <p:nvPr/>
                  </p:nvSpPr>
                  <p:spPr>
                    <a:xfrm>
                      <a:off x="2331880" y="2275222"/>
                      <a:ext cx="574320" cy="172195"/>
                    </a:xfrm>
                    <a:prstGeom prst="rect">
                      <a:avLst/>
                    </a:prstGeom>
                    <a:grpFill/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dirty="0">
                        <a:solidFill>
                          <a:prstClr val="white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p:txBody>
                </p:sp>
                <p:sp>
                  <p:nvSpPr>
                    <p:cNvPr id="145" name="직사각형 144"/>
                    <p:cNvSpPr/>
                    <p:nvPr/>
                  </p:nvSpPr>
                  <p:spPr>
                    <a:xfrm>
                      <a:off x="1654546" y="2272700"/>
                      <a:ext cx="574320" cy="172195"/>
                    </a:xfrm>
                    <a:prstGeom prst="rect">
                      <a:avLst/>
                    </a:prstGeom>
                    <a:grpFill/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dirty="0">
                        <a:solidFill>
                          <a:prstClr val="white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p:txBody>
                </p:sp>
              </p:grpSp>
              <p:cxnSp>
                <p:nvCxnSpPr>
                  <p:cNvPr id="142" name="꺾인 연결선 141"/>
                  <p:cNvCxnSpPr>
                    <a:stCxn id="145" idx="0"/>
                    <a:endCxn id="113" idx="2"/>
                  </p:cNvCxnSpPr>
                  <p:nvPr/>
                </p:nvCxnSpPr>
                <p:spPr>
                  <a:xfrm rot="5400000" flipH="1" flipV="1">
                    <a:off x="1932669" y="2241219"/>
                    <a:ext cx="40520" cy="22443"/>
                  </a:xfrm>
                  <a:prstGeom prst="bentConnector3">
                    <a:avLst/>
                  </a:prstGeom>
                  <a:grpFill/>
                  <a:ln w="31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꺾인 연결선 142"/>
                  <p:cNvCxnSpPr>
                    <a:stCxn id="144" idx="0"/>
                    <a:endCxn id="113" idx="3"/>
                  </p:cNvCxnSpPr>
                  <p:nvPr/>
                </p:nvCxnSpPr>
                <p:spPr>
                  <a:xfrm rot="16200000" flipV="1">
                    <a:off x="2370606" y="2026787"/>
                    <a:ext cx="129139" cy="367732"/>
                  </a:xfrm>
                  <a:prstGeom prst="bentConnector2">
                    <a:avLst/>
                  </a:prstGeom>
                  <a:grpFill/>
                  <a:ln w="31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" name="그룹 106"/>
                <p:cNvGrpSpPr/>
                <p:nvPr/>
              </p:nvGrpSpPr>
              <p:grpSpPr>
                <a:xfrm>
                  <a:off x="3187972" y="2216395"/>
                  <a:ext cx="98322" cy="110157"/>
                  <a:chOff x="-686216" y="858445"/>
                  <a:chExt cx="134831" cy="161281"/>
                </a:xfrm>
              </p:grpSpPr>
              <p:cxnSp>
                <p:nvCxnSpPr>
                  <p:cNvPr id="108" name="직선 연결선 107"/>
                  <p:cNvCxnSpPr/>
                  <p:nvPr/>
                </p:nvCxnSpPr>
                <p:spPr bwMode="auto">
                  <a:xfrm rot="16200000">
                    <a:off x="-621580" y="890067"/>
                    <a:ext cx="0" cy="129272"/>
                  </a:xfrm>
                  <a:prstGeom prst="line">
                    <a:avLst/>
                  </a:prstGeom>
                  <a:solidFill>
                    <a:srgbClr val="FBB779"/>
                  </a:solidFill>
                  <a:ln w="6350" cap="flat" cmpd="sng" algn="ctr">
                    <a:solidFill>
                      <a:schemeClr val="tx1">
                        <a:lumMod val="75000"/>
                        <a:lumOff val="25000"/>
                      </a:schemeClr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09" name="타원 108"/>
                  <p:cNvSpPr/>
                  <p:nvPr/>
                </p:nvSpPr>
                <p:spPr bwMode="auto">
                  <a:xfrm rot="10800000">
                    <a:off x="-666212" y="858445"/>
                    <a:ext cx="89266" cy="89266"/>
                  </a:xfrm>
                  <a:prstGeom prst="ellipse">
                    <a:avLst/>
                  </a:prstGeom>
                  <a:noFill/>
                  <a:ln w="6350" cap="flat" cmpd="sng" algn="ctr">
                    <a:solidFill>
                      <a:schemeClr val="tx1">
                        <a:lumMod val="75000"/>
                        <a:lumOff val="25000"/>
                      </a:schemeClr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72000" tIns="0" rIns="72000" bIns="3600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85725" indent="-85725" algn="ctr">
                      <a:buClr>
                        <a:prstClr val="black"/>
                      </a:buClr>
                      <a:buSzPct val="90000"/>
                    </a:pPr>
                    <a:endParaRPr lang="ko-KR" altLang="en-US" sz="1050" spc="-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endParaRPr>
                  </a:p>
                </p:txBody>
              </p:sp>
              <p:grpSp>
                <p:nvGrpSpPr>
                  <p:cNvPr id="28" name="그룹 109"/>
                  <p:cNvGrpSpPr/>
                  <p:nvPr/>
                </p:nvGrpSpPr>
                <p:grpSpPr>
                  <a:xfrm>
                    <a:off x="-676535" y="950248"/>
                    <a:ext cx="125150" cy="69478"/>
                    <a:chOff x="-807640" y="1805972"/>
                    <a:chExt cx="432048" cy="218056"/>
                  </a:xfrm>
                </p:grpSpPr>
                <p:cxnSp>
                  <p:nvCxnSpPr>
                    <p:cNvPr id="111" name="직선 연결선 110"/>
                    <p:cNvCxnSpPr/>
                    <p:nvPr/>
                  </p:nvCxnSpPr>
                  <p:spPr>
                    <a:xfrm flipH="1">
                      <a:off x="-807640" y="1805972"/>
                      <a:ext cx="218056" cy="218056"/>
                    </a:xfrm>
                    <a:prstGeom prst="line">
                      <a:avLst/>
                    </a:prstGeom>
                    <a:grpFill/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</p:cxnSp>
                <p:cxnSp>
                  <p:nvCxnSpPr>
                    <p:cNvPr id="112" name="직선 연결선 111"/>
                    <p:cNvCxnSpPr/>
                    <p:nvPr/>
                  </p:nvCxnSpPr>
                  <p:spPr>
                    <a:xfrm rot="5400000" flipH="1">
                      <a:off x="-593648" y="1805972"/>
                      <a:ext cx="218056" cy="218056"/>
                    </a:xfrm>
                    <a:prstGeom prst="line">
                      <a:avLst/>
                    </a:prstGeom>
                    <a:grpFill/>
                    <a:ln w="3175">
                      <a:solidFill>
                        <a:schemeClr val="bg1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</p:cxnSp>
              </p:grpSp>
            </p:grpSp>
          </p:grpSp>
          <p:sp>
            <p:nvSpPr>
              <p:cNvPr id="101" name="직사각형 100"/>
              <p:cNvSpPr/>
              <p:nvPr/>
            </p:nvSpPr>
            <p:spPr>
              <a:xfrm>
                <a:off x="2537631" y="3998899"/>
                <a:ext cx="192423" cy="18913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 anchor="t">
                <a:spAutoFit/>
              </a:bodyPr>
              <a:lstStyle/>
              <a:p>
                <a:pPr algn="ctr" defTabSz="691134">
                  <a:lnSpc>
                    <a:spcPts val="907"/>
                  </a:lnSpc>
                  <a:buClr>
                    <a:srgbClr val="3271AA"/>
                  </a:buClr>
                  <a:buSzPct val="140000"/>
                  <a:tabLst>
                    <a:tab pos="5121591" algn="l"/>
                  </a:tabLst>
                </a:pPr>
                <a:r>
                  <a:rPr lang="en-US" altLang="ko-KR" b="1" kern="0" spc="-15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×</a:t>
                </a:r>
                <a:endParaRPr lang="ko-KR" altLang="en-US" b="1" kern="0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grpSp>
            <p:nvGrpSpPr>
              <p:cNvPr id="29" name="그룹 101"/>
              <p:cNvGrpSpPr/>
              <p:nvPr/>
            </p:nvGrpSpPr>
            <p:grpSpPr>
              <a:xfrm>
                <a:off x="2206858" y="4374360"/>
                <a:ext cx="708699" cy="280356"/>
                <a:chOff x="2139312" y="4336187"/>
                <a:chExt cx="857526" cy="373153"/>
              </a:xfrm>
            </p:grpSpPr>
            <p:pic>
              <p:nvPicPr>
                <p:cNvPr id="103" name="Picture 155" descr="3"/>
                <p:cNvPicPr>
                  <a:picLocks noChangeAspect="1" noChangeArrowheads="1"/>
                </p:cNvPicPr>
                <p:nvPr/>
              </p:nvPicPr>
              <p:blipFill>
                <a:blip r:embed="rId9" cstate="print"/>
                <a:srcRect l="8655" t="63850" r="62900" b="17926"/>
                <a:stretch>
                  <a:fillRect/>
                </a:stretch>
              </p:blipFill>
              <p:spPr bwMode="auto">
                <a:xfrm>
                  <a:off x="2139312" y="4385715"/>
                  <a:ext cx="299811" cy="2040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04" name="모서리가 접힌 도형 103"/>
                <p:cNvSpPr/>
                <p:nvPr/>
              </p:nvSpPr>
              <p:spPr>
                <a:xfrm>
                  <a:off x="2627885" y="4336187"/>
                  <a:ext cx="368953" cy="306959"/>
                </a:xfrm>
                <a:prstGeom prst="foldedCorner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36000" rtlCol="0" anchor="ctr"/>
                <a:lstStyle/>
                <a:p>
                  <a:pPr algn="ctr"/>
                  <a:r>
                    <a:rPr lang="ko-KR" altLang="en-US" sz="7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산출물</a:t>
                  </a:r>
                </a:p>
              </p:txBody>
            </p:sp>
            <p:sp>
              <p:nvSpPr>
                <p:cNvPr id="105" name="직사각형 104"/>
                <p:cNvSpPr/>
                <p:nvPr/>
              </p:nvSpPr>
              <p:spPr>
                <a:xfrm>
                  <a:off x="2418967" y="4457603"/>
                  <a:ext cx="232831" cy="25173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 anchor="t">
                  <a:spAutoFit/>
                </a:bodyPr>
                <a:lstStyle/>
                <a:p>
                  <a:pPr algn="ctr" defTabSz="691134">
                    <a:lnSpc>
                      <a:spcPts val="907"/>
                    </a:lnSpc>
                    <a:buClr>
                      <a:srgbClr val="3271AA"/>
                    </a:buClr>
                    <a:buSzPct val="140000"/>
                    <a:tabLst>
                      <a:tab pos="5121591" algn="l"/>
                    </a:tabLst>
                  </a:pPr>
                  <a:r>
                    <a:rPr lang="ko-KR" altLang="en-US" b="1" kern="0" spc="-150" dirty="0">
                      <a:solidFill>
                        <a:srgbClr val="C00000"/>
                      </a:solidFill>
                      <a:latin typeface="맑은 고딕" pitchFamily="50" charset="-127"/>
                      <a:ea typeface="맑은 고딕" pitchFamily="50" charset="-127"/>
                    </a:rPr>
                    <a:t>≠</a:t>
                  </a:r>
                </a:p>
              </p:txBody>
            </p:sp>
          </p:grpSp>
        </p:grpSp>
        <p:sp>
          <p:nvSpPr>
            <p:cNvPr id="98" name="직사각형 97"/>
            <p:cNvSpPr/>
            <p:nvPr/>
          </p:nvSpPr>
          <p:spPr>
            <a:xfrm>
              <a:off x="2446975" y="2305320"/>
              <a:ext cx="250641" cy="1882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 defTabSz="691134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</a:pPr>
              <a:r>
                <a:rPr lang="en-US" altLang="ko-KR" sz="2800" kern="0" spc="-15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×</a:t>
              </a:r>
              <a:endParaRPr lang="ko-KR" altLang="en-US" sz="2800" kern="0" spc="-1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99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2716092" y="2097323"/>
              <a:ext cx="125165" cy="2216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66" name="직사각형 265"/>
          <p:cNvSpPr/>
          <p:nvPr/>
        </p:nvSpPr>
        <p:spPr>
          <a:xfrm>
            <a:off x="7308896" y="2564473"/>
            <a:ext cx="1914144" cy="228542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rgbClr val="508CD2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1000" dirty="0">
              <a:ln w="28575">
                <a:solidFill>
                  <a:srgbClr val="0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7" name="오각형 266"/>
          <p:cNvSpPr/>
          <p:nvPr/>
        </p:nvSpPr>
        <p:spPr>
          <a:xfrm rot="16200000">
            <a:off x="8166370" y="1807848"/>
            <a:ext cx="208961" cy="1803043"/>
          </a:xfrm>
          <a:prstGeom prst="homePlate">
            <a:avLst/>
          </a:prstGeom>
          <a:solidFill>
            <a:srgbClr val="508CD2"/>
          </a:solidFill>
          <a:ln>
            <a:solidFill>
              <a:srgbClr val="508CD2"/>
            </a:solidFill>
          </a:ln>
        </p:spPr>
        <p:txBody>
          <a:bodyPr vert="eaVert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1100" b="1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데이터품질관리체계</a:t>
            </a:r>
          </a:p>
        </p:txBody>
      </p:sp>
      <p:sp>
        <p:nvSpPr>
          <p:cNvPr id="268" name="직사각형 267"/>
          <p:cNvSpPr/>
          <p:nvPr/>
        </p:nvSpPr>
        <p:spPr>
          <a:xfrm>
            <a:off x="7369329" y="2842244"/>
            <a:ext cx="1552615" cy="1917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269" name="직사각형 268"/>
          <p:cNvSpPr/>
          <p:nvPr/>
        </p:nvSpPr>
        <p:spPr>
          <a:xfrm>
            <a:off x="7369329" y="3060856"/>
            <a:ext cx="1552615" cy="1917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조직</a:t>
            </a:r>
          </a:p>
        </p:txBody>
      </p:sp>
      <p:sp>
        <p:nvSpPr>
          <p:cNvPr id="270" name="직사각형 269"/>
          <p:cNvSpPr/>
          <p:nvPr/>
        </p:nvSpPr>
        <p:spPr>
          <a:xfrm>
            <a:off x="7369329" y="4160937"/>
            <a:ext cx="1552615" cy="1917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271" name="직사각형 270"/>
          <p:cNvSpPr/>
          <p:nvPr/>
        </p:nvSpPr>
        <p:spPr>
          <a:xfrm>
            <a:off x="7369329" y="4379549"/>
            <a:ext cx="1552615" cy="1917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인프라</a:t>
            </a:r>
          </a:p>
        </p:txBody>
      </p:sp>
      <p:sp>
        <p:nvSpPr>
          <p:cNvPr id="272" name="직사각형 271"/>
          <p:cNvSpPr/>
          <p:nvPr/>
        </p:nvSpPr>
        <p:spPr>
          <a:xfrm>
            <a:off x="7369329" y="4599417"/>
            <a:ext cx="1803043" cy="1917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법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제도</a:t>
            </a:r>
          </a:p>
        </p:txBody>
      </p:sp>
      <p:sp>
        <p:nvSpPr>
          <p:cNvPr id="273" name="직사각형 272"/>
          <p:cNvSpPr/>
          <p:nvPr/>
        </p:nvSpPr>
        <p:spPr>
          <a:xfrm>
            <a:off x="7369329" y="3277337"/>
            <a:ext cx="1552615" cy="855492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108000" rIns="72000" bIns="18000" numCol="1" rtlCol="0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보안</a:t>
            </a:r>
          </a:p>
        </p:txBody>
      </p:sp>
      <p:sp>
        <p:nvSpPr>
          <p:cNvPr id="274" name="직사각형 273"/>
          <p:cNvSpPr/>
          <p:nvPr/>
        </p:nvSpPr>
        <p:spPr>
          <a:xfrm>
            <a:off x="8165410" y="3323143"/>
            <a:ext cx="671308" cy="3253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구조</a:t>
            </a:r>
          </a:p>
        </p:txBody>
      </p:sp>
      <p:sp>
        <p:nvSpPr>
          <p:cNvPr id="275" name="직사각형 274"/>
          <p:cNvSpPr/>
          <p:nvPr/>
        </p:nvSpPr>
        <p:spPr>
          <a:xfrm>
            <a:off x="8165410" y="3646993"/>
            <a:ext cx="671308" cy="3253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교환</a:t>
            </a:r>
          </a:p>
        </p:txBody>
      </p:sp>
      <p:sp>
        <p:nvSpPr>
          <p:cNvPr id="276" name="직사각형 275"/>
          <p:cNvSpPr/>
          <p:nvPr/>
        </p:nvSpPr>
        <p:spPr>
          <a:xfrm>
            <a:off x="7494985" y="3323143"/>
            <a:ext cx="671308" cy="3253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36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</a:p>
        </p:txBody>
      </p:sp>
      <p:sp>
        <p:nvSpPr>
          <p:cNvPr id="277" name="직사각형 276"/>
          <p:cNvSpPr/>
          <p:nvPr/>
        </p:nvSpPr>
        <p:spPr>
          <a:xfrm>
            <a:off x="7494985" y="3646993"/>
            <a:ext cx="671308" cy="325361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36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</a:t>
            </a:r>
          </a:p>
        </p:txBody>
      </p:sp>
      <p:sp>
        <p:nvSpPr>
          <p:cNvPr id="278" name="직사각형 277"/>
          <p:cNvSpPr/>
          <p:nvPr/>
        </p:nvSpPr>
        <p:spPr>
          <a:xfrm>
            <a:off x="8942807" y="2842245"/>
            <a:ext cx="229564" cy="1729065"/>
          </a:xfrm>
          <a:prstGeom prst="rect">
            <a:avLst/>
          </a:prstGeom>
          <a:solidFill>
            <a:schemeClr val="bg1"/>
          </a:solidFill>
          <a:ln>
            <a:solidFill>
              <a:srgbClr val="67ADFF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공유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공개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개방</a:t>
            </a:r>
          </a:p>
        </p:txBody>
      </p:sp>
      <p:grpSp>
        <p:nvGrpSpPr>
          <p:cNvPr id="30" name="그룹 38"/>
          <p:cNvGrpSpPr/>
          <p:nvPr/>
        </p:nvGrpSpPr>
        <p:grpSpPr>
          <a:xfrm>
            <a:off x="7879520" y="3402885"/>
            <a:ext cx="579676" cy="490133"/>
            <a:chOff x="-1796835" y="2999812"/>
            <a:chExt cx="1119223" cy="901549"/>
          </a:xfrm>
        </p:grpSpPr>
        <p:sp>
          <p:nvSpPr>
            <p:cNvPr id="280" name="모서리가 둥근 직사각형 279"/>
            <p:cNvSpPr/>
            <p:nvPr/>
          </p:nvSpPr>
          <p:spPr>
            <a:xfrm>
              <a:off x="-1796835" y="2999812"/>
              <a:ext cx="1119223" cy="901549"/>
            </a:xfrm>
            <a:prstGeom prst="roundRect">
              <a:avLst>
                <a:gd name="adj" fmla="val 21178"/>
              </a:avLst>
            </a:prstGeom>
            <a:solidFill>
              <a:schemeClr val="bg1"/>
            </a:solidFill>
            <a:ln>
              <a:solidFill>
                <a:srgbClr val="67ADFF"/>
              </a:solidFill>
            </a:ln>
          </p:spPr>
          <p:txBody>
            <a:bodyPr vert="horz" wrap="square" lIns="0" tIns="10800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lnSpc>
                  <a:spcPts val="130"/>
                </a:lnSpc>
                <a:spcBef>
                  <a:spcPts val="40"/>
                </a:spcBef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분류체계</a:t>
              </a:r>
            </a:p>
          </p:txBody>
        </p:sp>
        <p:sp>
          <p:nvSpPr>
            <p:cNvPr id="281" name="타원 280"/>
            <p:cNvSpPr/>
            <p:nvPr/>
          </p:nvSpPr>
          <p:spPr>
            <a:xfrm>
              <a:off x="-1503114" y="3195951"/>
              <a:ext cx="518648" cy="498232"/>
            </a:xfrm>
            <a:prstGeom prst="ellipse">
              <a:avLst/>
            </a:prstGeom>
            <a:solidFill>
              <a:srgbClr val="0073D2"/>
            </a:solidFill>
            <a:ln>
              <a:solidFill>
                <a:srgbClr val="67ADFF"/>
              </a:solidFill>
            </a:ln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altLang="ko-KR" sz="800" b="1" spc="-11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DATA</a:t>
              </a:r>
              <a:endParaRPr lang="ko-KR" altLang="en-US" sz="800" b="1" spc="-11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1" name="그룹 191"/>
          <p:cNvGrpSpPr/>
          <p:nvPr/>
        </p:nvGrpSpPr>
        <p:grpSpPr>
          <a:xfrm>
            <a:off x="5370433" y="2936094"/>
            <a:ext cx="1779626" cy="800884"/>
            <a:chOff x="8841318" y="1689128"/>
            <a:chExt cx="1110365" cy="914451"/>
          </a:xfrm>
        </p:grpSpPr>
        <p:sp>
          <p:nvSpPr>
            <p:cNvPr id="264" name="직사각형 263"/>
            <p:cNvSpPr/>
            <p:nvPr/>
          </p:nvSpPr>
          <p:spPr bwMode="auto">
            <a:xfrm>
              <a:off x="8841318" y="1775579"/>
              <a:ext cx="1110365" cy="828000"/>
            </a:xfrm>
            <a:prstGeom prst="rect">
              <a:avLst/>
            </a:prstGeom>
            <a:noFill/>
            <a:ln w="28575" cap="flat" cmpd="sng" algn="ctr">
              <a:solidFill>
                <a:srgbClr val="508CD2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6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65" name="직사각형 264"/>
            <p:cNvSpPr/>
            <p:nvPr/>
          </p:nvSpPr>
          <p:spPr bwMode="auto">
            <a:xfrm>
              <a:off x="8841318" y="1689128"/>
              <a:ext cx="1110365" cy="216000"/>
            </a:xfrm>
            <a:prstGeom prst="rect">
              <a:avLst/>
            </a:prstGeom>
            <a:solidFill>
              <a:srgbClr val="508CD2"/>
            </a:solidFill>
            <a:ln w="28575" cap="flat" cmpd="sng" algn="ctr">
              <a:solidFill>
                <a:srgbClr val="508CD2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 vert="horz" wrap="square" lIns="0" tIns="3600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lnSpc>
                  <a:spcPts val="1100"/>
                </a:lnSpc>
                <a:buClr>
                  <a:prstClr val="black"/>
                </a:buClr>
                <a:buSzPct val="90000"/>
              </a:pPr>
              <a:r>
                <a:rPr lang="ko-KR" altLang="en-US" sz="1100" b="1" spc="-1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지원 시스템</a:t>
              </a:r>
            </a:p>
          </p:txBody>
        </p:sp>
      </p:grpSp>
      <p:grpSp>
        <p:nvGrpSpPr>
          <p:cNvPr id="224" name="그룹 192"/>
          <p:cNvGrpSpPr/>
          <p:nvPr/>
        </p:nvGrpSpPr>
        <p:grpSpPr>
          <a:xfrm>
            <a:off x="5381679" y="3181353"/>
            <a:ext cx="583493" cy="549985"/>
            <a:chOff x="5264723" y="2647024"/>
            <a:chExt cx="625584" cy="627974"/>
          </a:xfrm>
        </p:grpSpPr>
        <p:pic>
          <p:nvPicPr>
            <p:cNvPr id="262" name="Picture 79" descr="13"/>
            <p:cNvPicPr>
              <a:picLocks noChangeAspect="1" noChangeArrowheads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 bwMode="auto">
            <a:xfrm>
              <a:off x="5422733" y="2647024"/>
              <a:ext cx="309563" cy="3825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263" name="직사각형 262"/>
            <p:cNvSpPr/>
            <p:nvPr/>
          </p:nvSpPr>
          <p:spPr>
            <a:xfrm>
              <a:off x="5264723" y="3070004"/>
              <a:ext cx="625584" cy="2049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 defTabSz="691134">
                <a:lnSpc>
                  <a:spcPts val="700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</a:pPr>
              <a:r>
                <a:rPr lang="ko-KR" altLang="en-US" sz="8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데이터품질관리</a:t>
              </a:r>
              <a:r>
                <a:rPr lang="en-US" altLang="ko-KR" sz="8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8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시스템</a:t>
              </a:r>
            </a:p>
          </p:txBody>
        </p:sp>
      </p:grpSp>
      <p:pic>
        <p:nvPicPr>
          <p:cNvPr id="194" name="Picture 79" descr="13"/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6047309" y="3181353"/>
            <a:ext cx="288735" cy="3350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195" name="직사각형 194"/>
          <p:cNvSpPr/>
          <p:nvPr/>
        </p:nvSpPr>
        <p:spPr>
          <a:xfrm>
            <a:off x="5974468" y="3551803"/>
            <a:ext cx="434414" cy="1795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700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메타데이터 </a:t>
            </a:r>
            <a:r>
              <a:rPr lang="en-US" altLang="ko-KR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시스템</a:t>
            </a:r>
          </a:p>
        </p:txBody>
      </p:sp>
      <p:cxnSp>
        <p:nvCxnSpPr>
          <p:cNvPr id="196" name="직선 화살표 연결선 195"/>
          <p:cNvCxnSpPr/>
          <p:nvPr/>
        </p:nvCxnSpPr>
        <p:spPr>
          <a:xfrm>
            <a:off x="5819217" y="3301939"/>
            <a:ext cx="222195" cy="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직선 화살표 연결선 196"/>
          <p:cNvCxnSpPr/>
          <p:nvPr/>
        </p:nvCxnSpPr>
        <p:spPr>
          <a:xfrm rot="10800000">
            <a:off x="5819217" y="3416079"/>
            <a:ext cx="222195" cy="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8" name="그룹 197"/>
          <p:cNvGrpSpPr/>
          <p:nvPr/>
        </p:nvGrpSpPr>
        <p:grpSpPr>
          <a:xfrm>
            <a:off x="5969387" y="2257307"/>
            <a:ext cx="703156" cy="312626"/>
            <a:chOff x="378364" y="2190463"/>
            <a:chExt cx="753878" cy="356957"/>
          </a:xfrm>
        </p:grpSpPr>
        <p:sp>
          <p:nvSpPr>
            <p:cNvPr id="260" name="직사각형 259"/>
            <p:cNvSpPr/>
            <p:nvPr/>
          </p:nvSpPr>
          <p:spPr>
            <a:xfrm>
              <a:off x="616651" y="2283822"/>
              <a:ext cx="515591" cy="2635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 defTabSz="691134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</a:pPr>
              <a:r>
                <a:rPr lang="ko-KR" altLang="en-US" sz="9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r>
                <a:rPr lang="en-US" altLang="ko-KR" sz="9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품질관리자</a:t>
              </a:r>
            </a:p>
          </p:txBody>
        </p:sp>
        <p:pic>
          <p:nvPicPr>
            <p:cNvPr id="261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78364" y="2190463"/>
              <a:ext cx="201581" cy="3569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7" name="그룹 198"/>
          <p:cNvGrpSpPr/>
          <p:nvPr/>
        </p:nvGrpSpPr>
        <p:grpSpPr>
          <a:xfrm>
            <a:off x="5479110" y="3741739"/>
            <a:ext cx="1607687" cy="1122335"/>
            <a:chOff x="5081185" y="3525503"/>
            <a:chExt cx="1723658" cy="1281484"/>
          </a:xfrm>
        </p:grpSpPr>
        <p:pic>
          <p:nvPicPr>
            <p:cNvPr id="244" name="Picture 155" descr="3"/>
            <p:cNvPicPr>
              <a:picLocks noChangeAspect="1" noChangeArrowheads="1"/>
            </p:cNvPicPr>
            <p:nvPr/>
          </p:nvPicPr>
          <p:blipFill>
            <a:blip r:embed="rId5" cstate="print"/>
            <a:srcRect l="8655" t="63850" r="62900" b="17926"/>
            <a:stretch>
              <a:fillRect/>
            </a:stretch>
          </p:blipFill>
          <p:spPr bwMode="auto">
            <a:xfrm>
              <a:off x="5273919" y="3677790"/>
              <a:ext cx="1338190" cy="9828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5" name="직사각형 244"/>
            <p:cNvSpPr/>
            <p:nvPr/>
          </p:nvSpPr>
          <p:spPr>
            <a:xfrm>
              <a:off x="5706469" y="4675205"/>
              <a:ext cx="462312" cy="1317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 defTabSz="691134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</a:pPr>
              <a:r>
                <a:rPr lang="ko-KR" altLang="en-US" sz="900" b="1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통합 </a:t>
              </a:r>
              <a:r>
                <a:rPr lang="en-US" altLang="ko-KR" sz="900" b="1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DB</a:t>
              </a:r>
              <a:endParaRPr lang="ko-KR" altLang="en-US" sz="9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46" name="직사각형 245"/>
            <p:cNvSpPr/>
            <p:nvPr/>
          </p:nvSpPr>
          <p:spPr>
            <a:xfrm>
              <a:off x="5607919" y="3739456"/>
              <a:ext cx="670190" cy="178217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none" lIns="0" tIns="36000" rIns="0" anchor="ctr">
              <a:noAutofit/>
            </a:bodyPr>
            <a:lstStyle/>
            <a:p>
              <a:pPr algn="ctr"/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오류 </a:t>
              </a:r>
              <a:r>
                <a:rPr lang="en-US" altLang="ko-KR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0</a:t>
              </a:r>
              <a:endParaRPr lang="ko-KR" altLang="en-US" sz="12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248" name="그룹 246"/>
            <p:cNvGrpSpPr/>
            <p:nvPr/>
          </p:nvGrpSpPr>
          <p:grpSpPr>
            <a:xfrm>
              <a:off x="5081185" y="3957681"/>
              <a:ext cx="1723658" cy="695248"/>
              <a:chOff x="5081185" y="3900531"/>
              <a:chExt cx="1723658" cy="695248"/>
            </a:xfrm>
          </p:grpSpPr>
          <p:grpSp>
            <p:nvGrpSpPr>
              <p:cNvPr id="252" name="그룹 251"/>
              <p:cNvGrpSpPr/>
              <p:nvPr/>
            </p:nvGrpSpPr>
            <p:grpSpPr>
              <a:xfrm>
                <a:off x="5387543" y="3994627"/>
                <a:ext cx="1081812" cy="466883"/>
                <a:chOff x="5419258" y="3157967"/>
                <a:chExt cx="1081812" cy="466883"/>
              </a:xfrm>
            </p:grpSpPr>
            <p:sp>
              <p:nvSpPr>
                <p:cNvPr id="256" name="직사각형 255"/>
                <p:cNvSpPr/>
                <p:nvPr/>
              </p:nvSpPr>
              <p:spPr>
                <a:xfrm>
                  <a:off x="5419258" y="3157967"/>
                  <a:ext cx="396000" cy="189414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rtlCol="0" anchor="ctr"/>
                <a:lstStyle/>
                <a:p>
                  <a:pPr algn="ctr"/>
                  <a:r>
                    <a:rPr lang="ko-KR" altLang="en-US" sz="800" spc="-1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통합재무</a:t>
                  </a:r>
                </a:p>
              </p:txBody>
            </p:sp>
            <p:sp>
              <p:nvSpPr>
                <p:cNvPr id="257" name="직사각형 256"/>
                <p:cNvSpPr/>
                <p:nvPr/>
              </p:nvSpPr>
              <p:spPr>
                <a:xfrm>
                  <a:off x="5419258" y="3435436"/>
                  <a:ext cx="396000" cy="189414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rtlCol="0" anchor="ctr"/>
                <a:lstStyle/>
                <a:p>
                  <a:pPr algn="ctr"/>
                  <a:r>
                    <a:rPr lang="ko-KR" altLang="en-US" sz="800" spc="-1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인적자원</a:t>
                  </a:r>
                </a:p>
              </p:txBody>
            </p:sp>
            <p:sp>
              <p:nvSpPr>
                <p:cNvPr id="258" name="직사각형 257"/>
                <p:cNvSpPr/>
                <p:nvPr/>
              </p:nvSpPr>
              <p:spPr>
                <a:xfrm>
                  <a:off x="6105070" y="3157967"/>
                  <a:ext cx="396000" cy="189414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rtlCol="0" anchor="ctr"/>
                <a:lstStyle/>
                <a:p>
                  <a:pPr algn="ctr"/>
                  <a:r>
                    <a:rPr lang="ko-KR" altLang="en-US" sz="800" spc="-1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계약관리</a:t>
                  </a:r>
                </a:p>
              </p:txBody>
            </p:sp>
            <p:sp>
              <p:nvSpPr>
                <p:cNvPr id="259" name="직사각형 258"/>
                <p:cNvSpPr/>
                <p:nvPr/>
              </p:nvSpPr>
              <p:spPr>
                <a:xfrm>
                  <a:off x="6105070" y="3435436"/>
                  <a:ext cx="396000" cy="189414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rtlCol="0" anchor="ctr"/>
                <a:lstStyle/>
                <a:p>
                  <a:pPr algn="ctr"/>
                  <a:r>
                    <a:rPr lang="ko-KR" altLang="en-US" sz="800" spc="-1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기금지원</a:t>
                  </a:r>
                </a:p>
              </p:txBody>
            </p:sp>
          </p:grpSp>
          <p:grpSp>
            <p:nvGrpSpPr>
              <p:cNvPr id="253" name="그룹 252"/>
              <p:cNvGrpSpPr/>
              <p:nvPr/>
            </p:nvGrpSpPr>
            <p:grpSpPr>
              <a:xfrm>
                <a:off x="5081185" y="3900531"/>
                <a:ext cx="1723658" cy="695248"/>
                <a:chOff x="5081185" y="2907847"/>
                <a:chExt cx="1723658" cy="695248"/>
              </a:xfrm>
            </p:grpSpPr>
            <p:sp>
              <p:nvSpPr>
                <p:cNvPr id="254" name="직사각형 253"/>
                <p:cNvSpPr/>
                <p:nvPr/>
              </p:nvSpPr>
              <p:spPr>
                <a:xfrm>
                  <a:off x="5081185" y="2907922"/>
                  <a:ext cx="287534" cy="695173"/>
                </a:xfrm>
                <a:prstGeom prst="rect">
                  <a:avLst/>
                </a:prstGeom>
                <a:solidFill>
                  <a:srgbClr val="FFC000"/>
                </a:solidFill>
                <a:ln w="19050">
                  <a:solidFill>
                    <a:srgbClr val="FF0000">
                      <a:alpha val="92000"/>
                    </a:srgbClr>
                  </a:solidFill>
                </a:ln>
              </p:spPr>
              <p:txBody>
                <a:bodyPr vert="eaVert" wrap="none" lIns="0" tIns="36000" rIns="0" anchor="ctr">
                  <a:noAutofit/>
                </a:bodyPr>
                <a:lstStyle/>
                <a:p>
                  <a:pPr algn="ctr"/>
                  <a:r>
                    <a:rPr lang="ko-KR" altLang="en-US" sz="900" b="1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고품질</a:t>
                  </a:r>
                </a:p>
              </p:txBody>
            </p:sp>
            <p:sp>
              <p:nvSpPr>
                <p:cNvPr id="255" name="직사각형 254"/>
                <p:cNvSpPr/>
                <p:nvPr/>
              </p:nvSpPr>
              <p:spPr>
                <a:xfrm>
                  <a:off x="6517309" y="2907847"/>
                  <a:ext cx="287534" cy="690676"/>
                </a:xfrm>
                <a:prstGeom prst="rect">
                  <a:avLst/>
                </a:prstGeom>
                <a:solidFill>
                  <a:srgbClr val="FFC000"/>
                </a:solidFill>
                <a:ln w="19050">
                  <a:solidFill>
                    <a:srgbClr val="FF0000">
                      <a:alpha val="92000"/>
                    </a:srgbClr>
                  </a:solidFill>
                </a:ln>
              </p:spPr>
              <p:txBody>
                <a:bodyPr vert="eaVert" wrap="none" lIns="0" tIns="36000" rIns="0" anchor="ctr">
                  <a:noAutofit/>
                </a:bodyPr>
                <a:lstStyle/>
                <a:p>
                  <a:r>
                    <a:rPr lang="ko-KR" altLang="en-US" sz="900" b="1" spc="-15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고신뢰성</a:t>
                  </a:r>
                </a:p>
              </p:txBody>
            </p:sp>
          </p:grpSp>
        </p:grpSp>
        <p:grpSp>
          <p:nvGrpSpPr>
            <p:cNvPr id="32" name="그룹 247"/>
            <p:cNvGrpSpPr/>
            <p:nvPr/>
          </p:nvGrpSpPr>
          <p:grpSpPr>
            <a:xfrm rot="5400000">
              <a:off x="5886587" y="3511452"/>
              <a:ext cx="162708" cy="190810"/>
              <a:chOff x="6045996" y="3003785"/>
              <a:chExt cx="196877" cy="130323"/>
            </a:xfrm>
          </p:grpSpPr>
          <p:cxnSp>
            <p:nvCxnSpPr>
              <p:cNvPr id="250" name="직선 화살표 연결선 249"/>
              <p:cNvCxnSpPr/>
              <p:nvPr/>
            </p:nvCxnSpPr>
            <p:spPr>
              <a:xfrm>
                <a:off x="6045996" y="3003785"/>
                <a:ext cx="196877" cy="0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직선 화살표 연결선 250"/>
              <p:cNvCxnSpPr/>
              <p:nvPr/>
            </p:nvCxnSpPr>
            <p:spPr>
              <a:xfrm rot="10800000">
                <a:off x="6045996" y="3134108"/>
                <a:ext cx="196877" cy="0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9" name="타원 248"/>
            <p:cNvSpPr/>
            <p:nvPr/>
          </p:nvSpPr>
          <p:spPr>
            <a:xfrm>
              <a:off x="5753862" y="4092917"/>
              <a:ext cx="360000" cy="360000"/>
            </a:xfrm>
            <a:prstGeom prst="ellipse">
              <a:avLst/>
            </a:prstGeom>
            <a:solidFill>
              <a:srgbClr val="FFC000"/>
            </a:solidFill>
            <a:ln w="19050">
              <a:solidFill>
                <a:srgbClr val="FF0000">
                  <a:alpha val="92000"/>
                </a:srgbClr>
              </a:solidFill>
            </a:ln>
          </p:spPr>
          <p:txBody>
            <a:bodyPr wrap="none" lIns="0" tIns="36000" rIns="0" anchor="ctr">
              <a:noAutofit/>
            </a:bodyPr>
            <a:lstStyle/>
            <a:p>
              <a:pPr algn="ctr"/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일관성</a:t>
              </a:r>
              <a:endParaRPr lang="ko-KR" altLang="en-US" sz="12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pic>
        <p:nvPicPr>
          <p:cNvPr id="200" name="Picture 155" descr="3"/>
          <p:cNvPicPr>
            <a:picLocks noChangeAspect="1" noChangeArrowheads="1"/>
          </p:cNvPicPr>
          <p:nvPr/>
        </p:nvPicPr>
        <p:blipFill>
          <a:blip r:embed="rId12" cstate="print"/>
          <a:srcRect l="8655" t="63850" r="62900" b="17926"/>
          <a:stretch>
            <a:fillRect/>
          </a:stretch>
        </p:blipFill>
        <p:spPr bwMode="auto">
          <a:xfrm>
            <a:off x="6459063" y="3168972"/>
            <a:ext cx="613876" cy="370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1" name="직사각형 200"/>
          <p:cNvSpPr/>
          <p:nvPr/>
        </p:nvSpPr>
        <p:spPr>
          <a:xfrm>
            <a:off x="6548793" y="3551803"/>
            <a:ext cx="434414" cy="1795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700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메타데이터 </a:t>
            </a:r>
            <a:r>
              <a:rPr lang="en-US" altLang="ko-KR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리파지토리</a:t>
            </a:r>
          </a:p>
        </p:txBody>
      </p:sp>
      <p:cxnSp>
        <p:nvCxnSpPr>
          <p:cNvPr id="202" name="직선 연결선 201"/>
          <p:cNvCxnSpPr>
            <a:stCxn id="194" idx="3"/>
            <a:endCxn id="200" idx="1"/>
          </p:cNvCxnSpPr>
          <p:nvPr/>
        </p:nvCxnSpPr>
        <p:spPr>
          <a:xfrm>
            <a:off x="6336044" y="3348890"/>
            <a:ext cx="123019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직사각형 202"/>
          <p:cNvSpPr/>
          <p:nvPr/>
        </p:nvSpPr>
        <p:spPr>
          <a:xfrm>
            <a:off x="6529624" y="3316009"/>
            <a:ext cx="473094" cy="1661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 defTabSz="691134">
              <a:lnSpc>
                <a:spcPts val="700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데이터표준</a:t>
            </a:r>
          </a:p>
        </p:txBody>
      </p:sp>
      <p:sp>
        <p:nvSpPr>
          <p:cNvPr id="204" name="타원 203"/>
          <p:cNvSpPr/>
          <p:nvPr/>
        </p:nvSpPr>
        <p:spPr bwMode="auto">
          <a:xfrm>
            <a:off x="5504723" y="2892427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5" name="타원 204"/>
          <p:cNvSpPr/>
          <p:nvPr/>
        </p:nvSpPr>
        <p:spPr bwMode="auto">
          <a:xfrm>
            <a:off x="5988270" y="2892427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" name="타원 205"/>
          <p:cNvSpPr/>
          <p:nvPr/>
        </p:nvSpPr>
        <p:spPr bwMode="auto">
          <a:xfrm>
            <a:off x="6471817" y="2892427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7" name="타원 206"/>
          <p:cNvSpPr/>
          <p:nvPr/>
        </p:nvSpPr>
        <p:spPr bwMode="auto">
          <a:xfrm>
            <a:off x="6955363" y="2892427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8" name="타원 207"/>
          <p:cNvSpPr/>
          <p:nvPr/>
        </p:nvSpPr>
        <p:spPr bwMode="auto">
          <a:xfrm>
            <a:off x="6295668" y="2796585"/>
            <a:ext cx="2134" cy="2204"/>
          </a:xfrm>
          <a:prstGeom prst="ellipse">
            <a:avLst/>
          </a:prstGeom>
          <a:solidFill>
            <a:srgbClr val="CCFF66">
              <a:alpha val="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9" name="꺾인 연결선 208"/>
          <p:cNvCxnSpPr>
            <a:stCxn id="208" idx="4"/>
            <a:endCxn id="206" idx="0"/>
          </p:cNvCxnSpPr>
          <p:nvPr/>
        </p:nvCxnSpPr>
        <p:spPr>
          <a:xfrm rot="16200000" flipH="1">
            <a:off x="6353958" y="2741567"/>
            <a:ext cx="93638" cy="208084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꺾인 연결선 209"/>
          <p:cNvCxnSpPr>
            <a:stCxn id="208" idx="4"/>
            <a:endCxn id="207" idx="0"/>
          </p:cNvCxnSpPr>
          <p:nvPr/>
        </p:nvCxnSpPr>
        <p:spPr>
          <a:xfrm rot="16200000" flipH="1">
            <a:off x="6595730" y="2499793"/>
            <a:ext cx="93638" cy="691630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꺾인 연결선 210"/>
          <p:cNvCxnSpPr>
            <a:stCxn id="208" idx="4"/>
            <a:endCxn id="205" idx="0"/>
          </p:cNvCxnSpPr>
          <p:nvPr/>
        </p:nvCxnSpPr>
        <p:spPr>
          <a:xfrm rot="5400000">
            <a:off x="6112184" y="2707877"/>
            <a:ext cx="93638" cy="275463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꺾인 연결선 211"/>
          <p:cNvCxnSpPr>
            <a:stCxn id="208" idx="4"/>
            <a:endCxn id="204" idx="0"/>
          </p:cNvCxnSpPr>
          <p:nvPr/>
        </p:nvCxnSpPr>
        <p:spPr>
          <a:xfrm rot="5400000">
            <a:off x="5870410" y="2466103"/>
            <a:ext cx="93638" cy="759011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2"/>
          <p:cNvSpPr/>
          <p:nvPr/>
        </p:nvSpPr>
        <p:spPr>
          <a:xfrm>
            <a:off x="5325223" y="2606395"/>
            <a:ext cx="407045" cy="255389"/>
          </a:xfrm>
          <a:prstGeom prst="round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체계적인</a:t>
            </a:r>
            <a: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품질관리</a:t>
            </a:r>
          </a:p>
        </p:txBody>
      </p:sp>
      <p:sp>
        <p:nvSpPr>
          <p:cNvPr id="214" name="모서리가 둥근 직사각형 213"/>
          <p:cNvSpPr/>
          <p:nvPr/>
        </p:nvSpPr>
        <p:spPr>
          <a:xfrm>
            <a:off x="5822143" y="2606395"/>
            <a:ext cx="407045" cy="255389"/>
          </a:xfrm>
          <a:prstGeom prst="round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상시</a:t>
            </a:r>
            <a: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품질관리</a:t>
            </a:r>
          </a:p>
        </p:txBody>
      </p:sp>
      <p:sp>
        <p:nvSpPr>
          <p:cNvPr id="215" name="모서리가 둥근 직사각형 214"/>
          <p:cNvSpPr/>
          <p:nvPr/>
        </p:nvSpPr>
        <p:spPr>
          <a:xfrm>
            <a:off x="6797595" y="2606395"/>
            <a:ext cx="407045" cy="255389"/>
          </a:xfrm>
          <a:prstGeom prst="round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품질제고</a:t>
            </a:r>
          </a:p>
        </p:txBody>
      </p:sp>
      <p:sp>
        <p:nvSpPr>
          <p:cNvPr id="216" name="타원 215"/>
          <p:cNvSpPr/>
          <p:nvPr/>
        </p:nvSpPr>
        <p:spPr bwMode="auto">
          <a:xfrm>
            <a:off x="6263734" y="2562637"/>
            <a:ext cx="66002" cy="61975"/>
          </a:xfrm>
          <a:prstGeom prst="ellipse">
            <a:avLst/>
          </a:prstGeom>
          <a:solidFill>
            <a:srgbClr val="CCFF66"/>
          </a:solidFill>
          <a:ln w="12700" cap="flat" cmpd="sng" algn="ctr">
            <a:solidFill>
              <a:srgbClr val="92D05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17" name="꺾인 연결선 216"/>
          <p:cNvCxnSpPr>
            <a:stCxn id="216" idx="4"/>
            <a:endCxn id="208" idx="0"/>
          </p:cNvCxnSpPr>
          <p:nvPr/>
        </p:nvCxnSpPr>
        <p:spPr>
          <a:xfrm rot="5400000">
            <a:off x="6210750" y="2710598"/>
            <a:ext cx="171973" cy="1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모서리가 둥근 직사각형 217"/>
          <p:cNvSpPr/>
          <p:nvPr/>
        </p:nvSpPr>
        <p:spPr>
          <a:xfrm>
            <a:off x="6286433" y="2606395"/>
            <a:ext cx="504155" cy="255389"/>
          </a:xfrm>
          <a:prstGeom prst="round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데이터문제</a:t>
            </a:r>
            <a: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즉각대응</a:t>
            </a:r>
          </a:p>
        </p:txBody>
      </p:sp>
      <p:sp>
        <p:nvSpPr>
          <p:cNvPr id="219" name="직사각형 218"/>
          <p:cNvSpPr/>
          <p:nvPr/>
        </p:nvSpPr>
        <p:spPr>
          <a:xfrm>
            <a:off x="5429470" y="3770858"/>
            <a:ext cx="705321" cy="1154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상시 </a:t>
            </a:r>
            <a:r>
              <a:rPr lang="en-US" altLang="ko-KR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자동품질진단</a:t>
            </a:r>
          </a:p>
        </p:txBody>
      </p:sp>
      <p:sp>
        <p:nvSpPr>
          <p:cNvPr id="220" name="직사각형 219"/>
          <p:cNvSpPr/>
          <p:nvPr/>
        </p:nvSpPr>
        <p:spPr>
          <a:xfrm>
            <a:off x="6480487" y="3770858"/>
            <a:ext cx="416781" cy="1154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algn="ctr"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표준화적용</a:t>
            </a:r>
          </a:p>
        </p:txBody>
      </p:sp>
      <p:grpSp>
        <p:nvGrpSpPr>
          <p:cNvPr id="33" name="그룹 220"/>
          <p:cNvGrpSpPr/>
          <p:nvPr/>
        </p:nvGrpSpPr>
        <p:grpSpPr>
          <a:xfrm>
            <a:off x="7385606" y="2266979"/>
            <a:ext cx="569913" cy="234880"/>
            <a:chOff x="403429" y="2234848"/>
            <a:chExt cx="611024" cy="268186"/>
          </a:xfrm>
        </p:grpSpPr>
        <p:sp>
          <p:nvSpPr>
            <p:cNvPr id="242" name="직사각형 241"/>
            <p:cNvSpPr/>
            <p:nvPr/>
          </p:nvSpPr>
          <p:spPr>
            <a:xfrm>
              <a:off x="601980" y="2305320"/>
              <a:ext cx="412473" cy="1317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t">
              <a:spAutoFit/>
            </a:bodyPr>
            <a:lstStyle/>
            <a:p>
              <a:pPr algn="ctr" defTabSz="691134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</a:pPr>
              <a:r>
                <a:rPr lang="ko-KR" altLang="en-US" sz="900" kern="0" spc="-1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개발업체</a:t>
              </a:r>
            </a:p>
          </p:txBody>
        </p:sp>
        <p:pic>
          <p:nvPicPr>
            <p:cNvPr id="243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403429" y="2234848"/>
              <a:ext cx="151450" cy="2681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40" name="타원 239"/>
          <p:cNvSpPr/>
          <p:nvPr/>
        </p:nvSpPr>
        <p:spPr bwMode="auto">
          <a:xfrm>
            <a:off x="8132408" y="2248461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>
              <a:buClr>
                <a:prstClr val="black"/>
              </a:buClr>
              <a:buSzPct val="90000"/>
            </a:pPr>
            <a:endParaRPr lang="ko-KR" altLang="en-US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1" name="직사각형 240"/>
          <p:cNvSpPr/>
          <p:nvPr/>
        </p:nvSpPr>
        <p:spPr>
          <a:xfrm>
            <a:off x="8257322" y="2228907"/>
            <a:ext cx="803106" cy="115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전사 데이터 표준 준수</a:t>
            </a:r>
          </a:p>
        </p:txBody>
      </p:sp>
      <p:sp>
        <p:nvSpPr>
          <p:cNvPr id="238" name="타원 237"/>
          <p:cNvSpPr/>
          <p:nvPr/>
        </p:nvSpPr>
        <p:spPr bwMode="auto">
          <a:xfrm>
            <a:off x="8132408" y="2360652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>
              <a:buClr>
                <a:prstClr val="black"/>
              </a:buClr>
              <a:buSzPct val="90000"/>
            </a:pPr>
            <a:endParaRPr lang="ko-KR" altLang="en-US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9" name="직사각형 238"/>
          <p:cNvSpPr/>
          <p:nvPr/>
        </p:nvSpPr>
        <p:spPr>
          <a:xfrm>
            <a:off x="8257322" y="2341098"/>
            <a:ext cx="803106" cy="115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설계 검토 수검</a:t>
            </a:r>
          </a:p>
        </p:txBody>
      </p:sp>
      <p:sp>
        <p:nvSpPr>
          <p:cNvPr id="236" name="타원 235"/>
          <p:cNvSpPr/>
          <p:nvPr/>
        </p:nvSpPr>
        <p:spPr bwMode="auto">
          <a:xfrm>
            <a:off x="8132408" y="2465365"/>
            <a:ext cx="66002" cy="6197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>
              <a:buClr>
                <a:prstClr val="black"/>
              </a:buClr>
              <a:buSzPct val="90000"/>
            </a:pPr>
            <a:endParaRPr lang="ko-KR" altLang="en-US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7" name="직사각형 236"/>
          <p:cNvSpPr/>
          <p:nvPr/>
        </p:nvSpPr>
        <p:spPr>
          <a:xfrm>
            <a:off x="8257322" y="2445811"/>
            <a:ext cx="1118896" cy="115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t">
            <a:spAutoFit/>
          </a:bodyPr>
          <a:lstStyle/>
          <a:p>
            <a:pPr defTabSz="691134">
              <a:lnSpc>
                <a:spcPts val="907"/>
              </a:lnSpc>
              <a:buClr>
                <a:srgbClr val="3271AA"/>
              </a:buClr>
              <a:buSzPct val="140000"/>
              <a:tabLst>
                <a:tab pos="5121591" algn="l"/>
              </a:tabLst>
            </a:pPr>
            <a:r>
              <a:rPr lang="ko-KR" altLang="en-US" sz="800" kern="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데이터설계산출물 현행본 제출</a:t>
            </a:r>
          </a:p>
        </p:txBody>
      </p:sp>
      <p:cxnSp>
        <p:nvCxnSpPr>
          <p:cNvPr id="225" name="꺾인 연결선 224"/>
          <p:cNvCxnSpPr>
            <a:stCxn id="242" idx="3"/>
            <a:endCxn id="240" idx="2"/>
          </p:cNvCxnSpPr>
          <p:nvPr/>
        </p:nvCxnSpPr>
        <p:spPr>
          <a:xfrm flipV="1">
            <a:off x="7955520" y="2279449"/>
            <a:ext cx="176888" cy="106958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꺾인 연결선 225"/>
          <p:cNvCxnSpPr>
            <a:stCxn id="242" idx="3"/>
            <a:endCxn id="238" idx="2"/>
          </p:cNvCxnSpPr>
          <p:nvPr/>
        </p:nvCxnSpPr>
        <p:spPr>
          <a:xfrm>
            <a:off x="7955520" y="2386407"/>
            <a:ext cx="176888" cy="5233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꺾인 연결선 226"/>
          <p:cNvCxnSpPr>
            <a:stCxn id="242" idx="3"/>
            <a:endCxn id="236" idx="2"/>
          </p:cNvCxnSpPr>
          <p:nvPr/>
        </p:nvCxnSpPr>
        <p:spPr>
          <a:xfrm>
            <a:off x="7955520" y="2386407"/>
            <a:ext cx="176888" cy="109946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그룹 227"/>
          <p:cNvGrpSpPr/>
          <p:nvPr/>
        </p:nvGrpSpPr>
        <p:grpSpPr>
          <a:xfrm>
            <a:off x="7161355" y="2607694"/>
            <a:ext cx="271459" cy="2209605"/>
            <a:chOff x="7098308" y="2230648"/>
            <a:chExt cx="291041" cy="2522932"/>
          </a:xfrm>
          <a:solidFill>
            <a:srgbClr val="00B0F0"/>
          </a:solidFill>
        </p:grpSpPr>
        <p:sp>
          <p:nvSpPr>
            <p:cNvPr id="229" name="왼쪽 화살표 228"/>
            <p:cNvSpPr/>
            <p:nvPr/>
          </p:nvSpPr>
          <p:spPr>
            <a:xfrm>
              <a:off x="7099314" y="2542833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0" name="왼쪽 화살표 229"/>
            <p:cNvSpPr/>
            <p:nvPr/>
          </p:nvSpPr>
          <p:spPr>
            <a:xfrm>
              <a:off x="7099314" y="2898765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1" name="왼쪽 화살표 230"/>
            <p:cNvSpPr/>
            <p:nvPr/>
          </p:nvSpPr>
          <p:spPr>
            <a:xfrm>
              <a:off x="7099314" y="3254697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2" name="왼쪽 화살표 231"/>
            <p:cNvSpPr/>
            <p:nvPr/>
          </p:nvSpPr>
          <p:spPr>
            <a:xfrm>
              <a:off x="7099314" y="3966561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3" name="왼쪽 화살표 232"/>
            <p:cNvSpPr/>
            <p:nvPr/>
          </p:nvSpPr>
          <p:spPr>
            <a:xfrm>
              <a:off x="7099314" y="4322494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4" name="왼쪽 화살표 233"/>
            <p:cNvSpPr/>
            <p:nvPr/>
          </p:nvSpPr>
          <p:spPr>
            <a:xfrm>
              <a:off x="7098308" y="3610629"/>
              <a:ext cx="88349" cy="189506"/>
            </a:xfrm>
            <a:prstGeom prst="left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7162181" y="2230648"/>
              <a:ext cx="227168" cy="2522932"/>
            </a:xfrm>
            <a:prstGeom prst="rect">
              <a:avLst/>
            </a:prstGeom>
            <a:grpFill/>
            <a:ln w="12700">
              <a:noFill/>
            </a:ln>
            <a:effectLst>
              <a:outerShdw blurRad="254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36000" tIns="0" rIns="36000" bIns="0" anchor="ctr">
              <a:noAutofit/>
            </a:bodyPr>
            <a:lstStyle/>
            <a:p>
              <a:pPr algn="ctr"/>
              <a:r>
                <a:rPr lang="ko-KR" altLang="en-US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체계적인</a:t>
              </a:r>
              <a:r>
                <a:rPr lang="en-US" altLang="ko-KR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r>
                <a:rPr lang="ko-KR" altLang="en-US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품질관리</a:t>
              </a:r>
              <a: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7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활동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99294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목표 데이터 품질관리체계 개념도</a:t>
              </a:r>
              <a:endPara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경영정보시스템 </a:t>
            </a:r>
            <a:r>
              <a:rPr lang="ko-KR" altLang="en-US" dirty="0"/>
              <a:t>데이터의 고품질 </a:t>
            </a:r>
            <a:r>
              <a:rPr lang="en-US" altLang="ko-KR" dirty="0"/>
              <a:t>· </a:t>
            </a:r>
            <a:r>
              <a:rPr lang="ko-KR" altLang="en-US" dirty="0"/>
              <a:t>고신뢰성을 보장하기 위한 데이터 품질 방침</a:t>
            </a:r>
            <a:r>
              <a:rPr lang="en-US" altLang="ko-KR" dirty="0"/>
              <a:t>, </a:t>
            </a:r>
            <a:r>
              <a:rPr lang="ko-KR" altLang="en-US" dirty="0"/>
              <a:t>조직</a:t>
            </a:r>
            <a:r>
              <a:rPr lang="en-US" altLang="ko-KR" dirty="0"/>
              <a:t>, </a:t>
            </a:r>
            <a:r>
              <a:rPr lang="ko-KR" altLang="en-US" dirty="0"/>
              <a:t>품질 관리 프로세스 및 체계를 포함하는 데이터 품질관리 체계를 구축함</a:t>
            </a:r>
          </a:p>
          <a:p>
            <a:endParaRPr lang="ko-KR" altLang="en-US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pc="-150" smtClean="0"/>
              <a:t>2.10.3 </a:t>
            </a:r>
            <a:r>
              <a:rPr lang="ko-KR" altLang="en-US" spc="-150" smtClean="0"/>
              <a:t>데이터 품질관리체계 수립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2.10.3.1 </a:t>
            </a:r>
            <a:r>
              <a:rPr lang="ko-KR" altLang="en-US" sz="1800" spc="-150" dirty="0"/>
              <a:t>데이터 품질관리체계 </a:t>
            </a:r>
            <a:r>
              <a:rPr lang="ko-KR" altLang="en-US" sz="1800" spc="-150"/>
              <a:t>수립 </a:t>
            </a:r>
            <a:r>
              <a:rPr lang="ko-KR" altLang="en-US" sz="1800" spc="-150" smtClean="0"/>
              <a:t>개념도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6" name="그룹 4"/>
          <p:cNvGrpSpPr/>
          <p:nvPr/>
        </p:nvGrpSpPr>
        <p:grpSpPr>
          <a:xfrm>
            <a:off x="418240" y="2024843"/>
            <a:ext cx="1438416" cy="4261003"/>
            <a:chOff x="274224" y="2024843"/>
            <a:chExt cx="1438416" cy="4261003"/>
          </a:xfrm>
        </p:grpSpPr>
        <p:grpSp>
          <p:nvGrpSpPr>
            <p:cNvPr id="7" name="그룹 52"/>
            <p:cNvGrpSpPr/>
            <p:nvPr/>
          </p:nvGrpSpPr>
          <p:grpSpPr>
            <a:xfrm>
              <a:off x="274224" y="2024843"/>
              <a:ext cx="1438416" cy="2304682"/>
              <a:chOff x="7159209" y="1613789"/>
              <a:chExt cx="600909" cy="2677586"/>
            </a:xfrm>
          </p:grpSpPr>
          <p:sp>
            <p:nvSpPr>
              <p:cNvPr id="54" name="직사각형 53"/>
              <p:cNvSpPr/>
              <p:nvPr/>
            </p:nvSpPr>
            <p:spPr bwMode="auto">
              <a:xfrm>
                <a:off x="7159209" y="1656406"/>
                <a:ext cx="600909" cy="2634969"/>
              </a:xfrm>
              <a:prstGeom prst="rect">
                <a:avLst/>
              </a:prstGeom>
              <a:solidFill>
                <a:sysClr val="window" lastClr="FFFFFF"/>
              </a:solidFill>
              <a:ln w="6350" cap="sq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lIns="91395" tIns="45697" rIns="91395" bIns="45697" anchor="ctr">
                <a:scene3d>
                  <a:camera prst="orthographicFront"/>
                  <a:lightRig rig="threePt" dir="t"/>
                </a:scene3d>
                <a:sp3d>
                  <a:bevelT w="0"/>
                </a:sp3d>
              </a:bodyPr>
              <a:lstStyle/>
              <a:p>
                <a:pPr defTabSz="1075571" eaLnBrk="0" fontAlgn="ctr" latinLnBrk="0" hangingPunct="0">
                  <a:lnSpc>
                    <a:spcPts val="1000"/>
                  </a:lnSpc>
                  <a:spcBef>
                    <a:spcPts val="200"/>
                  </a:spcBef>
                  <a:buClr>
                    <a:srgbClr val="808080"/>
                  </a:buClr>
                  <a:buSzPct val="80000"/>
                  <a:defRPr/>
                </a:pPr>
                <a:endParaRPr lang="ko-KR" altLang="en-US" sz="800" kern="0" spc="-8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5" name="AutoShape 26"/>
              <p:cNvSpPr>
                <a:spLocks noChangeArrowheads="1"/>
              </p:cNvSpPr>
              <p:nvPr/>
            </p:nvSpPr>
            <p:spPr bwMode="auto">
              <a:xfrm>
                <a:off x="7159209" y="1613789"/>
                <a:ext cx="600909" cy="460074"/>
              </a:xfrm>
              <a:prstGeom prst="roundRect">
                <a:avLst>
                  <a:gd name="adj" fmla="val 0"/>
                </a:avLst>
              </a:prstGeom>
              <a:solidFill>
                <a:srgbClr val="0066B3"/>
              </a:solidFill>
              <a:ln w="3175" cap="flat" cmpd="sng" algn="ctr">
                <a:solidFill>
                  <a:srgbClr val="0066B3"/>
                </a:solidFill>
                <a:prstDash val="solid"/>
              </a:ln>
              <a:effectLst/>
              <a:extLst/>
            </p:spPr>
            <p:txBody>
              <a:bodyPr lIns="0" tIns="0" rIns="0" bIns="0" rtlCol="0" anchor="ctr">
                <a:scene3d>
                  <a:camera prst="orthographicFront"/>
                  <a:lightRig rig="threePt" dir="t"/>
                </a:scene3d>
                <a:sp3d>
                  <a:bevelT w="0"/>
                </a:sp3d>
              </a:bodyPr>
              <a:lstStyle/>
              <a:p>
                <a:pPr algn="ctr" fontAlgn="base" latinLnBrk="0">
                  <a:lnSpc>
                    <a:spcPts val="1000"/>
                  </a:lnSpc>
                  <a:spcBef>
                    <a:spcPct val="0"/>
                  </a:spcBef>
                  <a:spcAft>
                    <a:spcPct val="0"/>
                  </a:spcAft>
                  <a:buSzPct val="60000"/>
                  <a:defRPr/>
                </a:pPr>
                <a:r>
                  <a:rPr lang="ko-KR" altLang="en-US" sz="1000" b="1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품질관리체계 수행주체</a:t>
                </a:r>
              </a:p>
            </p:txBody>
          </p:sp>
        </p:grpSp>
        <p:sp>
          <p:nvSpPr>
            <p:cNvPr id="56" name="양쪽 모서리가 둥근 사각형 55"/>
            <p:cNvSpPr/>
            <p:nvPr/>
          </p:nvSpPr>
          <p:spPr bwMode="auto">
            <a:xfrm>
              <a:off x="278573" y="2456892"/>
              <a:ext cx="1434067" cy="1792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tx1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  <a:extLst/>
          </p:spPr>
          <p:txBody>
            <a:bodyPr lIns="36000" tIns="36000" rIns="36000" rtlCol="0" anchor="ctr"/>
            <a:lstStyle/>
            <a:p>
              <a:pPr algn="ctr">
                <a:buSzPct val="60000"/>
              </a:pPr>
              <a:r>
                <a:rPr lang="ko-KR" altLang="en-US" sz="105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정보기획팀</a:t>
              </a:r>
            </a:p>
          </p:txBody>
        </p:sp>
        <p:grpSp>
          <p:nvGrpSpPr>
            <p:cNvPr id="8" name="그룹 56"/>
            <p:cNvGrpSpPr/>
            <p:nvPr/>
          </p:nvGrpSpPr>
          <p:grpSpPr>
            <a:xfrm>
              <a:off x="381303" y="2700211"/>
              <a:ext cx="1272819" cy="630064"/>
              <a:chOff x="363885" y="2744924"/>
              <a:chExt cx="1272819" cy="630064"/>
            </a:xfrm>
          </p:grpSpPr>
          <p:sp>
            <p:nvSpPr>
              <p:cNvPr id="58" name="AutoShape 18"/>
              <p:cNvSpPr>
                <a:spLocks noChangeArrowheads="1"/>
              </p:cNvSpPr>
              <p:nvPr/>
            </p:nvSpPr>
            <p:spPr bwMode="auto">
              <a:xfrm>
                <a:off x="363885" y="2744924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ko-KR" altLang="en-US" sz="800" kern="0" spc="-15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데이터 품질</a:t>
                </a:r>
                <a:r>
                  <a:rPr lang="en-US" altLang="ko-KR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800" kern="0" spc="-15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표준 담당자</a:t>
                </a:r>
              </a:p>
            </p:txBody>
          </p:sp>
          <p:sp>
            <p:nvSpPr>
              <p:cNvPr id="59" name="AutoShape 18"/>
              <p:cNvSpPr>
                <a:spLocks noChangeArrowheads="1"/>
              </p:cNvSpPr>
              <p:nvPr/>
            </p:nvSpPr>
            <p:spPr bwMode="auto">
              <a:xfrm>
                <a:off x="363885" y="2969956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en-US" altLang="ko-KR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DA / DBA</a:t>
                </a:r>
                <a:endParaRPr lang="ko-KR" altLang="en-US" sz="80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0" name="AutoShape 18"/>
              <p:cNvSpPr>
                <a:spLocks noChangeArrowheads="1"/>
              </p:cNvSpPr>
              <p:nvPr/>
            </p:nvSpPr>
            <p:spPr bwMode="auto">
              <a:xfrm>
                <a:off x="363885" y="3194988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시스템 운영자</a:t>
                </a:r>
              </a:p>
            </p:txBody>
          </p:sp>
        </p:grpSp>
        <p:sp>
          <p:nvSpPr>
            <p:cNvPr id="61" name="양쪽 모서리가 둥근 사각형 60"/>
            <p:cNvSpPr/>
            <p:nvPr/>
          </p:nvSpPr>
          <p:spPr bwMode="auto">
            <a:xfrm>
              <a:off x="278573" y="3392996"/>
              <a:ext cx="1434067" cy="1792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tx1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  <a:extLst/>
          </p:spPr>
          <p:txBody>
            <a:bodyPr lIns="36000" tIns="36000" rIns="36000" rtlCol="0" anchor="ctr"/>
            <a:lstStyle/>
            <a:p>
              <a:pPr algn="ctr">
                <a:buSzPct val="60000"/>
              </a:pPr>
              <a:r>
                <a:rPr lang="ko-KR" altLang="en-US" sz="105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개발</a:t>
              </a:r>
              <a:r>
                <a:rPr lang="en-US" altLang="ko-KR" sz="105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 · </a:t>
              </a:r>
              <a:r>
                <a:rPr lang="ko-KR" altLang="en-US" sz="105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운영 업체</a:t>
              </a:r>
            </a:p>
          </p:txBody>
        </p:sp>
        <p:grpSp>
          <p:nvGrpSpPr>
            <p:cNvPr id="9" name="그룹 61"/>
            <p:cNvGrpSpPr/>
            <p:nvPr/>
          </p:nvGrpSpPr>
          <p:grpSpPr>
            <a:xfrm>
              <a:off x="381303" y="3633302"/>
              <a:ext cx="1272819" cy="630064"/>
              <a:chOff x="363885" y="2744924"/>
              <a:chExt cx="1272819" cy="630064"/>
            </a:xfrm>
          </p:grpSpPr>
          <p:sp>
            <p:nvSpPr>
              <p:cNvPr id="63" name="AutoShape 18"/>
              <p:cNvSpPr>
                <a:spLocks noChangeArrowheads="1"/>
              </p:cNvSpPr>
              <p:nvPr/>
            </p:nvSpPr>
            <p:spPr bwMode="auto">
              <a:xfrm>
                <a:off x="363885" y="2744924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en-US" altLang="ko-KR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DA / DBA</a:t>
                </a:r>
                <a:endParaRPr lang="ko-KR" altLang="en-US" sz="80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4" name="AutoShape 18"/>
              <p:cNvSpPr>
                <a:spLocks noChangeArrowheads="1"/>
              </p:cNvSpPr>
              <p:nvPr/>
            </p:nvSpPr>
            <p:spPr bwMode="auto">
              <a:xfrm>
                <a:off x="363885" y="2969956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응용 개발자</a:t>
                </a:r>
              </a:p>
            </p:txBody>
          </p:sp>
          <p:sp>
            <p:nvSpPr>
              <p:cNvPr id="65" name="AutoShape 18"/>
              <p:cNvSpPr>
                <a:spLocks noChangeArrowheads="1"/>
              </p:cNvSpPr>
              <p:nvPr/>
            </p:nvSpPr>
            <p:spPr bwMode="auto">
              <a:xfrm>
                <a:off x="363885" y="3194988"/>
                <a:ext cx="1272819" cy="180000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>
                  <a:lnSpc>
                    <a:spcPts val="900"/>
                  </a:lnSpc>
                  <a:buSzPct val="60000"/>
                </a:pPr>
                <a:r>
                  <a:rPr lang="en-US" altLang="ko-KR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SW</a:t>
                </a:r>
                <a:r>
                  <a:rPr lang="ko-KR" altLang="en-US" sz="800" kern="0" spc="-15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품질보증담당자</a:t>
                </a:r>
                <a:r>
                  <a:rPr lang="en-US" altLang="ko-KR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(SQA)</a:t>
                </a:r>
                <a:endParaRPr lang="ko-KR" altLang="en-US" sz="800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pic>
          <p:nvPicPr>
            <p:cNvPr id="66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2660559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2885868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3111177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3593501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3818810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50822" y="4044119"/>
              <a:ext cx="137682" cy="2387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10" name="그룹 71"/>
            <p:cNvGrpSpPr/>
            <p:nvPr/>
          </p:nvGrpSpPr>
          <p:grpSpPr>
            <a:xfrm>
              <a:off x="274224" y="4391534"/>
              <a:ext cx="1438416" cy="895622"/>
              <a:chOff x="274224" y="4359122"/>
              <a:chExt cx="1438416" cy="895622"/>
            </a:xfrm>
          </p:grpSpPr>
          <p:grpSp>
            <p:nvGrpSpPr>
              <p:cNvPr id="11" name="그룹 72"/>
              <p:cNvGrpSpPr/>
              <p:nvPr/>
            </p:nvGrpSpPr>
            <p:grpSpPr>
              <a:xfrm>
                <a:off x="274224" y="4359122"/>
                <a:ext cx="1438416" cy="895622"/>
                <a:chOff x="7159209" y="1613789"/>
                <a:chExt cx="600909" cy="1040535"/>
              </a:xfrm>
            </p:grpSpPr>
            <p:sp>
              <p:nvSpPr>
                <p:cNvPr id="78" name="직사각형 77"/>
                <p:cNvSpPr/>
                <p:nvPr/>
              </p:nvSpPr>
              <p:spPr bwMode="auto">
                <a:xfrm>
                  <a:off x="7159209" y="1656406"/>
                  <a:ext cx="600909" cy="997918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cap="sq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lIns="91395" tIns="45697" rIns="91395" bIns="45697" anchor="ctr">
                  <a:scene3d>
                    <a:camera prst="orthographicFront"/>
                    <a:lightRig rig="threePt" dir="t"/>
                  </a:scene3d>
                  <a:sp3d>
                    <a:bevelT w="0"/>
                  </a:sp3d>
                </a:bodyPr>
                <a:lstStyle/>
                <a:p>
                  <a:pPr defTabSz="1075571" eaLnBrk="0" fontAlgn="ctr" latinLnBrk="0" hangingPunct="0">
                    <a:lnSpc>
                      <a:spcPts val="1000"/>
                    </a:lnSpc>
                    <a:spcBef>
                      <a:spcPts val="200"/>
                    </a:spcBef>
                    <a:buClr>
                      <a:srgbClr val="808080"/>
                    </a:buClr>
                    <a:buSzPct val="80000"/>
                    <a:defRPr/>
                  </a:pPr>
                  <a:endParaRPr lang="ko-KR" altLang="en-US" sz="800" kern="0" spc="-81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9" name="AutoShape 26"/>
                <p:cNvSpPr>
                  <a:spLocks noChangeArrowheads="1"/>
                </p:cNvSpPr>
                <p:nvPr/>
              </p:nvSpPr>
              <p:spPr bwMode="auto">
                <a:xfrm>
                  <a:off x="7159209" y="1613789"/>
                  <a:ext cx="600909" cy="460074"/>
                </a:xfrm>
                <a:prstGeom prst="roundRect">
                  <a:avLst>
                    <a:gd name="adj" fmla="val 0"/>
                  </a:avLst>
                </a:prstGeom>
                <a:solidFill>
                  <a:srgbClr val="0066B3"/>
                </a:solidFill>
                <a:ln w="3175" cap="flat" cmpd="sng" algn="ctr">
                  <a:solidFill>
                    <a:srgbClr val="0066B3"/>
                  </a:solidFill>
                  <a:prstDash val="solid"/>
                </a:ln>
                <a:effectLst/>
                <a:extLst/>
              </p:spPr>
              <p:txBody>
                <a:bodyPr lIns="0" tIns="0" rIns="0" bIns="0" rtlCol="0" anchor="ctr">
                  <a:scene3d>
                    <a:camera prst="orthographicFront"/>
                    <a:lightRig rig="threePt" dir="t"/>
                  </a:scene3d>
                  <a:sp3d>
                    <a:bevelT w="0"/>
                  </a:sp3d>
                </a:bodyPr>
                <a:lstStyle/>
                <a:p>
                  <a:pPr algn="ctr" fontAlgn="base" latinLnBrk="0">
                    <a:lnSpc>
                      <a:spcPts val="1000"/>
                    </a:lnSpc>
                    <a:spcBef>
                      <a:spcPct val="0"/>
                    </a:spcBef>
                    <a:spcAft>
                      <a:spcPct val="0"/>
                    </a:spcAft>
                    <a:buSzPct val="60000"/>
                    <a:defRPr/>
                  </a:pPr>
                  <a:r>
                    <a:rPr lang="ko-KR" altLang="en-US" sz="1000" b="1" kern="0" dirty="0">
                      <a:ln>
                        <a:solidFill>
                          <a:srgbClr val="0070C0">
                            <a:alpha val="0"/>
                          </a:srgbClr>
                        </a:solidFill>
                      </a:ln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rPr>
                    <a:t>데이터 품질관리</a:t>
                  </a:r>
                  <a:r>
                    <a:rPr lang="en-US" altLang="ko-KR" sz="1000" b="1" kern="0" dirty="0">
                      <a:ln>
                        <a:solidFill>
                          <a:srgbClr val="0070C0">
                            <a:alpha val="0"/>
                          </a:srgbClr>
                        </a:solidFill>
                      </a:ln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rPr>
                    <a:t/>
                  </a:r>
                  <a:br>
                    <a:rPr lang="en-US" altLang="ko-KR" sz="1000" b="1" kern="0" dirty="0">
                      <a:ln>
                        <a:solidFill>
                          <a:srgbClr val="0070C0">
                            <a:alpha val="0"/>
                          </a:srgbClr>
                        </a:solidFill>
                      </a:ln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rPr>
                  </a:br>
                  <a:r>
                    <a:rPr lang="en-US" altLang="ko-KR" sz="1000" b="1" kern="0" dirty="0">
                      <a:ln>
                        <a:solidFill>
                          <a:srgbClr val="0070C0">
                            <a:alpha val="0"/>
                          </a:srgbClr>
                        </a:solidFill>
                      </a:ln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rPr>
                    <a:t>Lifecycle</a:t>
                  </a:r>
                  <a:endParaRPr lang="ko-KR" altLang="en-US" sz="1000" b="1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sp>
            <p:nvSpPr>
              <p:cNvPr id="74" name="AutoShape 18"/>
              <p:cNvSpPr>
                <a:spLocks noChangeArrowheads="1"/>
              </p:cNvSpPr>
              <p:nvPr/>
            </p:nvSpPr>
            <p:spPr bwMode="auto">
              <a:xfrm>
                <a:off x="416872" y="4808736"/>
                <a:ext cx="504628" cy="180000"/>
              </a:xfrm>
              <a:prstGeom prst="rect">
                <a:avLst/>
              </a:prstGeom>
              <a:solidFill>
                <a:srgbClr val="4FA0FF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 latinLnBrk="0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계획단계</a:t>
                </a:r>
              </a:p>
            </p:txBody>
          </p:sp>
          <p:sp>
            <p:nvSpPr>
              <p:cNvPr id="75" name="AutoShape 18"/>
              <p:cNvSpPr>
                <a:spLocks noChangeArrowheads="1"/>
              </p:cNvSpPr>
              <p:nvPr/>
            </p:nvSpPr>
            <p:spPr bwMode="auto">
              <a:xfrm>
                <a:off x="1077812" y="4808736"/>
                <a:ext cx="505785" cy="180000"/>
              </a:xfrm>
              <a:prstGeom prst="rect">
                <a:avLst/>
              </a:prstGeom>
              <a:solidFill>
                <a:srgbClr val="4FA0FF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 latinLnBrk="0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구축단계</a:t>
                </a:r>
              </a:p>
            </p:txBody>
          </p:sp>
          <p:sp>
            <p:nvSpPr>
              <p:cNvPr id="76" name="AutoShape 18"/>
              <p:cNvSpPr>
                <a:spLocks noChangeArrowheads="1"/>
              </p:cNvSpPr>
              <p:nvPr/>
            </p:nvSpPr>
            <p:spPr bwMode="auto">
              <a:xfrm>
                <a:off x="416872" y="5030998"/>
                <a:ext cx="504628" cy="180000"/>
              </a:xfrm>
              <a:prstGeom prst="rect">
                <a:avLst/>
              </a:prstGeom>
              <a:solidFill>
                <a:srgbClr val="4FA0FF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 latinLnBrk="0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활용단계</a:t>
                </a:r>
              </a:p>
            </p:txBody>
          </p:sp>
          <p:sp>
            <p:nvSpPr>
              <p:cNvPr id="77" name="AutoShape 18"/>
              <p:cNvSpPr>
                <a:spLocks noChangeArrowheads="1"/>
              </p:cNvSpPr>
              <p:nvPr/>
            </p:nvSpPr>
            <p:spPr bwMode="auto">
              <a:xfrm>
                <a:off x="1077812" y="5030998"/>
                <a:ext cx="505785" cy="180000"/>
              </a:xfrm>
              <a:prstGeom prst="rect">
                <a:avLst/>
              </a:prstGeom>
              <a:solidFill>
                <a:srgbClr val="4FA0FF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18000" rIns="0" bIns="18000" rtlCol="0" anchor="ctr"/>
              <a:lstStyle/>
              <a:p>
                <a:pPr algn="ctr" latinLnBrk="0">
                  <a:lnSpc>
                    <a:spcPts val="900"/>
                  </a:lnSpc>
                  <a:buSzPct val="60000"/>
                </a:pPr>
                <a:r>
                  <a:rPr lang="ko-KR" altLang="en-US" sz="800" kern="0" dirty="0">
                    <a:ln>
                      <a:solidFill>
                        <a:srgbClr val="0070C0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운영단계</a:t>
                </a:r>
              </a:p>
            </p:txBody>
          </p:sp>
        </p:grpSp>
        <p:grpSp>
          <p:nvGrpSpPr>
            <p:cNvPr id="12" name="그룹 79"/>
            <p:cNvGrpSpPr/>
            <p:nvPr/>
          </p:nvGrpSpPr>
          <p:grpSpPr>
            <a:xfrm>
              <a:off x="274224" y="5349164"/>
              <a:ext cx="1438416" cy="936682"/>
              <a:chOff x="274224" y="5349164"/>
              <a:chExt cx="1438416" cy="936682"/>
            </a:xfrm>
          </p:grpSpPr>
          <p:grpSp>
            <p:nvGrpSpPr>
              <p:cNvPr id="13" name="그룹 80"/>
              <p:cNvGrpSpPr/>
              <p:nvPr/>
            </p:nvGrpSpPr>
            <p:grpSpPr>
              <a:xfrm>
                <a:off x="274224" y="5349164"/>
                <a:ext cx="1438416" cy="936682"/>
                <a:chOff x="7159209" y="1613789"/>
                <a:chExt cx="600909" cy="1088239"/>
              </a:xfrm>
            </p:grpSpPr>
            <p:sp>
              <p:nvSpPr>
                <p:cNvPr id="85" name="직사각형 84"/>
                <p:cNvSpPr/>
                <p:nvPr/>
              </p:nvSpPr>
              <p:spPr bwMode="auto">
                <a:xfrm>
                  <a:off x="7159209" y="1656406"/>
                  <a:ext cx="600909" cy="1045622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cap="sq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lIns="91395" tIns="45697" rIns="91395" bIns="45697" anchor="ctr">
                  <a:scene3d>
                    <a:camera prst="orthographicFront"/>
                    <a:lightRig rig="threePt" dir="t"/>
                  </a:scene3d>
                  <a:sp3d>
                    <a:bevelT w="0"/>
                  </a:sp3d>
                </a:bodyPr>
                <a:lstStyle/>
                <a:p>
                  <a:pPr defTabSz="1075571" eaLnBrk="0" fontAlgn="ctr" latinLnBrk="0" hangingPunct="0">
                    <a:lnSpc>
                      <a:spcPts val="1000"/>
                    </a:lnSpc>
                    <a:spcBef>
                      <a:spcPts val="200"/>
                    </a:spcBef>
                    <a:buClr>
                      <a:srgbClr val="808080"/>
                    </a:buClr>
                    <a:buSzPct val="80000"/>
                    <a:defRPr/>
                  </a:pPr>
                  <a:endParaRPr lang="ko-KR" altLang="en-US" sz="800" kern="0" spc="-81" dirty="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6" name="AutoShape 26"/>
                <p:cNvSpPr>
                  <a:spLocks noChangeArrowheads="1"/>
                </p:cNvSpPr>
                <p:nvPr/>
              </p:nvSpPr>
              <p:spPr bwMode="auto">
                <a:xfrm>
                  <a:off x="7159209" y="1613789"/>
                  <a:ext cx="600909" cy="460074"/>
                </a:xfrm>
                <a:prstGeom prst="roundRect">
                  <a:avLst>
                    <a:gd name="adj" fmla="val 0"/>
                  </a:avLst>
                </a:prstGeom>
                <a:solidFill>
                  <a:srgbClr val="0066B3"/>
                </a:solidFill>
                <a:ln w="3175" cap="flat" cmpd="sng" algn="ctr">
                  <a:solidFill>
                    <a:srgbClr val="0066B3"/>
                  </a:solidFill>
                  <a:prstDash val="solid"/>
                </a:ln>
                <a:effectLst/>
                <a:extLst/>
              </p:spPr>
              <p:txBody>
                <a:bodyPr lIns="0" tIns="0" rIns="0" bIns="0" rtlCol="0" anchor="ctr">
                  <a:scene3d>
                    <a:camera prst="orthographicFront"/>
                    <a:lightRig rig="threePt" dir="t"/>
                  </a:scene3d>
                  <a:sp3d>
                    <a:bevelT w="0"/>
                  </a:sp3d>
                </a:bodyPr>
                <a:lstStyle/>
                <a:p>
                  <a:pPr algn="ctr" fontAlgn="base" latinLnBrk="0">
                    <a:lnSpc>
                      <a:spcPts val="1000"/>
                    </a:lnSpc>
                    <a:spcBef>
                      <a:spcPct val="0"/>
                    </a:spcBef>
                    <a:spcAft>
                      <a:spcPct val="0"/>
                    </a:spcAft>
                    <a:buSzPct val="60000"/>
                    <a:defRPr/>
                  </a:pPr>
                  <a:r>
                    <a:rPr lang="ko-KR" altLang="en-US" sz="1000" b="1" kern="0" dirty="0">
                      <a:ln>
                        <a:solidFill>
                          <a:srgbClr val="0070C0">
                            <a:alpha val="0"/>
                          </a:srgbClr>
                        </a:solidFill>
                      </a:ln>
                      <a:solidFill>
                        <a:prstClr val="white"/>
                      </a:solidFill>
                      <a:latin typeface="맑은 고딕" pitchFamily="50" charset="-127"/>
                      <a:ea typeface="맑은 고딕" pitchFamily="50" charset="-127"/>
                    </a:rPr>
                    <a:t>정보시스템</a:t>
                  </a:r>
                </a:p>
              </p:txBody>
            </p:sp>
          </p:grpSp>
          <p:grpSp>
            <p:nvGrpSpPr>
              <p:cNvPr id="14" name="그룹 81"/>
              <p:cNvGrpSpPr/>
              <p:nvPr/>
            </p:nvGrpSpPr>
            <p:grpSpPr>
              <a:xfrm>
                <a:off x="545653" y="5828124"/>
                <a:ext cx="939680" cy="454778"/>
                <a:chOff x="2449187" y="1117633"/>
                <a:chExt cx="939680" cy="454778"/>
              </a:xfrm>
            </p:grpSpPr>
            <p:sp>
              <p:nvSpPr>
                <p:cNvPr id="83" name="직사각형 82"/>
                <p:cNvSpPr/>
                <p:nvPr/>
              </p:nvSpPr>
              <p:spPr>
                <a:xfrm>
                  <a:off x="2449187" y="1377486"/>
                  <a:ext cx="939680" cy="19492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>
                    <a:lnSpc>
                      <a:spcPts val="800"/>
                    </a:lnSpc>
                  </a:pPr>
                  <a:r>
                    <a:rPr lang="ko-KR" altLang="en-US" sz="80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맑은 고딕" pitchFamily="50" charset="-127"/>
                      <a:ea typeface="맑은 고딕" pitchFamily="50" charset="-127"/>
                    </a:rPr>
                    <a:t>경영정보</a:t>
                  </a:r>
                  <a:r>
                    <a:rPr lang="en-US" altLang="ko-KR" sz="800" smtClean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맑은 고딕" pitchFamily="50" charset="-127"/>
                      <a:ea typeface="맑은 고딕" pitchFamily="50" charset="-127"/>
                    </a:rPr>
                    <a:t> </a:t>
                  </a:r>
                  <a:r>
                    <a:rPr lang="ko-KR" altLang="en-US" sz="800" dirty="0"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맑은 고딕" pitchFamily="50" charset="-127"/>
                      <a:ea typeface="맑은 고딕" pitchFamily="50" charset="-127"/>
                    </a:rPr>
                    <a:t>시스템</a:t>
                  </a:r>
                </a:p>
              </p:txBody>
            </p:sp>
            <p:pic>
              <p:nvPicPr>
                <p:cNvPr id="84" name="Picture 79" descr="13"/>
                <p:cNvPicPr>
                  <a:picLocks noChangeAspect="1" noChangeArrowheads="1"/>
                </p:cNvPicPr>
                <p:nvPr/>
              </p:nvPicPr>
              <p:blipFill>
                <a:blip r:embed="rId3" cstate="print"/>
                <a:srcRect/>
                <a:stretch>
                  <a:fillRect/>
                </a:stretch>
              </p:blipFill>
              <p:spPr bwMode="auto">
                <a:xfrm>
                  <a:off x="2802736" y="1117633"/>
                  <a:ext cx="232579" cy="287444"/>
                </a:xfrm>
                <a:prstGeom prst="rect">
                  <a:avLst/>
                </a:prstGeom>
                <a:noFill/>
                <a:ln w="9525" algn="ctr">
                  <a:noFill/>
                  <a:miter lim="800000"/>
                  <a:headEnd/>
                  <a:tailEnd/>
                </a:ln>
              </p:spPr>
            </p:pic>
          </p:grpSp>
        </p:grpSp>
        <p:cxnSp>
          <p:nvCxnSpPr>
            <p:cNvPr id="87" name="꺾인 연결선 86"/>
            <p:cNvCxnSpPr>
              <a:stCxn id="76" idx="1"/>
              <a:endCxn id="74" idx="1"/>
            </p:cNvCxnSpPr>
            <p:nvPr/>
          </p:nvCxnSpPr>
          <p:spPr bwMode="auto">
            <a:xfrm rot="10800000">
              <a:off x="416872" y="4931148"/>
              <a:ext cx="12700" cy="222262"/>
            </a:xfrm>
            <a:prstGeom prst="bentConnector3">
              <a:avLst>
                <a:gd name="adj1" fmla="val 1080000"/>
              </a:avLst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88" name="꺾인 연결선 87"/>
            <p:cNvCxnSpPr>
              <a:stCxn id="75" idx="3"/>
              <a:endCxn id="77" idx="3"/>
            </p:cNvCxnSpPr>
            <p:nvPr/>
          </p:nvCxnSpPr>
          <p:spPr bwMode="auto">
            <a:xfrm>
              <a:off x="1583597" y="4931148"/>
              <a:ext cx="12700" cy="222262"/>
            </a:xfrm>
            <a:prstGeom prst="bentConnector3">
              <a:avLst>
                <a:gd name="adj1" fmla="val 900000"/>
              </a:avLst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89" name="꺾인 연결선 88"/>
            <p:cNvCxnSpPr>
              <a:stCxn id="74" idx="3"/>
              <a:endCxn id="75" idx="1"/>
            </p:cNvCxnSpPr>
            <p:nvPr/>
          </p:nvCxnSpPr>
          <p:spPr bwMode="auto">
            <a:xfrm>
              <a:off x="921500" y="4931148"/>
              <a:ext cx="156312" cy="1270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90" name="꺾인 연결선 89"/>
            <p:cNvCxnSpPr>
              <a:stCxn id="77" idx="1"/>
              <a:endCxn id="76" idx="3"/>
            </p:cNvCxnSpPr>
            <p:nvPr/>
          </p:nvCxnSpPr>
          <p:spPr bwMode="auto">
            <a:xfrm rot="10800000">
              <a:off x="921500" y="5153410"/>
              <a:ext cx="156312" cy="1270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91" name="직사각형 90"/>
          <p:cNvSpPr/>
          <p:nvPr/>
        </p:nvSpPr>
        <p:spPr bwMode="auto">
          <a:xfrm>
            <a:off x="8069876" y="2061525"/>
            <a:ext cx="1438416" cy="3082782"/>
          </a:xfrm>
          <a:prstGeom prst="rect">
            <a:avLst/>
          </a:prstGeom>
          <a:solidFill>
            <a:sysClr val="window" lastClr="FFFFFF"/>
          </a:solidFill>
          <a:ln w="6350" cap="sq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lIns="91395" tIns="45697" rIns="91395" bIns="45697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defTabSz="1075571" eaLnBrk="0" fontAlgn="ctr" latinLnBrk="0" hangingPunct="0">
              <a:lnSpc>
                <a:spcPts val="1000"/>
              </a:lnSpc>
              <a:spcBef>
                <a:spcPts val="200"/>
              </a:spcBef>
              <a:buClr>
                <a:srgbClr val="808080"/>
              </a:buClr>
              <a:buSzPct val="80000"/>
              <a:defRPr/>
            </a:pPr>
            <a:endParaRPr lang="ko-KR" altLang="en-US" sz="800" kern="0" spc="-81" dirty="0">
              <a:solidFill>
                <a:prstClr val="black">
                  <a:lumMod val="75000"/>
                  <a:lumOff val="25000"/>
                </a:prst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AutoShape 26"/>
          <p:cNvSpPr>
            <a:spLocks noChangeArrowheads="1"/>
          </p:cNvSpPr>
          <p:nvPr/>
        </p:nvSpPr>
        <p:spPr bwMode="auto">
          <a:xfrm>
            <a:off x="8069876" y="2024843"/>
            <a:ext cx="1438416" cy="396000"/>
          </a:xfrm>
          <a:prstGeom prst="roundRect">
            <a:avLst>
              <a:gd name="adj" fmla="val 0"/>
            </a:avLst>
          </a:prstGeom>
          <a:solidFill>
            <a:srgbClr val="0066B3"/>
          </a:solidFill>
          <a:ln w="3175" cap="flat" cmpd="sng" algn="ctr">
            <a:solidFill>
              <a:srgbClr val="0066B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fontAlgn="base" latinLnBrk="0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SzPct val="60000"/>
              <a:defRPr/>
            </a:pPr>
            <a:r>
              <a:rPr lang="ko-KR" altLang="en-US" sz="10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r>
              <a:rPr lang="en-US" altLang="ko-KR" sz="10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서비스 사용자</a:t>
            </a:r>
          </a:p>
        </p:txBody>
      </p:sp>
      <p:sp>
        <p:nvSpPr>
          <p:cNvPr id="93" name="AutoShape 18"/>
          <p:cNvSpPr>
            <a:spLocks noChangeArrowheads="1"/>
          </p:cNvSpPr>
          <p:nvPr/>
        </p:nvSpPr>
        <p:spPr bwMode="auto">
          <a:xfrm>
            <a:off x="8176955" y="2862102"/>
            <a:ext cx="1272819" cy="385846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wrap="none" lIns="0" tIns="18000" rIns="0" bIns="18000" rtlCol="0" anchor="ctr"/>
          <a:lstStyle/>
          <a:p>
            <a:pPr algn="ctr" latinLnBrk="0">
              <a:lnSpc>
                <a:spcPts val="900"/>
              </a:lnSpc>
              <a:buSzPct val="60000"/>
            </a:pP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본부 담당자</a:t>
            </a:r>
          </a:p>
        </p:txBody>
      </p:sp>
      <p:pic>
        <p:nvPicPr>
          <p:cNvPr id="94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46474" y="2925373"/>
            <a:ext cx="137682" cy="238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127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95" name="AutoShape 18"/>
          <p:cNvSpPr>
            <a:spLocks noChangeArrowheads="1"/>
          </p:cNvSpPr>
          <p:nvPr/>
        </p:nvSpPr>
        <p:spPr bwMode="auto">
          <a:xfrm>
            <a:off x="8176955" y="3285056"/>
            <a:ext cx="1272819" cy="385846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wrap="none" lIns="0" tIns="18000" rIns="0" bIns="18000" rtlCol="0" anchor="ctr"/>
          <a:lstStyle/>
          <a:p>
            <a:pPr algn="ctr">
              <a:lnSpc>
                <a:spcPts val="900"/>
              </a:lnSpc>
              <a:buSzPct val="60000"/>
            </a:pP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현업 업무 담당자</a:t>
            </a:r>
          </a:p>
        </p:txBody>
      </p:sp>
      <p:pic>
        <p:nvPicPr>
          <p:cNvPr id="96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46474" y="3348604"/>
            <a:ext cx="137682" cy="238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127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97" name="AutoShape 18"/>
          <p:cNvSpPr>
            <a:spLocks noChangeArrowheads="1"/>
          </p:cNvSpPr>
          <p:nvPr/>
        </p:nvSpPr>
        <p:spPr bwMode="auto">
          <a:xfrm>
            <a:off x="8176955" y="3996050"/>
            <a:ext cx="1272819" cy="385846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wrap="none" lIns="0" tIns="18000" rIns="0" bIns="18000" rtlCol="0" anchor="ctr"/>
          <a:lstStyle/>
          <a:p>
            <a:pPr algn="ctr">
              <a:lnSpc>
                <a:spcPts val="900"/>
              </a:lnSpc>
              <a:buSzPct val="60000"/>
            </a:pP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연계 대상 시스템</a:t>
            </a:r>
          </a:p>
        </p:txBody>
      </p:sp>
      <p:pic>
        <p:nvPicPr>
          <p:cNvPr id="98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46474" y="4069620"/>
            <a:ext cx="137682" cy="238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127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99" name="양쪽 모서리가 둥근 사각형 98"/>
          <p:cNvSpPr/>
          <p:nvPr/>
        </p:nvSpPr>
        <p:spPr bwMode="auto">
          <a:xfrm>
            <a:off x="8074225" y="2464665"/>
            <a:ext cx="1434067" cy="33184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tx1">
              <a:lumMod val="50000"/>
              <a:lumOff val="50000"/>
            </a:schemeClr>
          </a:solidFill>
          <a:ln w="25400" cap="flat" cmpd="sng" algn="ctr">
            <a:noFill/>
            <a:prstDash val="solid"/>
          </a:ln>
          <a:effectLst/>
          <a:extLst/>
        </p:spPr>
        <p:txBody>
          <a:bodyPr lIns="36000" rIns="36000" rtlCol="0" anchor="ctr"/>
          <a:lstStyle/>
          <a:p>
            <a:pPr algn="ctr">
              <a:buSzPct val="60000"/>
            </a:pPr>
            <a:r>
              <a:rPr lang="ko-KR" altLang="en-US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차세대 </a:t>
            </a:r>
            <a:r>
              <a:rPr lang="en-US" altLang="ko-KR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경영정보시스템</a:t>
            </a:r>
            <a:r>
              <a:rPr lang="en-US" altLang="ko-KR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b="1" kern="0" spc="-15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사용자</a:t>
            </a:r>
          </a:p>
        </p:txBody>
      </p:sp>
      <p:sp>
        <p:nvSpPr>
          <p:cNvPr id="100" name="양쪽 모서리가 둥근 사각형 99"/>
          <p:cNvSpPr/>
          <p:nvPr/>
        </p:nvSpPr>
        <p:spPr bwMode="auto">
          <a:xfrm>
            <a:off x="8074225" y="3751536"/>
            <a:ext cx="1434067" cy="179260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tx1">
              <a:lumMod val="50000"/>
              <a:lumOff val="50000"/>
            </a:schemeClr>
          </a:solidFill>
          <a:ln w="25400" cap="flat" cmpd="sng" algn="ctr">
            <a:noFill/>
            <a:prstDash val="solid"/>
          </a:ln>
          <a:effectLst/>
          <a:extLst/>
        </p:spPr>
        <p:txBody>
          <a:bodyPr lIns="36000" rIns="36000" rtlCol="0" anchor="ctr"/>
          <a:lstStyle/>
          <a:p>
            <a:pPr algn="ctr">
              <a:buSzPct val="60000"/>
            </a:pPr>
            <a:r>
              <a:rPr lang="ko-KR" altLang="en-US" sz="105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연계정보 이용기관</a:t>
            </a:r>
          </a:p>
        </p:txBody>
      </p:sp>
      <p:sp>
        <p:nvSpPr>
          <p:cNvPr id="101" name="AutoShape 18"/>
          <p:cNvSpPr>
            <a:spLocks noChangeArrowheads="1"/>
          </p:cNvSpPr>
          <p:nvPr/>
        </p:nvSpPr>
        <p:spPr bwMode="auto">
          <a:xfrm>
            <a:off x="8176955" y="4707964"/>
            <a:ext cx="1272819" cy="385846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wrap="none" lIns="0" tIns="18000" rIns="0" bIns="18000" rtlCol="0" anchor="ctr"/>
          <a:lstStyle/>
          <a:p>
            <a:pPr algn="ctr">
              <a:lnSpc>
                <a:spcPts val="900"/>
              </a:lnSpc>
              <a:buSzPct val="60000"/>
            </a:pP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공개 </a:t>
            </a:r>
            <a:r>
              <a:rPr lang="en-US" altLang="ko-KR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개방 </a:t>
            </a:r>
            <a:r>
              <a:rPr lang="en-US" altLang="ko-KR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사용자</a:t>
            </a:r>
          </a:p>
        </p:txBody>
      </p:sp>
      <p:pic>
        <p:nvPicPr>
          <p:cNvPr id="102" name="Picture 50" descr="D:\모스트비주얼\아이콘 작업\왜가리\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46474" y="4781534"/>
            <a:ext cx="137682" cy="238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127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3" name="양쪽 모서리가 둥근 사각형 102"/>
          <p:cNvSpPr/>
          <p:nvPr/>
        </p:nvSpPr>
        <p:spPr bwMode="auto">
          <a:xfrm>
            <a:off x="8074225" y="4463450"/>
            <a:ext cx="1434067" cy="179260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tx1">
              <a:lumMod val="50000"/>
              <a:lumOff val="50000"/>
            </a:schemeClr>
          </a:solidFill>
          <a:ln w="25400" cap="flat" cmpd="sng" algn="ctr">
            <a:noFill/>
            <a:prstDash val="solid"/>
          </a:ln>
          <a:effectLst/>
          <a:extLst/>
        </p:spPr>
        <p:txBody>
          <a:bodyPr lIns="36000" rIns="36000" rtlCol="0" anchor="ctr"/>
          <a:lstStyle/>
          <a:p>
            <a:pPr algn="ctr">
              <a:buSzPct val="60000"/>
            </a:pPr>
            <a:r>
              <a:rPr lang="ko-KR" altLang="en-US" sz="1050" b="1" kern="0" dirty="0">
                <a:ln>
                  <a:solidFill>
                    <a:srgbClr val="0070C0">
                      <a:alpha val="0"/>
                    </a:srgbClr>
                  </a:solidFill>
                </a:ln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일반국민</a:t>
            </a:r>
          </a:p>
        </p:txBody>
      </p:sp>
      <p:grpSp>
        <p:nvGrpSpPr>
          <p:cNvPr id="15" name="그룹 103"/>
          <p:cNvGrpSpPr/>
          <p:nvPr/>
        </p:nvGrpSpPr>
        <p:grpSpPr>
          <a:xfrm>
            <a:off x="8069876" y="5193875"/>
            <a:ext cx="1438416" cy="1089029"/>
            <a:chOff x="7159209" y="1656406"/>
            <a:chExt cx="600909" cy="1265235"/>
          </a:xfrm>
        </p:grpSpPr>
        <p:sp>
          <p:nvSpPr>
            <p:cNvPr id="105" name="직사각형 104"/>
            <p:cNvSpPr/>
            <p:nvPr/>
          </p:nvSpPr>
          <p:spPr bwMode="auto">
            <a:xfrm>
              <a:off x="7159209" y="1656406"/>
              <a:ext cx="600909" cy="1265235"/>
            </a:xfrm>
            <a:prstGeom prst="rect">
              <a:avLst/>
            </a:prstGeom>
            <a:solidFill>
              <a:sysClr val="window" lastClr="FFFFFF"/>
            </a:solidFill>
            <a:ln w="6350" cap="sq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lIns="91395" tIns="45697" rIns="91395" bIns="45697" anchor="ctr">
              <a:scene3d>
                <a:camera prst="orthographicFront"/>
                <a:lightRig rig="threePt" dir="t"/>
              </a:scene3d>
              <a:sp3d>
                <a:bevelT w="0"/>
              </a:sp3d>
            </a:bodyPr>
            <a:lstStyle/>
            <a:p>
              <a:pPr defTabSz="1075571" eaLnBrk="0" fontAlgn="ctr" latinLnBrk="0" hangingPunct="0">
                <a:lnSpc>
                  <a:spcPts val="1000"/>
                </a:lnSpc>
                <a:spcBef>
                  <a:spcPts val="200"/>
                </a:spcBef>
                <a:buClr>
                  <a:srgbClr val="808080"/>
                </a:buClr>
                <a:buSzPct val="80000"/>
                <a:defRPr/>
              </a:pPr>
              <a:endParaRPr lang="ko-KR" altLang="en-US" sz="800" kern="0" spc="-8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6" name="AutoShape 26"/>
            <p:cNvSpPr>
              <a:spLocks noChangeArrowheads="1"/>
            </p:cNvSpPr>
            <p:nvPr/>
          </p:nvSpPr>
          <p:spPr bwMode="auto">
            <a:xfrm>
              <a:off x="7159209" y="1739327"/>
              <a:ext cx="600909" cy="460075"/>
            </a:xfrm>
            <a:prstGeom prst="roundRect">
              <a:avLst>
                <a:gd name="adj" fmla="val 0"/>
              </a:avLst>
            </a:prstGeom>
            <a:solidFill>
              <a:srgbClr val="0066B3"/>
            </a:solidFill>
            <a:ln w="3175" cap="flat" cmpd="sng" algn="ctr">
              <a:solidFill>
                <a:srgbClr val="0066B3"/>
              </a:solidFill>
              <a:prstDash val="solid"/>
            </a:ln>
            <a:effectLst/>
            <a:extLst/>
          </p:spPr>
          <p:txBody>
            <a:bodyPr lIns="0" tIns="0" rIns="0" bIns="0" rtlCol="0" anchor="ctr">
              <a:scene3d>
                <a:camera prst="orthographicFront"/>
                <a:lightRig rig="threePt" dir="t"/>
              </a:scene3d>
              <a:sp3d>
                <a:bevelT w="0"/>
              </a:sp3d>
            </a:bodyPr>
            <a:lstStyle/>
            <a:p>
              <a:pPr algn="ctr" fontAlgn="base" latinLnBrk="0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SzPct val="60000"/>
                <a:defRPr/>
              </a:pPr>
              <a:r>
                <a:rPr lang="ko-KR" altLang="en-US" sz="1000" b="1" kern="0" dirty="0">
                  <a:ln>
                    <a:solidFill>
                      <a:srgbClr val="0070C0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데이터베이스</a:t>
              </a:r>
            </a:p>
          </p:txBody>
        </p:sp>
      </p:grpSp>
      <p:grpSp>
        <p:nvGrpSpPr>
          <p:cNvPr id="16" name="그룹 106"/>
          <p:cNvGrpSpPr/>
          <p:nvPr/>
        </p:nvGrpSpPr>
        <p:grpSpPr>
          <a:xfrm>
            <a:off x="8049344" y="5948532"/>
            <a:ext cx="1506866" cy="248026"/>
            <a:chOff x="-1091115" y="5556627"/>
            <a:chExt cx="678276" cy="248026"/>
          </a:xfrm>
        </p:grpSpPr>
        <p:pic>
          <p:nvPicPr>
            <p:cNvPr id="108" name="Picture 155" descr="3"/>
            <p:cNvPicPr>
              <a:picLocks noChangeAspect="1" noChangeArrowheads="1"/>
            </p:cNvPicPr>
            <p:nvPr/>
          </p:nvPicPr>
          <p:blipFill>
            <a:blip r:embed="rId4" cstate="print"/>
            <a:srcRect l="8655" t="63850" r="62900" b="17926"/>
            <a:stretch>
              <a:fillRect/>
            </a:stretch>
          </p:blipFill>
          <p:spPr bwMode="auto">
            <a:xfrm>
              <a:off x="-988962" y="5556627"/>
              <a:ext cx="473971" cy="224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9" name="Rectangle 84"/>
            <p:cNvSpPr>
              <a:spLocks noChangeArrowheads="1"/>
            </p:cNvSpPr>
            <p:nvPr/>
          </p:nvSpPr>
          <p:spPr bwMode="auto">
            <a:xfrm>
              <a:off x="-1091115" y="5596904"/>
              <a:ext cx="678276" cy="2077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ctr" defTabSz="691134" eaLnBrk="0" latinLnBrk="0" hangingPunct="0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  <a:defRPr/>
              </a:pPr>
              <a:r>
                <a:rPr lang="ko-KR" altLang="en-US" sz="800" kern="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실시간 연계 데이터</a:t>
              </a:r>
              <a:endParaRPr lang="en-US" altLang="ko-KR" sz="800" kern="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/>
              </a:endParaRPr>
            </a:p>
          </p:txBody>
        </p:sp>
      </p:grpSp>
      <p:grpSp>
        <p:nvGrpSpPr>
          <p:cNvPr id="17" name="그룹 109"/>
          <p:cNvGrpSpPr/>
          <p:nvPr/>
        </p:nvGrpSpPr>
        <p:grpSpPr>
          <a:xfrm>
            <a:off x="8284157" y="5690504"/>
            <a:ext cx="1045112" cy="248026"/>
            <a:chOff x="-988962" y="5556627"/>
            <a:chExt cx="473971" cy="248026"/>
          </a:xfrm>
        </p:grpSpPr>
        <p:pic>
          <p:nvPicPr>
            <p:cNvPr id="111" name="Picture 155" descr="3"/>
            <p:cNvPicPr>
              <a:picLocks noChangeAspect="1" noChangeArrowheads="1"/>
            </p:cNvPicPr>
            <p:nvPr/>
          </p:nvPicPr>
          <p:blipFill>
            <a:blip r:embed="rId4" cstate="print"/>
            <a:srcRect l="8655" t="63850" r="62900" b="17926"/>
            <a:stretch>
              <a:fillRect/>
            </a:stretch>
          </p:blipFill>
          <p:spPr bwMode="auto">
            <a:xfrm>
              <a:off x="-988962" y="5556627"/>
              <a:ext cx="473971" cy="224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12" name="Rectangle 84"/>
            <p:cNvSpPr>
              <a:spLocks noChangeArrowheads="1"/>
            </p:cNvSpPr>
            <p:nvPr/>
          </p:nvSpPr>
          <p:spPr bwMode="auto">
            <a:xfrm>
              <a:off x="-910186" y="5596904"/>
              <a:ext cx="316421" cy="2077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ctr" defTabSz="691134" eaLnBrk="0" latinLnBrk="0" hangingPunct="0">
                <a:lnSpc>
                  <a:spcPts val="907"/>
                </a:lnSpc>
                <a:buClr>
                  <a:srgbClr val="3271AA"/>
                </a:buClr>
                <a:buSzPct val="140000"/>
                <a:tabLst>
                  <a:tab pos="5121591" algn="l"/>
                </a:tabLst>
                <a:defRPr/>
              </a:pPr>
              <a:r>
                <a:rPr lang="ko-KR" altLang="en-US" sz="800" kern="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통합</a:t>
              </a:r>
              <a:r>
                <a:rPr lang="en-US" altLang="ko-KR" sz="800" kern="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DB</a:t>
              </a:r>
            </a:p>
          </p:txBody>
        </p:sp>
      </p:grpSp>
      <p:grpSp>
        <p:nvGrpSpPr>
          <p:cNvPr id="18" name="그룹 213"/>
          <p:cNvGrpSpPr/>
          <p:nvPr/>
        </p:nvGrpSpPr>
        <p:grpSpPr>
          <a:xfrm>
            <a:off x="1768512" y="1628800"/>
            <a:ext cx="808224" cy="5062161"/>
            <a:chOff x="1700773" y="1628800"/>
            <a:chExt cx="808224" cy="5062161"/>
          </a:xfrm>
        </p:grpSpPr>
        <p:pic>
          <p:nvPicPr>
            <p:cNvPr id="215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582933" y="2746640"/>
              <a:ext cx="3043903" cy="808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1003052" y="4411436"/>
              <a:ext cx="2203666" cy="808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1325229" y="5507193"/>
              <a:ext cx="1559312" cy="808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8" name="모서리가 둥근 직사각형 47"/>
          <p:cNvSpPr/>
          <p:nvPr/>
        </p:nvSpPr>
        <p:spPr bwMode="auto">
          <a:xfrm>
            <a:off x="2004086" y="2557780"/>
            <a:ext cx="261774" cy="1155934"/>
          </a:xfrm>
          <a:prstGeom prst="round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vert="eaVert"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1270" h="38100"/>
            </a:sp3d>
          </a:bodyPr>
          <a:lstStyle/>
          <a:p>
            <a:pPr marL="0" lvl="1" algn="ctr" defTabSz="1330325">
              <a:lnSpc>
                <a:spcPts val="900"/>
              </a:lnSpc>
              <a:buClr>
                <a:prstClr val="black"/>
              </a:buClr>
              <a:buSzPct val="100000"/>
              <a:tabLst>
                <a:tab pos="5648325" algn="l"/>
              </a:tabLst>
              <a:defRPr/>
            </a:pP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표준 데이터 품질관리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/>
            </a:r>
            <a:b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</a:b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프로세스 준수 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· </a:t>
            </a: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확인</a:t>
            </a:r>
          </a:p>
        </p:txBody>
      </p:sp>
      <p:sp>
        <p:nvSpPr>
          <p:cNvPr id="49" name="모서리가 둥근 직사각형 48"/>
          <p:cNvSpPr/>
          <p:nvPr/>
        </p:nvSpPr>
        <p:spPr bwMode="auto">
          <a:xfrm>
            <a:off x="2002650" y="4296798"/>
            <a:ext cx="261774" cy="1050849"/>
          </a:xfrm>
          <a:prstGeom prst="round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vert="eaVert"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1270" h="38100"/>
            </a:sp3d>
          </a:bodyPr>
          <a:lstStyle/>
          <a:p>
            <a:pPr marL="0" lvl="1" algn="ctr" defTabSz="1330325">
              <a:lnSpc>
                <a:spcPts val="900"/>
              </a:lnSpc>
              <a:buClr>
                <a:prstClr val="black"/>
              </a:buClr>
              <a:buSzPct val="100000"/>
              <a:tabLst>
                <a:tab pos="5648325" algn="l"/>
              </a:tabLst>
              <a:defRPr/>
            </a:pP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각 단계별 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/>
            </a:r>
            <a:b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</a:b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품질관리 실행</a:t>
            </a:r>
          </a:p>
        </p:txBody>
      </p:sp>
      <p:sp>
        <p:nvSpPr>
          <p:cNvPr id="50" name="모서리가 둥근 직사각형 49"/>
          <p:cNvSpPr/>
          <p:nvPr/>
        </p:nvSpPr>
        <p:spPr bwMode="auto">
          <a:xfrm>
            <a:off x="2003802" y="5378817"/>
            <a:ext cx="261774" cy="1050849"/>
          </a:xfrm>
          <a:prstGeom prst="round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vert="eaVert"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1270" h="38100"/>
            </a:sp3d>
          </a:bodyPr>
          <a:lstStyle/>
          <a:p>
            <a:pPr marL="0" lvl="1" algn="ctr" defTabSz="1330325">
              <a:lnSpc>
                <a:spcPts val="900"/>
              </a:lnSpc>
              <a:buClr>
                <a:prstClr val="black"/>
              </a:buClr>
              <a:buSzPct val="100000"/>
              <a:tabLst>
                <a:tab pos="5648325" algn="l"/>
              </a:tabLst>
              <a:defRPr/>
            </a:pPr>
            <a:r>
              <a:rPr lang="en-US" altLang="ko-KR" sz="900" kern="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DB</a:t>
            </a:r>
            <a:br>
              <a:rPr lang="en-US" altLang="ko-KR" sz="900" kern="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</a:br>
            <a:r>
              <a:rPr lang="ko-KR" altLang="en-US" sz="900" kern="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품질관리</a:t>
            </a:r>
          </a:p>
        </p:txBody>
      </p:sp>
      <p:grpSp>
        <p:nvGrpSpPr>
          <p:cNvPr id="19" name="그룹 210"/>
          <p:cNvGrpSpPr/>
          <p:nvPr/>
        </p:nvGrpSpPr>
        <p:grpSpPr>
          <a:xfrm>
            <a:off x="7329264" y="1888220"/>
            <a:ext cx="808225" cy="4790601"/>
            <a:chOff x="7401273" y="1888220"/>
            <a:chExt cx="808225" cy="4790601"/>
          </a:xfrm>
        </p:grpSpPr>
        <p:pic>
          <p:nvPicPr>
            <p:cNvPr id="212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6859743" y="5329066"/>
              <a:ext cx="1891286" cy="808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6127790" y="3161703"/>
              <a:ext cx="3355190" cy="808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1" name="Rectangle 1526"/>
          <p:cNvSpPr>
            <a:spLocks noChangeArrowheads="1"/>
          </p:cNvSpPr>
          <p:nvPr/>
        </p:nvSpPr>
        <p:spPr bwMode="auto">
          <a:xfrm flipH="1">
            <a:off x="7671610" y="2731785"/>
            <a:ext cx="236603" cy="1669323"/>
          </a:xfrm>
          <a:prstGeom prst="rect">
            <a:avLst/>
          </a:prstGeom>
          <a:noFill/>
        </p:spPr>
        <p:txBody>
          <a:bodyPr vert="eaVert" wrap="square" lIns="0" rIns="0" anchor="ctr">
            <a:spAutoFit/>
            <a:scene3d>
              <a:camera prst="orthographicFront"/>
              <a:lightRig rig="threePt" dir="t"/>
            </a:scene3d>
            <a:sp3d contourW="31750">
              <a:bevelT w="1270"/>
              <a:contourClr>
                <a:schemeClr val="bg1"/>
              </a:contourClr>
            </a:sp3d>
          </a:bodyPr>
          <a:lstStyle/>
          <a:p>
            <a:pPr marL="0" lvl="1" algn="ctr" defTabSz="1330325">
              <a:lnSpc>
                <a:spcPts val="900"/>
              </a:lnSpc>
              <a:buClr>
                <a:prstClr val="black"/>
              </a:buClr>
              <a:buSzPct val="100000"/>
              <a:tabLst>
                <a:tab pos="5648325" algn="l"/>
              </a:tabLst>
              <a:defRPr/>
            </a:pP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고품질 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고신뢰성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데이터 제공</a:t>
            </a:r>
          </a:p>
        </p:txBody>
      </p:sp>
      <p:sp>
        <p:nvSpPr>
          <p:cNvPr id="52" name="Rectangle 1526"/>
          <p:cNvSpPr>
            <a:spLocks noChangeArrowheads="1"/>
          </p:cNvSpPr>
          <p:nvPr/>
        </p:nvSpPr>
        <p:spPr bwMode="auto">
          <a:xfrm flipH="1">
            <a:off x="7589312" y="5315442"/>
            <a:ext cx="352019" cy="813858"/>
          </a:xfrm>
          <a:prstGeom prst="rect">
            <a:avLst/>
          </a:prstGeom>
          <a:noFill/>
        </p:spPr>
        <p:txBody>
          <a:bodyPr vert="eaVert" wrap="square" lIns="0" rIns="0">
            <a:spAutoFit/>
            <a:scene3d>
              <a:camera prst="orthographicFront"/>
              <a:lightRig rig="threePt" dir="t"/>
            </a:scene3d>
            <a:sp3d contourW="31750">
              <a:bevelT w="1270"/>
              <a:contourClr>
                <a:schemeClr val="bg1"/>
              </a:contourClr>
            </a:sp3d>
          </a:bodyPr>
          <a:lstStyle/>
          <a:p>
            <a:pPr marL="0" lvl="1" algn="ctr" defTabSz="1330325">
              <a:lnSpc>
                <a:spcPts val="900"/>
              </a:lnSpc>
              <a:buClr>
                <a:prstClr val="black"/>
              </a:buClr>
              <a:buSzPct val="100000"/>
              <a:tabLst>
                <a:tab pos="5648325" algn="l"/>
              </a:tabLst>
              <a:defRPr/>
            </a:pP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 품질관리체계</a:t>
            </a:r>
            <a: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kern="0" spc="-15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itchFamily="50" charset="-127"/>
                <a:ea typeface="맑은 고딕" pitchFamily="50" charset="-127"/>
              </a:rPr>
              <a:t> 적용</a:t>
            </a:r>
          </a:p>
        </p:txBody>
      </p:sp>
      <p:grpSp>
        <p:nvGrpSpPr>
          <p:cNvPr id="20" name="그룹 115"/>
          <p:cNvGrpSpPr/>
          <p:nvPr/>
        </p:nvGrpSpPr>
        <p:grpSpPr>
          <a:xfrm>
            <a:off x="2304688" y="2024844"/>
            <a:ext cx="5275925" cy="4258058"/>
            <a:chOff x="2304688" y="2024844"/>
            <a:chExt cx="5275925" cy="4258058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2304688" y="2024844"/>
              <a:ext cx="5275925" cy="425805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miter lim="800000"/>
            </a:ln>
            <a:effectLst>
              <a:outerShdw blurRad="25400" algn="ctr" rotWithShape="0">
                <a:prstClr val="black">
                  <a:alpha val="40000"/>
                </a:prstClr>
              </a:outerShdw>
            </a:effectLst>
          </p:spPr>
          <p:txBody>
            <a:bodyPr lIns="108000" tIns="0" rIns="72000" bIns="0" anchor="ctr"/>
            <a:lstStyle/>
            <a:p>
              <a:pPr marL="339725" indent="-339725" defTabSz="1330325">
                <a:lnSpc>
                  <a:spcPct val="110000"/>
                </a:lnSpc>
                <a:buClr>
                  <a:srgbClr val="3271AA"/>
                </a:buClr>
                <a:buSzPct val="140000"/>
                <a:tabLst>
                  <a:tab pos="5648325" algn="l"/>
                </a:tabLst>
                <a:defRPr/>
              </a:pPr>
              <a:endParaRPr kumimoji="1" lang="ko-KR" altLang="en-US" sz="9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118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2555277" y="2627650"/>
              <a:ext cx="3981420" cy="24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5277" y="4643875"/>
              <a:ext cx="3981420" cy="24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2555277" y="2979558"/>
              <a:ext cx="3981420" cy="24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" name="Picture 2" descr="화살표_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5277" y="5222865"/>
              <a:ext cx="3981420" cy="24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직사각형 121"/>
            <p:cNvSpPr/>
            <p:nvPr/>
          </p:nvSpPr>
          <p:spPr>
            <a:xfrm>
              <a:off x="3371004" y="3378486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3371004" y="3464848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2" name="직사각형 141"/>
            <p:cNvSpPr/>
            <p:nvPr/>
          </p:nvSpPr>
          <p:spPr>
            <a:xfrm>
              <a:off x="3371004" y="3551210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3" name="직사각형 142"/>
            <p:cNvSpPr/>
            <p:nvPr/>
          </p:nvSpPr>
          <p:spPr>
            <a:xfrm>
              <a:off x="3371004" y="3637572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3371004" y="3723934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3371004" y="3810295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6" name="직사각형 145"/>
            <p:cNvSpPr/>
            <p:nvPr/>
          </p:nvSpPr>
          <p:spPr>
            <a:xfrm>
              <a:off x="3371004" y="4816375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3371004" y="4581948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8" name="직사각형 147"/>
            <p:cNvSpPr/>
            <p:nvPr/>
          </p:nvSpPr>
          <p:spPr>
            <a:xfrm>
              <a:off x="3371004" y="4716797"/>
              <a:ext cx="540000" cy="180000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spcBef>
                  <a:spcPct val="0"/>
                </a:spcBef>
                <a:defRPr/>
              </a:pPr>
              <a:endParaRPr kumimoji="1" lang="ko-KR" altLang="en-US" sz="1600" kern="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149" name="Picture 10" descr="C:\Documents and Settings\SK C&amp;C\바탕 화면\종류별 아이콘 9 - 건축물4\structure_276.png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6153410" y="5359867"/>
              <a:ext cx="461456" cy="4802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0" name="Rectangle 1526"/>
            <p:cNvSpPr>
              <a:spLocks noChangeArrowheads="1"/>
            </p:cNvSpPr>
            <p:nvPr/>
          </p:nvSpPr>
          <p:spPr bwMode="auto">
            <a:xfrm flipH="1">
              <a:off x="6355971" y="3147974"/>
              <a:ext cx="359635" cy="230832"/>
            </a:xfrm>
            <a:prstGeom prst="rect">
              <a:avLst/>
            </a:prstGeom>
            <a:noFill/>
          </p:spPr>
          <p:txBody>
            <a:bodyPr wrap="square" lIns="0" rIns="0">
              <a:spAutoFit/>
              <a:scene3d>
                <a:camera prst="orthographicFront"/>
                <a:lightRig rig="threePt" dir="t"/>
              </a:scene3d>
              <a:sp3d contourW="31750">
                <a:bevelT w="1270"/>
                <a:contourClr>
                  <a:schemeClr val="bg1"/>
                </a:contourClr>
              </a:sp3d>
            </a:bodyPr>
            <a:lstStyle/>
            <a:p>
              <a:pPr algn="ctr" defTabSz="995690">
                <a:spcBef>
                  <a:spcPct val="0"/>
                </a:spcBef>
                <a:buSzPct val="140000"/>
                <a:defRPr/>
              </a:pPr>
              <a:r>
                <a:rPr lang="ko-KR" altLang="en-US" sz="9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판매</a:t>
              </a:r>
            </a:p>
          </p:txBody>
        </p:sp>
        <p:cxnSp>
          <p:nvCxnSpPr>
            <p:cNvPr id="151" name="직선 화살표 연결선 150"/>
            <p:cNvCxnSpPr/>
            <p:nvPr/>
          </p:nvCxnSpPr>
          <p:spPr bwMode="auto">
            <a:xfrm flipH="1">
              <a:off x="2951202" y="3885208"/>
              <a:ext cx="205368" cy="0"/>
            </a:xfrm>
            <a:prstGeom prst="straightConnector1">
              <a:avLst/>
            </a:prstGeom>
            <a:solidFill>
              <a:sysClr val="window" lastClr="FFFFFF"/>
            </a:solidFill>
            <a:ln w="38100" cap="flat" cmpd="sng" algn="ctr">
              <a:solidFill>
                <a:srgbClr val="CC0099"/>
              </a:solidFill>
              <a:prstDash val="solid"/>
              <a:tailEnd type="triangle"/>
            </a:ln>
            <a:effectLst/>
          </p:spPr>
        </p:cxnSp>
        <p:sp>
          <p:nvSpPr>
            <p:cNvPr id="152" name="오각형 151"/>
            <p:cNvSpPr/>
            <p:nvPr/>
          </p:nvSpPr>
          <p:spPr>
            <a:xfrm rot="16200000">
              <a:off x="4779441" y="-280508"/>
              <a:ext cx="319637" cy="5079026"/>
            </a:xfrm>
            <a:prstGeom prst="homePlate">
              <a:avLst/>
            </a:prstGeom>
            <a:solidFill>
              <a:srgbClr val="508CD2"/>
            </a:solidFill>
            <a:ln>
              <a:solidFill>
                <a:schemeClr val="accent1">
                  <a:lumMod val="75000"/>
                </a:schemeClr>
              </a:solidFill>
            </a:ln>
          </p:spPr>
          <p:txBody>
            <a:bodyPr vert="eaVert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400" b="1" spc="-1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경영정보시스템 </a:t>
              </a:r>
              <a:r>
                <a:rPr lang="ko-KR" altLang="en-US" sz="1400" b="1" spc="-1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품질관리 체계</a:t>
              </a:r>
              <a:endParaRPr lang="ko-KR" altLang="en-US" sz="1400" b="1" spc="-1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3" name="직사각형 152"/>
            <p:cNvSpPr/>
            <p:nvPr/>
          </p:nvSpPr>
          <p:spPr>
            <a:xfrm>
              <a:off x="2399747" y="4800184"/>
              <a:ext cx="4373592" cy="43212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36000" rIns="36000" bIns="72000" anchor="t" anchorCtr="0"/>
            <a:lstStyle/>
            <a:p>
              <a:pPr algn="ctr">
                <a:spcBef>
                  <a:spcPct val="0"/>
                </a:spcBef>
                <a:defRPr/>
              </a:pPr>
              <a:r>
                <a:rPr lang="ko-KR" altLang="en-US" sz="11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154" name="직사각형 153"/>
            <p:cNvSpPr/>
            <p:nvPr/>
          </p:nvSpPr>
          <p:spPr>
            <a:xfrm>
              <a:off x="2399747" y="5961932"/>
              <a:ext cx="5079026" cy="216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0" rIns="36000" bIns="0" anchor="ctr" anchorCtr="0"/>
            <a:lstStyle/>
            <a:p>
              <a:pPr algn="ctr"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 </a:t>
              </a:r>
              <a:r>
                <a:rPr lang="en-US" altLang="ko-KR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155" name="직사각형 154"/>
            <p:cNvSpPr/>
            <p:nvPr/>
          </p:nvSpPr>
          <p:spPr>
            <a:xfrm>
              <a:off x="2399747" y="3209926"/>
              <a:ext cx="4373592" cy="144282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36000" rIns="36000" bIns="18000" anchor="b" anchorCtr="0"/>
            <a:lstStyle/>
            <a:p>
              <a:pPr algn="ctr"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156" name="직사각형 155"/>
            <p:cNvSpPr/>
            <p:nvPr/>
          </p:nvSpPr>
          <p:spPr>
            <a:xfrm>
              <a:off x="4605182" y="3238713"/>
              <a:ext cx="2100901" cy="59846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36000" tIns="18000" rIns="36000" bIns="0" anchor="t" anchorCtr="0"/>
            <a:lstStyle/>
            <a:p>
              <a:pPr algn="r"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4605183" y="3859803"/>
              <a:ext cx="2100901" cy="59846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/>
          </p:spPr>
          <p:txBody>
            <a:bodyPr vert="horz" wrap="none" lIns="36000" tIns="36000" rIns="36000" bIns="18000" anchor="b" anchorCtr="0"/>
            <a:lstStyle/>
            <a:p>
              <a:pPr algn="r"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158" name="직사각형 157"/>
            <p:cNvSpPr/>
            <p:nvPr/>
          </p:nvSpPr>
          <p:spPr>
            <a:xfrm>
              <a:off x="2472261" y="3238713"/>
              <a:ext cx="2100901" cy="59846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36000" tIns="18000" rIns="36000" bIns="0" anchor="t" anchorCtr="0"/>
            <a:lstStyle/>
            <a:p>
              <a:pPr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159" name="직사각형 158"/>
            <p:cNvSpPr/>
            <p:nvPr/>
          </p:nvSpPr>
          <p:spPr>
            <a:xfrm>
              <a:off x="2472260" y="3859803"/>
              <a:ext cx="2100901" cy="59846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36000" tIns="36000" rIns="36000" bIns="18000" anchor="b" anchorCtr="0"/>
            <a:lstStyle/>
            <a:p>
              <a:pPr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160" name="모서리가 둥근 직사각형 159"/>
            <p:cNvSpPr/>
            <p:nvPr/>
          </p:nvSpPr>
          <p:spPr>
            <a:xfrm>
              <a:off x="4076680" y="3402556"/>
              <a:ext cx="1023658" cy="892622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36000" rIns="36000" bIns="36000" anchor="ctr" anchorCtr="0"/>
            <a:lstStyle/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1100"/>
                </a:lnSpc>
                <a:spcBef>
                  <a:spcPct val="0"/>
                </a:spcBef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분류체계</a:t>
              </a:r>
              <a:endParaRPr lang="en-US" altLang="ko-KR" sz="11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1" name="타원 160"/>
            <p:cNvSpPr/>
            <p:nvPr/>
          </p:nvSpPr>
          <p:spPr>
            <a:xfrm>
              <a:off x="4337714" y="3598111"/>
              <a:ext cx="489600" cy="490467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 w="9525" cmpd="sng">
              <a:solidFill>
                <a:srgbClr val="1F497D">
                  <a:lumMod val="75000"/>
                </a:srgbClr>
              </a:solidFill>
              <a:miter lim="800000"/>
              <a:headEnd/>
              <a:tailEnd/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0" rIns="0" bIns="0" anchor="ctr" anchorCtr="0"/>
            <a:lstStyle/>
            <a:p>
              <a:pPr algn="ctr">
                <a:spcBef>
                  <a:spcPct val="0"/>
                </a:spcBef>
                <a:defRPr/>
              </a:pPr>
              <a:r>
                <a:rPr lang="ko-KR" altLang="en-US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경영정보</a:t>
              </a:r>
              <a:r>
                <a:rPr lang="en-US" altLang="ko-KR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/>
              </a:r>
              <a:br>
                <a:rPr lang="en-US" altLang="ko-KR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</a:br>
              <a:r>
                <a:rPr lang="ko-KR" altLang="en-US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시스템</a:t>
              </a:r>
              <a:r>
                <a:rPr lang="en-US" altLang="ko-KR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/>
              </a:r>
              <a:br>
                <a:rPr lang="en-US" altLang="ko-KR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</a:br>
              <a:r>
                <a:rPr lang="ko-KR" altLang="en-US" sz="900" kern="0" spc="-150" dirty="0">
                  <a:ln w="11430"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데이터</a:t>
              </a:r>
            </a:p>
          </p:txBody>
        </p:sp>
        <p:sp>
          <p:nvSpPr>
            <p:cNvPr id="162" name="모서리가 둥근 직사각형 161"/>
            <p:cNvSpPr/>
            <p:nvPr/>
          </p:nvSpPr>
          <p:spPr bwMode="auto">
            <a:xfrm>
              <a:off x="5446560" y="2863711"/>
              <a:ext cx="466003" cy="16362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tIns="36000" rIns="36000" anchor="ctr"/>
            <a:lstStyle/>
            <a:p>
              <a:pPr marL="0" lvl="1" algn="ctr" defTabSz="1330325">
                <a:lnSpc>
                  <a:spcPts val="14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책임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 bwMode="auto">
            <a:xfrm>
              <a:off x="4808741" y="5018566"/>
              <a:ext cx="18942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품질진단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·</a:t>
              </a: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개선</a:t>
              </a:r>
            </a:p>
          </p:txBody>
        </p:sp>
        <p:sp>
          <p:nvSpPr>
            <p:cNvPr id="164" name="모서리가 둥근 직사각형 163"/>
            <p:cNvSpPr/>
            <p:nvPr/>
          </p:nvSpPr>
          <p:spPr bwMode="auto">
            <a:xfrm>
              <a:off x="6100324" y="2863711"/>
              <a:ext cx="466003" cy="163621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tIns="36000" rIns="36000" anchor="ctr"/>
            <a:lstStyle/>
            <a:p>
              <a:pPr marL="0" lvl="1" algn="ctr" defTabSz="1330325">
                <a:lnSpc>
                  <a:spcPts val="14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역할</a:t>
              </a:r>
            </a:p>
          </p:txBody>
        </p:sp>
        <p:sp>
          <p:nvSpPr>
            <p:cNvPr id="165" name="모서리가 둥근 직사각형 164"/>
            <p:cNvSpPr/>
            <p:nvPr/>
          </p:nvSpPr>
          <p:spPr bwMode="auto">
            <a:xfrm>
              <a:off x="2521988" y="3895142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정확성</a:t>
              </a:r>
            </a:p>
          </p:txBody>
        </p:sp>
        <p:sp>
          <p:nvSpPr>
            <p:cNvPr id="166" name="모서리가 둥근 직사각형 165"/>
            <p:cNvSpPr/>
            <p:nvPr/>
          </p:nvSpPr>
          <p:spPr bwMode="auto">
            <a:xfrm>
              <a:off x="3036333" y="3895142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일관성</a:t>
              </a:r>
            </a:p>
          </p:txBody>
        </p:sp>
        <p:sp>
          <p:nvSpPr>
            <p:cNvPr id="167" name="모서리가 둥근 직사각형 166"/>
            <p:cNvSpPr/>
            <p:nvPr/>
          </p:nvSpPr>
          <p:spPr bwMode="auto">
            <a:xfrm>
              <a:off x="3548509" y="3895142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유용성</a:t>
              </a:r>
            </a:p>
          </p:txBody>
        </p:sp>
        <p:sp>
          <p:nvSpPr>
            <p:cNvPr id="168" name="모서리가 둥근 직사각형 167"/>
            <p:cNvSpPr/>
            <p:nvPr/>
          </p:nvSpPr>
          <p:spPr bwMode="auto">
            <a:xfrm>
              <a:off x="2521988" y="4085644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접근성</a:t>
              </a:r>
            </a:p>
          </p:txBody>
        </p:sp>
        <p:sp>
          <p:nvSpPr>
            <p:cNvPr id="169" name="모서리가 둥근 직사각형 168"/>
            <p:cNvSpPr/>
            <p:nvPr/>
          </p:nvSpPr>
          <p:spPr bwMode="auto">
            <a:xfrm>
              <a:off x="3036333" y="4085644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적시성</a:t>
              </a:r>
            </a:p>
          </p:txBody>
        </p:sp>
        <p:sp>
          <p:nvSpPr>
            <p:cNvPr id="170" name="모서리가 둥근 직사각형 169"/>
            <p:cNvSpPr/>
            <p:nvPr/>
          </p:nvSpPr>
          <p:spPr bwMode="auto">
            <a:xfrm>
              <a:off x="3548507" y="4085644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보안성</a:t>
              </a:r>
            </a:p>
          </p:txBody>
        </p:sp>
        <p:sp>
          <p:nvSpPr>
            <p:cNvPr id="171" name="모서리가 둥근 직사각형 170"/>
            <p:cNvSpPr/>
            <p:nvPr/>
          </p:nvSpPr>
          <p:spPr bwMode="auto">
            <a:xfrm>
              <a:off x="2518062" y="5018566"/>
              <a:ext cx="18942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품질관리</a:t>
              </a:r>
            </a:p>
          </p:txBody>
        </p:sp>
        <p:grpSp>
          <p:nvGrpSpPr>
            <p:cNvPr id="21" name="그룹 171"/>
            <p:cNvGrpSpPr/>
            <p:nvPr/>
          </p:nvGrpSpPr>
          <p:grpSpPr>
            <a:xfrm>
              <a:off x="2399747" y="5376997"/>
              <a:ext cx="5079026" cy="546740"/>
              <a:chOff x="1665093" y="5310426"/>
              <a:chExt cx="2997749" cy="546740"/>
            </a:xfrm>
            <a:solidFill>
              <a:schemeClr val="accent1">
                <a:lumMod val="20000"/>
                <a:lumOff val="80000"/>
              </a:schemeClr>
            </a:solidFill>
            <a:effectLst/>
          </p:grpSpPr>
          <p:sp>
            <p:nvSpPr>
              <p:cNvPr id="203" name="직사각형 202"/>
              <p:cNvSpPr/>
              <p:nvPr/>
            </p:nvSpPr>
            <p:spPr>
              <a:xfrm>
                <a:off x="1665093" y="5310426"/>
                <a:ext cx="2997749" cy="546740"/>
              </a:xfrm>
              <a:prstGeom prst="rect">
                <a:avLst/>
              </a:prstGeom>
              <a:grpFill/>
              <a:ln w="9525" cmpd="sng">
                <a:solidFill>
                  <a:schemeClr val="accent1">
                    <a:lumMod val="75000"/>
                  </a:schemeClr>
                </a:solidFill>
                <a:miter lim="800000"/>
                <a:headEnd/>
                <a:tailEnd/>
              </a:ln>
              <a:effectLst>
                <a:outerShdw blurRad="635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none" lIns="0" tIns="36000" rIns="36000" bIns="72000" anchor="t" anchorCtr="0"/>
              <a:lstStyle/>
              <a:p>
                <a:pPr algn="ctr">
                  <a:spcBef>
                    <a:spcPct val="0"/>
                  </a:spcBef>
                  <a:defRPr/>
                </a:pPr>
                <a:r>
                  <a:rPr lang="ko-KR" altLang="en-US" sz="1100" b="1" spc="-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관리 도구</a:t>
                </a:r>
              </a:p>
            </p:txBody>
          </p:sp>
          <p:grpSp>
            <p:nvGrpSpPr>
              <p:cNvPr id="22" name="그룹 203"/>
              <p:cNvGrpSpPr/>
              <p:nvPr/>
            </p:nvGrpSpPr>
            <p:grpSpPr>
              <a:xfrm>
                <a:off x="2745723" y="5508484"/>
                <a:ext cx="825707" cy="319998"/>
                <a:chOff x="10785427" y="4834726"/>
                <a:chExt cx="825707" cy="424473"/>
              </a:xfrm>
              <a:grpFill/>
            </p:grpSpPr>
            <p:pic>
              <p:nvPicPr>
                <p:cNvPr id="209" name="Picture 233" descr="DB통01-1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5427" y="4834726"/>
                  <a:ext cx="825707" cy="424473"/>
                </a:xfrm>
                <a:prstGeom prst="rect">
                  <a:avLst/>
                </a:prstGeom>
                <a:grpFill/>
                <a:extLst/>
              </p:spPr>
            </p:pic>
            <p:sp>
              <p:nvSpPr>
                <p:cNvPr id="210" name="모서리가 둥근 직사각형 209"/>
                <p:cNvSpPr/>
                <p:nvPr/>
              </p:nvSpPr>
              <p:spPr bwMode="auto">
                <a:xfrm>
                  <a:off x="10805125" y="4944632"/>
                  <a:ext cx="764290" cy="301130"/>
                </a:xfrm>
                <a:prstGeom prst="round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 lIns="0" tIns="0" rIns="0" bIns="0" anchor="ctr">
                  <a:spAutoFit/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lnSpc>
                      <a:spcPts val="800"/>
                    </a:lnSpc>
                    <a:buSzPct val="60000"/>
                    <a:defRPr/>
                  </a:pPr>
                  <a:r>
                    <a:rPr lang="ko-KR" altLang="en-US" sz="8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메타데이터</a:t>
                  </a:r>
                  <a:r>
                    <a:rPr lang="en-US" altLang="ko-KR" sz="8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/>
                  </a:r>
                  <a:br>
                    <a:rPr lang="en-US" altLang="ko-KR" sz="8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</a:br>
                  <a:r>
                    <a:rPr lang="ko-KR" altLang="en-US" sz="8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리파지토리</a:t>
                  </a:r>
                </a:p>
              </p:txBody>
            </p:sp>
          </p:grpSp>
          <p:pic>
            <p:nvPicPr>
              <p:cNvPr id="205" name="Picture 71" descr="cl_st_00074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30751" y="5478769"/>
                <a:ext cx="113062" cy="252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6" name="Rectangle 1526"/>
              <p:cNvSpPr>
                <a:spLocks noChangeArrowheads="1"/>
              </p:cNvSpPr>
              <p:nvPr/>
            </p:nvSpPr>
            <p:spPr bwMode="auto">
              <a:xfrm flipH="1">
                <a:off x="1865553" y="5430788"/>
                <a:ext cx="493792" cy="348813"/>
              </a:xfrm>
              <a:prstGeom prst="rect">
                <a:avLst/>
              </a:prstGeom>
              <a:noFill/>
            </p:spPr>
            <p:txBody>
              <a:bodyPr wrap="square" lIns="0" rIns="0">
                <a:spAutoFit/>
              </a:bodyPr>
              <a:lstStyle/>
              <a:p>
                <a:pPr marL="95250" indent="-95250" algn="ctr" defTabSz="995690">
                  <a:lnSpc>
                    <a:spcPts val="1000"/>
                  </a:lnSpc>
                  <a:spcBef>
                    <a:spcPct val="0"/>
                  </a:spcBef>
                  <a:buSzPct val="140000"/>
                  <a:defRPr/>
                </a:pPr>
                <a:r>
                  <a:rPr lang="ko-KR" altLang="en-US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메타데이터 관리</a:t>
                </a:r>
                <a:r>
                  <a:rPr lang="en-US" altLang="ko-KR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시스템</a:t>
                </a:r>
              </a:p>
            </p:txBody>
          </p:sp>
          <p:pic>
            <p:nvPicPr>
              <p:cNvPr id="207" name="Picture 71" descr="cl_st_00074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03703" y="5478769"/>
                <a:ext cx="113062" cy="252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8" name="Rectangle 1526"/>
              <p:cNvSpPr>
                <a:spLocks noChangeArrowheads="1"/>
              </p:cNvSpPr>
              <p:nvPr/>
            </p:nvSpPr>
            <p:spPr bwMode="auto">
              <a:xfrm flipH="1">
                <a:off x="4000045" y="5430788"/>
                <a:ext cx="493792" cy="348813"/>
              </a:xfrm>
              <a:prstGeom prst="rect">
                <a:avLst/>
              </a:prstGeom>
              <a:noFill/>
            </p:spPr>
            <p:txBody>
              <a:bodyPr wrap="square" lIns="0" rIns="0">
                <a:spAutoFit/>
              </a:bodyPr>
              <a:lstStyle/>
              <a:p>
                <a:pPr marL="95250" indent="-95250" algn="ctr" defTabSz="995690">
                  <a:lnSpc>
                    <a:spcPts val="1000"/>
                  </a:lnSpc>
                  <a:spcBef>
                    <a:spcPct val="0"/>
                  </a:spcBef>
                  <a:buSzPct val="140000"/>
                  <a:defRPr/>
                </a:pPr>
                <a:r>
                  <a:rPr lang="ko-KR" altLang="en-US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</a:t>
                </a:r>
                <a:r>
                  <a:rPr lang="en-US" altLang="ko-KR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800" kern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시스템</a:t>
                </a:r>
              </a:p>
            </p:txBody>
          </p:sp>
        </p:grpSp>
        <p:sp>
          <p:nvSpPr>
            <p:cNvPr id="173" name="직사각형 172"/>
            <p:cNvSpPr/>
            <p:nvPr/>
          </p:nvSpPr>
          <p:spPr>
            <a:xfrm>
              <a:off x="6830235" y="2467353"/>
              <a:ext cx="647444" cy="2763003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eaVert" wrap="none" lIns="0" tIns="432000" rIns="36000" bIns="0" anchor="ctr" anchorCtr="0"/>
            <a:lstStyle/>
            <a:p>
              <a:pPr algn="ctr">
                <a:spcBef>
                  <a:spcPct val="0"/>
                </a:spcBef>
                <a:defRPr/>
              </a:pPr>
              <a:r>
                <a:rPr lang="ko-KR" altLang="en-US" sz="1000" b="1" kern="0" dirty="0">
                  <a:ln w="11430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데이터 공개</a:t>
              </a:r>
              <a:r>
                <a:rPr lang="en-US" altLang="ko-KR" sz="1000" b="1" kern="0" dirty="0">
                  <a:ln w="11430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·</a:t>
              </a:r>
              <a:r>
                <a:rPr lang="ko-KR" altLang="en-US" sz="1000" b="1" kern="0" dirty="0">
                  <a:ln w="11430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cs typeface="Arial" panose="020B0604020202020204" pitchFamily="34" charset="0"/>
                </a:rPr>
                <a:t>개방</a:t>
              </a:r>
            </a:p>
          </p:txBody>
        </p:sp>
        <p:sp>
          <p:nvSpPr>
            <p:cNvPr id="174" name="모서리가 둥근 직사각형 173"/>
            <p:cNvSpPr/>
            <p:nvPr/>
          </p:nvSpPr>
          <p:spPr bwMode="auto">
            <a:xfrm>
              <a:off x="2521988" y="3452989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자료사전</a:t>
              </a:r>
            </a:p>
          </p:txBody>
        </p:sp>
        <p:sp>
          <p:nvSpPr>
            <p:cNvPr id="175" name="모서리가 둥근 직사각형 174"/>
            <p:cNvSpPr/>
            <p:nvPr/>
          </p:nvSpPr>
          <p:spPr bwMode="auto">
            <a:xfrm>
              <a:off x="3036333" y="3452989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도메인</a:t>
              </a:r>
            </a:p>
          </p:txBody>
        </p:sp>
        <p:sp>
          <p:nvSpPr>
            <p:cNvPr id="176" name="모서리가 둥근 직사각형 175"/>
            <p:cNvSpPr/>
            <p:nvPr/>
          </p:nvSpPr>
          <p:spPr bwMode="auto">
            <a:xfrm>
              <a:off x="3548509" y="3452989"/>
              <a:ext cx="472703" cy="358409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표준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도구</a:t>
              </a:r>
            </a:p>
          </p:txBody>
        </p:sp>
        <p:sp>
          <p:nvSpPr>
            <p:cNvPr id="177" name="모서리가 둥근 직사각형 176"/>
            <p:cNvSpPr/>
            <p:nvPr/>
          </p:nvSpPr>
          <p:spPr bwMode="auto">
            <a:xfrm>
              <a:off x="2521988" y="3643491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명명규칙</a:t>
              </a:r>
            </a:p>
          </p:txBody>
        </p:sp>
        <p:sp>
          <p:nvSpPr>
            <p:cNvPr id="178" name="모서리가 둥근 직사각형 177"/>
            <p:cNvSpPr/>
            <p:nvPr/>
          </p:nvSpPr>
          <p:spPr bwMode="auto">
            <a:xfrm>
              <a:off x="3036333" y="3643491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표준코드</a:t>
              </a:r>
            </a:p>
          </p:txBody>
        </p:sp>
        <p:sp>
          <p:nvSpPr>
            <p:cNvPr id="179" name="모서리가 둥근 직사각형 178"/>
            <p:cNvSpPr/>
            <p:nvPr/>
          </p:nvSpPr>
          <p:spPr bwMode="auto">
            <a:xfrm>
              <a:off x="5151293" y="3452989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주제영역</a:t>
              </a:r>
            </a:p>
          </p:txBody>
        </p:sp>
        <p:sp>
          <p:nvSpPr>
            <p:cNvPr id="180" name="모서리가 둥근 직사각형 179"/>
            <p:cNvSpPr/>
            <p:nvPr/>
          </p:nvSpPr>
          <p:spPr bwMode="auto">
            <a:xfrm>
              <a:off x="5665638" y="3452989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개념모델</a:t>
              </a:r>
            </a:p>
          </p:txBody>
        </p:sp>
        <p:sp>
          <p:nvSpPr>
            <p:cNvPr id="181" name="모서리가 둥근 직사각형 180"/>
            <p:cNvSpPr/>
            <p:nvPr/>
          </p:nvSpPr>
          <p:spPr bwMode="auto">
            <a:xfrm>
              <a:off x="6177814" y="3452989"/>
              <a:ext cx="472703" cy="358409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베이스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설계서</a:t>
              </a:r>
            </a:p>
          </p:txBody>
        </p:sp>
        <p:sp>
          <p:nvSpPr>
            <p:cNvPr id="182" name="모서리가 둥근 직사각형 181"/>
            <p:cNvSpPr/>
            <p:nvPr/>
          </p:nvSpPr>
          <p:spPr bwMode="auto">
            <a:xfrm>
              <a:off x="5151293" y="3643491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논리모델</a:t>
              </a:r>
            </a:p>
          </p:txBody>
        </p:sp>
        <p:sp>
          <p:nvSpPr>
            <p:cNvPr id="183" name="모서리가 둥근 직사각형 182"/>
            <p:cNvSpPr/>
            <p:nvPr/>
          </p:nvSpPr>
          <p:spPr bwMode="auto">
            <a:xfrm>
              <a:off x="5665638" y="3643491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물리모델</a:t>
              </a:r>
            </a:p>
          </p:txBody>
        </p:sp>
        <p:sp>
          <p:nvSpPr>
            <p:cNvPr id="184" name="모서리가 둥근 직사각형 183"/>
            <p:cNvSpPr/>
            <p:nvPr/>
          </p:nvSpPr>
          <p:spPr bwMode="auto">
            <a:xfrm>
              <a:off x="5151293" y="3903927"/>
              <a:ext cx="149922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연계상세정보연계 상세 정보</a:t>
              </a:r>
            </a:p>
          </p:txBody>
        </p:sp>
        <p:sp>
          <p:nvSpPr>
            <p:cNvPr id="185" name="모서리가 둥근 직사각형 184"/>
            <p:cNvSpPr/>
            <p:nvPr/>
          </p:nvSpPr>
          <p:spPr bwMode="auto">
            <a:xfrm>
              <a:off x="5151293" y="4094429"/>
              <a:ext cx="472703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연계방식</a:t>
              </a:r>
            </a:p>
          </p:txBody>
        </p:sp>
        <p:sp>
          <p:nvSpPr>
            <p:cNvPr id="186" name="모서리가 둥근 직사각형 185"/>
            <p:cNvSpPr/>
            <p:nvPr/>
          </p:nvSpPr>
          <p:spPr bwMode="auto">
            <a:xfrm>
              <a:off x="5678316" y="4094429"/>
              <a:ext cx="972201" cy="163621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연계데이터포맷</a:t>
              </a:r>
            </a:p>
          </p:txBody>
        </p:sp>
        <p:sp>
          <p:nvSpPr>
            <p:cNvPr id="187" name="모서리가 둥근 직사각형 186"/>
            <p:cNvSpPr/>
            <p:nvPr/>
          </p:nvSpPr>
          <p:spPr bwMode="auto">
            <a:xfrm>
              <a:off x="6889415" y="2539361"/>
              <a:ext cx="528902" cy="443374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</a:t>
              </a:r>
              <a:endParaRPr lang="en-US" altLang="ko-KR" sz="8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endParaRPr>
            </a:p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분류체계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 bwMode="auto">
            <a:xfrm>
              <a:off x="6889415" y="3032091"/>
              <a:ext cx="528902" cy="443374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개방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데이터셋</a:t>
              </a:r>
            </a:p>
          </p:txBody>
        </p:sp>
        <p:sp>
          <p:nvSpPr>
            <p:cNvPr id="189" name="모서리가 둥근 직사각형 188"/>
            <p:cNvSpPr/>
            <p:nvPr/>
          </p:nvSpPr>
          <p:spPr bwMode="auto">
            <a:xfrm>
              <a:off x="6889415" y="4625803"/>
              <a:ext cx="528902" cy="505846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36000" rIns="36000" bIns="36000" anchor="ctr"/>
            <a:lstStyle/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공공데이터</a:t>
              </a:r>
              <a:endParaRPr lang="en-US" altLang="ko-KR" sz="8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endParaRPr>
            </a:p>
            <a:p>
              <a:pPr marL="0" lvl="1" algn="ctr" defTabSz="1330325">
                <a:lnSpc>
                  <a:spcPts val="800"/>
                </a:lnSpc>
                <a:buClr>
                  <a:prstClr val="black"/>
                </a:buClr>
                <a:buSzPct val="100000"/>
                <a:tabLst>
                  <a:tab pos="5648325" algn="l"/>
                </a:tabLst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관리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프로세스</a:t>
              </a:r>
            </a:p>
          </p:txBody>
        </p:sp>
        <p:sp>
          <p:nvSpPr>
            <p:cNvPr id="190" name="모서리가 둥근 직사각형 189"/>
            <p:cNvSpPr/>
            <p:nvPr/>
          </p:nvSpPr>
          <p:spPr bwMode="auto">
            <a:xfrm>
              <a:off x="3978957" y="2683353"/>
              <a:ext cx="1273765" cy="136208"/>
            </a:xfrm>
            <a:prstGeom prst="round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marL="0" lvl="1" algn="ctr" defTabSz="1330325"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 원칙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·</a:t>
              </a: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정책 적용</a:t>
              </a:r>
            </a:p>
          </p:txBody>
        </p:sp>
        <p:sp>
          <p:nvSpPr>
            <p:cNvPr id="191" name="모서리가 둥근 직사각형 190"/>
            <p:cNvSpPr/>
            <p:nvPr/>
          </p:nvSpPr>
          <p:spPr bwMode="auto">
            <a:xfrm>
              <a:off x="3772666" y="4658119"/>
              <a:ext cx="1686359" cy="136208"/>
            </a:xfrm>
            <a:prstGeom prst="round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marL="0" lvl="1" algn="ctr" defTabSz="1330325"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표준 데이터 품질관리 프로세스 적용</a:t>
              </a:r>
            </a:p>
          </p:txBody>
        </p:sp>
        <p:sp>
          <p:nvSpPr>
            <p:cNvPr id="192" name="모서리가 둥근 직사각형 191"/>
            <p:cNvSpPr/>
            <p:nvPr/>
          </p:nvSpPr>
          <p:spPr bwMode="auto">
            <a:xfrm>
              <a:off x="3990289" y="5236707"/>
              <a:ext cx="1251105" cy="136208"/>
            </a:xfrm>
            <a:prstGeom prst="round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marL="0" lvl="1" algn="ctr" defTabSz="1330325"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품질관리 활동 지원</a:t>
              </a:r>
            </a:p>
          </p:txBody>
        </p:sp>
        <p:cxnSp>
          <p:nvCxnSpPr>
            <p:cNvPr id="193" name="직선 화살표 연결선 192"/>
            <p:cNvCxnSpPr/>
            <p:nvPr/>
          </p:nvCxnSpPr>
          <p:spPr bwMode="auto">
            <a:xfrm>
              <a:off x="5830930" y="3059296"/>
              <a:ext cx="0" cy="135017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4" name="직선 화살표 연결선 193"/>
            <p:cNvCxnSpPr/>
            <p:nvPr/>
          </p:nvCxnSpPr>
          <p:spPr bwMode="auto">
            <a:xfrm>
              <a:off x="3482411" y="3059296"/>
              <a:ext cx="0" cy="135017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5" name="직선 화살표 연결선 194"/>
            <p:cNvCxnSpPr>
              <a:endCxn id="163" idx="0"/>
            </p:cNvCxnSpPr>
            <p:nvPr/>
          </p:nvCxnSpPr>
          <p:spPr bwMode="auto">
            <a:xfrm>
              <a:off x="5749272" y="4652753"/>
              <a:ext cx="6571" cy="365813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6" name="직선 화살표 연결선 195"/>
            <p:cNvCxnSpPr>
              <a:endCxn id="171" idx="0"/>
            </p:cNvCxnSpPr>
            <p:nvPr/>
          </p:nvCxnSpPr>
          <p:spPr bwMode="auto">
            <a:xfrm>
              <a:off x="3465163" y="4652753"/>
              <a:ext cx="1" cy="365813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7" name="직선 화살표 연결선 196"/>
            <p:cNvCxnSpPr/>
            <p:nvPr/>
          </p:nvCxnSpPr>
          <p:spPr bwMode="auto">
            <a:xfrm>
              <a:off x="5749272" y="5178822"/>
              <a:ext cx="0" cy="194093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8" name="직선 화살표 연결선 197"/>
            <p:cNvCxnSpPr/>
            <p:nvPr/>
          </p:nvCxnSpPr>
          <p:spPr bwMode="auto">
            <a:xfrm>
              <a:off x="3465163" y="5178822"/>
              <a:ext cx="0" cy="194093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cxnSp>
          <p:nvCxnSpPr>
            <p:cNvPr id="199" name="직선 화살표 연결선 198"/>
            <p:cNvCxnSpPr>
              <a:stCxn id="173" idx="2"/>
            </p:cNvCxnSpPr>
            <p:nvPr/>
          </p:nvCxnSpPr>
          <p:spPr bwMode="auto">
            <a:xfrm flipH="1">
              <a:off x="7144989" y="5230356"/>
              <a:ext cx="8968" cy="141334"/>
            </a:xfrm>
            <a:prstGeom prst="straightConnector1">
              <a:avLst/>
            </a:prstGeom>
            <a:solidFill>
              <a:schemeClr val="bg1"/>
            </a:solidFill>
            <a:ln w="19050" cap="flat" cmpd="sng" algn="ctr">
              <a:solidFill>
                <a:schemeClr val="accent1">
                  <a:lumMod val="75000"/>
                </a:schemeClr>
              </a:solidFill>
              <a:prstDash val="solid"/>
              <a:tailEnd type="triangle"/>
            </a:ln>
            <a:effectLst/>
          </p:spPr>
        </p:cxnSp>
        <p:sp>
          <p:nvSpPr>
            <p:cNvPr id="200" name="직사각형 199"/>
            <p:cNvSpPr/>
            <p:nvPr/>
          </p:nvSpPr>
          <p:spPr>
            <a:xfrm>
              <a:off x="2399747" y="2467353"/>
              <a:ext cx="4373592" cy="216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0" rIns="36000" bIns="0" anchor="ctr" anchorCtr="0"/>
            <a:lstStyle/>
            <a:p>
              <a:pPr algn="ctr">
                <a:buClr>
                  <a:prstClr val="black"/>
                </a:buClr>
                <a:buSzPct val="90000"/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201" name="모서리가 둥근 직사각형 200"/>
            <p:cNvSpPr/>
            <p:nvPr/>
          </p:nvSpPr>
          <p:spPr bwMode="auto">
            <a:xfrm>
              <a:off x="3990289" y="3067341"/>
              <a:ext cx="1251105" cy="136208"/>
            </a:xfrm>
            <a:prstGeom prst="round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marL="0" lvl="1" algn="ctr" defTabSz="1330325">
                <a:buClr>
                  <a:prstClr val="black"/>
                </a:buClr>
                <a:buSzPct val="100000"/>
                <a:tabLst>
                  <a:tab pos="5648325" algn="l"/>
                </a:tabLst>
                <a:defRPr/>
              </a:pPr>
              <a:r>
                <a:rPr lang="ko-KR" altLang="en-US" sz="800" kern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데이터 품질관리 활동 수행</a:t>
              </a:r>
            </a:p>
          </p:txBody>
        </p:sp>
        <p:sp>
          <p:nvSpPr>
            <p:cNvPr id="202" name="직사각형 201"/>
            <p:cNvSpPr/>
            <p:nvPr/>
          </p:nvSpPr>
          <p:spPr>
            <a:xfrm>
              <a:off x="2399747" y="2839853"/>
              <a:ext cx="4373592" cy="216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mpd="sng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63500" algn="tl" rotWithShape="0">
                <a:prstClr val="black">
                  <a:alpha val="40000"/>
                </a:prstClr>
              </a:outerShdw>
            </a:effectLst>
          </p:spPr>
          <p:txBody>
            <a:bodyPr vert="horz" wrap="none" lIns="0" tIns="0" rIns="36000" bIns="0" anchor="ctr" anchorCtr="0"/>
            <a:lstStyle/>
            <a:p>
              <a:pPr algn="ctr">
                <a:buClr>
                  <a:prstClr val="black"/>
                </a:buClr>
                <a:buSzPct val="90000"/>
                <a:defRPr/>
              </a:pPr>
              <a:r>
                <a:rPr lang="ko-KR" altLang="en-US" sz="1100" b="1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1016926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품질관리 체계 정의 시 참조한 공공분야 데이터 품질관리 지침 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데이터 품질관리 체계는 </a:t>
            </a:r>
            <a:r>
              <a:rPr lang="en-US" altLang="ko-KR" dirty="0"/>
              <a:t>7</a:t>
            </a:r>
            <a:r>
              <a:rPr lang="ko-KR" altLang="en-US" dirty="0"/>
              <a:t>개의 공공분야 데이터 품질관리 지침을 준수</a:t>
            </a:r>
            <a:r>
              <a:rPr lang="en-US" altLang="ko-KR" dirty="0"/>
              <a:t>, </a:t>
            </a:r>
            <a:r>
              <a:rPr lang="ko-KR" altLang="en-US" dirty="0"/>
              <a:t>참조하여 국가 지침과 배치되지 않도록 유의하여 수립함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dirty="0"/>
              <a:t>데이터 품질관리체계 수립 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품질관리체계 수립 방향 </a:t>
            </a:r>
            <a:r>
              <a:rPr lang="en-US" altLang="ko-KR" sz="1800" spc="-150" dirty="0"/>
              <a:t>(1/3)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6" name="그룹 217"/>
          <p:cNvGrpSpPr/>
          <p:nvPr/>
        </p:nvGrpSpPr>
        <p:grpSpPr>
          <a:xfrm>
            <a:off x="4715526" y="2239520"/>
            <a:ext cx="4751957" cy="3927945"/>
            <a:chOff x="4881563" y="2239520"/>
            <a:chExt cx="4751957" cy="3927945"/>
          </a:xfrm>
        </p:grpSpPr>
        <p:sp>
          <p:nvSpPr>
            <p:cNvPr id="219" name="직사각형 218"/>
            <p:cNvSpPr/>
            <p:nvPr/>
          </p:nvSpPr>
          <p:spPr bwMode="auto">
            <a:xfrm>
              <a:off x="4881563" y="2239520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0" name="직사각형 219"/>
            <p:cNvSpPr/>
            <p:nvPr/>
          </p:nvSpPr>
          <p:spPr bwMode="auto">
            <a:xfrm>
              <a:off x="4881563" y="2829788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1" name="직사각형 220"/>
            <p:cNvSpPr/>
            <p:nvPr/>
          </p:nvSpPr>
          <p:spPr bwMode="auto">
            <a:xfrm>
              <a:off x="4881563" y="3702311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2" name="직사각형 221"/>
            <p:cNvSpPr/>
            <p:nvPr/>
          </p:nvSpPr>
          <p:spPr bwMode="auto">
            <a:xfrm>
              <a:off x="4881563" y="4865340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3" name="직사각형 222"/>
            <p:cNvSpPr/>
            <p:nvPr/>
          </p:nvSpPr>
          <p:spPr bwMode="auto">
            <a:xfrm>
              <a:off x="4881563" y="5520757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4" name="직사각형 223"/>
            <p:cNvSpPr/>
            <p:nvPr/>
          </p:nvSpPr>
          <p:spPr bwMode="auto">
            <a:xfrm>
              <a:off x="4881563" y="5904607"/>
              <a:ext cx="4751957" cy="262858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endParaRPr lang="ko-KR" altLang="en-US" sz="10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25" name="표 224"/>
          <p:cNvGraphicFramePr>
            <a:graphicFrameLocks noGrp="1"/>
          </p:cNvGraphicFramePr>
          <p:nvPr>
            <p:extLst/>
          </p:nvPr>
        </p:nvGraphicFramePr>
        <p:xfrm>
          <a:off x="3767793" y="1981030"/>
          <a:ext cx="5735694" cy="4349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64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82204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73212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지침</a:t>
                      </a:r>
                    </a:p>
                  </a:txBody>
                  <a:tcPr marT="36000" marB="360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주요내용</a:t>
                      </a:r>
                    </a:p>
                  </a:txBody>
                  <a:tcPr marT="36000" marB="3600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275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공공기관의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품질관리 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공공기관이 국가정보화 추진 과정에서 생산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유통 또는 활용되는 데이터베이스 품질을 관리하기 위한 세부 사항을 규정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추진근거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국가정보화기본법 시행령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품질관리 계획 수립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품질오류관리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표준화관리 대상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연계데이터 품질관리 지침을 제시</a:t>
                      </a: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1646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행정정보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표준화 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행정기관이 구축 운영하는 행정정보 데이터베이스의 설계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구축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운영관리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품질관리에 관한 표준을 규정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추진근거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전자정부법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25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 및 동법 시행령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표준화된 행정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DB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구축을 위한 공정관리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감리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의 운영 및 관리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데이터요소의 명명 규칙 등을 제시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행정표준용어사전은 행정데이터관리시스템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(www.adams.go.kr)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을 이용</a:t>
                      </a: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2199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행정기관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코드표준화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추진 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행정기관 간 행정정보의 원활한 공동이용을 위해 각급 기관에서 행정표준코드를 활용하고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체계적인 관리를 하는데 필요한 세부 지침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추진근거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전자정부법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50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표준화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 2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항 및 동법 시행령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59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표준화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행정기관에서 정보화를 추진할 경우 코드는 행정표준코드를 사용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행정표준코드의 최신자료는 행정표준코드관리시스템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(www.code.go.kr)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을 이용</a:t>
                      </a: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330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행정정보 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공동이용 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행정정보공동이용센터를 통한 행정정보의 공동이용과 관련된 세부사항을 규정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추진근거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전자정부법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37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행정정보공동이용센터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및 동 시행령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42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행정정보공동이용센터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409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행정기관 및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공공기관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정보시스템의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구축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행정기관 및 공공기관에서 정보시스템을 구축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운영함에 있어 준수해야 할 기준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표준 및 절차와 상호 운용성 기술평가에 관한 사항을 규정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추진근거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전자정부법 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45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정보기술아키텍처 기본계획의 수립 등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), 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제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49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조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상호운용성 확보 등을 위한 기술평가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4642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정보기술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아키텍처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도입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공공기관이 정보기술아키텍처의 도입과 운영에 필요한 사항을 규정</a:t>
                      </a: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330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정보시스템</a:t>
                      </a:r>
                    </a:p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운영관리 지침</a:t>
                      </a:r>
                    </a:p>
                  </a:txBody>
                  <a:tcPr marT="18000" marB="216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정보시스템을 안정적으로 운영하기 위한 운영계획 수립과 실제 운영 단계에서 필요한 구성 및 변경관리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성능 및 장애관리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보안관리 등의 세부사항을 규정</a:t>
                      </a:r>
                    </a:p>
                    <a:p>
                      <a:pPr marL="87313" indent="-87313" latinLnBrk="0">
                        <a:lnSpc>
                          <a:spcPct val="100000"/>
                        </a:lnSpc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관리요소별 </a:t>
                      </a:r>
                      <a:r>
                        <a:rPr lang="en-US" altLang="ko-KR" sz="900" dirty="0"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종의 세부지침으로 구성</a:t>
                      </a:r>
                    </a:p>
                  </a:txBody>
                  <a:tcPr marT="18000" marB="216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" name="그룹 225"/>
          <p:cNvGrpSpPr/>
          <p:nvPr/>
        </p:nvGrpSpPr>
        <p:grpSpPr>
          <a:xfrm>
            <a:off x="415925" y="2348880"/>
            <a:ext cx="3021220" cy="3624906"/>
            <a:chOff x="386840" y="2022510"/>
            <a:chExt cx="3695780" cy="4203805"/>
          </a:xfrm>
        </p:grpSpPr>
        <p:sp>
          <p:nvSpPr>
            <p:cNvPr id="227" name="직사각형 226"/>
            <p:cNvSpPr/>
            <p:nvPr/>
          </p:nvSpPr>
          <p:spPr>
            <a:xfrm>
              <a:off x="386840" y="2022510"/>
              <a:ext cx="3695780" cy="4203805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8" name="오각형 227"/>
            <p:cNvSpPr/>
            <p:nvPr/>
          </p:nvSpPr>
          <p:spPr>
            <a:xfrm rot="16200000">
              <a:off x="2051976" y="548399"/>
              <a:ext cx="384362" cy="3481268"/>
            </a:xfrm>
            <a:prstGeom prst="homePlate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eaVert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b="1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9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229" name="직사각형 228"/>
            <p:cNvSpPr/>
            <p:nvPr/>
          </p:nvSpPr>
          <p:spPr>
            <a:xfrm>
              <a:off x="503523" y="25334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230" name="직사각형 229"/>
            <p:cNvSpPr/>
            <p:nvPr/>
          </p:nvSpPr>
          <p:spPr>
            <a:xfrm>
              <a:off x="503523" y="29355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231" name="직사각형 230"/>
            <p:cNvSpPr/>
            <p:nvPr/>
          </p:nvSpPr>
          <p:spPr>
            <a:xfrm>
              <a:off x="503523" y="49590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232" name="직사각형 231"/>
            <p:cNvSpPr/>
            <p:nvPr/>
          </p:nvSpPr>
          <p:spPr>
            <a:xfrm>
              <a:off x="503523" y="53611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233" name="직사각형 232"/>
            <p:cNvSpPr/>
            <p:nvPr/>
          </p:nvSpPr>
          <p:spPr>
            <a:xfrm>
              <a:off x="503523" y="5765580"/>
              <a:ext cx="3481268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234" name="직사각형 233"/>
            <p:cNvSpPr/>
            <p:nvPr/>
          </p:nvSpPr>
          <p:spPr>
            <a:xfrm>
              <a:off x="503523" y="3333750"/>
              <a:ext cx="2997749" cy="157358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235" name="직사각형 234"/>
            <p:cNvSpPr/>
            <p:nvPr/>
          </p:nvSpPr>
          <p:spPr>
            <a:xfrm>
              <a:off x="2040575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236" name="직사각형 235"/>
            <p:cNvSpPr/>
            <p:nvPr/>
          </p:nvSpPr>
          <p:spPr>
            <a:xfrm>
              <a:off x="2040575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237" name="직사각형 236"/>
            <p:cNvSpPr/>
            <p:nvPr/>
          </p:nvSpPr>
          <p:spPr>
            <a:xfrm>
              <a:off x="746136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238" name="직사각형 237"/>
            <p:cNvSpPr/>
            <p:nvPr/>
          </p:nvSpPr>
          <p:spPr>
            <a:xfrm>
              <a:off x="746136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239" name="직사각형 238"/>
            <p:cNvSpPr/>
            <p:nvPr/>
          </p:nvSpPr>
          <p:spPr>
            <a:xfrm>
              <a:off x="3541554" y="2533442"/>
              <a:ext cx="443237" cy="31804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36000" rIns="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공개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8" name="그룹 239"/>
            <p:cNvGrpSpPr/>
            <p:nvPr/>
          </p:nvGrpSpPr>
          <p:grpSpPr>
            <a:xfrm>
              <a:off x="1601884" y="3569147"/>
              <a:ext cx="892622" cy="892622"/>
              <a:chOff x="-1683537" y="3004277"/>
              <a:chExt cx="892622" cy="892622"/>
            </a:xfrm>
          </p:grpSpPr>
          <p:sp>
            <p:nvSpPr>
              <p:cNvPr id="241" name="모서리가 둥근 직사각형 240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242" name="타원 241"/>
              <p:cNvSpPr/>
              <p:nvPr/>
            </p:nvSpPr>
            <p:spPr>
              <a:xfrm>
                <a:off x="-1470613" y="3239847"/>
                <a:ext cx="440379" cy="41749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sp>
        <p:nvSpPr>
          <p:cNvPr id="243" name="AutoShape 88"/>
          <p:cNvSpPr>
            <a:spLocks noChangeAspect="1" noChangeArrowheads="1"/>
          </p:cNvSpPr>
          <p:nvPr/>
        </p:nvSpPr>
        <p:spPr bwMode="auto">
          <a:xfrm rot="10800000" flipV="1">
            <a:off x="3385893" y="2792298"/>
            <a:ext cx="299841" cy="2739618"/>
          </a:xfrm>
          <a:prstGeom prst="rightArrow">
            <a:avLst>
              <a:gd name="adj1" fmla="val 60784"/>
              <a:gd name="adj2" fmla="val 48753"/>
            </a:avLst>
          </a:prstGeo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46000">
                <a:schemeClr val="accent2">
                  <a:lumMod val="95000"/>
                  <a:lumOff val="5000"/>
                </a:schemeClr>
              </a:gs>
              <a:gs pos="100000">
                <a:schemeClr val="accent2">
                  <a:lumMod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/>
          <a:extLst/>
        </p:spPr>
        <p:txBody>
          <a:bodyPr vert="eaVert"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r>
              <a: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지침 준수 </a:t>
            </a:r>
            <a:r>
              <a:rPr lang="en-US" altLang="ko-KR" sz="11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참조</a:t>
            </a:r>
          </a:p>
        </p:txBody>
      </p:sp>
      <p:sp>
        <p:nvSpPr>
          <p:cNvPr id="244" name="타원 243"/>
          <p:cNvSpPr/>
          <p:nvPr/>
        </p:nvSpPr>
        <p:spPr bwMode="auto">
          <a:xfrm>
            <a:off x="3685734" y="239361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5" name="타원 244"/>
          <p:cNvSpPr/>
          <p:nvPr/>
        </p:nvSpPr>
        <p:spPr bwMode="auto">
          <a:xfrm>
            <a:off x="3685734" y="3136191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6" name="타원 245"/>
          <p:cNvSpPr/>
          <p:nvPr/>
        </p:nvSpPr>
        <p:spPr bwMode="auto">
          <a:xfrm>
            <a:off x="3685734" y="3924804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7" name="타원 246"/>
          <p:cNvSpPr/>
          <p:nvPr/>
        </p:nvSpPr>
        <p:spPr bwMode="auto">
          <a:xfrm>
            <a:off x="3685734" y="4533417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8" name="타원 247"/>
          <p:cNvSpPr/>
          <p:nvPr/>
        </p:nvSpPr>
        <p:spPr bwMode="auto">
          <a:xfrm>
            <a:off x="3685734" y="5046746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9" name="타원 248"/>
          <p:cNvSpPr/>
          <p:nvPr/>
        </p:nvSpPr>
        <p:spPr bwMode="auto">
          <a:xfrm>
            <a:off x="3685734" y="5560075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0" name="타원 249"/>
          <p:cNvSpPr/>
          <p:nvPr/>
        </p:nvSpPr>
        <p:spPr bwMode="auto">
          <a:xfrm>
            <a:off x="3685734" y="6021912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ffectLst>
            <a:outerShdw blurRad="25400" dist="25400" dir="2700000" algn="tl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7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231254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경영정보시스템의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품질관리 모델과 범정부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EA DRM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과의 관계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품질관리 모델이 범정부 </a:t>
            </a:r>
            <a:r>
              <a:rPr lang="en-US" altLang="ko-KR" dirty="0"/>
              <a:t>EA DRM </a:t>
            </a:r>
            <a:r>
              <a:rPr lang="ko-KR" altLang="en-US" dirty="0"/>
              <a:t>프레임워크와 호환되도록 구성하여 데이터 품질관리 모델의 적용 시 </a:t>
            </a:r>
            <a:r>
              <a:rPr lang="en-US" altLang="ko-KR" dirty="0"/>
              <a:t>EA DRM</a:t>
            </a:r>
            <a:r>
              <a:rPr lang="ko-KR" altLang="en-US" dirty="0"/>
              <a:t>과 일관성 있는 적용을 할 수 있도록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dirty="0"/>
              <a:t>데이터 품질관리체계 수립 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품질관리체계 수립 방향 </a:t>
            </a:r>
            <a:r>
              <a:rPr lang="en-US" altLang="ko-KR" sz="1800" spc="-150" dirty="0"/>
              <a:t>(2/3)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6" name="그룹 83"/>
          <p:cNvGrpSpPr/>
          <p:nvPr/>
        </p:nvGrpSpPr>
        <p:grpSpPr>
          <a:xfrm>
            <a:off x="1390309" y="2394857"/>
            <a:ext cx="3186840" cy="3730579"/>
            <a:chOff x="386840" y="1899961"/>
            <a:chExt cx="3695780" cy="4326354"/>
          </a:xfrm>
        </p:grpSpPr>
        <p:sp>
          <p:nvSpPr>
            <p:cNvPr id="85" name="직사각형 84"/>
            <p:cNvSpPr/>
            <p:nvPr/>
          </p:nvSpPr>
          <p:spPr>
            <a:xfrm>
              <a:off x="386840" y="1899961"/>
              <a:ext cx="3695780" cy="4326354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endPara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오각형 85"/>
            <p:cNvSpPr/>
            <p:nvPr/>
          </p:nvSpPr>
          <p:spPr>
            <a:xfrm rot="16200000">
              <a:off x="2051976" y="548399"/>
              <a:ext cx="384362" cy="3481268"/>
            </a:xfrm>
            <a:prstGeom prst="homePlate">
              <a:avLst/>
            </a:prstGeom>
            <a:solidFill>
              <a:srgbClr val="508CD2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eaVert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b="1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87" name="직사각형 86"/>
            <p:cNvSpPr/>
            <p:nvPr/>
          </p:nvSpPr>
          <p:spPr>
            <a:xfrm>
              <a:off x="503523" y="25334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503523" y="29355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503523" y="49590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503523" y="53611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503523" y="5765580"/>
              <a:ext cx="3481268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503523" y="3333750"/>
              <a:ext cx="2997749" cy="157358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93" name="직사각형 92"/>
            <p:cNvSpPr/>
            <p:nvPr/>
          </p:nvSpPr>
          <p:spPr>
            <a:xfrm>
              <a:off x="2040575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2040575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46136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746136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3541554" y="2533442"/>
              <a:ext cx="443237" cy="31804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36000" rIns="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공개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7" name="그룹 97"/>
            <p:cNvGrpSpPr/>
            <p:nvPr/>
          </p:nvGrpSpPr>
          <p:grpSpPr>
            <a:xfrm>
              <a:off x="1601884" y="3569147"/>
              <a:ext cx="892622" cy="892622"/>
              <a:chOff x="-1683537" y="3004277"/>
              <a:chExt cx="892622" cy="892622"/>
            </a:xfrm>
          </p:grpSpPr>
          <p:sp>
            <p:nvSpPr>
              <p:cNvPr id="99" name="모서리가 둥근 직사각형 98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100" name="타원 99"/>
              <p:cNvSpPr/>
              <p:nvPr/>
            </p:nvSpPr>
            <p:spPr>
              <a:xfrm>
                <a:off x="-1439412" y="3242393"/>
                <a:ext cx="417492" cy="41749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sp>
        <p:nvSpPr>
          <p:cNvPr id="101" name="Rectangle 50"/>
          <p:cNvSpPr>
            <a:spLocks noChangeArrowheads="1"/>
          </p:cNvSpPr>
          <p:nvPr/>
        </p:nvSpPr>
        <p:spPr bwMode="auto">
          <a:xfrm>
            <a:off x="5529062" y="2394857"/>
            <a:ext cx="2880321" cy="373057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endParaRPr lang="en-US" altLang="ko-KR" sz="8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101"/>
          <p:cNvGrpSpPr/>
          <p:nvPr/>
        </p:nvGrpSpPr>
        <p:grpSpPr>
          <a:xfrm>
            <a:off x="6005346" y="3299274"/>
            <a:ext cx="1899981" cy="1893921"/>
            <a:chOff x="5647293" y="2590806"/>
            <a:chExt cx="1899981" cy="1370938"/>
          </a:xfrm>
        </p:grpSpPr>
        <p:sp>
          <p:nvSpPr>
            <p:cNvPr id="103" name="정육면체 102"/>
            <p:cNvSpPr/>
            <p:nvPr/>
          </p:nvSpPr>
          <p:spPr>
            <a:xfrm>
              <a:off x="5647293" y="3609020"/>
              <a:ext cx="1537955" cy="352724"/>
            </a:xfrm>
            <a:prstGeom prst="cub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104" name="정육면체 103"/>
            <p:cNvSpPr/>
            <p:nvPr/>
          </p:nvSpPr>
          <p:spPr>
            <a:xfrm>
              <a:off x="5647293" y="3266398"/>
              <a:ext cx="1537955" cy="352724"/>
            </a:xfrm>
            <a:prstGeom prst="cub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105" name="정육면체 104"/>
            <p:cNvSpPr/>
            <p:nvPr/>
          </p:nvSpPr>
          <p:spPr>
            <a:xfrm>
              <a:off x="5647293" y="2936388"/>
              <a:ext cx="1537955" cy="352724"/>
            </a:xfrm>
            <a:prstGeom prst="cub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모델</a:t>
              </a:r>
            </a:p>
          </p:txBody>
        </p:sp>
        <p:sp>
          <p:nvSpPr>
            <p:cNvPr id="106" name="정육면체 105"/>
            <p:cNvSpPr/>
            <p:nvPr/>
          </p:nvSpPr>
          <p:spPr>
            <a:xfrm>
              <a:off x="7152225" y="2927679"/>
              <a:ext cx="395049" cy="1034065"/>
            </a:xfrm>
            <a:prstGeom prst="cub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 관리</a:t>
              </a:r>
            </a:p>
          </p:txBody>
        </p:sp>
        <p:sp>
          <p:nvSpPr>
            <p:cNvPr id="107" name="정육면체 106"/>
            <p:cNvSpPr/>
            <p:nvPr/>
          </p:nvSpPr>
          <p:spPr>
            <a:xfrm>
              <a:off x="5647293" y="2590806"/>
              <a:ext cx="1899981" cy="352724"/>
            </a:xfrm>
            <a:prstGeom prst="cub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분류체계</a:t>
              </a:r>
            </a:p>
          </p:txBody>
        </p:sp>
      </p:grpSp>
      <p:sp>
        <p:nvSpPr>
          <p:cNvPr id="108" name="직사각형 107"/>
          <p:cNvSpPr/>
          <p:nvPr/>
        </p:nvSpPr>
        <p:spPr bwMode="auto">
          <a:xfrm>
            <a:off x="5529062" y="2096852"/>
            <a:ext cx="2880321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범정부 </a:t>
            </a:r>
            <a:r>
              <a:rPr lang="en-US" altLang="ko-KR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EA DRM </a:t>
            </a: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프레임워크</a:t>
            </a:r>
          </a:p>
        </p:txBody>
      </p:sp>
      <p:sp>
        <p:nvSpPr>
          <p:cNvPr id="109" name="직사각형 108"/>
          <p:cNvSpPr/>
          <p:nvPr/>
        </p:nvSpPr>
        <p:spPr bwMode="auto">
          <a:xfrm>
            <a:off x="1390308" y="2096852"/>
            <a:ext cx="3186842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smtClean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cxnSp>
        <p:nvCxnSpPr>
          <p:cNvPr id="110" name="직선 연결선 109"/>
          <p:cNvCxnSpPr>
            <a:stCxn id="93" idx="3"/>
            <a:endCxn id="105" idx="2"/>
          </p:cNvCxnSpPr>
          <p:nvPr/>
        </p:nvCxnSpPr>
        <p:spPr bwMode="auto">
          <a:xfrm>
            <a:off x="3933965" y="3961880"/>
            <a:ext cx="2071381" cy="119359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1" name="직선 연결선 110"/>
          <p:cNvCxnSpPr>
            <a:stCxn id="93" idx="3"/>
            <a:endCxn id="104" idx="2"/>
          </p:cNvCxnSpPr>
          <p:nvPr/>
        </p:nvCxnSpPr>
        <p:spPr bwMode="auto">
          <a:xfrm>
            <a:off x="3933965" y="3961880"/>
            <a:ext cx="2071381" cy="575261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2" name="직선 연결선 111"/>
          <p:cNvCxnSpPr>
            <a:stCxn id="94" idx="3"/>
            <a:endCxn id="103" idx="2"/>
          </p:cNvCxnSpPr>
          <p:nvPr/>
        </p:nvCxnSpPr>
        <p:spPr bwMode="auto">
          <a:xfrm>
            <a:off x="3933965" y="4475538"/>
            <a:ext cx="2071381" cy="534927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3" name="직선 연결선 112"/>
          <p:cNvCxnSpPr>
            <a:stCxn id="89" idx="3"/>
            <a:endCxn id="106" idx="2"/>
          </p:cNvCxnSpPr>
          <p:nvPr/>
        </p:nvCxnSpPr>
        <p:spPr bwMode="auto">
          <a:xfrm flipV="1">
            <a:off x="4075858" y="4528307"/>
            <a:ext cx="3434420" cy="656445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4" name="직선 연결선 113"/>
          <p:cNvCxnSpPr>
            <a:stCxn id="99" idx="3"/>
            <a:endCxn id="107" idx="2"/>
          </p:cNvCxnSpPr>
          <p:nvPr/>
        </p:nvCxnSpPr>
        <p:spPr bwMode="auto">
          <a:xfrm flipV="1">
            <a:off x="3207731" y="3603825"/>
            <a:ext cx="2797615" cy="615208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5" name="직선 연결선 114"/>
          <p:cNvCxnSpPr>
            <a:stCxn id="88" idx="3"/>
            <a:endCxn id="106" idx="2"/>
          </p:cNvCxnSpPr>
          <p:nvPr/>
        </p:nvCxnSpPr>
        <p:spPr bwMode="auto">
          <a:xfrm>
            <a:off x="4075858" y="3439917"/>
            <a:ext cx="3434420" cy="1088390"/>
          </a:xfrm>
          <a:prstGeom prst="line">
            <a:avLst/>
          </a:prstGeom>
          <a:solidFill>
            <a:srgbClr val="FBB779"/>
          </a:solidFill>
          <a:ln w="19050" cap="rnd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sp>
        <p:nvSpPr>
          <p:cNvPr id="116" name="AutoShape 88"/>
          <p:cNvSpPr>
            <a:spLocks noChangeAspect="1" noChangeArrowheads="1"/>
          </p:cNvSpPr>
          <p:nvPr/>
        </p:nvSpPr>
        <p:spPr bwMode="auto">
          <a:xfrm rot="10800000" flipV="1">
            <a:off x="4731390" y="2504638"/>
            <a:ext cx="651537" cy="3314938"/>
          </a:xfrm>
          <a:prstGeom prst="rightArrow">
            <a:avLst>
              <a:gd name="adj1" fmla="val 60784"/>
              <a:gd name="adj2" fmla="val 48753"/>
            </a:avLst>
          </a:prstGeom>
          <a:gradFill flip="none" rotWithShape="1">
            <a:gsLst>
              <a:gs pos="0">
                <a:schemeClr val="accent2">
                  <a:lumMod val="40000"/>
                  <a:lumOff val="60000"/>
                  <a:alpha val="50000"/>
                </a:schemeClr>
              </a:gs>
              <a:gs pos="46000">
                <a:schemeClr val="accent2">
                  <a:lumMod val="95000"/>
                  <a:lumOff val="5000"/>
                  <a:alpha val="50000"/>
                </a:schemeClr>
              </a:gs>
              <a:gs pos="100000">
                <a:schemeClr val="accent2">
                  <a:lumMod val="60000"/>
                  <a:alpha val="5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/>
          <a:extLst/>
        </p:spPr>
        <p:txBody>
          <a:bodyPr vert="eaVert"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r>
              <a:rPr lang="ko-KR" altLang="en-US" sz="14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범정부 </a:t>
            </a:r>
            <a:r>
              <a:rPr lang="en-US" altLang="ko-KR" sz="14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DRM</a:t>
            </a:r>
            <a:r>
              <a:rPr lang="ko-KR" altLang="en-US" sz="14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과 호환</a:t>
            </a:r>
          </a:p>
        </p:txBody>
      </p:sp>
    </p:spTree>
    <p:extLst>
      <p:ext uri="{BB962C8B-B14F-4D97-AF65-F5344CB8AC3E}">
        <p14:creationId xmlns:p14="http://schemas.microsoft.com/office/powerpoint/2010/main" val="294530006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현황 분석 결과를 바탕으로 기관의 특성에 부합하는 데이터 품질관리 체계 수립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데이터 </a:t>
            </a:r>
            <a:r>
              <a:rPr lang="ko-KR" altLang="en-US" dirty="0"/>
              <a:t>품질관리 체계</a:t>
            </a:r>
            <a:r>
              <a:rPr lang="en-US" altLang="ko-KR" dirty="0"/>
              <a:t>, </a:t>
            </a:r>
            <a:r>
              <a:rPr lang="ko-KR" altLang="en-US" dirty="0"/>
              <a:t>데이터 구조</a:t>
            </a:r>
            <a:r>
              <a:rPr lang="en-US" altLang="ko-KR" dirty="0"/>
              <a:t>, </a:t>
            </a:r>
            <a:r>
              <a:rPr lang="ko-KR" altLang="en-US" dirty="0"/>
              <a:t>데이터 품질</a:t>
            </a:r>
            <a:r>
              <a:rPr lang="en-US" altLang="ko-KR" dirty="0"/>
              <a:t>, </a:t>
            </a:r>
            <a:r>
              <a:rPr lang="ko-KR" altLang="en-US" dirty="0"/>
              <a:t>데이터 품질에 대한 현황 분석 결과를 </a:t>
            </a:r>
            <a:r>
              <a:rPr lang="ko-KR" altLang="en-US"/>
              <a:t>바탕으로 </a:t>
            </a:r>
            <a:r>
              <a:rPr lang="ko-KR" altLang="en-US" smtClean="0"/>
              <a:t>경영정보시스템에 </a:t>
            </a:r>
            <a:r>
              <a:rPr lang="ko-KR" altLang="en-US" dirty="0"/>
              <a:t>적용하는 최적화된 데이터 품질관리 체계를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 dirty="0"/>
              <a:t>수립 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품질관리체계 수립 방향 </a:t>
            </a:r>
            <a:r>
              <a:rPr lang="en-US" altLang="ko-KR" sz="1800" spc="-150" dirty="0"/>
              <a:t>(3/3)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6" name="그룹 47"/>
          <p:cNvGrpSpPr/>
          <p:nvPr/>
        </p:nvGrpSpPr>
        <p:grpSpPr>
          <a:xfrm>
            <a:off x="5349045" y="2500530"/>
            <a:ext cx="3186840" cy="3624906"/>
            <a:chOff x="386840" y="2022510"/>
            <a:chExt cx="3695780" cy="4203805"/>
          </a:xfrm>
        </p:grpSpPr>
        <p:sp>
          <p:nvSpPr>
            <p:cNvPr id="49" name="직사각형 48"/>
            <p:cNvSpPr/>
            <p:nvPr/>
          </p:nvSpPr>
          <p:spPr>
            <a:xfrm>
              <a:off x="386840" y="2022510"/>
              <a:ext cx="3695780" cy="4203805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오각형 49"/>
            <p:cNvSpPr/>
            <p:nvPr/>
          </p:nvSpPr>
          <p:spPr>
            <a:xfrm rot="16200000">
              <a:off x="2051976" y="548399"/>
              <a:ext cx="384362" cy="3481268"/>
            </a:xfrm>
            <a:prstGeom prst="homePlate">
              <a:avLst/>
            </a:prstGeom>
            <a:solidFill>
              <a:srgbClr val="508CD2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eaVert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503523" y="25334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503523" y="29355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503523" y="49590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503523" y="53611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55" name="직사각형 54"/>
            <p:cNvSpPr/>
            <p:nvPr/>
          </p:nvSpPr>
          <p:spPr>
            <a:xfrm>
              <a:off x="503523" y="5765580"/>
              <a:ext cx="3481268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56" name="직사각형 55"/>
            <p:cNvSpPr/>
            <p:nvPr/>
          </p:nvSpPr>
          <p:spPr>
            <a:xfrm>
              <a:off x="503523" y="3333750"/>
              <a:ext cx="2997749" cy="157358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57" name="직사각형 56"/>
            <p:cNvSpPr/>
            <p:nvPr/>
          </p:nvSpPr>
          <p:spPr>
            <a:xfrm>
              <a:off x="2040575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2040575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746136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746136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3541554" y="2533442"/>
              <a:ext cx="443237" cy="31804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36000" rIns="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공개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7" name="그룹 61"/>
            <p:cNvGrpSpPr/>
            <p:nvPr/>
          </p:nvGrpSpPr>
          <p:grpSpPr>
            <a:xfrm>
              <a:off x="1601884" y="3569147"/>
              <a:ext cx="892622" cy="892622"/>
              <a:chOff x="-1683537" y="3004277"/>
              <a:chExt cx="892622" cy="892622"/>
            </a:xfrm>
          </p:grpSpPr>
          <p:sp>
            <p:nvSpPr>
              <p:cNvPr id="63" name="모서리가 둥근 직사각형 62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64" name="타원 63"/>
              <p:cNvSpPr/>
              <p:nvPr/>
            </p:nvSpPr>
            <p:spPr>
              <a:xfrm>
                <a:off x="-1449154" y="3242395"/>
                <a:ext cx="405345" cy="40534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sp>
        <p:nvSpPr>
          <p:cNvPr id="65" name="직사각형 64"/>
          <p:cNvSpPr/>
          <p:nvPr/>
        </p:nvSpPr>
        <p:spPr bwMode="auto">
          <a:xfrm>
            <a:off x="5349044" y="2096852"/>
            <a:ext cx="3186842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smtClean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sp>
        <p:nvSpPr>
          <p:cNvPr id="66" name="AutoShape 88"/>
          <p:cNvSpPr>
            <a:spLocks noChangeAspect="1" noChangeArrowheads="1"/>
          </p:cNvSpPr>
          <p:nvPr/>
        </p:nvSpPr>
        <p:spPr bwMode="auto">
          <a:xfrm>
            <a:off x="3939083" y="2324269"/>
            <a:ext cx="1134942" cy="3836315"/>
          </a:xfrm>
          <a:prstGeom prst="rightArrow">
            <a:avLst>
              <a:gd name="adj1" fmla="val 74847"/>
              <a:gd name="adj2" fmla="val 29794"/>
            </a:avLst>
          </a:prstGeom>
          <a:gradFill flip="none" rotWithShape="1">
            <a:gsLst>
              <a:gs pos="0">
                <a:schemeClr val="accent2">
                  <a:lumMod val="40000"/>
                  <a:lumOff val="60000"/>
                </a:schemeClr>
              </a:gs>
              <a:gs pos="46000">
                <a:schemeClr val="accent2">
                  <a:lumMod val="95000"/>
                  <a:lumOff val="5000"/>
                </a:schemeClr>
              </a:gs>
              <a:gs pos="100000">
                <a:schemeClr val="accent2">
                  <a:lumMod val="6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/>
          <a:extLst/>
        </p:spPr>
        <p:txBody>
          <a:bodyPr vert="eaVert" wrap="none" lIns="144000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현황분석 결과 분야별 문제점의</a:t>
            </a:r>
            <a:r>
              <a:rPr kumimoji="1" lang="en-US" altLang="ko-KR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ko-KR" altLang="en-US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개선 </a:t>
            </a:r>
            <a:r>
              <a:rPr kumimoji="1" lang="en-US" altLang="ko-KR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kumimoji="1" lang="ko-KR" altLang="en-US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보완 </a:t>
            </a:r>
            <a:r>
              <a:rPr kumimoji="1" lang="en-US" altLang="ko-KR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kumimoji="1" lang="ko-KR" altLang="en-US" sz="1200" b="1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최적화</a:t>
            </a:r>
          </a:p>
        </p:txBody>
      </p:sp>
      <p:sp>
        <p:nvSpPr>
          <p:cNvPr id="67" name="AutoShape 27"/>
          <p:cNvSpPr>
            <a:spLocks noChangeArrowheads="1"/>
          </p:cNvSpPr>
          <p:nvPr/>
        </p:nvSpPr>
        <p:spPr bwMode="auto">
          <a:xfrm>
            <a:off x="977301" y="4765381"/>
            <a:ext cx="2515176" cy="39933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구조</a:t>
            </a:r>
          </a:p>
        </p:txBody>
      </p:sp>
      <p:sp>
        <p:nvSpPr>
          <p:cNvPr id="68" name="AutoShape 27"/>
          <p:cNvSpPr>
            <a:spLocks noChangeArrowheads="1"/>
          </p:cNvSpPr>
          <p:nvPr/>
        </p:nvSpPr>
        <p:spPr bwMode="auto">
          <a:xfrm>
            <a:off x="977301" y="5301678"/>
            <a:ext cx="2515176" cy="399339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</a:t>
            </a:r>
          </a:p>
        </p:txBody>
      </p:sp>
      <p:sp>
        <p:nvSpPr>
          <p:cNvPr id="69" name="AutoShape 27"/>
          <p:cNvSpPr>
            <a:spLocks noChangeArrowheads="1"/>
          </p:cNvSpPr>
          <p:nvPr/>
        </p:nvSpPr>
        <p:spPr bwMode="auto">
          <a:xfrm>
            <a:off x="977301" y="5837974"/>
            <a:ext cx="2515176" cy="39933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보안</a:t>
            </a:r>
          </a:p>
        </p:txBody>
      </p:sp>
      <p:sp>
        <p:nvSpPr>
          <p:cNvPr id="70" name="AutoShape 27"/>
          <p:cNvSpPr>
            <a:spLocks noChangeArrowheads="1"/>
          </p:cNvSpPr>
          <p:nvPr/>
        </p:nvSpPr>
        <p:spPr bwMode="auto">
          <a:xfrm>
            <a:off x="977301" y="2620192"/>
            <a:ext cx="2515176" cy="39933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품질 방침</a:t>
            </a:r>
          </a:p>
        </p:txBody>
      </p:sp>
      <p:sp>
        <p:nvSpPr>
          <p:cNvPr id="71" name="AutoShape 27"/>
          <p:cNvSpPr>
            <a:spLocks noChangeArrowheads="1"/>
          </p:cNvSpPr>
          <p:nvPr/>
        </p:nvSpPr>
        <p:spPr bwMode="auto">
          <a:xfrm>
            <a:off x="977301" y="3156489"/>
            <a:ext cx="2515176" cy="39933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관리 조직</a:t>
            </a:r>
          </a:p>
        </p:txBody>
      </p:sp>
      <p:sp>
        <p:nvSpPr>
          <p:cNvPr id="72" name="AutoShape 27"/>
          <p:cNvSpPr>
            <a:spLocks noChangeArrowheads="1"/>
          </p:cNvSpPr>
          <p:nvPr/>
        </p:nvSpPr>
        <p:spPr bwMode="auto">
          <a:xfrm>
            <a:off x="977301" y="3692786"/>
            <a:ext cx="2515176" cy="399339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관리 프로세스</a:t>
            </a:r>
          </a:p>
        </p:txBody>
      </p:sp>
      <p:sp>
        <p:nvSpPr>
          <p:cNvPr id="73" name="AutoShape 27"/>
          <p:cNvSpPr>
            <a:spLocks noChangeArrowheads="1"/>
          </p:cNvSpPr>
          <p:nvPr/>
        </p:nvSpPr>
        <p:spPr bwMode="auto">
          <a:xfrm>
            <a:off x="977301" y="4229084"/>
            <a:ext cx="2515176" cy="39933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  <a:prstDash val="sysDash"/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표준</a:t>
            </a:r>
          </a:p>
        </p:txBody>
      </p:sp>
      <p:sp>
        <p:nvSpPr>
          <p:cNvPr id="74" name="직사각형 73"/>
          <p:cNvSpPr/>
          <p:nvPr/>
        </p:nvSpPr>
        <p:spPr bwMode="auto">
          <a:xfrm>
            <a:off x="964653" y="2096852"/>
            <a:ext cx="2550820" cy="29800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4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현황 분석</a:t>
            </a:r>
          </a:p>
        </p:txBody>
      </p:sp>
    </p:spTree>
    <p:extLst>
      <p:ext uri="{BB962C8B-B14F-4D97-AF65-F5344CB8AC3E}">
        <p14:creationId xmlns:p14="http://schemas.microsoft.com/office/powerpoint/2010/main" val="54708810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수립의 방향성 정의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코레일테크의  </a:t>
            </a:r>
            <a:r>
              <a:rPr lang="ko-KR" altLang="en-US" dirty="0"/>
              <a:t>데이터 품질 목표 달성을 위하여 </a:t>
            </a:r>
            <a:r>
              <a:rPr lang="en-US" altLang="ko-KR" dirty="0"/>
              <a:t>5</a:t>
            </a:r>
            <a:r>
              <a:rPr lang="ko-KR" altLang="en-US" dirty="0"/>
              <a:t>개 분야의 품질 방침을 수립하고 데이터 품질관리 체계와 모든 데이터 품질활동은 품질 방침에 입각하여 수립되고 시행되도록 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/>
              <a:t>수립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방침 </a:t>
            </a:r>
            <a:r>
              <a:rPr lang="ko-KR" altLang="en-US" sz="1800" spc="-150"/>
              <a:t>수립 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방향성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250" name="직사각형 249"/>
          <p:cNvSpPr/>
          <p:nvPr/>
        </p:nvSpPr>
        <p:spPr bwMode="auto">
          <a:xfrm>
            <a:off x="410090" y="2024844"/>
            <a:ext cx="3081624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smtClean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sp>
        <p:nvSpPr>
          <p:cNvPr id="251" name="직사각형 250"/>
          <p:cNvSpPr/>
          <p:nvPr/>
        </p:nvSpPr>
        <p:spPr>
          <a:xfrm>
            <a:off x="410090" y="2386355"/>
            <a:ext cx="3081622" cy="3881220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900" dirty="0">
              <a:ln w="28575">
                <a:solidFill>
                  <a:srgbClr val="0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2" name="오각형 251"/>
          <p:cNvSpPr/>
          <p:nvPr/>
        </p:nvSpPr>
        <p:spPr>
          <a:xfrm rot="16200000">
            <a:off x="1793046" y="1273080"/>
            <a:ext cx="331432" cy="2902757"/>
          </a:xfrm>
          <a:prstGeom prst="homePlate">
            <a:avLst/>
          </a:prstGeom>
          <a:solidFill>
            <a:srgbClr val="508CD2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eaVert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sp>
        <p:nvSpPr>
          <p:cNvPr id="253" name="직사각형 252"/>
          <p:cNvSpPr/>
          <p:nvPr/>
        </p:nvSpPr>
        <p:spPr>
          <a:xfrm>
            <a:off x="507383" y="2935209"/>
            <a:ext cx="2499589" cy="304151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rgbClr val="C00000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254" name="직사각형 253"/>
          <p:cNvSpPr/>
          <p:nvPr/>
        </p:nvSpPr>
        <p:spPr>
          <a:xfrm>
            <a:off x="507383" y="3281948"/>
            <a:ext cx="2499589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조직</a:t>
            </a:r>
          </a:p>
        </p:txBody>
      </p:sp>
      <p:sp>
        <p:nvSpPr>
          <p:cNvPr id="255" name="직사각형 254"/>
          <p:cNvSpPr/>
          <p:nvPr/>
        </p:nvSpPr>
        <p:spPr>
          <a:xfrm>
            <a:off x="507383" y="5026783"/>
            <a:ext cx="2499589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256" name="직사각형 255"/>
          <p:cNvSpPr/>
          <p:nvPr/>
        </p:nvSpPr>
        <p:spPr>
          <a:xfrm>
            <a:off x="507383" y="5373523"/>
            <a:ext cx="2499589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인프라</a:t>
            </a:r>
          </a:p>
        </p:txBody>
      </p:sp>
      <p:sp>
        <p:nvSpPr>
          <p:cNvPr id="257" name="직사각형 256"/>
          <p:cNvSpPr/>
          <p:nvPr/>
        </p:nvSpPr>
        <p:spPr>
          <a:xfrm>
            <a:off x="507383" y="5722255"/>
            <a:ext cx="2902757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법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제도</a:t>
            </a:r>
          </a:p>
        </p:txBody>
      </p:sp>
      <p:sp>
        <p:nvSpPr>
          <p:cNvPr id="258" name="직사각형 257"/>
          <p:cNvSpPr/>
          <p:nvPr/>
        </p:nvSpPr>
        <p:spPr>
          <a:xfrm>
            <a:off x="507383" y="3625308"/>
            <a:ext cx="2499589" cy="135689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보안</a:t>
            </a:r>
          </a:p>
        </p:txBody>
      </p:sp>
      <p:sp>
        <p:nvSpPr>
          <p:cNvPr id="259" name="직사각형 258"/>
          <p:cNvSpPr/>
          <p:nvPr/>
        </p:nvSpPr>
        <p:spPr>
          <a:xfrm>
            <a:off x="1789010" y="3697960"/>
            <a:ext cx="1080753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구조</a:t>
            </a:r>
          </a:p>
        </p:txBody>
      </p:sp>
      <p:sp>
        <p:nvSpPr>
          <p:cNvPr id="260" name="직사각형 259"/>
          <p:cNvSpPr/>
          <p:nvPr/>
        </p:nvSpPr>
        <p:spPr>
          <a:xfrm>
            <a:off x="1789010" y="4211619"/>
            <a:ext cx="1080753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교환</a:t>
            </a:r>
          </a:p>
        </p:txBody>
      </p:sp>
      <p:sp>
        <p:nvSpPr>
          <p:cNvPr id="261" name="직사각형 260"/>
          <p:cNvSpPr/>
          <p:nvPr/>
        </p:nvSpPr>
        <p:spPr>
          <a:xfrm>
            <a:off x="709679" y="3697960"/>
            <a:ext cx="1080753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표준</a:t>
            </a:r>
          </a:p>
        </p:txBody>
      </p:sp>
      <p:sp>
        <p:nvSpPr>
          <p:cNvPr id="262" name="직사각형 261"/>
          <p:cNvSpPr/>
          <p:nvPr/>
        </p:nvSpPr>
        <p:spPr>
          <a:xfrm>
            <a:off x="709679" y="4211619"/>
            <a:ext cx="1080753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</a:t>
            </a:r>
          </a:p>
        </p:txBody>
      </p:sp>
      <p:sp>
        <p:nvSpPr>
          <p:cNvPr id="263" name="직사각형 262"/>
          <p:cNvSpPr/>
          <p:nvPr/>
        </p:nvSpPr>
        <p:spPr>
          <a:xfrm>
            <a:off x="3040559" y="2935209"/>
            <a:ext cx="369581" cy="274246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b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공유</a:t>
            </a:r>
            <a:b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</a:p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공개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/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</a:p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개방</a:t>
            </a:r>
          </a:p>
        </p:txBody>
      </p:sp>
      <p:grpSp>
        <p:nvGrpSpPr>
          <p:cNvPr id="6" name="그룹 263"/>
          <p:cNvGrpSpPr/>
          <p:nvPr/>
        </p:nvGrpSpPr>
        <p:grpSpPr>
          <a:xfrm>
            <a:off x="1423220" y="3828289"/>
            <a:ext cx="744287" cy="769701"/>
            <a:chOff x="-1683537" y="3004277"/>
            <a:chExt cx="892622" cy="892622"/>
          </a:xfrm>
        </p:grpSpPr>
        <p:sp>
          <p:nvSpPr>
            <p:cNvPr id="265" name="모서리가 둥근 직사각형 264"/>
            <p:cNvSpPr/>
            <p:nvPr/>
          </p:nvSpPr>
          <p:spPr>
            <a:xfrm>
              <a:off x="-1683537" y="3004277"/>
              <a:ext cx="892622" cy="892622"/>
            </a:xfrm>
            <a:prstGeom prst="roundRect">
              <a:avLst>
                <a:gd name="adj" fmla="val 21178"/>
              </a:avLst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분류체계</a:t>
              </a:r>
            </a:p>
          </p:txBody>
        </p:sp>
        <p:sp>
          <p:nvSpPr>
            <p:cNvPr id="266" name="타원 265"/>
            <p:cNvSpPr/>
            <p:nvPr/>
          </p:nvSpPr>
          <p:spPr>
            <a:xfrm>
              <a:off x="-1430730" y="3269397"/>
              <a:ext cx="368495" cy="351337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none" lIns="0" tIns="0" rIns="0" bIns="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DATA</a:t>
              </a:r>
              <a:endParaRPr lang="ko-KR" altLang="en-US" sz="7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67" name="Rectangle 67"/>
          <p:cNvSpPr>
            <a:spLocks noChangeArrowheads="1"/>
          </p:cNvSpPr>
          <p:nvPr/>
        </p:nvSpPr>
        <p:spPr bwMode="auto">
          <a:xfrm>
            <a:off x="4334055" y="2825358"/>
            <a:ext cx="1671710" cy="312369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rgbClr val="C00000"/>
            </a:solidFill>
          </a:ln>
          <a:ex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268" name="Rectangle 69"/>
          <p:cNvSpPr>
            <a:spLocks noChangeArrowheads="1"/>
          </p:cNvSpPr>
          <p:nvPr/>
        </p:nvSpPr>
        <p:spPr bwMode="auto">
          <a:xfrm>
            <a:off x="3754100" y="3663534"/>
            <a:ext cx="525000" cy="632601"/>
          </a:xfrm>
          <a:prstGeom prst="rect">
            <a:avLst/>
          </a:prstGeom>
          <a:solidFill>
            <a:schemeClr val="accent3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lIns="36000" tIns="144000" rIns="36000" bIns="46393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표준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sp>
        <p:nvSpPr>
          <p:cNvPr id="269" name="Rectangle 70"/>
          <p:cNvSpPr>
            <a:spLocks noChangeArrowheads="1"/>
          </p:cNvSpPr>
          <p:nvPr/>
        </p:nvSpPr>
        <p:spPr bwMode="auto">
          <a:xfrm>
            <a:off x="4326688" y="3663534"/>
            <a:ext cx="525000" cy="632601"/>
          </a:xfrm>
          <a:prstGeom prst="rect">
            <a:avLst/>
          </a:prstGeom>
          <a:solidFill>
            <a:schemeClr val="accent3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lIns="36000" tIns="144000" rIns="36000" bIns="46393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구조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sp>
        <p:nvSpPr>
          <p:cNvPr id="270" name="Rectangle 71"/>
          <p:cNvSpPr>
            <a:spLocks noChangeArrowheads="1"/>
          </p:cNvSpPr>
          <p:nvPr/>
        </p:nvSpPr>
        <p:spPr bwMode="auto">
          <a:xfrm>
            <a:off x="4900810" y="3663534"/>
            <a:ext cx="523464" cy="632601"/>
          </a:xfrm>
          <a:prstGeom prst="rect">
            <a:avLst/>
          </a:prstGeom>
          <a:solidFill>
            <a:schemeClr val="accent3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lIns="36000" tIns="144000" rIns="36000" bIns="46393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sp>
        <p:nvSpPr>
          <p:cNvPr id="271" name="Rectangle 72"/>
          <p:cNvSpPr>
            <a:spLocks noChangeArrowheads="1"/>
          </p:cNvSpPr>
          <p:nvPr/>
        </p:nvSpPr>
        <p:spPr bwMode="auto">
          <a:xfrm>
            <a:off x="5473397" y="3663534"/>
            <a:ext cx="525000" cy="632601"/>
          </a:xfrm>
          <a:prstGeom prst="rect">
            <a:avLst/>
          </a:prstGeom>
          <a:solidFill>
            <a:schemeClr val="accent3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lIns="36000" tIns="144000" rIns="36000" bIns="46393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교환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cxnSp>
        <p:nvCxnSpPr>
          <p:cNvPr id="272" name="AutoShape 73"/>
          <p:cNvCxnSpPr>
            <a:cxnSpLocks noChangeShapeType="1"/>
            <a:stCxn id="267" idx="2"/>
            <a:endCxn id="268" idx="0"/>
          </p:cNvCxnSpPr>
          <p:nvPr/>
        </p:nvCxnSpPr>
        <p:spPr bwMode="auto">
          <a:xfrm rot="5400000">
            <a:off x="4330352" y="2823975"/>
            <a:ext cx="525807" cy="115331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3" name="AutoShape 74"/>
          <p:cNvCxnSpPr>
            <a:cxnSpLocks noChangeShapeType="1"/>
            <a:stCxn id="267" idx="2"/>
            <a:endCxn id="269" idx="0"/>
          </p:cNvCxnSpPr>
          <p:nvPr/>
        </p:nvCxnSpPr>
        <p:spPr bwMode="auto">
          <a:xfrm rot="5400000">
            <a:off x="4616646" y="3110269"/>
            <a:ext cx="525807" cy="58072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4" name="AutoShape 75"/>
          <p:cNvCxnSpPr>
            <a:cxnSpLocks noChangeShapeType="1"/>
            <a:stCxn id="267" idx="2"/>
            <a:endCxn id="270" idx="0"/>
          </p:cNvCxnSpPr>
          <p:nvPr/>
        </p:nvCxnSpPr>
        <p:spPr bwMode="auto">
          <a:xfrm flipH="1">
            <a:off x="5162542" y="3137727"/>
            <a:ext cx="7367" cy="525807"/>
          </a:xfrm>
          <a:prstGeom prst="straightConnector1">
            <a:avLst/>
          </a:prstGeom>
          <a:noFill/>
          <a:ln w="9525">
            <a:solidFill>
              <a:srgbClr val="808080"/>
            </a:solidFill>
            <a:round/>
            <a:headE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5" name="AutoShape 76"/>
          <p:cNvCxnSpPr>
            <a:cxnSpLocks noChangeShapeType="1"/>
            <a:stCxn id="267" idx="2"/>
            <a:endCxn id="271" idx="0"/>
          </p:cNvCxnSpPr>
          <p:nvPr/>
        </p:nvCxnSpPr>
        <p:spPr bwMode="auto">
          <a:xfrm rot="16200000" flipH="1">
            <a:off x="5190000" y="3117636"/>
            <a:ext cx="525807" cy="5659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76" name="Rectangle 77"/>
          <p:cNvSpPr>
            <a:spLocks noChangeArrowheads="1"/>
          </p:cNvSpPr>
          <p:nvPr/>
        </p:nvSpPr>
        <p:spPr bwMode="auto">
          <a:xfrm>
            <a:off x="3754100" y="4668477"/>
            <a:ext cx="2818419" cy="288244"/>
          </a:xfrm>
          <a:prstGeom prst="rect">
            <a:avLst/>
          </a:prstGeom>
          <a:solidFill>
            <a:srgbClr val="FFC000"/>
          </a:solidFill>
          <a:ln w="3175" algn="ctr">
            <a:solidFill>
              <a:srgbClr val="C00000"/>
            </a:solidFill>
            <a:miter lim="800000"/>
            <a:headEnd/>
            <a:tailEnd/>
          </a:ln>
          <a:effectLst/>
          <a:extLst/>
        </p:spPr>
        <p:txBody>
          <a:bodyPr lIns="91240" tIns="46393" rIns="91240" bIns="46393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90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  <a:r>
              <a: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『</a:t>
            </a:r>
            <a:r>
              <a: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  <a:r>
              <a: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』</a:t>
            </a:r>
            <a:endParaRPr lang="ko-KR" altLang="en-US" sz="10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7" name="Rectangle 79"/>
          <p:cNvSpPr>
            <a:spLocks noChangeArrowheads="1"/>
          </p:cNvSpPr>
          <p:nvPr/>
        </p:nvSpPr>
        <p:spPr bwMode="auto">
          <a:xfrm>
            <a:off x="3754100" y="4969118"/>
            <a:ext cx="2818419" cy="1296000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80000" bIns="18000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85725" indent="-85725" algn="l" latinLnBrk="0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ko-KR" altLang="en-US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 </a:t>
            </a:r>
            <a:r>
              <a:rPr lang="ko-KR" altLang="en-US" sz="900" b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방침은 </a:t>
            </a:r>
            <a:r>
              <a:rPr lang="ko-KR" altLang="en-US" sz="900" b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코레일테크의 </a:t>
            </a:r>
            <a:r>
              <a:rPr lang="ko-KR" altLang="en-US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사업 목표 달성을 위해 필요한 정보시스템의 데이터 품질 수준과 품질 정책을 포괄하는 최상위 규정임</a:t>
            </a:r>
            <a:endParaRPr lang="en-US" altLang="ko-KR" sz="9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5725" indent="-85725" algn="l" latinLnBrk="0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ko-KR" altLang="en-US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 방침에 부합하는 데이터 품질관리 체계가 구축되어야 함</a:t>
            </a:r>
            <a:endParaRPr lang="en-US" altLang="ko-KR" sz="9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5725" indent="-85725" algn="l" latinLnBrk="0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ko-KR" altLang="en-US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품질관리 활동은 데이터 품질 방침에 맞게 계획되고 실행되어야 함</a:t>
            </a:r>
          </a:p>
        </p:txBody>
      </p:sp>
      <p:sp>
        <p:nvSpPr>
          <p:cNvPr id="278" name="Rectangle 81"/>
          <p:cNvSpPr>
            <a:spLocks noChangeArrowheads="1"/>
          </p:cNvSpPr>
          <p:nvPr/>
        </p:nvSpPr>
        <p:spPr bwMode="auto">
          <a:xfrm>
            <a:off x="3700372" y="3574695"/>
            <a:ext cx="2924339" cy="816506"/>
          </a:xfrm>
          <a:prstGeom prst="rect">
            <a:avLst/>
          </a:prstGeom>
          <a:noFill/>
          <a:ln w="9525" algn="ctr">
            <a:solidFill>
              <a:srgbClr val="80808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endParaRPr lang="ko-KR" altLang="en-US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9" name="Rectangle 103"/>
          <p:cNvSpPr>
            <a:spLocks noChangeArrowheads="1"/>
          </p:cNvSpPr>
          <p:nvPr/>
        </p:nvSpPr>
        <p:spPr bwMode="auto">
          <a:xfrm>
            <a:off x="6044449" y="3663534"/>
            <a:ext cx="525000" cy="632601"/>
          </a:xfrm>
          <a:prstGeom prst="rect">
            <a:avLst/>
          </a:prstGeom>
          <a:solidFill>
            <a:schemeClr val="accent3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lIns="36000" tIns="144000" rIns="36000" bIns="46393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보안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cxnSp>
        <p:nvCxnSpPr>
          <p:cNvPr id="280" name="AutoShape 104"/>
          <p:cNvCxnSpPr>
            <a:cxnSpLocks noChangeShapeType="1"/>
            <a:stCxn id="267" idx="2"/>
            <a:endCxn id="279" idx="0"/>
          </p:cNvCxnSpPr>
          <p:nvPr/>
        </p:nvCxnSpPr>
        <p:spPr bwMode="auto">
          <a:xfrm rot="16200000" flipH="1">
            <a:off x="5475526" y="2832110"/>
            <a:ext cx="525807" cy="113703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triangle" w="lg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1" name="AutoShape 88"/>
          <p:cNvSpPr>
            <a:spLocks noChangeAspect="1" noChangeArrowheads="1"/>
          </p:cNvSpPr>
          <p:nvPr/>
        </p:nvSpPr>
        <p:spPr bwMode="auto">
          <a:xfrm rot="5400000">
            <a:off x="5069962" y="3733495"/>
            <a:ext cx="203925" cy="1618949"/>
          </a:xfrm>
          <a:prstGeom prst="rightArrow">
            <a:avLst>
              <a:gd name="adj1" fmla="val 59861"/>
              <a:gd name="adj2" fmla="val 72376"/>
            </a:avLst>
          </a:prstGeom>
          <a:solidFill>
            <a:srgbClr val="8EB4DA">
              <a:alpha val="7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vert270"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r>
              <a:rPr lang="en-US" altLang="ko-KR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9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개 품질방침 준수</a:t>
            </a:r>
          </a:p>
        </p:txBody>
      </p:sp>
      <p:sp>
        <p:nvSpPr>
          <p:cNvPr id="282" name="직사각형 281"/>
          <p:cNvSpPr/>
          <p:nvPr/>
        </p:nvSpPr>
        <p:spPr bwMode="auto">
          <a:xfrm>
            <a:off x="3651261" y="2024844"/>
            <a:ext cx="5838814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분야별 데이터 품질 방침 수립의 방향성 정의</a:t>
            </a:r>
          </a:p>
        </p:txBody>
      </p:sp>
      <p:sp>
        <p:nvSpPr>
          <p:cNvPr id="283" name="Rectangle 67"/>
          <p:cNvSpPr>
            <a:spLocks noChangeArrowheads="1"/>
          </p:cNvSpPr>
          <p:nvPr/>
        </p:nvSpPr>
        <p:spPr bwMode="auto">
          <a:xfrm>
            <a:off x="4334055" y="2388392"/>
            <a:ext cx="1671710" cy="312369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lIns="91240" tIns="46393" rIns="91240" bIns="46393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품질 목표</a:t>
            </a:r>
          </a:p>
        </p:txBody>
      </p:sp>
      <p:cxnSp>
        <p:nvCxnSpPr>
          <p:cNvPr id="284" name="직선 연결선 283"/>
          <p:cNvCxnSpPr>
            <a:stCxn id="283" idx="2"/>
            <a:endCxn id="267" idx="0"/>
          </p:cNvCxnSpPr>
          <p:nvPr/>
        </p:nvCxnSpPr>
        <p:spPr bwMode="auto">
          <a:xfrm>
            <a:off x="5169910" y="2700761"/>
            <a:ext cx="0" cy="124597"/>
          </a:xfrm>
          <a:prstGeom prst="line">
            <a:avLst/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5" name="AutoShape 68"/>
          <p:cNvCxnSpPr>
            <a:cxnSpLocks noChangeShapeType="1"/>
            <a:stCxn id="253" idx="3"/>
            <a:endCxn id="267" idx="1"/>
          </p:cNvCxnSpPr>
          <p:nvPr/>
        </p:nvCxnSpPr>
        <p:spPr bwMode="auto">
          <a:xfrm flipV="1">
            <a:off x="3006972" y="2981543"/>
            <a:ext cx="1327083" cy="105742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C00000"/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7" name="그룹 285"/>
          <p:cNvGrpSpPr/>
          <p:nvPr/>
        </p:nvGrpSpPr>
        <p:grpSpPr>
          <a:xfrm>
            <a:off x="7064000" y="3188604"/>
            <a:ext cx="2426075" cy="595041"/>
            <a:chOff x="7149244" y="3118045"/>
            <a:chExt cx="2508910" cy="595041"/>
          </a:xfrm>
        </p:grpSpPr>
        <p:sp>
          <p:nvSpPr>
            <p:cNvPr id="287" name="AutoShape 6"/>
            <p:cNvSpPr>
              <a:spLocks noChangeArrowheads="1"/>
            </p:cNvSpPr>
            <p:nvPr/>
          </p:nvSpPr>
          <p:spPr bwMode="auto">
            <a:xfrm>
              <a:off x="7248878" y="3118045"/>
              <a:ext cx="2409276" cy="595041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구조의 생성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관리를 위한 방침</a:t>
              </a:r>
            </a:p>
          </p:txBody>
        </p:sp>
        <p:sp>
          <p:nvSpPr>
            <p:cNvPr id="288" name="타원 287"/>
            <p:cNvSpPr/>
            <p:nvPr/>
          </p:nvSpPr>
          <p:spPr bwMode="auto">
            <a:xfrm>
              <a:off x="7149244" y="3315152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endParaRPr lang="ko-KR" altLang="en-US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" name="그룹 288"/>
          <p:cNvGrpSpPr/>
          <p:nvPr/>
        </p:nvGrpSpPr>
        <p:grpSpPr>
          <a:xfrm>
            <a:off x="7064000" y="3988816"/>
            <a:ext cx="2426075" cy="595041"/>
            <a:chOff x="7149244" y="3949536"/>
            <a:chExt cx="2508910" cy="595041"/>
          </a:xfrm>
        </p:grpSpPr>
        <p:sp>
          <p:nvSpPr>
            <p:cNvPr id="290" name="AutoShape 6"/>
            <p:cNvSpPr>
              <a:spLocks noChangeArrowheads="1"/>
            </p:cNvSpPr>
            <p:nvPr/>
          </p:nvSpPr>
          <p:spPr bwMode="auto">
            <a:xfrm>
              <a:off x="7248878" y="3949536"/>
              <a:ext cx="2409276" cy="595041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 속성 별 품질 향상을 위한 방침</a:t>
              </a:r>
            </a:p>
          </p:txBody>
        </p:sp>
        <p:sp>
          <p:nvSpPr>
            <p:cNvPr id="291" name="타원 290"/>
            <p:cNvSpPr/>
            <p:nvPr/>
          </p:nvSpPr>
          <p:spPr bwMode="auto">
            <a:xfrm>
              <a:off x="7149244" y="4140389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3</a:t>
              </a:r>
              <a:endParaRPr lang="ko-KR" altLang="en-US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9" name="그룹 291"/>
          <p:cNvGrpSpPr/>
          <p:nvPr/>
        </p:nvGrpSpPr>
        <p:grpSpPr>
          <a:xfrm>
            <a:off x="7064000" y="4789028"/>
            <a:ext cx="2426075" cy="595041"/>
            <a:chOff x="7149244" y="4781027"/>
            <a:chExt cx="2508910" cy="595041"/>
          </a:xfrm>
        </p:grpSpPr>
        <p:sp>
          <p:nvSpPr>
            <p:cNvPr id="293" name="AutoShape 6"/>
            <p:cNvSpPr>
              <a:spLocks noChangeArrowheads="1"/>
            </p:cNvSpPr>
            <p:nvPr/>
          </p:nvSpPr>
          <p:spPr bwMode="auto">
            <a:xfrm>
              <a:off x="7248878" y="4781027"/>
              <a:ext cx="2409276" cy="595041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연계 정보의 표준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b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 관리를 위한 방침</a:t>
              </a:r>
            </a:p>
          </p:txBody>
        </p:sp>
        <p:sp>
          <p:nvSpPr>
            <p:cNvPr id="294" name="타원 293"/>
            <p:cNvSpPr/>
            <p:nvPr/>
          </p:nvSpPr>
          <p:spPr bwMode="auto">
            <a:xfrm>
              <a:off x="7149244" y="4965626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4</a:t>
              </a:r>
              <a:endParaRPr lang="ko-KR" altLang="en-US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0" name="그룹 294"/>
          <p:cNvGrpSpPr/>
          <p:nvPr/>
        </p:nvGrpSpPr>
        <p:grpSpPr>
          <a:xfrm>
            <a:off x="7064000" y="5589240"/>
            <a:ext cx="2426075" cy="595041"/>
            <a:chOff x="7149244" y="5612519"/>
            <a:chExt cx="2508910" cy="595041"/>
          </a:xfrm>
        </p:grpSpPr>
        <p:sp>
          <p:nvSpPr>
            <p:cNvPr id="296" name="AutoShape 6"/>
            <p:cNvSpPr>
              <a:spLocks noChangeArrowheads="1"/>
            </p:cNvSpPr>
            <p:nvPr/>
          </p:nvSpPr>
          <p:spPr bwMode="auto">
            <a:xfrm>
              <a:off x="7248878" y="5612519"/>
              <a:ext cx="2409276" cy="595041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보안관리 활동을 위한 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방침</a:t>
              </a:r>
            </a:p>
          </p:txBody>
        </p:sp>
        <p:sp>
          <p:nvSpPr>
            <p:cNvPr id="297" name="타원 296"/>
            <p:cNvSpPr/>
            <p:nvPr/>
          </p:nvSpPr>
          <p:spPr bwMode="auto">
            <a:xfrm>
              <a:off x="7149244" y="5790862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5</a:t>
              </a:r>
              <a:endParaRPr lang="ko-KR" altLang="en-US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1" name="그룹 297"/>
          <p:cNvGrpSpPr/>
          <p:nvPr/>
        </p:nvGrpSpPr>
        <p:grpSpPr>
          <a:xfrm>
            <a:off x="7064000" y="2388392"/>
            <a:ext cx="2426075" cy="595041"/>
            <a:chOff x="7149244" y="2286554"/>
            <a:chExt cx="2508910" cy="595041"/>
          </a:xfrm>
        </p:grpSpPr>
        <p:sp>
          <p:nvSpPr>
            <p:cNvPr id="299" name="AutoShape 6"/>
            <p:cNvSpPr>
              <a:spLocks noChangeArrowheads="1"/>
            </p:cNvSpPr>
            <p:nvPr/>
          </p:nvSpPr>
          <p:spPr bwMode="auto">
            <a:xfrm>
              <a:off x="7248878" y="2286554"/>
              <a:ext cx="2409276" cy="595041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>
              <a:defPPr>
                <a:defRPr lang="en-US"/>
              </a:defPPr>
              <a:lvl1pPr algn="l" rtl="0" eaLnBrk="0" fontAlgn="base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Char char="•"/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1pPr>
              <a:lvl2pPr marL="457200" algn="l" rtl="0" eaLnBrk="0" fontAlgn="base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Char char="•"/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2pPr>
              <a:lvl3pPr marL="914400" algn="l" rtl="0" eaLnBrk="0" fontAlgn="base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Char char="•"/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3pPr>
              <a:lvl4pPr marL="1371600" algn="l" rtl="0" eaLnBrk="0" fontAlgn="base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Char char="•"/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4pPr>
              <a:lvl5pPr marL="1828800" algn="l" rtl="0" eaLnBrk="0" fontAlgn="base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Char char="•"/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sz="1200" b="1" kern="1200">
                  <a:solidFill>
                    <a:srgbClr val="000000"/>
                  </a:solidFill>
                  <a:latin typeface="Franklin Gothic Medium" pitchFamily="34" charset="0"/>
                  <a:ea typeface="산돌고딕 M" pitchFamily="18" charset="-127"/>
                  <a:cs typeface="+mn-cs"/>
                </a:defRPr>
              </a:lvl9pPr>
            </a:lstStyle>
            <a:p>
              <a:pPr algn="ctr" defTabSz="1025315">
                <a:buFontTx/>
                <a:buNone/>
                <a:defRPr/>
              </a:pPr>
              <a:r>
                <a:rPr kumimoji="1" lang="ko-KR" altLang="en-US" sz="1100" b="0" dirty="0">
                  <a:latin typeface="맑은 고딕" pitchFamily="50" charset="-127"/>
                  <a:ea typeface="맑은 고딕" pitchFamily="50" charset="-127"/>
                </a:rPr>
                <a:t>데이터 표준 수립을 위한 방침</a:t>
              </a:r>
            </a:p>
          </p:txBody>
        </p:sp>
        <p:sp>
          <p:nvSpPr>
            <p:cNvPr id="300" name="타원 299"/>
            <p:cNvSpPr/>
            <p:nvPr/>
          </p:nvSpPr>
          <p:spPr bwMode="auto">
            <a:xfrm>
              <a:off x="7149244" y="2489915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endParaRPr lang="ko-KR" altLang="en-US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1" name="타원 300"/>
          <p:cNvSpPr/>
          <p:nvPr/>
        </p:nvSpPr>
        <p:spPr bwMode="auto">
          <a:xfrm>
            <a:off x="3779586" y="362802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2" name="타원 301"/>
          <p:cNvSpPr/>
          <p:nvPr/>
        </p:nvSpPr>
        <p:spPr bwMode="auto">
          <a:xfrm>
            <a:off x="4362449" y="362802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3" name="타원 302"/>
          <p:cNvSpPr/>
          <p:nvPr/>
        </p:nvSpPr>
        <p:spPr bwMode="auto">
          <a:xfrm>
            <a:off x="4942448" y="362802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4" name="타원 303"/>
          <p:cNvSpPr/>
          <p:nvPr/>
        </p:nvSpPr>
        <p:spPr bwMode="auto">
          <a:xfrm>
            <a:off x="5514367" y="362802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5" name="타원 304"/>
          <p:cNvSpPr/>
          <p:nvPr/>
        </p:nvSpPr>
        <p:spPr bwMode="auto">
          <a:xfrm>
            <a:off x="6076687" y="3628023"/>
            <a:ext cx="180000" cy="180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06" name="AutoShape 68"/>
          <p:cNvCxnSpPr>
            <a:cxnSpLocks noChangeShapeType="1"/>
            <a:stCxn id="255" idx="3"/>
            <a:endCxn id="276" idx="1"/>
          </p:cNvCxnSpPr>
          <p:nvPr/>
        </p:nvCxnSpPr>
        <p:spPr bwMode="auto">
          <a:xfrm flipV="1">
            <a:off x="3006972" y="4812599"/>
            <a:ext cx="747128" cy="366260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bg1">
                <a:lumMod val="50000"/>
              </a:schemeClr>
            </a:solidFill>
            <a:prstDash val="sysDash"/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07" name="AutoShape 12"/>
          <p:cNvSpPr>
            <a:spLocks noChangeArrowheads="1"/>
          </p:cNvSpPr>
          <p:nvPr/>
        </p:nvSpPr>
        <p:spPr bwMode="auto">
          <a:xfrm rot="5400000">
            <a:off x="5044778" y="4125842"/>
            <a:ext cx="3570248" cy="268048"/>
          </a:xfrm>
          <a:prstGeom prst="triangle">
            <a:avLst>
              <a:gd name="adj" fmla="val 50000"/>
            </a:avLst>
          </a:prstGeom>
          <a:gradFill rotWithShape="1">
            <a:gsLst>
              <a:gs pos="0">
                <a:schemeClr val="accent1"/>
              </a:gs>
              <a:gs pos="100000">
                <a:srgbClr val="FFFFFF"/>
              </a:gs>
            </a:gsLst>
            <a:lin ang="5400000" scaled="1"/>
          </a:gradFill>
          <a:ln w="6350" algn="ctr">
            <a:noFill/>
            <a:miter lim="800000"/>
            <a:headEnd/>
            <a:tailEnd type="none" w="sm" len="sm"/>
          </a:ln>
          <a:effectLst/>
        </p:spPr>
        <p:txBody>
          <a:bodyPr wrap="none" lIns="0" tIns="0" rIns="0" bIns="0" anchor="ctr"/>
          <a:lstStyle/>
          <a:p>
            <a:endParaRPr lang="ko-KR" altLang="en-US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465528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표준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표준에 대한 품질 방침은 데이터 표준관리</a:t>
            </a:r>
            <a:r>
              <a:rPr lang="en-US" altLang="ko-KR" dirty="0"/>
              <a:t>, </a:t>
            </a:r>
            <a:r>
              <a:rPr lang="ko-KR" altLang="en-US" dirty="0"/>
              <a:t>관리조직</a:t>
            </a:r>
            <a:r>
              <a:rPr lang="en-US" altLang="ko-KR" dirty="0"/>
              <a:t>, </a:t>
            </a:r>
            <a:r>
              <a:rPr lang="ko-KR" altLang="en-US" dirty="0"/>
              <a:t>프로세스</a:t>
            </a:r>
            <a:r>
              <a:rPr lang="en-US" altLang="ko-KR" dirty="0"/>
              <a:t>, </a:t>
            </a:r>
            <a:r>
              <a:rPr lang="ko-KR" altLang="en-US" dirty="0"/>
              <a:t>관리 및 적용방법</a:t>
            </a:r>
            <a:r>
              <a:rPr lang="en-US" altLang="ko-KR" dirty="0"/>
              <a:t>, </a:t>
            </a:r>
            <a:r>
              <a:rPr lang="ko-KR" altLang="en-US" dirty="0"/>
              <a:t>관리 시스템의 </a:t>
            </a:r>
            <a:r>
              <a:rPr lang="en-US" altLang="ko-KR" dirty="0"/>
              <a:t>5</a:t>
            </a:r>
            <a:r>
              <a:rPr lang="ko-KR" altLang="en-US" dirty="0"/>
              <a:t>개 영역에  대하여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/>
              <a:t>수립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</a:t>
            </a:r>
            <a:r>
              <a:rPr lang="ko-KR" altLang="en-US" sz="1800" spc="-150"/>
              <a:t>방침 </a:t>
            </a:r>
            <a:r>
              <a:rPr lang="ko-KR" altLang="en-US" sz="1800" spc="-150" smtClean="0"/>
              <a:t>수립 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표준 방침과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72" name="Group 350"/>
          <p:cNvGraphicFramePr>
            <a:graphicFrameLocks noGrp="1"/>
          </p:cNvGraphicFramePr>
          <p:nvPr>
            <p:extLst/>
          </p:nvPr>
        </p:nvGraphicFramePr>
        <p:xfrm>
          <a:off x="415925" y="2240869"/>
          <a:ext cx="4321051" cy="4017515"/>
        </p:xfrm>
        <a:graphic>
          <a:graphicData uri="http://schemas.openxmlformats.org/drawingml/2006/table">
            <a:tbl>
              <a:tblPr/>
              <a:tblGrid>
                <a:gridCol w="96928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3517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057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90000" marR="0" marT="72000" marB="7200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방침</a:t>
                      </a:r>
                    </a:p>
                  </a:txBody>
                  <a:tcPr marL="90000" marR="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317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 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표준관리</a:t>
                      </a:r>
                    </a:p>
                  </a:txBody>
                  <a:tcPr marL="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표준관리</a:t>
                      </a:r>
                      <a:r>
                        <a:rPr kumimoji="1" lang="ko-KR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는 데이터의 표준 관련 요소를 정의하고 적용하는 작업을 말하며 명칭, 정의, 도메인, 코드의 표준 관리를 포함한다. 코드의 경우에는 코드 분류 절차 및 코드 값 모두를 대상으로 한다.</a:t>
                      </a: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257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조직</a:t>
                      </a:r>
                    </a:p>
                  </a:txBody>
                  <a:tcPr marL="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</a:t>
                      </a:r>
                      <a:r>
                        <a:rPr kumimoji="1" lang="ko-KR" altLang="en-US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표준관리는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데이터표준관리자가 수행한다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211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</a:p>
                  </a:txBody>
                  <a:tcPr marL="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표준관리는 데이터 표준관리 프로세스를 엄격하게 준수하여 수행한다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035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및 적용 방법</a:t>
                      </a:r>
                    </a:p>
                  </a:txBody>
                  <a:tcPr marL="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 및 데이터 명명은 데이터 표준관리 정책에 </a:t>
                      </a:r>
                      <a:r>
                        <a:rPr kumimoji="1" lang="ko-KR" altLang="en-US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근거하여</a:t>
                      </a:r>
                      <a:r>
                        <a:rPr kumimoji="1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및 협력업체의 개발자 등이 신규 등록 또는 변경을 요청할 수 있다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요소 명명은 데이터 표준관리자의 감독 하에 전사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표준 준수 여부 검토를 받아야 하며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데이터베이스 명명의 경우는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DBA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최종 검토 후 데이터베이스 생성이 진행되어야 한다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 및 명명 규칙 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변경으로 인해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 적용된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/>
                      </a:r>
                      <a:b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</a:b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시스템에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대한 영향이</a:t>
                      </a:r>
                      <a:r>
                        <a:rPr kumimoji="1" lang="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예상되는 경우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 적용 데이터 표준은 유지하는 것을 원칙으로 한다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257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시스템</a:t>
                      </a:r>
                    </a:p>
                  </a:txBody>
                  <a:tcPr marL="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표준데이터의 신규 등록 및 변경은 메타데이터관리시스템을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통해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이루어져야</a:t>
                      </a:r>
                      <a:r>
                        <a:rPr kumimoji="1" lang="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한다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3" name="Group 169"/>
          <p:cNvGraphicFramePr>
            <a:graphicFrameLocks noGrp="1"/>
          </p:cNvGraphicFramePr>
          <p:nvPr>
            <p:extLst/>
          </p:nvPr>
        </p:nvGraphicFramePr>
        <p:xfrm>
          <a:off x="4875317" y="2241163"/>
          <a:ext cx="4606896" cy="4014183"/>
        </p:xfrm>
        <a:graphic>
          <a:graphicData uri="http://schemas.openxmlformats.org/drawingml/2006/table">
            <a:tbl>
              <a:tblPr/>
              <a:tblGrid>
                <a:gridCol w="90505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90082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80102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90000" marR="90000"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대상 항목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설명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1378">
                <a:tc rowSpan="8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규칙</a:t>
                      </a: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도메인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도메인은 데이터 성격을 분류한 것으로 속성이 가질 수 있는 데이터 타입과 길이를 제한하는 값의 집합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8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단어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단어란 속성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필드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컬럼의 한글명 및 영문명을 이루는 원소를 의미함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13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용어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용어는 엔티티를 구성하는 속성을 의미하며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용어 명을 구성하는 단어들은 표준단어사전에 등록되어 있어야 함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타입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용어 표준에 따른 데이터 타입의 표준을 정의함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코드명과 코드 값의 표준을 의미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68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금칙어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 단어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용어 </a:t>
                      </a:r>
                      <a:r>
                        <a:rPr kumimoji="1" lang="ko-KR" altLang="en-US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이외에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코레일테크에서 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사용하지 않기로 약속한 단어 혹은 용어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6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논리테이블 명명 규칙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테이블의 논리명 부여 규칙을 정의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86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물리테이블 명명 규칙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테이블의 물리명 부여 규칙을 정의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8623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운영 절차</a:t>
                      </a: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신청 절차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표준을 신청하는 절차를 정의함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92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검증 절차</a:t>
                      </a:r>
                    </a:p>
                  </a:txBody>
                  <a:tcPr marL="90000" marR="90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표준 적용 후 실제 </a:t>
                      </a:r>
                      <a:r>
                        <a:rPr kumimoji="1" lang="en-US" altLang="ko-KR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DB, ERD</a:t>
                      </a:r>
                      <a:r>
                        <a:rPr kumimoji="1" lang="ko-KR" altLang="en-US" sz="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표준 준수여부 검증절차 정의</a:t>
                      </a: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74" name="TextBox 73"/>
          <p:cNvSpPr txBox="1"/>
          <p:nvPr/>
        </p:nvSpPr>
        <p:spPr>
          <a:xfrm>
            <a:off x="415925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4875317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지침 수립 대상 항목 정의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0427044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구조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모델링 시 물리모델을 작성하기 위한 범위와 지침을 수립하고</a:t>
            </a:r>
            <a:r>
              <a:rPr lang="en-US" altLang="ko-KR" dirty="0"/>
              <a:t>, </a:t>
            </a:r>
            <a:r>
              <a:rPr lang="ko-KR" altLang="en-US" dirty="0"/>
              <a:t>논리모델을 작성하기 위한 범위와 지침을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/>
              <a:t>수립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</a:t>
            </a:r>
            <a:r>
              <a:rPr lang="ko-KR" altLang="en-US" sz="1800" spc="-150"/>
              <a:t>방침 </a:t>
            </a:r>
            <a:r>
              <a:rPr lang="ko-KR" altLang="en-US" sz="1800" spc="-150" smtClean="0"/>
              <a:t>수립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구조 방침과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21" name="Group 169"/>
          <p:cNvGraphicFramePr>
            <a:graphicFrameLocks noGrp="1"/>
          </p:cNvGraphicFramePr>
          <p:nvPr>
            <p:extLst/>
          </p:nvPr>
        </p:nvGraphicFramePr>
        <p:xfrm>
          <a:off x="5061012" y="2240869"/>
          <a:ext cx="4428492" cy="4034979"/>
        </p:xfrm>
        <a:graphic>
          <a:graphicData uri="http://schemas.openxmlformats.org/drawingml/2006/table">
            <a:tbl>
              <a:tblPr/>
              <a:tblGrid>
                <a:gridCol w="87503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751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684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36145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001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대상 항목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4334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논리모델 범위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 데이터 모델이란 개념 데이터 모델을 상세화 하여 논리적인 데이터 집합, 관리항목, 관계를 정의한 모델이다.</a:t>
                      </a: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22323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 지침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필요 데이터 포함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 엔티티는 해당 주제영역의 도출성 데이터를 포함한 데이터를 모두 포괄해야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1586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논리모델 일관성 유지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논리모델은 비즈니스 요구사항을 고려하여 중복 및 도출 속성을 정의 할 수 있고 생성된 중복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도출 속성의 논리모델 필요 여부를 반드시 확인하여 논리모델 변경을 관리한다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논리모델의 엔티티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속성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코드 등은 표준을 준수하고 데이터 일관성을 유지할 수 있도록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496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물리모델 고려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 엔티티와 물리모델 테이블의 관계는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1:1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을 원칙으로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원칙적으로는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 비종속적이나 물리 모델의 현실적인 내용을 감안하여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특성에 따른 비정규화를 고려하여 설계한다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223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산출물 관리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논리모델의 설계는 주제영역 정의서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논리모델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ERD,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엔티티 정의서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엔티티속성정의서를 반드시 작성한다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5061012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182563" indent="-182563" eaLnBrk="1" fontAlgn="auto" hangingPunct="1">
              <a:lnSpc>
                <a:spcPts val="1700"/>
              </a:lnSpc>
              <a:spcBef>
                <a:spcPts val="600"/>
              </a:spcBef>
              <a:spcAft>
                <a:spcPts val="0"/>
              </a:spcAft>
              <a:buClr>
                <a:sysClr val="windowText" lastClr="000000"/>
              </a:buClr>
              <a:buFont typeface="Wingdings" pitchFamily="2" charset="2"/>
              <a:buChar char="q"/>
              <a:defRPr kern="0">
                <a:solidFill>
                  <a:sysClr val="windowText" lastClr="0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>
              <a:defRPr/>
            </a:pPr>
            <a:r>
              <a:rPr lang="ko-KR" altLang="en-US" sz="1200" b="1" dirty="0">
                <a:latin typeface="맑은 고딕" pitchFamily="50" charset="-127"/>
                <a:ea typeface="맑은 고딕" pitchFamily="50" charset="-127"/>
              </a:rPr>
              <a:t>논리모델</a:t>
            </a:r>
            <a:endParaRPr lang="en-US" altLang="ko-KR" sz="1200" b="1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3" name="Group 169"/>
          <p:cNvGraphicFramePr>
            <a:graphicFrameLocks noGrp="1"/>
          </p:cNvGraphicFramePr>
          <p:nvPr>
            <p:extLst/>
          </p:nvPr>
        </p:nvGraphicFramePr>
        <p:xfrm>
          <a:off x="415925" y="2240869"/>
          <a:ext cx="4537075" cy="3999662"/>
        </p:xfrm>
        <a:graphic>
          <a:graphicData uri="http://schemas.openxmlformats.org/drawingml/2006/table">
            <a:tbl>
              <a:tblPr/>
              <a:tblGrid>
                <a:gridCol w="92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0265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758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3246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05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대상 항목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67359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물리모델 범위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물리모델은 논리모델과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1:1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관계를 범위로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45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3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물리모델은 논리모델을 기준으로 설계하며 최적의 성능에 따른 컬럼을 추가할 수 있고 추가된 컬럼에 대한 속성을 논리모델에 추가해야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032889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 지침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특성 반영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 및 컬럼의 생성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변경은 물리모델을 기준으로 생성하기 때문에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특성을 반영하여 컬럼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인덱스 요건을 반영하고 테이블명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컬럼의 데이터 타입 및 길이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주요키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외부키 등을 구체적으로 표현한다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물리모델의 컬럼은 반드시 목표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사용 가능한 데이터타입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데이터길이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제약속성 등을 정의하여야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물리모델은 트랜잭션 분석을 통하여 타당성 있는 용량 산정을 수행한다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물리모델의 기타 상세한 기본 지침은 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DBMS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 따라 확장하여 효율성을 보장할 수 있도록 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454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산출물 관리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물리모델의 설계는 물리모델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ERD,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 정의서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테이블컬럼 정의서를 반드시 작성한다</a:t>
                      </a: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415925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182563" indent="-182563" eaLnBrk="1" fontAlgn="auto" hangingPunct="1">
              <a:lnSpc>
                <a:spcPts val="1700"/>
              </a:lnSpc>
              <a:spcBef>
                <a:spcPts val="600"/>
              </a:spcBef>
              <a:spcAft>
                <a:spcPts val="0"/>
              </a:spcAft>
              <a:buClr>
                <a:sysClr val="windowText" lastClr="000000"/>
              </a:buClr>
              <a:buFont typeface="Wingdings" pitchFamily="2" charset="2"/>
              <a:buChar char="q"/>
              <a:defRPr kern="0">
                <a:solidFill>
                  <a:sysClr val="windowText" lastClr="00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>
              <a:defRPr/>
            </a:pPr>
            <a:r>
              <a:rPr lang="ko-KR" altLang="en-US" sz="1200" b="1" dirty="0">
                <a:latin typeface="맑은 고딕" pitchFamily="50" charset="-127"/>
                <a:ea typeface="맑은 고딕" pitchFamily="50" charset="-127"/>
              </a:rPr>
              <a:t>물리모델</a:t>
            </a:r>
            <a:endParaRPr lang="en-US" altLang="ko-KR" sz="1200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0664638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품질관리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z="1400" dirty="0"/>
              <a:t>조직의 역할과 책임에 대한 명확화</a:t>
            </a:r>
            <a:r>
              <a:rPr lang="en-US" altLang="ko-KR" sz="1400" dirty="0"/>
              <a:t>, </a:t>
            </a:r>
            <a:r>
              <a:rPr lang="ko-KR" altLang="en-US" sz="1400" dirty="0"/>
              <a:t>프로세스의 체계화</a:t>
            </a:r>
            <a:r>
              <a:rPr lang="en-US" altLang="ko-KR" sz="1400" dirty="0"/>
              <a:t>, </a:t>
            </a:r>
            <a:r>
              <a:rPr lang="ko-KR" altLang="en-US" sz="1400" dirty="0"/>
              <a:t>활동의  지속화</a:t>
            </a:r>
            <a:r>
              <a:rPr lang="en-US" altLang="ko-KR" sz="1400" dirty="0"/>
              <a:t>, </a:t>
            </a:r>
            <a:r>
              <a:rPr lang="ko-KR" altLang="en-US" sz="1400" dirty="0"/>
              <a:t>품질 점수의 계량화 등 </a:t>
            </a:r>
            <a:r>
              <a:rPr lang="en-US" altLang="ko-KR" sz="1400" dirty="0"/>
              <a:t>4</a:t>
            </a:r>
            <a:r>
              <a:rPr lang="ko-KR" altLang="en-US" sz="1400" dirty="0"/>
              <a:t>가지 원칙에 입각하여 조직의 역할과 책임정의</a:t>
            </a:r>
            <a:r>
              <a:rPr lang="en-US" altLang="ko-KR" sz="1400" dirty="0"/>
              <a:t>, </a:t>
            </a:r>
            <a:r>
              <a:rPr lang="ko-KR" altLang="en-US" sz="1400" dirty="0"/>
              <a:t>프로세스 정의</a:t>
            </a:r>
            <a:r>
              <a:rPr lang="en-US" altLang="ko-KR" sz="1400" dirty="0"/>
              <a:t>, </a:t>
            </a:r>
            <a:r>
              <a:rPr lang="ko-KR" altLang="en-US" sz="1400" dirty="0"/>
              <a:t>시스템 설계 및 운영하며</a:t>
            </a:r>
            <a:r>
              <a:rPr lang="en-US" altLang="ko-KR" sz="1400" dirty="0"/>
              <a:t>, </a:t>
            </a:r>
            <a:r>
              <a:rPr lang="ko-KR" altLang="en-US" sz="1400" dirty="0"/>
              <a:t>데이터 품질관리 프로세스는 기본적으로 조직의 책임과 역할</a:t>
            </a:r>
            <a:r>
              <a:rPr lang="en-US" altLang="ko-KR" sz="1400" dirty="0"/>
              <a:t>, </a:t>
            </a:r>
            <a:r>
              <a:rPr lang="ko-KR" altLang="en-US" sz="1400" dirty="0"/>
              <a:t>데이터 품질 지표</a:t>
            </a:r>
            <a:r>
              <a:rPr lang="en-US" altLang="ko-KR" sz="1400" dirty="0"/>
              <a:t>, </a:t>
            </a:r>
            <a:r>
              <a:rPr lang="ko-KR" altLang="en-US" sz="1400" dirty="0"/>
              <a:t>데이터 품질 핵심 정보</a:t>
            </a:r>
            <a:r>
              <a:rPr lang="en-US" altLang="ko-KR" sz="1400" dirty="0"/>
              <a:t>, </a:t>
            </a:r>
            <a:r>
              <a:rPr lang="ko-KR" altLang="en-US" sz="1400" dirty="0"/>
              <a:t>비즈니스 규칙을 정의하고 있어야 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/>
              <a:t>수립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방침 </a:t>
            </a:r>
            <a:r>
              <a:rPr lang="ko-KR" altLang="en-US" sz="1800" spc="-150"/>
              <a:t>수립 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품질관리 방침과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6" name="그룹 2"/>
          <p:cNvGrpSpPr/>
          <p:nvPr/>
        </p:nvGrpSpPr>
        <p:grpSpPr>
          <a:xfrm>
            <a:off x="416496" y="2014379"/>
            <a:ext cx="4505896" cy="4212000"/>
            <a:chOff x="339686" y="2014379"/>
            <a:chExt cx="4613314" cy="4292529"/>
          </a:xfrm>
        </p:grpSpPr>
        <p:sp>
          <p:nvSpPr>
            <p:cNvPr id="17" name="Text Box 46"/>
            <p:cNvSpPr txBox="1">
              <a:spLocks noChangeArrowheads="1"/>
            </p:cNvSpPr>
            <p:nvPr/>
          </p:nvSpPr>
          <p:spPr bwMode="auto">
            <a:xfrm>
              <a:off x="1205183" y="2014379"/>
              <a:ext cx="1090541" cy="306989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defPPr>
                <a:defRPr lang="en-US"/>
              </a:defPPr>
              <a:lvl1pPr algn="ctr">
                <a:buFontTx/>
                <a:buNone/>
                <a:defRPr sz="1000">
                  <a:solidFill>
                    <a:srgbClr val="000000">
                      <a:lumMod val="95000"/>
                      <a:lumOff val="5000"/>
                    </a:srgb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</a:lstStyle>
            <a:p>
              <a:r>
                <a:rPr lang="ko-KR" altLang="en-US" dirty="0">
                  <a:latin typeface="맑은 고딕" pitchFamily="50" charset="-127"/>
                  <a:ea typeface="맑은 고딕" pitchFamily="50" charset="-127"/>
                </a:rPr>
                <a:t>설 명</a:t>
              </a:r>
            </a:p>
          </p:txBody>
        </p:sp>
        <p:sp>
          <p:nvSpPr>
            <p:cNvPr id="18" name="Text Box 51"/>
            <p:cNvSpPr txBox="1">
              <a:spLocks noChangeArrowheads="1"/>
            </p:cNvSpPr>
            <p:nvPr/>
          </p:nvSpPr>
          <p:spPr bwMode="auto">
            <a:xfrm>
              <a:off x="2453372" y="2014379"/>
              <a:ext cx="2499627" cy="306989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defPPr>
                <a:defRPr lang="en-US"/>
              </a:defPPr>
              <a:lvl1pPr algn="ctr">
                <a:buFontTx/>
                <a:buNone/>
                <a:defRPr sz="1000">
                  <a:solidFill>
                    <a:srgbClr val="000000">
                      <a:lumMod val="95000"/>
                      <a:lumOff val="5000"/>
                    </a:srgb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</a:lstStyle>
            <a:p>
              <a:r>
                <a:rPr lang="ko-KR" altLang="en-US" dirty="0">
                  <a:latin typeface="맑은 고딕" pitchFamily="50" charset="-127"/>
                  <a:ea typeface="맑은 고딕" pitchFamily="50" charset="-127"/>
                </a:rPr>
                <a:t>관리 방침</a:t>
              </a:r>
            </a:p>
          </p:txBody>
        </p:sp>
        <p:sp>
          <p:nvSpPr>
            <p:cNvPr id="19" name="Text Box 52"/>
            <p:cNvSpPr txBox="1">
              <a:spLocks noChangeArrowheads="1"/>
            </p:cNvSpPr>
            <p:nvPr/>
          </p:nvSpPr>
          <p:spPr bwMode="auto">
            <a:xfrm>
              <a:off x="339686" y="2014379"/>
              <a:ext cx="755270" cy="306989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defPPr>
                <a:defRPr lang="en-US"/>
              </a:defPPr>
              <a:lvl1pPr algn="ctr">
                <a:buFontTx/>
                <a:buNone/>
                <a:defRPr sz="1000">
                  <a:solidFill>
                    <a:srgbClr val="000000">
                      <a:lumMod val="95000"/>
                      <a:lumOff val="5000"/>
                    </a:srgb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defRPr>
              </a:lvl1pPr>
            </a:lstStyle>
            <a:p>
              <a:r>
                <a:rPr lang="ko-KR" altLang="en-US" dirty="0">
                  <a:latin typeface="맑은 고딕" pitchFamily="50" charset="-127"/>
                  <a:ea typeface="맑은 고딕" pitchFamily="50" charset="-127"/>
                </a:rPr>
                <a:t>원 칙</a:t>
              </a:r>
            </a:p>
          </p:txBody>
        </p:sp>
        <p:grpSp>
          <p:nvGrpSpPr>
            <p:cNvPr id="7" name="그룹 19"/>
            <p:cNvGrpSpPr/>
            <p:nvPr/>
          </p:nvGrpSpPr>
          <p:grpSpPr>
            <a:xfrm>
              <a:off x="356445" y="2418908"/>
              <a:ext cx="4596555" cy="3888000"/>
              <a:chOff x="356445" y="2418908"/>
              <a:chExt cx="4663240" cy="3818382"/>
            </a:xfrm>
          </p:grpSpPr>
          <p:grpSp>
            <p:nvGrpSpPr>
              <p:cNvPr id="8" name="Group 140"/>
              <p:cNvGrpSpPr>
                <a:grpSpLocks/>
              </p:cNvGrpSpPr>
              <p:nvPr/>
            </p:nvGrpSpPr>
            <p:grpSpPr bwMode="auto">
              <a:xfrm>
                <a:off x="1217495" y="2418908"/>
                <a:ext cx="3802190" cy="915873"/>
                <a:chOff x="3831" y="1661"/>
                <a:chExt cx="2306" cy="492"/>
              </a:xfrm>
            </p:grpSpPr>
            <p:sp>
              <p:nvSpPr>
                <p:cNvPr id="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831" y="1661"/>
                  <a:ext cx="671" cy="49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107763" dir="2700000" algn="ctr" rotWithShape="0">
                          <a:schemeClr val="bg2">
                            <a:alpha val="50000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lIns="91431" tIns="45715" rIns="91431" bIns="45715" anchor="ctr"/>
                <a:lstStyle/>
                <a:p>
                  <a:pPr algn="ctr"/>
                  <a:r>
                    <a:rPr lang="ko-KR" altLang="en-US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</a:rPr>
                    <a:t>데이터 품질관리의 역할과 책임이 명확해야 함</a:t>
                  </a:r>
                </a:p>
              </p:txBody>
            </p:sp>
            <p:sp>
              <p:nvSpPr>
                <p:cNvPr id="52" name="Rectangle 47"/>
                <p:cNvSpPr>
                  <a:spLocks noChangeArrowheads="1"/>
                </p:cNvSpPr>
                <p:nvPr/>
              </p:nvSpPr>
              <p:spPr bwMode="auto">
                <a:xfrm>
                  <a:off x="4599" y="1661"/>
                  <a:ext cx="1538" cy="49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  <a:prstDash val="sysDash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107763" dir="2700000" algn="ctr" rotWithShape="0">
                          <a:schemeClr val="bg2">
                            <a:alpha val="50000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lIns="91431" tIns="45715" rIns="91431" bIns="45715" anchor="ctr"/>
                <a:lstStyle/>
                <a:p>
                  <a:pPr marL="85725" indent="-85725">
                    <a:spcBef>
                      <a:spcPct val="0"/>
                    </a:spcBef>
                    <a:buFont typeface="Wingdings" pitchFamily="2" charset="2"/>
                    <a:buChar char=""/>
                    <a:tabLst>
                      <a:tab pos="187325" algn="l"/>
                      <a:tab pos="793750" algn="l"/>
                    </a:tabLst>
                  </a:pPr>
                  <a:r>
                    <a:rPr kumimoji="1" lang="ko-KR" altLang="en-US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>적정 수준의 데이터 품질관리를 수행하기 위해서는 조직별로 구체화된 역할을 부여하고 전담 조직을 운영함</a:t>
                  </a:r>
                </a:p>
                <a:p>
                  <a:pPr marL="85725" indent="-85725">
                    <a:spcBef>
                      <a:spcPct val="0"/>
                    </a:spcBef>
                    <a:buFont typeface="Wingdings" pitchFamily="2" charset="2"/>
                    <a:buChar char=""/>
                    <a:tabLst>
                      <a:tab pos="187325" algn="l"/>
                      <a:tab pos="793750" algn="l"/>
                    </a:tabLst>
                  </a:pPr>
                  <a:r>
                    <a:rPr kumimoji="1" lang="ko-KR" altLang="en-US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>데이터 품질관리 조직은 데이터 품질 </a:t>
                  </a:r>
                  <a:r>
                    <a:rPr kumimoji="1" lang="en-US" altLang="ko-KR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/>
                  </a:r>
                  <a:br>
                    <a:rPr kumimoji="1" lang="en-US" altLang="ko-KR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</a:br>
                  <a:r>
                    <a:rPr kumimoji="1" lang="ko-KR" altLang="en-US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>활용과 유지관리 역할의 수행을 위해 </a:t>
                  </a:r>
                  <a:r>
                    <a:rPr kumimoji="1" lang="en-US" altLang="ko-KR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/>
                  </a:r>
                  <a:br>
                    <a:rPr kumimoji="1" lang="en-US" altLang="ko-KR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</a:br>
                  <a:r>
                    <a:rPr kumimoji="1" lang="ko-KR" altLang="en-US" sz="900" dirty="0">
                      <a:solidFill>
                        <a:prstClr val="black"/>
                      </a:solidFill>
                      <a:latin typeface="맑은 고딕" pitchFamily="50" charset="-127"/>
                      <a:ea typeface="맑은 고딕" pitchFamily="50" charset="-127"/>
                      <a:cs typeface="Times New Roman" pitchFamily="18" charset="0"/>
                    </a:rPr>
                    <a:t>적정한 권한을 부여함</a:t>
                  </a:r>
                </a:p>
              </p:txBody>
            </p:sp>
            <p:cxnSp>
              <p:nvCxnSpPr>
                <p:cNvPr id="53" name="AutoShape 54"/>
                <p:cNvCxnSpPr>
                  <a:cxnSpLocks noChangeShapeType="1"/>
                  <a:stCxn id="51" idx="3"/>
                  <a:endCxn id="52" idx="1"/>
                </p:cNvCxnSpPr>
                <p:nvPr/>
              </p:nvCxnSpPr>
              <p:spPr bwMode="auto">
                <a:xfrm>
                  <a:off x="4502" y="1907"/>
                  <a:ext cx="97" cy="0"/>
                </a:xfrm>
                <a:prstGeom prst="straightConnector1">
                  <a:avLst/>
                </a:prstGeom>
                <a:noFill/>
                <a:ln w="12700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 type="oval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26" name="AutoShape 53"/>
              <p:cNvCxnSpPr>
                <a:cxnSpLocks noChangeShapeType="1"/>
                <a:stCxn id="27" idx="3"/>
                <a:endCxn id="51" idx="1"/>
              </p:cNvCxnSpPr>
              <p:nvPr/>
            </p:nvCxnSpPr>
            <p:spPr bwMode="auto">
              <a:xfrm flipV="1">
                <a:off x="1082654" y="2876844"/>
                <a:ext cx="134841" cy="1683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miter lim="800000"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AutoShape 66"/>
              <p:cNvSpPr>
                <a:spLocks noChangeArrowheads="1"/>
              </p:cNvSpPr>
              <p:nvPr/>
            </p:nvSpPr>
            <p:spPr bwMode="auto">
              <a:xfrm>
                <a:off x="356445" y="2540126"/>
                <a:ext cx="726209" cy="676803"/>
              </a:xfrm>
              <a:prstGeom prst="roundRect">
                <a:avLst>
                  <a:gd name="adj" fmla="val 16667"/>
                </a:avLst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명확화</a:t>
                </a:r>
              </a:p>
            </p:txBody>
          </p:sp>
          <p:sp>
            <p:nvSpPr>
              <p:cNvPr id="28" name="Rectangle 43"/>
              <p:cNvSpPr>
                <a:spLocks noChangeArrowheads="1"/>
              </p:cNvSpPr>
              <p:nvPr/>
            </p:nvSpPr>
            <p:spPr bwMode="auto">
              <a:xfrm>
                <a:off x="1217495" y="3474518"/>
                <a:ext cx="1111308" cy="8249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활동 절차는 체계적이어야 함</a:t>
                </a:r>
              </a:p>
            </p:txBody>
          </p:sp>
          <p:sp>
            <p:nvSpPr>
              <p:cNvPr id="29" name="Rectangle 48"/>
              <p:cNvSpPr>
                <a:spLocks noChangeArrowheads="1"/>
              </p:cNvSpPr>
              <p:nvPr/>
            </p:nvSpPr>
            <p:spPr bwMode="auto">
              <a:xfrm>
                <a:off x="2483791" y="3474518"/>
                <a:ext cx="2535893" cy="824959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sysDash"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marL="85725" indent="-85725">
                  <a:spcBef>
                    <a:spcPct val="0"/>
                  </a:spcBef>
                  <a:buFont typeface="Wingdings" pitchFamily="2" charset="2"/>
                  <a:buChar char=""/>
                  <a:tabLst>
                    <a:tab pos="187325" algn="l"/>
                    <a:tab pos="793750" algn="l"/>
                  </a:tabLst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데이터 품질관리 조직의 책임과 역할에 </a:t>
                </a:r>
                <a: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/>
                </a:r>
                <a:b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</a:b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부합하는 품질관리 프로세스를 개발함</a:t>
                </a:r>
              </a:p>
              <a:p>
                <a:pPr marL="85725" indent="-85725">
                  <a:spcBef>
                    <a:spcPct val="0"/>
                  </a:spcBef>
                  <a:buFont typeface="Wingdings" pitchFamily="2" charset="2"/>
                  <a:buChar char=""/>
                  <a:tabLst>
                    <a:tab pos="187325" algn="l"/>
                    <a:tab pos="793750" algn="l"/>
                  </a:tabLst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데이터 품질관리 프로세스를 지속적으로 개선</a:t>
                </a:r>
                <a: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/</a:t>
                </a: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보완하여 목표 달성에 기여함</a:t>
                </a:r>
              </a:p>
            </p:txBody>
          </p:sp>
          <p:cxnSp>
            <p:nvCxnSpPr>
              <p:cNvPr id="30" name="AutoShape 55"/>
              <p:cNvCxnSpPr>
                <a:cxnSpLocks noChangeShapeType="1"/>
                <a:stCxn id="28" idx="3"/>
                <a:endCxn id="29" idx="1"/>
              </p:cNvCxnSpPr>
              <p:nvPr/>
            </p:nvCxnSpPr>
            <p:spPr bwMode="auto">
              <a:xfrm>
                <a:off x="2328803" y="3886998"/>
                <a:ext cx="154989" cy="0"/>
              </a:xfrm>
              <a:prstGeom prst="straightConnector1">
                <a:avLst/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round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AutoShape 67"/>
              <p:cNvSpPr>
                <a:spLocks noChangeArrowheads="1"/>
              </p:cNvSpPr>
              <p:nvPr/>
            </p:nvSpPr>
            <p:spPr bwMode="auto">
              <a:xfrm>
                <a:off x="356445" y="3551963"/>
                <a:ext cx="726209" cy="675120"/>
              </a:xfrm>
              <a:prstGeom prst="roundRect">
                <a:avLst>
                  <a:gd name="adj" fmla="val 16667"/>
                </a:avLst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체계화</a:t>
                </a:r>
              </a:p>
            </p:txBody>
          </p:sp>
          <p:cxnSp>
            <p:nvCxnSpPr>
              <p:cNvPr id="32" name="AutoShape 70"/>
              <p:cNvCxnSpPr>
                <a:cxnSpLocks noChangeShapeType="1"/>
                <a:stCxn id="31" idx="3"/>
                <a:endCxn id="28" idx="1"/>
              </p:cNvCxnSpPr>
              <p:nvPr/>
            </p:nvCxnSpPr>
            <p:spPr bwMode="auto">
              <a:xfrm flipV="1">
                <a:off x="1082654" y="3886998"/>
                <a:ext cx="134840" cy="252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miter lim="800000"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3" name="Rectangle 45"/>
              <p:cNvSpPr>
                <a:spLocks noChangeArrowheads="1"/>
              </p:cNvSpPr>
              <p:nvPr/>
            </p:nvSpPr>
            <p:spPr bwMode="auto">
              <a:xfrm>
                <a:off x="1217495" y="4439215"/>
                <a:ext cx="1106362" cy="83000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품질은 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지속적으로 관리되어야 함</a:t>
                </a:r>
              </a:p>
            </p:txBody>
          </p:sp>
          <p:sp>
            <p:nvSpPr>
              <p:cNvPr id="34" name="Rectangle 50"/>
              <p:cNvSpPr>
                <a:spLocks noChangeArrowheads="1"/>
              </p:cNvSpPr>
              <p:nvPr/>
            </p:nvSpPr>
            <p:spPr bwMode="auto">
              <a:xfrm>
                <a:off x="2483792" y="4439215"/>
                <a:ext cx="2535893" cy="830009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sysDash"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marL="85725" indent="-85725">
                  <a:spcBef>
                    <a:spcPct val="0"/>
                  </a:spcBef>
                  <a:buFont typeface="Wingdings" pitchFamily="2" charset="2"/>
                  <a:buChar char=""/>
                  <a:tabLst>
                    <a:tab pos="187325" algn="l"/>
                    <a:tab pos="793750" algn="l"/>
                  </a:tabLst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데이터 품질관리는 정기적 활동으로 </a:t>
                </a:r>
                <a: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/>
                </a:r>
                <a:b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</a:b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주기적으로 측정하고 관리함</a:t>
                </a:r>
              </a:p>
              <a:p>
                <a:pPr marL="85725" indent="-85725">
                  <a:spcBef>
                    <a:spcPct val="0"/>
                  </a:spcBef>
                  <a:buFont typeface="Wingdings" pitchFamily="2" charset="2"/>
                  <a:buChar char=""/>
                  <a:tabLst>
                    <a:tab pos="187325" algn="l"/>
                    <a:tab pos="793750" algn="l"/>
                  </a:tabLst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지속적인 개선활동을 통해 적정 수준의 </a:t>
                </a:r>
                <a: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/>
                </a:r>
                <a:b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</a:b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데이터 품질을 유지함</a:t>
                </a:r>
              </a:p>
            </p:txBody>
          </p:sp>
          <p:cxnSp>
            <p:nvCxnSpPr>
              <p:cNvPr id="35" name="AutoShape 57"/>
              <p:cNvCxnSpPr>
                <a:cxnSpLocks noChangeShapeType="1"/>
                <a:stCxn id="33" idx="3"/>
                <a:endCxn id="34" idx="1"/>
              </p:cNvCxnSpPr>
              <p:nvPr/>
            </p:nvCxnSpPr>
            <p:spPr bwMode="auto">
              <a:xfrm>
                <a:off x="2323857" y="4855061"/>
                <a:ext cx="159937" cy="0"/>
              </a:xfrm>
              <a:prstGeom prst="straightConnector1">
                <a:avLst/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round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8" name="AutoShape 68"/>
              <p:cNvSpPr>
                <a:spLocks noChangeArrowheads="1"/>
              </p:cNvSpPr>
              <p:nvPr/>
            </p:nvSpPr>
            <p:spPr bwMode="auto">
              <a:xfrm>
                <a:off x="356445" y="4516660"/>
                <a:ext cx="726209" cy="675119"/>
              </a:xfrm>
              <a:prstGeom prst="roundRect">
                <a:avLst>
                  <a:gd name="adj" fmla="val 16667"/>
                </a:avLst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지속화</a:t>
                </a:r>
              </a:p>
            </p:txBody>
          </p:sp>
          <p:cxnSp>
            <p:nvCxnSpPr>
              <p:cNvPr id="39" name="AutoShape 71"/>
              <p:cNvCxnSpPr>
                <a:cxnSpLocks noChangeShapeType="1"/>
                <a:stCxn id="38" idx="3"/>
                <a:endCxn id="33" idx="1"/>
              </p:cNvCxnSpPr>
              <p:nvPr/>
            </p:nvCxnSpPr>
            <p:spPr bwMode="auto">
              <a:xfrm>
                <a:off x="1082654" y="4854220"/>
                <a:ext cx="134840" cy="12700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miter lim="800000"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3" name="Rectangle 44"/>
              <p:cNvSpPr>
                <a:spLocks noChangeArrowheads="1"/>
              </p:cNvSpPr>
              <p:nvPr/>
            </p:nvSpPr>
            <p:spPr bwMode="auto">
              <a:xfrm>
                <a:off x="1217495" y="5408963"/>
                <a:ext cx="1116255" cy="82664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품질은 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정량적으로 측정 가능해야 함</a:t>
                </a:r>
              </a:p>
            </p:txBody>
          </p:sp>
          <p:sp>
            <p:nvSpPr>
              <p:cNvPr id="44" name="Rectangle 49"/>
              <p:cNvSpPr>
                <a:spLocks noChangeArrowheads="1"/>
              </p:cNvSpPr>
              <p:nvPr/>
            </p:nvSpPr>
            <p:spPr bwMode="auto">
              <a:xfrm>
                <a:off x="2483792" y="5410647"/>
                <a:ext cx="2535893" cy="82664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sysDash"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lIns="91431" tIns="45715" rIns="91431" bIns="45715" anchor="ctr"/>
              <a:lstStyle/>
              <a:p>
                <a:pPr marL="85725" indent="-85725">
                  <a:spcBef>
                    <a:spcPct val="0"/>
                  </a:spcBef>
                  <a:buFont typeface="Wingdings" pitchFamily="2" charset="2"/>
                  <a:buChar char=""/>
                  <a:tabLst>
                    <a:tab pos="187325" algn="l"/>
                    <a:tab pos="793750" algn="l"/>
                  </a:tabLst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데이터가 해당 업무 규칙을 만족시키는지 정량적으로 측정 가능한 적정한 평가 기준을 개발함</a:t>
                </a:r>
              </a:p>
            </p:txBody>
          </p:sp>
          <p:cxnSp>
            <p:nvCxnSpPr>
              <p:cNvPr id="48" name="AutoShape 56"/>
              <p:cNvCxnSpPr>
                <a:cxnSpLocks noChangeShapeType="1"/>
                <a:stCxn id="43" idx="3"/>
                <a:endCxn id="44" idx="1"/>
              </p:cNvCxnSpPr>
              <p:nvPr/>
            </p:nvCxnSpPr>
            <p:spPr bwMode="auto">
              <a:xfrm>
                <a:off x="2333750" y="5823126"/>
                <a:ext cx="150044" cy="1684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miter lim="800000"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9" name="AutoShape 69"/>
              <p:cNvSpPr>
                <a:spLocks noChangeArrowheads="1"/>
              </p:cNvSpPr>
              <p:nvPr/>
            </p:nvSpPr>
            <p:spPr bwMode="auto">
              <a:xfrm>
                <a:off x="356445" y="5486408"/>
                <a:ext cx="726209" cy="676803"/>
              </a:xfrm>
              <a:prstGeom prst="roundRect">
                <a:avLst>
                  <a:gd name="adj" fmla="val 16667"/>
                </a:avLst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계량화</a:t>
                </a:r>
              </a:p>
            </p:txBody>
          </p:sp>
          <p:cxnSp>
            <p:nvCxnSpPr>
              <p:cNvPr id="50" name="AutoShape 72"/>
              <p:cNvCxnSpPr>
                <a:cxnSpLocks noChangeShapeType="1"/>
                <a:stCxn id="49" idx="3"/>
                <a:endCxn id="43" idx="1"/>
              </p:cNvCxnSpPr>
              <p:nvPr/>
            </p:nvCxnSpPr>
            <p:spPr bwMode="auto">
              <a:xfrm flipV="1">
                <a:off x="1082654" y="5822285"/>
                <a:ext cx="134840" cy="2525"/>
              </a:xfrm>
              <a:prstGeom prst="bentConnector3">
                <a:avLst>
                  <a:gd name="adj1" fmla="val 50000"/>
                </a:avLst>
              </a:prstGeom>
              <a:noFill/>
              <a:ln w="12700">
                <a:solidFill>
                  <a:schemeClr val="bg1">
                    <a:lumMod val="50000"/>
                  </a:schemeClr>
                </a:solidFill>
                <a:miter lim="800000"/>
                <a:headEnd/>
                <a:tailEnd type="oval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54" name="Rectangle 13"/>
          <p:cNvSpPr>
            <a:spLocks noChangeArrowheads="1"/>
          </p:cNvSpPr>
          <p:nvPr/>
        </p:nvSpPr>
        <p:spPr bwMode="auto">
          <a:xfrm>
            <a:off x="5054486" y="2349501"/>
            <a:ext cx="4435475" cy="28733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품질관리조직의 명확한 책임과 역할이 정의되어야 함</a:t>
            </a:r>
          </a:p>
        </p:txBody>
      </p:sp>
      <p:sp>
        <p:nvSpPr>
          <p:cNvPr id="55" name="Rectangle 14"/>
          <p:cNvSpPr>
            <a:spLocks noChangeArrowheads="1"/>
          </p:cNvSpPr>
          <p:nvPr/>
        </p:nvSpPr>
        <p:spPr bwMode="auto">
          <a:xfrm>
            <a:off x="5054486" y="3284538"/>
            <a:ext cx="4435475" cy="32702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데이터품질관리자는 데이터 품질 진단을 월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회 정기 실시하고 결과를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총괄에게 보고함</a:t>
            </a:r>
          </a:p>
        </p:txBody>
      </p:sp>
      <p:sp>
        <p:nvSpPr>
          <p:cNvPr id="56" name="Rectangle 15"/>
          <p:cNvSpPr>
            <a:spLocks noChangeArrowheads="1"/>
          </p:cNvSpPr>
          <p:nvPr/>
        </p:nvSpPr>
        <p:spPr bwMode="auto">
          <a:xfrm>
            <a:off x="5054486" y="2664973"/>
            <a:ext cx="4435475" cy="586228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품질의 개선과제는 데이터품질관리자가 선정하고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개선과제의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실행은 데이터 품질관리자의 책임 하에 수행한다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Rectangle 16"/>
          <p:cNvSpPr>
            <a:spLocks noChangeArrowheads="1"/>
          </p:cNvSpPr>
          <p:nvPr/>
        </p:nvSpPr>
        <p:spPr bwMode="auto">
          <a:xfrm>
            <a:off x="5054486" y="3644900"/>
            <a:ext cx="4435475" cy="398463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핵심 정보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(CTQ)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비즈니스 규칙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(BR)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은 반드시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 이상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정의되어야 함</a:t>
            </a:r>
          </a:p>
        </p:txBody>
      </p:sp>
      <p:sp>
        <p:nvSpPr>
          <p:cNvPr id="58" name="Rectangle 17"/>
          <p:cNvSpPr>
            <a:spLocks noChangeArrowheads="1"/>
          </p:cNvSpPr>
          <p:nvPr/>
        </p:nvSpPr>
        <p:spPr bwMode="auto">
          <a:xfrm>
            <a:off x="5054486" y="4508500"/>
            <a:ext cx="4435475" cy="1800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품질지표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(DQI)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수립하고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그 지표는 데이터 품질관리 시스템을 통해 변경 관리함</a:t>
            </a:r>
          </a:p>
        </p:txBody>
      </p:sp>
      <p:sp>
        <p:nvSpPr>
          <p:cNvPr id="59" name="Rectangle 18"/>
          <p:cNvSpPr>
            <a:spLocks noChangeArrowheads="1"/>
          </p:cNvSpPr>
          <p:nvPr/>
        </p:nvSpPr>
        <p:spPr bwMode="auto">
          <a:xfrm>
            <a:off x="5054486" y="4076700"/>
            <a:ext cx="4435475" cy="398463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85725" indent="-85725">
              <a:buClr>
                <a:srgbClr val="000000"/>
              </a:buClr>
              <a:buFont typeface="Wingdings" pitchFamily="2" charset="2"/>
              <a:buChar char="§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비즈니스 규칙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(BR)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은 반드시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 이상의 품질지표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(DQI)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와 매핑하여 품질지표별 품질점수를 산정할 수 있어야 함</a:t>
            </a:r>
          </a:p>
        </p:txBody>
      </p:sp>
      <p:graphicFrame>
        <p:nvGraphicFramePr>
          <p:cNvPr id="60" name="Group 322"/>
          <p:cNvGraphicFramePr>
            <a:graphicFrameLocks noGrp="1"/>
          </p:cNvGraphicFramePr>
          <p:nvPr>
            <p:extLst/>
          </p:nvPr>
        </p:nvGraphicFramePr>
        <p:xfrm>
          <a:off x="5149021" y="4886325"/>
          <a:ext cx="4259512" cy="1349281"/>
        </p:xfrm>
        <a:graphic>
          <a:graphicData uri="http://schemas.openxmlformats.org/drawingml/2006/table">
            <a:tbl>
              <a:tblPr/>
              <a:tblGrid>
                <a:gridCol w="39481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86469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389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지침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업무나 서비스에 필요한 데이터를 충분히 제공해야 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속성 데이터의  값의 누락이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22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정의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명칭 및 설명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와 다른 레코드가 발생하면 안됨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en-US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레코드 중에서 동일 레코드의 중복이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제공되는 데이터는 최신성을 유지해야 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222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중요 속성의 데이터  중에서 속성 정의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명칭 및 설명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와 다른 데이터 값이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중요 속성의 데이터 중에서 속성의 제약 조건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 값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범위 값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과 다른 데이터 값이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중요 속성 데이터에서 동일 데이터 값이 서로 다르게 표현되는 경우가   발생 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222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중요 속성의 데이터 값의 철자 오류가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2053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</a:p>
                  </a:txBody>
                  <a:tcPr marL="9000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중요 속성으로 정의된 데이터에서 실세계</a:t>
                      </a: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(Objects) </a:t>
                      </a:r>
                      <a:r>
                        <a:rPr kumimoji="1" lang="ko-KR" altLang="en-US" sz="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값과  다른 데이터가 발생하면 안됨</a:t>
                      </a:r>
                      <a:endParaRPr kumimoji="1" lang="ko-KR" altLang="en-US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2"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61" name="Text Box 51"/>
          <p:cNvSpPr txBox="1">
            <a:spLocks noChangeArrowheads="1"/>
          </p:cNvSpPr>
          <p:nvPr/>
        </p:nvSpPr>
        <p:spPr bwMode="auto">
          <a:xfrm>
            <a:off x="5052049" y="2014379"/>
            <a:ext cx="4438026" cy="30698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ctr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SzPct val="90000"/>
              <a:buNone/>
              <a:defRPr spc="-5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>
              <a:buClr>
                <a:prstClr val="black"/>
              </a:buClr>
            </a:pPr>
            <a:r>
              <a:rPr lang="ko-KR" altLang="en-US" sz="1200" b="1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프로세스의 기본 방침</a:t>
            </a:r>
          </a:p>
        </p:txBody>
      </p:sp>
    </p:spTree>
    <p:extLst>
      <p:ext uri="{BB962C8B-B14F-4D97-AF65-F5344CB8AC3E}">
        <p14:creationId xmlns:p14="http://schemas.microsoft.com/office/powerpoint/2010/main" val="402370578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교환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연계정보를 전사적으로 공유하고 관리하기 위해 연계의 구성</a:t>
            </a:r>
            <a:r>
              <a:rPr lang="en-US" altLang="ko-KR" dirty="0"/>
              <a:t>, </a:t>
            </a:r>
            <a:r>
              <a:rPr lang="ko-KR" altLang="en-US" dirty="0"/>
              <a:t>구현에 대한 메타데이터 및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연계 정보 등록 등의 일련의 작업이 관리 정책을 준수할 수 있도록 데이터 교환 방침을 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</a:t>
            </a:r>
            <a:r>
              <a:rPr lang="ko-KR" altLang="en-US" spc="-150"/>
              <a:t>수립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방침 </a:t>
            </a:r>
            <a:r>
              <a:rPr lang="ko-KR" altLang="en-US" sz="1800" spc="-150"/>
              <a:t>수립 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교환 방침과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62" name="Group 350"/>
          <p:cNvGraphicFramePr>
            <a:graphicFrameLocks noGrp="1"/>
          </p:cNvGraphicFramePr>
          <p:nvPr>
            <p:extLst/>
          </p:nvPr>
        </p:nvGraphicFramePr>
        <p:xfrm>
          <a:off x="415925" y="2240869"/>
          <a:ext cx="4969123" cy="3930360"/>
        </p:xfrm>
        <a:graphic>
          <a:graphicData uri="http://schemas.openxmlformats.org/drawingml/2006/table">
            <a:tbl>
              <a:tblPr/>
              <a:tblGrid>
                <a:gridCol w="79525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7386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0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구분</a:t>
                      </a:r>
                    </a:p>
                  </a:txBody>
                  <a:tcPr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방침</a:t>
                      </a:r>
                    </a:p>
                  </a:txBody>
                  <a:tcPr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0163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CA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데이터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연계관리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위해서는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데이터 연계 시스템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연계정보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연계 기술 매뉴얼 등 연계 구성에 대한 상세한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메타데이터 정보가 관리되어야 한다</a:t>
                      </a:r>
                      <a:r>
                        <a:rPr kumimoji="1" lang="en-CA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시스템 연계 구현을 위한 상세한 기술적인 문서를 관리하여야 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1" lang="en-CA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 정보는 메타데이터관리시스템에 등록 관리하여야 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 데이터의 품질 확인을 위한 데이터 오류정보와 성능정보를 관리해야 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1" lang="en-CA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T="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803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CA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조직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연계를 수행한 정보시스템 구축 업체 또는 운영업체는 데이터 품질 담당자의 책임하에 응용프로그래머가 데이터 연계 정보와 연계 데이터의 성능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품질 정보를 메타데이터에 등록하여야 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데이터품질관리자는 연계정보 관리와 연계 데이터의 품질 성능에 대한 최종 책임을 지며 전사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에게 해당 업무 지시를 수행한다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1" lang="en-CA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T="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803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CA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평가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품질관리자는 시스템 구축 후 메타데이터 시스템에 등록된 연계 정보와 실제 연계 내용과의  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정합성만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을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평가한다</a:t>
                      </a:r>
                      <a:r>
                        <a:rPr kumimoji="1" lang="en-CA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품질관리자는 정기적으로 메타데이터 관리 시스템에 등록된 연계 정보를 대상으로 연계 데이터의 품질과 성능을 진단한다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데이터의 품질과 성능 저하 발생 시 정보시스템 운영업체의 데이터 품질 담당자의 주관 하에 품질 개선과 성능 개선을 수행한다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1" lang="en-CA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T="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0833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CA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관리 시스템</a:t>
                      </a:r>
                    </a:p>
                  </a:txBody>
                  <a:tcPr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0" algn="l"/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연계에 대한 정보는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메타데이터 관리 시스템을 통해 통합 관리 한다</a:t>
                      </a:r>
                      <a:r>
                        <a:rPr kumimoji="1" lang="en-CA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0" algn="l"/>
                          <a:tab pos="250825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메타데이터관리시스템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을 통해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연계 정보를 </a:t>
                      </a:r>
                      <a:r>
                        <a:rPr kumimoji="1" lang="ko-KR" altLang="en-CA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조회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할 수 있어야 한다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1" lang="en-CA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T="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63" name="Group 169"/>
          <p:cNvGraphicFramePr>
            <a:graphicFrameLocks noGrp="1"/>
          </p:cNvGraphicFramePr>
          <p:nvPr>
            <p:extLst/>
          </p:nvPr>
        </p:nvGraphicFramePr>
        <p:xfrm>
          <a:off x="5529064" y="2241162"/>
          <a:ext cx="3960440" cy="3949083"/>
        </p:xfrm>
        <a:graphic>
          <a:graphicData uri="http://schemas.openxmlformats.org/drawingml/2006/table">
            <a:tbl>
              <a:tblPr/>
              <a:tblGrid>
                <a:gridCol w="45286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50757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836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kumimoji="1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대상 항목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외부기관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혹은 </a:t>
                      </a:r>
                      <a:r>
                        <a:rPr kumimoji="1" lang="ko-KR" altLang="en-US" sz="10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내 타 시스템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제공되는 소스데이터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원천데이터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가 신뢰할 만해야 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외부기관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혹은 </a:t>
                      </a:r>
                      <a:r>
                        <a:rPr kumimoji="1" lang="ko-KR" altLang="en-US" sz="10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코레일테크 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내 타 시스템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제공되는 소스데이터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원천데이터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가 누락이나 오류 없이 제공되어야 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외부기관으로 제공되는 소스데이터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원천데이터가 누락이나 오류 없이 제공되어야 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소스데이터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원천데이터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가공 과정에서 중요 속성 값의 누락이나 오류가 발생하면 안됨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90000" marR="0" marT="0" marB="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소스데이터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원천데이터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가 타겟 데이터베이스에 중복 생성되는 데이터가 없도록 정의해야 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098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marL="9000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속성별로 정의된 주기에 따라 정기적으로 데이터 갱신 작업을 수행해야 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581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marL="90000" marR="0" marT="0" marB="0" anchor="ctr" anchorCtr="1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250825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데이터 흐름은 시스템의 데이터가 전사 표준에 맞게 작성되고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모델관리가 수행되는 시스템에 한에서 적용함</a:t>
                      </a:r>
                    </a:p>
                  </a:txBody>
                  <a:tcPr marL="90000" marR="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4" name="TextBox 63"/>
          <p:cNvSpPr txBox="1"/>
          <p:nvPr/>
        </p:nvSpPr>
        <p:spPr>
          <a:xfrm>
            <a:off x="415925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표준 방침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5493060" y="1930812"/>
            <a:ext cx="2751205" cy="289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지침 수립 대상 항목 정의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6458101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 방침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보안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데이터베이스에 저장되어 있는 데이터에 대한 허가 받지 않은 접근으로 의도적인 데이터 변경과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파괴</a:t>
            </a:r>
            <a:r>
              <a:rPr lang="en-US" altLang="ko-KR" dirty="0"/>
              <a:t>, </a:t>
            </a:r>
            <a:r>
              <a:rPr lang="ko-KR" altLang="en-US" dirty="0"/>
              <a:t>데이터의 일관성을 저해하는 우발적인 사고 등으로부터 데이터 보안 방침을 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2.10.3.2 </a:t>
            </a:r>
            <a:r>
              <a:rPr lang="ko-KR" altLang="en-US" spc="-150" smtClean="0"/>
              <a:t>데이터 품질관리체계 수립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품질 방침 </a:t>
            </a:r>
            <a:r>
              <a:rPr lang="ko-KR" altLang="en-US" sz="1800" spc="-150"/>
              <a:t>수립 </a:t>
            </a:r>
            <a:r>
              <a:rPr lang="en-US" altLang="ko-KR" sz="1800" spc="-150" smtClean="0"/>
              <a:t>&gt; </a:t>
            </a:r>
            <a:r>
              <a:rPr lang="ko-KR" altLang="en-US" sz="1800" spc="-150" dirty="0"/>
              <a:t>데이터 보안 방침과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9" name="Group 1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6851981"/>
              </p:ext>
            </p:extLst>
          </p:nvPr>
        </p:nvGraphicFramePr>
        <p:xfrm>
          <a:off x="416495" y="1997970"/>
          <a:ext cx="9053429" cy="4239317"/>
        </p:xfrm>
        <a:graphic>
          <a:graphicData uri="http://schemas.openxmlformats.org/drawingml/2006/table">
            <a:tbl>
              <a:tblPr/>
              <a:tblGrid>
                <a:gridCol w="43204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116840"/>
                <a:gridCol w="550454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42022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No</a:t>
                      </a:r>
                      <a:endParaRPr kumimoji="1" lang="ko-KR" altLang="en-US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72000" marB="72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상세</a:t>
                      </a:r>
                      <a:r>
                        <a:rPr kumimoji="1" lang="en-US" altLang="ko-KR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내용</a:t>
                      </a:r>
                      <a:endParaRPr kumimoji="1" lang="ko-KR" altLang="en-US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72000" marB="72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191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부당한 접근으로부터 보호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권한을 가진 사용자에게만 데이터베이스 접근이 가능하도록 함   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데이터 추론 방지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비기밀 데이터에서 기밀정보를 얻어낼 가능성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통계적 집계 정보에서 각 개체에 대한 정보를 추적하지 못하게 해야 함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930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데이터베이스 무결성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데이터 내용을 수정할 수 있는 비권한 접근</a:t>
                      </a: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,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오류나 바이러스 데이터를  손상 시킬 수 있는 시스템 고장으로부터 데이터베이스 보호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Backup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과 </a:t>
                      </a: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Recovery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를 통해 구현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데이터의 연산적 무결성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병행수행 트랜잭션 처리 시 데이터베이스 내 데이터의 논리적 일치성을 보장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Locking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기법을 통해 구현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데이터의 의미적 무결성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허용된 범위내의 데이터 값으로 수정될 데이터의 논리적 일치성 보장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Integrity Constraints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를 통해 구현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감사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모든 접근</a:t>
                      </a: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(Read, Write)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을 기록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성능이 허락하는 범위 내에서 </a:t>
                      </a:r>
                      <a:r>
                        <a:rPr kumimoji="1" lang="en-US" altLang="ko-KR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Auditing  </a:t>
                      </a: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상세화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사용자인증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데이터베이스 사용자 식별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권한  설정 및 할당에 대한 기본적 관리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729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기밀 데이터의 관리</a:t>
                      </a: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보호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"/>
                        <a:tabLst>
                          <a:tab pos="187325" algn="l"/>
                          <a:tab pos="793750" algn="l"/>
                        </a:tabLst>
                      </a:pPr>
                      <a:r>
                        <a:rPr kumimoji="1" lang="ko-KR" altLang="en-US" sz="9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  <a:cs typeface="Times New Roman" pitchFamily="18" charset="0"/>
                        </a:rPr>
                        <a:t>개인정보보호에 관련한 데이터 및 사업관리프로세스에서 기밀을 요하는 주요한 데이터는 데이터베이스에 물리적으로 저장 시 암호화하여 저장</a:t>
                      </a:r>
                      <a:endParaRPr kumimoji="1" lang="ko-KR" altLang="en-US" sz="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755978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조직체계 정립 방향성 정의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관리 책임과 역할을 정의하기 위해 데이터 관리 체계 방침과 현황분석 및 요구사항들로부터 도출된 개선안에서 데이터 관리 책임과 역할에 대한 방향성을 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smtClean="0"/>
              <a:t>방향성 </a:t>
            </a:r>
            <a:r>
              <a:rPr lang="ko-KR" altLang="en-US" sz="1800" spc="-150" dirty="0"/>
              <a:t>정의 </a:t>
            </a:r>
            <a:r>
              <a:rPr lang="en-US" altLang="ko-KR" sz="1800" spc="-150" dirty="0"/>
              <a:t>(1/2)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3972077" y="3422472"/>
            <a:ext cx="2052637" cy="576000"/>
          </a:xfrm>
          <a:prstGeom prst="homePlate">
            <a:avLst>
              <a:gd name="adj" fmla="val 25183"/>
            </a:avLst>
          </a:prstGeom>
          <a:solidFill>
            <a:schemeClr val="bg1">
              <a:lumMod val="75000"/>
              <a:alpha val="50000"/>
            </a:schemeClr>
          </a:solidFill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lIns="72000" tIns="72000" rIns="72000" bIns="72000" anchor="ctr" anchorCtr="1"/>
          <a:lstStyle/>
          <a:p>
            <a:pPr algn="ctr">
              <a:spcBef>
                <a:spcPct val="50000"/>
              </a:spcBef>
            </a:pP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조직 </a:t>
            </a:r>
            <a: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현황 분석 결과</a:t>
            </a:r>
          </a:p>
        </p:txBody>
      </p:sp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3972077" y="2060848"/>
            <a:ext cx="2052637" cy="576000"/>
          </a:xfrm>
          <a:prstGeom prst="homePlate">
            <a:avLst>
              <a:gd name="adj" fmla="val 25746"/>
            </a:avLst>
          </a:prstGeom>
          <a:solidFill>
            <a:schemeClr val="bg1">
              <a:lumMod val="75000"/>
              <a:alpha val="50000"/>
            </a:schemeClr>
          </a:solidFill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lIns="72000" tIns="72000" rIns="72000" bIns="72000" anchor="ctr" anchorCtr="1"/>
          <a:lstStyle/>
          <a:p>
            <a:pPr algn="ctr">
              <a:spcBef>
                <a:spcPct val="50000"/>
              </a:spcBef>
            </a:pP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체계</a:t>
            </a:r>
            <a: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방침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6609488" y="2020566"/>
            <a:ext cx="2736000" cy="4258004"/>
            <a:chOff x="6429260" y="2020566"/>
            <a:chExt cx="3186842" cy="4258004"/>
          </a:xfrm>
        </p:grpSpPr>
        <p:grpSp>
          <p:nvGrpSpPr>
            <p:cNvPr id="6" name="그룹 13"/>
            <p:cNvGrpSpPr/>
            <p:nvPr/>
          </p:nvGrpSpPr>
          <p:grpSpPr>
            <a:xfrm>
              <a:off x="6429260" y="2020566"/>
              <a:ext cx="3186842" cy="4258004"/>
              <a:chOff x="2324708" y="394145"/>
              <a:chExt cx="3186842" cy="4258004"/>
            </a:xfrm>
          </p:grpSpPr>
          <p:sp>
            <p:nvSpPr>
              <p:cNvPr id="15" name="직사각형 14"/>
              <p:cNvSpPr/>
              <p:nvPr/>
            </p:nvSpPr>
            <p:spPr>
              <a:xfrm>
                <a:off x="2324709" y="692149"/>
                <a:ext cx="3186840" cy="396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endParaRPr lang="ko-KR" altLang="en-US" sz="8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" name="직사각형 15"/>
              <p:cNvSpPr/>
              <p:nvPr/>
            </p:nvSpPr>
            <p:spPr bwMode="auto">
              <a:xfrm>
                <a:off x="2324708" y="394145"/>
                <a:ext cx="3186842" cy="298005"/>
              </a:xfrm>
              <a:prstGeom prst="rect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72000" tIns="0" rIns="7200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lang="ko-KR" altLang="en-US" sz="1200" b="1" spc="-5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방향성 정의</a:t>
                </a:r>
              </a:p>
            </p:txBody>
          </p:sp>
        </p:grpSp>
        <p:grpSp>
          <p:nvGrpSpPr>
            <p:cNvPr id="7" name="그룹 19"/>
            <p:cNvGrpSpPr/>
            <p:nvPr/>
          </p:nvGrpSpPr>
          <p:grpSpPr>
            <a:xfrm>
              <a:off x="6528681" y="2480459"/>
              <a:ext cx="2988000" cy="1349609"/>
              <a:chOff x="6501172" y="2480459"/>
              <a:chExt cx="2880000" cy="1349609"/>
            </a:xfrm>
          </p:grpSpPr>
          <p:sp>
            <p:nvSpPr>
              <p:cNvPr id="21" name="AutoShape 6"/>
              <p:cNvSpPr>
                <a:spLocks noChangeArrowheads="1"/>
              </p:cNvSpPr>
              <p:nvPr/>
            </p:nvSpPr>
            <p:spPr bwMode="auto">
              <a:xfrm>
                <a:off x="6501172" y="2480459"/>
                <a:ext cx="2880000" cy="624505"/>
              </a:xfrm>
              <a:prstGeom prst="homePlate">
                <a:avLst>
                  <a:gd name="adj" fmla="val 0"/>
                </a:avLst>
              </a:prstGeom>
              <a:ln>
                <a:miter lim="800000"/>
                <a:headEnd/>
                <a:tailEnd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108000" bIns="0" anchor="ctr"/>
              <a:lstStyle/>
              <a:p>
                <a:pPr algn="ctr" defTabSz="1025315"/>
                <a:r>
                  <a:rPr kumimoji="1" lang="ko-KR" altLang="en-US" sz="1100" smtClean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경영정보시스템</a:t>
                </a:r>
                <a:r>
                  <a:rPr kumimoji="1" lang="en-US" altLang="ko-KR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kumimoji="1" lang="en-US" altLang="ko-KR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데이터 이슈에 대한 통제력 강화</a:t>
                </a:r>
              </a:p>
            </p:txBody>
          </p:sp>
          <p:sp>
            <p:nvSpPr>
              <p:cNvPr id="22" name="Text Box 8"/>
              <p:cNvSpPr txBox="1">
                <a:spLocks noChangeArrowheads="1"/>
              </p:cNvSpPr>
              <p:nvPr/>
            </p:nvSpPr>
            <p:spPr bwMode="auto">
              <a:xfrm>
                <a:off x="6501172" y="3184525"/>
                <a:ext cx="2880000" cy="645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72000" tIns="72000" rIns="72000" bIns="72000">
                <a:spAutoFit/>
              </a:bodyPr>
              <a:lstStyle>
                <a:lvl1pPr marL="85725" indent="-85725"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전사적 관점의 데이터 품질관리 강화</a:t>
                </a:r>
              </a:p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관련 기관</a:t>
                </a:r>
                <a:r>
                  <a:rPr lang="en-US" altLang="ko-KR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(</a:t>
                </a: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연계기관</a:t>
                </a:r>
                <a:r>
                  <a:rPr lang="en-US" altLang="ko-KR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)</a:t>
                </a: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과 부서간 역할 및 책임 정의</a:t>
                </a:r>
              </a:p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변화에 대한 대응력과 유연성 강화</a:t>
                </a:r>
              </a:p>
            </p:txBody>
          </p:sp>
        </p:grpSp>
        <p:grpSp>
          <p:nvGrpSpPr>
            <p:cNvPr id="8" name="그룹 22"/>
            <p:cNvGrpSpPr/>
            <p:nvPr/>
          </p:nvGrpSpPr>
          <p:grpSpPr>
            <a:xfrm>
              <a:off x="6528681" y="4460679"/>
              <a:ext cx="2988000" cy="1536340"/>
              <a:chOff x="6501172" y="4460679"/>
              <a:chExt cx="2880000" cy="1536340"/>
            </a:xfrm>
          </p:grpSpPr>
          <p:sp>
            <p:nvSpPr>
              <p:cNvPr id="24" name="AutoShape 7"/>
              <p:cNvSpPr>
                <a:spLocks noChangeArrowheads="1"/>
              </p:cNvSpPr>
              <p:nvPr/>
            </p:nvSpPr>
            <p:spPr bwMode="auto">
              <a:xfrm>
                <a:off x="6501172" y="4460679"/>
                <a:ext cx="2880000" cy="624505"/>
              </a:xfrm>
              <a:prstGeom prst="homePlate">
                <a:avLst>
                  <a:gd name="adj" fmla="val 0"/>
                </a:avLst>
              </a:prstGeom>
              <a:ln>
                <a:miter lim="800000"/>
                <a:headEnd/>
                <a:tailEnd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108000" bIns="0" anchor="ctr"/>
              <a:lstStyle/>
              <a:p>
                <a:pPr algn="ctr" defTabSz="1025315"/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데이터 관리를 위한 </a:t>
                </a:r>
                <a:r>
                  <a:rPr kumimoji="1" lang="en-US" altLang="ko-KR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kumimoji="1" lang="en-US" altLang="ko-KR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명확한 책임과 역할</a:t>
                </a:r>
                <a:r>
                  <a:rPr kumimoji="1" lang="en-US" altLang="ko-KR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정의</a:t>
                </a:r>
              </a:p>
            </p:txBody>
          </p:sp>
          <p:sp>
            <p:nvSpPr>
              <p:cNvPr id="25" name="Text Box 9"/>
              <p:cNvSpPr txBox="1">
                <a:spLocks noChangeArrowheads="1"/>
              </p:cNvSpPr>
              <p:nvPr/>
            </p:nvSpPr>
            <p:spPr bwMode="auto">
              <a:xfrm>
                <a:off x="6501172" y="5157192"/>
                <a:ext cx="2880000" cy="8398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72000" tIns="72000" rIns="72000" bIns="72000">
                <a:spAutoFit/>
              </a:bodyPr>
              <a:lstStyle>
                <a:lvl1pPr marL="85725" indent="-85725"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algn="l"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 관리를 위한 이해관계자 정의</a:t>
                </a:r>
              </a:p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임무수행에 적합한 역할 및 책임 정의</a:t>
                </a:r>
              </a:p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업무단위 기능별 책임자 배정</a:t>
                </a:r>
                <a:endPara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>
                  <a:lnSpc>
                    <a:spcPts val="900"/>
                  </a:lnSpc>
                  <a:spcBef>
                    <a:spcPts val="60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개발</a:t>
                </a:r>
                <a:r>
                  <a:rPr lang="en-US" altLang="ko-KR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운영 업체에 대한 책임과 역할</a:t>
                </a:r>
                <a:r>
                  <a:rPr lang="en-US" altLang="ko-KR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ko-KR" altLang="en-US" sz="9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수립</a:t>
                </a:r>
              </a:p>
            </p:txBody>
          </p:sp>
        </p:grpSp>
      </p:grpSp>
      <p:cxnSp>
        <p:nvCxnSpPr>
          <p:cNvPr id="26" name="AutoShape 10"/>
          <p:cNvCxnSpPr>
            <a:cxnSpLocks noChangeShapeType="1"/>
            <a:stCxn id="19" idx="3"/>
            <a:endCxn id="15" idx="1"/>
          </p:cNvCxnSpPr>
          <p:nvPr/>
        </p:nvCxnSpPr>
        <p:spPr bwMode="auto">
          <a:xfrm>
            <a:off x="6024714" y="2348848"/>
            <a:ext cx="584775" cy="1949722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" name="AutoShape 11"/>
          <p:cNvCxnSpPr>
            <a:cxnSpLocks noChangeShapeType="1"/>
            <a:stCxn id="18" idx="3"/>
            <a:endCxn id="15" idx="1"/>
          </p:cNvCxnSpPr>
          <p:nvPr/>
        </p:nvCxnSpPr>
        <p:spPr bwMode="auto">
          <a:xfrm>
            <a:off x="6024714" y="3710472"/>
            <a:ext cx="584775" cy="588098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" name="Text Box 12"/>
          <p:cNvSpPr txBox="1">
            <a:spLocks noChangeArrowheads="1"/>
          </p:cNvSpPr>
          <p:nvPr/>
        </p:nvSpPr>
        <p:spPr bwMode="auto">
          <a:xfrm>
            <a:off x="3973358" y="2636912"/>
            <a:ext cx="20701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72000" rIns="72000" bIns="72000"/>
          <a:lstStyle>
            <a:lvl1pPr marL="85725" indent="-85725"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데이터의 전반적인 관리를 위한 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담당자 정의</a:t>
            </a: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단위기능별 데이터 담당자 정의</a:t>
            </a: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관련조직간 원활한 협조체계</a:t>
            </a:r>
          </a:p>
        </p:txBody>
      </p:sp>
      <p:sp>
        <p:nvSpPr>
          <p:cNvPr id="29" name="Text Box 13"/>
          <p:cNvSpPr txBox="1">
            <a:spLocks noChangeArrowheads="1"/>
          </p:cNvSpPr>
          <p:nvPr/>
        </p:nvSpPr>
        <p:spPr bwMode="auto">
          <a:xfrm>
            <a:off x="3973358" y="3998536"/>
            <a:ext cx="2204082" cy="7134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72000" rIns="72000" bIns="72000"/>
          <a:lstStyle>
            <a:lvl1pPr marL="85725" indent="-85725"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관리 전담 조직 체계 미구성</a:t>
            </a: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전문화된 데이터 관리 담당의 부재</a:t>
            </a:r>
            <a:endParaRPr lang="en-US" altLang="ko-KR" sz="9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업무 분장 수준의 담당자에 대한 책임과 역할 부여</a:t>
            </a:r>
          </a:p>
        </p:txBody>
      </p:sp>
      <p:sp>
        <p:nvSpPr>
          <p:cNvPr id="30" name="직사각형 29"/>
          <p:cNvSpPr/>
          <p:nvPr/>
        </p:nvSpPr>
        <p:spPr bwMode="auto">
          <a:xfrm>
            <a:off x="506226" y="2020566"/>
            <a:ext cx="3186842" cy="298005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1200" b="1" spc="-50" smtClean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506226" y="2384884"/>
            <a:ext cx="3186840" cy="3881220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900" dirty="0">
              <a:ln w="28575">
                <a:solidFill>
                  <a:srgbClr val="0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오각형 31"/>
          <p:cNvSpPr/>
          <p:nvPr/>
        </p:nvSpPr>
        <p:spPr>
          <a:xfrm rot="16200000">
            <a:off x="1942059" y="1222053"/>
            <a:ext cx="331432" cy="3001868"/>
          </a:xfrm>
          <a:prstGeom prst="homePlate">
            <a:avLst/>
          </a:prstGeom>
          <a:solidFill>
            <a:srgbClr val="508CD2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eaVert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품질관리 체계</a:t>
            </a:r>
          </a:p>
        </p:txBody>
      </p:sp>
      <p:sp>
        <p:nvSpPr>
          <p:cNvPr id="33" name="직사각형 32"/>
          <p:cNvSpPr/>
          <p:nvPr/>
        </p:nvSpPr>
        <p:spPr>
          <a:xfrm>
            <a:off x="606841" y="2933738"/>
            <a:ext cx="2584934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방침</a:t>
            </a:r>
          </a:p>
        </p:txBody>
      </p:sp>
      <p:sp>
        <p:nvSpPr>
          <p:cNvPr id="34" name="직사각형 33"/>
          <p:cNvSpPr/>
          <p:nvPr/>
        </p:nvSpPr>
        <p:spPr>
          <a:xfrm>
            <a:off x="606841" y="3280477"/>
            <a:ext cx="2584934" cy="304151"/>
          </a:xfrm>
          <a:prstGeom prst="rect">
            <a:avLst/>
          </a:prstGeom>
          <a:solidFill>
            <a:schemeClr val="bg1">
              <a:lumMod val="75000"/>
            </a:schemeClr>
          </a:solidFill>
          <a:ln w="19050">
            <a:solidFill>
              <a:srgbClr val="C00000"/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데이터 관리 조직</a:t>
            </a:r>
          </a:p>
        </p:txBody>
      </p:sp>
      <p:sp>
        <p:nvSpPr>
          <p:cNvPr id="35" name="직사각형 34"/>
          <p:cNvSpPr/>
          <p:nvPr/>
        </p:nvSpPr>
        <p:spPr>
          <a:xfrm>
            <a:off x="606841" y="5025312"/>
            <a:ext cx="2584934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프로세스</a:t>
            </a:r>
          </a:p>
        </p:txBody>
      </p:sp>
      <p:sp>
        <p:nvSpPr>
          <p:cNvPr id="38" name="직사각형 37"/>
          <p:cNvSpPr/>
          <p:nvPr/>
        </p:nvSpPr>
        <p:spPr>
          <a:xfrm>
            <a:off x="606841" y="5372052"/>
            <a:ext cx="2584934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인프라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606841" y="5720784"/>
            <a:ext cx="3001868" cy="30415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법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제도</a:t>
            </a:r>
          </a:p>
        </p:txBody>
      </p:sp>
      <p:sp>
        <p:nvSpPr>
          <p:cNvPr id="43" name="직사각형 42"/>
          <p:cNvSpPr/>
          <p:nvPr/>
        </p:nvSpPr>
        <p:spPr>
          <a:xfrm>
            <a:off x="606841" y="3623837"/>
            <a:ext cx="2584934" cy="135689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보안</a:t>
            </a:r>
          </a:p>
        </p:txBody>
      </p:sp>
      <p:sp>
        <p:nvSpPr>
          <p:cNvPr id="44" name="직사각형 43"/>
          <p:cNvSpPr/>
          <p:nvPr/>
        </p:nvSpPr>
        <p:spPr>
          <a:xfrm>
            <a:off x="1932228" y="3696489"/>
            <a:ext cx="1117654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구조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1932228" y="4210148"/>
            <a:ext cx="1117654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교환</a:t>
            </a:r>
          </a:p>
        </p:txBody>
      </p:sp>
      <p:sp>
        <p:nvSpPr>
          <p:cNvPr id="49" name="직사각형 48"/>
          <p:cNvSpPr/>
          <p:nvPr/>
        </p:nvSpPr>
        <p:spPr>
          <a:xfrm>
            <a:off x="816044" y="3696489"/>
            <a:ext cx="1117654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표준</a:t>
            </a:r>
          </a:p>
        </p:txBody>
      </p:sp>
      <p:sp>
        <p:nvSpPr>
          <p:cNvPr id="50" name="직사각형 49"/>
          <p:cNvSpPr/>
          <p:nvPr/>
        </p:nvSpPr>
        <p:spPr>
          <a:xfrm>
            <a:off x="816044" y="4210148"/>
            <a:ext cx="1117654" cy="51605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</a:t>
            </a:r>
          </a:p>
        </p:txBody>
      </p:sp>
      <p:sp>
        <p:nvSpPr>
          <p:cNvPr id="51" name="직사각형 50"/>
          <p:cNvSpPr/>
          <p:nvPr/>
        </p:nvSpPr>
        <p:spPr>
          <a:xfrm>
            <a:off x="3226509" y="2933738"/>
            <a:ext cx="382200" cy="2742465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b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공유</a:t>
            </a:r>
            <a:b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개방</a:t>
            </a:r>
          </a:p>
        </p:txBody>
      </p:sp>
      <p:grpSp>
        <p:nvGrpSpPr>
          <p:cNvPr id="9" name="그룹 51"/>
          <p:cNvGrpSpPr/>
          <p:nvPr/>
        </p:nvGrpSpPr>
        <p:grpSpPr>
          <a:xfrm>
            <a:off x="1553948" y="3826818"/>
            <a:ext cx="769700" cy="769701"/>
            <a:chOff x="-1683537" y="3004277"/>
            <a:chExt cx="892622" cy="892622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-1683537" y="3004277"/>
              <a:ext cx="892622" cy="892622"/>
            </a:xfrm>
            <a:prstGeom prst="roundRect">
              <a:avLst>
                <a:gd name="adj" fmla="val 21178"/>
              </a:avLst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분류체계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-1491716" y="3199832"/>
              <a:ext cx="490467" cy="490467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altLang="ko-KR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DATA</a:t>
              </a:r>
              <a:endParaRPr lang="ko-KR" altLang="en-US" sz="7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55" name="AutoShape 68"/>
          <p:cNvCxnSpPr>
            <a:cxnSpLocks noChangeShapeType="1"/>
            <a:stCxn id="34" idx="3"/>
            <a:endCxn id="19" idx="1"/>
          </p:cNvCxnSpPr>
          <p:nvPr/>
        </p:nvCxnSpPr>
        <p:spPr bwMode="auto">
          <a:xfrm flipV="1">
            <a:off x="3191775" y="2348848"/>
            <a:ext cx="780302" cy="1083705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C00000"/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6" name="AutoShape 68"/>
          <p:cNvCxnSpPr>
            <a:cxnSpLocks noChangeShapeType="1"/>
            <a:stCxn id="34" idx="3"/>
            <a:endCxn id="18" idx="1"/>
          </p:cNvCxnSpPr>
          <p:nvPr/>
        </p:nvCxnSpPr>
        <p:spPr bwMode="auto">
          <a:xfrm>
            <a:off x="3191775" y="3432553"/>
            <a:ext cx="780302" cy="277919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C00000"/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7" name="AutoShape 3"/>
          <p:cNvSpPr>
            <a:spLocks noChangeArrowheads="1"/>
          </p:cNvSpPr>
          <p:nvPr/>
        </p:nvSpPr>
        <p:spPr bwMode="auto">
          <a:xfrm>
            <a:off x="3972077" y="4748092"/>
            <a:ext cx="2052637" cy="576000"/>
          </a:xfrm>
          <a:prstGeom prst="homePlate">
            <a:avLst>
              <a:gd name="adj" fmla="val 25183"/>
            </a:avLst>
          </a:prstGeom>
          <a:solidFill>
            <a:schemeClr val="bg1">
              <a:lumMod val="75000"/>
              <a:alpha val="50000"/>
            </a:schemeClr>
          </a:solidFill>
          <a:ln w="254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lIns="72000" tIns="72000" rIns="72000" bIns="72000" anchor="ctr" anchorCtr="1"/>
          <a:lstStyle/>
          <a:p>
            <a:pPr algn="ctr">
              <a:spcBef>
                <a:spcPct val="50000"/>
              </a:spcBef>
            </a:pP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체계 </a:t>
            </a:r>
            <a: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개선 방향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3973358" y="5324156"/>
            <a:ext cx="2636130" cy="9433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72000" rIns="72000" bIns="72000"/>
          <a:lstStyle>
            <a:lvl1pPr marL="85725" indent="-85725"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algn="l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관리 조직의 구성과 적정 인력의 배치</a:t>
            </a:r>
            <a:endParaRPr lang="en-US" altLang="ko-KR" sz="9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관리 관리체계의 내재화 </a:t>
            </a: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 관리 조직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인력에 대한 명확한 책임과 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역할 부여</a:t>
            </a:r>
            <a:endParaRPr lang="en-US" altLang="ko-KR" sz="90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9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개발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운영 업체에 대한 책임과 역할</a:t>
            </a:r>
            <a:r>
              <a: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수립</a:t>
            </a:r>
          </a:p>
        </p:txBody>
      </p:sp>
      <p:cxnSp>
        <p:nvCxnSpPr>
          <p:cNvPr id="59" name="AutoShape 68"/>
          <p:cNvCxnSpPr>
            <a:cxnSpLocks noChangeShapeType="1"/>
            <a:stCxn id="34" idx="3"/>
            <a:endCxn id="57" idx="1"/>
          </p:cNvCxnSpPr>
          <p:nvPr/>
        </p:nvCxnSpPr>
        <p:spPr bwMode="auto">
          <a:xfrm>
            <a:off x="3191775" y="3432553"/>
            <a:ext cx="780302" cy="1603539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C00000"/>
            </a:solidFill>
            <a:miter lim="800000"/>
            <a:headEnd type="oval" w="med" len="med"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0" name="AutoShape 11"/>
          <p:cNvCxnSpPr>
            <a:cxnSpLocks noChangeShapeType="1"/>
            <a:stCxn id="57" idx="3"/>
            <a:endCxn id="15" idx="1"/>
          </p:cNvCxnSpPr>
          <p:nvPr/>
        </p:nvCxnSpPr>
        <p:spPr bwMode="auto">
          <a:xfrm flipV="1">
            <a:off x="6024714" y="4298570"/>
            <a:ext cx="584775" cy="737522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 type="triangl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407841279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44"/>
          <p:cNvGrpSpPr/>
          <p:nvPr/>
        </p:nvGrpSpPr>
        <p:grpSpPr>
          <a:xfrm>
            <a:off x="344489" y="1592796"/>
            <a:ext cx="5544615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조직체계 정립 방향성 정의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관리 조직은 데이터</a:t>
            </a:r>
            <a:r>
              <a:rPr lang="ko-KR" altLang="ko-KR" dirty="0"/>
              <a:t> </a:t>
            </a:r>
            <a:r>
              <a:rPr lang="en-US" altLang="ko-KR" dirty="0"/>
              <a:t>Ownership</a:t>
            </a:r>
            <a:r>
              <a:rPr lang="ko-KR" altLang="ko-KR" dirty="0"/>
              <a:t>이 있는 </a:t>
            </a:r>
            <a:r>
              <a:rPr lang="en-US" altLang="ko-KR" dirty="0"/>
              <a:t>『</a:t>
            </a:r>
            <a:r>
              <a:rPr lang="ko-KR" altLang="en-US" dirty="0"/>
              <a:t>데이터 소유부문</a:t>
            </a:r>
            <a:r>
              <a:rPr lang="en-US" altLang="ko-KR" dirty="0"/>
              <a:t>』</a:t>
            </a:r>
            <a:r>
              <a:rPr lang="ko-KR" altLang="ko-KR" dirty="0"/>
              <a:t>, 데이터 설계 및 구</a:t>
            </a:r>
            <a:r>
              <a:rPr lang="ko-KR" altLang="en-US" dirty="0"/>
              <a:t>축</a:t>
            </a:r>
            <a:r>
              <a:rPr lang="ko-KR" altLang="ko-KR" dirty="0"/>
              <a:t>을 담당하는</a:t>
            </a:r>
            <a:r>
              <a:rPr lang="en-US" altLang="ko-KR" dirty="0"/>
              <a:t> 『</a:t>
            </a:r>
            <a:r>
              <a:rPr lang="ko-KR" altLang="en-US" dirty="0"/>
              <a:t>데이터 설계 부문</a:t>
            </a:r>
            <a:r>
              <a:rPr lang="en-US" altLang="ko-KR" dirty="0"/>
              <a:t>』</a:t>
            </a:r>
            <a:r>
              <a:rPr lang="ko-KR" altLang="ko-KR" dirty="0"/>
              <a:t>, </a:t>
            </a:r>
            <a:r>
              <a:rPr lang="ko-KR" altLang="en-US" dirty="0"/>
              <a:t>데이터 품질관리와 </a:t>
            </a:r>
            <a:r>
              <a:rPr lang="ko-KR" altLang="ko-KR" dirty="0"/>
              <a:t>부문별 이해관계 조정</a:t>
            </a:r>
            <a:r>
              <a:rPr lang="en-US" altLang="ko-KR" dirty="0"/>
              <a:t>·</a:t>
            </a:r>
            <a:r>
              <a:rPr lang="ko-KR" altLang="ko-KR" dirty="0"/>
              <a:t>통제를 담당하는 </a:t>
            </a:r>
            <a:r>
              <a:rPr lang="en-US" altLang="ko-KR" dirty="0"/>
              <a:t>『</a:t>
            </a:r>
            <a:r>
              <a:rPr lang="ko-KR" altLang="ko-KR" dirty="0"/>
              <a:t>데이터 관리 부문</a:t>
            </a:r>
            <a:r>
              <a:rPr lang="en-US" altLang="ko-KR" dirty="0"/>
              <a:t>』 </a:t>
            </a:r>
            <a:r>
              <a:rPr lang="ko-KR" altLang="en-US" dirty="0"/>
              <a:t>과 각 부문 간</a:t>
            </a:r>
            <a:r>
              <a:rPr lang="ko-KR" altLang="ko-KR" dirty="0"/>
              <a:t> 상호 </a:t>
            </a:r>
            <a:r>
              <a:rPr lang="ko-KR" altLang="en-US" dirty="0"/>
              <a:t>시너지를 낼 수 있도록 조직 체계를 구성함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>
          <a:xfrm>
            <a:off x="344488" y="0"/>
            <a:ext cx="6192688" cy="781320"/>
          </a:xfrm>
        </p:spPr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</a:t>
            </a:r>
            <a:r>
              <a:rPr lang="en-US" altLang="ko-KR" sz="1800" spc="-150" smtClean="0"/>
              <a:t/>
            </a:r>
            <a:br>
              <a:rPr lang="en-US" altLang="ko-KR" sz="1800" spc="-150" smtClean="0"/>
            </a:br>
            <a:r>
              <a:rPr lang="en-US" altLang="ko-KR" sz="1800" spc="-150" smtClean="0"/>
              <a:t>&gt; </a:t>
            </a:r>
            <a:r>
              <a:rPr lang="ko-KR" altLang="en-US" sz="1800" spc="-150" smtClean="0"/>
              <a:t>방향성 </a:t>
            </a:r>
            <a:r>
              <a:rPr lang="ko-KR" altLang="en-US" sz="1800" spc="-150" dirty="0"/>
              <a:t>정의 </a:t>
            </a:r>
            <a:r>
              <a:rPr lang="en-US" altLang="ko-KR" sz="1800" spc="-150" dirty="0"/>
              <a:t>(2/2)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61" name="AutoShape 12"/>
          <p:cNvSpPr>
            <a:spLocks noChangeArrowheads="1"/>
          </p:cNvSpPr>
          <p:nvPr/>
        </p:nvSpPr>
        <p:spPr bwMode="auto">
          <a:xfrm rot="5400000">
            <a:off x="4256382" y="4121266"/>
            <a:ext cx="3570248" cy="277200"/>
          </a:xfrm>
          <a:prstGeom prst="triangle">
            <a:avLst>
              <a:gd name="adj" fmla="val 50000"/>
            </a:avLst>
          </a:prstGeom>
          <a:gradFill rotWithShape="1">
            <a:gsLst>
              <a:gs pos="0">
                <a:schemeClr val="accent1"/>
              </a:gs>
              <a:gs pos="100000">
                <a:srgbClr val="FFFFFF"/>
              </a:gs>
            </a:gsLst>
            <a:lin ang="5400000" scaled="1"/>
          </a:gradFill>
          <a:ln w="6350" algn="ctr">
            <a:noFill/>
            <a:miter lim="800000"/>
            <a:headEnd/>
            <a:tailEnd type="none" w="sm" len="sm"/>
          </a:ln>
          <a:effectLst/>
        </p:spPr>
        <p:txBody>
          <a:bodyPr wrap="none" lIns="0" tIns="0" rIns="0" bIns="0" anchor="ctr"/>
          <a:lstStyle/>
          <a:p>
            <a:endParaRPr lang="ko-KR" altLang="en-US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3" name="직사각형 62"/>
          <p:cNvSpPr/>
          <p:nvPr/>
        </p:nvSpPr>
        <p:spPr>
          <a:xfrm>
            <a:off x="864827" y="4725144"/>
            <a:ext cx="4945762" cy="1224000"/>
          </a:xfrm>
          <a:prstGeom prst="rect">
            <a:avLst/>
          </a:prstGeom>
          <a:solidFill>
            <a:schemeClr val="accent3">
              <a:alpha val="50000"/>
            </a:schemeClr>
          </a:solidFill>
          <a:ln w="19050">
            <a:solidFill>
              <a:schemeClr val="accent1">
                <a:lumMod val="7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직사각형 63"/>
          <p:cNvSpPr/>
          <p:nvPr/>
        </p:nvSpPr>
        <p:spPr>
          <a:xfrm>
            <a:off x="425296" y="4725144"/>
            <a:ext cx="432000" cy="1224000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algn="ctr"/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ko-KR" altLang="en-US" sz="1200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설계</a:t>
            </a:r>
            <a:r>
              <a:rPr lang="en-US" altLang="ko-KR" sz="7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br>
              <a:rPr lang="en-US" altLang="ko-KR" sz="7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864827" y="1967331"/>
            <a:ext cx="4945761" cy="792000"/>
          </a:xfrm>
          <a:prstGeom prst="rect">
            <a:avLst/>
          </a:prstGeom>
          <a:solidFill>
            <a:schemeClr val="accent3">
              <a:alpha val="50000"/>
            </a:schemeClr>
          </a:solidFill>
          <a:ln w="19050">
            <a:solidFill>
              <a:schemeClr val="accent1">
                <a:lumMod val="7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6" name="직사각형 65"/>
          <p:cNvSpPr/>
          <p:nvPr/>
        </p:nvSpPr>
        <p:spPr>
          <a:xfrm>
            <a:off x="432828" y="1974407"/>
            <a:ext cx="432000" cy="792000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algn="ctr"/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ko-KR" altLang="en-US" sz="1200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소유</a:t>
            </a:r>
            <a:r>
              <a:rPr lang="ko-KR" altLang="en-US" dirty="0">
                <a:solidFill>
                  <a:srgbClr val="FFFF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</a:p>
        </p:txBody>
      </p:sp>
      <p:sp>
        <p:nvSpPr>
          <p:cNvPr id="68" name="직사각형 67"/>
          <p:cNvSpPr/>
          <p:nvPr/>
        </p:nvSpPr>
        <p:spPr>
          <a:xfrm>
            <a:off x="857296" y="2961120"/>
            <a:ext cx="4953294" cy="1548000"/>
          </a:xfrm>
          <a:prstGeom prst="rect">
            <a:avLst/>
          </a:prstGeom>
          <a:solidFill>
            <a:schemeClr val="accent3">
              <a:alpha val="50000"/>
            </a:schemeClr>
          </a:solidFill>
          <a:ln w="19050">
            <a:solidFill>
              <a:schemeClr val="accent1">
                <a:lumMod val="7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9" name="직사각형 68"/>
          <p:cNvSpPr/>
          <p:nvPr/>
        </p:nvSpPr>
        <p:spPr>
          <a:xfrm>
            <a:off x="425296" y="2961120"/>
            <a:ext cx="432000" cy="1548000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algn="ctr"/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ko-KR" altLang="en-US" sz="1200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관리</a:t>
            </a:r>
            <a:r>
              <a:rPr lang="en-US" altLang="ko-KR" sz="7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7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부문</a:t>
            </a:r>
          </a:p>
        </p:txBody>
      </p:sp>
      <p:cxnSp>
        <p:nvCxnSpPr>
          <p:cNvPr id="70" name="AutoShape 117"/>
          <p:cNvCxnSpPr>
            <a:cxnSpLocks noChangeShapeType="1"/>
            <a:stCxn id="71" idx="2"/>
            <a:endCxn id="105" idx="0"/>
          </p:cNvCxnSpPr>
          <p:nvPr/>
        </p:nvCxnSpPr>
        <p:spPr bwMode="auto">
          <a:xfrm rot="5400000">
            <a:off x="3215095" y="3957086"/>
            <a:ext cx="216064" cy="416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71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2553817" y="3489262"/>
            <a:ext cx="1539035" cy="360000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algn="ctr">
            <a:solidFill>
              <a:schemeClr val="tx1">
                <a:lumMod val="95000"/>
                <a:lumOff val="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r>
              <a:rPr lang="ko-KR" altLang="en-US" sz="105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정보시스템 부서장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2" name="AutoShape 116"/>
          <p:cNvCxnSpPr>
            <a:cxnSpLocks noChangeShapeType="1"/>
          </p:cNvCxnSpPr>
          <p:nvPr/>
        </p:nvCxnSpPr>
        <p:spPr bwMode="auto">
          <a:xfrm rot="5400000">
            <a:off x="3269099" y="3975090"/>
            <a:ext cx="108057" cy="416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73" name="AutoShape 116"/>
          <p:cNvCxnSpPr>
            <a:cxnSpLocks noChangeShapeType="1"/>
            <a:stCxn id="68" idx="2"/>
            <a:endCxn id="75" idx="0"/>
          </p:cNvCxnSpPr>
          <p:nvPr/>
        </p:nvCxnSpPr>
        <p:spPr bwMode="auto">
          <a:xfrm rot="5400000">
            <a:off x="2555022" y="4087497"/>
            <a:ext cx="357299" cy="1200545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grpSp>
        <p:nvGrpSpPr>
          <p:cNvPr id="8" name="그룹 73"/>
          <p:cNvGrpSpPr/>
          <p:nvPr/>
        </p:nvGrpSpPr>
        <p:grpSpPr>
          <a:xfrm>
            <a:off x="1008082" y="4866419"/>
            <a:ext cx="2250631" cy="931613"/>
            <a:chOff x="794703" y="4006712"/>
            <a:chExt cx="2952000" cy="931613"/>
          </a:xfrm>
        </p:grpSpPr>
        <p:sp>
          <p:nvSpPr>
            <p:cNvPr id="75" name="Rectangle 114"/>
            <p:cNvSpPr>
              <a:spLocks noChangeArrowheads="1"/>
            </p:cNvSpPr>
            <p:nvPr/>
          </p:nvSpPr>
          <p:spPr bwMode="blackWhite">
            <a:xfrm>
              <a:off x="794703" y="4006712"/>
              <a:ext cx="2952000" cy="93161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t"/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개발 업체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Rectangle 11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blackWhite">
            <a:xfrm>
              <a:off x="842801" y="4247357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DBA</a:t>
              </a:r>
            </a:p>
          </p:txBody>
        </p:sp>
        <p:sp>
          <p:nvSpPr>
            <p:cNvPr id="77" name="Rectangle 1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blackWhite">
            <a:xfrm>
              <a:off x="842801" y="4595409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SQA</a:t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DQA)</a:t>
              </a:r>
            </a:p>
          </p:txBody>
        </p:sp>
        <p:sp>
          <p:nvSpPr>
            <p:cNvPr id="78" name="Rectangle 11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blackWhite">
            <a:xfrm>
              <a:off x="2296382" y="4247357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모델러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blackWhite">
            <a:xfrm>
              <a:off x="2296382" y="4595409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응용 프로그래머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80" name="Rectangle 114"/>
          <p:cNvSpPr>
            <a:spLocks noChangeArrowheads="1"/>
          </p:cNvSpPr>
          <p:nvPr/>
        </p:nvSpPr>
        <p:spPr bwMode="blackWhite">
          <a:xfrm>
            <a:off x="4230492" y="3524090"/>
            <a:ext cx="1470672" cy="288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bg1">
                <a:lumMod val="50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외부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데이터품질감리 업체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1" name="AutoShape 116"/>
          <p:cNvCxnSpPr>
            <a:cxnSpLocks noChangeShapeType="1"/>
            <a:stCxn id="71" idx="3"/>
            <a:endCxn id="80" idx="1"/>
          </p:cNvCxnSpPr>
          <p:nvPr/>
        </p:nvCxnSpPr>
        <p:spPr bwMode="auto">
          <a:xfrm flipV="1">
            <a:off x="4092852" y="3668090"/>
            <a:ext cx="137640" cy="1172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bg1">
                <a:lumMod val="50000"/>
              </a:scheme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82" name="직사각형 81"/>
          <p:cNvSpPr/>
          <p:nvPr/>
        </p:nvSpPr>
        <p:spPr>
          <a:xfrm>
            <a:off x="854988" y="2960948"/>
            <a:ext cx="1487172" cy="3488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5725" indent="-85725">
              <a:lnSpc>
                <a:spcPts val="1000"/>
              </a:lnSpc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타 업무와 병행 가능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직무 역량 보유자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cxnSp>
        <p:nvCxnSpPr>
          <p:cNvPr id="83" name="AutoShape 117"/>
          <p:cNvCxnSpPr>
            <a:cxnSpLocks noChangeShapeType="1"/>
            <a:stCxn id="71" idx="2"/>
            <a:endCxn id="104" idx="0"/>
          </p:cNvCxnSpPr>
          <p:nvPr/>
        </p:nvCxnSpPr>
        <p:spPr bwMode="auto">
          <a:xfrm rot="5400000">
            <a:off x="2414006" y="3155997"/>
            <a:ext cx="216064" cy="1602594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84" name="직사각형 83"/>
          <p:cNvSpPr/>
          <p:nvPr/>
        </p:nvSpPr>
        <p:spPr>
          <a:xfrm>
            <a:off x="360772" y="5949280"/>
            <a:ext cx="181198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5725" indent="-85725">
              <a:lnSpc>
                <a:spcPts val="600"/>
              </a:lnSpc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altLang="ko-KR" sz="600" i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DBA : Database Administrator</a:t>
            </a:r>
          </a:p>
          <a:p>
            <a:pPr marL="85725" indent="-85725">
              <a:lnSpc>
                <a:spcPts val="600"/>
              </a:lnSpc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altLang="ko-KR" sz="600" i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DA : Data Architect</a:t>
            </a:r>
          </a:p>
          <a:p>
            <a:pPr marL="85725" indent="-85725">
              <a:lnSpc>
                <a:spcPts val="600"/>
              </a:lnSpc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altLang="ko-KR" sz="600" i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SQA : Software Quality Assurance</a:t>
            </a:r>
          </a:p>
          <a:p>
            <a:pPr marL="85725" indent="-85725">
              <a:lnSpc>
                <a:spcPts val="600"/>
              </a:lnSpc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altLang="ko-KR" sz="600" i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DQA : Data Quality Assurance</a:t>
            </a:r>
          </a:p>
        </p:txBody>
      </p:sp>
      <p:grpSp>
        <p:nvGrpSpPr>
          <p:cNvPr id="9" name="그룹 84"/>
          <p:cNvGrpSpPr/>
          <p:nvPr/>
        </p:nvGrpSpPr>
        <p:grpSpPr>
          <a:xfrm>
            <a:off x="2914481" y="6057292"/>
            <a:ext cx="2893340" cy="265833"/>
            <a:chOff x="2789017" y="6043487"/>
            <a:chExt cx="2893340" cy="265833"/>
          </a:xfrm>
        </p:grpSpPr>
        <p:sp>
          <p:nvSpPr>
            <p:cNvPr id="86" name="Rectangle 11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blackWhite">
            <a:xfrm>
              <a:off x="3911440" y="6093502"/>
              <a:ext cx="837800" cy="173395"/>
            </a:xfrm>
            <a:prstGeom prst="rect">
              <a:avLst/>
            </a:prstGeom>
            <a:solidFill>
              <a:srgbClr val="91C4FF"/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8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7" name="Rectangle 11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blackWhite">
            <a:xfrm>
              <a:off x="4799276" y="6093502"/>
              <a:ext cx="837800" cy="17339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square" lIns="0" rIns="0" anchor="ctr"/>
            <a:lstStyle/>
            <a:p>
              <a:pPr algn="ctr"/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외부 기관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업체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2970146" y="6043487"/>
              <a:ext cx="2712211" cy="265833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2789017" y="6043487"/>
              <a:ext cx="183763" cy="2658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범례</a:t>
              </a:r>
            </a:p>
          </p:txBody>
        </p:sp>
        <p:sp>
          <p:nvSpPr>
            <p:cNvPr id="90" name="Rectangle 11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blackWhite">
            <a:xfrm>
              <a:off x="3023604" y="6093502"/>
              <a:ext cx="837800" cy="173395"/>
            </a:xfrm>
            <a:prstGeom prst="rect">
              <a:avLst/>
            </a:prstGeom>
            <a:solidFill>
              <a:schemeClr val="bg1"/>
            </a:solidFill>
            <a:ln w="19050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사업본부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0" name="그룹 90"/>
          <p:cNvGrpSpPr/>
          <p:nvPr/>
        </p:nvGrpSpPr>
        <p:grpSpPr>
          <a:xfrm>
            <a:off x="3402729" y="4866419"/>
            <a:ext cx="2250631" cy="931613"/>
            <a:chOff x="794703" y="4006712"/>
            <a:chExt cx="2952000" cy="931613"/>
          </a:xfrm>
        </p:grpSpPr>
        <p:sp>
          <p:nvSpPr>
            <p:cNvPr id="92" name="Rectangle 114"/>
            <p:cNvSpPr>
              <a:spLocks noChangeArrowheads="1"/>
            </p:cNvSpPr>
            <p:nvPr/>
          </p:nvSpPr>
          <p:spPr bwMode="blackWhite">
            <a:xfrm>
              <a:off x="794703" y="4006712"/>
              <a:ext cx="2952000" cy="93161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t"/>
            <a:lstStyle/>
            <a:p>
              <a:pPr algn="ctr"/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운영 업체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3" name="Rectangle 11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blackWhite">
            <a:xfrm>
              <a:off x="842801" y="4247357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DBA</a:t>
              </a:r>
            </a:p>
          </p:txBody>
        </p:sp>
        <p:sp>
          <p:nvSpPr>
            <p:cNvPr id="94" name="Rectangle 11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blackWhite">
            <a:xfrm>
              <a:off x="842801" y="4595409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SQA</a:t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DQA)</a:t>
              </a:r>
            </a:p>
          </p:txBody>
        </p:sp>
        <p:sp>
          <p:nvSpPr>
            <p:cNvPr id="95" name="Rectangle 11"/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blackWhite">
            <a:xfrm>
              <a:off x="2296382" y="4247357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모델러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6" name="Rectangle 11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blackWhite">
            <a:xfrm>
              <a:off x="2296382" y="4595409"/>
              <a:ext cx="1381218" cy="288073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응용 프로그래머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97" name="AutoShape 117"/>
          <p:cNvCxnSpPr>
            <a:cxnSpLocks noChangeShapeType="1"/>
            <a:stCxn id="71" idx="2"/>
            <a:endCxn id="106" idx="0"/>
          </p:cNvCxnSpPr>
          <p:nvPr/>
        </p:nvCxnSpPr>
        <p:spPr bwMode="auto">
          <a:xfrm rot="16200000" flipH="1">
            <a:off x="4016184" y="3156413"/>
            <a:ext cx="216064" cy="1601762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98" name="AutoShape 116"/>
          <p:cNvCxnSpPr>
            <a:cxnSpLocks noChangeShapeType="1"/>
            <a:stCxn id="68" idx="2"/>
            <a:endCxn id="92" idx="0"/>
          </p:cNvCxnSpPr>
          <p:nvPr/>
        </p:nvCxnSpPr>
        <p:spPr bwMode="auto">
          <a:xfrm rot="16200000" flipH="1">
            <a:off x="3752345" y="4090718"/>
            <a:ext cx="357299" cy="1194102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99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2553817" y="2055454"/>
            <a:ext cx="1539035" cy="622908"/>
          </a:xfrm>
          <a:prstGeom prst="rect">
            <a:avLst/>
          </a:prstGeom>
          <a:solidFill>
            <a:schemeClr val="bg1"/>
          </a:solidFill>
          <a:ln w="19050" algn="ctr">
            <a:solidFill>
              <a:srgbClr val="2377F7"/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0" name="AutoShape 117"/>
          <p:cNvCxnSpPr>
            <a:cxnSpLocks noChangeShapeType="1"/>
            <a:stCxn id="99" idx="2"/>
            <a:endCxn id="71" idx="0"/>
          </p:cNvCxnSpPr>
          <p:nvPr/>
        </p:nvCxnSpPr>
        <p:spPr bwMode="auto">
          <a:xfrm>
            <a:off x="3323335" y="2678362"/>
            <a:ext cx="0" cy="810900"/>
          </a:xfrm>
          <a:prstGeom prst="straightConnector1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102" name="직선 연결선 101"/>
          <p:cNvCxnSpPr/>
          <p:nvPr/>
        </p:nvCxnSpPr>
        <p:spPr bwMode="auto">
          <a:xfrm>
            <a:off x="2553817" y="2462706"/>
            <a:ext cx="1539035" cy="0"/>
          </a:xfrm>
          <a:prstGeom prst="line">
            <a:avLst/>
          </a:prstGeom>
          <a:solidFill>
            <a:srgbClr val="FBB779"/>
          </a:solidFill>
          <a:ln w="6350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3" name="직사각형 102"/>
          <p:cNvSpPr/>
          <p:nvPr/>
        </p:nvSpPr>
        <p:spPr>
          <a:xfrm>
            <a:off x="3083091" y="242520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200" b="1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본사</a:t>
            </a:r>
            <a:endParaRPr lang="ko-KR" altLang="en-US" sz="12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1025959" y="4065326"/>
            <a:ext cx="1389564" cy="360000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algn="ctr">
            <a:solidFill>
              <a:schemeClr val="tx1">
                <a:lumMod val="95000"/>
                <a:lumOff val="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데이터표준관리자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5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2628137" y="4065326"/>
            <a:ext cx="1389564" cy="360000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algn="ctr">
            <a:solidFill>
              <a:schemeClr val="tx1">
                <a:lumMod val="95000"/>
                <a:lumOff val="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데이터품질관리자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4230315" y="4065326"/>
            <a:ext cx="1389564" cy="360000"/>
          </a:xfrm>
          <a:prstGeom prst="rect">
            <a:avLst/>
          </a:prstGeom>
          <a:solidFill>
            <a:schemeClr val="accent2">
              <a:lumMod val="90000"/>
            </a:schemeClr>
          </a:solidFill>
          <a:ln w="3175" algn="ctr">
            <a:solidFill>
              <a:schemeClr val="tx1">
                <a:lumMod val="95000"/>
                <a:lumOff val="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DA</a:t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외주업체 채용 가능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sp>
        <p:nvSpPr>
          <p:cNvPr id="107" name="Rectangle 11"/>
          <p:cNvSpPr>
            <a:spLocks noChangeArrowheads="1"/>
          </p:cNvSpPr>
          <p:nvPr>
            <p:custDataLst>
              <p:tags r:id="rId6"/>
            </p:custDataLst>
          </p:nvPr>
        </p:nvSpPr>
        <p:spPr bwMode="blackWhite">
          <a:xfrm>
            <a:off x="2553817" y="3021210"/>
            <a:ext cx="1539035" cy="360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endParaRPr lang="en-US" altLang="ko-KR" sz="10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" name="그룹 108"/>
          <p:cNvGrpSpPr/>
          <p:nvPr/>
        </p:nvGrpSpPr>
        <p:grpSpPr>
          <a:xfrm>
            <a:off x="6184874" y="1592796"/>
            <a:ext cx="3343658" cy="4715929"/>
            <a:chOff x="354519" y="1592796"/>
            <a:chExt cx="6594107" cy="4715929"/>
          </a:xfrm>
        </p:grpSpPr>
        <p:sp>
          <p:nvSpPr>
            <p:cNvPr id="110" name="직사각형 109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조직체계 정립 방향성 정의</a:t>
              </a:r>
            </a:p>
          </p:txBody>
        </p:sp>
        <p:sp>
          <p:nvSpPr>
            <p:cNvPr id="111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관련 업무 그룹을 데이터 소유부문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사업본부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),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데이터 관리 </a:t>
              </a:r>
              <a:r>
                <a:rPr lang="ko-KR" altLang="en-US" sz="10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부문</a:t>
              </a:r>
              <a:r>
                <a:rPr lang="en-US" altLang="ko-KR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</a:t>
              </a:r>
              <a:r>
                <a:rPr lang="en-US" altLang="ko-KR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),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설계 부문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정보시스템 개발 업체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시스템 운영 업체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),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외부 데이터 품질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감리업체로 구성함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각 업무 그룹은 데이터 품질관리 체계 전체를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커버하면서도 전문성과 고유 역량을 발휘할 수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있도록 데이터 담당자를 세분화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최소한의 인력으로 최대의 효과를 거둘 수 있도록 유관 업무의 집중 부여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코레일테크의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구성 인력에게 데이터 품질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관리 관련 직무를 부여하여 데이터 품질관리 업무 병행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수행 직무를 분류하고 명확한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직무 내용을 기술함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각각의 데이터 담당자에게 직무 부여를 통하여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명확한 업무 할당과 업무 숙지가 가능하도록 함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담당 직무 분야를 반복적 수행함으로써 생산성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향상 및 직무 역량이 강화될 수 있도록 함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정보시스템 구축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운영과정의 데이터 품질 향상을 위하여 협력업체 담당자의 엄격한 직무 요건 부여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2563" indent="-182563">
                <a:spcBef>
                  <a:spcPts val="500"/>
                </a:spcBef>
                <a:buClr>
                  <a:srgbClr val="000000"/>
                </a:buClr>
                <a:buFont typeface="Wingdings" pitchFamily="2" charset="2"/>
                <a:buChar char="q"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전문성과 객관성을 담보한 데이터 품질 점검을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수행하기 위하여 외부 데이터 품질 감리 업체를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조직 체계에 포함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" name="TextBox 6"/>
          <p:cNvSpPr txBox="1"/>
          <p:nvPr/>
        </p:nvSpPr>
        <p:spPr>
          <a:xfrm>
            <a:off x="2860654" y="2123605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smtClean="0"/>
              <a:t>코레일레크</a:t>
            </a:r>
            <a:endParaRPr lang="ko-KR" altLang="en-US" sz="1200" dirty="0" err="1" smtClean="0"/>
          </a:p>
        </p:txBody>
      </p:sp>
      <p:sp>
        <p:nvSpPr>
          <p:cNvPr id="59" name="TextBox 58"/>
          <p:cNvSpPr txBox="1"/>
          <p:nvPr/>
        </p:nvSpPr>
        <p:spPr>
          <a:xfrm>
            <a:off x="2874018" y="3055178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smtClean="0"/>
              <a:t>코레일레크</a:t>
            </a:r>
            <a:endParaRPr lang="ko-KR" altLang="en-US" sz="1200" dirty="0" err="1" smtClean="0"/>
          </a:p>
        </p:txBody>
      </p:sp>
    </p:spTree>
    <p:extLst>
      <p:ext uri="{BB962C8B-B14F-4D97-AF65-F5344CB8AC3E}">
        <p14:creationId xmlns:p14="http://schemas.microsoft.com/office/powerpoint/2010/main" val="419553602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44"/>
          <p:cNvGrpSpPr/>
          <p:nvPr/>
        </p:nvGrpSpPr>
        <p:grpSpPr>
          <a:xfrm>
            <a:off x="344489" y="836712"/>
            <a:ext cx="9217024" cy="5472013"/>
            <a:chOff x="354519" y="1592796"/>
            <a:chExt cx="6594107" cy="5472013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조직 책임과 역할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『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부문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』 (1/2)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514797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pc="-150" smtClean="0"/>
              <a:t/>
            </a:r>
            <a:br>
              <a:rPr lang="en-US" altLang="ko-KR" spc="-150" smtClean="0"/>
            </a:br>
            <a:r>
              <a:rPr lang="en-US" altLang="ko-KR" spc="-150" smtClean="0"/>
              <a:t>&gt; </a:t>
            </a:r>
            <a:r>
              <a:rPr lang="ko-KR" altLang="en-US" sz="1800" spc="-150" smtClean="0"/>
              <a:t>데이터 </a:t>
            </a:r>
            <a:r>
              <a:rPr lang="ko-KR" altLang="en-US" sz="1800" spc="-150" dirty="0"/>
              <a:t>관리 조직의 책임과 역할 </a:t>
            </a:r>
            <a:r>
              <a:rPr lang="en-US" altLang="ko-KR" sz="1800" spc="-150" dirty="0"/>
              <a:t>(1/5)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lvl="0"/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lvl="0"/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101" name="Group 3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614952"/>
              </p:ext>
            </p:extLst>
          </p:nvPr>
        </p:nvGraphicFramePr>
        <p:xfrm>
          <a:off x="415925" y="1227169"/>
          <a:ext cx="9099984" cy="5013464"/>
        </p:xfrm>
        <a:graphic>
          <a:graphicData uri="http://schemas.openxmlformats.org/drawingml/2006/table">
            <a:tbl>
              <a:tblPr/>
              <a:tblGrid>
                <a:gridCol w="4167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046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404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7863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00229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4809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992371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1240464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1240464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</a:tblGrid>
              <a:tr h="229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ko-KR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교환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인프라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공공데이터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945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-15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정보팀장</a:t>
                      </a:r>
                      <a:endParaRPr kumimoji="1" lang="en-US" altLang="ko-KR" sz="1000" b="1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데이터에 대한 총괄 책임</a:t>
                      </a:r>
                      <a:endParaRPr kumimoji="1" lang="en-US" altLang="ko-KR" sz="6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전략과 정책에 대한  승인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800" b="1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800" b="1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및 보안에 대한 스폰서 십 발휘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품질목표 승인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관련 예산 수립  최종  승인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en-US" altLang="ko-KR" sz="800" b="0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endParaRPr kumimoji="1" lang="ko-KR" altLang="en-US" sz="700" b="0" i="0" u="none" strike="noStrike" kern="1200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700" b="0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0313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en-US" altLang="ko-KR" sz="1000" b="1" i="0" u="none" strike="noStrike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데이터에 대한 실무 책임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목표 수립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표준에 대한 최종 검토 및 승인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표준에 대한 이슈사항 조정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관련 예산 수립 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정책 수립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기능별 담당자 배정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향상을 위한 전략 기획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보안에 대한 정책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수립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개방을 위한 공공데이터 분류와  공개 범위에 대한 결정</a:t>
                      </a:r>
                    </a:p>
                  </a:txBody>
                  <a:tcPr marL="36000" marR="36000" marT="0" marB="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36183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데이터품질관리자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 준수 여부 검증</a:t>
                      </a:r>
                      <a:endPara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개발 프로젝트에 대한 설계 가 데이터 표준에 부합되는지 검증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개발 프로젝트에 대한 검수 시 데이터 표준에 부합되는지 검수 확인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운영 시 데이터 표준에 부합되는지 검증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542925" marR="0" lvl="1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전사 데이터 모델 구조 정의 등록 및 변경 관리</a:t>
                      </a:r>
                      <a:endPara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개발 프로젝트에 대한 데이터 관련 설계 문서 작성 여부 확인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 및 타당성 검토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운영 시 데이터 관련 설계 문서의 유지 관리 여부 검증</a:t>
                      </a:r>
                      <a:endPara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</a:t>
                      </a:r>
                      <a:r>
                        <a:rPr kumimoji="1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 모델의 표준 준수 여부 검증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구조관련 메타데이터 등록 관리</a:t>
                      </a:r>
                      <a:endPara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성능 점검 및 가이드</a:t>
                      </a:r>
                      <a:endPara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정기적인 데이터베이스 성능 점검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성능 저하 데이터베이스에 대한 튜닝 실시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및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SQL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튜닝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품질관리 표준 프로세스에 대한 제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개정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품질관리 프로세스 제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개정 및 개선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품질진단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개선  프로세스 제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개정 및 개선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목표 수립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측정 대상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품질지표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목표값 등의 설정 및 우선순위 선정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정기적인 데이터 품질 진단 및 개선 활동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모든 개발 프로젝트에 대한 품질 진단 실시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개발 프로젝트 팀의 업무 규칙의 수립 여부 및 타당성 검토 및  업무규칙에 의한  정기적인 데이터 품질 진단 실시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운영시스템에 대한 정기적인 데이터 품질 진단 실시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품질관리 활동 결과의 품질관리 시스템 등록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외부 데이터 품질 감리업체에 데이터 품질 진단 의뢰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전사 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  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요원 관리 및 업무 지시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개발 프로젝트  및 운영 업체의 조직 구성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담당자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확인 및  데이터 품질 교육 실시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 데이터에 대한 품질 관리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정기적인 연계 데이터에 대한 품질 점검 실시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정기적인 연계  시스템 성능 점검  실시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 표준 관리자와 연계 정보 및 방법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구조에 대한 개선안 제공 및 협의 진행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보안 정책 수립 시행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보안 정책 및 프로세스 제개정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보안 분야에 대한 정기적인 점검 실시</a:t>
                      </a:r>
                      <a:endParaRPr kumimoji="1" lang="en-US" altLang="ko-KR" sz="7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인프라 운영관리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메타데이터관리시스템의 운영관리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품질관리시스템 운영관리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인프라에 대한 시스템 개선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모델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품질에 대한 전반적인 사항 관리 및 설계 지원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 시스템 활용 및 향후 타 시스템 연계 방안 수립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품질관리 및 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타 시스템과의 향후 연계  부문에 대해 기술 지원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공공 데이터에 대한 품질 보증 활동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공공데이터에 대한 품질 관리 활동 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공공데이터에 대한 품질 진단 실시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ko-KR" altLang="en-US" sz="6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96289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44"/>
          <p:cNvGrpSpPr/>
          <p:nvPr/>
        </p:nvGrpSpPr>
        <p:grpSpPr>
          <a:xfrm>
            <a:off x="344489" y="836712"/>
            <a:ext cx="9217024" cy="5472013"/>
            <a:chOff x="354519" y="1592796"/>
            <a:chExt cx="6594107" cy="5472013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조직 책임과 역할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『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부문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』 (2/2)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514797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/>
              <a:t>데이터 관리 조직의 책임과 역할</a:t>
            </a:r>
            <a:r>
              <a:rPr lang="en-US" altLang="ko-KR" sz="1800" spc="-150" smtClean="0"/>
              <a:t>(</a:t>
            </a:r>
            <a:r>
              <a:rPr lang="en-US" altLang="ko-KR" sz="1800" spc="-150" dirty="0"/>
              <a:t>2/5)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13" name="Group 374"/>
          <p:cNvGraphicFramePr>
            <a:graphicFrameLocks noGrp="1"/>
          </p:cNvGraphicFramePr>
          <p:nvPr>
            <p:extLst/>
          </p:nvPr>
        </p:nvGraphicFramePr>
        <p:xfrm>
          <a:off x="415924" y="1196753"/>
          <a:ext cx="9074154" cy="4992887"/>
        </p:xfrm>
        <a:graphic>
          <a:graphicData uri="http://schemas.openxmlformats.org/drawingml/2006/table">
            <a:tbl>
              <a:tblPr/>
              <a:tblGrid>
                <a:gridCol w="41555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1236943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2213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ko-KR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교환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인프라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공공데이터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0419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데이터표준관리자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표준 정의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도메인</a:t>
                      </a:r>
                      <a:r>
                        <a:rPr kumimoji="1" lang="en-US" altLang="ko-KR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</a:t>
                      </a:r>
                      <a:r>
                        <a:rPr kumimoji="1" lang="en-US" altLang="ko-KR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명명규칙 등 데이터표준 정의</a:t>
                      </a:r>
                      <a:r>
                        <a:rPr kumimoji="1" lang="en-US" altLang="ko-KR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관리</a:t>
                      </a:r>
                      <a:endParaRPr kumimoji="1" lang="en-US" altLang="ko-KR" sz="6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 프로세스 제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개정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프로세스 </a:t>
                      </a:r>
                      <a:endParaRPr kumimoji="1" lang="en-US" altLang="ko-KR" sz="6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 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분류체계 수립 및 유지관리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분류체계 수립시행</a:t>
                      </a:r>
                      <a:endParaRPr kumimoji="1" lang="en-US" altLang="ko-KR" sz="6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코드 데이터 관리</a:t>
                      </a:r>
                      <a:endParaRPr kumimoji="1" lang="en-US" altLang="ko-KR" sz="6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용어 관리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모델 구조 표준 준수를 위한 가이드 제공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00"/>
                        </a:lnSpc>
                        <a:spcBef>
                          <a:spcPts val="0"/>
                        </a:spcBef>
                      </a:pPr>
                      <a:endParaRPr lang="ko-KR" altLang="en-US" sz="1600" b="0" spc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연계 정의 및 변경 등록 관리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연계 정의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변경  요청한 데이터 소유  기관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부서와 관련 있는   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IT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담당자 및 모델러들의 업무 협조체제 마련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변경 영향도 분석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00"/>
                        </a:lnSpc>
                        <a:spcBef>
                          <a:spcPts val="0"/>
                        </a:spcBef>
                      </a:pPr>
                      <a:endParaRPr lang="ko-KR" altLang="en-US" sz="1600" b="0" spc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 관리 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 운영 관리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  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전사 데이터 품질관리를 위한 사전 표준 수립활동   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 관련 정보 메타데이터 시스템에 등록 관리</a:t>
                      </a:r>
                    </a:p>
                    <a:p>
                      <a:pPr>
                        <a:lnSpc>
                          <a:spcPts val="900"/>
                        </a:lnSpc>
                        <a:spcBef>
                          <a:spcPts val="0"/>
                        </a:spcBef>
                      </a:pPr>
                      <a:endParaRPr lang="ko-KR" altLang="en-US" sz="1600" b="0" spc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2462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vert="eaVert" anchor="ctr" horzOverflow="overflow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0" i="0" u="none" strike="noStrike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0" i="0" u="none" strike="noStrike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 데이터에 대한 품질 점검 요청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품질관리자에게 공개 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개방을 위한 공공데이터 에 대한 정기적인  품질 점검 의뢰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0" i="0" u="none" strike="noStrike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0" i="0" u="none" strike="noStrike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00"/>
                        </a:lnSpc>
                        <a:spcBef>
                          <a:spcPts val="0"/>
                        </a:spcBef>
                      </a:pPr>
                      <a:endParaRPr lang="ko-KR" altLang="en-US" sz="1600" b="0" spc="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 데이터 분류 체계 수립 및 유지 관리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개방을 위한 데이터 분류체계 수립 시행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공공데이터에 대한 공개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범위 설정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 공개개방 프로세스 제</a:t>
                      </a:r>
                      <a:r>
                        <a:rPr kumimoji="1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개정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데이터 관리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·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데이터에 대한 공개 방식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유형 결정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공개개방 데이터 이용현황 분석보고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서비스 구축 시 업무 협조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837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</a:t>
                      </a:r>
                    </a:p>
                  </a:txBody>
                  <a:tcPr marL="36000" marR="36000" marT="0" marB="0"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표준 관련 제반 지원 활동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도메인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</a:t>
                      </a:r>
                      <a:r>
                        <a:rPr kumimoji="1" lang="en-US" altLang="ko-KR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명명    규칙 등 데이터 표준  정의 및 변경 관리</a:t>
                      </a:r>
                      <a:endParaRPr kumimoji="1" lang="en-US" altLang="ko-KR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구조 관련 제반 지원 활동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 품질 관련 제반 지원 활동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연계 관련 제반 지원활동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인프라 유지 관리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및 메타데이터 관리 시스템   유지보수 부문 담당</a:t>
                      </a:r>
                      <a:r>
                        <a:rPr kumimoji="1" lang="ko-KR" altLang="en-US" sz="6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메타데이터관리시스템 연계 방안 수립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6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메타데이터관리시스템과 타  시스템과의 향후 연계  부문에 대해 기술 지원</a:t>
                      </a:r>
                      <a:endParaRPr kumimoji="1" lang="en-US" altLang="ko-KR" sz="7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 관리 관련 제반 지원 활동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186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</a:t>
                      </a:r>
                      <a: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데이터</a:t>
                      </a:r>
                      <a: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</a:t>
                      </a:r>
                      <a: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감리업체</a:t>
                      </a:r>
                      <a:endParaRPr kumimoji="1" lang="en-US" altLang="ko-KR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 품질 진단 요청 시 객관적인 데이터 품질 진단 실시 및 개선안 제시</a:t>
                      </a:r>
                    </a:p>
                  </a:txBody>
                  <a:tcPr marL="36000" marR="36000" marT="3600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1" indent="-8255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endParaRPr kumimoji="1" lang="en-US" altLang="ko-KR" sz="700" b="0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898754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44"/>
          <p:cNvGrpSpPr/>
          <p:nvPr/>
        </p:nvGrpSpPr>
        <p:grpSpPr>
          <a:xfrm>
            <a:off x="344489" y="836712"/>
            <a:ext cx="9217024" cy="5472013"/>
            <a:chOff x="354519" y="1592796"/>
            <a:chExt cx="6594107" cy="5472013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조직 책임과 역할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『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설계 부문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』 (1/2)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514797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/>
              <a:t>데이터 관리 조직의 책임과 역할</a:t>
            </a:r>
            <a:r>
              <a:rPr lang="en-US" altLang="ko-KR" sz="1800" spc="-150" smtClean="0"/>
              <a:t>(</a:t>
            </a:r>
            <a:r>
              <a:rPr lang="en-US" altLang="ko-KR" sz="1800" spc="-150" dirty="0"/>
              <a:t>3/5)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14" name="직사각형 13"/>
          <p:cNvSpPr/>
          <p:nvPr/>
        </p:nvSpPr>
        <p:spPr>
          <a:xfrm>
            <a:off x="344488" y="1181986"/>
            <a:ext cx="4772980" cy="289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정보시스템</a:t>
            </a: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구축 업체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5" name="Group 374"/>
          <p:cNvGraphicFramePr>
            <a:graphicFrameLocks noGrp="1"/>
          </p:cNvGraphicFramePr>
          <p:nvPr>
            <p:extLst/>
          </p:nvPr>
        </p:nvGraphicFramePr>
        <p:xfrm>
          <a:off x="415925" y="1472233"/>
          <a:ext cx="9074153" cy="4722531"/>
        </p:xfrm>
        <a:graphic>
          <a:graphicData uri="http://schemas.openxmlformats.org/drawingml/2006/table">
            <a:tbl>
              <a:tblPr/>
              <a:tblGrid>
                <a:gridCol w="41555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ko-KR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교환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인프라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1891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</a:t>
                      </a: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베이스 객체 생성 시 명명 규칙 표준을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계정 생성 시 명명 규칙 표준 준수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계정에 대한 보안 지침 준수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 수준별 권한 설정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요청된 계정 및 사용자에  대해 검토</a:t>
                      </a:r>
                      <a:r>
                        <a:rPr kumimoji="1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승인여부 판단 </a:t>
                      </a:r>
                      <a:endParaRPr kumimoji="1" lang="en-US" altLang="ko-KR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사용의 일상 감사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권한 설정된 데이터에  대해  로그 조회 분석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분석 결과 보고 및 이상  결과 발견 시</a:t>
                      </a:r>
                      <a:r>
                        <a:rPr kumimoji="1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데이터관리 총괄 및 관련 업무담당자 협의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구축 데이터베이스에 대한 메타데이터 관련 정보 등록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608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담당자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준수 여부 내부 품질 진단 실시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 관련 제반 지원 활동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프로젝트의 데이터 품질 보증 역할 수행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 수행계획 수립 시 데이터 품질 보증 부문 계획 수립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 보증 수행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품질관리 활동 내용을 데이터 품질관리 시스템에 입력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 목표 수립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데이터연계 관련 제반 지원활동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연계 정보 메타데이터 관리 시스템에 등록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 데이터에  대한 데이터 품질 자체 점검 실시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코드 추가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시 전사 데이터 표준관리자에게 승인 후 메타데이터 관리 시스템에 등록 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482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모델러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모델링 시 데이터표준 방침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표준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 데이터 도구를 이용한 모델링 수행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모델링 시 표준 자료사전을 준수하여 작업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설계서에 대한 품질 점검 수검 및 시정조치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설계서 작성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 품질 관련 방침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모델을 메타데이터  관리시스템에 등록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846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응용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프로그래머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코딩 등 작업 시 자료사전의 내용을 준수하여 작업 진행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주요 데이터에 대한 업무 규칙 설계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주요 데이터에 대한 업무 규칙에 의한 테스트 실시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 외부 시스템 연계 인터페이스 설계 시 데이터연계 표준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관련 정보 메타데이터 관리 시스템에 등록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028722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44"/>
          <p:cNvGrpSpPr/>
          <p:nvPr/>
        </p:nvGrpSpPr>
        <p:grpSpPr>
          <a:xfrm>
            <a:off x="344489" y="836712"/>
            <a:ext cx="9217024" cy="5472013"/>
            <a:chOff x="354519" y="1592796"/>
            <a:chExt cx="6594107" cy="5472013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조직 책임과 역할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『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설계 부문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』 (2/2)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514797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</a:t>
            </a:r>
            <a:r>
              <a:rPr lang="ko-KR" altLang="en-US" sz="1800" spc="-150"/>
              <a:t>정립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/>
              <a:t>데이터 관리 조직의 책임과 역할</a:t>
            </a:r>
            <a:r>
              <a:rPr lang="en-US" altLang="ko-KR" sz="1800" spc="-150" smtClean="0"/>
              <a:t>(</a:t>
            </a:r>
            <a:r>
              <a:rPr lang="en-US" altLang="ko-KR" sz="1800" spc="-150" dirty="0"/>
              <a:t>4/5)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14" name="직사각형 13"/>
          <p:cNvSpPr/>
          <p:nvPr/>
        </p:nvSpPr>
        <p:spPr>
          <a:xfrm>
            <a:off x="344488" y="1181986"/>
            <a:ext cx="4772980" cy="289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2563" indent="-182563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정보시스템</a:t>
            </a: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운영 업체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5" name="Group 374"/>
          <p:cNvGraphicFramePr>
            <a:graphicFrameLocks noGrp="1"/>
          </p:cNvGraphicFramePr>
          <p:nvPr>
            <p:extLst/>
          </p:nvPr>
        </p:nvGraphicFramePr>
        <p:xfrm>
          <a:off x="415925" y="1472233"/>
          <a:ext cx="9074153" cy="4722531"/>
        </p:xfrm>
        <a:graphic>
          <a:graphicData uri="http://schemas.openxmlformats.org/drawingml/2006/table">
            <a:tbl>
              <a:tblPr/>
              <a:tblGrid>
                <a:gridCol w="41555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4431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ko-KR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교환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인프라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1891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</a:t>
                      </a: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베이스 객체 생성 시 명명 규칙 표준을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계정 생성 시 명명 규칙 표준 준수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계정에 대한 보안 지침 준수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 수준별 권한 설정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요청된 계정 및 사용자에  대해 검토</a:t>
                      </a:r>
                      <a:r>
                        <a:rPr kumimoji="1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승인여부 판단 </a:t>
                      </a:r>
                      <a:endParaRPr kumimoji="1" lang="en-US" altLang="ko-KR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사용의 일상 감사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권한 설정된 데이터에  대해  로그 조회 분석</a:t>
                      </a:r>
                    </a:p>
                    <a:p>
                      <a:pPr marL="177800" marR="0" lvl="1" indent="-8255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anose="05000000000000000000" pitchFamily="2" charset="2"/>
                        <a:buChar char="ü"/>
                        <a:tabLst/>
                      </a:pP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분석 결과 보고 및 이상  결과 발견 시</a:t>
                      </a:r>
                      <a:r>
                        <a:rPr kumimoji="1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데이터관리 총괄 및 관련 업무담당자 협의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신규 구축 데이터베이스에 대한 메타데이터 관련 정보 등록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608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담당자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준수 여부 내부 품질 진단 실시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 관련 제반 지원 활동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프로젝트의 데이터 품질 보증 역할 수행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 수행계획 수립 시 데이터 품질 보증 부문 계획 수립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 보증 수행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품질관리 활동 내용을 데이터 품질관리 시스템에 입력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데이터 품질 목표 수립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데이터연계 관련 제반 지원활동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연계 정보 메타데이터 관리 시스템에 등록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 데이터에  대한 데이터 품질 자체 점검 실시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코드 추가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수정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시 전사 데이터 표준관리자에게 승인 후 메타데이터 관리 시스템에 등록 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482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모델러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모델링 시 데이터표준 방침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표준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 데이터 도구를 이용한 모델링 수행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모델링 시 표준 자료사전을 준수하여 작업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설계서에 대한 품질 점검 수검 및 시정조치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설계서 작성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 품질 관련 방침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모델을 메타데이터  관리시스템에 등록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8465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응용</a:t>
                      </a:r>
                      <a: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프로그래머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화면설계</a:t>
                      </a:r>
                      <a:r>
                        <a:rPr kumimoji="1" lang="en-US" altLang="ko-KR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코딩 등 작업 시 자료사전의 내용을 준수하여 작업 진행</a:t>
                      </a: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주요 데이터에 대한 업무 규칙 설계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주요 데이터에 대한 업무 규칙에 의한 테스트 실시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 외부 시스템 연계 인터페이스 설계 시 데이터연계 표준 준수</a:t>
                      </a:r>
                      <a:endParaRPr kumimoji="1" lang="en-US" altLang="ko-KR" sz="7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관련 정보 메타데이터 관리 시스템에 등록</a:t>
                      </a: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5393703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44"/>
          <p:cNvGrpSpPr/>
          <p:nvPr/>
        </p:nvGrpSpPr>
        <p:grpSpPr>
          <a:xfrm>
            <a:off x="344489" y="836712"/>
            <a:ext cx="9217024" cy="5472013"/>
            <a:chOff x="354519" y="1592796"/>
            <a:chExt cx="6594107" cy="5472013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조직 책임과 역할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『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소유 부문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』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514797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/>
              <a:t>데이터 관리 조직의 책임과 역할</a:t>
            </a:r>
            <a:r>
              <a:rPr lang="en-US" altLang="ko-KR" sz="1800" spc="-150" smtClean="0"/>
              <a:t>(</a:t>
            </a:r>
            <a:r>
              <a:rPr lang="en-US" altLang="ko-KR" sz="1800" spc="-150" dirty="0"/>
              <a:t>5/5)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aphicFrame>
        <p:nvGraphicFramePr>
          <p:cNvPr id="16" name="Group 374"/>
          <p:cNvGraphicFramePr>
            <a:graphicFrameLocks noGrp="1"/>
          </p:cNvGraphicFramePr>
          <p:nvPr>
            <p:extLst/>
          </p:nvPr>
        </p:nvGraphicFramePr>
        <p:xfrm>
          <a:off x="415926" y="1268760"/>
          <a:ext cx="9074150" cy="1944216"/>
        </p:xfrm>
        <a:graphic>
          <a:graphicData uri="http://schemas.openxmlformats.org/drawingml/2006/table">
            <a:tbl>
              <a:tblPr/>
              <a:tblGrid>
                <a:gridCol w="3585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124508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담당</a:t>
                      </a:r>
                      <a:endParaRPr kumimoji="1" lang="ko-KR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교환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인프라</a:t>
                      </a:r>
                      <a:endParaRPr kumimoji="1" lang="ko-KR" alt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공공데이터 관리</a:t>
                      </a:r>
                    </a:p>
                  </a:txBody>
                  <a:tcPr marL="0" marR="0" marT="36000" marB="36000" anchor="ctr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8933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1"/>
                        </a:buClr>
                        <a:buSzTx/>
                        <a:buFont typeface="HY중고딕" pitchFamily="18" charset="-127"/>
                        <a:buNone/>
                        <a:tabLst/>
                      </a:pPr>
                      <a:r>
                        <a:rPr kumimoji="1" lang="ko-KR" altLang="en-US" sz="10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담당자</a:t>
                      </a:r>
                      <a:endParaRPr kumimoji="1" lang="en-US" altLang="ko-KR" sz="10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vert="eaVert" anchor="ctr" horzOverflow="overflow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600" b="0" i="0" u="none" strike="noStrike" kern="1200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0" i="0" u="none" strike="noStrike" kern="1200" cap="none" spc="-15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품질 진단 결과 및 이슈에 대한 보고 서 확인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관련  이슈 발생 시  전사 데이터 품질관리자에게 통보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보안성이 요구되는 데이터에 대한 보안 강화 요구사항을 전사 데이터 품질관리자에게 요청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관리 인프라를 활용한 소유 데이터에 대한 품질 확인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공공데이터 공개 및 개방  범위를 전사 공공정보 관리자와 협의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공개 및 개방 공공데이터의 활용 현황 분석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개방 원천데이터의 추가 제공</a:t>
                      </a: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5725" marR="0" lvl="0" indent="-85725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horzOverflow="overflow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07771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10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경영정보시스템 </a:t>
            </a:r>
            <a:r>
              <a:rPr lang="ko-KR" altLang="en-US" dirty="0"/>
              <a:t>데이터 품질관리 체계의 모든 관리 요소를 커버하면서도 중복 업무가 배제되고</a:t>
            </a:r>
            <a:r>
              <a:rPr lang="en-US" altLang="ko-KR" dirty="0"/>
              <a:t>,</a:t>
            </a:r>
            <a:r>
              <a:rPr lang="ko-KR" altLang="en-US" dirty="0"/>
              <a:t> 전문성이 발휘될 수 있도록 </a:t>
            </a:r>
            <a:r>
              <a:rPr lang="en-US" altLang="ko-KR" dirty="0"/>
              <a:t>8</a:t>
            </a:r>
            <a:r>
              <a:rPr lang="ko-KR" altLang="en-US" dirty="0"/>
              <a:t>개의 데이터 관리 직무를 식별하고 정의함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관리 직무 </a:t>
            </a:r>
            <a:r>
              <a:rPr lang="en-US" altLang="ko-KR" sz="1800" spc="-150" dirty="0"/>
              <a:t>&gt; </a:t>
            </a:r>
            <a:r>
              <a:rPr lang="ko-KR" altLang="en-US" sz="1800" spc="-150" dirty="0"/>
              <a:t>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2" name="그룹 60"/>
          <p:cNvGrpSpPr/>
          <p:nvPr/>
        </p:nvGrpSpPr>
        <p:grpSpPr>
          <a:xfrm>
            <a:off x="4679869" y="1592840"/>
            <a:ext cx="4881643" cy="4785734"/>
            <a:chOff x="200025" y="1592840"/>
            <a:chExt cx="4680967" cy="4785734"/>
          </a:xfrm>
        </p:grpSpPr>
        <p:sp>
          <p:nvSpPr>
            <p:cNvPr id="62" name="직사각형 61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직무 </a:t>
              </a:r>
            </a:p>
          </p:txBody>
        </p:sp>
        <p:sp>
          <p:nvSpPr>
            <p:cNvPr id="63" name="직사각형 62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" name="그룹 63"/>
          <p:cNvGrpSpPr/>
          <p:nvPr/>
        </p:nvGrpSpPr>
        <p:grpSpPr>
          <a:xfrm>
            <a:off x="344488" y="1592840"/>
            <a:ext cx="3455216" cy="4785734"/>
            <a:chOff x="200025" y="1592840"/>
            <a:chExt cx="4680967" cy="4785734"/>
          </a:xfrm>
        </p:grpSpPr>
        <p:sp>
          <p:nvSpPr>
            <p:cNvPr id="65" name="직사각형 64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2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12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66" name="직사각형 65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7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941048" y="2458400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총괄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4941048" y="2937674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9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4941048" y="3416948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0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4941048" y="3896222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4941048" y="4375496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교환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Rectangle 11"/>
          <p:cNvSpPr>
            <a:spLocks noChangeArrowheads="1"/>
          </p:cNvSpPr>
          <p:nvPr>
            <p:custDataLst>
              <p:tags r:id="rId6"/>
            </p:custDataLst>
          </p:nvPr>
        </p:nvSpPr>
        <p:spPr bwMode="blackWhite">
          <a:xfrm>
            <a:off x="4941048" y="4854770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보안관리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Rectangle 11"/>
          <p:cNvSpPr>
            <a:spLocks noChangeArrowheads="1"/>
          </p:cNvSpPr>
          <p:nvPr>
            <p:custDataLst>
              <p:tags r:id="rId7"/>
            </p:custDataLst>
          </p:nvPr>
        </p:nvSpPr>
        <p:spPr bwMode="blackWhite">
          <a:xfrm>
            <a:off x="4941048" y="5334044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인프라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Rectangle 11"/>
          <p:cNvSpPr>
            <a:spLocks noChangeArrowheads="1"/>
          </p:cNvSpPr>
          <p:nvPr>
            <p:custDataLst>
              <p:tags r:id="rId8"/>
            </p:custDataLst>
          </p:nvPr>
        </p:nvSpPr>
        <p:spPr bwMode="blackWhite">
          <a:xfrm>
            <a:off x="4941048" y="5813320"/>
            <a:ext cx="1403968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공공데이터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텍스트 개체 틀 2"/>
          <p:cNvSpPr txBox="1">
            <a:spLocks/>
          </p:cNvSpPr>
          <p:nvPr/>
        </p:nvSpPr>
        <p:spPr>
          <a:xfrm>
            <a:off x="200024" y="785794"/>
            <a:ext cx="9504000" cy="886397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marL="185738" indent="-185738" algn="l" defTabSz="742950" rtl="0" eaLnBrk="1" latinLnBrk="1" hangingPunct="1">
              <a:lnSpc>
                <a:spcPct val="90000"/>
              </a:lnSpc>
              <a:spcBef>
                <a:spcPts val="813"/>
              </a:spcBef>
              <a:buFont typeface="Arial" panose="020B0604020202020204" pitchFamily="34" charset="0"/>
              <a:buChar char="•"/>
              <a:defRPr sz="227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5721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9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2868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6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0016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67163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04311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41458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8606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753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Rectangle 11"/>
          <p:cNvSpPr>
            <a:spLocks noChangeArrowheads="1"/>
          </p:cNvSpPr>
          <p:nvPr>
            <p:custDataLst>
              <p:tags r:id="rId9"/>
            </p:custDataLst>
          </p:nvPr>
        </p:nvSpPr>
        <p:spPr bwMode="blackWhite">
          <a:xfrm>
            <a:off x="4831535" y="245840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</a:p>
        </p:txBody>
      </p:sp>
      <p:sp>
        <p:nvSpPr>
          <p:cNvPr id="77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blackWhite">
          <a:xfrm>
            <a:off x="4831535" y="2937674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</a:p>
        </p:txBody>
      </p:sp>
      <p:sp>
        <p:nvSpPr>
          <p:cNvPr id="78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blackWhite">
          <a:xfrm>
            <a:off x="4831535" y="3416948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</a:p>
        </p:txBody>
      </p:sp>
      <p:sp>
        <p:nvSpPr>
          <p:cNvPr id="79" name="Rectangle 11"/>
          <p:cNvSpPr>
            <a:spLocks noChangeArrowheads="1"/>
          </p:cNvSpPr>
          <p:nvPr>
            <p:custDataLst>
              <p:tags r:id="rId12"/>
            </p:custDataLst>
          </p:nvPr>
        </p:nvSpPr>
        <p:spPr bwMode="blackWhite">
          <a:xfrm>
            <a:off x="4831535" y="3896222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</a:p>
        </p:txBody>
      </p:sp>
      <p:sp>
        <p:nvSpPr>
          <p:cNvPr id="80" name="Rectangle 11"/>
          <p:cNvSpPr>
            <a:spLocks noChangeArrowheads="1"/>
          </p:cNvSpPr>
          <p:nvPr>
            <p:custDataLst>
              <p:tags r:id="rId13"/>
            </p:custDataLst>
          </p:nvPr>
        </p:nvSpPr>
        <p:spPr bwMode="blackWhite">
          <a:xfrm>
            <a:off x="4831535" y="4375496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</a:p>
        </p:txBody>
      </p:sp>
      <p:sp>
        <p:nvSpPr>
          <p:cNvPr id="81" name="Rectangle 11"/>
          <p:cNvSpPr>
            <a:spLocks noChangeArrowheads="1"/>
          </p:cNvSpPr>
          <p:nvPr>
            <p:custDataLst>
              <p:tags r:id="rId14"/>
            </p:custDataLst>
          </p:nvPr>
        </p:nvSpPr>
        <p:spPr bwMode="blackWhite">
          <a:xfrm>
            <a:off x="4831535" y="485477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6</a:t>
            </a:r>
          </a:p>
        </p:txBody>
      </p:sp>
      <p:sp>
        <p:nvSpPr>
          <p:cNvPr id="82" name="Rectangle 11"/>
          <p:cNvSpPr>
            <a:spLocks noChangeArrowheads="1"/>
          </p:cNvSpPr>
          <p:nvPr>
            <p:custDataLst>
              <p:tags r:id="rId15"/>
            </p:custDataLst>
          </p:nvPr>
        </p:nvSpPr>
        <p:spPr bwMode="blackWhite">
          <a:xfrm>
            <a:off x="4831535" y="5334044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7</a:t>
            </a:r>
          </a:p>
        </p:txBody>
      </p:sp>
      <p:sp>
        <p:nvSpPr>
          <p:cNvPr id="83" name="Rectangle 11"/>
          <p:cNvSpPr>
            <a:spLocks noChangeArrowheads="1"/>
          </p:cNvSpPr>
          <p:nvPr>
            <p:custDataLst>
              <p:tags r:id="rId16"/>
            </p:custDataLst>
          </p:nvPr>
        </p:nvSpPr>
        <p:spPr bwMode="blackWhite">
          <a:xfrm>
            <a:off x="4831535" y="581332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8</a:t>
            </a:r>
          </a:p>
        </p:txBody>
      </p:sp>
      <p:grpSp>
        <p:nvGrpSpPr>
          <p:cNvPr id="6" name="그룹 83"/>
          <p:cNvGrpSpPr/>
          <p:nvPr/>
        </p:nvGrpSpPr>
        <p:grpSpPr>
          <a:xfrm>
            <a:off x="489934" y="2500952"/>
            <a:ext cx="3186840" cy="3624906"/>
            <a:chOff x="386840" y="2022510"/>
            <a:chExt cx="3695780" cy="4203805"/>
          </a:xfrm>
        </p:grpSpPr>
        <p:sp>
          <p:nvSpPr>
            <p:cNvPr id="85" name="직사각형 84"/>
            <p:cNvSpPr/>
            <p:nvPr/>
          </p:nvSpPr>
          <p:spPr>
            <a:xfrm>
              <a:off x="386840" y="2022510"/>
              <a:ext cx="3695780" cy="4203805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오각형 85"/>
            <p:cNvSpPr/>
            <p:nvPr/>
          </p:nvSpPr>
          <p:spPr>
            <a:xfrm rot="16200000">
              <a:off x="2051976" y="548399"/>
              <a:ext cx="384362" cy="3481268"/>
            </a:xfrm>
            <a:prstGeom prst="homePlate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eaVert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87" name="직사각형 86"/>
            <p:cNvSpPr/>
            <p:nvPr/>
          </p:nvSpPr>
          <p:spPr>
            <a:xfrm>
              <a:off x="503523" y="25334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503523" y="29355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503523" y="4959041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503523" y="5361155"/>
              <a:ext cx="2997749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503523" y="5765580"/>
              <a:ext cx="3481268" cy="3527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503523" y="3333750"/>
              <a:ext cx="2997749" cy="157358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93" name="직사각형 92"/>
            <p:cNvSpPr/>
            <p:nvPr/>
          </p:nvSpPr>
          <p:spPr>
            <a:xfrm>
              <a:off x="2040575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2040575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46136" y="341800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746136" y="4013694"/>
              <a:ext cx="1296144" cy="5984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3541554" y="2533442"/>
              <a:ext cx="443237" cy="31804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 공개 및 개방</a:t>
              </a:r>
            </a:p>
          </p:txBody>
        </p:sp>
        <p:grpSp>
          <p:nvGrpSpPr>
            <p:cNvPr id="7" name="그룹 97"/>
            <p:cNvGrpSpPr/>
            <p:nvPr/>
          </p:nvGrpSpPr>
          <p:grpSpPr>
            <a:xfrm>
              <a:off x="1601884" y="3569147"/>
              <a:ext cx="892622" cy="892622"/>
              <a:chOff x="-1683537" y="3004277"/>
              <a:chExt cx="892622" cy="892622"/>
            </a:xfrm>
          </p:grpSpPr>
          <p:sp>
            <p:nvSpPr>
              <p:cNvPr id="99" name="모서리가 둥근 직사각형 98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100" name="타원 99"/>
              <p:cNvSpPr/>
              <p:nvPr/>
            </p:nvSpPr>
            <p:spPr>
              <a:xfrm>
                <a:off x="-1491716" y="3199832"/>
                <a:ext cx="490467" cy="490467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cxnSp>
        <p:nvCxnSpPr>
          <p:cNvPr id="101" name="직선 연결선 100"/>
          <p:cNvCxnSpPr>
            <a:stCxn id="76" idx="1"/>
          </p:cNvCxnSpPr>
          <p:nvPr/>
        </p:nvCxnSpPr>
        <p:spPr bwMode="auto">
          <a:xfrm flipH="1">
            <a:off x="3304995" y="2490032"/>
            <a:ext cx="1558172" cy="298772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2" name="직선 연결선 101"/>
          <p:cNvCxnSpPr>
            <a:stCxn id="76" idx="2"/>
            <a:endCxn id="87" idx="3"/>
          </p:cNvCxnSpPr>
          <p:nvPr/>
        </p:nvCxnSpPr>
        <p:spPr bwMode="auto">
          <a:xfrm flipH="1">
            <a:off x="3175483" y="2566400"/>
            <a:ext cx="1656052" cy="527200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3" name="직선 연결선 102"/>
          <p:cNvCxnSpPr>
            <a:stCxn id="76" idx="3"/>
            <a:endCxn id="88" idx="3"/>
          </p:cNvCxnSpPr>
          <p:nvPr/>
        </p:nvCxnSpPr>
        <p:spPr bwMode="auto">
          <a:xfrm flipH="1">
            <a:off x="3175483" y="2642768"/>
            <a:ext cx="1687684" cy="797571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4" name="직선 연결선 103"/>
          <p:cNvCxnSpPr>
            <a:stCxn id="77" idx="2"/>
            <a:endCxn id="95" idx="0"/>
          </p:cNvCxnSpPr>
          <p:nvPr/>
        </p:nvCxnSpPr>
        <p:spPr bwMode="auto">
          <a:xfrm flipH="1">
            <a:off x="1358579" y="3045674"/>
            <a:ext cx="3472956" cy="658601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5" name="직선 연결선 104"/>
          <p:cNvCxnSpPr>
            <a:stCxn id="83" idx="2"/>
            <a:endCxn id="97" idx="3"/>
          </p:cNvCxnSpPr>
          <p:nvPr/>
        </p:nvCxnSpPr>
        <p:spPr bwMode="auto">
          <a:xfrm flipH="1" flipV="1">
            <a:off x="3592417" y="4312756"/>
            <a:ext cx="1239118" cy="1608564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6" name="직선 연결선 105"/>
          <p:cNvCxnSpPr>
            <a:stCxn id="78" idx="2"/>
            <a:endCxn id="93" idx="3"/>
          </p:cNvCxnSpPr>
          <p:nvPr/>
        </p:nvCxnSpPr>
        <p:spPr bwMode="auto">
          <a:xfrm flipH="1">
            <a:off x="3033590" y="3524948"/>
            <a:ext cx="1797945" cy="437354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7" name="직선 연결선 106"/>
          <p:cNvCxnSpPr>
            <a:stCxn id="80" idx="2"/>
            <a:endCxn id="94" idx="3"/>
          </p:cNvCxnSpPr>
          <p:nvPr/>
        </p:nvCxnSpPr>
        <p:spPr bwMode="auto">
          <a:xfrm flipH="1" flipV="1">
            <a:off x="3033590" y="4475960"/>
            <a:ext cx="1797945" cy="7536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8" name="직선 연결선 107"/>
          <p:cNvCxnSpPr>
            <a:stCxn id="77" idx="3"/>
            <a:endCxn id="99" idx="2"/>
          </p:cNvCxnSpPr>
          <p:nvPr/>
        </p:nvCxnSpPr>
        <p:spPr bwMode="auto">
          <a:xfrm flipH="1">
            <a:off x="1922506" y="3122042"/>
            <a:ext cx="2940661" cy="1482263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09" name="직선 연결선 108"/>
          <p:cNvCxnSpPr>
            <a:stCxn id="79" idx="2"/>
          </p:cNvCxnSpPr>
          <p:nvPr/>
        </p:nvCxnSpPr>
        <p:spPr bwMode="auto">
          <a:xfrm flipH="1">
            <a:off x="1959431" y="4004222"/>
            <a:ext cx="2872104" cy="729765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10" name="직선 연결선 109"/>
          <p:cNvCxnSpPr>
            <a:stCxn id="81" idx="2"/>
            <a:endCxn id="92" idx="2"/>
          </p:cNvCxnSpPr>
          <p:nvPr/>
        </p:nvCxnSpPr>
        <p:spPr bwMode="auto">
          <a:xfrm flipH="1">
            <a:off x="1883016" y="4962770"/>
            <a:ext cx="2948519" cy="25746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11" name="직선 연결선 110"/>
          <p:cNvCxnSpPr>
            <a:stCxn id="79" idx="3"/>
            <a:endCxn id="89" idx="3"/>
          </p:cNvCxnSpPr>
          <p:nvPr/>
        </p:nvCxnSpPr>
        <p:spPr bwMode="auto">
          <a:xfrm flipH="1">
            <a:off x="3175483" y="4080590"/>
            <a:ext cx="1687684" cy="1104584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12" name="직선 연결선 111"/>
          <p:cNvCxnSpPr>
            <a:stCxn id="82" idx="2"/>
            <a:endCxn id="90" idx="3"/>
          </p:cNvCxnSpPr>
          <p:nvPr/>
        </p:nvCxnSpPr>
        <p:spPr bwMode="auto">
          <a:xfrm flipH="1">
            <a:off x="3175483" y="5442044"/>
            <a:ext cx="1656052" cy="89870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13" name="직선 연결선 112"/>
          <p:cNvCxnSpPr>
            <a:stCxn id="83" idx="3"/>
            <a:endCxn id="91" idx="3"/>
          </p:cNvCxnSpPr>
          <p:nvPr/>
        </p:nvCxnSpPr>
        <p:spPr bwMode="auto">
          <a:xfrm flipH="1" flipV="1">
            <a:off x="3592417" y="5880646"/>
            <a:ext cx="1270750" cy="117042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sp>
        <p:nvSpPr>
          <p:cNvPr id="114" name="Rectangle 11"/>
          <p:cNvSpPr>
            <a:spLocks noChangeArrowheads="1"/>
          </p:cNvSpPr>
          <p:nvPr>
            <p:custDataLst>
              <p:tags r:id="rId17"/>
            </p:custDataLst>
          </p:nvPr>
        </p:nvSpPr>
        <p:spPr bwMode="blackWhite">
          <a:xfrm>
            <a:off x="6428718" y="2458399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경영정보시스템의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데이터에 대한 전사 데이터의 품질과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공개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개방을 위한 공공데이터의 공개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개방에 대한 총괄 관리를 수행함</a:t>
            </a:r>
          </a:p>
        </p:txBody>
      </p:sp>
      <p:sp>
        <p:nvSpPr>
          <p:cNvPr id="115" name="Rectangle 11"/>
          <p:cNvSpPr>
            <a:spLocks noChangeArrowheads="1"/>
          </p:cNvSpPr>
          <p:nvPr>
            <p:custDataLst>
              <p:tags r:id="rId18"/>
            </p:custDataLst>
          </p:nvPr>
        </p:nvSpPr>
        <p:spPr bwMode="blackWhite">
          <a:xfrm>
            <a:off x="6428718" y="2937672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전사 데이터 품질관리를 위한 데이터 표준요소에 대한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정의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운영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관리를 수행함</a:t>
            </a:r>
          </a:p>
        </p:txBody>
      </p:sp>
      <p:sp>
        <p:nvSpPr>
          <p:cNvPr id="116" name="Rectangle 11"/>
          <p:cNvSpPr>
            <a:spLocks noChangeArrowheads="1"/>
          </p:cNvSpPr>
          <p:nvPr>
            <p:custDataLst>
              <p:tags r:id="rId19"/>
            </p:custDataLst>
          </p:nvPr>
        </p:nvSpPr>
        <p:spPr bwMode="blackWhite">
          <a:xfrm>
            <a:off x="6428718" y="3416948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전사 데이터 모델의 생성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변경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폐기에 이르기까지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관련 정보와 통합 관리를 수행함</a:t>
            </a:r>
          </a:p>
        </p:txBody>
      </p:sp>
      <p:sp>
        <p:nvSpPr>
          <p:cNvPr id="117" name="Rectangle 11"/>
          <p:cNvSpPr>
            <a:spLocks noChangeArrowheads="1"/>
          </p:cNvSpPr>
          <p:nvPr>
            <p:custDataLst>
              <p:tags r:id="rId20"/>
            </p:custDataLst>
          </p:nvPr>
        </p:nvSpPr>
        <p:spPr bwMode="blackWhite">
          <a:xfrm>
            <a:off x="6428718" y="3896222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전사 데이터 품질 제고를 </a:t>
            </a:r>
            <a:r>
              <a:rPr lang="ko-KR" altLang="en-US" sz="900" spc="-15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위한 </a:t>
            </a:r>
            <a:r>
              <a:rPr lang="ko-KR" altLang="en-US" sz="900" spc="-15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품질관리 체계 전체의 활동에 대한 품질관리활동을 수행함</a:t>
            </a:r>
          </a:p>
        </p:txBody>
      </p:sp>
      <p:sp>
        <p:nvSpPr>
          <p:cNvPr id="118" name="Rectangle 11"/>
          <p:cNvSpPr>
            <a:spLocks noChangeArrowheads="1"/>
          </p:cNvSpPr>
          <p:nvPr>
            <p:custDataLst>
              <p:tags r:id="rId21"/>
            </p:custDataLst>
          </p:nvPr>
        </p:nvSpPr>
        <p:spPr bwMode="blackWhite">
          <a:xfrm>
            <a:off x="6428718" y="4375496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하의 데이터 연계와 관련된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제반 정책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지침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활동에 대한 관리를 수행함</a:t>
            </a:r>
          </a:p>
        </p:txBody>
      </p:sp>
      <p:sp>
        <p:nvSpPr>
          <p:cNvPr id="119" name="Rectangle 11"/>
          <p:cNvSpPr>
            <a:spLocks noChangeArrowheads="1"/>
          </p:cNvSpPr>
          <p:nvPr>
            <p:custDataLst>
              <p:tags r:id="rId22"/>
            </p:custDataLst>
          </p:nvPr>
        </p:nvSpPr>
        <p:spPr bwMode="blackWhite">
          <a:xfrm>
            <a:off x="6428718" y="4854770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하의 데이터 보안과 관련된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제반 정책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지침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활동에 대한 관리를 수행함</a:t>
            </a:r>
          </a:p>
        </p:txBody>
      </p:sp>
      <p:sp>
        <p:nvSpPr>
          <p:cNvPr id="120" name="Rectangle 11"/>
          <p:cNvSpPr>
            <a:spLocks noChangeArrowheads="1"/>
          </p:cNvSpPr>
          <p:nvPr>
            <p:custDataLst>
              <p:tags r:id="rId23"/>
            </p:custDataLst>
          </p:nvPr>
        </p:nvSpPr>
        <p:spPr bwMode="blackWhite">
          <a:xfrm>
            <a:off x="6428718" y="5334044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지원 인프라 시스템인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메타데이터관리시스템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 시스템에 대한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정보시스템 기획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운영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분석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개선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보고의 활동을 수행함</a:t>
            </a:r>
          </a:p>
        </p:txBody>
      </p:sp>
      <p:sp>
        <p:nvSpPr>
          <p:cNvPr id="121" name="Rectangle 11"/>
          <p:cNvSpPr>
            <a:spLocks noChangeArrowheads="1"/>
          </p:cNvSpPr>
          <p:nvPr>
            <p:custDataLst>
              <p:tags r:id="rId24"/>
            </p:custDataLst>
          </p:nvPr>
        </p:nvSpPr>
        <p:spPr bwMode="blackWhite">
          <a:xfrm>
            <a:off x="6428718" y="5813320"/>
            <a:ext cx="2939320" cy="3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tx1">
                <a:lumMod val="95000"/>
                <a:lumOff val="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900" spc="-15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공공데이터의 공개 및 개방에 관련된 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프로세스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공공정보분류체계</a:t>
            </a:r>
            <a:r>
              <a:rPr lang="en-US" altLang="ko-KR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1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개방 데이터 제공의 활동을 수행함</a:t>
            </a:r>
          </a:p>
        </p:txBody>
      </p:sp>
      <p:sp>
        <p:nvSpPr>
          <p:cNvPr id="122" name="Rectangle 11"/>
          <p:cNvSpPr>
            <a:spLocks noChangeArrowheads="1"/>
          </p:cNvSpPr>
          <p:nvPr>
            <p:custDataLst>
              <p:tags r:id="rId25"/>
            </p:custDataLst>
          </p:nvPr>
        </p:nvSpPr>
        <p:spPr bwMode="blackWhite">
          <a:xfrm>
            <a:off x="4831534" y="2024844"/>
            <a:ext cx="1513481" cy="25742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직무 명</a:t>
            </a:r>
            <a:endParaRPr kumimoji="1" lang="en-US" altLang="ko-KR" sz="10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3" name="Rectangle 11"/>
          <p:cNvSpPr>
            <a:spLocks noChangeArrowheads="1"/>
          </p:cNvSpPr>
          <p:nvPr>
            <p:custDataLst>
              <p:tags r:id="rId26"/>
            </p:custDataLst>
          </p:nvPr>
        </p:nvSpPr>
        <p:spPr bwMode="blackWhite">
          <a:xfrm>
            <a:off x="6428718" y="2024844"/>
            <a:ext cx="2939320" cy="25742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직무 정의</a:t>
            </a:r>
            <a:endParaRPr kumimoji="1" lang="en-US" altLang="ko-KR" sz="10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AutoShape 88"/>
          <p:cNvSpPr>
            <a:spLocks noChangeAspect="1" noChangeArrowheads="1"/>
          </p:cNvSpPr>
          <p:nvPr/>
        </p:nvSpPr>
        <p:spPr bwMode="auto">
          <a:xfrm>
            <a:off x="3854268" y="2498647"/>
            <a:ext cx="774855" cy="3487559"/>
          </a:xfrm>
          <a:prstGeom prst="rightArrow">
            <a:avLst>
              <a:gd name="adj1" fmla="val 74847"/>
              <a:gd name="adj2" fmla="val 29794"/>
            </a:avLst>
          </a:prstGeom>
          <a:gradFill flip="none" rotWithShape="1">
            <a:gsLst>
              <a:gs pos="0">
                <a:schemeClr val="accent2">
                  <a:lumMod val="40000"/>
                  <a:lumOff val="60000"/>
                  <a:alpha val="70000"/>
                </a:schemeClr>
              </a:gs>
              <a:gs pos="46000">
                <a:schemeClr val="accent2">
                  <a:lumMod val="95000"/>
                  <a:lumOff val="5000"/>
                  <a:alpha val="70000"/>
                </a:schemeClr>
              </a:gs>
              <a:gs pos="100000">
                <a:schemeClr val="accent2">
                  <a:lumMod val="60000"/>
                  <a:alpha val="7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chemeClr val="accent2">
                <a:lumMod val="90000"/>
              </a:schemeClr>
            </a:solidFill>
          </a:ln>
          <a:effectLst/>
          <a:extLst/>
        </p:spPr>
        <p:txBody>
          <a:bodyPr vert="eaVert" wrap="none" lIns="144000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400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데이터관리요소와 직무 매핑</a:t>
            </a:r>
          </a:p>
        </p:txBody>
      </p:sp>
    </p:spTree>
    <p:extLst>
      <p:ext uri="{BB962C8B-B14F-4D97-AF65-F5344CB8AC3E}">
        <p14:creationId xmlns:p14="http://schemas.microsoft.com/office/powerpoint/2010/main" val="96726487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25"/>
          <p:cNvGrpSpPr/>
          <p:nvPr/>
        </p:nvGrpSpPr>
        <p:grpSpPr>
          <a:xfrm>
            <a:off x="3960128" y="1592840"/>
            <a:ext cx="5580000" cy="4785734"/>
            <a:chOff x="200025" y="1592840"/>
            <a:chExt cx="4680967" cy="4785734"/>
          </a:xfrm>
        </p:grpSpPr>
        <p:sp>
          <p:nvSpPr>
            <p:cNvPr id="173" name="직사각형 17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관리 조직 체계</a:t>
              </a:r>
            </a:p>
          </p:txBody>
        </p:sp>
        <p:sp>
          <p:nvSpPr>
            <p:cNvPr id="174" name="직사각형 17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" name="그룹 217"/>
          <p:cNvGrpSpPr/>
          <p:nvPr/>
        </p:nvGrpSpPr>
        <p:grpSpPr>
          <a:xfrm>
            <a:off x="4005635" y="1967331"/>
            <a:ext cx="5449818" cy="4382059"/>
            <a:chOff x="360772" y="1967331"/>
            <a:chExt cx="5449818" cy="4382059"/>
          </a:xfrm>
        </p:grpSpPr>
        <p:grpSp>
          <p:nvGrpSpPr>
            <p:cNvPr id="6" name="그룹 218"/>
            <p:cNvGrpSpPr/>
            <p:nvPr/>
          </p:nvGrpSpPr>
          <p:grpSpPr>
            <a:xfrm>
              <a:off x="425296" y="4725144"/>
              <a:ext cx="5385293" cy="1224000"/>
              <a:chOff x="264996" y="4653136"/>
              <a:chExt cx="5385293" cy="1224000"/>
            </a:xfrm>
          </p:grpSpPr>
          <p:sp>
            <p:nvSpPr>
              <p:cNvPr id="264" name="직사각형 263"/>
              <p:cNvSpPr/>
              <p:nvPr/>
            </p:nvSpPr>
            <p:spPr>
              <a:xfrm>
                <a:off x="704527" y="4653136"/>
                <a:ext cx="4945762" cy="1224000"/>
              </a:xfrm>
              <a:prstGeom prst="rect">
                <a:avLst/>
              </a:prstGeom>
              <a:solidFill>
                <a:schemeClr val="accent3">
                  <a:alpha val="50000"/>
                </a:schemeClr>
              </a:solidFill>
              <a:ln w="19050">
                <a:solidFill>
                  <a:schemeClr val="accent1">
                    <a:lumMod val="75000"/>
                  </a:schemeClr>
                </a:solidFill>
                <a:prstDash val="solid"/>
                <a:miter lim="800000"/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/>
                <a:endParaRPr lang="ko-KR" altLang="en-US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264996" y="4653136"/>
                <a:ext cx="432000" cy="1224000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</a:ln>
            </p:spPr>
            <p:txBody>
              <a:bodyPr vert="eaVert" wrap="square" lIns="0" tIns="0" rIns="0" bIns="0" anchor="ctr">
                <a:noAutofit/>
              </a:bodyPr>
              <a:lstStyle/>
              <a:p>
                <a:pPr algn="ctr"/>
                <a:r>
                  <a:rPr lang="ko-KR" altLang="en-US" sz="10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데이터 </a:t>
                </a:r>
                <a:r>
                  <a:rPr lang="ko-KR" altLang="en-US" sz="1200" dirty="0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설계</a:t>
                </a:r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b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0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부문</a:t>
                </a:r>
              </a:p>
            </p:txBody>
          </p:sp>
        </p:grpSp>
        <p:sp>
          <p:nvSpPr>
            <p:cNvPr id="220" name="직사각형 219"/>
            <p:cNvSpPr/>
            <p:nvPr/>
          </p:nvSpPr>
          <p:spPr>
            <a:xfrm>
              <a:off x="864827" y="1967331"/>
              <a:ext cx="4945761" cy="792000"/>
            </a:xfrm>
            <a:prstGeom prst="rect">
              <a:avLst/>
            </a:prstGeom>
            <a:solidFill>
              <a:schemeClr val="accent3">
                <a:alpha val="50000"/>
              </a:schemeClr>
            </a:solidFill>
            <a:ln w="19050">
              <a:solidFill>
                <a:schemeClr val="accent1">
                  <a:lumMod val="75000"/>
                </a:schemeClr>
              </a:solidFill>
              <a:prstDash val="solid"/>
              <a:miter lim="800000"/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1" name="직사각형 220"/>
            <p:cNvSpPr/>
            <p:nvPr/>
          </p:nvSpPr>
          <p:spPr>
            <a:xfrm>
              <a:off x="432828" y="1974407"/>
              <a:ext cx="432000" cy="792000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</a:ln>
          </p:spPr>
          <p:txBody>
            <a:bodyPr vert="eaVert" wrap="square" lIns="0" tIns="0" rIns="0" bIns="0" anchor="ctr">
              <a:noAutofit/>
            </a:bodyPr>
            <a:lstStyle/>
            <a:p>
              <a:pPr algn="ctr"/>
              <a:r>
                <a:rPr lang="ko-KR" altLang="en-US" sz="10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데이터 </a:t>
              </a:r>
              <a:r>
                <a:rPr lang="ko-KR" altLang="en-US" sz="12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소유</a:t>
              </a:r>
              <a:r>
                <a:rPr lang="ko-KR" altLang="en-US" dirty="0">
                  <a:solidFill>
                    <a:srgbClr val="FFFF00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부문</a:t>
              </a:r>
            </a:p>
          </p:txBody>
        </p:sp>
        <p:grpSp>
          <p:nvGrpSpPr>
            <p:cNvPr id="7" name="그룹 221"/>
            <p:cNvGrpSpPr/>
            <p:nvPr/>
          </p:nvGrpSpPr>
          <p:grpSpPr>
            <a:xfrm>
              <a:off x="425296" y="2961120"/>
              <a:ext cx="5385294" cy="1548000"/>
              <a:chOff x="264996" y="2878065"/>
              <a:chExt cx="5385294" cy="1631550"/>
            </a:xfrm>
          </p:grpSpPr>
          <p:sp>
            <p:nvSpPr>
              <p:cNvPr id="262" name="직사각형 261"/>
              <p:cNvSpPr/>
              <p:nvPr/>
            </p:nvSpPr>
            <p:spPr>
              <a:xfrm>
                <a:off x="696996" y="2878065"/>
                <a:ext cx="4953294" cy="1631550"/>
              </a:xfrm>
              <a:prstGeom prst="rect">
                <a:avLst/>
              </a:prstGeom>
              <a:solidFill>
                <a:schemeClr val="accent3">
                  <a:alpha val="50000"/>
                </a:schemeClr>
              </a:solidFill>
              <a:ln w="19050">
                <a:solidFill>
                  <a:schemeClr val="accent1">
                    <a:lumMod val="75000"/>
                  </a:schemeClr>
                </a:solidFill>
                <a:prstDash val="solid"/>
                <a:miter lim="800000"/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/>
                <a:endParaRPr lang="ko-KR" altLang="en-US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264996" y="2878065"/>
                <a:ext cx="432000" cy="1631550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</a:ln>
            </p:spPr>
            <p:txBody>
              <a:bodyPr vert="eaVert" wrap="square" lIns="0" tIns="0" rIns="0" bIns="0" anchor="ctr">
                <a:noAutofit/>
              </a:bodyPr>
              <a:lstStyle/>
              <a:p>
                <a:pPr algn="ctr"/>
                <a:r>
                  <a:rPr lang="ko-KR" altLang="en-US" sz="10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데이터 </a:t>
                </a:r>
                <a:r>
                  <a:rPr lang="ko-KR" altLang="en-US" sz="1200" dirty="0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관리</a:t>
                </a:r>
                <a:r>
                  <a:rPr lang="en-US" altLang="ko-KR" sz="70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70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0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부문</a:t>
                </a:r>
              </a:p>
            </p:txBody>
          </p:sp>
        </p:grpSp>
        <p:cxnSp>
          <p:nvCxnSpPr>
            <p:cNvPr id="223" name="AutoShape 117"/>
            <p:cNvCxnSpPr>
              <a:cxnSpLocks noChangeShapeType="1"/>
              <a:stCxn id="224" idx="2"/>
              <a:endCxn id="242" idx="0"/>
            </p:cNvCxnSpPr>
            <p:nvPr/>
          </p:nvCxnSpPr>
          <p:spPr bwMode="auto">
            <a:xfrm rot="5400000">
              <a:off x="3215095" y="3957086"/>
              <a:ext cx="216064" cy="416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24" name="Rectangle 11"/>
            <p:cNvSpPr>
              <a:spLocks noChangeArrowheads="1"/>
            </p:cNvSpPr>
            <p:nvPr>
              <p:custDataLst>
                <p:tags r:id="rId18"/>
              </p:custDataLst>
            </p:nvPr>
          </p:nvSpPr>
          <p:spPr bwMode="blackWhite">
            <a:xfrm>
              <a:off x="2553817" y="3489262"/>
              <a:ext cx="1539035" cy="36000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정보기획팀장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225" name="AutoShape 116"/>
            <p:cNvCxnSpPr>
              <a:cxnSpLocks noChangeShapeType="1"/>
            </p:cNvCxnSpPr>
            <p:nvPr/>
          </p:nvCxnSpPr>
          <p:spPr bwMode="auto">
            <a:xfrm rot="5400000">
              <a:off x="3269099" y="3975090"/>
              <a:ext cx="108057" cy="416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AutoShape 116"/>
            <p:cNvCxnSpPr>
              <a:cxnSpLocks noChangeShapeType="1"/>
              <a:stCxn id="262" idx="2"/>
              <a:endCxn id="257" idx="0"/>
            </p:cNvCxnSpPr>
            <p:nvPr/>
          </p:nvCxnSpPr>
          <p:spPr bwMode="auto">
            <a:xfrm rot="5400000">
              <a:off x="2555022" y="4087497"/>
              <a:ext cx="357299" cy="1200545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grpSp>
          <p:nvGrpSpPr>
            <p:cNvPr id="8" name="그룹 226"/>
            <p:cNvGrpSpPr/>
            <p:nvPr/>
          </p:nvGrpSpPr>
          <p:grpSpPr>
            <a:xfrm>
              <a:off x="1008082" y="4866419"/>
              <a:ext cx="2250631" cy="931613"/>
              <a:chOff x="794703" y="4006712"/>
              <a:chExt cx="2952000" cy="931613"/>
            </a:xfrm>
          </p:grpSpPr>
          <p:sp>
            <p:nvSpPr>
              <p:cNvPr id="257" name="Rectangle 114"/>
              <p:cNvSpPr>
                <a:spLocks noChangeArrowheads="1"/>
              </p:cNvSpPr>
              <p:nvPr/>
            </p:nvSpPr>
            <p:spPr bwMode="blackWhite">
              <a:xfrm>
                <a:off x="794703" y="4006712"/>
                <a:ext cx="2952000" cy="93161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t"/>
              <a:lstStyle/>
              <a:p>
                <a:pPr algn="ctr"/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개발 업체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8" name="Rectangle 11"/>
              <p:cNvSpPr>
                <a:spLocks noChangeArrowheads="1"/>
              </p:cNvSpPr>
              <p:nvPr>
                <p:custDataLst>
                  <p:tags r:id="rId31"/>
                </p:custDataLst>
              </p:nvPr>
            </p:nvSpPr>
            <p:spPr bwMode="blackWhite">
              <a:xfrm>
                <a:off x="842801" y="4247357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DBA</a:t>
                </a:r>
              </a:p>
            </p:txBody>
          </p:sp>
          <p:sp>
            <p:nvSpPr>
              <p:cNvPr id="259" name="Rectangle 11"/>
              <p:cNvSpPr>
                <a:spLocks noChangeArrowheads="1"/>
              </p:cNvSpPr>
              <p:nvPr>
                <p:custDataLst>
                  <p:tags r:id="rId32"/>
                </p:custDataLst>
              </p:nvPr>
            </p:nvSpPr>
            <p:spPr bwMode="blackWhite">
              <a:xfrm>
                <a:off x="842801" y="4595409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SQA</a:t>
                </a:r>
                <a:b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(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또는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DQA)</a:t>
                </a:r>
              </a:p>
            </p:txBody>
          </p:sp>
          <p:sp>
            <p:nvSpPr>
              <p:cNvPr id="260" name="Rectangle 11"/>
              <p:cNvSpPr>
                <a:spLocks noChangeArrowheads="1"/>
              </p:cNvSpPr>
              <p:nvPr>
                <p:custDataLst>
                  <p:tags r:id="rId33"/>
                </p:custDataLst>
              </p:nvPr>
            </p:nvSpPr>
            <p:spPr bwMode="blackWhite">
              <a:xfrm>
                <a:off x="2296382" y="4247357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모델러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61" name="Rectangle 11"/>
              <p:cNvSpPr>
                <a:spLocks noChangeArrowheads="1"/>
              </p:cNvSpPr>
              <p:nvPr>
                <p:custDataLst>
                  <p:tags r:id="rId34"/>
                </p:custDataLst>
              </p:nvPr>
            </p:nvSpPr>
            <p:spPr bwMode="blackWhite">
              <a:xfrm>
                <a:off x="2296382" y="4595409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응용 프로그래머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228" name="Rectangle 114"/>
            <p:cNvSpPr>
              <a:spLocks noChangeArrowheads="1"/>
            </p:cNvSpPr>
            <p:nvPr/>
          </p:nvSpPr>
          <p:spPr bwMode="blackWhite">
            <a:xfrm>
              <a:off x="4230492" y="3524090"/>
              <a:ext cx="1470672" cy="288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외부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데이터품질감리 업체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229" name="AutoShape 116"/>
            <p:cNvCxnSpPr>
              <a:cxnSpLocks noChangeShapeType="1"/>
              <a:stCxn id="224" idx="3"/>
              <a:endCxn id="228" idx="1"/>
            </p:cNvCxnSpPr>
            <p:nvPr/>
          </p:nvCxnSpPr>
          <p:spPr bwMode="auto">
            <a:xfrm flipV="1">
              <a:off x="4092852" y="3668090"/>
              <a:ext cx="137640" cy="1172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직사각형 229"/>
            <p:cNvSpPr/>
            <p:nvPr/>
          </p:nvSpPr>
          <p:spPr>
            <a:xfrm>
              <a:off x="854988" y="2960948"/>
              <a:ext cx="1487172" cy="34881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85725" indent="-85725">
                <a:lnSpc>
                  <a:spcPts val="1000"/>
                </a:lnSpc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타 업무와 병행 가능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직무 역량 보유자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cxnSp>
          <p:nvCxnSpPr>
            <p:cNvPr id="231" name="AutoShape 117"/>
            <p:cNvCxnSpPr>
              <a:cxnSpLocks noChangeShapeType="1"/>
              <a:stCxn id="224" idx="2"/>
              <a:endCxn id="241" idx="0"/>
            </p:cNvCxnSpPr>
            <p:nvPr/>
          </p:nvCxnSpPr>
          <p:spPr bwMode="auto">
            <a:xfrm rot="5400000">
              <a:off x="2414006" y="3155997"/>
              <a:ext cx="216064" cy="1602594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2" name="직사각형 231"/>
            <p:cNvSpPr/>
            <p:nvPr/>
          </p:nvSpPr>
          <p:spPr>
            <a:xfrm>
              <a:off x="360772" y="5949280"/>
              <a:ext cx="1811981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85725" indent="-85725">
                <a:lnSpc>
                  <a:spcPts val="600"/>
                </a:lnSpc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en-US" altLang="ko-KR" sz="600" i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DBA : Database Administrator</a:t>
              </a:r>
            </a:p>
            <a:p>
              <a:pPr marL="85725" indent="-85725">
                <a:lnSpc>
                  <a:spcPts val="600"/>
                </a:lnSpc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en-US" altLang="ko-KR" sz="600" i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DA : Data Architect</a:t>
              </a:r>
            </a:p>
            <a:p>
              <a:pPr marL="85725" indent="-85725">
                <a:lnSpc>
                  <a:spcPts val="600"/>
                </a:lnSpc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en-US" altLang="ko-KR" sz="600" i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SQA : Software Quality Assurance</a:t>
              </a:r>
            </a:p>
            <a:p>
              <a:pPr marL="85725" indent="-85725">
                <a:lnSpc>
                  <a:spcPts val="600"/>
                </a:lnSpc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en-US" altLang="ko-KR" sz="600" i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DQA : Data Quality Assurance</a:t>
              </a:r>
            </a:p>
          </p:txBody>
        </p:sp>
        <p:grpSp>
          <p:nvGrpSpPr>
            <p:cNvPr id="9" name="그룹 232"/>
            <p:cNvGrpSpPr/>
            <p:nvPr/>
          </p:nvGrpSpPr>
          <p:grpSpPr>
            <a:xfrm>
              <a:off x="2914481" y="6057292"/>
              <a:ext cx="2893340" cy="265833"/>
              <a:chOff x="2789017" y="6043487"/>
              <a:chExt cx="2893340" cy="265833"/>
            </a:xfrm>
          </p:grpSpPr>
          <p:sp>
            <p:nvSpPr>
              <p:cNvPr id="252" name="Rectangle 11"/>
              <p:cNvSpPr>
                <a:spLocks noChangeArrowheads="1"/>
              </p:cNvSpPr>
              <p:nvPr>
                <p:custDataLst>
                  <p:tags r:id="rId28"/>
                </p:custDataLst>
              </p:nvPr>
            </p:nvSpPr>
            <p:spPr bwMode="blackWhite">
              <a:xfrm>
                <a:off x="3911440" y="6093502"/>
                <a:ext cx="837800" cy="173395"/>
              </a:xfrm>
              <a:prstGeom prst="rect">
                <a:avLst/>
              </a:prstGeom>
              <a:solidFill>
                <a:srgbClr val="91C4FF"/>
              </a:solidFill>
              <a:ln w="3175" algn="ctr">
                <a:solidFill>
                  <a:schemeClr val="tx1">
                    <a:lumMod val="95000"/>
                    <a:lumOff val="5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800" smtClean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코레일테크</a:t>
                </a:r>
                <a:endPara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3" name="Rectangle 11"/>
              <p:cNvSpPr>
                <a:spLocks noChangeArrowheads="1"/>
              </p:cNvSpPr>
              <p:nvPr>
                <p:custDataLst>
                  <p:tags r:id="rId29"/>
                </p:custDataLst>
              </p:nvPr>
            </p:nvSpPr>
            <p:spPr bwMode="blackWhite">
              <a:xfrm>
                <a:off x="4799276" y="6093502"/>
                <a:ext cx="837800" cy="173395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square" lIns="0" rIns="0" anchor="ctr"/>
              <a:lstStyle/>
              <a:p>
                <a:pPr algn="ctr"/>
                <a:r>
                  <a:rPr lang="ko-KR" altLang="en-US" sz="8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외부 기관</a:t>
                </a:r>
                <a:r>
                  <a:rPr lang="en-US" altLang="ko-KR" sz="8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8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업체</a:t>
                </a:r>
                <a:endPara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2970146" y="6043487"/>
                <a:ext cx="2712211" cy="265833"/>
              </a:xfrm>
              <a:prstGeom prst="rect">
                <a:avLst/>
              </a:prstGeom>
              <a:noFill/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/>
                <a:endParaRPr lang="ko-KR" altLang="en-US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2789017" y="6043487"/>
                <a:ext cx="183763" cy="26583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8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범례</a:t>
                </a:r>
              </a:p>
            </p:txBody>
          </p:sp>
          <p:sp>
            <p:nvSpPr>
              <p:cNvPr id="256" name="Rectangle 11"/>
              <p:cNvSpPr>
                <a:spLocks noChangeArrowheads="1"/>
              </p:cNvSpPr>
              <p:nvPr>
                <p:custDataLst>
                  <p:tags r:id="rId30"/>
                </p:custDataLst>
              </p:nvPr>
            </p:nvSpPr>
            <p:spPr bwMode="blackWhite">
              <a:xfrm>
                <a:off x="3023604" y="6093502"/>
                <a:ext cx="837800" cy="17339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2377F7"/>
                </a:solidFill>
                <a:prstDash val="solid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8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사업본부</a:t>
                </a:r>
                <a:endPara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0" name="그룹 233"/>
            <p:cNvGrpSpPr/>
            <p:nvPr/>
          </p:nvGrpSpPr>
          <p:grpSpPr>
            <a:xfrm>
              <a:off x="3402729" y="4866419"/>
              <a:ext cx="2250631" cy="931613"/>
              <a:chOff x="794703" y="4006712"/>
              <a:chExt cx="2952000" cy="931613"/>
            </a:xfrm>
          </p:grpSpPr>
          <p:sp>
            <p:nvSpPr>
              <p:cNvPr id="247" name="Rectangle 114"/>
              <p:cNvSpPr>
                <a:spLocks noChangeArrowheads="1"/>
              </p:cNvSpPr>
              <p:nvPr/>
            </p:nvSpPr>
            <p:spPr bwMode="blackWhite">
              <a:xfrm>
                <a:off x="794703" y="4006712"/>
                <a:ext cx="2952000" cy="93161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t"/>
              <a:lstStyle/>
              <a:p>
                <a:pPr algn="ctr"/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운영 업체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48" name="Rectangle 11"/>
              <p:cNvSpPr>
                <a:spLocks noChangeArrowheads="1"/>
              </p:cNvSpPr>
              <p:nvPr>
                <p:custDataLst>
                  <p:tags r:id="rId24"/>
                </p:custDataLst>
              </p:nvPr>
            </p:nvSpPr>
            <p:spPr bwMode="blackWhite">
              <a:xfrm>
                <a:off x="842801" y="4247357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DBA</a:t>
                </a:r>
              </a:p>
            </p:txBody>
          </p:sp>
          <p:sp>
            <p:nvSpPr>
              <p:cNvPr id="249" name="Rectangle 11"/>
              <p:cNvSpPr>
                <a:spLocks noChangeArrowheads="1"/>
              </p:cNvSpPr>
              <p:nvPr>
                <p:custDataLst>
                  <p:tags r:id="rId25"/>
                </p:custDataLst>
              </p:nvPr>
            </p:nvSpPr>
            <p:spPr bwMode="blackWhite">
              <a:xfrm>
                <a:off x="842801" y="4595409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SQA</a:t>
                </a:r>
                <a:b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(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또는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DQA)</a:t>
                </a:r>
              </a:p>
            </p:txBody>
          </p:sp>
          <p:sp>
            <p:nvSpPr>
              <p:cNvPr id="250" name="Rectangle 11"/>
              <p:cNvSpPr>
                <a:spLocks noChangeArrowheads="1"/>
              </p:cNvSpPr>
              <p:nvPr>
                <p:custDataLst>
                  <p:tags r:id="rId26"/>
                </p:custDataLst>
              </p:nvPr>
            </p:nvSpPr>
            <p:spPr bwMode="blackWhite">
              <a:xfrm>
                <a:off x="2296382" y="4247357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모델러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1" name="Rectangle 11"/>
              <p:cNvSpPr>
                <a:spLocks noChangeArrowheads="1"/>
              </p:cNvSpPr>
              <p:nvPr>
                <p:custDataLst>
                  <p:tags r:id="rId27"/>
                </p:custDataLst>
              </p:nvPr>
            </p:nvSpPr>
            <p:spPr bwMode="blackWhite">
              <a:xfrm>
                <a:off x="2296382" y="4595409"/>
                <a:ext cx="1381218" cy="288073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chemeClr val="bg1">
                    <a:lumMod val="50000"/>
                  </a:schemeClr>
                </a:solidFill>
                <a:prstDash val="dash"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1000"/>
                  </a:lnSpc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응용 프로그래머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235" name="AutoShape 117"/>
            <p:cNvCxnSpPr>
              <a:cxnSpLocks noChangeShapeType="1"/>
              <a:stCxn id="224" idx="2"/>
              <a:endCxn id="243" idx="0"/>
            </p:cNvCxnSpPr>
            <p:nvPr/>
          </p:nvCxnSpPr>
          <p:spPr bwMode="auto">
            <a:xfrm rot="16200000" flipH="1">
              <a:off x="4016184" y="3156413"/>
              <a:ext cx="216064" cy="1601762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36" name="AutoShape 116"/>
            <p:cNvCxnSpPr>
              <a:cxnSpLocks noChangeShapeType="1"/>
              <a:stCxn id="262" idx="2"/>
              <a:endCxn id="247" idx="0"/>
            </p:cNvCxnSpPr>
            <p:nvPr/>
          </p:nvCxnSpPr>
          <p:spPr bwMode="auto">
            <a:xfrm rot="16200000" flipH="1">
              <a:off x="3752345" y="4090718"/>
              <a:ext cx="357299" cy="1194102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7" name="Rectangle 11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blackWhite">
            <a:xfrm>
              <a:off x="2553817" y="2055454"/>
              <a:ext cx="1539035" cy="622908"/>
            </a:xfrm>
            <a:prstGeom prst="rect">
              <a:avLst/>
            </a:prstGeom>
            <a:solidFill>
              <a:schemeClr val="bg1"/>
            </a:solidFill>
            <a:ln w="19050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238" name="AutoShape 117"/>
            <p:cNvCxnSpPr>
              <a:cxnSpLocks noChangeShapeType="1"/>
              <a:stCxn id="237" idx="2"/>
              <a:endCxn id="224" idx="0"/>
            </p:cNvCxnSpPr>
            <p:nvPr/>
          </p:nvCxnSpPr>
          <p:spPr bwMode="auto">
            <a:xfrm>
              <a:off x="3323335" y="2678362"/>
              <a:ext cx="0" cy="810900"/>
            </a:xfrm>
            <a:prstGeom prst="straightConnector1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>
                        <a:gamma/>
                        <a:shade val="60000"/>
                        <a:invGamma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39" name="직선 연결선 238"/>
            <p:cNvCxnSpPr/>
            <p:nvPr/>
          </p:nvCxnSpPr>
          <p:spPr bwMode="auto">
            <a:xfrm>
              <a:off x="2553817" y="2462706"/>
              <a:ext cx="1539035" cy="0"/>
            </a:xfrm>
            <a:prstGeom prst="line">
              <a:avLst/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40" name="직사각형 239"/>
            <p:cNvSpPr/>
            <p:nvPr/>
          </p:nvSpPr>
          <p:spPr>
            <a:xfrm>
              <a:off x="2929203" y="2425203"/>
              <a:ext cx="800219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사업본부</a:t>
              </a:r>
            </a:p>
          </p:txBody>
        </p:sp>
        <p:sp>
          <p:nvSpPr>
            <p:cNvPr id="241" name="Rectangle 11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blackWhite">
            <a:xfrm>
              <a:off x="1025959" y="4065326"/>
              <a:ext cx="1389564" cy="36000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데이터표준관리자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42" name="Rectangle 11"/>
            <p:cNvSpPr>
              <a:spLocks noChangeArrowheads="1"/>
            </p:cNvSpPr>
            <p:nvPr>
              <p:custDataLst>
                <p:tags r:id="rId21"/>
              </p:custDataLst>
            </p:nvPr>
          </p:nvSpPr>
          <p:spPr bwMode="blackWhite">
            <a:xfrm>
              <a:off x="2628137" y="4065326"/>
              <a:ext cx="1389564" cy="36000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데이터품질관리자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43" name="Rectangle 11"/>
            <p:cNvSpPr>
              <a:spLocks noChangeArrowheads="1"/>
            </p:cNvSpPr>
            <p:nvPr>
              <p:custDataLst>
                <p:tags r:id="rId22"/>
              </p:custDataLst>
            </p:nvPr>
          </p:nvSpPr>
          <p:spPr bwMode="blackWhite">
            <a:xfrm>
              <a:off x="4230315" y="4065326"/>
              <a:ext cx="1389564" cy="36000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DA</a:t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외주업체 채용 가능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244" name="Rectangle 11"/>
            <p:cNvSpPr>
              <a:spLocks noChangeArrowheads="1"/>
            </p:cNvSpPr>
            <p:nvPr>
              <p:custDataLst>
                <p:tags r:id="rId23"/>
              </p:custDataLst>
            </p:nvPr>
          </p:nvSpPr>
          <p:spPr bwMode="blackWhite">
            <a:xfrm>
              <a:off x="2553817" y="3021210"/>
              <a:ext cx="1539035" cy="36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tx1">
                  <a:lumMod val="95000"/>
                  <a:lumOff val="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endParaRPr lang="en-US" altLang="ko-KR" sz="10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245" name="그림 244"/>
            <p:cNvPicPr>
              <a:picLocks noChangeAspect="1"/>
            </p:cNvPicPr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627240" y="3124056"/>
              <a:ext cx="1410163" cy="165253"/>
            </a:xfrm>
            <a:prstGeom prst="rect">
              <a:avLst/>
            </a:prstGeom>
          </p:spPr>
        </p:pic>
        <p:pic>
          <p:nvPicPr>
            <p:cNvPr id="246" name="그림 245"/>
            <p:cNvPicPr>
              <a:picLocks noChangeAspect="1"/>
            </p:cNvPicPr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627240" y="2176156"/>
              <a:ext cx="1410163" cy="165253"/>
            </a:xfrm>
            <a:prstGeom prst="rect">
              <a:avLst/>
            </a:prstGeom>
          </p:spPr>
        </p:pic>
      </p:grpSp>
      <p:sp>
        <p:nvSpPr>
          <p:cNvPr id="11" name="텍스트 개체 틀 10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관리 조직의 전문적인 데이터 관리 활동을 위하여 데이터 관리 부문 조직의 담당자에 대하여 적합한 직무를 배정함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2.10.3.3 </a:t>
            </a:r>
            <a:r>
              <a:rPr lang="ko-KR" altLang="en-US" spc="-150"/>
              <a:t>데이터 관리 조직 체계 정립 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ko-KR" altLang="en-US" sz="1800" spc="-150" dirty="0"/>
              <a:t> </a:t>
            </a: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관리 직무 </a:t>
            </a:r>
            <a:r>
              <a:rPr lang="en-US" altLang="ko-KR" sz="1800" spc="-150" dirty="0"/>
              <a:t>&gt; </a:t>
            </a:r>
            <a:r>
              <a:rPr lang="ko-KR" altLang="en-US" sz="1800" spc="-150" dirty="0"/>
              <a:t>조직과 직무 배정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sp>
        <p:nvSpPr>
          <p:cNvPr id="75" name="텍스트 개체 틀 2"/>
          <p:cNvSpPr txBox="1">
            <a:spLocks/>
          </p:cNvSpPr>
          <p:nvPr/>
        </p:nvSpPr>
        <p:spPr>
          <a:xfrm>
            <a:off x="200024" y="785794"/>
            <a:ext cx="9504000" cy="886397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marL="185738" indent="-185738" algn="l" defTabSz="742950" rtl="0" eaLnBrk="1" latinLnBrk="1" hangingPunct="1">
              <a:lnSpc>
                <a:spcPct val="90000"/>
              </a:lnSpc>
              <a:spcBef>
                <a:spcPts val="813"/>
              </a:spcBef>
              <a:buFont typeface="Arial" panose="020B0604020202020204" pitchFamily="34" charset="0"/>
              <a:buChar char="•"/>
              <a:defRPr sz="227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5721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9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2868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6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0016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67163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04311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41458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86063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7538" indent="-185738" algn="l" defTabSz="742950" rtl="0" eaLnBrk="1" latinLnBrk="1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174"/>
          <p:cNvGrpSpPr/>
          <p:nvPr/>
        </p:nvGrpSpPr>
        <p:grpSpPr>
          <a:xfrm>
            <a:off x="344488" y="1592840"/>
            <a:ext cx="2044721" cy="4785734"/>
            <a:chOff x="200025" y="1592840"/>
            <a:chExt cx="4680967" cy="4785734"/>
          </a:xfrm>
        </p:grpSpPr>
        <p:sp>
          <p:nvSpPr>
            <p:cNvPr id="176" name="직사각형 17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데이터관리 직무 분류</a:t>
              </a:r>
            </a:p>
          </p:txBody>
        </p:sp>
        <p:sp>
          <p:nvSpPr>
            <p:cNvPr id="177" name="직사각형 17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78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632708" y="2458400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관리 총괄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9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632708" y="2937674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표준관리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632708" y="3416948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구조관리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1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632708" y="3896222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2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632708" y="4375496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교환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3" name="Rectangle 11"/>
          <p:cNvSpPr>
            <a:spLocks noChangeArrowheads="1"/>
          </p:cNvSpPr>
          <p:nvPr>
            <p:custDataLst>
              <p:tags r:id="rId6"/>
            </p:custDataLst>
          </p:nvPr>
        </p:nvSpPr>
        <p:spPr bwMode="blackWhite">
          <a:xfrm>
            <a:off x="632708" y="4854770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보안관리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4" name="Rectangle 11"/>
          <p:cNvSpPr>
            <a:spLocks noChangeArrowheads="1"/>
          </p:cNvSpPr>
          <p:nvPr>
            <p:custDataLst>
              <p:tags r:id="rId7"/>
            </p:custDataLst>
          </p:nvPr>
        </p:nvSpPr>
        <p:spPr bwMode="blackWhite">
          <a:xfrm>
            <a:off x="632708" y="5334044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인프라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5" name="Rectangle 11"/>
          <p:cNvSpPr>
            <a:spLocks noChangeArrowheads="1"/>
          </p:cNvSpPr>
          <p:nvPr>
            <p:custDataLst>
              <p:tags r:id="rId8"/>
            </p:custDataLst>
          </p:nvPr>
        </p:nvSpPr>
        <p:spPr bwMode="blackWhite">
          <a:xfrm>
            <a:off x="632708" y="5813320"/>
            <a:ext cx="1511980" cy="33058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공공데이터 관리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6" name="Rectangle 11"/>
          <p:cNvSpPr>
            <a:spLocks noChangeArrowheads="1"/>
          </p:cNvSpPr>
          <p:nvPr>
            <p:custDataLst>
              <p:tags r:id="rId9"/>
            </p:custDataLst>
          </p:nvPr>
        </p:nvSpPr>
        <p:spPr bwMode="blackWhite">
          <a:xfrm>
            <a:off x="523195" y="251555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</a:p>
        </p:txBody>
      </p:sp>
      <p:sp>
        <p:nvSpPr>
          <p:cNvPr id="187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blackWhite">
          <a:xfrm>
            <a:off x="523195" y="2994824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</a:p>
        </p:txBody>
      </p:sp>
      <p:sp>
        <p:nvSpPr>
          <p:cNvPr id="188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blackWhite">
          <a:xfrm>
            <a:off x="523195" y="3474098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</a:p>
        </p:txBody>
      </p:sp>
      <p:sp>
        <p:nvSpPr>
          <p:cNvPr id="189" name="Rectangle 11"/>
          <p:cNvSpPr>
            <a:spLocks noChangeArrowheads="1"/>
          </p:cNvSpPr>
          <p:nvPr>
            <p:custDataLst>
              <p:tags r:id="rId12"/>
            </p:custDataLst>
          </p:nvPr>
        </p:nvSpPr>
        <p:spPr bwMode="blackWhite">
          <a:xfrm>
            <a:off x="523195" y="3953372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</a:p>
        </p:txBody>
      </p:sp>
      <p:sp>
        <p:nvSpPr>
          <p:cNvPr id="190" name="Rectangle 11"/>
          <p:cNvSpPr>
            <a:spLocks noChangeArrowheads="1"/>
          </p:cNvSpPr>
          <p:nvPr>
            <p:custDataLst>
              <p:tags r:id="rId13"/>
            </p:custDataLst>
          </p:nvPr>
        </p:nvSpPr>
        <p:spPr bwMode="blackWhite">
          <a:xfrm>
            <a:off x="523195" y="4432646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</a:p>
        </p:txBody>
      </p:sp>
      <p:sp>
        <p:nvSpPr>
          <p:cNvPr id="191" name="Rectangle 11"/>
          <p:cNvSpPr>
            <a:spLocks noChangeArrowheads="1"/>
          </p:cNvSpPr>
          <p:nvPr>
            <p:custDataLst>
              <p:tags r:id="rId14"/>
            </p:custDataLst>
          </p:nvPr>
        </p:nvSpPr>
        <p:spPr bwMode="blackWhite">
          <a:xfrm>
            <a:off x="523195" y="491192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6</a:t>
            </a:r>
          </a:p>
        </p:txBody>
      </p:sp>
      <p:sp>
        <p:nvSpPr>
          <p:cNvPr id="192" name="Rectangle 11"/>
          <p:cNvSpPr>
            <a:spLocks noChangeArrowheads="1"/>
          </p:cNvSpPr>
          <p:nvPr>
            <p:custDataLst>
              <p:tags r:id="rId15"/>
            </p:custDataLst>
          </p:nvPr>
        </p:nvSpPr>
        <p:spPr bwMode="blackWhite">
          <a:xfrm>
            <a:off x="523195" y="5391194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7</a:t>
            </a:r>
          </a:p>
        </p:txBody>
      </p:sp>
      <p:sp>
        <p:nvSpPr>
          <p:cNvPr id="193" name="Rectangle 11"/>
          <p:cNvSpPr>
            <a:spLocks noChangeArrowheads="1"/>
          </p:cNvSpPr>
          <p:nvPr>
            <p:custDataLst>
              <p:tags r:id="rId16"/>
            </p:custDataLst>
          </p:nvPr>
        </p:nvSpPr>
        <p:spPr bwMode="blackWhite">
          <a:xfrm>
            <a:off x="523195" y="587047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8</a:t>
            </a:r>
          </a:p>
        </p:txBody>
      </p:sp>
      <p:sp>
        <p:nvSpPr>
          <p:cNvPr id="194" name="Rectangle 11"/>
          <p:cNvSpPr>
            <a:spLocks noChangeArrowheads="1"/>
          </p:cNvSpPr>
          <p:nvPr>
            <p:custDataLst>
              <p:tags r:id="rId17"/>
            </p:custDataLst>
          </p:nvPr>
        </p:nvSpPr>
        <p:spPr bwMode="blackWhite">
          <a:xfrm>
            <a:off x="631207" y="2135511"/>
            <a:ext cx="1513481" cy="25742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직무</a:t>
            </a:r>
            <a:endParaRPr kumimoji="1" lang="en-US" altLang="ko-KR" sz="10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95" name="직선 연결선 194"/>
          <p:cNvCxnSpPr>
            <a:stCxn id="224" idx="1"/>
            <a:endCxn id="178" idx="3"/>
          </p:cNvCxnSpPr>
          <p:nvPr/>
        </p:nvCxnSpPr>
        <p:spPr bwMode="auto">
          <a:xfrm flipH="1" flipV="1">
            <a:off x="2144688" y="2623692"/>
            <a:ext cx="4053992" cy="1045570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96" name="직선 연결선 195"/>
          <p:cNvCxnSpPr>
            <a:stCxn id="241" idx="1"/>
            <a:endCxn id="179" idx="3"/>
          </p:cNvCxnSpPr>
          <p:nvPr/>
        </p:nvCxnSpPr>
        <p:spPr bwMode="auto">
          <a:xfrm flipH="1" flipV="1">
            <a:off x="2144688" y="3102966"/>
            <a:ext cx="2526134" cy="1142360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97" name="직선 연결선 196"/>
          <p:cNvCxnSpPr>
            <a:stCxn id="242" idx="1"/>
            <a:endCxn id="180" idx="3"/>
          </p:cNvCxnSpPr>
          <p:nvPr/>
        </p:nvCxnSpPr>
        <p:spPr bwMode="auto">
          <a:xfrm flipH="1" flipV="1">
            <a:off x="2144688" y="3582240"/>
            <a:ext cx="4128312" cy="663086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98" name="직선 연결선 197"/>
          <p:cNvCxnSpPr>
            <a:stCxn id="242" idx="1"/>
            <a:endCxn id="181" idx="3"/>
          </p:cNvCxnSpPr>
          <p:nvPr/>
        </p:nvCxnSpPr>
        <p:spPr bwMode="auto">
          <a:xfrm flipH="1" flipV="1">
            <a:off x="2144688" y="4061514"/>
            <a:ext cx="4128312" cy="183812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199" name="직선 연결선 198"/>
          <p:cNvCxnSpPr>
            <a:stCxn id="242" idx="1"/>
            <a:endCxn id="182" idx="3"/>
          </p:cNvCxnSpPr>
          <p:nvPr/>
        </p:nvCxnSpPr>
        <p:spPr bwMode="auto">
          <a:xfrm flipH="1">
            <a:off x="2144688" y="4245326"/>
            <a:ext cx="4128312" cy="295462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200" name="직선 연결선 199"/>
          <p:cNvCxnSpPr>
            <a:stCxn id="242" idx="1"/>
            <a:endCxn id="183" idx="3"/>
          </p:cNvCxnSpPr>
          <p:nvPr/>
        </p:nvCxnSpPr>
        <p:spPr bwMode="auto">
          <a:xfrm flipH="1">
            <a:off x="2144688" y="4245326"/>
            <a:ext cx="4128312" cy="774736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201" name="직선 연결선 200"/>
          <p:cNvCxnSpPr>
            <a:stCxn id="242" idx="1"/>
            <a:endCxn id="184" idx="3"/>
          </p:cNvCxnSpPr>
          <p:nvPr/>
        </p:nvCxnSpPr>
        <p:spPr bwMode="auto">
          <a:xfrm flipH="1">
            <a:off x="2144688" y="4245326"/>
            <a:ext cx="4128312" cy="1254010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cxnSp>
        <p:nvCxnSpPr>
          <p:cNvPr id="202" name="직선 연결선 201"/>
          <p:cNvCxnSpPr>
            <a:stCxn id="242" idx="1"/>
            <a:endCxn id="185" idx="3"/>
          </p:cNvCxnSpPr>
          <p:nvPr/>
        </p:nvCxnSpPr>
        <p:spPr bwMode="auto">
          <a:xfrm flipH="1">
            <a:off x="2144688" y="4245326"/>
            <a:ext cx="4128312" cy="1733286"/>
          </a:xfrm>
          <a:prstGeom prst="line">
            <a:avLst/>
          </a:prstGeom>
          <a:solidFill>
            <a:srgbClr val="FBB779"/>
          </a:solidFill>
          <a:ln w="19050" cap="flat" cmpd="sng" algn="ctr">
            <a:solidFill>
              <a:srgbClr val="C00000"/>
            </a:solidFill>
            <a:prstDash val="solid"/>
            <a:round/>
            <a:headEnd type="triangle" w="lg" len="lg"/>
            <a:tailEnd type="oval" w="med" len="med"/>
          </a:ln>
          <a:effectLst/>
        </p:spPr>
      </p:cxnSp>
      <p:sp>
        <p:nvSpPr>
          <p:cNvPr id="203" name="AutoShape 88"/>
          <p:cNvSpPr>
            <a:spLocks noChangeAspect="1" noChangeArrowheads="1"/>
          </p:cNvSpPr>
          <p:nvPr/>
        </p:nvSpPr>
        <p:spPr bwMode="auto">
          <a:xfrm>
            <a:off x="2698168" y="2324269"/>
            <a:ext cx="1145296" cy="3836315"/>
          </a:xfrm>
          <a:prstGeom prst="rightArrow">
            <a:avLst>
              <a:gd name="adj1" fmla="val 74847"/>
              <a:gd name="adj2" fmla="val 29794"/>
            </a:avLst>
          </a:prstGeom>
          <a:gradFill flip="none" rotWithShape="1">
            <a:gsLst>
              <a:gs pos="0">
                <a:schemeClr val="accent2">
                  <a:lumMod val="40000"/>
                  <a:lumOff val="60000"/>
                  <a:alpha val="70000"/>
                </a:schemeClr>
              </a:gs>
              <a:gs pos="46000">
                <a:schemeClr val="accent2">
                  <a:lumMod val="95000"/>
                  <a:lumOff val="5000"/>
                  <a:alpha val="70000"/>
                </a:schemeClr>
              </a:gs>
              <a:gs pos="100000">
                <a:schemeClr val="accent2">
                  <a:lumMod val="60000"/>
                  <a:alpha val="7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chemeClr val="accent2">
                <a:lumMod val="90000"/>
              </a:schemeClr>
            </a:solidFill>
          </a:ln>
          <a:effectLst/>
          <a:extLst/>
        </p:spPr>
        <p:txBody>
          <a:bodyPr vert="eaVert" wrap="none" lIns="144000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400" dirty="0">
                <a:solidFill>
                  <a:srgbClr val="BEDCFF">
                    <a:lumMod val="2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데이터관리 직무 배정</a:t>
            </a:r>
          </a:p>
        </p:txBody>
      </p:sp>
    </p:spTree>
    <p:extLst>
      <p:ext uri="{BB962C8B-B14F-4D97-AF65-F5344CB8AC3E}">
        <p14:creationId xmlns:p14="http://schemas.microsoft.com/office/powerpoint/2010/main" val="329285431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품질지표 관리는 데이터 품질을 정량적으로 관리하기 위한 것으로</a:t>
            </a:r>
            <a:r>
              <a:rPr lang="en-US" altLang="ko-KR" dirty="0"/>
              <a:t>, </a:t>
            </a:r>
            <a:r>
              <a:rPr lang="ko-KR" altLang="en-US" dirty="0"/>
              <a:t> 데이터 품질관리의 여타 부분이 내재화 된 후 적용하는 것이 타당함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2.10.3.4 </a:t>
            </a:r>
            <a:r>
              <a:rPr lang="ko-KR" altLang="en-US" spc="-150" smtClean="0"/>
              <a:t>데이터 </a:t>
            </a:r>
            <a:r>
              <a:rPr lang="ko-KR" altLang="en-US" spc="-150" dirty="0"/>
              <a:t>품질 지표 관리 방안 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방향성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2" name="그룹 25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27" name="직사각형 26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품질지표 관리 방향성</a:t>
              </a:r>
            </a:p>
          </p:txBody>
        </p:sp>
        <p:sp>
          <p:nvSpPr>
            <p:cNvPr id="28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" name="그룹 1"/>
          <p:cNvGrpSpPr/>
          <p:nvPr/>
        </p:nvGrpSpPr>
        <p:grpSpPr>
          <a:xfrm>
            <a:off x="403452" y="1988840"/>
            <a:ext cx="9086624" cy="4483339"/>
            <a:chOff x="403451" y="1988840"/>
            <a:chExt cx="9374085" cy="4483339"/>
          </a:xfrm>
        </p:grpSpPr>
        <p:grpSp>
          <p:nvGrpSpPr>
            <p:cNvPr id="6" name="그룹 28"/>
            <p:cNvGrpSpPr/>
            <p:nvPr/>
          </p:nvGrpSpPr>
          <p:grpSpPr>
            <a:xfrm>
              <a:off x="7058650" y="2020566"/>
              <a:ext cx="2718886" cy="4258004"/>
              <a:chOff x="2324708" y="394145"/>
              <a:chExt cx="3186842" cy="4258004"/>
            </a:xfrm>
          </p:grpSpPr>
          <p:sp>
            <p:nvSpPr>
              <p:cNvPr id="30" name="직사각형 29"/>
              <p:cNvSpPr/>
              <p:nvPr/>
            </p:nvSpPr>
            <p:spPr>
              <a:xfrm>
                <a:off x="2324709" y="692149"/>
                <a:ext cx="3186840" cy="396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endParaRPr lang="ko-KR" altLang="en-US" sz="8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1" name="직사각형 30"/>
              <p:cNvSpPr/>
              <p:nvPr/>
            </p:nvSpPr>
            <p:spPr bwMode="auto">
              <a:xfrm>
                <a:off x="2324708" y="394145"/>
                <a:ext cx="3186842" cy="298005"/>
              </a:xfrm>
              <a:prstGeom prst="rect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72000" tIns="0" rIns="7200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lang="ko-KR" altLang="en-US" sz="1200" b="1" spc="-5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방향성 정의</a:t>
                </a:r>
              </a:p>
            </p:txBody>
          </p:sp>
        </p:grpSp>
        <p:sp>
          <p:nvSpPr>
            <p:cNvPr id="32" name="AutoShape 5"/>
            <p:cNvSpPr>
              <a:spLocks noChangeArrowheads="1"/>
            </p:cNvSpPr>
            <p:nvPr/>
          </p:nvSpPr>
          <p:spPr bwMode="auto">
            <a:xfrm>
              <a:off x="4133198" y="2062319"/>
              <a:ext cx="2490874" cy="700948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현황 분석</a:t>
              </a:r>
            </a:p>
          </p:txBody>
        </p:sp>
        <p:sp>
          <p:nvSpPr>
            <p:cNvPr id="33" name="AutoShape 6"/>
            <p:cNvSpPr>
              <a:spLocks noChangeArrowheads="1"/>
            </p:cNvSpPr>
            <p:nvPr/>
          </p:nvSpPr>
          <p:spPr bwMode="auto">
            <a:xfrm>
              <a:off x="7207986" y="2528900"/>
              <a:ext cx="2478956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핵심 개선 대상 </a:t>
              </a:r>
              <a:r>
                <a:rPr kumimoji="1" lang="en-US" altLang="ko-KR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 속성 정의</a:t>
              </a:r>
            </a:p>
          </p:txBody>
        </p:sp>
        <p:sp>
          <p:nvSpPr>
            <p:cNvPr id="34" name="AutoShape 7"/>
            <p:cNvSpPr>
              <a:spLocks noChangeArrowheads="1"/>
            </p:cNvSpPr>
            <p:nvPr/>
          </p:nvSpPr>
          <p:spPr bwMode="auto">
            <a:xfrm>
              <a:off x="7207986" y="4567250"/>
              <a:ext cx="2478956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 </a:t>
              </a:r>
              <a:r>
                <a:rPr kumimoji="1" lang="en-US" altLang="ko-KR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속성 별 개선 방안 수립</a:t>
              </a:r>
            </a:p>
          </p:txBody>
        </p:sp>
        <p:sp>
          <p:nvSpPr>
            <p:cNvPr id="35" name="Text Box 8"/>
            <p:cNvSpPr txBox="1">
              <a:spLocks noChangeArrowheads="1"/>
            </p:cNvSpPr>
            <p:nvPr/>
          </p:nvSpPr>
          <p:spPr bwMode="auto">
            <a:xfrm>
              <a:off x="7207986" y="3411550"/>
              <a:ext cx="2478956" cy="3781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 현황 분석 결과를 바탕으로 핵심 개선 대상 데이터 품질 속성 정의</a:t>
              </a:r>
            </a:p>
          </p:txBody>
        </p:sp>
        <p:sp>
          <p:nvSpPr>
            <p:cNvPr id="38" name="Text Box 9"/>
            <p:cNvSpPr txBox="1">
              <a:spLocks noChangeArrowheads="1"/>
            </p:cNvSpPr>
            <p:nvPr/>
          </p:nvSpPr>
          <p:spPr bwMode="auto">
            <a:xfrm>
              <a:off x="7207986" y="5445138"/>
              <a:ext cx="2478956" cy="3781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핵심 개선 대상 데이터 품질 속성의 품질 수준 향상을 위한 개선 방안 수립</a:t>
              </a:r>
            </a:p>
          </p:txBody>
        </p:sp>
        <p:cxnSp>
          <p:nvCxnSpPr>
            <p:cNvPr id="39" name="AutoShape 10"/>
            <p:cNvCxnSpPr>
              <a:cxnSpLocks noChangeShapeType="1"/>
              <a:stCxn id="32" idx="3"/>
            </p:cNvCxnSpPr>
            <p:nvPr/>
          </p:nvCxnSpPr>
          <p:spPr bwMode="auto">
            <a:xfrm>
              <a:off x="6624072" y="2412793"/>
              <a:ext cx="434578" cy="1737234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" name="AutoShape 11"/>
            <p:cNvCxnSpPr>
              <a:cxnSpLocks noChangeShapeType="1"/>
              <a:stCxn id="48" idx="3"/>
            </p:cNvCxnSpPr>
            <p:nvPr/>
          </p:nvCxnSpPr>
          <p:spPr bwMode="auto">
            <a:xfrm>
              <a:off x="6624072" y="3905360"/>
              <a:ext cx="434578" cy="180869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" name="Text Box 12"/>
            <p:cNvSpPr txBox="1">
              <a:spLocks noChangeArrowheads="1"/>
            </p:cNvSpPr>
            <p:nvPr/>
          </p:nvSpPr>
          <p:spPr bwMode="auto">
            <a:xfrm>
              <a:off x="4115735" y="2782618"/>
              <a:ext cx="2508337" cy="539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관련 시스템의 </a:t>
              </a: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 현황 분석 결과를 반영</a:t>
              </a:r>
              <a:endPara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5" name="AutoShape 5"/>
            <p:cNvSpPr>
              <a:spLocks noChangeArrowheads="1"/>
            </p:cNvSpPr>
            <p:nvPr/>
          </p:nvSpPr>
          <p:spPr bwMode="auto">
            <a:xfrm>
              <a:off x="4133198" y="5122659"/>
              <a:ext cx="2490874" cy="700948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100" b="1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en-US" altLang="ko-KR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46" name="Text Box 12"/>
            <p:cNvSpPr txBox="1">
              <a:spLocks noChangeArrowheads="1"/>
            </p:cNvSpPr>
            <p:nvPr/>
          </p:nvSpPr>
          <p:spPr bwMode="auto">
            <a:xfrm>
              <a:off x="4115735" y="5830829"/>
              <a:ext cx="2508337" cy="641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</a:t>
              </a: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품질관리 체계</a:t>
              </a:r>
            </a:p>
          </p:txBody>
        </p:sp>
        <p:cxnSp>
          <p:nvCxnSpPr>
            <p:cNvPr id="47" name="AutoShape 11"/>
            <p:cNvCxnSpPr>
              <a:cxnSpLocks noChangeShapeType="1"/>
              <a:stCxn id="45" idx="3"/>
            </p:cNvCxnSpPr>
            <p:nvPr/>
          </p:nvCxnSpPr>
          <p:spPr bwMode="auto">
            <a:xfrm flipV="1">
              <a:off x="6624072" y="4006011"/>
              <a:ext cx="434578" cy="1467122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8" name="AutoShape 3"/>
            <p:cNvSpPr>
              <a:spLocks noChangeArrowheads="1"/>
            </p:cNvSpPr>
            <p:nvPr/>
          </p:nvSpPr>
          <p:spPr bwMode="auto">
            <a:xfrm>
              <a:off x="4133198" y="3330669"/>
              <a:ext cx="2490874" cy="1149381"/>
            </a:xfrm>
            <a:prstGeom prst="homePlate">
              <a:avLst>
                <a:gd name="adj" fmla="val 25183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t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속성</a:t>
              </a:r>
            </a:p>
          </p:txBody>
        </p:sp>
        <p:sp>
          <p:nvSpPr>
            <p:cNvPr id="49" name="Text Box 13"/>
            <p:cNvSpPr txBox="1">
              <a:spLocks noChangeArrowheads="1"/>
            </p:cNvSpPr>
            <p:nvPr/>
          </p:nvSpPr>
          <p:spPr bwMode="auto">
            <a:xfrm>
              <a:off x="4161773" y="4482797"/>
              <a:ext cx="2462299" cy="4524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7</a:t>
              </a: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개 데이터 품질 속성과 품질 현황을 고려하여 취약한 품질 분야에 대한 개선 방향 정립</a:t>
              </a:r>
            </a:p>
          </p:txBody>
        </p:sp>
        <p:sp>
          <p:nvSpPr>
            <p:cNvPr id="50" name="AutoShape 6"/>
            <p:cNvSpPr>
              <a:spLocks noChangeArrowheads="1"/>
            </p:cNvSpPr>
            <p:nvPr/>
          </p:nvSpPr>
          <p:spPr bwMode="auto">
            <a:xfrm>
              <a:off x="4715860" y="3712382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정확성</a:t>
              </a:r>
            </a:p>
          </p:txBody>
        </p:sp>
        <p:sp>
          <p:nvSpPr>
            <p:cNvPr id="51" name="AutoShape 6"/>
            <p:cNvSpPr>
              <a:spLocks noChangeArrowheads="1"/>
            </p:cNvSpPr>
            <p:nvPr/>
          </p:nvSpPr>
          <p:spPr bwMode="auto">
            <a:xfrm>
              <a:off x="5251966" y="3712382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일관성</a:t>
              </a:r>
            </a:p>
          </p:txBody>
        </p:sp>
        <p:sp>
          <p:nvSpPr>
            <p:cNvPr id="52" name="AutoShape 6"/>
            <p:cNvSpPr>
              <a:spLocks noChangeArrowheads="1"/>
            </p:cNvSpPr>
            <p:nvPr/>
          </p:nvSpPr>
          <p:spPr bwMode="auto">
            <a:xfrm>
              <a:off x="5788072" y="3712382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유용성</a:t>
              </a:r>
            </a:p>
          </p:txBody>
        </p:sp>
        <p:sp>
          <p:nvSpPr>
            <p:cNvPr id="53" name="AutoShape 6"/>
            <p:cNvSpPr>
              <a:spLocks noChangeArrowheads="1"/>
            </p:cNvSpPr>
            <p:nvPr/>
          </p:nvSpPr>
          <p:spPr bwMode="auto">
            <a:xfrm>
              <a:off x="4715860" y="4084006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접근성</a:t>
              </a:r>
            </a:p>
          </p:txBody>
        </p:sp>
        <p:sp>
          <p:nvSpPr>
            <p:cNvPr id="54" name="AutoShape 6"/>
            <p:cNvSpPr>
              <a:spLocks noChangeArrowheads="1"/>
            </p:cNvSpPr>
            <p:nvPr/>
          </p:nvSpPr>
          <p:spPr bwMode="auto">
            <a:xfrm>
              <a:off x="5251966" y="4084006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적시성</a:t>
              </a:r>
            </a:p>
          </p:txBody>
        </p:sp>
        <p:sp>
          <p:nvSpPr>
            <p:cNvPr id="55" name="AutoShape 6"/>
            <p:cNvSpPr>
              <a:spLocks noChangeArrowheads="1"/>
            </p:cNvSpPr>
            <p:nvPr/>
          </p:nvSpPr>
          <p:spPr bwMode="auto">
            <a:xfrm>
              <a:off x="5788072" y="4084006"/>
              <a:ext cx="474206" cy="278265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보안성</a:t>
              </a:r>
            </a:p>
          </p:txBody>
        </p:sp>
        <p:sp>
          <p:nvSpPr>
            <p:cNvPr id="56" name="AutoShape 6"/>
            <p:cNvSpPr>
              <a:spLocks noChangeArrowheads="1"/>
            </p:cNvSpPr>
            <p:nvPr/>
          </p:nvSpPr>
          <p:spPr bwMode="auto">
            <a:xfrm>
              <a:off x="4269340" y="3712382"/>
              <a:ext cx="374512" cy="643271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vert="eaVert"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준비성</a:t>
              </a:r>
            </a:p>
          </p:txBody>
        </p:sp>
        <p:sp>
          <p:nvSpPr>
            <p:cNvPr id="57" name="직사각형 56"/>
            <p:cNvSpPr/>
            <p:nvPr/>
          </p:nvSpPr>
          <p:spPr bwMode="auto">
            <a:xfrm>
              <a:off x="403451" y="1988840"/>
              <a:ext cx="3186842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403451" y="2429993"/>
              <a:ext cx="3186840" cy="3881220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9" name="오각형 58"/>
            <p:cNvSpPr/>
            <p:nvPr/>
          </p:nvSpPr>
          <p:spPr>
            <a:xfrm rot="16200000">
              <a:off x="1839284" y="1267162"/>
              <a:ext cx="331432" cy="3001868"/>
            </a:xfrm>
            <a:prstGeom prst="homePlate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vert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504066" y="2978847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504066" y="3325586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62" name="직사각형 61"/>
            <p:cNvSpPr/>
            <p:nvPr/>
          </p:nvSpPr>
          <p:spPr>
            <a:xfrm>
              <a:off x="504066" y="5070421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63" name="직사각형 62"/>
            <p:cNvSpPr/>
            <p:nvPr/>
          </p:nvSpPr>
          <p:spPr>
            <a:xfrm>
              <a:off x="504066" y="5417161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64" name="직사각형 63"/>
            <p:cNvSpPr/>
            <p:nvPr/>
          </p:nvSpPr>
          <p:spPr>
            <a:xfrm>
              <a:off x="504066" y="5765893"/>
              <a:ext cx="3001868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65" name="직사각형 64"/>
            <p:cNvSpPr/>
            <p:nvPr/>
          </p:nvSpPr>
          <p:spPr>
            <a:xfrm>
              <a:off x="504066" y="3668946"/>
              <a:ext cx="2584934" cy="135689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66" name="직사각형 65"/>
            <p:cNvSpPr/>
            <p:nvPr/>
          </p:nvSpPr>
          <p:spPr>
            <a:xfrm>
              <a:off x="1829453" y="3741598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67" name="직사각형 66"/>
            <p:cNvSpPr/>
            <p:nvPr/>
          </p:nvSpPr>
          <p:spPr>
            <a:xfrm>
              <a:off x="1829453" y="4255257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713269" y="3741598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69" name="직사각형 68"/>
            <p:cNvSpPr/>
            <p:nvPr/>
          </p:nvSpPr>
          <p:spPr>
            <a:xfrm>
              <a:off x="713269" y="4255257"/>
              <a:ext cx="1116184" cy="51605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9050">
              <a:solidFill>
                <a:srgbClr val="C00000"/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70" name="직사각형 69"/>
            <p:cNvSpPr/>
            <p:nvPr/>
          </p:nvSpPr>
          <p:spPr>
            <a:xfrm>
              <a:off x="3123734" y="2978847"/>
              <a:ext cx="382200" cy="27424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공유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공개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7" name="그룹 70"/>
            <p:cNvGrpSpPr/>
            <p:nvPr/>
          </p:nvGrpSpPr>
          <p:grpSpPr>
            <a:xfrm>
              <a:off x="1451173" y="3871927"/>
              <a:ext cx="769700" cy="769701"/>
              <a:chOff x="-1683537" y="3004277"/>
              <a:chExt cx="892622" cy="892622"/>
            </a:xfrm>
          </p:grpSpPr>
          <p:sp>
            <p:nvSpPr>
              <p:cNvPr id="72" name="모서리가 둥근 직사각형 71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>
                  <a:alpha val="53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73" name="타원 72"/>
              <p:cNvSpPr/>
              <p:nvPr/>
            </p:nvSpPr>
            <p:spPr>
              <a:xfrm>
                <a:off x="-1491716" y="3199832"/>
                <a:ext cx="490467" cy="490467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74" name="AutoShape 68"/>
            <p:cNvCxnSpPr>
              <a:cxnSpLocks noChangeShapeType="1"/>
              <a:stCxn id="69" idx="3"/>
              <a:endCxn id="32" idx="1"/>
            </p:cNvCxnSpPr>
            <p:nvPr/>
          </p:nvCxnSpPr>
          <p:spPr bwMode="auto">
            <a:xfrm flipV="1">
              <a:off x="1829453" y="2412793"/>
              <a:ext cx="2303745" cy="2100491"/>
            </a:xfrm>
            <a:prstGeom prst="bentConnector3">
              <a:avLst>
                <a:gd name="adj1" fmla="val 86384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6" name="AutoShape 68"/>
            <p:cNvCxnSpPr>
              <a:cxnSpLocks noChangeShapeType="1"/>
              <a:stCxn id="69" idx="3"/>
              <a:endCxn id="48" idx="1"/>
            </p:cNvCxnSpPr>
            <p:nvPr/>
          </p:nvCxnSpPr>
          <p:spPr bwMode="auto">
            <a:xfrm flipV="1">
              <a:off x="1829453" y="3905360"/>
              <a:ext cx="2303744" cy="607924"/>
            </a:xfrm>
            <a:prstGeom prst="bentConnector3">
              <a:avLst>
                <a:gd name="adj1" fmla="val 86662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7" name="AutoShape 68"/>
            <p:cNvCxnSpPr>
              <a:cxnSpLocks noChangeShapeType="1"/>
              <a:stCxn id="69" idx="3"/>
              <a:endCxn id="45" idx="1"/>
            </p:cNvCxnSpPr>
            <p:nvPr/>
          </p:nvCxnSpPr>
          <p:spPr bwMode="auto">
            <a:xfrm>
              <a:off x="1829453" y="4513284"/>
              <a:ext cx="2303744" cy="959849"/>
            </a:xfrm>
            <a:prstGeom prst="bentConnector3">
              <a:avLst>
                <a:gd name="adj1" fmla="val 86186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55362776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품질지표 관리는 데이터 품질을 정량적으로 관리하기 위한 것으로</a:t>
            </a:r>
            <a:r>
              <a:rPr lang="en-US" altLang="ko-KR" dirty="0"/>
              <a:t>, </a:t>
            </a:r>
            <a:r>
              <a:rPr lang="ko-KR" altLang="en-US" dirty="0"/>
              <a:t> 데이터 품질관리의 여타 부분이 내재화 된 후 적용하는 것이 타당함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2.10.3.4 </a:t>
            </a:r>
            <a:r>
              <a:rPr lang="ko-KR" altLang="en-US" spc="-150"/>
              <a:t>데이터 품질 지표 관리 방안 </a:t>
            </a:r>
            <a:r>
              <a:rPr lang="ko-KR" altLang="en-US" spc="-150" smtClean="0"/>
              <a:t> 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품질지표 구조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2" name="그룹 25"/>
          <p:cNvGrpSpPr/>
          <p:nvPr/>
        </p:nvGrpSpPr>
        <p:grpSpPr>
          <a:xfrm>
            <a:off x="344489" y="1592796"/>
            <a:ext cx="9217024" cy="2918721"/>
            <a:chOff x="354519" y="1592796"/>
            <a:chExt cx="6594107" cy="2918721"/>
          </a:xfrm>
        </p:grpSpPr>
        <p:sp>
          <p:nvSpPr>
            <p:cNvPr id="27" name="직사각형 26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품질지표 구조</a:t>
              </a:r>
            </a:p>
          </p:txBody>
        </p:sp>
        <p:sp>
          <p:nvSpPr>
            <p:cNvPr id="28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2594685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5" name="Rectangle 19"/>
          <p:cNvSpPr>
            <a:spLocks noChangeArrowheads="1"/>
          </p:cNvSpPr>
          <p:nvPr/>
        </p:nvSpPr>
        <p:spPr bwMode="auto">
          <a:xfrm>
            <a:off x="544521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Rectangle 19"/>
          <p:cNvSpPr>
            <a:spLocks noChangeArrowheads="1"/>
          </p:cNvSpPr>
          <p:nvPr/>
        </p:nvSpPr>
        <p:spPr bwMode="auto">
          <a:xfrm>
            <a:off x="1803480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Rectangle 19"/>
          <p:cNvSpPr>
            <a:spLocks noChangeArrowheads="1"/>
          </p:cNvSpPr>
          <p:nvPr/>
        </p:nvSpPr>
        <p:spPr bwMode="auto">
          <a:xfrm>
            <a:off x="3062439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Rectangle 19"/>
          <p:cNvSpPr>
            <a:spLocks noChangeArrowheads="1"/>
          </p:cNvSpPr>
          <p:nvPr/>
        </p:nvSpPr>
        <p:spPr bwMode="auto">
          <a:xfrm>
            <a:off x="5580863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Rectangle 19"/>
          <p:cNvSpPr>
            <a:spLocks noChangeArrowheads="1"/>
          </p:cNvSpPr>
          <p:nvPr/>
        </p:nvSpPr>
        <p:spPr bwMode="auto">
          <a:xfrm>
            <a:off x="6839333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8098781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Rectangle 19"/>
          <p:cNvSpPr>
            <a:spLocks noChangeArrowheads="1"/>
          </p:cNvSpPr>
          <p:nvPr/>
        </p:nvSpPr>
        <p:spPr bwMode="auto">
          <a:xfrm>
            <a:off x="4327116" y="2596270"/>
            <a:ext cx="238595" cy="255905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Rectangle 89"/>
          <p:cNvSpPr>
            <a:spLocks noChangeArrowheads="1"/>
          </p:cNvSpPr>
          <p:nvPr/>
        </p:nvSpPr>
        <p:spPr bwMode="auto">
          <a:xfrm>
            <a:off x="1226523" y="2465737"/>
            <a:ext cx="421703" cy="2889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algn="ctr"/>
            <a:endParaRPr lang="ko-KR" altLang="en-US" sz="11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Rectangle 19"/>
          <p:cNvSpPr>
            <a:spLocks noChangeArrowheads="1"/>
          </p:cNvSpPr>
          <p:nvPr/>
        </p:nvSpPr>
        <p:spPr bwMode="auto">
          <a:xfrm>
            <a:off x="3710485" y="2105697"/>
            <a:ext cx="2394643" cy="309342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ffectLst/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품질 지표</a:t>
            </a:r>
          </a:p>
        </p:txBody>
      </p:sp>
      <p:cxnSp>
        <p:nvCxnSpPr>
          <p:cNvPr id="86" name="꺾인 연결선 85"/>
          <p:cNvCxnSpPr>
            <a:stCxn id="140" idx="0"/>
            <a:endCxn id="85" idx="2"/>
          </p:cNvCxnSpPr>
          <p:nvPr/>
        </p:nvCxnSpPr>
        <p:spPr bwMode="auto">
          <a:xfrm rot="5400000" flipH="1" flipV="1">
            <a:off x="2945834" y="598294"/>
            <a:ext cx="145227" cy="377871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7" name="꺾인 연결선 86"/>
          <p:cNvCxnSpPr>
            <a:stCxn id="141" idx="0"/>
            <a:endCxn id="85" idx="2"/>
          </p:cNvCxnSpPr>
          <p:nvPr/>
        </p:nvCxnSpPr>
        <p:spPr bwMode="auto">
          <a:xfrm rot="5400000" flipH="1" flipV="1">
            <a:off x="4204793" y="1857253"/>
            <a:ext cx="145227" cy="126080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8" name="꺾인 연결선 87"/>
          <p:cNvCxnSpPr>
            <a:stCxn id="147" idx="0"/>
            <a:endCxn id="85" idx="2"/>
          </p:cNvCxnSpPr>
          <p:nvPr/>
        </p:nvCxnSpPr>
        <p:spPr bwMode="auto">
          <a:xfrm rot="5400000" flipH="1" flipV="1">
            <a:off x="4834273" y="2486732"/>
            <a:ext cx="145227" cy="1842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9" name="꺾인 연결선 88"/>
          <p:cNvCxnSpPr>
            <a:stCxn id="142" idx="0"/>
            <a:endCxn id="85" idx="2"/>
          </p:cNvCxnSpPr>
          <p:nvPr/>
        </p:nvCxnSpPr>
        <p:spPr bwMode="auto">
          <a:xfrm rot="16200000" flipV="1">
            <a:off x="5463753" y="1859094"/>
            <a:ext cx="145227" cy="125711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0" name="꺾인 연결선 89"/>
          <p:cNvCxnSpPr>
            <a:stCxn id="143" idx="0"/>
            <a:endCxn id="85" idx="2"/>
          </p:cNvCxnSpPr>
          <p:nvPr/>
        </p:nvCxnSpPr>
        <p:spPr bwMode="auto">
          <a:xfrm rot="16200000" flipV="1">
            <a:off x="6093232" y="1229615"/>
            <a:ext cx="145227" cy="251607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1" name="꺾인 연결선 90"/>
          <p:cNvCxnSpPr>
            <a:stCxn id="144" idx="0"/>
            <a:endCxn id="85" idx="2"/>
          </p:cNvCxnSpPr>
          <p:nvPr/>
        </p:nvCxnSpPr>
        <p:spPr bwMode="auto">
          <a:xfrm rot="16200000" flipV="1">
            <a:off x="6722711" y="600136"/>
            <a:ext cx="145227" cy="377503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2" name="Rectangle 19"/>
          <p:cNvSpPr>
            <a:spLocks noChangeArrowheads="1"/>
          </p:cNvSpPr>
          <p:nvPr/>
        </p:nvSpPr>
        <p:spPr bwMode="auto">
          <a:xfrm>
            <a:off x="754472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관리요소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Rectangle 19"/>
          <p:cNvSpPr>
            <a:spLocks noChangeArrowheads="1"/>
          </p:cNvSpPr>
          <p:nvPr/>
        </p:nvSpPr>
        <p:spPr bwMode="auto">
          <a:xfrm>
            <a:off x="754472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내용충실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4" name="Rectangle 19"/>
          <p:cNvSpPr>
            <a:spLocks noChangeArrowheads="1"/>
          </p:cNvSpPr>
          <p:nvPr/>
        </p:nvSpPr>
        <p:spPr bwMode="auto">
          <a:xfrm>
            <a:off x="2013431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논리모델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Rectangle 19"/>
          <p:cNvSpPr>
            <a:spLocks noChangeArrowheads="1"/>
          </p:cNvSpPr>
          <p:nvPr/>
        </p:nvSpPr>
        <p:spPr bwMode="auto">
          <a:xfrm>
            <a:off x="2013431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식별자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Rectangle 19"/>
          <p:cNvSpPr>
            <a:spLocks noChangeArrowheads="1"/>
          </p:cNvSpPr>
          <p:nvPr/>
        </p:nvSpPr>
        <p:spPr bwMode="auto">
          <a:xfrm>
            <a:off x="3269164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속성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Rectangle 19"/>
          <p:cNvSpPr>
            <a:spLocks noChangeArrowheads="1"/>
          </p:cNvSpPr>
          <p:nvPr/>
        </p:nvSpPr>
        <p:spPr bwMode="auto">
          <a:xfrm>
            <a:off x="3269164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Rectangle 19"/>
          <p:cNvSpPr>
            <a:spLocks noChangeArrowheads="1"/>
          </p:cNvSpPr>
          <p:nvPr/>
        </p:nvSpPr>
        <p:spPr bwMode="auto">
          <a:xfrm>
            <a:off x="4528123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입력값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Rectangle 19"/>
          <p:cNvSpPr>
            <a:spLocks noChangeArrowheads="1"/>
          </p:cNvSpPr>
          <p:nvPr/>
        </p:nvSpPr>
        <p:spPr bwMode="auto">
          <a:xfrm>
            <a:off x="4528123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업무규칙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Rectangle 19"/>
          <p:cNvSpPr>
            <a:spLocks noChangeArrowheads="1"/>
          </p:cNvSpPr>
          <p:nvPr/>
        </p:nvSpPr>
        <p:spPr bwMode="auto">
          <a:xfrm>
            <a:off x="5790309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오너십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Rectangle 19"/>
          <p:cNvSpPr>
            <a:spLocks noChangeArrowheads="1"/>
          </p:cNvSpPr>
          <p:nvPr/>
        </p:nvSpPr>
        <p:spPr bwMode="auto">
          <a:xfrm>
            <a:off x="5790309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접근제한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" name="Rectangle 19"/>
          <p:cNvSpPr>
            <a:spLocks noChangeArrowheads="1"/>
          </p:cNvSpPr>
          <p:nvPr/>
        </p:nvSpPr>
        <p:spPr bwMode="auto">
          <a:xfrm>
            <a:off x="7049268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응답시간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Rectangle 19"/>
          <p:cNvSpPr>
            <a:spLocks noChangeArrowheads="1"/>
          </p:cNvSpPr>
          <p:nvPr/>
        </p:nvSpPr>
        <p:spPr bwMode="auto">
          <a:xfrm>
            <a:off x="7049268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데이터제공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Rectangle 19"/>
          <p:cNvSpPr>
            <a:spLocks noChangeArrowheads="1"/>
          </p:cNvSpPr>
          <p:nvPr/>
        </p:nvSpPr>
        <p:spPr bwMode="auto">
          <a:xfrm>
            <a:off x="8308225" y="2952433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충분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5" name="Rectangle 19"/>
          <p:cNvSpPr>
            <a:spLocks noChangeArrowheads="1"/>
          </p:cNvSpPr>
          <p:nvPr/>
        </p:nvSpPr>
        <p:spPr bwMode="auto">
          <a:xfrm>
            <a:off x="8308225" y="324560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접근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Rectangle 19"/>
          <p:cNvSpPr>
            <a:spLocks noChangeArrowheads="1"/>
          </p:cNvSpPr>
          <p:nvPr/>
        </p:nvSpPr>
        <p:spPr bwMode="auto">
          <a:xfrm>
            <a:off x="2013431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물리구조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Rectangle 19"/>
          <p:cNvSpPr>
            <a:spLocks noChangeArrowheads="1"/>
          </p:cNvSpPr>
          <p:nvPr/>
        </p:nvSpPr>
        <p:spPr bwMode="auto">
          <a:xfrm>
            <a:off x="2013431" y="3839741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속성의미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Rectangle 19"/>
          <p:cNvSpPr>
            <a:spLocks noChangeArrowheads="1"/>
          </p:cNvSpPr>
          <p:nvPr/>
        </p:nvSpPr>
        <p:spPr bwMode="auto">
          <a:xfrm>
            <a:off x="3269164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중복값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9" name="Rectangle 19"/>
          <p:cNvSpPr>
            <a:spLocks noChangeArrowheads="1"/>
          </p:cNvSpPr>
          <p:nvPr/>
        </p:nvSpPr>
        <p:spPr bwMode="auto">
          <a:xfrm>
            <a:off x="3269164" y="3839741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연계값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0" name="Rectangle 19"/>
          <p:cNvSpPr>
            <a:spLocks noChangeArrowheads="1"/>
          </p:cNvSpPr>
          <p:nvPr/>
        </p:nvSpPr>
        <p:spPr bwMode="auto">
          <a:xfrm>
            <a:off x="4524897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범위 </a:t>
            </a:r>
            <a:r>
              <a: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형식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Rectangle 19"/>
          <p:cNvSpPr>
            <a:spLocks noChangeArrowheads="1"/>
          </p:cNvSpPr>
          <p:nvPr/>
        </p:nvSpPr>
        <p:spPr bwMode="auto">
          <a:xfrm>
            <a:off x="4524897" y="3839741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참조관계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" name="Rectangle 19"/>
          <p:cNvSpPr>
            <a:spLocks noChangeArrowheads="1"/>
          </p:cNvSpPr>
          <p:nvPr/>
        </p:nvSpPr>
        <p:spPr bwMode="auto">
          <a:xfrm>
            <a:off x="4524897" y="414825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계산식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3" name="Rectangle 19"/>
          <p:cNvSpPr>
            <a:spLocks noChangeArrowheads="1"/>
          </p:cNvSpPr>
          <p:nvPr/>
        </p:nvSpPr>
        <p:spPr bwMode="auto">
          <a:xfrm>
            <a:off x="5790309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DB </a:t>
            </a:r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보호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Rectangle 19"/>
          <p:cNvSpPr>
            <a:spLocks noChangeArrowheads="1"/>
          </p:cNvSpPr>
          <p:nvPr/>
        </p:nvSpPr>
        <p:spPr bwMode="auto">
          <a:xfrm>
            <a:off x="7049268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최신값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Rectangle 19"/>
          <p:cNvSpPr>
            <a:spLocks noChangeArrowheads="1"/>
          </p:cNvSpPr>
          <p:nvPr/>
        </p:nvSpPr>
        <p:spPr bwMode="auto">
          <a:xfrm>
            <a:off x="8308224" y="3542762"/>
            <a:ext cx="1037263" cy="25590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활용</a:t>
            </a:r>
            <a:endParaRPr lang="en-US" altLang="ko-KR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6" name="꺾인 연결선 115"/>
          <p:cNvCxnSpPr>
            <a:stCxn id="75" idx="2"/>
            <a:endCxn id="92" idx="1"/>
          </p:cNvCxnSpPr>
          <p:nvPr/>
        </p:nvCxnSpPr>
        <p:spPr bwMode="auto">
          <a:xfrm rot="16200000" flipH="1">
            <a:off x="595040" y="2920953"/>
            <a:ext cx="228211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17" name="꺾인 연결선 116"/>
          <p:cNvCxnSpPr>
            <a:stCxn id="145" idx="0"/>
            <a:endCxn id="85" idx="2"/>
          </p:cNvCxnSpPr>
          <p:nvPr/>
        </p:nvCxnSpPr>
        <p:spPr bwMode="auto">
          <a:xfrm rot="5400000" flipH="1" flipV="1">
            <a:off x="3575314" y="1227773"/>
            <a:ext cx="145227" cy="251976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꺾인 연결선 117"/>
          <p:cNvCxnSpPr>
            <a:stCxn id="75" idx="2"/>
            <a:endCxn id="93" idx="1"/>
          </p:cNvCxnSpPr>
          <p:nvPr/>
        </p:nvCxnSpPr>
        <p:spPr bwMode="auto">
          <a:xfrm rot="16200000" flipH="1">
            <a:off x="448455" y="3067538"/>
            <a:ext cx="521380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19" name="꺾인 연결선 118"/>
          <p:cNvCxnSpPr>
            <a:stCxn id="78" idx="2"/>
            <a:endCxn id="94" idx="1"/>
          </p:cNvCxnSpPr>
          <p:nvPr/>
        </p:nvCxnSpPr>
        <p:spPr bwMode="auto">
          <a:xfrm rot="16200000" flipH="1">
            <a:off x="1853999" y="2920953"/>
            <a:ext cx="228211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0" name="꺾인 연결선 119"/>
          <p:cNvCxnSpPr>
            <a:stCxn id="78" idx="2"/>
            <a:endCxn id="95" idx="1"/>
          </p:cNvCxnSpPr>
          <p:nvPr/>
        </p:nvCxnSpPr>
        <p:spPr bwMode="auto">
          <a:xfrm rot="16200000" flipH="1">
            <a:off x="1707414" y="3067538"/>
            <a:ext cx="521380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1" name="꺾인 연결선 120"/>
          <p:cNvCxnSpPr>
            <a:stCxn id="78" idx="2"/>
            <a:endCxn id="106" idx="1"/>
          </p:cNvCxnSpPr>
          <p:nvPr/>
        </p:nvCxnSpPr>
        <p:spPr bwMode="auto">
          <a:xfrm rot="16200000" flipH="1">
            <a:off x="1558834" y="3216118"/>
            <a:ext cx="818540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2" name="꺾인 연결선 121"/>
          <p:cNvCxnSpPr>
            <a:stCxn id="78" idx="2"/>
            <a:endCxn id="107" idx="1"/>
          </p:cNvCxnSpPr>
          <p:nvPr/>
        </p:nvCxnSpPr>
        <p:spPr bwMode="auto">
          <a:xfrm rot="16200000" flipH="1">
            <a:off x="1410345" y="3364607"/>
            <a:ext cx="1115519" cy="9065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3" name="꺾인 연결선 122"/>
          <p:cNvCxnSpPr>
            <a:stCxn id="79" idx="2"/>
            <a:endCxn id="96" idx="1"/>
          </p:cNvCxnSpPr>
          <p:nvPr/>
        </p:nvCxnSpPr>
        <p:spPr bwMode="auto">
          <a:xfrm rot="16200000" flipH="1">
            <a:off x="3111345" y="2922566"/>
            <a:ext cx="228211" cy="8742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4" name="꺾인 연결선 123"/>
          <p:cNvCxnSpPr>
            <a:stCxn id="79" idx="2"/>
            <a:endCxn id="97" idx="1"/>
          </p:cNvCxnSpPr>
          <p:nvPr/>
        </p:nvCxnSpPr>
        <p:spPr bwMode="auto">
          <a:xfrm rot="16200000" flipH="1">
            <a:off x="2964760" y="3069151"/>
            <a:ext cx="521380" cy="8742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5" name="꺾인 연결선 124"/>
          <p:cNvCxnSpPr>
            <a:stCxn id="79" idx="2"/>
            <a:endCxn id="108" idx="1"/>
          </p:cNvCxnSpPr>
          <p:nvPr/>
        </p:nvCxnSpPr>
        <p:spPr bwMode="auto">
          <a:xfrm rot="16200000" flipH="1">
            <a:off x="2816180" y="3217731"/>
            <a:ext cx="818540" cy="8742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6" name="꺾인 연결선 125"/>
          <p:cNvCxnSpPr>
            <a:stCxn id="79" idx="2"/>
            <a:endCxn id="109" idx="1"/>
          </p:cNvCxnSpPr>
          <p:nvPr/>
        </p:nvCxnSpPr>
        <p:spPr bwMode="auto">
          <a:xfrm rot="16200000" flipH="1">
            <a:off x="2667691" y="3366220"/>
            <a:ext cx="1115519" cy="8742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7" name="꺾인 연결선 126"/>
          <p:cNvCxnSpPr>
            <a:stCxn id="83" idx="2"/>
            <a:endCxn id="98" idx="1"/>
          </p:cNvCxnSpPr>
          <p:nvPr/>
        </p:nvCxnSpPr>
        <p:spPr bwMode="auto">
          <a:xfrm rot="16200000" flipH="1">
            <a:off x="4373163" y="2925425"/>
            <a:ext cx="228211" cy="81709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8" name="꺾인 연결선 127"/>
          <p:cNvCxnSpPr>
            <a:stCxn id="83" idx="2"/>
            <a:endCxn id="99" idx="1"/>
          </p:cNvCxnSpPr>
          <p:nvPr/>
        </p:nvCxnSpPr>
        <p:spPr bwMode="auto">
          <a:xfrm rot="16200000" flipH="1">
            <a:off x="4226578" y="3072010"/>
            <a:ext cx="521380" cy="81709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29" name="꺾인 연결선 128"/>
          <p:cNvCxnSpPr>
            <a:stCxn id="83" idx="2"/>
            <a:endCxn id="110" idx="1"/>
          </p:cNvCxnSpPr>
          <p:nvPr/>
        </p:nvCxnSpPr>
        <p:spPr bwMode="auto">
          <a:xfrm rot="16200000" flipH="1">
            <a:off x="4076385" y="3222203"/>
            <a:ext cx="818540" cy="7848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0" name="꺾인 연결선 129"/>
          <p:cNvCxnSpPr>
            <a:stCxn id="83" idx="2"/>
            <a:endCxn id="111" idx="1"/>
          </p:cNvCxnSpPr>
          <p:nvPr/>
        </p:nvCxnSpPr>
        <p:spPr bwMode="auto">
          <a:xfrm rot="16200000" flipH="1">
            <a:off x="3927896" y="3370692"/>
            <a:ext cx="1115519" cy="7848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1" name="꺾인 연결선 130"/>
          <p:cNvCxnSpPr>
            <a:stCxn id="80" idx="2"/>
            <a:endCxn id="100" idx="1"/>
          </p:cNvCxnSpPr>
          <p:nvPr/>
        </p:nvCxnSpPr>
        <p:spPr bwMode="auto">
          <a:xfrm rot="16200000" flipH="1">
            <a:off x="5631130" y="2921206"/>
            <a:ext cx="228211" cy="90148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2" name="꺾인 연결선 131"/>
          <p:cNvCxnSpPr>
            <a:stCxn id="80" idx="2"/>
            <a:endCxn id="101" idx="1"/>
          </p:cNvCxnSpPr>
          <p:nvPr/>
        </p:nvCxnSpPr>
        <p:spPr bwMode="auto">
          <a:xfrm rot="16200000" flipH="1">
            <a:off x="5484545" y="3067791"/>
            <a:ext cx="521380" cy="90148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3" name="꺾인 연결선 132"/>
          <p:cNvCxnSpPr>
            <a:stCxn id="80" idx="2"/>
            <a:endCxn id="113" idx="1"/>
          </p:cNvCxnSpPr>
          <p:nvPr/>
        </p:nvCxnSpPr>
        <p:spPr bwMode="auto">
          <a:xfrm rot="16200000" flipH="1">
            <a:off x="5335965" y="3216371"/>
            <a:ext cx="818540" cy="90148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4" name="꺾인 연결선 133"/>
          <p:cNvCxnSpPr>
            <a:stCxn id="81" idx="2"/>
            <a:endCxn id="102" idx="1"/>
          </p:cNvCxnSpPr>
          <p:nvPr/>
        </p:nvCxnSpPr>
        <p:spPr bwMode="auto">
          <a:xfrm rot="16200000" flipH="1">
            <a:off x="6889844" y="2920961"/>
            <a:ext cx="228211" cy="9063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5" name="꺾인 연결선 134"/>
          <p:cNvCxnSpPr>
            <a:stCxn id="81" idx="2"/>
            <a:endCxn id="103" idx="1"/>
          </p:cNvCxnSpPr>
          <p:nvPr/>
        </p:nvCxnSpPr>
        <p:spPr bwMode="auto">
          <a:xfrm rot="16200000" flipH="1">
            <a:off x="6743259" y="3067546"/>
            <a:ext cx="521380" cy="9063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6" name="꺾인 연결선 135"/>
          <p:cNvCxnSpPr>
            <a:stCxn id="81" idx="2"/>
            <a:endCxn id="114" idx="1"/>
          </p:cNvCxnSpPr>
          <p:nvPr/>
        </p:nvCxnSpPr>
        <p:spPr bwMode="auto">
          <a:xfrm rot="16200000" flipH="1">
            <a:off x="6594679" y="3216126"/>
            <a:ext cx="818540" cy="90637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7" name="꺾인 연결선 136"/>
          <p:cNvCxnSpPr>
            <a:stCxn id="82" idx="2"/>
            <a:endCxn id="104" idx="1"/>
          </p:cNvCxnSpPr>
          <p:nvPr/>
        </p:nvCxnSpPr>
        <p:spPr bwMode="auto">
          <a:xfrm rot="16200000" flipH="1">
            <a:off x="8149047" y="2921207"/>
            <a:ext cx="228211" cy="90146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8" name="꺾인 연결선 137"/>
          <p:cNvCxnSpPr>
            <a:stCxn id="82" idx="2"/>
            <a:endCxn id="105" idx="1"/>
          </p:cNvCxnSpPr>
          <p:nvPr/>
        </p:nvCxnSpPr>
        <p:spPr bwMode="auto">
          <a:xfrm rot="16200000" flipH="1">
            <a:off x="8002462" y="3067792"/>
            <a:ext cx="521380" cy="90146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cxnSp>
        <p:nvCxnSpPr>
          <p:cNvPr id="139" name="꺾인 연결선 138"/>
          <p:cNvCxnSpPr>
            <a:stCxn id="82" idx="2"/>
            <a:endCxn id="115" idx="1"/>
          </p:cNvCxnSpPr>
          <p:nvPr/>
        </p:nvCxnSpPr>
        <p:spPr bwMode="auto">
          <a:xfrm rot="16200000" flipH="1">
            <a:off x="7853881" y="3216372"/>
            <a:ext cx="818540" cy="90145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sp>
        <p:nvSpPr>
          <p:cNvPr id="140" name="Rectangle 19"/>
          <p:cNvSpPr>
            <a:spLocks noChangeArrowheads="1"/>
          </p:cNvSpPr>
          <p:nvPr/>
        </p:nvSpPr>
        <p:spPr bwMode="auto">
          <a:xfrm>
            <a:off x="610456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준비성</a:t>
            </a:r>
          </a:p>
        </p:txBody>
      </p:sp>
      <p:sp>
        <p:nvSpPr>
          <p:cNvPr id="141" name="Rectangle 19"/>
          <p:cNvSpPr>
            <a:spLocks noChangeArrowheads="1"/>
          </p:cNvSpPr>
          <p:nvPr/>
        </p:nvSpPr>
        <p:spPr bwMode="auto">
          <a:xfrm>
            <a:off x="3128374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일관성</a:t>
            </a:r>
          </a:p>
        </p:txBody>
      </p:sp>
      <p:sp>
        <p:nvSpPr>
          <p:cNvPr id="142" name="Rectangle 19"/>
          <p:cNvSpPr>
            <a:spLocks noChangeArrowheads="1"/>
          </p:cNvSpPr>
          <p:nvPr/>
        </p:nvSpPr>
        <p:spPr bwMode="auto">
          <a:xfrm>
            <a:off x="5646292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보안성</a:t>
            </a:r>
          </a:p>
        </p:txBody>
      </p:sp>
      <p:sp>
        <p:nvSpPr>
          <p:cNvPr id="143" name="Rectangle 19"/>
          <p:cNvSpPr>
            <a:spLocks noChangeArrowheads="1"/>
          </p:cNvSpPr>
          <p:nvPr/>
        </p:nvSpPr>
        <p:spPr bwMode="auto">
          <a:xfrm>
            <a:off x="6905251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적시성</a:t>
            </a:r>
          </a:p>
        </p:txBody>
      </p:sp>
      <p:sp>
        <p:nvSpPr>
          <p:cNvPr id="144" name="Rectangle 19"/>
          <p:cNvSpPr>
            <a:spLocks noChangeArrowheads="1"/>
          </p:cNvSpPr>
          <p:nvPr/>
        </p:nvSpPr>
        <p:spPr bwMode="auto">
          <a:xfrm>
            <a:off x="8164209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유용성</a:t>
            </a:r>
          </a:p>
        </p:txBody>
      </p:sp>
      <p:sp>
        <p:nvSpPr>
          <p:cNvPr id="145" name="Rectangle 19"/>
          <p:cNvSpPr>
            <a:spLocks noChangeArrowheads="1"/>
          </p:cNvSpPr>
          <p:nvPr/>
        </p:nvSpPr>
        <p:spPr bwMode="auto">
          <a:xfrm>
            <a:off x="1869415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완전성</a:t>
            </a:r>
          </a:p>
        </p:txBody>
      </p:sp>
      <p:cxnSp>
        <p:nvCxnSpPr>
          <p:cNvPr id="146" name="꺾인 연결선 145"/>
          <p:cNvCxnSpPr>
            <a:stCxn id="83" idx="2"/>
            <a:endCxn id="112" idx="1"/>
          </p:cNvCxnSpPr>
          <p:nvPr/>
        </p:nvCxnSpPr>
        <p:spPr bwMode="auto">
          <a:xfrm rot="16200000" flipH="1">
            <a:off x="3773640" y="3524948"/>
            <a:ext cx="1424030" cy="78483"/>
          </a:xfrm>
          <a:prstGeom prst="bentConnector2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</p:spPr>
      </p:cxnSp>
      <p:sp>
        <p:nvSpPr>
          <p:cNvPr id="147" name="Rectangle 19"/>
          <p:cNvSpPr>
            <a:spLocks noChangeArrowheads="1"/>
          </p:cNvSpPr>
          <p:nvPr/>
        </p:nvSpPr>
        <p:spPr bwMode="auto">
          <a:xfrm>
            <a:off x="4387333" y="2560266"/>
            <a:ext cx="1037263" cy="33043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정확성</a:t>
            </a:r>
          </a:p>
        </p:txBody>
      </p:sp>
      <p:sp>
        <p:nvSpPr>
          <p:cNvPr id="148" name="Rectangle 19"/>
          <p:cNvSpPr>
            <a:spLocks noChangeArrowheads="1"/>
          </p:cNvSpPr>
          <p:nvPr/>
        </p:nvSpPr>
        <p:spPr bwMode="auto">
          <a:xfrm>
            <a:off x="8481392" y="2279579"/>
            <a:ext cx="1008112" cy="163546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8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세부 데이터 품질 지표</a:t>
            </a:r>
            <a:endParaRPr lang="en-US" altLang="ko-KR" sz="8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9" name="Rectangle 19"/>
          <p:cNvSpPr>
            <a:spLocks noChangeArrowheads="1"/>
          </p:cNvSpPr>
          <p:nvPr/>
        </p:nvSpPr>
        <p:spPr bwMode="auto">
          <a:xfrm>
            <a:off x="8481392" y="2077800"/>
            <a:ext cx="1008112" cy="163546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 지표</a:t>
            </a:r>
            <a:endParaRPr kumimoji="1" lang="en-US" altLang="ko-KR" sz="8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0" name="Rectangle 19"/>
          <p:cNvSpPr>
            <a:spLocks noChangeArrowheads="1"/>
          </p:cNvSpPr>
          <p:nvPr/>
        </p:nvSpPr>
        <p:spPr bwMode="auto">
          <a:xfrm>
            <a:off x="663819" y="5824083"/>
            <a:ext cx="8606942" cy="502160"/>
          </a:xfrm>
          <a:prstGeom prst="roundRect">
            <a:avLst/>
          </a:prstGeom>
          <a:solidFill>
            <a:schemeClr val="accent3">
              <a:lumMod val="90000"/>
            </a:schemeClr>
          </a:solidFill>
          <a:ln w="28575" algn="ctr">
            <a:solidFill>
              <a:schemeClr val="accent2">
                <a:lumMod val="75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/>
            <a:r>
              <a:rPr lang="ko-KR" altLang="en-US" sz="1400" b="1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 품질 개선</a:t>
            </a:r>
            <a:endParaRPr lang="en-US" altLang="ko-KR" sz="1400" b="1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" name="그룹 150"/>
          <p:cNvGrpSpPr/>
          <p:nvPr/>
        </p:nvGrpSpPr>
        <p:grpSpPr>
          <a:xfrm>
            <a:off x="298926" y="4710541"/>
            <a:ext cx="3026349" cy="1020061"/>
            <a:chOff x="436487" y="4461166"/>
            <a:chExt cx="2751226" cy="1020061"/>
          </a:xfrm>
        </p:grpSpPr>
        <p:sp>
          <p:nvSpPr>
            <p:cNvPr id="152" name="AutoShape 88"/>
            <p:cNvSpPr>
              <a:spLocks noChangeAspect="1" noChangeArrowheads="1"/>
            </p:cNvSpPr>
            <p:nvPr/>
          </p:nvSpPr>
          <p:spPr bwMode="auto">
            <a:xfrm rot="5400000">
              <a:off x="1465721" y="3759236"/>
              <a:ext cx="692757" cy="2751226"/>
            </a:xfrm>
            <a:prstGeom prst="rightArrow">
              <a:avLst>
                <a:gd name="adj1" fmla="val 61936"/>
                <a:gd name="adj2" fmla="val 79920"/>
              </a:avLst>
            </a:prstGeom>
            <a:solidFill>
              <a:schemeClr val="bg1">
                <a:alpha val="8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  <a:effectLst/>
            <a:extLst/>
          </p:spPr>
          <p:txBody>
            <a:bodyPr vert="vert270" wrap="none" lIns="72000" tIns="36000" rIns="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시스템 구축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운영 시 데이터 품질관리 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프로세스에 의한 품질관리 활동 수행</a:t>
              </a:r>
            </a:p>
          </p:txBody>
        </p:sp>
        <p:sp>
          <p:nvSpPr>
            <p:cNvPr id="153" name="Rectangle 19"/>
            <p:cNvSpPr>
              <a:spLocks noChangeArrowheads="1"/>
            </p:cNvSpPr>
            <p:nvPr/>
          </p:nvSpPr>
          <p:spPr bwMode="auto">
            <a:xfrm>
              <a:off x="958163" y="4461166"/>
              <a:ext cx="1710444" cy="330436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0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 가동</a:t>
              </a:r>
            </a:p>
          </p:txBody>
        </p:sp>
      </p:grpSp>
      <p:grpSp>
        <p:nvGrpSpPr>
          <p:cNvPr id="6" name="그룹 153"/>
          <p:cNvGrpSpPr/>
          <p:nvPr/>
        </p:nvGrpSpPr>
        <p:grpSpPr>
          <a:xfrm>
            <a:off x="3135158" y="4589837"/>
            <a:ext cx="3541612" cy="981392"/>
            <a:chOff x="3135158" y="4340462"/>
            <a:chExt cx="3541612" cy="981392"/>
          </a:xfrm>
          <a:solidFill>
            <a:schemeClr val="bg1">
              <a:lumMod val="85000"/>
            </a:schemeClr>
          </a:solidFill>
        </p:grpSpPr>
        <p:sp>
          <p:nvSpPr>
            <p:cNvPr id="155" name="AutoShape 88"/>
            <p:cNvSpPr>
              <a:spLocks noChangeAspect="1" noChangeArrowheads="1"/>
            </p:cNvSpPr>
            <p:nvPr/>
          </p:nvSpPr>
          <p:spPr bwMode="auto">
            <a:xfrm rot="5400000">
              <a:off x="4578336" y="3223420"/>
              <a:ext cx="655256" cy="3541612"/>
            </a:xfrm>
            <a:prstGeom prst="rightArrow">
              <a:avLst>
                <a:gd name="adj1" fmla="val 61936"/>
                <a:gd name="adj2" fmla="val 79920"/>
              </a:avLst>
            </a:prstGeom>
            <a:solidFill>
              <a:schemeClr val="bg1"/>
            </a:solidFill>
            <a:ln>
              <a:solidFill>
                <a:schemeClr val="accent2">
                  <a:lumMod val="75000"/>
                </a:schemeClr>
              </a:solidFill>
            </a:ln>
            <a:effectLst/>
            <a:extLst/>
          </p:spPr>
          <p:txBody>
            <a:bodyPr vert="vert270" wrap="none" lIns="72000" tIns="36000" rIns="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품질 지표 별 진단 체계 수립</a:t>
              </a:r>
              <a:r>
                <a:rPr lang="en-US" altLang="ko-KR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품질 지표 별 개선방안 수립 시행</a:t>
              </a:r>
            </a:p>
          </p:txBody>
        </p:sp>
        <p:sp>
          <p:nvSpPr>
            <p:cNvPr id="156" name="Rectangle 19"/>
            <p:cNvSpPr>
              <a:spLocks noChangeArrowheads="1"/>
            </p:cNvSpPr>
            <p:nvPr/>
          </p:nvSpPr>
          <p:spPr bwMode="auto">
            <a:xfrm>
              <a:off x="3809381" y="4340462"/>
              <a:ext cx="2202591" cy="330436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0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품질지표 별 개선 방안 </a:t>
              </a:r>
            </a:p>
          </p:txBody>
        </p:sp>
      </p:grpSp>
      <p:grpSp>
        <p:nvGrpSpPr>
          <p:cNvPr id="7" name="그룹 156"/>
          <p:cNvGrpSpPr/>
          <p:nvPr/>
        </p:nvGrpSpPr>
        <p:grpSpPr>
          <a:xfrm>
            <a:off x="6456700" y="4707366"/>
            <a:ext cx="3026349" cy="1023236"/>
            <a:chOff x="6594261" y="4457991"/>
            <a:chExt cx="2751226" cy="1023236"/>
          </a:xfrm>
        </p:grpSpPr>
        <p:sp>
          <p:nvSpPr>
            <p:cNvPr id="158" name="AutoShape 88"/>
            <p:cNvSpPr>
              <a:spLocks noChangeAspect="1" noChangeArrowheads="1"/>
            </p:cNvSpPr>
            <p:nvPr/>
          </p:nvSpPr>
          <p:spPr bwMode="auto">
            <a:xfrm rot="5400000">
              <a:off x="7623495" y="3759236"/>
              <a:ext cx="692757" cy="2751226"/>
            </a:xfrm>
            <a:prstGeom prst="rightArrow">
              <a:avLst>
                <a:gd name="adj1" fmla="val 61936"/>
                <a:gd name="adj2" fmla="val 79920"/>
              </a:avLst>
            </a:prstGeom>
            <a:solidFill>
              <a:schemeClr val="bg1">
                <a:alpha val="8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  <a:effectLst/>
            <a:extLst/>
          </p:spPr>
          <p:txBody>
            <a:bodyPr vert="vert270" wrap="none" lIns="72000" tIns="36000" rIns="0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인프라를 활용한</a:t>
              </a:r>
              <a:r>
                <a:rPr kumimoji="1" lang="en-US" altLang="ko-KR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효율적인 품질 개선 수행</a:t>
              </a:r>
            </a:p>
          </p:txBody>
        </p:sp>
        <p:sp>
          <p:nvSpPr>
            <p:cNvPr id="159" name="Rectangle 19"/>
            <p:cNvSpPr>
              <a:spLocks noChangeArrowheads="1"/>
            </p:cNvSpPr>
            <p:nvPr/>
          </p:nvSpPr>
          <p:spPr bwMode="auto">
            <a:xfrm>
              <a:off x="7119586" y="4457991"/>
              <a:ext cx="1700564" cy="330436"/>
            </a:xfrm>
            <a:prstGeom prst="rect">
              <a:avLst/>
            </a:prstGeom>
            <a:solidFill>
              <a:schemeClr val="accent3"/>
            </a:solidFill>
            <a:ln w="9525" algn="ctr">
              <a:solidFill>
                <a:schemeClr val="accent2">
                  <a:lumMod val="75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0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관리 인프라 활용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800435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구조관리 방안을 수립하기 위해 </a:t>
            </a:r>
            <a:r>
              <a:rPr lang="en-US" altLang="ko-KR" dirty="0"/>
              <a:t>5</a:t>
            </a:r>
            <a:r>
              <a:rPr lang="ko-KR" altLang="en-US" dirty="0"/>
              <a:t>개의 데이터 구조 요소별 관리 방안과 데이터 개발 산출물 관리 방안을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2.10.3.5 </a:t>
            </a:r>
            <a:r>
              <a:rPr lang="ko-KR" altLang="en-US" spc="-150" smtClean="0"/>
              <a:t>데이터 </a:t>
            </a:r>
            <a:r>
              <a:rPr lang="ko-KR" altLang="en-US" spc="-150" dirty="0"/>
              <a:t>구조관리 방안 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방향성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44488" y="1592840"/>
            <a:ext cx="9217025" cy="4860496"/>
            <a:chOff x="201528" y="1592840"/>
            <a:chExt cx="9502496" cy="4860496"/>
          </a:xfrm>
        </p:grpSpPr>
        <p:grpSp>
          <p:nvGrpSpPr>
            <p:cNvPr id="6" name="그룹 51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53" name="직사각형 52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구조관리 방향성 정의</a:t>
                </a:r>
              </a:p>
            </p:txBody>
          </p:sp>
          <p:sp>
            <p:nvSpPr>
              <p:cNvPr id="54" name="직사각형 53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54"/>
            <p:cNvGrpSpPr/>
            <p:nvPr/>
          </p:nvGrpSpPr>
          <p:grpSpPr>
            <a:xfrm>
              <a:off x="6969224" y="2020566"/>
              <a:ext cx="2646878" cy="4258004"/>
              <a:chOff x="2324708" y="394145"/>
              <a:chExt cx="3186842" cy="4258004"/>
            </a:xfrm>
          </p:grpSpPr>
          <p:sp>
            <p:nvSpPr>
              <p:cNvPr id="56" name="직사각형 55"/>
              <p:cNvSpPr/>
              <p:nvPr/>
            </p:nvSpPr>
            <p:spPr>
              <a:xfrm>
                <a:off x="2324709" y="692149"/>
                <a:ext cx="3186840" cy="396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endParaRPr lang="ko-KR" altLang="en-US" sz="8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7" name="직사각형 56"/>
              <p:cNvSpPr/>
              <p:nvPr/>
            </p:nvSpPr>
            <p:spPr bwMode="auto">
              <a:xfrm>
                <a:off x="2324708" y="394145"/>
                <a:ext cx="3186842" cy="298005"/>
              </a:xfrm>
              <a:prstGeom prst="rect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72000" tIns="0" rIns="7200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lang="ko-KR" altLang="en-US" sz="1200" b="1" spc="-5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방향성 정의</a:t>
                </a:r>
              </a:p>
            </p:txBody>
          </p:sp>
        </p:grpSp>
        <p:sp>
          <p:nvSpPr>
            <p:cNvPr id="58" name="AutoShape 3"/>
            <p:cNvSpPr>
              <a:spLocks noChangeArrowheads="1"/>
            </p:cNvSpPr>
            <p:nvPr/>
          </p:nvSpPr>
          <p:spPr bwMode="auto">
            <a:xfrm>
              <a:off x="3910538" y="3320988"/>
              <a:ext cx="2700000" cy="1376844"/>
            </a:xfrm>
            <a:prstGeom prst="homePlate">
              <a:avLst>
                <a:gd name="adj" fmla="val 25183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t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구조의 요소</a:t>
              </a:r>
            </a:p>
          </p:txBody>
        </p:sp>
        <p:sp>
          <p:nvSpPr>
            <p:cNvPr id="59" name="AutoShape 5"/>
            <p:cNvSpPr>
              <a:spLocks noChangeArrowheads="1"/>
            </p:cNvSpPr>
            <p:nvPr/>
          </p:nvSpPr>
          <p:spPr bwMode="auto">
            <a:xfrm>
              <a:off x="3910538" y="2132856"/>
              <a:ext cx="2700000" cy="540060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구조관리 현황 분석</a:t>
              </a:r>
            </a:p>
          </p:txBody>
        </p:sp>
        <p:sp>
          <p:nvSpPr>
            <p:cNvPr id="60" name="AutoShape 6"/>
            <p:cNvSpPr>
              <a:spLocks noChangeArrowheads="1"/>
            </p:cNvSpPr>
            <p:nvPr/>
          </p:nvSpPr>
          <p:spPr bwMode="auto">
            <a:xfrm>
              <a:off x="7049941" y="2447403"/>
              <a:ext cx="2483948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구조의 요소 별 관리 방안</a:t>
              </a:r>
            </a:p>
          </p:txBody>
        </p:sp>
        <p:sp>
          <p:nvSpPr>
            <p:cNvPr id="61" name="AutoShape 7"/>
            <p:cNvSpPr>
              <a:spLocks noChangeArrowheads="1"/>
            </p:cNvSpPr>
            <p:nvPr/>
          </p:nvSpPr>
          <p:spPr bwMode="auto">
            <a:xfrm>
              <a:off x="7049941" y="4653136"/>
              <a:ext cx="2483948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데이터베이스 개발 산출물 관리 방안</a:t>
              </a:r>
            </a:p>
          </p:txBody>
        </p:sp>
        <p:sp>
          <p:nvSpPr>
            <p:cNvPr id="62" name="Text Box 8"/>
            <p:cNvSpPr txBox="1">
              <a:spLocks noChangeArrowheads="1"/>
            </p:cNvSpPr>
            <p:nvPr/>
          </p:nvSpPr>
          <p:spPr bwMode="auto">
            <a:xfrm>
              <a:off x="7049940" y="3214488"/>
              <a:ext cx="2579844" cy="12226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 요소의 정의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 요소의 관리 목적 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 요소의 세부 관리 대상 및 방법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271463" lvl="1" indent="-171450">
                <a:buClr>
                  <a:srgbClr val="000000"/>
                </a:buClr>
                <a:buFont typeface="Wingdings" panose="05000000000000000000" pitchFamily="2" charset="2"/>
                <a:buChar char="ü"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정의</a:t>
              </a:r>
              <a:endPara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271463" lvl="1" indent="-171450">
                <a:buClr>
                  <a:srgbClr val="000000"/>
                </a:buClr>
                <a:buFont typeface="Wingdings" panose="05000000000000000000" pitchFamily="2" charset="2"/>
                <a:buChar char="ü"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관리 기준</a:t>
              </a:r>
              <a:endPara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271463" lvl="1" indent="-171450">
                <a:buClr>
                  <a:srgbClr val="000000"/>
                </a:buClr>
                <a:buFont typeface="Wingdings" panose="05000000000000000000" pitchFamily="2" charset="2"/>
                <a:buChar char="ü"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관리 방법</a:t>
              </a:r>
            </a:p>
          </p:txBody>
        </p:sp>
        <p:sp>
          <p:nvSpPr>
            <p:cNvPr id="63" name="Text Box 9"/>
            <p:cNvSpPr txBox="1">
              <a:spLocks noChangeArrowheads="1"/>
            </p:cNvSpPr>
            <p:nvPr/>
          </p:nvSpPr>
          <p:spPr bwMode="auto">
            <a:xfrm>
              <a:off x="7049940" y="5398095"/>
              <a:ext cx="2579844" cy="453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구조관리를 위한 표준 산출물 정의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데이터베이스 산출물 관리 방안</a:t>
              </a:r>
            </a:p>
          </p:txBody>
        </p:sp>
        <p:cxnSp>
          <p:nvCxnSpPr>
            <p:cNvPr id="64" name="AutoShape 10"/>
            <p:cNvCxnSpPr>
              <a:cxnSpLocks noChangeShapeType="1"/>
              <a:stCxn id="59" idx="3"/>
              <a:endCxn id="56" idx="1"/>
            </p:cNvCxnSpPr>
            <p:nvPr/>
          </p:nvCxnSpPr>
          <p:spPr bwMode="auto">
            <a:xfrm>
              <a:off x="6610538" y="2402886"/>
              <a:ext cx="358687" cy="1895684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5" name="AutoShape 11"/>
            <p:cNvCxnSpPr>
              <a:cxnSpLocks noChangeShapeType="1"/>
              <a:stCxn id="58" idx="3"/>
              <a:endCxn id="56" idx="1"/>
            </p:cNvCxnSpPr>
            <p:nvPr/>
          </p:nvCxnSpPr>
          <p:spPr bwMode="auto">
            <a:xfrm>
              <a:off x="6610538" y="4009410"/>
              <a:ext cx="358687" cy="289160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6" name="Text Box 12"/>
            <p:cNvSpPr txBox="1">
              <a:spLocks noChangeArrowheads="1"/>
            </p:cNvSpPr>
            <p:nvPr/>
          </p:nvSpPr>
          <p:spPr bwMode="auto">
            <a:xfrm>
              <a:off x="3910538" y="2691027"/>
              <a:ext cx="2700000" cy="539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경영정보시스템의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구조의 문제점과 관리 현황 분석 결과를 반영</a:t>
              </a:r>
            </a:p>
          </p:txBody>
        </p:sp>
        <p:sp>
          <p:nvSpPr>
            <p:cNvPr id="67" name="Text Box 13"/>
            <p:cNvSpPr txBox="1">
              <a:spLocks noChangeArrowheads="1"/>
            </p:cNvSpPr>
            <p:nvPr/>
          </p:nvSpPr>
          <p:spPr bwMode="auto">
            <a:xfrm>
              <a:off x="3910538" y="4704755"/>
              <a:ext cx="2700000" cy="4524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5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개 데이터 구조의 요소별 관리 방안 수립</a:t>
              </a:r>
            </a:p>
          </p:txBody>
        </p:sp>
        <p:sp>
          <p:nvSpPr>
            <p:cNvPr id="68" name="AutoShape 6"/>
            <p:cNvSpPr>
              <a:spLocks noChangeArrowheads="1"/>
            </p:cNvSpPr>
            <p:nvPr/>
          </p:nvSpPr>
          <p:spPr bwMode="auto">
            <a:xfrm>
              <a:off x="4044992" y="3681028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개념 데이터 모델</a:t>
              </a:r>
            </a:p>
          </p:txBody>
        </p:sp>
        <p:sp>
          <p:nvSpPr>
            <p:cNvPr id="69" name="AutoShape 6"/>
            <p:cNvSpPr>
              <a:spLocks noChangeArrowheads="1"/>
            </p:cNvSpPr>
            <p:nvPr/>
          </p:nvSpPr>
          <p:spPr bwMode="auto">
            <a:xfrm>
              <a:off x="5170845" y="3681028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참조 모델</a:t>
              </a:r>
            </a:p>
          </p:txBody>
        </p:sp>
        <p:sp>
          <p:nvSpPr>
            <p:cNvPr id="70" name="AutoShape 6"/>
            <p:cNvSpPr>
              <a:spLocks noChangeArrowheads="1"/>
            </p:cNvSpPr>
            <p:nvPr/>
          </p:nvSpPr>
          <p:spPr bwMode="auto">
            <a:xfrm>
              <a:off x="4044992" y="3984819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논리 데이터 모델</a:t>
              </a:r>
            </a:p>
          </p:txBody>
        </p:sp>
        <p:sp>
          <p:nvSpPr>
            <p:cNvPr id="71" name="AutoShape 6"/>
            <p:cNvSpPr>
              <a:spLocks noChangeArrowheads="1"/>
            </p:cNvSpPr>
            <p:nvPr/>
          </p:nvSpPr>
          <p:spPr bwMode="auto">
            <a:xfrm>
              <a:off x="5170845" y="3984819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물리 데이터 모델</a:t>
              </a:r>
            </a:p>
          </p:txBody>
        </p:sp>
        <p:sp>
          <p:nvSpPr>
            <p:cNvPr id="72" name="AutoShape 6"/>
            <p:cNvSpPr>
              <a:spLocks noChangeArrowheads="1"/>
            </p:cNvSpPr>
            <p:nvPr/>
          </p:nvSpPr>
          <p:spPr bwMode="auto">
            <a:xfrm>
              <a:off x="4043749" y="4302379"/>
              <a:ext cx="2207096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데이터베이스 및 객체</a:t>
              </a:r>
            </a:p>
          </p:txBody>
        </p:sp>
        <p:sp>
          <p:nvSpPr>
            <p:cNvPr id="73" name="AutoShape 5"/>
            <p:cNvSpPr>
              <a:spLocks noChangeArrowheads="1"/>
            </p:cNvSpPr>
            <p:nvPr/>
          </p:nvSpPr>
          <p:spPr bwMode="auto">
            <a:xfrm>
              <a:off x="3910538" y="5242238"/>
              <a:ext cx="2700000" cy="579898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en-US" altLang="ko-KR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3910538" y="5811986"/>
              <a:ext cx="2700000" cy="641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체계의 관리 요소 중 데이터 구조에 대한 관리 방안을 정림</a:t>
              </a:r>
            </a:p>
          </p:txBody>
        </p:sp>
        <p:cxnSp>
          <p:nvCxnSpPr>
            <p:cNvPr id="75" name="AutoShape 11"/>
            <p:cNvCxnSpPr>
              <a:cxnSpLocks noChangeShapeType="1"/>
              <a:stCxn id="73" idx="3"/>
              <a:endCxn id="56" idx="1"/>
            </p:cNvCxnSpPr>
            <p:nvPr/>
          </p:nvCxnSpPr>
          <p:spPr bwMode="auto">
            <a:xfrm flipV="1">
              <a:off x="6610538" y="4298570"/>
              <a:ext cx="358687" cy="1233617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76" name="직사각형 75"/>
            <p:cNvSpPr/>
            <p:nvPr/>
          </p:nvSpPr>
          <p:spPr bwMode="auto">
            <a:xfrm>
              <a:off x="242017" y="2059377"/>
              <a:ext cx="3186842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242017" y="2500530"/>
              <a:ext cx="3186840" cy="3881220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8" name="오각형 77"/>
            <p:cNvSpPr/>
            <p:nvPr/>
          </p:nvSpPr>
          <p:spPr>
            <a:xfrm rot="16200000">
              <a:off x="1677850" y="1337699"/>
              <a:ext cx="331432" cy="3001868"/>
            </a:xfrm>
            <a:prstGeom prst="homePlate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eaVert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79" name="직사각형 78"/>
            <p:cNvSpPr/>
            <p:nvPr/>
          </p:nvSpPr>
          <p:spPr>
            <a:xfrm>
              <a:off x="342632" y="3049384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342632" y="3396123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342632" y="514095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82" name="직사각형 81"/>
            <p:cNvSpPr/>
            <p:nvPr/>
          </p:nvSpPr>
          <p:spPr>
            <a:xfrm>
              <a:off x="342632" y="548769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342632" y="5836430"/>
              <a:ext cx="3001868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342632" y="3739483"/>
              <a:ext cx="2584934" cy="135689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85" name="직사각형 84"/>
            <p:cNvSpPr/>
            <p:nvPr/>
          </p:nvSpPr>
          <p:spPr>
            <a:xfrm>
              <a:off x="1668019" y="4325794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551835" y="3812135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87" name="직사각형 86"/>
            <p:cNvSpPr/>
            <p:nvPr/>
          </p:nvSpPr>
          <p:spPr>
            <a:xfrm>
              <a:off x="551835" y="4325794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1668019" y="3812135"/>
              <a:ext cx="1117654" cy="51605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9050">
              <a:solidFill>
                <a:srgbClr val="C00000"/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2962300" y="3049384"/>
              <a:ext cx="382200" cy="27424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공유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공개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8" name="그룹 89"/>
            <p:cNvGrpSpPr/>
            <p:nvPr/>
          </p:nvGrpSpPr>
          <p:grpSpPr>
            <a:xfrm>
              <a:off x="1289739" y="3942464"/>
              <a:ext cx="769700" cy="769701"/>
              <a:chOff x="-1683537" y="3004277"/>
              <a:chExt cx="892622" cy="892622"/>
            </a:xfrm>
          </p:grpSpPr>
          <p:sp>
            <p:nvSpPr>
              <p:cNvPr id="91" name="모서리가 둥근 직사각형 90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>
                  <a:alpha val="46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92" name="타원 91"/>
              <p:cNvSpPr/>
              <p:nvPr/>
            </p:nvSpPr>
            <p:spPr>
              <a:xfrm>
                <a:off x="-1491716" y="3199832"/>
                <a:ext cx="490467" cy="490467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93" name="AutoShape 68"/>
            <p:cNvCxnSpPr>
              <a:cxnSpLocks noChangeShapeType="1"/>
              <a:stCxn id="88" idx="3"/>
              <a:endCxn id="59" idx="1"/>
            </p:cNvCxnSpPr>
            <p:nvPr/>
          </p:nvCxnSpPr>
          <p:spPr bwMode="auto">
            <a:xfrm flipV="1">
              <a:off x="2785673" y="2402886"/>
              <a:ext cx="1124865" cy="1667276"/>
            </a:xfrm>
            <a:prstGeom prst="bentConnector3">
              <a:avLst>
                <a:gd name="adj1" fmla="val 77943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4" name="AutoShape 68"/>
            <p:cNvCxnSpPr>
              <a:cxnSpLocks noChangeShapeType="1"/>
              <a:stCxn id="88" idx="3"/>
              <a:endCxn id="58" idx="1"/>
            </p:cNvCxnSpPr>
            <p:nvPr/>
          </p:nvCxnSpPr>
          <p:spPr bwMode="auto">
            <a:xfrm flipV="1">
              <a:off x="2785673" y="4009410"/>
              <a:ext cx="1124865" cy="60752"/>
            </a:xfrm>
            <a:prstGeom prst="bentConnector3">
              <a:avLst>
                <a:gd name="adj1" fmla="val 78790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5" name="AutoShape 68"/>
            <p:cNvCxnSpPr>
              <a:cxnSpLocks noChangeShapeType="1"/>
              <a:stCxn id="88" idx="3"/>
              <a:endCxn id="73" idx="1"/>
            </p:cNvCxnSpPr>
            <p:nvPr/>
          </p:nvCxnSpPr>
          <p:spPr bwMode="auto">
            <a:xfrm>
              <a:off x="2785673" y="4070162"/>
              <a:ext cx="1124865" cy="1462025"/>
            </a:xfrm>
            <a:prstGeom prst="bentConnector3">
              <a:avLst>
                <a:gd name="adj1" fmla="val 78790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410427121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구조관리는 개념 데이터 모델 등 </a:t>
            </a:r>
            <a:r>
              <a:rPr lang="en-US" altLang="ko-KR" dirty="0"/>
              <a:t>5</a:t>
            </a:r>
            <a:r>
              <a:rPr lang="ko-KR" altLang="en-US" dirty="0"/>
              <a:t>개의 요소를 대상으로 하며</a:t>
            </a:r>
            <a:r>
              <a:rPr lang="en-US" altLang="ko-KR" dirty="0"/>
              <a:t>, </a:t>
            </a:r>
            <a:r>
              <a:rPr lang="ko-KR" altLang="en-US" dirty="0"/>
              <a:t>데이터 구조와 관련된 표준 산출물은 엔티티 정의서 등 </a:t>
            </a:r>
            <a:r>
              <a:rPr lang="en-US" altLang="ko-KR" dirty="0"/>
              <a:t>8</a:t>
            </a:r>
            <a:r>
              <a:rPr lang="ko-KR" altLang="en-US" dirty="0"/>
              <a:t>개를 대상으로 데이터 구조관리 방안을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2.10.3.5 </a:t>
            </a:r>
            <a:r>
              <a:rPr lang="ko-KR" altLang="en-US" spc="-150"/>
              <a:t>데이터 구조관리 방안</a:t>
            </a:r>
            <a:r>
              <a:rPr lang="en-US" altLang="ko-KR" sz="1800" spc="-150" dirty="0"/>
              <a:t/>
            </a:r>
            <a:br>
              <a:rPr lang="en-US" altLang="ko-KR" sz="1800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데이터 구조관리 대상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128"/>
          <p:cNvGrpSpPr/>
          <p:nvPr/>
        </p:nvGrpSpPr>
        <p:grpSpPr>
          <a:xfrm>
            <a:off x="344910" y="1592840"/>
            <a:ext cx="5184000" cy="4785734"/>
            <a:chOff x="200025" y="1592840"/>
            <a:chExt cx="4680967" cy="4785734"/>
          </a:xfrm>
        </p:grpSpPr>
        <p:sp>
          <p:nvSpPr>
            <p:cNvPr id="130" name="직사각형 129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구조관리 대상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(5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개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131" name="직사각형 130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32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98426" y="2528902"/>
            <a:ext cx="1505120" cy="576000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개념 데이터 모델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3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388913" y="2706092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</a:p>
        </p:txBody>
      </p:sp>
      <p:sp>
        <p:nvSpPr>
          <p:cNvPr id="134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2157998" y="2528900"/>
            <a:ext cx="3298424" cy="590163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 요건을 충족하는 데이터의 주제영역과</a:t>
            </a:r>
          </a:p>
          <a:p>
            <a:pPr algn="ctr">
              <a:lnSpc>
                <a:spcPts val="1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핵심 데이터 집합을 정의하고 상호 간의 관계를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정의한 모델</a:t>
            </a:r>
          </a:p>
        </p:txBody>
      </p:sp>
      <p:sp>
        <p:nvSpPr>
          <p:cNvPr id="135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498426" y="3292413"/>
            <a:ext cx="1505120" cy="576000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참조 모델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388913" y="3469603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</a:p>
        </p:txBody>
      </p:sp>
      <p:sp>
        <p:nvSpPr>
          <p:cNvPr id="137" name="Rectangle 11"/>
          <p:cNvSpPr>
            <a:spLocks noChangeArrowheads="1"/>
          </p:cNvSpPr>
          <p:nvPr>
            <p:custDataLst>
              <p:tags r:id="rId6"/>
            </p:custDataLst>
          </p:nvPr>
        </p:nvSpPr>
        <p:spPr bwMode="blackWhite">
          <a:xfrm>
            <a:off x="2157998" y="3292410"/>
            <a:ext cx="3298424" cy="590163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아키텍처의 구축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유지관리 및 데이터 모델의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상호 운영과 타 조직 데이터모델의 참조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재사용을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목적으로 업무영역별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주제영역별로 표준 데이터 집합과 관리 항목들을 정의한 데이터 모델</a:t>
            </a:r>
          </a:p>
        </p:txBody>
      </p:sp>
      <p:sp>
        <p:nvSpPr>
          <p:cNvPr id="138" name="Rectangle 11"/>
          <p:cNvSpPr>
            <a:spLocks noChangeArrowheads="1"/>
          </p:cNvSpPr>
          <p:nvPr>
            <p:custDataLst>
              <p:tags r:id="rId7"/>
            </p:custDataLst>
          </p:nvPr>
        </p:nvSpPr>
        <p:spPr bwMode="blackWhite">
          <a:xfrm>
            <a:off x="498426" y="4055921"/>
            <a:ext cx="1505120" cy="576000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논리 데이터 모델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Rectangle 11"/>
          <p:cNvSpPr>
            <a:spLocks noChangeArrowheads="1"/>
          </p:cNvSpPr>
          <p:nvPr>
            <p:custDataLst>
              <p:tags r:id="rId8"/>
            </p:custDataLst>
          </p:nvPr>
        </p:nvSpPr>
        <p:spPr bwMode="blackWhite">
          <a:xfrm>
            <a:off x="388913" y="4233111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</a:p>
        </p:txBody>
      </p:sp>
      <p:sp>
        <p:nvSpPr>
          <p:cNvPr id="140" name="Rectangle 11"/>
          <p:cNvSpPr>
            <a:spLocks noChangeArrowheads="1"/>
          </p:cNvSpPr>
          <p:nvPr>
            <p:custDataLst>
              <p:tags r:id="rId9"/>
            </p:custDataLst>
          </p:nvPr>
        </p:nvSpPr>
        <p:spPr bwMode="blackWhite">
          <a:xfrm>
            <a:off x="2157998" y="4055920"/>
            <a:ext cx="3298424" cy="58236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개념 데이터 모델을 상세화하여 논리적인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집합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 항목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관계를 정의한 모델</a:t>
            </a:r>
          </a:p>
        </p:txBody>
      </p:sp>
      <p:sp>
        <p:nvSpPr>
          <p:cNvPr id="141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blackWhite">
          <a:xfrm>
            <a:off x="498426" y="4811629"/>
            <a:ext cx="1505120" cy="576000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데이터 모델</a:t>
            </a:r>
            <a:endParaRPr kumimoji="1" lang="en-US" altLang="ko-KR" sz="11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2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blackWhite">
          <a:xfrm>
            <a:off x="388913" y="4988819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</a:p>
        </p:txBody>
      </p:sp>
      <p:sp>
        <p:nvSpPr>
          <p:cNvPr id="143" name="Rectangle 11"/>
          <p:cNvSpPr>
            <a:spLocks noChangeArrowheads="1"/>
          </p:cNvSpPr>
          <p:nvPr>
            <p:custDataLst>
              <p:tags r:id="rId12"/>
            </p:custDataLst>
          </p:nvPr>
        </p:nvSpPr>
        <p:spPr bwMode="blackWhite">
          <a:xfrm>
            <a:off x="2157998" y="4811628"/>
            <a:ext cx="3298424" cy="590163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특성과 성능을 고려하여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논리 데이터 모델을 구체화시킨 모델</a:t>
            </a:r>
          </a:p>
        </p:txBody>
      </p:sp>
      <p:sp>
        <p:nvSpPr>
          <p:cNvPr id="144" name="Rectangle 11"/>
          <p:cNvSpPr>
            <a:spLocks noChangeArrowheads="1"/>
          </p:cNvSpPr>
          <p:nvPr>
            <p:custDataLst>
              <p:tags r:id="rId13"/>
            </p:custDataLst>
          </p:nvPr>
        </p:nvSpPr>
        <p:spPr bwMode="blackWhite">
          <a:xfrm>
            <a:off x="498426" y="5575140"/>
            <a:ext cx="1505120" cy="576000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  <a:ex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spcBef>
                <a:spcPct val="0"/>
              </a:spcBef>
            </a:pPr>
            <a:r>
              <a:rPr kumimoji="1" lang="en-US" altLang="ko-KR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</a:t>
            </a:r>
          </a:p>
        </p:txBody>
      </p:sp>
      <p:sp>
        <p:nvSpPr>
          <p:cNvPr id="145" name="Rectangle 11"/>
          <p:cNvSpPr>
            <a:spLocks noChangeArrowheads="1"/>
          </p:cNvSpPr>
          <p:nvPr>
            <p:custDataLst>
              <p:tags r:id="rId14"/>
            </p:custDataLst>
          </p:nvPr>
        </p:nvSpPr>
        <p:spPr bwMode="blackWhite">
          <a:xfrm>
            <a:off x="388913" y="5752330"/>
            <a:ext cx="216000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  <a:extLst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</a:p>
        </p:txBody>
      </p:sp>
      <p:sp>
        <p:nvSpPr>
          <p:cNvPr id="146" name="Rectangle 11"/>
          <p:cNvSpPr>
            <a:spLocks noChangeArrowheads="1"/>
          </p:cNvSpPr>
          <p:nvPr>
            <p:custDataLst>
              <p:tags r:id="rId15"/>
            </p:custDataLst>
          </p:nvPr>
        </p:nvSpPr>
        <p:spPr bwMode="blackWhite">
          <a:xfrm>
            <a:off x="2157998" y="5575139"/>
            <a:ext cx="3298424" cy="590165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0" tIns="0" rIns="0" bIns="0" anchor="ctr"/>
          <a:lstStyle/>
          <a:p>
            <a:pPr algn="ctr">
              <a:lnSpc>
                <a:spcPts val="1000"/>
              </a:lnSpc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모델을 구현한 결과물이며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구축된 실제 데이터가 저장되는 데이터 저장소</a:t>
            </a:r>
          </a:p>
        </p:txBody>
      </p:sp>
      <p:sp>
        <p:nvSpPr>
          <p:cNvPr id="147" name="Rectangle 11"/>
          <p:cNvSpPr>
            <a:spLocks noChangeArrowheads="1"/>
          </p:cNvSpPr>
          <p:nvPr>
            <p:custDataLst>
              <p:tags r:id="rId16"/>
            </p:custDataLst>
          </p:nvPr>
        </p:nvSpPr>
        <p:spPr bwMode="blackWhite">
          <a:xfrm>
            <a:off x="388912" y="2024844"/>
            <a:ext cx="1622523" cy="25742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데이터 구조관리 요소</a:t>
            </a:r>
            <a:endParaRPr kumimoji="1" lang="en-US" altLang="ko-KR" sz="10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8" name="Rectangle 11"/>
          <p:cNvSpPr>
            <a:spLocks noChangeArrowheads="1"/>
          </p:cNvSpPr>
          <p:nvPr>
            <p:custDataLst>
              <p:tags r:id="rId17"/>
            </p:custDataLst>
          </p:nvPr>
        </p:nvSpPr>
        <p:spPr bwMode="blackWhite">
          <a:xfrm>
            <a:off x="2157997" y="2024844"/>
            <a:ext cx="3298425" cy="25742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rgbClr val="2377F7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정의</a:t>
            </a:r>
            <a:endParaRPr kumimoji="1" lang="en-US" altLang="ko-KR" sz="10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" name="그룹 33">
            <a:extLst>
              <a:ext uri="{FF2B5EF4-FFF2-40B4-BE49-F238E27FC236}">
                <a16:creationId xmlns="" xmlns:a16="http://schemas.microsoft.com/office/drawing/2014/main" id="{88A12A03-FED1-4932-BE2C-50824F744FB9}"/>
              </a:ext>
            </a:extLst>
          </p:cNvPr>
          <p:cNvGrpSpPr/>
          <p:nvPr/>
        </p:nvGrpSpPr>
        <p:grpSpPr>
          <a:xfrm>
            <a:off x="5600440" y="1592840"/>
            <a:ext cx="3961074" cy="4785734"/>
            <a:chOff x="200025" y="1592840"/>
            <a:chExt cx="4680967" cy="4785734"/>
          </a:xfrm>
        </p:grpSpPr>
        <p:sp>
          <p:nvSpPr>
            <p:cNvPr id="35" name="직사각형 34">
              <a:extLst>
                <a:ext uri="{FF2B5EF4-FFF2-40B4-BE49-F238E27FC236}">
                  <a16:creationId xmlns="" xmlns:a16="http://schemas.microsoft.com/office/drawing/2014/main" id="{44A6FF0F-184A-42FD-BE18-6BBF499007D9}"/>
                </a:ext>
              </a:extLst>
            </p:cNvPr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데이터베이스 개발 산출물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(8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개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="" xmlns:a16="http://schemas.microsoft.com/office/drawing/2014/main" id="{38EBF6C1-AD5C-42C4-BD3C-2B8457221A6D}"/>
                </a:ext>
              </a:extLst>
            </p:cNvPr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37" name="표 36">
            <a:extLst>
              <a:ext uri="{FF2B5EF4-FFF2-40B4-BE49-F238E27FC236}">
                <a16:creationId xmlns="" xmlns:a16="http://schemas.microsoft.com/office/drawing/2014/main" id="{CB1F1E5F-669E-4E4B-BF2D-97CFA379A52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663679" y="2024843"/>
          <a:ext cx="3835225" cy="3622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345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255285723"/>
                    </a:ext>
                  </a:extLst>
                </a:gridCol>
                <a:gridCol w="5760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8546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산출물명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aseline="300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endParaRPr lang="ko-KR" altLang="en-US" sz="1050" b="1" baseline="30000" dirty="0">
                        <a:solidFill>
                          <a:srgbClr val="FFFFFF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권장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148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표준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데이터표준사전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데이터사전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코드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도메인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81481">
                <a:tc row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요소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논리데이터요소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엔티티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속성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 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ERD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1481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요소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물리데이터 요소정의서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테이블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컬럼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 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ERD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94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(DB)</a:t>
                      </a:r>
                      <a:r>
                        <a:rPr lang="en-US" altLang="ko-KR" sz="900" b="1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94906">
                <a:tc grid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인터페이스 설계서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(*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연계 데이터 구축 시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오너십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규칙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CRUD Matrix</a:t>
                      </a:r>
                      <a:endParaRPr lang="ko-KR" altLang="en-US" sz="9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="" xmlns:a16="http://schemas.microsoft.com/office/drawing/2014/main" id="{1961652C-2BB4-45F0-B26B-C6FCB01F7482}"/>
              </a:ext>
            </a:extLst>
          </p:cNvPr>
          <p:cNvSpPr/>
          <p:nvPr/>
        </p:nvSpPr>
        <p:spPr>
          <a:xfrm>
            <a:off x="5843758" y="5849366"/>
            <a:ext cx="3646317" cy="480131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wrap="square">
            <a:noAutofit/>
          </a:bodyPr>
          <a:lstStyle/>
          <a:p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필수 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필수 관리대상 산출물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권장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산출물 관리 대상으로 포함을 권고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="" xmlns:a16="http://schemas.microsoft.com/office/drawing/2014/main" id="{01D81FA0-CAEE-4FC0-BC1D-41E79A29BB2E}"/>
              </a:ext>
            </a:extLst>
          </p:cNvPr>
          <p:cNvSpPr/>
          <p:nvPr/>
        </p:nvSpPr>
        <p:spPr>
          <a:xfrm>
            <a:off x="6189537" y="2915723"/>
            <a:ext cx="3155951" cy="1665405"/>
          </a:xfrm>
          <a:prstGeom prst="rect">
            <a:avLst/>
          </a:prstGeom>
          <a:ln w="28575">
            <a:solidFill>
              <a:schemeClr val="accent2">
                <a:lumMod val="50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="" xmlns:a16="http://schemas.microsoft.com/office/drawing/2014/main" id="{217C6C80-874F-4D34-A451-435F89081B38}"/>
              </a:ext>
            </a:extLst>
          </p:cNvPr>
          <p:cNvSpPr/>
          <p:nvPr/>
        </p:nvSpPr>
        <p:spPr>
          <a:xfrm>
            <a:off x="6177136" y="5193196"/>
            <a:ext cx="3155951" cy="223817"/>
          </a:xfrm>
          <a:prstGeom prst="rect">
            <a:avLst/>
          </a:prstGeom>
          <a:ln w="28575">
            <a:solidFill>
              <a:schemeClr val="accent2">
                <a:lumMod val="50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="" xmlns:a16="http://schemas.microsoft.com/office/drawing/2014/main" id="{F3938349-658C-4422-AC43-2A2886C1C408}"/>
              </a:ext>
            </a:extLst>
          </p:cNvPr>
          <p:cNvSpPr/>
          <p:nvPr/>
        </p:nvSpPr>
        <p:spPr>
          <a:xfrm>
            <a:off x="5663738" y="5849366"/>
            <a:ext cx="180020" cy="480131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anchor="ctr">
            <a:noAutofit/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범례</a:t>
            </a:r>
          </a:p>
        </p:txBody>
      </p:sp>
    </p:spTree>
    <p:extLst>
      <p:ext uri="{BB962C8B-B14F-4D97-AF65-F5344CB8AC3E}">
        <p14:creationId xmlns:p14="http://schemas.microsoft.com/office/powerpoint/2010/main" val="117146826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8</a:t>
            </a:r>
            <a:r>
              <a:rPr lang="ko-KR" altLang="en-US" dirty="0"/>
              <a:t>개의 데이터 구조 관련 데이터베이스 산출물에 대하여 개발 단계별로 작업자들이 필수적으로 수행하여야 하는 산출물 작업 내용을 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2.10.3.5 </a:t>
            </a:r>
            <a:r>
              <a:rPr lang="ko-KR" altLang="en-US" spc="-150"/>
              <a:t>데이터 구조관리 방안</a:t>
            </a:r>
            <a:r>
              <a:rPr lang="en-US" altLang="ko-KR" spc="-150"/>
              <a:t>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 smtClean="0"/>
              <a:t>데이터 </a:t>
            </a:r>
            <a:r>
              <a:rPr lang="ko-KR" altLang="en-US" sz="1800" spc="-150" dirty="0"/>
              <a:t>산출물 관리 방안 </a:t>
            </a:r>
            <a:r>
              <a:rPr lang="en-US" altLang="ko-KR" sz="1800" spc="-150" dirty="0"/>
              <a:t>(1/2)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44"/>
          <p:cNvGrpSpPr/>
          <p:nvPr/>
        </p:nvGrpSpPr>
        <p:grpSpPr>
          <a:xfrm>
            <a:off x="4702476" y="1592840"/>
            <a:ext cx="4859036" cy="4785734"/>
            <a:chOff x="200025" y="1592840"/>
            <a:chExt cx="4680967" cy="4785734"/>
          </a:xfrm>
        </p:grpSpPr>
        <p:sp>
          <p:nvSpPr>
            <p:cNvPr id="46" name="직사각형 4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산출물 관리 방안</a:t>
              </a:r>
            </a:p>
          </p:txBody>
        </p:sp>
        <p:sp>
          <p:nvSpPr>
            <p:cNvPr id="47" name="직사각형 4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48" name="직사각형 47"/>
          <p:cNvSpPr/>
          <p:nvPr/>
        </p:nvSpPr>
        <p:spPr bwMode="auto">
          <a:xfrm>
            <a:off x="4746021" y="2771755"/>
            <a:ext cx="288032" cy="3024000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eaVert" anchor="ctr"/>
          <a:lstStyle>
            <a:defPPr>
              <a:defRPr lang="en-US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9pPr>
          </a:lstStyle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latin typeface="맑은 고딕" pitchFamily="50" charset="-127"/>
                <a:ea typeface="맑은 고딕" pitchFamily="50" charset="-127"/>
              </a:rPr>
              <a:t>시스템 구축</a:t>
            </a:r>
          </a:p>
        </p:txBody>
      </p:sp>
      <p:sp>
        <p:nvSpPr>
          <p:cNvPr id="49" name="직사각형 48"/>
          <p:cNvSpPr/>
          <p:nvPr/>
        </p:nvSpPr>
        <p:spPr bwMode="auto">
          <a:xfrm>
            <a:off x="4746022" y="5841324"/>
            <a:ext cx="288032" cy="468000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eaVert" lIns="0" tIns="0" rIns="0" bIns="0" anchor="ctr"/>
          <a:lstStyle>
            <a:defPPr>
              <a:defRPr lang="en-US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sz="1400" kern="1200">
                <a:solidFill>
                  <a:srgbClr val="FFFFFF"/>
                </a:solidFill>
                <a:latin typeface="Arial Narrow" pitchFamily="34" charset="0"/>
                <a:ea typeface="돋움" pitchFamily="50" charset="-127"/>
                <a:cs typeface="+mn-cs"/>
              </a:defRPr>
            </a:lvl9pPr>
          </a:lstStyle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latin typeface="맑은 고딕" pitchFamily="50" charset="-127"/>
                <a:ea typeface="맑은 고딕" pitchFamily="50" charset="-127"/>
              </a:rPr>
              <a:t> 운영</a:t>
            </a: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794275"/>
              </p:ext>
            </p:extLst>
          </p:nvPr>
        </p:nvGraphicFramePr>
        <p:xfrm>
          <a:off x="5062516" y="1988840"/>
          <a:ext cx="4464496" cy="43255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248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1972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4667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68943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65618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25356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필수 작업 내용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aseline="300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C0C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작업자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solidFill>
                          <a:srgbClr val="FFFFFF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A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상세 작업 내용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66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품질관리</a:t>
                      </a:r>
                    </a:p>
                  </a:txBody>
                  <a:tcPr marL="0" marR="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 수립</a:t>
                      </a:r>
                    </a:p>
                  </a:txBody>
                  <a:tcPr marL="10800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900" smtClean="0">
                          <a:latin typeface="맑은 고딕" pitchFamily="50" charset="-127"/>
                          <a:ea typeface="맑은 고딕" pitchFamily="50" charset="-127"/>
                        </a:rPr>
                        <a:t>자체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</a:t>
                      </a:r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algn="l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 typeface="Wingdings" panose="05000000000000000000" pitchFamily="2" charset="2"/>
                        <a:buChar char="§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표준 수립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2795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vert="eaVert"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smtClean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표준산출물 </a:t>
                      </a: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템플릿 작성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b="1" u="none" dirty="0">
                        <a:solidFill>
                          <a:schemeClr val="bg2">
                            <a:lumMod val="50000"/>
                          </a:schemeClr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b="1" u="none" dirty="0">
                        <a:solidFill>
                          <a:schemeClr val="bg2">
                            <a:lumMod val="50000"/>
                          </a:schemeClr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0488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 typeface="Wingdings" panose="05000000000000000000" pitchFamily="2" charset="2"/>
                        <a:buChar char="§"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산출물 템플릿 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18457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계획단계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계획 수립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/>
                      <a:r>
                        <a:rPr lang="ko-KR" altLang="en-US" sz="900" dirty="0">
                          <a:latin typeface="맑은 고딕" pitchFamily="50" charset="-127"/>
                          <a:ea typeface="맑은 고딕" pitchFamily="50" charset="-127"/>
                        </a:rPr>
                        <a:t>개발업체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en-US" altLang="ko-KR" sz="900" b="0" u="none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PM</a:t>
                      </a:r>
                      <a:endParaRPr lang="ko-KR" altLang="en-US" sz="900" b="0" u="none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 typeface="Wingdings" panose="05000000000000000000" pitchFamily="2" charset="2"/>
                        <a:buChar char="§"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수행계획서의 제출 산출물 목록에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 산출물 반드시 포함 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184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계획서 검토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 typeface="Wingdings" panose="05000000000000000000" pitchFamily="2" charset="2"/>
                        <a:buChar char="§"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프로젝트 수행계획서의 제출 산출물 목록에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 산출물이 포함되어있는지 확인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7060">
                <a:tc row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분석설계단계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</a:t>
                      </a:r>
                      <a:r>
                        <a:rPr lang="ko-KR" altLang="en-US" sz="900" b="1" kern="1200" baseline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데이터 모델링</a:t>
                      </a:r>
                      <a:endParaRPr lang="ko-KR" altLang="en-US" sz="9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모델러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엔티티정의서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속성정의서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논리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ERD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7060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 데이터 모델링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모델러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테이블정의서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컬럼정의서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물리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ERD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35663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설계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데이터베이스정의서 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7060"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개발단계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업무규칙 정의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응용프로그래머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업무규칙정의서 작성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35663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객체 생성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객체 생성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16338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시험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인수테스트</a:t>
                      </a:r>
                      <a:r>
                        <a:rPr lang="en-US" altLang="ko-KR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최종검수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 준수여부 검수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 시스템에 등록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492216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운영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데이터관련 작업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900" smtClean="0">
                          <a:latin typeface="맑은 고딕" pitchFamily="50" charset="-127"/>
                          <a:ea typeface="맑은 고딕" pitchFamily="50" charset="-127"/>
                        </a:rPr>
                        <a:t>자체</a:t>
                      </a:r>
                      <a:endParaRPr lang="ko-KR" altLang="en-US" sz="9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운영자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산출물 갱신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90488" marR="0" indent="-90488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메타데이터 시스템 갱신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72" name="AutoShape 12"/>
          <p:cNvSpPr>
            <a:spLocks noChangeArrowheads="1"/>
          </p:cNvSpPr>
          <p:nvPr/>
        </p:nvSpPr>
        <p:spPr bwMode="auto">
          <a:xfrm rot="5400000">
            <a:off x="2635393" y="4121266"/>
            <a:ext cx="3570248" cy="277200"/>
          </a:xfrm>
          <a:prstGeom prst="triangle">
            <a:avLst>
              <a:gd name="adj" fmla="val 50000"/>
            </a:avLst>
          </a:prstGeom>
          <a:gradFill rotWithShape="1">
            <a:gsLst>
              <a:gs pos="0">
                <a:schemeClr val="accent1"/>
              </a:gs>
              <a:gs pos="100000">
                <a:srgbClr val="FFFFFF"/>
              </a:gs>
            </a:gsLst>
            <a:lin ang="5400000" scaled="1"/>
          </a:gradFill>
          <a:ln w="6350" algn="ctr">
            <a:noFill/>
            <a:miter lim="800000"/>
            <a:headEnd/>
            <a:tailEnd type="none" w="sm" len="sm"/>
          </a:ln>
          <a:effectLst/>
        </p:spPr>
        <p:txBody>
          <a:bodyPr wrap="none" lIns="0" tIns="0" rIns="0" bIns="0" anchor="ctr"/>
          <a:lstStyle/>
          <a:p>
            <a:endParaRPr lang="ko-KR" altLang="en-US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Rectangle 65">
            <a:extLst>
              <a:ext uri="{FF2B5EF4-FFF2-40B4-BE49-F238E27FC236}">
                <a16:creationId xmlns="" xmlns:a16="http://schemas.microsoft.com/office/drawing/2014/main" id="{95D7AF4C-052F-4296-A980-28302EB6C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2921" y="4290410"/>
            <a:ext cx="504000" cy="504000"/>
          </a:xfrm>
          <a:prstGeom prst="rect">
            <a:avLst/>
          </a:prstGeom>
          <a:solidFill>
            <a:sysClr val="window" lastClr="FFFFFF">
              <a:lumMod val="75000"/>
            </a:sysClr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eaLnBrk="0" fontAlgn="base" latinLnBrk="0" hangingPunct="0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" name="Rectangle 66">
            <a:extLst>
              <a:ext uri="{FF2B5EF4-FFF2-40B4-BE49-F238E27FC236}">
                <a16:creationId xmlns="" xmlns:a16="http://schemas.microsoft.com/office/drawing/2014/main" id="{FD39F46C-7339-42E4-983F-213F0B56B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7765" y="4933352"/>
            <a:ext cx="504000" cy="504000"/>
          </a:xfrm>
          <a:prstGeom prst="rect">
            <a:avLst/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eaLnBrk="0" fontAlgn="base" latinLnBrk="0" hangingPunct="0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kern="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Rectangle 68">
            <a:extLst>
              <a:ext uri="{FF2B5EF4-FFF2-40B4-BE49-F238E27FC236}">
                <a16:creationId xmlns="" xmlns:a16="http://schemas.microsoft.com/office/drawing/2014/main" id="{D3A708F8-9966-4FEA-83DB-143FC2BA3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3438" y="3429000"/>
            <a:ext cx="663483" cy="547688"/>
          </a:xfrm>
          <a:prstGeom prst="rect">
            <a:avLst/>
          </a:prstGeom>
          <a:solidFill>
            <a:srgbClr val="01458C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/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68">
            <a:extLst>
              <a:ext uri="{FF2B5EF4-FFF2-40B4-BE49-F238E27FC236}">
                <a16:creationId xmlns="" xmlns:a16="http://schemas.microsoft.com/office/drawing/2014/main" id="{36D97FD2-E33E-4B0E-B9E8-9886AC293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7273" y="3429000"/>
            <a:ext cx="663483" cy="547688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/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Rectangle 68">
            <a:extLst>
              <a:ext uri="{FF2B5EF4-FFF2-40B4-BE49-F238E27FC236}">
                <a16:creationId xmlns="" xmlns:a16="http://schemas.microsoft.com/office/drawing/2014/main" id="{CB0D75AF-175B-4752-863E-B3E348864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4196" y="2720139"/>
            <a:ext cx="663483" cy="547688"/>
          </a:xfrm>
          <a:prstGeom prst="rect">
            <a:avLst/>
          </a:prstGeom>
          <a:solidFill>
            <a:srgbClr val="B1CFFC"/>
          </a:solidFill>
          <a:ln w="12700" algn="ctr">
            <a:noFill/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endParaRPr lang="ko-KR" altLang="en-US" sz="1100" b="1" kern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" name="그룹 24">
            <a:extLst>
              <a:ext uri="{FF2B5EF4-FFF2-40B4-BE49-F238E27FC236}">
                <a16:creationId xmlns="" xmlns:a16="http://schemas.microsoft.com/office/drawing/2014/main" id="{E24AF623-67BC-4170-9549-DE020C2D9AA5}"/>
              </a:ext>
            </a:extLst>
          </p:cNvPr>
          <p:cNvGrpSpPr/>
          <p:nvPr/>
        </p:nvGrpSpPr>
        <p:grpSpPr>
          <a:xfrm>
            <a:off x="378331" y="1611583"/>
            <a:ext cx="3961074" cy="4785734"/>
            <a:chOff x="200025" y="1592840"/>
            <a:chExt cx="4680967" cy="4785734"/>
          </a:xfrm>
        </p:grpSpPr>
        <p:sp>
          <p:nvSpPr>
            <p:cNvPr id="26" name="직사각형 25">
              <a:extLst>
                <a:ext uri="{FF2B5EF4-FFF2-40B4-BE49-F238E27FC236}">
                  <a16:creationId xmlns="" xmlns:a16="http://schemas.microsoft.com/office/drawing/2014/main" id="{33676EB4-00C1-4974-8941-3166AFA42263}"/>
                </a:ext>
              </a:extLst>
            </p:cNvPr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데이터베이스 개발 산출물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(8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개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="" xmlns:a16="http://schemas.microsoft.com/office/drawing/2014/main" id="{BFBB6D35-598D-4D6A-9856-2A4827358C5D}"/>
                </a:ext>
              </a:extLst>
            </p:cNvPr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8" name="표 27">
            <a:extLst>
              <a:ext uri="{FF2B5EF4-FFF2-40B4-BE49-F238E27FC236}">
                <a16:creationId xmlns="" xmlns:a16="http://schemas.microsoft.com/office/drawing/2014/main" id="{E4159BAE-7C2B-45D4-A84E-7026EED8E8E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1570" y="2043586"/>
          <a:ext cx="3835225" cy="3622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345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255285723"/>
                    </a:ext>
                  </a:extLst>
                </a:gridCol>
                <a:gridCol w="5760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8546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산출물명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aseline="300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endParaRPr lang="ko-KR" altLang="en-US" sz="1050" b="1" baseline="30000" dirty="0">
                        <a:solidFill>
                          <a:srgbClr val="FFFFFF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권장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1481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표준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데이터표준사전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데이터사전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코드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도메인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eaLnBrk="1" fontAlgn="auto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81481">
                <a:tc row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요소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논리데이터요소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엔티티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속성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논리 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ERD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1481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요소</a:t>
                      </a:r>
                    </a:p>
                  </a:txBody>
                  <a:tcPr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물리데이터 요소정의서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테이블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컬럼 정의서</a:t>
                      </a:r>
                      <a:endParaRPr lang="ko-KR" altLang="en-US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81481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물리 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ERD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94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(DB)</a:t>
                      </a:r>
                      <a:r>
                        <a:rPr lang="en-US" altLang="ko-KR" sz="900" b="1" baseline="0" dirty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94906">
                <a:tc gridSpan="3">
                  <a:txBody>
                    <a:bodyPr/>
                    <a:lstStyle/>
                    <a:p>
                      <a:pPr algn="ctr"/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인터페이스 설계서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(*</a:t>
                      </a:r>
                      <a:r>
                        <a:rPr lang="ko-KR" altLang="en-US" sz="900" b="1" dirty="0">
                          <a:latin typeface="맑은 고딕" pitchFamily="50" charset="-127"/>
                          <a:ea typeface="맑은 고딕" pitchFamily="50" charset="-127"/>
                        </a:rPr>
                        <a:t>연계 데이터 구축 시</a:t>
                      </a:r>
                      <a:r>
                        <a:rPr lang="en-US" altLang="ko-KR" sz="900" b="1" dirty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오너십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규칙 정의서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81481">
                <a:tc gridSpan="3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en-US" altLang="ko-KR" sz="90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CRUD Matrix</a:t>
                      </a:r>
                      <a:endParaRPr lang="ko-KR" altLang="en-US" sz="900" b="1" kern="1200" dirty="0">
                        <a:solidFill>
                          <a:schemeClr val="dk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  <a:defRPr/>
                      </a:pPr>
                      <a:r>
                        <a:rPr lang="ko-KR" altLang="en-US" sz="900" b="1" u="none" dirty="0">
                          <a:solidFill>
                            <a:schemeClr val="bg2">
                              <a:lumMod val="50000"/>
                            </a:schemeClr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●</a:t>
                      </a:r>
                      <a:endParaRPr lang="ko-KR" altLang="en-US" sz="900" dirty="0">
                        <a:solidFill>
                          <a:schemeClr val="bg2">
                            <a:lumMod val="50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="" xmlns:a16="http://schemas.microsoft.com/office/drawing/2014/main" id="{11660AFD-A48F-4C3E-8878-8FBEE32BCE43}"/>
              </a:ext>
            </a:extLst>
          </p:cNvPr>
          <p:cNvSpPr/>
          <p:nvPr/>
        </p:nvSpPr>
        <p:spPr>
          <a:xfrm>
            <a:off x="621649" y="5868109"/>
            <a:ext cx="3646317" cy="480131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  <p:txBody>
          <a:bodyPr wrap="square">
            <a:noAutofit/>
          </a:bodyPr>
          <a:lstStyle/>
          <a:p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필수 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필수 관리대상 산출물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권장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산출물 관리 대상으로 포함을 권고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="" xmlns:a16="http://schemas.microsoft.com/office/drawing/2014/main" id="{5C8DFA0E-2446-476C-9B05-FEB19394B136}"/>
              </a:ext>
            </a:extLst>
          </p:cNvPr>
          <p:cNvSpPr/>
          <p:nvPr/>
        </p:nvSpPr>
        <p:spPr>
          <a:xfrm>
            <a:off x="967428" y="2934466"/>
            <a:ext cx="3155951" cy="1665405"/>
          </a:xfrm>
          <a:prstGeom prst="rect">
            <a:avLst/>
          </a:prstGeom>
          <a:ln w="28575">
            <a:solidFill>
              <a:schemeClr val="accent2">
                <a:lumMod val="50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="" xmlns:a16="http://schemas.microsoft.com/office/drawing/2014/main" id="{70DC1A35-F030-43C0-AC84-D8669739987A}"/>
              </a:ext>
            </a:extLst>
          </p:cNvPr>
          <p:cNvSpPr/>
          <p:nvPr/>
        </p:nvSpPr>
        <p:spPr>
          <a:xfrm>
            <a:off x="955027" y="5211939"/>
            <a:ext cx="3155951" cy="223817"/>
          </a:xfrm>
          <a:prstGeom prst="rect">
            <a:avLst/>
          </a:prstGeom>
          <a:ln w="28575">
            <a:solidFill>
              <a:schemeClr val="accent2">
                <a:lumMod val="50000"/>
              </a:schemeClr>
            </a:solidFill>
            <a:prstDash val="sysDash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ln w="28575">
                <a:solidFill>
                  <a:srgbClr val="C00000"/>
                </a:solidFill>
              </a:ln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="" xmlns:a16="http://schemas.microsoft.com/office/drawing/2014/main" id="{7BE09BD4-2731-4138-A80B-E513FCDB8046}"/>
              </a:ext>
            </a:extLst>
          </p:cNvPr>
          <p:cNvSpPr/>
          <p:nvPr/>
        </p:nvSpPr>
        <p:spPr>
          <a:xfrm>
            <a:off x="441629" y="5868109"/>
            <a:ext cx="180020" cy="480131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anchor="ctr">
            <a:noAutofit/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범례</a:t>
            </a:r>
          </a:p>
        </p:txBody>
      </p:sp>
    </p:spTree>
    <p:extLst>
      <p:ext uri="{BB962C8B-B14F-4D97-AF65-F5344CB8AC3E}">
        <p14:creationId xmlns:p14="http://schemas.microsoft.com/office/powerpoint/2010/main" val="288596372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산출물과 데이터 구조와 관련된 모델링 결과는 기관 간 공유와 활용</a:t>
            </a:r>
            <a:r>
              <a:rPr lang="en-US" altLang="ko-KR" dirty="0"/>
              <a:t>, </a:t>
            </a:r>
            <a:r>
              <a:rPr lang="ko-KR" altLang="en-US" dirty="0"/>
              <a:t>산출물에 대한 검증 등을 위하여 메타데이터관리시스템과 품질관리 시스템에 등록 관리하며 해당 절차는 데이터 구조관리 프로세스에 의하여 수행함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2.10.3.5 </a:t>
            </a:r>
            <a:r>
              <a:rPr lang="ko-KR" altLang="en-US" spc="-150"/>
              <a:t>데이터 구조관리 방안</a:t>
            </a:r>
            <a:r>
              <a:rPr lang="en-US" altLang="ko-KR" spc="-150"/>
              <a:t>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&gt; </a:t>
            </a:r>
            <a:r>
              <a:rPr lang="ko-KR" altLang="en-US" sz="1800" spc="-150"/>
              <a:t>데이터 산출물 관리 방안 </a:t>
            </a:r>
            <a:r>
              <a:rPr lang="en-US" altLang="ko-KR" sz="1800" spc="-150" smtClean="0"/>
              <a:t>(2/2</a:t>
            </a:r>
            <a:r>
              <a:rPr lang="en-US" altLang="ko-KR" sz="1800" spc="-150"/>
              <a:t>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6" name="그룹 24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26" name="직사각형 25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관리 대상 별 관리 방안</a:t>
                </a:r>
              </a:p>
            </p:txBody>
          </p:sp>
          <p:sp>
            <p:nvSpPr>
              <p:cNvPr id="27" name="직사각형 26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27"/>
            <p:cNvGrpSpPr/>
            <p:nvPr/>
          </p:nvGrpSpPr>
          <p:grpSpPr>
            <a:xfrm>
              <a:off x="380492" y="2604614"/>
              <a:ext cx="1620180" cy="2019286"/>
              <a:chOff x="380492" y="2189255"/>
              <a:chExt cx="1728192" cy="2019286"/>
            </a:xfrm>
          </p:grpSpPr>
          <p:sp>
            <p:nvSpPr>
              <p:cNvPr id="29" name="직사각형 28"/>
              <p:cNvSpPr/>
              <p:nvPr/>
            </p:nvSpPr>
            <p:spPr>
              <a:xfrm>
                <a:off x="380492" y="2189255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 관련 표준 산출물</a:t>
                </a:r>
              </a:p>
            </p:txBody>
          </p:sp>
          <p:sp>
            <p:nvSpPr>
              <p:cNvPr id="30" name="직사각형 29"/>
              <p:cNvSpPr/>
              <p:nvPr/>
            </p:nvSpPr>
            <p:spPr>
              <a:xfrm>
                <a:off x="380492" y="2545976"/>
                <a:ext cx="1728192" cy="1662565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180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엔티티 정의서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속성 정의서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논리 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ERD</a:t>
                </a: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테이블 정의서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컬럼 정의서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물리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ERD</a:t>
                </a: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(DB)  </a:t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정의서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업무 규칙 정의서</a:t>
                </a:r>
              </a:p>
            </p:txBody>
          </p:sp>
        </p:grpSp>
        <p:grpSp>
          <p:nvGrpSpPr>
            <p:cNvPr id="8" name="그룹 30"/>
            <p:cNvGrpSpPr/>
            <p:nvPr/>
          </p:nvGrpSpPr>
          <p:grpSpPr>
            <a:xfrm>
              <a:off x="380492" y="4672343"/>
              <a:ext cx="1620180" cy="1564969"/>
              <a:chOff x="380492" y="4482119"/>
              <a:chExt cx="1728192" cy="1564969"/>
            </a:xfrm>
          </p:grpSpPr>
          <p:sp>
            <p:nvSpPr>
              <p:cNvPr id="32" name="직사각형 31"/>
              <p:cNvSpPr/>
              <p:nvPr/>
            </p:nvSpPr>
            <p:spPr>
              <a:xfrm>
                <a:off x="380492" y="4482119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 관련 모델 정보</a:t>
                </a:r>
              </a:p>
            </p:txBody>
          </p:sp>
          <p:sp>
            <p:nvSpPr>
              <p:cNvPr id="33" name="직사각형 32"/>
              <p:cNvSpPr/>
              <p:nvPr/>
            </p:nvSpPr>
            <p:spPr>
              <a:xfrm>
                <a:off x="380492" y="4838841"/>
                <a:ext cx="1728192" cy="1208247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180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주제영역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개념모델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논리모델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물리모델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 정보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 객체 정보</a:t>
                </a:r>
              </a:p>
            </p:txBody>
          </p:sp>
        </p:grpSp>
        <p:grpSp>
          <p:nvGrpSpPr>
            <p:cNvPr id="9" name="그룹 33"/>
            <p:cNvGrpSpPr/>
            <p:nvPr/>
          </p:nvGrpSpPr>
          <p:grpSpPr>
            <a:xfrm>
              <a:off x="4142910" y="2609178"/>
              <a:ext cx="1620180" cy="3628134"/>
              <a:chOff x="2600375" y="3168870"/>
              <a:chExt cx="1728192" cy="3628134"/>
            </a:xfrm>
          </p:grpSpPr>
          <p:sp>
            <p:nvSpPr>
              <p:cNvPr id="35" name="직사각형 34"/>
              <p:cNvSpPr/>
              <p:nvPr/>
            </p:nvSpPr>
            <p:spPr>
              <a:xfrm>
                <a:off x="2600375" y="3168870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정보시스템 구축</a:t>
                </a:r>
                <a:r>
                  <a:rPr kumimoji="1"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운영</a:t>
                </a:r>
              </a:p>
            </p:txBody>
          </p:sp>
          <p:sp>
            <p:nvSpPr>
              <p:cNvPr id="38" name="직사각형 37"/>
              <p:cNvSpPr/>
              <p:nvPr/>
            </p:nvSpPr>
            <p:spPr>
              <a:xfrm>
                <a:off x="2600375" y="3525592"/>
                <a:ext cx="1728192" cy="327141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180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정보시스템 구축 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spcBef>
                    <a:spcPts val="600"/>
                  </a:spcBef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산출물 작성자 들은 산출물 각 단계 말에 작성된 모델과 산출물을 데이터 인프라에 등록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spcBef>
                    <a:spcPts val="600"/>
                  </a:spcBef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산출물 검토자들은 데이터 품질관리 인프라에 등록된 산출물을 검토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정보시스템 운영 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spcBef>
                    <a:spcPts val="600"/>
                  </a:spcBef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 변경 시 정보시스템 운영업체의 작성자가 데이터 품질관리 인프라에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등록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spcBef>
                    <a:spcPts val="600"/>
                  </a:spcBef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품질관리자는 정기적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비정기적으로 산출물의 변경사항이 반영되었는지 확인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39" name="순서도: 페이지 연결자 38"/>
            <p:cNvSpPr/>
            <p:nvPr/>
          </p:nvSpPr>
          <p:spPr>
            <a:xfrm>
              <a:off x="380492" y="2022562"/>
              <a:ext cx="1620180" cy="542342"/>
            </a:xfrm>
            <a:prstGeom prst="flowChartOffpageConnector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관리 대상</a:t>
              </a: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(what)</a:t>
              </a:r>
              <a:endPara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3" name="순서도: 페이지 연결자 42"/>
            <p:cNvSpPr/>
            <p:nvPr/>
          </p:nvSpPr>
          <p:spPr>
            <a:xfrm>
              <a:off x="4142910" y="2022562"/>
              <a:ext cx="1620180" cy="542342"/>
            </a:xfrm>
            <a:prstGeom prst="flowChartOffpageConnector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관리 시기</a:t>
              </a: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(when)</a:t>
              </a:r>
              <a:endPara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0" name="그룹 43"/>
            <p:cNvGrpSpPr/>
            <p:nvPr/>
          </p:nvGrpSpPr>
          <p:grpSpPr>
            <a:xfrm>
              <a:off x="7905328" y="2609178"/>
              <a:ext cx="1620180" cy="3628134"/>
              <a:chOff x="2600375" y="3168870"/>
              <a:chExt cx="1728192" cy="3628134"/>
            </a:xfrm>
          </p:grpSpPr>
          <p:sp>
            <p:nvSpPr>
              <p:cNvPr id="51" name="직사각형 50"/>
              <p:cNvSpPr/>
              <p:nvPr/>
            </p:nvSpPr>
            <p:spPr>
              <a:xfrm>
                <a:off x="2600375" y="3168870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인프라</a:t>
                </a:r>
              </a:p>
            </p:txBody>
          </p:sp>
          <p:sp>
            <p:nvSpPr>
              <p:cNvPr id="57" name="직사각형 56"/>
              <p:cNvSpPr/>
              <p:nvPr/>
            </p:nvSpPr>
            <p:spPr>
              <a:xfrm>
                <a:off x="2600375" y="3525592"/>
                <a:ext cx="1728192" cy="327141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7200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메타데이터 관리 시스템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85725" indent="-85725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시스템</a:t>
                </a:r>
              </a:p>
            </p:txBody>
          </p:sp>
        </p:grpSp>
        <p:sp>
          <p:nvSpPr>
            <p:cNvPr id="58" name="순서도: 페이지 연결자 57"/>
            <p:cNvSpPr/>
            <p:nvPr/>
          </p:nvSpPr>
          <p:spPr>
            <a:xfrm>
              <a:off x="7905328" y="2022562"/>
              <a:ext cx="1620180" cy="542342"/>
            </a:xfrm>
            <a:prstGeom prst="flowChartOffpageConnector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관리 위치</a:t>
              </a: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(where)</a:t>
              </a:r>
              <a:endPara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1" name="그룹 58"/>
            <p:cNvGrpSpPr/>
            <p:nvPr/>
          </p:nvGrpSpPr>
          <p:grpSpPr>
            <a:xfrm>
              <a:off x="6024119" y="2609178"/>
              <a:ext cx="1620180" cy="3628134"/>
              <a:chOff x="2600375" y="3168870"/>
              <a:chExt cx="1728192" cy="3628134"/>
            </a:xfrm>
          </p:grpSpPr>
          <p:sp>
            <p:nvSpPr>
              <p:cNvPr id="60" name="직사각형 59"/>
              <p:cNvSpPr/>
              <p:nvPr/>
            </p:nvSpPr>
            <p:spPr>
              <a:xfrm>
                <a:off x="2600375" y="3168870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구조관리 절차</a:t>
                </a:r>
              </a:p>
            </p:txBody>
          </p:sp>
          <p:sp>
            <p:nvSpPr>
              <p:cNvPr id="61" name="직사각형 60"/>
              <p:cNvSpPr/>
              <p:nvPr/>
            </p:nvSpPr>
            <p:spPr>
              <a:xfrm>
                <a:off x="2600375" y="3525592"/>
                <a:ext cx="1728192" cy="327141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구조관리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프로세스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spcBef>
                    <a:spcPts val="600"/>
                  </a:spcBef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관리 주체들은 데이터 구조관리 프로세스를 따라 데이터 구조관리를 수행함</a:t>
                </a:r>
              </a:p>
            </p:txBody>
          </p:sp>
        </p:grpSp>
        <p:sp>
          <p:nvSpPr>
            <p:cNvPr id="62" name="순서도: 페이지 연결자 61"/>
            <p:cNvSpPr/>
            <p:nvPr/>
          </p:nvSpPr>
          <p:spPr>
            <a:xfrm>
              <a:off x="6024119" y="2022562"/>
              <a:ext cx="1620180" cy="542342"/>
            </a:xfrm>
            <a:prstGeom prst="flowChartOffpageConnector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관리 방법</a:t>
              </a: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(how to)</a:t>
              </a:r>
              <a:endPara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2" name="그룹 62"/>
            <p:cNvGrpSpPr/>
            <p:nvPr/>
          </p:nvGrpSpPr>
          <p:grpSpPr>
            <a:xfrm>
              <a:off x="2261701" y="2609178"/>
              <a:ext cx="1620180" cy="3628134"/>
              <a:chOff x="2600375" y="3168870"/>
              <a:chExt cx="1728192" cy="3628134"/>
            </a:xfrm>
          </p:grpSpPr>
          <p:sp>
            <p:nvSpPr>
              <p:cNvPr id="64" name="직사각형 63"/>
              <p:cNvSpPr/>
              <p:nvPr/>
            </p:nvSpPr>
            <p:spPr>
              <a:xfrm>
                <a:off x="2600375" y="3168870"/>
                <a:ext cx="1728192" cy="367833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관리 조직 체계</a:t>
                </a:r>
              </a:p>
            </p:txBody>
          </p:sp>
          <p:sp>
            <p:nvSpPr>
              <p:cNvPr id="65" name="직사각형 64"/>
              <p:cNvSpPr/>
              <p:nvPr/>
            </p:nvSpPr>
            <p:spPr>
              <a:xfrm>
                <a:off x="2600375" y="3525592"/>
                <a:ext cx="1728192" cy="179524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180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85725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관리 총괄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srgbClr val="000000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산출물 관리 총괄 책임자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85725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산출물 관리 실무 책임자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85725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85725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데이터표준관리자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산출물 및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모델의 표준 준수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여부 검토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85725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DA</a:t>
                </a: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산출물 관리 실무 지원</a:t>
                </a:r>
              </a:p>
            </p:txBody>
          </p:sp>
          <p:sp>
            <p:nvSpPr>
              <p:cNvPr id="66" name="직사각형 65"/>
              <p:cNvSpPr/>
              <p:nvPr/>
            </p:nvSpPr>
            <p:spPr>
              <a:xfrm>
                <a:off x="2600375" y="5320840"/>
                <a:ext cx="1728192" cy="147616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75000"/>
                  </a:schemeClr>
                </a:solidFill>
                <a:prstDash val="solid"/>
              </a:ln>
            </p:spPr>
            <p:txBody>
              <a:bodyPr vert="horz" wrap="square" lIns="180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DBA</a:t>
                </a: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 및 </a:t>
                </a:r>
                <a: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객체 생성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 담당자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산출물 관리 프로젝트 책임자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모델러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모델링 수행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71450" indent="-85725">
                  <a:lnSpc>
                    <a:spcPts val="9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응용 프로그래머</a:t>
                </a:r>
                <a:endParaRPr lang="en-US" altLang="ko-KR" sz="900" dirty="0">
                  <a:ln w="28575">
                    <a:noFill/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lvl="1" indent="-85725">
                  <a:lnSpc>
                    <a:spcPts val="900"/>
                  </a:lnSpc>
                  <a:buClr>
                    <a:prstClr val="black"/>
                  </a:buClr>
                  <a:buFont typeface="맑은 고딕" panose="020B0503020000020004" pitchFamily="50" charset="-127"/>
                  <a:buChar char="–"/>
                </a:pPr>
                <a:r>
                  <a:rPr lang="ko-KR" altLang="en-US" sz="900" dirty="0">
                    <a:ln w="28575">
                      <a:noFill/>
                    </a:ln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응용 구현</a:t>
                </a:r>
              </a:p>
            </p:txBody>
          </p:sp>
        </p:grpSp>
        <p:sp>
          <p:nvSpPr>
            <p:cNvPr id="67" name="순서도: 페이지 연결자 66"/>
            <p:cNvSpPr/>
            <p:nvPr/>
          </p:nvSpPr>
          <p:spPr>
            <a:xfrm>
              <a:off x="2261701" y="2022562"/>
              <a:ext cx="1620180" cy="542342"/>
            </a:xfrm>
            <a:prstGeom prst="flowChartOffpageConnector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관리 주체</a:t>
              </a: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(who)</a:t>
              </a:r>
              <a:endParaRPr kumimoji="1" lang="ko-KR" altLang="en-US" sz="10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2180692" y="3047814"/>
              <a:ext cx="173096" cy="1645065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90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코레일테크</a:t>
              </a:r>
              <a:endParaRPr kumimoji="1" lang="ko-KR" altLang="en-US" sz="90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2180692" y="4882185"/>
              <a:ext cx="173096" cy="1235962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9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협력업체</a:t>
              </a:r>
            </a:p>
          </p:txBody>
        </p:sp>
        <p:sp>
          <p:nvSpPr>
            <p:cNvPr id="74" name="AutoShape 12"/>
            <p:cNvSpPr>
              <a:spLocks noChangeArrowheads="1"/>
            </p:cNvSpPr>
            <p:nvPr/>
          </p:nvSpPr>
          <p:spPr bwMode="auto">
            <a:xfrm rot="5400000">
              <a:off x="323798" y="4194018"/>
              <a:ext cx="3570248" cy="131695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5" name="AutoShape 12"/>
            <p:cNvSpPr>
              <a:spLocks noChangeArrowheads="1"/>
            </p:cNvSpPr>
            <p:nvPr/>
          </p:nvSpPr>
          <p:spPr bwMode="auto">
            <a:xfrm rot="5400000">
              <a:off x="2233026" y="4194019"/>
              <a:ext cx="3570248" cy="131695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AutoShape 12"/>
            <p:cNvSpPr>
              <a:spLocks noChangeArrowheads="1"/>
            </p:cNvSpPr>
            <p:nvPr/>
          </p:nvSpPr>
          <p:spPr bwMode="auto">
            <a:xfrm rot="5400000">
              <a:off x="4102725" y="4194020"/>
              <a:ext cx="3570248" cy="131695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7" name="AutoShape 12"/>
            <p:cNvSpPr>
              <a:spLocks noChangeArrowheads="1"/>
            </p:cNvSpPr>
            <p:nvPr/>
          </p:nvSpPr>
          <p:spPr bwMode="auto">
            <a:xfrm rot="5400000">
              <a:off x="5988485" y="4194021"/>
              <a:ext cx="3570248" cy="131695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699950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경영정보시스템의 </a:t>
            </a:r>
            <a:r>
              <a:rPr lang="ko-KR" altLang="en-US" dirty="0"/>
              <a:t>연계 현황을 종합적으로 파악하고 연계 데이터의 품질과 성능 개선을 위한 연계 정보 관리 방안을 수립하기 위하여 표준 연계 정보 관리 항목을 정의하고 연계 정보 관리 절차와 품질 관리 방안을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2.10.3.6 </a:t>
            </a:r>
            <a:r>
              <a:rPr lang="ko-KR" altLang="en-US" spc="-150" smtClean="0"/>
              <a:t>연계정보 </a:t>
            </a:r>
            <a:r>
              <a:rPr lang="ko-KR" altLang="en-US" spc="-150" dirty="0"/>
              <a:t>관리 방안 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방향성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44513" y="1592840"/>
            <a:ext cx="9217000" cy="4896500"/>
            <a:chOff x="201528" y="1592840"/>
            <a:chExt cx="9502496" cy="4896500"/>
          </a:xfrm>
        </p:grpSpPr>
        <p:grpSp>
          <p:nvGrpSpPr>
            <p:cNvPr id="6" name="그룹 44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46" name="직사각형 45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연계 정보 관리 방향성 정의</a:t>
                </a:r>
              </a:p>
            </p:txBody>
          </p:sp>
          <p:sp>
            <p:nvSpPr>
              <p:cNvPr id="47" name="직사각형 46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47"/>
            <p:cNvGrpSpPr/>
            <p:nvPr/>
          </p:nvGrpSpPr>
          <p:grpSpPr>
            <a:xfrm>
              <a:off x="6897214" y="2020566"/>
              <a:ext cx="2718888" cy="4258004"/>
              <a:chOff x="2324708" y="394145"/>
              <a:chExt cx="3186842" cy="4258004"/>
            </a:xfrm>
          </p:grpSpPr>
          <p:sp>
            <p:nvSpPr>
              <p:cNvPr id="49" name="직사각형 48"/>
              <p:cNvSpPr/>
              <p:nvPr/>
            </p:nvSpPr>
            <p:spPr>
              <a:xfrm>
                <a:off x="2324709" y="692149"/>
                <a:ext cx="3186840" cy="396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endParaRPr lang="ko-KR" altLang="en-US" sz="8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0" name="직사각형 49"/>
              <p:cNvSpPr/>
              <p:nvPr/>
            </p:nvSpPr>
            <p:spPr bwMode="auto">
              <a:xfrm>
                <a:off x="2324708" y="394145"/>
                <a:ext cx="3186842" cy="298005"/>
              </a:xfrm>
              <a:prstGeom prst="rect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72000" tIns="0" rIns="7200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lang="ko-KR" altLang="en-US" sz="1200" b="1" spc="-5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방향성 정의</a:t>
                </a:r>
              </a:p>
            </p:txBody>
          </p:sp>
        </p:grpSp>
        <p:sp>
          <p:nvSpPr>
            <p:cNvPr id="52" name="AutoShape 3"/>
            <p:cNvSpPr>
              <a:spLocks noChangeArrowheads="1"/>
            </p:cNvSpPr>
            <p:nvPr/>
          </p:nvSpPr>
          <p:spPr bwMode="auto">
            <a:xfrm>
              <a:off x="4016896" y="3573016"/>
              <a:ext cx="2196244" cy="756084"/>
            </a:xfrm>
            <a:prstGeom prst="homePlate">
              <a:avLst>
                <a:gd name="adj" fmla="val 25183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연계정보 관리</a:t>
              </a:r>
            </a:p>
          </p:txBody>
        </p:sp>
        <p:sp>
          <p:nvSpPr>
            <p:cNvPr id="53" name="AutoShape 5"/>
            <p:cNvSpPr>
              <a:spLocks noChangeArrowheads="1"/>
            </p:cNvSpPr>
            <p:nvPr/>
          </p:nvSpPr>
          <p:spPr bwMode="auto">
            <a:xfrm>
              <a:off x="4016896" y="2168860"/>
              <a:ext cx="2196244" cy="700948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정보의 관리 항목 정의</a:t>
              </a:r>
            </a:p>
          </p:txBody>
        </p:sp>
        <p:sp>
          <p:nvSpPr>
            <p:cNvPr id="54" name="AutoShape 6"/>
            <p:cNvSpPr>
              <a:spLocks noChangeArrowheads="1"/>
            </p:cNvSpPr>
            <p:nvPr/>
          </p:nvSpPr>
          <p:spPr bwMode="auto">
            <a:xfrm>
              <a:off x="7022458" y="2482409"/>
              <a:ext cx="2484000" cy="587284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표준 연계 정보 관리항목 정의</a:t>
              </a:r>
            </a:p>
          </p:txBody>
        </p:sp>
        <p:sp>
          <p:nvSpPr>
            <p:cNvPr id="55" name="AutoShape 7"/>
            <p:cNvSpPr>
              <a:spLocks noChangeArrowheads="1"/>
            </p:cNvSpPr>
            <p:nvPr/>
          </p:nvSpPr>
          <p:spPr bwMode="auto">
            <a:xfrm>
              <a:off x="7022458" y="3757402"/>
              <a:ext cx="2484000" cy="566756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연계 정보 관리</a:t>
              </a:r>
            </a:p>
          </p:txBody>
        </p:sp>
        <p:sp>
          <p:nvSpPr>
            <p:cNvPr id="56" name="Text Box 8"/>
            <p:cNvSpPr txBox="1">
              <a:spLocks noChangeArrowheads="1"/>
            </p:cNvSpPr>
            <p:nvPr/>
          </p:nvSpPr>
          <p:spPr bwMode="auto">
            <a:xfrm>
              <a:off x="7022458" y="3069693"/>
              <a:ext cx="1873631" cy="453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연계 정보 관리 항목 정의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endParaRPr lang="ko-KR" altLang="en-US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Text Box 9"/>
            <p:cNvSpPr txBox="1">
              <a:spLocks noChangeArrowheads="1"/>
            </p:cNvSpPr>
            <p:nvPr/>
          </p:nvSpPr>
          <p:spPr bwMode="auto">
            <a:xfrm>
              <a:off x="7022458" y="4324158"/>
              <a:ext cx="2484000" cy="570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정보를 메타데이터관리시스템에 등록 관리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정보의 표준화와 현행화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70" name="AutoShape 10"/>
            <p:cNvCxnSpPr>
              <a:cxnSpLocks noChangeShapeType="1"/>
              <a:stCxn id="53" idx="3"/>
            </p:cNvCxnSpPr>
            <p:nvPr/>
          </p:nvCxnSpPr>
          <p:spPr bwMode="auto">
            <a:xfrm>
              <a:off x="6213140" y="2519334"/>
              <a:ext cx="684076" cy="1620835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1" name="AutoShape 11"/>
            <p:cNvCxnSpPr>
              <a:cxnSpLocks noChangeShapeType="1"/>
              <a:stCxn id="52" idx="3"/>
            </p:cNvCxnSpPr>
            <p:nvPr/>
          </p:nvCxnSpPr>
          <p:spPr bwMode="auto">
            <a:xfrm>
              <a:off x="6213140" y="3951058"/>
              <a:ext cx="684076" cy="189111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72" name="Text Box 12"/>
            <p:cNvSpPr txBox="1">
              <a:spLocks noChangeArrowheads="1"/>
            </p:cNvSpPr>
            <p:nvPr/>
          </p:nvSpPr>
          <p:spPr bwMode="auto">
            <a:xfrm>
              <a:off x="4001499" y="2889159"/>
              <a:ext cx="2211641" cy="539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정보의 관리 속성을 정의</a:t>
              </a:r>
            </a:p>
          </p:txBody>
        </p:sp>
        <p:sp>
          <p:nvSpPr>
            <p:cNvPr id="78" name="Text Box 13"/>
            <p:cNvSpPr txBox="1">
              <a:spLocks noChangeArrowheads="1"/>
            </p:cNvSpPr>
            <p:nvPr/>
          </p:nvSpPr>
          <p:spPr bwMode="auto">
            <a:xfrm>
              <a:off x="4042091" y="4348261"/>
              <a:ext cx="2171049" cy="4524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정보의 관리 활동을 정의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9" name="AutoShape 5"/>
            <p:cNvSpPr>
              <a:spLocks noChangeArrowheads="1"/>
            </p:cNvSpPr>
            <p:nvPr/>
          </p:nvSpPr>
          <p:spPr bwMode="auto">
            <a:xfrm>
              <a:off x="4016896" y="5157192"/>
              <a:ext cx="2196244" cy="700948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 품질</a:t>
              </a:r>
            </a:p>
          </p:txBody>
        </p:sp>
        <p:sp>
          <p:nvSpPr>
            <p:cNvPr id="80" name="Text Box 12"/>
            <p:cNvSpPr txBox="1">
              <a:spLocks noChangeArrowheads="1"/>
            </p:cNvSpPr>
            <p:nvPr/>
          </p:nvSpPr>
          <p:spPr bwMode="auto">
            <a:xfrm>
              <a:off x="4001499" y="5847990"/>
              <a:ext cx="2211641" cy="641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정보의 정합성 유지</a:t>
              </a:r>
            </a:p>
          </p:txBody>
        </p:sp>
        <p:cxnSp>
          <p:nvCxnSpPr>
            <p:cNvPr id="81" name="AutoShape 11"/>
            <p:cNvCxnSpPr>
              <a:cxnSpLocks noChangeShapeType="1"/>
              <a:stCxn id="79" idx="3"/>
            </p:cNvCxnSpPr>
            <p:nvPr/>
          </p:nvCxnSpPr>
          <p:spPr bwMode="auto">
            <a:xfrm flipV="1">
              <a:off x="6213140" y="4140169"/>
              <a:ext cx="684076" cy="1367497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2" name="AutoShape 7"/>
            <p:cNvSpPr>
              <a:spLocks noChangeArrowheads="1"/>
            </p:cNvSpPr>
            <p:nvPr/>
          </p:nvSpPr>
          <p:spPr bwMode="auto">
            <a:xfrm>
              <a:off x="7022458" y="5157706"/>
              <a:ext cx="2484000" cy="566756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연계 정보 품질 개선</a:t>
              </a:r>
            </a:p>
          </p:txBody>
        </p:sp>
        <p:sp>
          <p:nvSpPr>
            <p:cNvPr id="83" name="Text Box 9"/>
            <p:cNvSpPr txBox="1">
              <a:spLocks noChangeArrowheads="1"/>
            </p:cNvSpPr>
            <p:nvPr/>
          </p:nvSpPr>
          <p:spPr bwMode="auto">
            <a:xfrm>
              <a:off x="7022458" y="5724462"/>
              <a:ext cx="2484000" cy="3762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 정보의 품질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정합성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연계성능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진단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개선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4" name="직사각형 83"/>
            <p:cNvSpPr/>
            <p:nvPr/>
          </p:nvSpPr>
          <p:spPr bwMode="auto">
            <a:xfrm>
              <a:off x="242017" y="2059377"/>
              <a:ext cx="3186842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85" name="직사각형 84"/>
            <p:cNvSpPr/>
            <p:nvPr/>
          </p:nvSpPr>
          <p:spPr>
            <a:xfrm>
              <a:off x="242017" y="2500530"/>
              <a:ext cx="3186840" cy="3881220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오각형 85"/>
            <p:cNvSpPr/>
            <p:nvPr/>
          </p:nvSpPr>
          <p:spPr>
            <a:xfrm rot="16200000">
              <a:off x="1677850" y="1337699"/>
              <a:ext cx="331432" cy="3001868"/>
            </a:xfrm>
            <a:prstGeom prst="homePlate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eaVert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87" name="직사각형 86"/>
            <p:cNvSpPr/>
            <p:nvPr/>
          </p:nvSpPr>
          <p:spPr>
            <a:xfrm>
              <a:off x="342632" y="3049384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42632" y="3396123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342632" y="514095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342632" y="548769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342632" y="5836430"/>
              <a:ext cx="3001868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342632" y="3739483"/>
              <a:ext cx="2584934" cy="135689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93" name="직사각형 92"/>
            <p:cNvSpPr/>
            <p:nvPr/>
          </p:nvSpPr>
          <p:spPr>
            <a:xfrm>
              <a:off x="551835" y="3812135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551835" y="4325794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1668019" y="3812135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1668019" y="4325794"/>
              <a:ext cx="1117654" cy="51605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9050">
              <a:solidFill>
                <a:srgbClr val="C00000"/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2962300" y="3049384"/>
              <a:ext cx="382200" cy="27424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공유</a:t>
              </a:r>
              <a:b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공개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grpSp>
          <p:nvGrpSpPr>
            <p:cNvPr id="8" name="그룹 97"/>
            <p:cNvGrpSpPr/>
            <p:nvPr/>
          </p:nvGrpSpPr>
          <p:grpSpPr>
            <a:xfrm>
              <a:off x="1289739" y="3942464"/>
              <a:ext cx="769700" cy="769701"/>
              <a:chOff x="-1683537" y="3004277"/>
              <a:chExt cx="892622" cy="892622"/>
            </a:xfrm>
          </p:grpSpPr>
          <p:sp>
            <p:nvSpPr>
              <p:cNvPr id="99" name="모서리가 둥근 직사각형 98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>
                  <a:alpha val="46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100" name="타원 99"/>
              <p:cNvSpPr/>
              <p:nvPr/>
            </p:nvSpPr>
            <p:spPr>
              <a:xfrm>
                <a:off x="-1491716" y="3199832"/>
                <a:ext cx="490467" cy="490467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01" name="AutoShape 68"/>
            <p:cNvCxnSpPr>
              <a:cxnSpLocks noChangeShapeType="1"/>
              <a:stCxn id="96" idx="3"/>
              <a:endCxn id="53" idx="1"/>
            </p:cNvCxnSpPr>
            <p:nvPr/>
          </p:nvCxnSpPr>
          <p:spPr bwMode="auto">
            <a:xfrm flipV="1">
              <a:off x="2785673" y="2519334"/>
              <a:ext cx="1231223" cy="2064487"/>
            </a:xfrm>
            <a:prstGeom prst="bentConnector3">
              <a:avLst>
                <a:gd name="adj1" fmla="val 72435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2" name="AutoShape 68"/>
            <p:cNvCxnSpPr>
              <a:cxnSpLocks noChangeShapeType="1"/>
              <a:stCxn id="96" idx="3"/>
              <a:endCxn id="52" idx="1"/>
            </p:cNvCxnSpPr>
            <p:nvPr/>
          </p:nvCxnSpPr>
          <p:spPr bwMode="auto">
            <a:xfrm flipV="1">
              <a:off x="2785673" y="3951058"/>
              <a:ext cx="1231223" cy="632763"/>
            </a:xfrm>
            <a:prstGeom prst="bentConnector3">
              <a:avLst>
                <a:gd name="adj1" fmla="val 72435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3" name="AutoShape 68"/>
            <p:cNvCxnSpPr>
              <a:cxnSpLocks noChangeShapeType="1"/>
              <a:stCxn id="96" idx="3"/>
              <a:endCxn id="79" idx="1"/>
            </p:cNvCxnSpPr>
            <p:nvPr/>
          </p:nvCxnSpPr>
          <p:spPr bwMode="auto">
            <a:xfrm>
              <a:off x="2785673" y="4583821"/>
              <a:ext cx="1231223" cy="923845"/>
            </a:xfrm>
            <a:prstGeom prst="bentConnector3">
              <a:avLst>
                <a:gd name="adj1" fmla="val 72435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410482400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smtClean="0"/>
              <a:t>경영정보시스템의 </a:t>
            </a:r>
            <a:r>
              <a:rPr lang="ko-KR" altLang="en-US" dirty="0"/>
              <a:t>전체 연계 정보를 일관되고 표준화된 방법으로 관리하여 종합적인 파악이 가능하고 연계 데이터의 품질과 성능을 정량적으로 관리할 수 있도록 표준 연계 정보 관리 항목을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2.10.3.6 </a:t>
            </a:r>
            <a:r>
              <a:rPr lang="ko-KR" altLang="en-US" spc="-150"/>
              <a:t>연계정보 관리 방안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연계정보 관리 항목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56"/>
          <p:cNvGrpSpPr/>
          <p:nvPr/>
        </p:nvGrpSpPr>
        <p:grpSpPr>
          <a:xfrm>
            <a:off x="2739725" y="1592840"/>
            <a:ext cx="6821788" cy="4785734"/>
            <a:chOff x="200025" y="1592840"/>
            <a:chExt cx="4680967" cy="4785734"/>
          </a:xfrm>
        </p:grpSpPr>
        <p:sp>
          <p:nvSpPr>
            <p:cNvPr id="58" name="직사각형 57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TO-BE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표준 연계정보 관리 항목 정의</a:t>
              </a:r>
            </a:p>
          </p:txBody>
        </p:sp>
        <p:sp>
          <p:nvSpPr>
            <p:cNvPr id="59" name="직사각형 58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6" name="그룹 59"/>
          <p:cNvGrpSpPr/>
          <p:nvPr/>
        </p:nvGrpSpPr>
        <p:grpSpPr>
          <a:xfrm>
            <a:off x="355879" y="1592840"/>
            <a:ext cx="2124000" cy="4785734"/>
            <a:chOff x="200025" y="1592840"/>
            <a:chExt cx="4680967" cy="4785734"/>
          </a:xfrm>
        </p:grpSpPr>
        <p:sp>
          <p:nvSpPr>
            <p:cNvPr id="61" name="직사각형 60"/>
            <p:cNvSpPr/>
            <p:nvPr/>
          </p:nvSpPr>
          <p:spPr bwMode="auto">
            <a:xfrm>
              <a:off x="200025" y="1592840"/>
              <a:ext cx="4680967" cy="812202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연계정보 관리 시</a:t>
              </a:r>
              <a:b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예상되는 문제점</a:t>
              </a:r>
            </a:p>
          </p:txBody>
        </p:sp>
        <p:sp>
          <p:nvSpPr>
            <p:cNvPr id="62" name="직사각형 61"/>
            <p:cNvSpPr/>
            <p:nvPr/>
          </p:nvSpPr>
          <p:spPr bwMode="auto">
            <a:xfrm>
              <a:off x="200025" y="2405042"/>
              <a:ext cx="4680967" cy="397353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63" name="표 62"/>
          <p:cNvGraphicFramePr>
            <a:graphicFrameLocks noGrp="1"/>
          </p:cNvGraphicFramePr>
          <p:nvPr>
            <p:extLst/>
          </p:nvPr>
        </p:nvGraphicFramePr>
        <p:xfrm>
          <a:off x="2830191" y="1974038"/>
          <a:ext cx="6659313" cy="42383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032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959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72302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237935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연계정보 관리항목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baseline="300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>
                          <a:solidFill>
                            <a:srgbClr val="FFFFFF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1581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연계정보</a:t>
                      </a:r>
                      <a: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5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연계 정보 구분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연계정보를 제공하는 경우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연계정보를 활용하는 경우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“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활용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＂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정의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03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 정보명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 및 활용되는 연계 정보에 대한 정의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정보명은 연계 정보가 무엇을 의미하는지를 이해할 수 있는 수준에서 정의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58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 주기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정보의 연계 주기를 정의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(ex: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실시간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매주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매월 등</a:t>
                      </a:r>
                      <a:r>
                        <a:rPr lang="en-US" altLang="ko-KR" sz="900" baseline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15814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</a:t>
                      </a:r>
                      <a: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구성하는 세부 연계 항목들에 대한 명칭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15814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설명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구성하는 세부 연계 항목들에 대한 정의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028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데이터 타입</a:t>
                      </a:r>
                    </a:p>
                  </a:txBody>
                  <a:tcPr marL="0" marR="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항목의 데이터 타입을 정의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02826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데이터 길이</a:t>
                      </a:r>
                    </a:p>
                  </a:txBody>
                  <a:tcPr marL="0" marR="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항목의 데이터 길이를 정의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15814">
                <a:tc rowSpan="4">
                  <a:txBody>
                    <a:bodyPr/>
                    <a:lstStyle/>
                    <a:p>
                      <a:pPr algn="ctr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연계항목 </a:t>
                      </a:r>
                      <a: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출처</a:t>
                      </a:r>
                    </a:p>
                  </a:txBody>
                  <a:tcPr marL="36000" marR="360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 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데이터베이스 명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032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데이터베이스 계정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데이터베이스 접근 시 필요한 계정과 비밀번호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비밀번호는 보안상의 문제로 별도 관리 필요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15814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테이블 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테이블 명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15814">
                <a:tc vMerge="1">
                  <a:txBody>
                    <a:bodyPr/>
                    <a:lstStyle/>
                    <a:p>
                      <a:endParaRPr lang="ko-KR" altLang="en-US" sz="1000" dirty="0"/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컬럼 명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0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Tx/>
                        <a:buFont typeface="맑은 고딕" panose="020B0503020000020004" pitchFamily="50" charset="-127"/>
                        <a:buChar char="○"/>
                        <a:tabLst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항목을 제공 또는 활용하는 컬럼명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421360">
                <a:tc rowSpan="2">
                  <a:txBody>
                    <a:bodyPr/>
                    <a:lstStyle/>
                    <a:p>
                      <a:pPr algn="ctr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오너십 </a:t>
                      </a:r>
                      <a: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050" b="1" dirty="0"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</a:p>
                  </a:txBody>
                  <a:tcPr marL="36000" marR="36000" anchor="ctr" anchorCtr="1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050" b="1" dirty="0">
                          <a:latin typeface="맑은 고딕" pitchFamily="50" charset="-127"/>
                          <a:ea typeface="맑은 고딕" pitchFamily="50" charset="-127"/>
                        </a:rPr>
                        <a:t>제공기관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제공하는 기관 정보를 관리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 기관 정보는 기관명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담당자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연락처 정도를 관리하여 향후 연계 협의 시 담당자 식별 등에 활용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421360">
                <a:tc vMerge="1"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900" b="1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 anchorCtr="1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5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활용기관</a:t>
                      </a:r>
                    </a:p>
                  </a:txBody>
                  <a:tcPr marL="36000" marR="36000" marT="0" marB="0" anchor="ctr" anchorCtr="1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정보를 활용하는 기관 정보를 관리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활용 기관 정보는 기관명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담당자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연락처 정도를 관리하여 향후 연계 협의 시 담당자 식별 등에 활용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421360">
                <a:tc gridSpan="2"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050" b="1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T="0" marB="0" anchor="ctr" anchorCtr="1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○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정보 관련 행정적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·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기술적 사항을 기록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기술적 사항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형식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연계 방법 등의 기술 사항</a:t>
                      </a:r>
                      <a:endParaRPr lang="en-US" altLang="ko-KR" sz="9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66700" lvl="1" indent="-85725" algn="l" eaLnBrk="1" fontAlgn="auto" hangingPunct="1">
                        <a:lnSpc>
                          <a:spcPts val="1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Font typeface="맑은 고딕" panose="020B0503020000020004" pitchFamily="50" charset="-127"/>
                        <a:buChar char="–"/>
                        <a:defRPr/>
                      </a:pP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행정적 사항 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제공기관과 활용기관간의 연계 관련 행정 사항</a:t>
                      </a:r>
                    </a:p>
                  </a:txBody>
                  <a:tcPr marL="72000" marR="72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accent2">
                          <a:lumMod val="25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64" name="AutoShape 6"/>
          <p:cNvSpPr>
            <a:spLocks noChangeArrowheads="1"/>
          </p:cNvSpPr>
          <p:nvPr/>
        </p:nvSpPr>
        <p:spPr bwMode="auto">
          <a:xfrm>
            <a:off x="450804" y="2541478"/>
            <a:ext cx="1932798" cy="781674"/>
          </a:xfrm>
          <a:prstGeom prst="homePlate">
            <a:avLst>
              <a:gd name="adj" fmla="val 0"/>
            </a:avLst>
          </a:prstGeom>
          <a:solidFill>
            <a:srgbClr val="DDDDDD">
              <a:alpha val="14999"/>
            </a:srgbClr>
          </a:solidFill>
          <a:ln w="28575" algn="ctr">
            <a:solidFill>
              <a:schemeClr val="accent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36000" tIns="72000" rIns="36000" bIns="72000" anchor="ctr"/>
          <a:lstStyle/>
          <a:p>
            <a:pPr algn="ctr">
              <a:spcBef>
                <a:spcPct val="50000"/>
              </a:spcBef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 연계 정보 관리 항목 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미 정의</a:t>
            </a:r>
          </a:p>
        </p:txBody>
      </p:sp>
      <p:sp>
        <p:nvSpPr>
          <p:cNvPr id="65" name="AutoShape 6"/>
          <p:cNvSpPr>
            <a:spLocks noChangeArrowheads="1"/>
          </p:cNvSpPr>
          <p:nvPr/>
        </p:nvSpPr>
        <p:spPr bwMode="auto">
          <a:xfrm>
            <a:off x="450804" y="3500049"/>
            <a:ext cx="1932798" cy="781674"/>
          </a:xfrm>
          <a:prstGeom prst="homePlate">
            <a:avLst>
              <a:gd name="adj" fmla="val 0"/>
            </a:avLst>
          </a:prstGeom>
          <a:solidFill>
            <a:srgbClr val="DDDDDD">
              <a:alpha val="14999"/>
            </a:srgbClr>
          </a:solidFill>
          <a:ln w="28575" algn="ctr">
            <a:solidFill>
              <a:schemeClr val="accent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36000" tIns="72000" rIns="36000" bIns="72000" anchor="ctr"/>
          <a:lstStyle/>
          <a:p>
            <a:pPr algn="ctr">
              <a:spcBef>
                <a:spcPct val="50000"/>
              </a:spcBef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연계 정보 현행화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관리의 어려움</a:t>
            </a:r>
          </a:p>
        </p:txBody>
      </p:sp>
      <p:sp>
        <p:nvSpPr>
          <p:cNvPr id="66" name="AutoShape 6"/>
          <p:cNvSpPr>
            <a:spLocks noChangeArrowheads="1"/>
          </p:cNvSpPr>
          <p:nvPr/>
        </p:nvSpPr>
        <p:spPr bwMode="auto">
          <a:xfrm>
            <a:off x="450804" y="4458620"/>
            <a:ext cx="1932798" cy="781674"/>
          </a:xfrm>
          <a:prstGeom prst="homePlate">
            <a:avLst>
              <a:gd name="adj" fmla="val 0"/>
            </a:avLst>
          </a:prstGeom>
          <a:solidFill>
            <a:srgbClr val="DDDDDD">
              <a:alpha val="14999"/>
            </a:srgbClr>
          </a:solidFill>
          <a:ln w="28575" algn="ctr">
            <a:solidFill>
              <a:schemeClr val="accent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36000" tIns="72000" rIns="36000" bIns="72000" anchor="ctr"/>
          <a:lstStyle/>
          <a:p>
            <a:pPr algn="ctr">
              <a:spcBef>
                <a:spcPct val="50000"/>
              </a:spcBef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연계의 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성능에 대한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정량적 평가 불가</a:t>
            </a:r>
          </a:p>
        </p:txBody>
      </p:sp>
      <p:sp>
        <p:nvSpPr>
          <p:cNvPr id="67" name="AutoShape 6"/>
          <p:cNvSpPr>
            <a:spLocks noChangeArrowheads="1"/>
          </p:cNvSpPr>
          <p:nvPr/>
        </p:nvSpPr>
        <p:spPr bwMode="auto">
          <a:xfrm>
            <a:off x="450804" y="5417190"/>
            <a:ext cx="1932798" cy="781674"/>
          </a:xfrm>
          <a:prstGeom prst="homePlate">
            <a:avLst>
              <a:gd name="adj" fmla="val 0"/>
            </a:avLst>
          </a:prstGeom>
          <a:solidFill>
            <a:srgbClr val="DDDDDD">
              <a:alpha val="14999"/>
            </a:srgbClr>
          </a:solidFill>
          <a:ln w="28575" algn="ctr">
            <a:solidFill>
              <a:schemeClr val="accent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36000" tIns="72000" rIns="36000" bIns="72000" anchor="ctr"/>
          <a:lstStyle/>
          <a:p>
            <a:pPr algn="ctr">
              <a:spcBef>
                <a:spcPct val="50000"/>
              </a:spcBef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상세한 연계 정보 관리 미비로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연계 개발이나 수정 시</a:t>
            </a:r>
            <a: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생산성 저하 현상</a:t>
            </a:r>
          </a:p>
        </p:txBody>
      </p:sp>
      <p:sp>
        <p:nvSpPr>
          <p:cNvPr id="68" name="직사각형 67"/>
          <p:cNvSpPr/>
          <p:nvPr/>
        </p:nvSpPr>
        <p:spPr>
          <a:xfrm>
            <a:off x="2438817" y="2405042"/>
            <a:ext cx="353943" cy="2989295"/>
          </a:xfrm>
          <a:prstGeom prst="rect">
            <a:avLst/>
          </a:prstGeom>
        </p:spPr>
        <p:txBody>
          <a:bodyPr vert="eaVert" wrap="square" anchor="ctr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 연계 정보 관리 항목 정의</a:t>
            </a:r>
          </a:p>
        </p:txBody>
      </p:sp>
    </p:spTree>
    <p:extLst>
      <p:ext uri="{BB962C8B-B14F-4D97-AF65-F5344CB8AC3E}">
        <p14:creationId xmlns:p14="http://schemas.microsoft.com/office/powerpoint/2010/main" val="372269672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체계적인 연계 정보관리를 위하여 연계정보</a:t>
            </a:r>
            <a:r>
              <a:rPr lang="en-US" altLang="ko-KR" dirty="0"/>
              <a:t>, </a:t>
            </a:r>
            <a:r>
              <a:rPr lang="ko-KR" altLang="en-US" dirty="0"/>
              <a:t>연계관리 절차</a:t>
            </a:r>
            <a:r>
              <a:rPr lang="en-US" altLang="ko-KR" dirty="0"/>
              <a:t>, </a:t>
            </a:r>
            <a:r>
              <a:rPr lang="ko-KR" altLang="en-US" dirty="0"/>
              <a:t>관리 주체</a:t>
            </a:r>
            <a:r>
              <a:rPr lang="en-US" altLang="ko-KR" dirty="0"/>
              <a:t>, </a:t>
            </a:r>
            <a:r>
              <a:rPr lang="ko-KR" altLang="en-US" dirty="0"/>
              <a:t>연계 정보 관리 인프라 측면에 대하여 공식적이고 엄격한 관리 방법을 따르도록 함 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2.10.3.6 </a:t>
            </a:r>
            <a:r>
              <a:rPr lang="ko-KR" altLang="en-US" spc="-150"/>
              <a:t>연계정보 관리 방안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연계정보 관리 방법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6" name="그룹 21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23" name="직사각형 22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연계정보 관리 방법</a:t>
                </a:r>
              </a:p>
            </p:txBody>
          </p:sp>
          <p:sp>
            <p:nvSpPr>
              <p:cNvPr id="24" name="직사각형 23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25" name="AutoShape 6"/>
            <p:cNvSpPr>
              <a:spLocks noChangeArrowheads="1"/>
            </p:cNvSpPr>
            <p:nvPr/>
          </p:nvSpPr>
          <p:spPr bwMode="auto">
            <a:xfrm>
              <a:off x="416496" y="2623796"/>
              <a:ext cx="1584176" cy="828402"/>
            </a:xfrm>
            <a:prstGeom prst="homePlate">
              <a:avLst/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</a:t>
              </a:r>
            </a:p>
          </p:txBody>
        </p:sp>
        <p:sp>
          <p:nvSpPr>
            <p:cNvPr id="26" name="AutoShape 6"/>
            <p:cNvSpPr>
              <a:spLocks noChangeArrowheads="1"/>
            </p:cNvSpPr>
            <p:nvPr/>
          </p:nvSpPr>
          <p:spPr bwMode="auto">
            <a:xfrm>
              <a:off x="416496" y="3516163"/>
              <a:ext cx="1584176" cy="828402"/>
            </a:xfrm>
            <a:prstGeom prst="homePlate">
              <a:avLst/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연계관리 절차</a:t>
              </a:r>
            </a:p>
          </p:txBody>
        </p:sp>
        <p:sp>
          <p:nvSpPr>
            <p:cNvPr id="27" name="AutoShape 6"/>
            <p:cNvSpPr>
              <a:spLocks noChangeArrowheads="1"/>
            </p:cNvSpPr>
            <p:nvPr/>
          </p:nvSpPr>
          <p:spPr bwMode="auto">
            <a:xfrm>
              <a:off x="416496" y="4408530"/>
              <a:ext cx="1584176" cy="828402"/>
            </a:xfrm>
            <a:prstGeom prst="homePlate">
              <a:avLst/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관리 주체</a:t>
              </a:r>
            </a:p>
          </p:txBody>
        </p:sp>
        <p:sp>
          <p:nvSpPr>
            <p:cNvPr id="28" name="AutoShape 6"/>
            <p:cNvSpPr>
              <a:spLocks noChangeArrowheads="1"/>
            </p:cNvSpPr>
            <p:nvPr/>
          </p:nvSpPr>
          <p:spPr bwMode="auto">
            <a:xfrm>
              <a:off x="416496" y="5300898"/>
              <a:ext cx="1584176" cy="828402"/>
            </a:xfrm>
            <a:prstGeom prst="homePlate">
              <a:avLst/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 관리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인프라</a:t>
              </a:r>
            </a:p>
          </p:txBody>
        </p:sp>
        <p:sp>
          <p:nvSpPr>
            <p:cNvPr id="29" name="AutoShape 6"/>
            <p:cNvSpPr>
              <a:spLocks noChangeArrowheads="1"/>
            </p:cNvSpPr>
            <p:nvPr/>
          </p:nvSpPr>
          <p:spPr bwMode="auto">
            <a:xfrm>
              <a:off x="2133891" y="2623796"/>
              <a:ext cx="2231182" cy="828402"/>
            </a:xfrm>
            <a:prstGeom prst="homePlate">
              <a:avLst>
                <a:gd name="adj" fmla="val 0"/>
              </a:avLst>
            </a:prstGeom>
            <a:ln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연계 정보</a:t>
              </a:r>
            </a:p>
          </p:txBody>
        </p:sp>
        <p:sp>
          <p:nvSpPr>
            <p:cNvPr id="30" name="AutoShape 6"/>
            <p:cNvSpPr>
              <a:spLocks noChangeArrowheads="1"/>
            </p:cNvSpPr>
            <p:nvPr/>
          </p:nvSpPr>
          <p:spPr bwMode="auto">
            <a:xfrm>
              <a:off x="2133891" y="3516163"/>
              <a:ext cx="2231182" cy="828402"/>
            </a:xfrm>
            <a:prstGeom prst="homePlate">
              <a:avLst>
                <a:gd name="adj" fmla="val 0"/>
              </a:avLst>
            </a:prstGeom>
            <a:ln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연계관리 </a:t>
              </a:r>
              <a: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</a:p>
          </p:txBody>
        </p:sp>
        <p:sp>
          <p:nvSpPr>
            <p:cNvPr id="31" name="AutoShape 6"/>
            <p:cNvSpPr>
              <a:spLocks noChangeArrowheads="1"/>
            </p:cNvSpPr>
            <p:nvPr/>
          </p:nvSpPr>
          <p:spPr bwMode="auto">
            <a:xfrm>
              <a:off x="2133891" y="4408530"/>
              <a:ext cx="2231182" cy="828402"/>
            </a:xfrm>
            <a:prstGeom prst="homePlate">
              <a:avLst>
                <a:gd name="adj" fmla="val 0"/>
              </a:avLst>
            </a:prstGeom>
            <a:ln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 체계</a:t>
              </a:r>
              <a: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책임과 역할</a:t>
              </a:r>
            </a:p>
          </p:txBody>
        </p:sp>
        <p:sp>
          <p:nvSpPr>
            <p:cNvPr id="32" name="AutoShape 6"/>
            <p:cNvSpPr>
              <a:spLocks noChangeArrowheads="1"/>
            </p:cNvSpPr>
            <p:nvPr/>
          </p:nvSpPr>
          <p:spPr bwMode="auto">
            <a:xfrm>
              <a:off x="2133891" y="5300898"/>
              <a:ext cx="2231182" cy="828402"/>
            </a:xfrm>
            <a:prstGeom prst="homePlate">
              <a:avLst>
                <a:gd name="adj" fmla="val 0"/>
              </a:avLst>
            </a:prstGeom>
            <a:ln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메타데이터 관리 시스템</a:t>
              </a:r>
              <a: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시스템</a:t>
              </a:r>
            </a:p>
          </p:txBody>
        </p:sp>
        <p:sp>
          <p:nvSpPr>
            <p:cNvPr id="33" name="AutoShape 6"/>
            <p:cNvSpPr>
              <a:spLocks noChangeArrowheads="1"/>
            </p:cNvSpPr>
            <p:nvPr/>
          </p:nvSpPr>
          <p:spPr bwMode="auto">
            <a:xfrm>
              <a:off x="416496" y="2119740"/>
              <a:ext cx="1584176" cy="440696"/>
            </a:xfrm>
            <a:prstGeom prst="flowChartOffpageConnector">
              <a:avLst/>
            </a:prstGeom>
            <a:solidFill>
              <a:srgbClr val="508CD2"/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구분</a:t>
              </a:r>
            </a:p>
          </p:txBody>
        </p:sp>
        <p:sp>
          <p:nvSpPr>
            <p:cNvPr id="34" name="AutoShape 6"/>
            <p:cNvSpPr>
              <a:spLocks noChangeArrowheads="1"/>
            </p:cNvSpPr>
            <p:nvPr/>
          </p:nvSpPr>
          <p:spPr bwMode="auto">
            <a:xfrm>
              <a:off x="2126582" y="2119740"/>
              <a:ext cx="2231182" cy="440696"/>
            </a:xfrm>
            <a:prstGeom prst="flowChartOffpageConnector">
              <a:avLst/>
            </a:prstGeom>
            <a:solidFill>
              <a:srgbClr val="508CD2"/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en-US" altLang="ko-KR" sz="11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TO-BE </a:t>
              </a:r>
              <a:r>
                <a:rPr kumimoji="1" lang="ko-KR" altLang="en-US" sz="11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관리 방법</a:t>
              </a:r>
            </a:p>
          </p:txBody>
        </p:sp>
        <p:sp>
          <p:nvSpPr>
            <p:cNvPr id="35" name="AutoShape 6"/>
            <p:cNvSpPr>
              <a:spLocks noChangeArrowheads="1"/>
            </p:cNvSpPr>
            <p:nvPr/>
          </p:nvSpPr>
          <p:spPr bwMode="auto">
            <a:xfrm>
              <a:off x="4484948" y="2119740"/>
              <a:ext cx="5004556" cy="440696"/>
            </a:xfrm>
            <a:prstGeom prst="flowChartOffpageConnector">
              <a:avLst/>
            </a:prstGeom>
            <a:solidFill>
              <a:srgbClr val="508CD2"/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설명</a:t>
              </a:r>
            </a:p>
          </p:txBody>
        </p:sp>
        <p:sp>
          <p:nvSpPr>
            <p:cNvPr id="38" name="AutoShape 6"/>
            <p:cNvSpPr>
              <a:spLocks noChangeArrowheads="1"/>
            </p:cNvSpPr>
            <p:nvPr/>
          </p:nvSpPr>
          <p:spPr bwMode="auto">
            <a:xfrm>
              <a:off x="4484948" y="2623796"/>
              <a:ext cx="5004556" cy="828402"/>
            </a:xfrm>
            <a:prstGeom prst="homePlate">
              <a:avLst>
                <a:gd name="adj" fmla="val 0"/>
              </a:avLst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square" lIns="36000" tIns="72000" rIns="36000" bIns="72000" anchor="ctr"/>
            <a:lstStyle/>
            <a:p>
              <a:pPr marL="171450" indent="-171450">
                <a:spcBef>
                  <a:spcPct val="50000"/>
                </a:spcBef>
                <a:buClr>
                  <a:srgbClr val="000000">
                    <a:lumMod val="75000"/>
                    <a:lumOff val="25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105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경영정보시스템과 </a:t>
              </a: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연계하는 모든 시스템에 대하여 연계 정보 관리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항목을 통일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단일화함</a:t>
              </a:r>
            </a:p>
          </p:txBody>
        </p:sp>
        <p:sp>
          <p:nvSpPr>
            <p:cNvPr id="39" name="AutoShape 6"/>
            <p:cNvSpPr>
              <a:spLocks noChangeArrowheads="1"/>
            </p:cNvSpPr>
            <p:nvPr/>
          </p:nvSpPr>
          <p:spPr bwMode="auto">
            <a:xfrm>
              <a:off x="4484948" y="3516163"/>
              <a:ext cx="5004556" cy="828402"/>
            </a:xfrm>
            <a:prstGeom prst="homePlate">
              <a:avLst>
                <a:gd name="adj" fmla="val 0"/>
              </a:avLst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square" lIns="36000" tIns="72000" rIns="36000" bIns="72000" anchor="ctr"/>
            <a:lstStyle/>
            <a:p>
              <a:pPr marL="171450" indent="-171450">
                <a:spcBef>
                  <a:spcPct val="50000"/>
                </a:spcBef>
                <a:buClr>
                  <a:srgbClr val="000000">
                    <a:lumMod val="75000"/>
                    <a:lumOff val="25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연계관리 절차는 데이터 연계관리 프로세스를 엄격하게 준수하여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관리</a:t>
              </a:r>
            </a:p>
          </p:txBody>
        </p:sp>
        <p:sp>
          <p:nvSpPr>
            <p:cNvPr id="43" name="AutoShape 6"/>
            <p:cNvSpPr>
              <a:spLocks noChangeArrowheads="1"/>
            </p:cNvSpPr>
            <p:nvPr/>
          </p:nvSpPr>
          <p:spPr bwMode="auto">
            <a:xfrm>
              <a:off x="4484948" y="4408530"/>
              <a:ext cx="5004556" cy="828402"/>
            </a:xfrm>
            <a:prstGeom prst="homePlate">
              <a:avLst>
                <a:gd name="adj" fmla="val 0"/>
              </a:avLst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square" lIns="36000" tIns="72000" rIns="36000" bIns="72000" anchor="ctr"/>
            <a:lstStyle/>
            <a:p>
              <a:pPr marL="171450" indent="-171450">
                <a:spcBef>
                  <a:spcPct val="50000"/>
                </a:spcBef>
                <a:buClr>
                  <a:srgbClr val="000000">
                    <a:lumMod val="75000"/>
                    <a:lumOff val="25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</a:t>
              </a:r>
              <a:r>
                <a:rPr lang="ko-KR" altLang="en-US" sz="105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연계관리는 </a:t>
              </a:r>
              <a:r>
                <a:rPr lang="ko-KR" altLang="en-US" sz="105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 체계의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구성원이 주어진 책임과 역할에 따라 작업 수행</a:t>
              </a:r>
            </a:p>
          </p:txBody>
        </p:sp>
        <p:sp>
          <p:nvSpPr>
            <p:cNvPr id="44" name="AutoShape 6"/>
            <p:cNvSpPr>
              <a:spLocks noChangeArrowheads="1"/>
            </p:cNvSpPr>
            <p:nvPr/>
          </p:nvSpPr>
          <p:spPr bwMode="auto">
            <a:xfrm>
              <a:off x="4484948" y="5300898"/>
              <a:ext cx="5004556" cy="828402"/>
            </a:xfrm>
            <a:prstGeom prst="homePlate">
              <a:avLst>
                <a:gd name="adj" fmla="val 0"/>
              </a:avLst>
            </a:prstGeom>
            <a:solidFill>
              <a:schemeClr val="accent3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square" lIns="36000" tIns="72000" rIns="36000" bIns="72000" anchor="ctr"/>
            <a:lstStyle/>
            <a:p>
              <a:pPr marL="171450" indent="-171450">
                <a:spcBef>
                  <a:spcPct val="50000"/>
                </a:spcBef>
                <a:buClr>
                  <a:srgbClr val="000000">
                    <a:lumMod val="75000"/>
                    <a:lumOff val="25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정보는 메타데이터관리시스템과 데이터 품질관리 시스템에 </a:t>
              </a:r>
              <a: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중앙 집중하여 통합 관리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707680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연계 데이터 품질</a:t>
            </a:r>
            <a:r>
              <a:rPr lang="en-US" altLang="ko-KR" dirty="0"/>
              <a:t>, </a:t>
            </a:r>
            <a:r>
              <a:rPr lang="ko-KR" altLang="en-US" dirty="0"/>
              <a:t>연계 응용의 성능</a:t>
            </a:r>
            <a:r>
              <a:rPr lang="en-US" altLang="ko-KR" dirty="0"/>
              <a:t>, </a:t>
            </a:r>
            <a:r>
              <a:rPr lang="ko-KR" altLang="en-US" dirty="0"/>
              <a:t>연계 기술</a:t>
            </a:r>
            <a:r>
              <a:rPr lang="en-US" altLang="ko-KR" dirty="0"/>
              <a:t>, </a:t>
            </a:r>
            <a:r>
              <a:rPr lang="ko-KR" altLang="en-US" dirty="0"/>
              <a:t>연계 개발 생산성</a:t>
            </a:r>
            <a:r>
              <a:rPr lang="en-US" altLang="ko-KR" dirty="0"/>
              <a:t>, </a:t>
            </a:r>
            <a:r>
              <a:rPr lang="ko-KR" altLang="en-US" dirty="0"/>
              <a:t>연계 정보  관리 인프라 측면의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현행 문제점을 해결하기 위한 개선 방안을 제시함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2.10.3.6 </a:t>
            </a:r>
            <a:r>
              <a:rPr lang="ko-KR" altLang="en-US" spc="-150"/>
              <a:t>연계정보 관리 방안</a:t>
            </a:r>
            <a:r>
              <a:rPr lang="en-US" altLang="ko-KR" spc="-150" dirty="0"/>
              <a:t/>
            </a:r>
            <a:br>
              <a:rPr lang="en-US" altLang="ko-KR" spc="-150" dirty="0"/>
            </a:br>
            <a:r>
              <a:rPr lang="en-US" altLang="ko-KR" sz="1800" spc="-150" dirty="0"/>
              <a:t>&gt; </a:t>
            </a:r>
            <a:r>
              <a:rPr lang="ko-KR" altLang="en-US" sz="1800" spc="-150" dirty="0"/>
              <a:t>연계정보 품질개선 방안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Ⅲ. </a:t>
            </a:r>
            <a:r>
              <a:rPr lang="ko-KR" altLang="en-US" smtClean="0"/>
              <a:t>목표모델 설계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dirty="0"/>
              <a:t>2. </a:t>
            </a:r>
            <a:r>
              <a:rPr lang="ko-KR" altLang="en-US" dirty="0"/>
              <a:t>목표모델</a:t>
            </a:r>
            <a:r>
              <a:rPr lang="en-US" altLang="ko-KR" dirty="0"/>
              <a:t> </a:t>
            </a:r>
            <a:r>
              <a:rPr lang="ko-KR" altLang="en-US" dirty="0"/>
              <a:t>개선과제 정의</a:t>
            </a:r>
            <a:endParaRPr lang="en-US" altLang="ko-KR" dirty="0"/>
          </a:p>
          <a:p>
            <a:pPr eaLnBrk="1" hangingPunct="1">
              <a:lnSpc>
                <a:spcPct val="100000"/>
              </a:lnSpc>
            </a:pPr>
            <a:r>
              <a:rPr lang="en-US" altLang="ko-KR" smtClean="0"/>
              <a:t>2.10 </a:t>
            </a:r>
            <a:r>
              <a:rPr lang="ko-KR" altLang="en-US" smtClean="0"/>
              <a:t>데이터관리체계 표준화 방안 수립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44488" y="1592840"/>
            <a:ext cx="9217025" cy="4785734"/>
            <a:chOff x="200024" y="1592840"/>
            <a:chExt cx="9505951" cy="4785734"/>
          </a:xfrm>
        </p:grpSpPr>
        <p:grpSp>
          <p:nvGrpSpPr>
            <p:cNvPr id="6" name="그룹 44"/>
            <p:cNvGrpSpPr/>
            <p:nvPr/>
          </p:nvGrpSpPr>
          <p:grpSpPr>
            <a:xfrm>
              <a:off x="200024" y="1592840"/>
              <a:ext cx="4212000" cy="4785734"/>
              <a:chOff x="200024" y="1592840"/>
              <a:chExt cx="4212000" cy="4785734"/>
            </a:xfrm>
          </p:grpSpPr>
          <p:grpSp>
            <p:nvGrpSpPr>
              <p:cNvPr id="7" name="그룹 45"/>
              <p:cNvGrpSpPr/>
              <p:nvPr/>
            </p:nvGrpSpPr>
            <p:grpSpPr>
              <a:xfrm>
                <a:off x="200024" y="1592840"/>
                <a:ext cx="4212000" cy="4785734"/>
                <a:chOff x="200025" y="1592840"/>
                <a:chExt cx="4680967" cy="4785734"/>
              </a:xfrm>
            </p:grpSpPr>
            <p:sp>
              <p:nvSpPr>
                <p:cNvPr id="59" name="직사각형 58"/>
                <p:cNvSpPr/>
                <p:nvPr/>
              </p:nvSpPr>
              <p:spPr bwMode="auto">
                <a:xfrm>
                  <a:off x="200025" y="1592840"/>
                  <a:ext cx="4680967" cy="324000"/>
                </a:xfrm>
                <a:prstGeom prst="rect">
                  <a:avLst/>
                </a:prstGeom>
                <a:solidFill>
                  <a:srgbClr val="233C5A"/>
                </a:solidFill>
                <a:ln w="12699">
                  <a:solidFill>
                    <a:srgbClr val="000000">
                      <a:lumMod val="50000"/>
                      <a:lumOff val="50000"/>
                    </a:srgbClr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72000" tIns="72000" rIns="72000" bIns="72000" anchor="ctr"/>
                <a:lstStyle/>
                <a:p>
                  <a:pPr algn="ctr" latinLnBrk="0">
                    <a:defRPr/>
                  </a:pPr>
                  <a:r>
                    <a:rPr lang="ko-KR" altLang="en-US" sz="1400" b="1" kern="0" dirty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맑은 고딕" pitchFamily="50" charset="-127"/>
                      <a:ea typeface="맑은 고딕" pitchFamily="50" charset="-127"/>
                    </a:rPr>
                    <a:t>예상되는 연계정보 품질 문제점</a:t>
                  </a:r>
                </a:p>
              </p:txBody>
            </p:sp>
            <p:sp>
              <p:nvSpPr>
                <p:cNvPr id="60" name="직사각형 59"/>
                <p:cNvSpPr/>
                <p:nvPr/>
              </p:nvSpPr>
              <p:spPr bwMode="auto">
                <a:xfrm>
                  <a:off x="200025" y="1916831"/>
                  <a:ext cx="4680967" cy="4461743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 type="none" w="med" len="med"/>
                  <a:tailEnd type="none" w="sm" len="sm"/>
                </a:ln>
                <a:effectLst>
                  <a:outerShdw dist="25400" dir="2700000" algn="tl" rotWithShape="0">
                    <a:schemeClr val="bg1">
                      <a:lumMod val="50000"/>
                      <a:alpha val="40000"/>
                    </a:schemeClr>
                  </a:outerShdw>
                </a:effectLst>
              </p:spPr>
              <p:txBody>
                <a:bodyPr vert="horz" wrap="square" lIns="108000" tIns="36000" rIns="72000" bIns="3600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182563" indent="-182563">
                    <a:spcBef>
                      <a:spcPts val="1200"/>
                    </a:spcBef>
                    <a:buClr>
                      <a:prstClr val="black"/>
                    </a:buClr>
                    <a:buFont typeface="Wingdings" pitchFamily="2" charset="2"/>
                    <a:buChar char="q"/>
                  </a:pPr>
                  <a:endParaRPr lang="en-US" altLang="ko-KR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sp>
            <p:nvSpPr>
              <p:cNvPr id="47" name="AutoShape 6"/>
              <p:cNvSpPr>
                <a:spLocks noChangeArrowheads="1"/>
              </p:cNvSpPr>
              <p:nvPr/>
            </p:nvSpPr>
            <p:spPr bwMode="auto">
              <a:xfrm>
                <a:off x="344488" y="2623796"/>
                <a:ext cx="1584176" cy="612378"/>
              </a:xfrm>
              <a:prstGeom prst="homePlate">
                <a:avLst/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lIns="36000" tIns="72000" rIns="36000" bIns="72000" anchor="ctr"/>
              <a:lstStyle/>
              <a:p>
                <a:pPr algn="ctr">
                  <a:spcBef>
                    <a:spcPct val="50000"/>
                  </a:spcBef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데이터 품질</a:t>
                </a:r>
              </a:p>
            </p:txBody>
          </p:sp>
          <p:sp>
            <p:nvSpPr>
              <p:cNvPr id="48" name="AutoShape 6"/>
              <p:cNvSpPr>
                <a:spLocks noChangeArrowheads="1"/>
              </p:cNvSpPr>
              <p:nvPr/>
            </p:nvSpPr>
            <p:spPr bwMode="auto">
              <a:xfrm>
                <a:off x="344488" y="3369619"/>
                <a:ext cx="1584176" cy="612378"/>
              </a:xfrm>
              <a:prstGeom prst="homePlate">
                <a:avLst/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lIns="36000" tIns="72000" rIns="36000" bIns="72000" anchor="ctr"/>
              <a:lstStyle/>
              <a:p>
                <a:pPr algn="ctr">
                  <a:spcBef>
                    <a:spcPct val="50000"/>
                  </a:spcBef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응용 성능</a:t>
                </a:r>
              </a:p>
            </p:txBody>
          </p:sp>
          <p:sp>
            <p:nvSpPr>
              <p:cNvPr id="49" name="AutoShape 6"/>
              <p:cNvSpPr>
                <a:spLocks noChangeArrowheads="1"/>
              </p:cNvSpPr>
              <p:nvPr/>
            </p:nvSpPr>
            <p:spPr bwMode="auto">
              <a:xfrm>
                <a:off x="344488" y="4115442"/>
                <a:ext cx="1584176" cy="612378"/>
              </a:xfrm>
              <a:prstGeom prst="homePlate">
                <a:avLst/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lIns="36000" tIns="72000" rIns="36000" bIns="72000" anchor="ctr"/>
              <a:lstStyle/>
              <a:p>
                <a:pPr algn="ctr">
                  <a:spcBef>
                    <a:spcPct val="50000"/>
                  </a:spcBef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기술</a:t>
                </a:r>
              </a:p>
            </p:txBody>
          </p:sp>
          <p:sp>
            <p:nvSpPr>
              <p:cNvPr id="50" name="AutoShape 6"/>
              <p:cNvSpPr>
                <a:spLocks noChangeArrowheads="1"/>
              </p:cNvSpPr>
              <p:nvPr/>
            </p:nvSpPr>
            <p:spPr bwMode="auto">
              <a:xfrm>
                <a:off x="344488" y="5607087"/>
                <a:ext cx="1584176" cy="612378"/>
              </a:xfrm>
              <a:prstGeom prst="homePlate">
                <a:avLst/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lIns="36000" tIns="72000" rIns="36000" bIns="72000" anchor="ctr"/>
              <a:lstStyle/>
              <a:p>
                <a:pPr algn="ctr">
                  <a:spcBef>
                    <a:spcPct val="50000"/>
                  </a:spcBef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정보 관리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인프라</a:t>
                </a:r>
              </a:p>
            </p:txBody>
          </p:sp>
          <p:sp>
            <p:nvSpPr>
              <p:cNvPr id="51" name="AutoShape 6"/>
              <p:cNvSpPr>
                <a:spLocks noChangeArrowheads="1"/>
              </p:cNvSpPr>
              <p:nvPr/>
            </p:nvSpPr>
            <p:spPr bwMode="auto">
              <a:xfrm>
                <a:off x="2061883" y="2623796"/>
                <a:ext cx="2231182" cy="612378"/>
              </a:xfrm>
              <a:prstGeom prst="homePlate">
                <a:avLst>
                  <a:gd name="adj" fmla="val 0"/>
                </a:avLst>
              </a:prstGeom>
              <a:solidFill>
                <a:srgbClr val="DDDDDD">
                  <a:alpha val="14999"/>
                </a:srgbClr>
              </a:solidFill>
              <a:ln w="28575" algn="ctr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000" tIns="72000" rIns="36000" bIns="72000" anchor="ctr"/>
              <a:lstStyle/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시스템간 데이터의 정합성 오류 발생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오류데이터의 누적</a:t>
                </a:r>
              </a:p>
            </p:txBody>
          </p:sp>
          <p:sp>
            <p:nvSpPr>
              <p:cNvPr id="52" name="AutoShape 6"/>
              <p:cNvSpPr>
                <a:spLocks noChangeArrowheads="1"/>
              </p:cNvSpPr>
              <p:nvPr/>
            </p:nvSpPr>
            <p:spPr bwMode="auto">
              <a:xfrm>
                <a:off x="2061883" y="3369619"/>
                <a:ext cx="2231182" cy="612378"/>
              </a:xfrm>
              <a:prstGeom prst="homePlate">
                <a:avLst>
                  <a:gd name="adj" fmla="val 0"/>
                </a:avLst>
              </a:prstGeom>
              <a:solidFill>
                <a:srgbClr val="DDDDDD">
                  <a:alpha val="14999"/>
                </a:srgbClr>
              </a:solidFill>
              <a:ln w="28575" algn="ctr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000" tIns="72000" rIns="36000" bIns="72000" anchor="ctr"/>
              <a:lstStyle/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일부 연계 응용의 병목현상으로 인한 성능저하 발생</a:t>
                </a:r>
              </a:p>
            </p:txBody>
          </p:sp>
          <p:sp>
            <p:nvSpPr>
              <p:cNvPr id="53" name="AutoShape 6"/>
              <p:cNvSpPr>
                <a:spLocks noChangeArrowheads="1"/>
              </p:cNvSpPr>
              <p:nvPr/>
            </p:nvSpPr>
            <p:spPr bwMode="auto">
              <a:xfrm>
                <a:off x="2061883" y="4115442"/>
                <a:ext cx="2231182" cy="612378"/>
              </a:xfrm>
              <a:prstGeom prst="homePlate">
                <a:avLst>
                  <a:gd name="adj" fmla="val 0"/>
                </a:avLst>
              </a:prstGeom>
              <a:solidFill>
                <a:srgbClr val="DDDDDD">
                  <a:alpha val="14999"/>
                </a:srgbClr>
              </a:solidFill>
              <a:ln w="28575" algn="ctr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000" tIns="72000" rIns="36000" bIns="72000" anchor="ctr"/>
              <a:lstStyle/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시스템마다 상이한 연계 방식과 기술을 적용</a:t>
                </a:r>
              </a:p>
            </p:txBody>
          </p:sp>
          <p:sp>
            <p:nvSpPr>
              <p:cNvPr id="54" name="AutoShape 6"/>
              <p:cNvSpPr>
                <a:spLocks noChangeArrowheads="1"/>
              </p:cNvSpPr>
              <p:nvPr/>
            </p:nvSpPr>
            <p:spPr bwMode="auto">
              <a:xfrm>
                <a:off x="2061883" y="5607087"/>
                <a:ext cx="2231182" cy="612378"/>
              </a:xfrm>
              <a:prstGeom prst="homePlate">
                <a:avLst>
                  <a:gd name="adj" fmla="val 0"/>
                </a:avLst>
              </a:prstGeom>
              <a:solidFill>
                <a:srgbClr val="DDDDDD">
                  <a:alpha val="14999"/>
                </a:srgbClr>
              </a:solidFill>
              <a:ln w="28575" algn="ctr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000" tIns="72000" rIns="36000" bIns="72000" anchor="ctr"/>
              <a:lstStyle/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연계정보를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PC 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등에 개별적으로 보관하여 종합적인 정보 파악의 어려움</a:t>
                </a:r>
              </a:p>
            </p:txBody>
          </p:sp>
          <p:sp>
            <p:nvSpPr>
              <p:cNvPr id="55" name="AutoShape 6"/>
              <p:cNvSpPr>
                <a:spLocks noChangeArrowheads="1"/>
              </p:cNvSpPr>
              <p:nvPr/>
            </p:nvSpPr>
            <p:spPr bwMode="auto">
              <a:xfrm>
                <a:off x="344488" y="2119740"/>
                <a:ext cx="1584176" cy="440696"/>
              </a:xfrm>
              <a:prstGeom prst="flowChartOffpageConnector">
                <a:avLst/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분야</a:t>
                </a:r>
              </a:p>
            </p:txBody>
          </p:sp>
          <p:sp>
            <p:nvSpPr>
              <p:cNvPr id="56" name="AutoShape 6"/>
              <p:cNvSpPr>
                <a:spLocks noChangeArrowheads="1"/>
              </p:cNvSpPr>
              <p:nvPr/>
            </p:nvSpPr>
            <p:spPr bwMode="auto">
              <a:xfrm>
                <a:off x="2054574" y="2119740"/>
                <a:ext cx="2231182" cy="440696"/>
              </a:xfrm>
              <a:prstGeom prst="flowChartOffpageConnector">
                <a:avLst/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주요 문제점</a:t>
                </a:r>
              </a:p>
            </p:txBody>
          </p:sp>
          <p:sp>
            <p:nvSpPr>
              <p:cNvPr id="57" name="AutoShape 6"/>
              <p:cNvSpPr>
                <a:spLocks noChangeArrowheads="1"/>
              </p:cNvSpPr>
              <p:nvPr/>
            </p:nvSpPr>
            <p:spPr bwMode="auto">
              <a:xfrm>
                <a:off x="344488" y="4861265"/>
                <a:ext cx="1584176" cy="612378"/>
              </a:xfrm>
              <a:prstGeom prst="homePlate">
                <a:avLst/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lIns="36000" tIns="72000" rIns="36000" bIns="72000" anchor="ctr"/>
              <a:lstStyle/>
              <a:p>
                <a:pPr algn="ctr">
                  <a:spcBef>
                    <a:spcPct val="50000"/>
                  </a:spcBef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개발 생산성</a:t>
                </a:r>
              </a:p>
            </p:txBody>
          </p:sp>
          <p:sp>
            <p:nvSpPr>
              <p:cNvPr id="58" name="AutoShape 6"/>
              <p:cNvSpPr>
                <a:spLocks noChangeArrowheads="1"/>
              </p:cNvSpPr>
              <p:nvPr/>
            </p:nvSpPr>
            <p:spPr bwMode="auto">
              <a:xfrm>
                <a:off x="2061883" y="4861265"/>
                <a:ext cx="2231182" cy="612378"/>
              </a:xfrm>
              <a:prstGeom prst="homePlate">
                <a:avLst>
                  <a:gd name="adj" fmla="val 0"/>
                </a:avLst>
              </a:prstGeom>
              <a:solidFill>
                <a:srgbClr val="DDDDDD">
                  <a:alpha val="14999"/>
                </a:srgbClr>
              </a:solidFill>
              <a:ln w="28575" algn="ctr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000" tIns="72000" rIns="36000" bIns="72000" anchor="ctr"/>
              <a:lstStyle/>
              <a:p>
                <a:pPr marL="180975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표준화되지 않은 다양한 연계 정보와 연계 방식으로 개발 생산성 저하 현상 초래</a:t>
                </a:r>
              </a:p>
            </p:txBody>
          </p:sp>
        </p:grpSp>
        <p:grpSp>
          <p:nvGrpSpPr>
            <p:cNvPr id="8" name="그룹 60"/>
            <p:cNvGrpSpPr/>
            <p:nvPr/>
          </p:nvGrpSpPr>
          <p:grpSpPr>
            <a:xfrm>
              <a:off x="4819815" y="1592840"/>
              <a:ext cx="4886160" cy="4785734"/>
              <a:chOff x="5097015" y="1592840"/>
              <a:chExt cx="4608959" cy="4785734"/>
            </a:xfrm>
          </p:grpSpPr>
          <p:grpSp>
            <p:nvGrpSpPr>
              <p:cNvPr id="9" name="그룹 61"/>
              <p:cNvGrpSpPr/>
              <p:nvPr/>
            </p:nvGrpSpPr>
            <p:grpSpPr>
              <a:xfrm>
                <a:off x="5097015" y="1592840"/>
                <a:ext cx="4608959" cy="4785734"/>
                <a:chOff x="200025" y="1592840"/>
                <a:chExt cx="4680967" cy="4785734"/>
              </a:xfrm>
            </p:grpSpPr>
            <p:sp>
              <p:nvSpPr>
                <p:cNvPr id="69" name="직사각형 68"/>
                <p:cNvSpPr/>
                <p:nvPr/>
              </p:nvSpPr>
              <p:spPr bwMode="auto">
                <a:xfrm>
                  <a:off x="200025" y="1592840"/>
                  <a:ext cx="4680967" cy="324000"/>
                </a:xfrm>
                <a:prstGeom prst="rect">
                  <a:avLst/>
                </a:prstGeom>
                <a:solidFill>
                  <a:srgbClr val="233C5A"/>
                </a:solidFill>
                <a:ln w="12699">
                  <a:solidFill>
                    <a:srgbClr val="000000">
                      <a:lumMod val="50000"/>
                      <a:lumOff val="50000"/>
                    </a:srgbClr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72000" tIns="72000" rIns="72000" bIns="72000" anchor="ctr"/>
                <a:lstStyle/>
                <a:p>
                  <a:pPr algn="ctr" latinLnBrk="0">
                    <a:defRPr/>
                  </a:pPr>
                  <a:r>
                    <a:rPr lang="ko-KR" altLang="en-US" sz="1400" b="1" kern="0" dirty="0"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맑은 고딕" pitchFamily="50" charset="-127"/>
                      <a:ea typeface="맑은 고딕" pitchFamily="50" charset="-127"/>
                    </a:rPr>
                    <a:t>연계정보 품질 개선 방안</a:t>
                  </a:r>
                </a:p>
              </p:txBody>
            </p:sp>
            <p:sp>
              <p:nvSpPr>
                <p:cNvPr id="70" name="직사각형 69"/>
                <p:cNvSpPr/>
                <p:nvPr/>
              </p:nvSpPr>
              <p:spPr bwMode="auto">
                <a:xfrm>
                  <a:off x="200025" y="1916831"/>
                  <a:ext cx="4680967" cy="4461743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 type="none" w="med" len="med"/>
                  <a:tailEnd type="none" w="sm" len="sm"/>
                </a:ln>
                <a:effectLst>
                  <a:outerShdw dist="25400" dir="2700000" algn="tl" rotWithShape="0">
                    <a:schemeClr val="bg1">
                      <a:lumMod val="50000"/>
                      <a:alpha val="40000"/>
                    </a:schemeClr>
                  </a:outerShdw>
                </a:effectLst>
              </p:spPr>
              <p:txBody>
                <a:bodyPr vert="horz" wrap="square" lIns="108000" tIns="36000" rIns="72000" bIns="3600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182563" indent="-182563">
                    <a:spcBef>
                      <a:spcPts val="1200"/>
                    </a:spcBef>
                    <a:buClr>
                      <a:prstClr val="black"/>
                    </a:buClr>
                    <a:buFont typeface="Wingdings" pitchFamily="2" charset="2"/>
                    <a:buChar char="q"/>
                  </a:pPr>
                  <a:endParaRPr lang="en-US" altLang="ko-KR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sp>
            <p:nvSpPr>
              <p:cNvPr id="63" name="AutoShape 6"/>
              <p:cNvSpPr>
                <a:spLocks noChangeArrowheads="1"/>
              </p:cNvSpPr>
              <p:nvPr/>
            </p:nvSpPr>
            <p:spPr bwMode="auto">
              <a:xfrm>
                <a:off x="5241032" y="2119740"/>
                <a:ext cx="4356484" cy="440696"/>
              </a:xfrm>
              <a:prstGeom prst="flowChartOffpageConnector">
                <a:avLst/>
              </a:prstGeom>
              <a:solidFill>
                <a:srgbClr val="508CD2"/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개선 방안</a:t>
                </a:r>
              </a:p>
            </p:txBody>
          </p:sp>
          <p:sp>
            <p:nvSpPr>
              <p:cNvPr id="64" name="AutoShape 6"/>
              <p:cNvSpPr>
                <a:spLocks noChangeArrowheads="1"/>
              </p:cNvSpPr>
              <p:nvPr/>
            </p:nvSpPr>
            <p:spPr bwMode="auto">
              <a:xfrm>
                <a:off x="5241032" y="2623796"/>
                <a:ext cx="4356484" cy="612378"/>
              </a:xfrm>
              <a:prstGeom prst="homePlate">
                <a:avLst>
                  <a:gd name="adj" fmla="val 0"/>
                </a:avLst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square" lIns="36000" tIns="72000" rIns="36000" bIns="72000" anchor="ctr"/>
              <a:lstStyle/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연계관리 프로세스에 의한 정기적인 연계 데이터 품질 진단 및 개선활동 수행</a:t>
                </a:r>
              </a:p>
            </p:txBody>
          </p:sp>
          <p:sp>
            <p:nvSpPr>
              <p:cNvPr id="65" name="AutoShape 6"/>
              <p:cNvSpPr>
                <a:spLocks noChangeArrowheads="1"/>
              </p:cNvSpPr>
              <p:nvPr/>
            </p:nvSpPr>
            <p:spPr bwMode="auto">
              <a:xfrm>
                <a:off x="5241032" y="3369619"/>
                <a:ext cx="4356484" cy="612378"/>
              </a:xfrm>
              <a:prstGeom prst="homePlate">
                <a:avLst>
                  <a:gd name="adj" fmla="val 0"/>
                </a:avLst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square" lIns="36000" tIns="72000" rIns="36000" bIns="72000" anchor="ctr"/>
              <a:lstStyle/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데이터 품질 진단 결과 발견한 성능 문제 해결을 위한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DB, SQL, 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응용프로그램의 튜닝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개선 실시</a:t>
                </a:r>
              </a:p>
            </p:txBody>
          </p:sp>
          <p:sp>
            <p:nvSpPr>
              <p:cNvPr id="66" name="AutoShape 6"/>
              <p:cNvSpPr>
                <a:spLocks noChangeArrowheads="1"/>
              </p:cNvSpPr>
              <p:nvPr/>
            </p:nvSpPr>
            <p:spPr bwMode="auto">
              <a:xfrm>
                <a:off x="5241032" y="4115442"/>
                <a:ext cx="4356484" cy="612378"/>
              </a:xfrm>
              <a:prstGeom prst="homePlate">
                <a:avLst>
                  <a:gd name="adj" fmla="val 0"/>
                </a:avLst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square" lIns="36000" tIns="72000" rIns="36000" bIns="72000" anchor="ctr"/>
              <a:lstStyle/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연계체계에 의한 표준화된 연계 방법을 적용하여 일관된 연계 구현</a:t>
                </a:r>
              </a:p>
            </p:txBody>
          </p:sp>
          <p:sp>
            <p:nvSpPr>
              <p:cNvPr id="67" name="AutoShape 6"/>
              <p:cNvSpPr>
                <a:spLocks noChangeArrowheads="1"/>
              </p:cNvSpPr>
              <p:nvPr/>
            </p:nvSpPr>
            <p:spPr bwMode="auto">
              <a:xfrm>
                <a:off x="5241032" y="5607087"/>
                <a:ext cx="4356484" cy="612378"/>
              </a:xfrm>
              <a:prstGeom prst="homePlate">
                <a:avLst>
                  <a:gd name="adj" fmla="val 0"/>
                </a:avLst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square" lIns="36000" tIns="72000" rIns="36000" bIns="72000" anchor="ctr"/>
              <a:lstStyle/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정보는 메타데이터관리시스템과 데이터 품질관리 시스템에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중앙 집중하여 통합 관리</a:t>
                </a:r>
              </a:p>
            </p:txBody>
          </p:sp>
          <p:sp>
            <p:nvSpPr>
              <p:cNvPr id="68" name="AutoShape 6"/>
              <p:cNvSpPr>
                <a:spLocks noChangeArrowheads="1"/>
              </p:cNvSpPr>
              <p:nvPr/>
            </p:nvSpPr>
            <p:spPr bwMode="auto">
              <a:xfrm>
                <a:off x="5241032" y="4861265"/>
                <a:ext cx="4356484" cy="612378"/>
              </a:xfrm>
              <a:prstGeom prst="homePlate">
                <a:avLst>
                  <a:gd name="adj" fmla="val 0"/>
                </a:avLst>
              </a:prstGeom>
              <a:solidFill>
                <a:schemeClr val="accent3"/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square" lIns="36000" tIns="72000" rIns="36000" bIns="72000" anchor="ctr"/>
              <a:lstStyle/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표준화된 연계 방법과 기술 사용으로 연계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기술의 복잡도 저감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61937" indent="-171450">
                  <a:buClr>
                    <a:srgbClr val="000000"/>
                  </a:buClr>
                  <a:buFont typeface="Arial" panose="020B0604020202020204" pitchFamily="34" charset="0"/>
                  <a:buChar char="•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연계 기술 매뉴얼 작성 및 공유를 통한 개발 효율 증대</a:t>
                </a:r>
              </a:p>
            </p:txBody>
          </p:sp>
        </p:grpSp>
        <p:sp>
          <p:nvSpPr>
            <p:cNvPr id="71" name="AutoShape 12"/>
            <p:cNvSpPr>
              <a:spLocks noChangeArrowheads="1"/>
            </p:cNvSpPr>
            <p:nvPr/>
          </p:nvSpPr>
          <p:spPr bwMode="auto">
            <a:xfrm rot="5400000">
              <a:off x="2830795" y="4121266"/>
              <a:ext cx="3570248" cy="277200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8001546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smtClean="0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rPr>
              <a:t>Ⅲ. </a:t>
            </a:r>
            <a:r>
              <a:rPr lang="ko-KR" altLang="en-US" sz="2400" b="1" spc="-300" dirty="0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rPr>
              <a:t>목표모델 설계</a:t>
            </a:r>
            <a:endParaRPr lang="en-US" altLang="ko-KR" sz="2400" b="1" spc="-300" dirty="0">
              <a:solidFill>
                <a:srgbClr val="00437A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수립 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목표모델 개선과제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/>
              <a:t>업무별 개선안 설계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1600" dirty="0"/>
              <a:t>3.1 </a:t>
            </a:r>
            <a:r>
              <a:rPr lang="ko-KR" altLang="en-US" sz="1600" dirty="0"/>
              <a:t>개요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3.2 </a:t>
            </a:r>
            <a:r>
              <a:rPr lang="ko-KR" altLang="en-US" sz="1600" dirty="0"/>
              <a:t>예산관리 </a:t>
            </a:r>
            <a:r>
              <a:rPr lang="ko-KR" altLang="en-US" sz="1600"/>
              <a:t>업무프로세스 </a:t>
            </a:r>
            <a:r>
              <a:rPr lang="ko-KR" altLang="en-US" sz="1600" smtClean="0"/>
              <a:t>개선안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3.3 </a:t>
            </a:r>
            <a:r>
              <a:rPr lang="ko-KR" altLang="en-US" sz="1600" dirty="0"/>
              <a:t>회계관리 업무프로세스 개선안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3.4 </a:t>
            </a:r>
            <a:r>
              <a:rPr lang="ko-KR" altLang="en-US" sz="1600" dirty="0"/>
              <a:t>구매관리 업무프로세스 개선안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3.5 </a:t>
            </a:r>
            <a:r>
              <a:rPr lang="ko-KR" altLang="en-US" sz="1600" dirty="0"/>
              <a:t>자산관리 업무프로세스 개선안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en-US" altLang="ko-KR" sz="1600" dirty="0"/>
              <a:t>3.6 </a:t>
            </a:r>
            <a:r>
              <a:rPr lang="ko-KR" altLang="en-US" sz="1600" dirty="0"/>
              <a:t>사업관리 업무프로세스 개선안</a:t>
            </a:r>
            <a:endParaRPr lang="en-US" altLang="ko-KR" sz="1600" dirty="0"/>
          </a:p>
          <a:p>
            <a:pPr marL="0" indent="379413">
              <a:lnSpc>
                <a:spcPct val="150000"/>
              </a:lnSpc>
              <a:buNone/>
            </a:pPr>
            <a:r>
              <a:rPr lang="en-US" altLang="ko-KR" sz="1600"/>
              <a:t>3.7 </a:t>
            </a:r>
            <a:r>
              <a:rPr lang="en-US" altLang="ko-KR" sz="1600" smtClean="0"/>
              <a:t>DATABASE </a:t>
            </a:r>
            <a:r>
              <a:rPr lang="ko-KR" altLang="en-US" sz="1600" smtClean="0"/>
              <a:t>표준화 방안</a:t>
            </a:r>
            <a:endParaRPr lang="en-US" altLang="ko-KR" sz="1600" smtClean="0"/>
          </a:p>
          <a:p>
            <a:pPr marL="0" indent="379413">
              <a:lnSpc>
                <a:spcPct val="150000"/>
              </a:lnSpc>
              <a:buNone/>
            </a:pPr>
            <a:r>
              <a:rPr lang="en-US" altLang="ko-KR" sz="1600" smtClean="0"/>
              <a:t>3.8 </a:t>
            </a:r>
            <a:r>
              <a:rPr lang="ko-KR" altLang="en-US" sz="1600" smtClean="0"/>
              <a:t>데이터 마이그레이션 방안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914324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예산관리</a:t>
            </a:r>
            <a:r>
              <a:rPr lang="en-US" altLang="ko-KR" smtClean="0"/>
              <a:t>, </a:t>
            </a:r>
            <a:r>
              <a:rPr lang="ko-KR" altLang="en-US" smtClean="0"/>
              <a:t>회계관리</a:t>
            </a:r>
            <a:r>
              <a:rPr lang="en-US" altLang="ko-KR" smtClean="0"/>
              <a:t>, </a:t>
            </a:r>
            <a:r>
              <a:rPr lang="ko-KR" altLang="en-US" smtClean="0"/>
              <a:t>구매관리</a:t>
            </a:r>
            <a:r>
              <a:rPr lang="en-US" altLang="ko-KR" smtClean="0"/>
              <a:t>, </a:t>
            </a:r>
            <a:r>
              <a:rPr lang="ko-KR" altLang="en-US" smtClean="0"/>
              <a:t>자산관리</a:t>
            </a:r>
            <a:r>
              <a:rPr lang="en-US" altLang="ko-KR" smtClean="0"/>
              <a:t>, </a:t>
            </a:r>
            <a:r>
              <a:rPr lang="ko-KR" altLang="en-US" smtClean="0"/>
              <a:t>사업관리의 </a:t>
            </a:r>
            <a:r>
              <a:rPr lang="ko-KR" altLang="en-US" dirty="0"/>
              <a:t>개선사항을 기반으로 </a:t>
            </a:r>
            <a:r>
              <a:rPr lang="en-US" altLang="ko-KR" dirty="0" err="1"/>
              <a:t>To_Be</a:t>
            </a:r>
            <a:r>
              <a:rPr lang="ko-KR" altLang="en-US" dirty="0"/>
              <a:t>의</a:t>
            </a:r>
            <a:r>
              <a:rPr lang="en-US" altLang="ko-KR" dirty="0"/>
              <a:t> </a:t>
            </a:r>
            <a:r>
              <a:rPr lang="ko-KR" altLang="en-US" dirty="0"/>
              <a:t>업무 기능 및 업무 프로세스 개선안을 설계함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 lIns="0" anchor="ctr" anchorCtr="0">
            <a:normAutofit/>
          </a:bodyPr>
          <a:lstStyle/>
          <a:p>
            <a:r>
              <a:rPr lang="en-US" altLang="ko-KR" dirty="0"/>
              <a:t>3.1 </a:t>
            </a:r>
            <a:r>
              <a:rPr lang="ko-KR" altLang="en-US" dirty="0"/>
              <a:t>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3.1.1 </a:t>
            </a:r>
            <a:r>
              <a:rPr lang="ko-KR" altLang="en-US" dirty="0"/>
              <a:t>목표 업무 개선안 설계 절차</a:t>
            </a:r>
            <a:r>
              <a:rPr lang="en-US" altLang="ko-KR" dirty="0"/>
              <a:t>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3.1 </a:t>
            </a:r>
            <a:r>
              <a:rPr lang="ko-KR" altLang="en-US" dirty="0">
                <a:solidFill>
                  <a:prstClr val="black"/>
                </a:solidFill>
              </a:rPr>
              <a:t>개요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="" xmlns:a16="http://schemas.microsoft.com/office/drawing/2014/main" id="{4971C708-4330-43A6-BB03-2783B6E1B783}"/>
              </a:ext>
            </a:extLst>
          </p:cNvPr>
          <p:cNvSpPr/>
          <p:nvPr/>
        </p:nvSpPr>
        <p:spPr bwMode="auto">
          <a:xfrm>
            <a:off x="344488" y="1628775"/>
            <a:ext cx="1236293" cy="687227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목표 업무 개선안 설계 목적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="" xmlns:a16="http://schemas.microsoft.com/office/drawing/2014/main" id="{03D717DA-DAB2-4F11-822E-C9036E77810B}"/>
              </a:ext>
            </a:extLst>
          </p:cNvPr>
          <p:cNvSpPr/>
          <p:nvPr/>
        </p:nvSpPr>
        <p:spPr bwMode="auto">
          <a:xfrm>
            <a:off x="1674348" y="1628774"/>
            <a:ext cx="7848164" cy="685801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업무별 개선사항을 기반으로 </a:t>
            </a:r>
            <a:r>
              <a:rPr lang="en-US" altLang="ko-KR" sz="1200" b="1" kern="0" dirty="0">
                <a:solidFill>
                  <a:prstClr val="black"/>
                </a:solidFill>
                <a:latin typeface="+mn-ea"/>
              </a:rPr>
              <a:t>To-Be</a:t>
            </a:r>
            <a:r>
              <a:rPr lang="ko-KR" altLang="en-US" sz="1200" b="1" kern="0" dirty="0">
                <a:solidFill>
                  <a:prstClr val="black"/>
                </a:solidFill>
                <a:latin typeface="+mn-ea"/>
              </a:rPr>
              <a:t>의 업무 기능 및 업무 프로세스 맵을 설계함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="" xmlns:a16="http://schemas.microsoft.com/office/drawing/2014/main" id="{25DA8CDC-D248-4210-99F3-77CF4E091E0D}"/>
              </a:ext>
            </a:extLst>
          </p:cNvPr>
          <p:cNvSpPr/>
          <p:nvPr/>
        </p:nvSpPr>
        <p:spPr bwMode="auto">
          <a:xfrm>
            <a:off x="344488" y="2420889"/>
            <a:ext cx="1236293" cy="798794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lvl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수행 업무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="" xmlns:a16="http://schemas.microsoft.com/office/drawing/2014/main" id="{DDBD85BD-0319-4CDD-81B5-C3CEFA468A52}"/>
              </a:ext>
            </a:extLst>
          </p:cNvPr>
          <p:cNvSpPr/>
          <p:nvPr/>
        </p:nvSpPr>
        <p:spPr bwMode="auto">
          <a:xfrm>
            <a:off x="1674348" y="2420888"/>
            <a:ext cx="7848164" cy="798794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108000" tIns="72000" rIns="36000" bIns="72000" rtlCol="0" anchor="ctr"/>
          <a:lstStyle/>
          <a:p>
            <a:pPr marL="93663" lvl="0" indent="-93663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ko-KR" altLang="en-US" sz="1200" b="1" kern="0" spc="-100" dirty="0">
                <a:solidFill>
                  <a:prstClr val="black"/>
                </a:solidFill>
                <a:latin typeface="+mn-ea"/>
              </a:rPr>
              <a:t>경영정보시스템의 현황 및 요건분석을 근거로 미래 </a:t>
            </a:r>
            <a:r>
              <a:rPr lang="ko-KR" altLang="en-US" sz="1200" b="1" kern="0" spc="-100">
                <a:solidFill>
                  <a:prstClr val="black"/>
                </a:solidFill>
                <a:latin typeface="+mn-ea"/>
              </a:rPr>
              <a:t>업무분류 </a:t>
            </a:r>
            <a:r>
              <a:rPr lang="ko-KR" altLang="en-US" sz="1200" b="1" kern="0" spc="-100" smtClean="0">
                <a:solidFill>
                  <a:prstClr val="black"/>
                </a:solidFill>
                <a:latin typeface="+mn-ea"/>
              </a:rPr>
              <a:t>구조도와 업무 </a:t>
            </a:r>
            <a:r>
              <a:rPr lang="ko-KR" altLang="en-US" sz="1200" b="1" kern="0" spc="-100" dirty="0">
                <a:solidFill>
                  <a:prstClr val="black"/>
                </a:solidFill>
                <a:latin typeface="+mn-ea"/>
              </a:rPr>
              <a:t>프로세스 맵을 정의함</a:t>
            </a:r>
            <a:endParaRPr lang="en-US" altLang="ko-KR" sz="1200" b="1" kern="0" spc="-1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5" name="이등변 삼각형 184">
            <a:extLst>
              <a:ext uri="{FF2B5EF4-FFF2-40B4-BE49-F238E27FC236}">
                <a16:creationId xmlns="" xmlns:a16="http://schemas.microsoft.com/office/drawing/2014/main" id="{EBA556C0-4EB3-4B72-8072-B64D367174AB}"/>
              </a:ext>
            </a:extLst>
          </p:cNvPr>
          <p:cNvSpPr/>
          <p:nvPr/>
        </p:nvSpPr>
        <p:spPr bwMode="auto">
          <a:xfrm flipV="1">
            <a:off x="3726371" y="5508533"/>
            <a:ext cx="2197465" cy="221941"/>
          </a:xfrm>
          <a:prstGeom prst="triangle">
            <a:avLst/>
          </a:prstGeom>
          <a:solidFill>
            <a:srgbClr val="4678B4">
              <a:lumMod val="60000"/>
              <a:lumOff val="4000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marR="0" lvl="0" indent="-85725" defTabSz="91440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="" xmlns:a16="http://schemas.microsoft.com/office/drawing/2014/main" id="{FBF839FF-3329-4AF2-9EFA-955151901F75}"/>
              </a:ext>
            </a:extLst>
          </p:cNvPr>
          <p:cNvSpPr/>
          <p:nvPr/>
        </p:nvSpPr>
        <p:spPr bwMode="auto">
          <a:xfrm>
            <a:off x="344488" y="3621989"/>
            <a:ext cx="4464494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34328" y="3289077"/>
            <a:ext cx="4474654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buClrTx/>
              <a:buFontTx/>
              <a:buNone/>
              <a:defRPr/>
            </a:pPr>
            <a:r>
              <a:rPr lang="en-US" altLang="ko-KR" sz="1200" b="1" kern="0" dirty="0">
                <a:solidFill>
                  <a:srgbClr val="FFFFFF"/>
                </a:solidFill>
                <a:latin typeface="+mn-ea"/>
              </a:rPr>
              <a:t>(TO-BE) </a:t>
            </a:r>
            <a:r>
              <a:rPr lang="ko-KR" altLang="en-US" sz="1200" b="1" kern="0" dirty="0">
                <a:solidFill>
                  <a:srgbClr val="FFFFFF"/>
                </a:solidFill>
                <a:latin typeface="+mn-ea"/>
              </a:rPr>
              <a:t>업무분류 및 기능 정의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="" xmlns:a16="http://schemas.microsoft.com/office/drawing/2014/main" id="{120E786F-7681-45B7-B8C8-2DD9AE65BA10}"/>
              </a:ext>
            </a:extLst>
          </p:cNvPr>
          <p:cNvSpPr/>
          <p:nvPr/>
        </p:nvSpPr>
        <p:spPr>
          <a:xfrm>
            <a:off x="344926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본 사업 범위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예산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회계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구매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자산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사업관리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)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를 대상으로 </a:t>
            </a:r>
            <a:r>
              <a:rPr lang="en-US" altLang="ko-KR" sz="1200" kern="0" dirty="0" err="1">
                <a:solidFill>
                  <a:prstClr val="black"/>
                </a:solidFill>
                <a:latin typeface="+mn-ea"/>
              </a:rPr>
              <a:t>To_Be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의 업무분류 구조도 및 미래 업무기능을 정의함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" name="그룹 28"/>
          <p:cNvGrpSpPr/>
          <p:nvPr/>
        </p:nvGrpSpPr>
        <p:grpSpPr>
          <a:xfrm>
            <a:off x="671712" y="4406044"/>
            <a:ext cx="3799886" cy="720000"/>
            <a:chOff x="692919" y="4406044"/>
            <a:chExt cx="3799886" cy="720000"/>
          </a:xfrm>
        </p:grpSpPr>
        <p:sp>
          <p:nvSpPr>
            <p:cNvPr id="195" name="Rectangle 53">
              <a:extLst>
                <a:ext uri="{FF2B5EF4-FFF2-40B4-BE49-F238E27FC236}">
                  <a16:creationId xmlns="" xmlns:a16="http://schemas.microsoft.com/office/drawing/2014/main" id="{E70F1C44-6D48-443B-B688-62466608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919" y="4406044"/>
              <a:ext cx="1639646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>(TO-BE) </a:t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업무분류 구조도</a:t>
              </a: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/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정의</a:t>
              </a:r>
              <a:endParaRPr lang="en-US" altLang="ko-KR" sz="1100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97" name="Rectangle 53">
              <a:extLst>
                <a:ext uri="{FF2B5EF4-FFF2-40B4-BE49-F238E27FC236}">
                  <a16:creationId xmlns="" xmlns:a16="http://schemas.microsoft.com/office/drawing/2014/main" id="{CE6A39E6-6A41-4350-BBBA-FAD77E7D1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159" y="4406044"/>
              <a:ext cx="1639646" cy="720000"/>
            </a:xfrm>
            <a:prstGeom prst="rect">
              <a:avLst/>
            </a:prstGeom>
            <a:solidFill>
              <a:srgbClr val="508CD2">
                <a:lumMod val="40000"/>
                <a:lumOff val="60000"/>
              </a:srgbClr>
            </a:solidFill>
            <a:ln w="952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36000" tIns="36000" rIns="36000" bIns="3600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defTabSz="457200" eaLnBrk="0" latinLnBrk="0" hangingPunct="0">
                <a:lnSpc>
                  <a:spcPct val="105000"/>
                </a:lnSpc>
                <a:buClr>
                  <a:srgbClr val="328030"/>
                </a:buClr>
                <a:defRPr/>
              </a:pP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>(TO-BE) </a:t>
              </a: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 </a:t>
              </a:r>
              <a: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  <a:t/>
              </a:r>
              <a:br>
                <a:rPr lang="en-US" altLang="ko-KR" sz="1100" kern="0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100" kern="0" dirty="0">
                  <a:solidFill>
                    <a:srgbClr val="000000"/>
                  </a:solidFill>
                  <a:latin typeface="+mn-ea"/>
                </a:rPr>
                <a:t>업무기능 정의</a:t>
              </a: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="" xmlns:a16="http://schemas.microsoft.com/office/drawing/2014/main" id="{C453419D-360B-4BE7-A481-A4B124C0B7FD}"/>
              </a:ext>
            </a:extLst>
          </p:cNvPr>
          <p:cNvSpPr/>
          <p:nvPr/>
        </p:nvSpPr>
        <p:spPr bwMode="auto">
          <a:xfrm>
            <a:off x="344488" y="5752562"/>
            <a:ext cx="9180000" cy="471537"/>
          </a:xfrm>
          <a:prstGeom prst="rect">
            <a:avLst/>
          </a:prstGeom>
          <a:solidFill>
            <a:srgbClr val="233C5A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defRPr/>
            </a:pP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정보시스템 아키텍처 적용 및 이행과제 도출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="" xmlns:a16="http://schemas.microsoft.com/office/drawing/2014/main" id="{3607A9E9-8D87-479B-AE72-B0380FE2AA7A}"/>
              </a:ext>
            </a:extLst>
          </p:cNvPr>
          <p:cNvSpPr/>
          <p:nvPr/>
        </p:nvSpPr>
        <p:spPr bwMode="auto">
          <a:xfrm>
            <a:off x="5070473" y="3621989"/>
            <a:ext cx="4454527" cy="1679219"/>
          </a:xfrm>
          <a:prstGeom prst="rect">
            <a:avLst/>
          </a:prstGeom>
          <a:noFill/>
          <a:ln w="12700">
            <a:solidFill>
              <a:sysClr val="windowText" lastClr="000000"/>
            </a:solidFill>
            <a:miter lim="800000"/>
            <a:headEnd/>
            <a:tailEnd/>
          </a:ln>
        </p:spPr>
        <p:txBody>
          <a:bodyPr lIns="36000" tIns="72000" rIns="36000" bIns="72000" rtlCol="0" anchor="ctr"/>
          <a:lstStyle/>
          <a:p>
            <a:pPr marL="93663" marR="0" lvl="0" indent="-93663" defTabSz="914400" eaLnBrk="0" fontAlgn="base" latinLnBrk="0" hangingPunct="0">
              <a:lnSpc>
                <a:spcPct val="90000"/>
              </a:lnSpc>
              <a:spcBef>
                <a:spcPts val="300"/>
              </a:spcBef>
              <a:spcAft>
                <a:spcPts val="200"/>
              </a:spcAft>
              <a:buClr>
                <a:srgbClr val="508CD2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="" xmlns:a16="http://schemas.microsoft.com/office/drawing/2014/main" id="{F56FE926-019D-4DC3-A5CB-46B74808237D}"/>
              </a:ext>
            </a:extLst>
          </p:cNvPr>
          <p:cNvSpPr/>
          <p:nvPr/>
        </p:nvSpPr>
        <p:spPr bwMode="auto">
          <a:xfrm>
            <a:off x="5060313" y="3289077"/>
            <a:ext cx="4464688" cy="332911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latinLnBrk="0">
              <a:defRPr/>
            </a:pPr>
            <a:r>
              <a:rPr lang="en-US" altLang="ko-KR" sz="1200" b="1" kern="0" dirty="0">
                <a:solidFill>
                  <a:srgbClr val="FFFFFF"/>
                </a:solidFill>
                <a:latin typeface="+mn-ea"/>
              </a:rPr>
              <a:t>(TO-BE) </a:t>
            </a:r>
            <a:r>
              <a:rPr lang="ko-KR" altLang="en-US" sz="1200" b="1" kern="0" dirty="0">
                <a:solidFill>
                  <a:schemeClr val="bg1"/>
                </a:solidFill>
                <a:latin typeface="+mn-ea"/>
              </a:rPr>
              <a:t>업무프로세스 </a:t>
            </a:r>
            <a:r>
              <a:rPr lang="ko-KR" altLang="en-US" sz="1200" b="1" kern="0">
                <a:solidFill>
                  <a:schemeClr val="bg1"/>
                </a:solidFill>
                <a:latin typeface="+mn-ea"/>
              </a:rPr>
              <a:t>맵 </a:t>
            </a:r>
            <a:r>
              <a:rPr lang="ko-KR" altLang="en-US" sz="1200" b="1" kern="0" smtClean="0">
                <a:solidFill>
                  <a:schemeClr val="bg1"/>
                </a:solidFill>
                <a:latin typeface="+mn-ea"/>
              </a:rPr>
              <a:t>및 활동 정의</a:t>
            </a:r>
            <a:endParaRPr lang="en-US" altLang="ko-KR" sz="120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561FAEB0-D4A9-4449-A806-60F5B159800E}"/>
              </a:ext>
            </a:extLst>
          </p:cNvPr>
          <p:cNvSpPr/>
          <p:nvPr/>
        </p:nvSpPr>
        <p:spPr>
          <a:xfrm>
            <a:off x="5142699" y="3670231"/>
            <a:ext cx="4320042" cy="48087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71450" lvl="0" indent="-171450" eaLnBrk="0" fontAlgn="base" latinLnBrk="0" hangingPunct="0">
              <a:spcBef>
                <a:spcPct val="3500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본 사업 범위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(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예산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회계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구매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자산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사업관리</a:t>
            </a:r>
            <a:r>
              <a:rPr lang="en-US" altLang="ko-KR" sz="1200" kern="0" dirty="0">
                <a:solidFill>
                  <a:prstClr val="black"/>
                </a:solidFill>
                <a:latin typeface="+mn-ea"/>
              </a:rPr>
              <a:t>)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를 대상으로 </a:t>
            </a:r>
            <a:r>
              <a:rPr lang="en-US" altLang="ko-KR" sz="1200" kern="0" dirty="0" err="1">
                <a:solidFill>
                  <a:prstClr val="black"/>
                </a:solidFill>
                <a:latin typeface="+mn-ea"/>
              </a:rPr>
              <a:t>To_Be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의 업무 </a:t>
            </a:r>
            <a:r>
              <a:rPr lang="ko-KR" altLang="en-US" sz="1200" kern="0">
                <a:solidFill>
                  <a:prstClr val="black"/>
                </a:solidFill>
                <a:latin typeface="+mn-ea"/>
              </a:rPr>
              <a:t>프로세스 </a:t>
            </a:r>
            <a:r>
              <a:rPr lang="ko-KR" altLang="en-US" sz="1200" kern="0" smtClean="0">
                <a:solidFill>
                  <a:prstClr val="black"/>
                </a:solidFill>
                <a:latin typeface="+mn-ea"/>
              </a:rPr>
              <a:t>맵을 </a:t>
            </a:r>
            <a:r>
              <a:rPr lang="ko-KR" altLang="en-US" sz="1200" kern="0" dirty="0">
                <a:solidFill>
                  <a:prstClr val="black"/>
                </a:solidFill>
                <a:latin typeface="+mn-ea"/>
              </a:rPr>
              <a:t>정의함</a:t>
            </a:r>
            <a:endParaRPr lang="en-US" altLang="ko-KR" sz="12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7" name="Rectangle 53">
            <a:extLst>
              <a:ext uri="{FF2B5EF4-FFF2-40B4-BE49-F238E27FC236}">
                <a16:creationId xmlns="" xmlns:a16="http://schemas.microsoft.com/office/drawing/2014/main" id="{E70F1C44-6D48-443B-B688-624666084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088" y="4406044"/>
            <a:ext cx="3168352" cy="720000"/>
          </a:xfrm>
          <a:prstGeom prst="rect">
            <a:avLst/>
          </a:prstGeom>
          <a:solidFill>
            <a:srgbClr val="508CD2">
              <a:lumMod val="40000"/>
              <a:lumOff val="60000"/>
            </a:srgbClr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457200" eaLnBrk="0" latinLnBrk="0" hangingPunct="0">
              <a:lnSpc>
                <a:spcPct val="105000"/>
              </a:lnSpc>
              <a:buClr>
                <a:srgbClr val="328030"/>
              </a:buClr>
              <a:defRPr/>
            </a:pPr>
            <a:r>
              <a:rPr lang="ko-KR" altLang="en-US" sz="1100" dirty="0">
                <a:latin typeface="+mn-ea"/>
              </a:rPr>
              <a:t>업무 프로세스 맵 정의</a:t>
            </a:r>
            <a:endParaRPr lang="en-US" altLang="ko-KR" sz="1100" kern="0" dirty="0">
              <a:solidFill>
                <a:srgbClr val="00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8132418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/>
              <a:t>본 </a:t>
            </a:r>
            <a:r>
              <a:rPr lang="ko-KR" altLang="en-US" smtClean="0"/>
              <a:t>사업 범위의</a:t>
            </a:r>
            <a:r>
              <a:rPr lang="en-US" altLang="ko-KR" smtClean="0"/>
              <a:t> </a:t>
            </a:r>
            <a:r>
              <a:rPr lang="ko-KR" altLang="en-US" smtClean="0"/>
              <a:t>업무 프로세스 </a:t>
            </a:r>
            <a:r>
              <a:rPr lang="ko-KR" altLang="en-US"/>
              <a:t>개선을 </a:t>
            </a:r>
            <a:r>
              <a:rPr lang="ko-KR" altLang="en-US" smtClean="0"/>
              <a:t>위한 </a:t>
            </a:r>
            <a:r>
              <a:rPr lang="ko-KR" altLang="en-US" dirty="0"/>
              <a:t>표기법을 정의하여 업무기능 정의 및 업무프로세스 맵 작성 시 반영함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3.1.2 </a:t>
            </a:r>
            <a:r>
              <a:rPr lang="ko-KR" altLang="en-US" dirty="0"/>
              <a:t>사용 양식 및 다이어그램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3.1 </a:t>
            </a:r>
            <a:r>
              <a:rPr lang="ko-KR" altLang="en-US" dirty="0">
                <a:solidFill>
                  <a:prstClr val="black"/>
                </a:solidFill>
              </a:rPr>
              <a:t>개요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13" name="Line 5">
            <a:extLst>
              <a:ext uri="{FF2B5EF4-FFF2-40B4-BE49-F238E27FC236}">
                <a16:creationId xmlns="" xmlns:a16="http://schemas.microsoft.com/office/drawing/2014/main" id="{20ACE431-296A-49BC-9A08-34F9B8B0B2FA}"/>
              </a:ext>
            </a:extLst>
          </p:cNvPr>
          <p:cNvSpPr>
            <a:spLocks noChangeAspect="1" noChangeShapeType="1"/>
          </p:cNvSpPr>
          <p:nvPr/>
        </p:nvSpPr>
        <p:spPr bwMode="auto">
          <a:xfrm flipH="1">
            <a:off x="4953000" y="2032866"/>
            <a:ext cx="1843" cy="42480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4" name="Rectangle 3">
            <a:extLst>
              <a:ext uri="{FF2B5EF4-FFF2-40B4-BE49-F238E27FC236}">
                <a16:creationId xmlns="" xmlns:a16="http://schemas.microsoft.com/office/drawing/2014/main" id="{35136BA6-CB07-4627-A9CB-3CFCFC1EC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19" y="1973097"/>
            <a:ext cx="9170481" cy="4326170"/>
          </a:xfrm>
          <a:prstGeom prst="rect">
            <a:avLst/>
          </a:prstGeom>
          <a:noFill/>
          <a:ln w="12700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ko-KR" sz="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5" name="Text Box 13">
            <a:extLst>
              <a:ext uri="{FF2B5EF4-FFF2-40B4-BE49-F238E27FC236}">
                <a16:creationId xmlns="" xmlns:a16="http://schemas.microsoft.com/office/drawing/2014/main" id="{4021AFA3-72DF-4B39-8C2F-1ED247E4C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2700" y="2683978"/>
            <a:ext cx="900000" cy="396000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algn="ctr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(Online)</a:t>
            </a:r>
          </a:p>
        </p:txBody>
      </p:sp>
      <p:sp>
        <p:nvSpPr>
          <p:cNvPr id="16" name="Rectangle 11">
            <a:extLst>
              <a:ext uri="{FF2B5EF4-FFF2-40B4-BE49-F238E27FC236}">
                <a16:creationId xmlns="" xmlns:a16="http://schemas.microsoft.com/office/drawing/2014/main" id="{E68816C1-9B05-48E9-94AE-8931A6947D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5532" y="2676097"/>
            <a:ext cx="936000" cy="411762"/>
          </a:xfrm>
          <a:prstGeom prst="rect">
            <a:avLst/>
          </a:prstGeom>
          <a:noFill/>
          <a:ln w="1397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Activity  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9" name="Text Box 7">
            <a:extLst>
              <a:ext uri="{FF2B5EF4-FFF2-40B4-BE49-F238E27FC236}">
                <a16:creationId xmlns="" xmlns:a16="http://schemas.microsoft.com/office/drawing/2014/main" id="{1A20B0D6-77B3-4CFC-B312-EA2030952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4073204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의사결정 판단</a:t>
            </a:r>
          </a:p>
        </p:txBody>
      </p:sp>
      <p:sp>
        <p:nvSpPr>
          <p:cNvPr id="20" name="순서도: 판단 58">
            <a:extLst>
              <a:ext uri="{FF2B5EF4-FFF2-40B4-BE49-F238E27FC236}">
                <a16:creationId xmlns="" xmlns:a16="http://schemas.microsoft.com/office/drawing/2014/main" id="{A1F47256-C88A-400D-B442-4AF50C843C6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1655" y="3994292"/>
            <a:ext cx="936000" cy="449202"/>
          </a:xfrm>
          <a:prstGeom prst="flowChartDecision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36000" rIns="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Activity</a:t>
            </a: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endParaRPr kumimoji="1" lang="en-US" altLang="ko-KR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1" name="Text Box 7">
            <a:extLst>
              <a:ext uri="{FF2B5EF4-FFF2-40B4-BE49-F238E27FC236}">
                <a16:creationId xmlns="" xmlns:a16="http://schemas.microsoft.com/office/drawing/2014/main" id="{FDC018F8-09D0-4194-88C0-03799B842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4757280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연결되는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타 프로세스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22" name="순서도: 종속 처리 64">
            <a:extLst>
              <a:ext uri="{FF2B5EF4-FFF2-40B4-BE49-F238E27FC236}">
                <a16:creationId xmlns="" xmlns:a16="http://schemas.microsoft.com/office/drawing/2014/main" id="{DC01F6DF-ED37-4EBA-8AF2-073DF1F61D5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7326" y="4678368"/>
            <a:ext cx="936000" cy="411762"/>
          </a:xfrm>
          <a:prstGeom prst="flowChartPredefinedProcess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36000" tIns="36000" rIns="36000" bIns="3600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Process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3" name="Text Box 7">
            <a:extLst>
              <a:ext uri="{FF2B5EF4-FFF2-40B4-BE49-F238E27FC236}">
                <a16:creationId xmlns="" xmlns:a16="http://schemas.microsoft.com/office/drawing/2014/main" id="{92845742-9605-4EF8-80C4-1155B9719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2166078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프로세스 시작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/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종료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</a:endParaRPr>
          </a:p>
        </p:txBody>
      </p:sp>
      <p:cxnSp>
        <p:nvCxnSpPr>
          <p:cNvPr id="24" name="Shape 266">
            <a:extLst>
              <a:ext uri="{FF2B5EF4-FFF2-40B4-BE49-F238E27FC236}">
                <a16:creationId xmlns="" xmlns:a16="http://schemas.microsoft.com/office/drawing/2014/main" id="{D94F67EB-5934-42C7-882A-892950CD5D2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88668" y="5579777"/>
            <a:ext cx="93600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" name="Text Box 7">
            <a:extLst>
              <a:ext uri="{FF2B5EF4-FFF2-40B4-BE49-F238E27FC236}">
                <a16:creationId xmlns="" xmlns:a16="http://schemas.microsoft.com/office/drawing/2014/main" id="{29575C60-E81D-4D3C-BB00-832DA64D2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5432264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Task Flow (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업무 흐름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)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26" name="Text Box 7">
            <a:extLst>
              <a:ext uri="{FF2B5EF4-FFF2-40B4-BE49-F238E27FC236}">
                <a16:creationId xmlns="" xmlns:a16="http://schemas.microsoft.com/office/drawing/2014/main" id="{E18532BB-ED8E-477F-8A47-9560DC23D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0670" y="5899212"/>
            <a:ext cx="210211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입</a:t>
            </a:r>
            <a:r>
              <a:rPr kumimoji="1" lang="en-US" altLang="ko-KR" sz="1200" b="1" spc="-100" dirty="0">
                <a:solidFill>
                  <a:srgbClr val="000000"/>
                </a:solidFill>
                <a:cs typeface="Arial Unicode MS" pitchFamily="50" charset="-127"/>
              </a:rPr>
              <a:t>/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출력 </a:t>
            </a:r>
            <a:r>
              <a:rPr kumimoji="1" lang="en-US" altLang="ko-KR" sz="1200" b="1" spc="-100" dirty="0">
                <a:solidFill>
                  <a:srgbClr val="000000"/>
                </a:solidFill>
                <a:cs typeface="Arial Unicode MS" pitchFamily="50" charset="-127"/>
              </a:rPr>
              <a:t>Flow </a:t>
            </a:r>
            <a:r>
              <a:rPr kumimoji="1" lang="ko-KR" altLang="en-US" sz="1200" b="1" spc="-100" dirty="0">
                <a:solidFill>
                  <a:srgbClr val="000000"/>
                </a:solidFill>
                <a:cs typeface="Arial Unicode MS" pitchFamily="50" charset="-127"/>
              </a:rPr>
              <a:t>혹은 타 프로세스 연결</a:t>
            </a:r>
            <a:endParaRPr kumimoji="1" lang="en-US" altLang="ko-KR" sz="1200" b="1" spc="-100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cxnSp>
        <p:nvCxnSpPr>
          <p:cNvPr id="27" name="Shape 266">
            <a:extLst>
              <a:ext uri="{FF2B5EF4-FFF2-40B4-BE49-F238E27FC236}">
                <a16:creationId xmlns="" xmlns:a16="http://schemas.microsoft.com/office/drawing/2014/main" id="{7F0F192C-717B-4E7C-B079-611664143A6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3267" y="6021288"/>
            <a:ext cx="93600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순서도: 수행의 시작/종료 69">
            <a:extLst>
              <a:ext uri="{FF2B5EF4-FFF2-40B4-BE49-F238E27FC236}">
                <a16:creationId xmlns="" xmlns:a16="http://schemas.microsoft.com/office/drawing/2014/main" id="{90AAF74F-E020-4F74-9936-4AD21DBCB0A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2500" y="2060514"/>
            <a:ext cx="936000" cy="411762"/>
          </a:xfrm>
          <a:prstGeom prst="hexagon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  <a:t>시작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  <a:t>/</a:t>
            </a:r>
            <a:b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맑은 고딕" pitchFamily="50" charset="-127"/>
              </a:rPr>
            </a:br>
            <a:r>
              <a:rPr kumimoji="1" lang="ko-KR" altLang="en-US" sz="1200" b="1" kern="0" dirty="0">
                <a:solidFill>
                  <a:prstClr val="black"/>
                </a:solidFill>
                <a:ea typeface="맑은 고딕" pitchFamily="50" charset="-127"/>
              </a:rPr>
              <a:t>종료</a:t>
            </a:r>
            <a:endParaRPr kumimoji="1" 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맑은 고딕" pitchFamily="50" charset="-127"/>
            </a:endParaRPr>
          </a:p>
        </p:txBody>
      </p:sp>
      <p:grpSp>
        <p:nvGrpSpPr>
          <p:cNvPr id="5" name="그룹 37">
            <a:extLst>
              <a:ext uri="{FF2B5EF4-FFF2-40B4-BE49-F238E27FC236}">
                <a16:creationId xmlns="" xmlns:a16="http://schemas.microsoft.com/office/drawing/2014/main" id="{C777D98E-CAEE-4366-B260-5F1A16106143}"/>
              </a:ext>
            </a:extLst>
          </p:cNvPr>
          <p:cNvGrpSpPr/>
          <p:nvPr/>
        </p:nvGrpSpPr>
        <p:grpSpPr>
          <a:xfrm>
            <a:off x="3080792" y="1556793"/>
            <a:ext cx="3746804" cy="307777"/>
            <a:chOff x="2743200" y="1543474"/>
            <a:chExt cx="4419600" cy="424341"/>
          </a:xfrm>
        </p:grpSpPr>
        <p:sp>
          <p:nvSpPr>
            <p:cNvPr id="30" name="Text Box 605">
              <a:extLst>
                <a:ext uri="{FF2B5EF4-FFF2-40B4-BE49-F238E27FC236}">
                  <a16:creationId xmlns="" xmlns:a16="http://schemas.microsoft.com/office/drawing/2014/main" id="{C480D8BE-0DFA-4FB2-8F05-9700233BD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3200" y="1543474"/>
              <a:ext cx="4419600" cy="424341"/>
            </a:xfrm>
            <a:prstGeom prst="rect">
              <a:avLst/>
            </a:prstGeom>
            <a:noFill/>
            <a:ln w="9525" algn="ctr">
              <a:noFill/>
              <a:prstDash val="dash"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0" latinLnBrk="0" hangingPunct="0">
                <a:spcBef>
                  <a:spcPct val="50000"/>
                </a:spcBef>
                <a:defRPr/>
              </a:pPr>
              <a:r>
                <a:rPr lang="ko-KR" altLang="en-US" sz="1400" b="1" kern="0" dirty="0">
                  <a:solidFill>
                    <a:prstClr val="black"/>
                  </a:solidFill>
                </a:rPr>
                <a:t>사용 다이어그램</a:t>
              </a:r>
            </a:p>
          </p:txBody>
        </p:sp>
        <p:cxnSp>
          <p:nvCxnSpPr>
            <p:cNvPr id="31" name="직선 연결선 12">
              <a:extLst>
                <a:ext uri="{FF2B5EF4-FFF2-40B4-BE49-F238E27FC236}">
                  <a16:creationId xmlns="" xmlns:a16="http://schemas.microsoft.com/office/drawing/2014/main" id="{16280B1E-377C-4B38-8E0C-256BD26D44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31013" y="1961258"/>
              <a:ext cx="2843974" cy="0"/>
            </a:xfrm>
            <a:prstGeom prst="line">
              <a:avLst/>
            </a:prstGeom>
            <a:noFill/>
            <a:ln w="12700" algn="ctr">
              <a:solidFill>
                <a:sysClr val="windowText" lastClr="000000"/>
              </a:solidFill>
              <a:round/>
              <a:headEnd/>
              <a:tailEnd/>
            </a:ln>
          </p:spPr>
        </p:cxnSp>
      </p:grpSp>
      <p:sp>
        <p:nvSpPr>
          <p:cNvPr id="32" name="Text Box 11">
            <a:extLst>
              <a:ext uri="{FF2B5EF4-FFF2-40B4-BE49-F238E27FC236}">
                <a16:creationId xmlns="" xmlns:a16="http://schemas.microsoft.com/office/drawing/2014/main" id="{A16D041A-36DE-4B95-B3E7-7B5400449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2803307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등록 데이터</a:t>
            </a:r>
            <a:endParaRPr kumimoji="1" lang="en-US" altLang="ko-KR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33" name="원통 68">
            <a:extLst>
              <a:ext uri="{FF2B5EF4-FFF2-40B4-BE49-F238E27FC236}">
                <a16:creationId xmlns="" xmlns:a16="http://schemas.microsoft.com/office/drawing/2014/main" id="{4D420994-D82F-4483-86F2-50CDF8261CC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82929" y="2708920"/>
            <a:ext cx="936000" cy="374322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System Name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4" name="Text Box 11">
            <a:extLst>
              <a:ext uri="{FF2B5EF4-FFF2-40B4-BE49-F238E27FC236}">
                <a16:creationId xmlns="" xmlns:a16="http://schemas.microsoft.com/office/drawing/2014/main" id="{F2171D5A-9506-439A-B5E4-11EDBD12B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3414794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입력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/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출력</a:t>
            </a:r>
          </a:p>
        </p:txBody>
      </p:sp>
      <p:sp>
        <p:nvSpPr>
          <p:cNvPr id="43" name="순서도: 문서 78">
            <a:extLst>
              <a:ext uri="{FF2B5EF4-FFF2-40B4-BE49-F238E27FC236}">
                <a16:creationId xmlns="" xmlns:a16="http://schemas.microsoft.com/office/drawing/2014/main" id="{FAFF9DBE-3251-4C2E-8FE8-EAC57F402BF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78452" y="3320410"/>
            <a:ext cx="936000" cy="374322"/>
          </a:xfrm>
          <a:prstGeom prst="flowChartDocument">
            <a:avLst/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kern="0" dirty="0">
                <a:solidFill>
                  <a:prstClr val="black"/>
                </a:solidFill>
              </a:rPr>
              <a:t>In/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Output Report</a:t>
            </a:r>
            <a:endParaRPr kumimoji="1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4" name="Text Box 21">
            <a:extLst>
              <a:ext uri="{FF2B5EF4-FFF2-40B4-BE49-F238E27FC236}">
                <a16:creationId xmlns="" xmlns:a16="http://schemas.microsoft.com/office/drawing/2014/main" id="{B791AB1B-44CC-4CCF-B581-401E3D4F1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3843689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앞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,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뒷장으로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연결</a:t>
            </a:r>
          </a:p>
        </p:txBody>
      </p:sp>
      <p:sp>
        <p:nvSpPr>
          <p:cNvPr id="45" name="Text Box 21">
            <a:extLst>
              <a:ext uri="{FF2B5EF4-FFF2-40B4-BE49-F238E27FC236}">
                <a16:creationId xmlns="" xmlns:a16="http://schemas.microsoft.com/office/drawing/2014/main" id="{E1FA268B-E26B-444F-B1A6-8D1F5302E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4231395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부연  설명</a:t>
            </a:r>
          </a:p>
        </p:txBody>
      </p:sp>
      <p:grpSp>
        <p:nvGrpSpPr>
          <p:cNvPr id="6" name="그룹 100">
            <a:extLst>
              <a:ext uri="{FF2B5EF4-FFF2-40B4-BE49-F238E27FC236}">
                <a16:creationId xmlns="" xmlns:a16="http://schemas.microsoft.com/office/drawing/2014/main" id="{6214FE1F-4716-4AB9-9538-E5B0517CD11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04761" y="4207677"/>
            <a:ext cx="717806" cy="255480"/>
            <a:chOff x="4271707" y="5214950"/>
            <a:chExt cx="565817" cy="249238"/>
          </a:xfrm>
        </p:grpSpPr>
        <p:sp>
          <p:nvSpPr>
            <p:cNvPr id="47" name="Line 175">
              <a:extLst>
                <a:ext uri="{FF2B5EF4-FFF2-40B4-BE49-F238E27FC236}">
                  <a16:creationId xmlns="" xmlns:a16="http://schemas.microsoft.com/office/drawing/2014/main" id="{BBFC3069-92EB-4F7F-9DAE-0F991FDF97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9730" y="5323666"/>
              <a:ext cx="257794" cy="140522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7" name="그룹 56">
              <a:extLst>
                <a:ext uri="{FF2B5EF4-FFF2-40B4-BE49-F238E27FC236}">
                  <a16:creationId xmlns="" xmlns:a16="http://schemas.microsoft.com/office/drawing/2014/main" id="{6FF0A2B0-C603-4860-8A8B-AF6F997061B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271707" y="5214950"/>
              <a:ext cx="308020" cy="227049"/>
              <a:chOff x="2509838" y="3465513"/>
              <a:chExt cx="523535" cy="487362"/>
            </a:xfrm>
          </p:grpSpPr>
          <p:sp>
            <p:nvSpPr>
              <p:cNvPr id="49" name="Freeform 176">
                <a:extLst>
                  <a:ext uri="{FF2B5EF4-FFF2-40B4-BE49-F238E27FC236}">
                    <a16:creationId xmlns="" xmlns:a16="http://schemas.microsoft.com/office/drawing/2014/main" id="{288BA62B-A366-433D-A4E2-371A17D91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838" y="3465513"/>
                <a:ext cx="120650" cy="487362"/>
              </a:xfrm>
              <a:custGeom>
                <a:avLst/>
                <a:gdLst>
                  <a:gd name="T0" fmla="*/ 2147483647 w 56"/>
                  <a:gd name="T1" fmla="*/ 0 h 210"/>
                  <a:gd name="T2" fmla="*/ 0 w 56"/>
                  <a:gd name="T3" fmla="*/ 0 h 210"/>
                  <a:gd name="T4" fmla="*/ 0 w 56"/>
                  <a:gd name="T5" fmla="*/ 2147483647 h 210"/>
                  <a:gd name="T6" fmla="*/ 2147483647 w 56"/>
                  <a:gd name="T7" fmla="*/ 2147483647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6"/>
                  <a:gd name="T13" fmla="*/ 0 h 210"/>
                  <a:gd name="T14" fmla="*/ 56 w 5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6" h="210">
                    <a:moveTo>
                      <a:pt x="56" y="0"/>
                    </a:moveTo>
                    <a:lnTo>
                      <a:pt x="0" y="0"/>
                    </a:lnTo>
                    <a:lnTo>
                      <a:pt x="0" y="210"/>
                    </a:lnTo>
                    <a:lnTo>
                      <a:pt x="56" y="210"/>
                    </a:lnTo>
                  </a:path>
                </a:pathLst>
              </a:custGeom>
              <a:noFill/>
              <a:ln w="144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200" b="1" i="0" u="sng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Rectangle 179">
                <a:extLst>
                  <a:ext uri="{FF2B5EF4-FFF2-40B4-BE49-F238E27FC236}">
                    <a16:creationId xmlns="" xmlns:a16="http://schemas.microsoft.com/office/drawing/2014/main" id="{ED255503-FCF7-4668-AC70-BC7B7487D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018" y="3490217"/>
                <a:ext cx="412355" cy="386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>
                    <a:tab pos="0" algn="l"/>
                    <a:tab pos="447675" algn="l"/>
                    <a:tab pos="896938" algn="l"/>
                    <a:tab pos="1346200" algn="l"/>
                    <a:tab pos="1795463" algn="l"/>
                    <a:tab pos="2244725" algn="l"/>
                    <a:tab pos="2693988" algn="l"/>
                    <a:tab pos="3143250" algn="l"/>
                    <a:tab pos="3592513" algn="l"/>
                    <a:tab pos="4041775" algn="l"/>
                    <a:tab pos="4491038" algn="l"/>
                    <a:tab pos="4940300" algn="l"/>
                    <a:tab pos="5389563" algn="l"/>
                    <a:tab pos="5838825" algn="l"/>
                    <a:tab pos="6288088" algn="l"/>
                    <a:tab pos="6737350" algn="l"/>
                    <a:tab pos="7186613" algn="l"/>
                    <a:tab pos="7635875" algn="l"/>
                    <a:tab pos="8085138" algn="l"/>
                    <a:tab pos="8534400" algn="l"/>
                    <a:tab pos="8983663" algn="l"/>
                  </a:tabLst>
                  <a:defRPr/>
                </a:pPr>
                <a:r>
                  <a:rPr kumimoji="1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설명</a:t>
                </a:r>
                <a:endParaRPr kumimoji="1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51" name="Text Box 7">
            <a:extLst>
              <a:ext uri="{FF2B5EF4-FFF2-40B4-BE49-F238E27FC236}">
                <a16:creationId xmlns="" xmlns:a16="http://schemas.microsoft.com/office/drawing/2014/main" id="{73C59739-3FDB-4242-BAA2-AAD074B29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2207980"/>
            <a:ext cx="2412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타 시스템 사용 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Task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="" xmlns:a16="http://schemas.microsoft.com/office/drawing/2014/main" id="{29092D2D-FC6C-473C-8C0B-260F8C9FBA74}"/>
              </a:ext>
            </a:extLst>
          </p:cNvPr>
          <p:cNvSpPr/>
          <p:nvPr/>
        </p:nvSpPr>
        <p:spPr>
          <a:xfrm>
            <a:off x="5641613" y="3811633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53" name="Rectangle 11">
            <a:extLst>
              <a:ext uri="{FF2B5EF4-FFF2-40B4-BE49-F238E27FC236}">
                <a16:creationId xmlns="" xmlns:a16="http://schemas.microsoft.com/office/drawing/2014/main" id="{1BA8DCFB-0AE6-496D-B735-D9448B2BF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9862" y="4567717"/>
            <a:ext cx="865816" cy="423159"/>
          </a:xfrm>
          <a:prstGeom prst="rect">
            <a:avLst/>
          </a:prstGeom>
          <a:pattFill prst="ltUpDiag">
            <a:fgClr>
              <a:sysClr val="window" lastClr="FFFFFF">
                <a:lumMod val="65000"/>
              </a:sysClr>
            </a:fgClr>
            <a:bgClr>
              <a:sysClr val="window" lastClr="FFFFFF"/>
            </a:bgClr>
          </a:pattFill>
          <a:ln w="9525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54" name="Text Box 21">
            <a:extLst>
              <a:ext uri="{FF2B5EF4-FFF2-40B4-BE49-F238E27FC236}">
                <a16:creationId xmlns="" xmlns:a16="http://schemas.microsoft.com/office/drawing/2014/main" id="{77A77F07-D98A-451C-AE76-B6B4285FB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876" y="4689841"/>
            <a:ext cx="2412000" cy="178912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marL="95250" indent="-95250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상세화를 위한 범위 표시</a:t>
            </a:r>
            <a:endParaRPr kumimoji="1" lang="ko-KR" altLang="en-US" sz="1200" b="1" dirty="0">
              <a:solidFill>
                <a:srgbClr val="000000"/>
              </a:solidFill>
              <a:cs typeface="Arial Unicode MS" pitchFamily="50" charset="-127"/>
              <a:sym typeface="Wingdings" pitchFamily="2" charset="2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="" xmlns:a16="http://schemas.microsoft.com/office/drawing/2014/main" id="{FCE11D21-BB28-49D5-8985-2D26365102A5}"/>
              </a:ext>
            </a:extLst>
          </p:cNvPr>
          <p:cNvSpPr/>
          <p:nvPr/>
        </p:nvSpPr>
        <p:spPr bwMode="auto">
          <a:xfrm>
            <a:off x="5272234" y="2089053"/>
            <a:ext cx="936000" cy="49036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36000" tIns="0" rIns="36000" bIns="0" rtlCol="0" anchor="ctr">
            <a:noAutofit/>
          </a:bodyPr>
          <a:lstStyle/>
          <a:p>
            <a:pPr algn="ctr" latinLnBrk="0"/>
            <a:r>
              <a:rPr kumimoji="1" lang="en-US" altLang="ko-KR" sz="1200" b="1" kern="0" dirty="0">
                <a:solidFill>
                  <a:prstClr val="black"/>
                </a:solidFill>
              </a:rPr>
              <a:t>Activity  Name</a:t>
            </a:r>
            <a:endParaRPr lang="en-US" altLang="ko-KR" sz="1200" kern="0" dirty="0">
              <a:solidFill>
                <a:prstClr val="black"/>
              </a:solidFill>
            </a:endParaRPr>
          </a:p>
        </p:txBody>
      </p:sp>
      <p:sp>
        <p:nvSpPr>
          <p:cNvPr id="58" name="Text Box 7">
            <a:extLst>
              <a:ext uri="{FF2B5EF4-FFF2-40B4-BE49-F238E27FC236}">
                <a16:creationId xmlns="" xmlns:a16="http://schemas.microsoft.com/office/drawing/2014/main" id="{28D8DB0C-6D99-431D-B654-D3B723A9B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9265" y="3455060"/>
            <a:ext cx="1296000" cy="208036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pPr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  <a:sym typeface="Wingdings" pitchFamily="2" charset="2"/>
              </a:rPr>
              <a:t>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ko-KR" altLang="en-US" sz="1200" b="1" dirty="0">
                <a:solidFill>
                  <a:srgbClr val="000000"/>
                </a:solidFill>
                <a:cs typeface="Arial Unicode MS" pitchFamily="50" charset="-127"/>
              </a:rPr>
              <a:t> </a:t>
            </a: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Task</a:t>
            </a:r>
            <a:b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</a:br>
            <a:r>
              <a:rPr kumimoji="1" lang="en-US" altLang="ko-KR" sz="1200" b="1" dirty="0">
                <a:solidFill>
                  <a:srgbClr val="000000"/>
                </a:solidFill>
                <a:cs typeface="Arial Unicode MS" pitchFamily="50" charset="-127"/>
              </a:rPr>
              <a:t>(Offline)</a:t>
            </a:r>
          </a:p>
        </p:txBody>
      </p:sp>
      <p:sp>
        <p:nvSpPr>
          <p:cNvPr id="59" name="Rectangle 11">
            <a:extLst>
              <a:ext uri="{FF2B5EF4-FFF2-40B4-BE49-F238E27FC236}">
                <a16:creationId xmlns="" xmlns:a16="http://schemas.microsoft.com/office/drawing/2014/main" id="{B2E42C41-B5AE-4927-A80D-BF30F158046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8504" y="3353197"/>
            <a:ext cx="936000" cy="41176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200" b="1" kern="0" dirty="0">
                <a:solidFill>
                  <a:prstClr val="black"/>
                </a:solidFill>
              </a:rPr>
              <a:t>Activity Name</a:t>
            </a:r>
            <a:endParaRPr kumimoji="1" lang="ko-KR" altLang="en-US" sz="1200" b="1" kern="0" dirty="0">
              <a:solidFill>
                <a:prstClr val="black"/>
              </a:solidFill>
            </a:endParaRPr>
          </a:p>
        </p:txBody>
      </p:sp>
      <p:sp>
        <p:nvSpPr>
          <p:cNvPr id="68" name="Text Box 7">
            <a:extLst>
              <a:ext uri="{FF2B5EF4-FFF2-40B4-BE49-F238E27FC236}">
                <a16:creationId xmlns="" xmlns:a16="http://schemas.microsoft.com/office/drawing/2014/main" id="{A90068D5-2FC4-4F5E-8C3D-195896A720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5008" y="5071111"/>
            <a:ext cx="4417725" cy="1094193"/>
          </a:xfrm>
          <a:prstGeom prst="rect">
            <a:avLst/>
          </a:prstGeom>
          <a:noFill/>
          <a:ln w="3175">
            <a:noFill/>
            <a:miter lim="800000"/>
            <a:headEnd type="none" w="sm" len="sm"/>
            <a:tailEnd type="none" w="sm" len="sm"/>
          </a:ln>
        </p:spPr>
        <p:txBody>
          <a:bodyPr wrap="square" anchor="ctr"/>
          <a:lstStyle/>
          <a:p>
            <a:pPr marL="180975" indent="-180975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※ AS-IS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대비 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TO-BE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변화가 없을 경우 현행 표기법 유지함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cs typeface="Arial Unicode MS" pitchFamily="50" charset="-127"/>
              <a:sym typeface="Wingdings" pitchFamily="2" charset="2"/>
            </a:endParaRPr>
          </a:p>
          <a:p>
            <a:pPr marL="180975" indent="-180975" defTabSz="762000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※ AS-IS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대비 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TO-BE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변화가 있을 경우 표기법의 색을 </a:t>
            </a:r>
            <a:r>
              <a:rPr kumimoji="1" lang="ko-KR" altLang="en-US" sz="1400" b="1" dirty="0">
                <a:solidFill>
                  <a:srgbClr val="0000CC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파란색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cs typeface="Arial Unicode MS" pitchFamily="50" charset="-127"/>
                <a:sym typeface="Wingdings" pitchFamily="2" charset="2"/>
              </a:rPr>
              <a:t>으로 변경함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cs typeface="Arial Unicode MS" pitchFamily="50" charset="-127"/>
              <a:sym typeface="Wingding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81076813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79157" y="885967"/>
            <a:ext cx="9180512" cy="623391"/>
          </a:xfrm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수작업으로</a:t>
            </a:r>
            <a:r>
              <a:rPr lang="en-US" altLang="ko-KR" smtClean="0"/>
              <a:t> </a:t>
            </a:r>
            <a:r>
              <a:rPr lang="ko-KR" altLang="en-US" smtClean="0"/>
              <a:t>처리하고 있는 중기사업계획을 시스템화하고</a:t>
            </a:r>
            <a:r>
              <a:rPr lang="en-US" altLang="ko-KR" dirty="0"/>
              <a:t>, </a:t>
            </a:r>
            <a:r>
              <a:rPr lang="ko-KR" altLang="en-US" dirty="0"/>
              <a:t>예산편성 효율화를 위해 각 부서에서 사업별 예산요구안을 정형화된 형태로 입력하여 신청하고</a:t>
            </a:r>
            <a:r>
              <a:rPr lang="en-US" altLang="ko-KR" dirty="0"/>
              <a:t>, </a:t>
            </a:r>
            <a:r>
              <a:rPr lang="ko-KR" altLang="en-US" dirty="0"/>
              <a:t>이를 취합</a:t>
            </a:r>
            <a:r>
              <a:rPr lang="en-US" altLang="ko-KR" dirty="0"/>
              <a:t>, </a:t>
            </a:r>
            <a:r>
              <a:rPr lang="ko-KR" altLang="en-US" dirty="0"/>
              <a:t>조정</a:t>
            </a:r>
            <a:r>
              <a:rPr lang="en-US" altLang="ko-KR" dirty="0"/>
              <a:t>, </a:t>
            </a:r>
            <a:r>
              <a:rPr lang="ko-KR" altLang="en-US" dirty="0"/>
              <a:t>심의</a:t>
            </a:r>
            <a:r>
              <a:rPr lang="en-US" altLang="ko-KR" dirty="0"/>
              <a:t>, </a:t>
            </a:r>
            <a:r>
              <a:rPr lang="ko-KR" altLang="en-US" dirty="0"/>
              <a:t>확정하는 처리와 예산 집행계획</a:t>
            </a:r>
            <a:r>
              <a:rPr lang="en-US" altLang="ko-KR" dirty="0"/>
              <a:t>/</a:t>
            </a:r>
            <a:r>
              <a:rPr lang="ko-KR" altLang="en-US" dirty="0"/>
              <a:t>배정</a:t>
            </a:r>
            <a:r>
              <a:rPr lang="en-US" altLang="ko-KR" dirty="0"/>
              <a:t>/</a:t>
            </a:r>
            <a:r>
              <a:rPr lang="ko-KR" altLang="en-US" dirty="0"/>
              <a:t>변경</a:t>
            </a:r>
            <a:r>
              <a:rPr lang="en-US" altLang="ko-KR" dirty="0"/>
              <a:t>(</a:t>
            </a:r>
            <a:r>
              <a:rPr lang="ko-KR" altLang="en-US" dirty="0"/>
              <a:t>전용</a:t>
            </a:r>
            <a:r>
              <a:rPr lang="en-US" altLang="ko-KR" dirty="0"/>
              <a:t>,</a:t>
            </a:r>
            <a:r>
              <a:rPr lang="ko-KR" altLang="en-US" dirty="0"/>
              <a:t>추경</a:t>
            </a:r>
            <a:r>
              <a:rPr lang="en-US" altLang="ko-KR" dirty="0"/>
              <a:t>)/</a:t>
            </a:r>
            <a:r>
              <a:rPr lang="ko-KR" altLang="en-US" dirty="0"/>
              <a:t>집행</a:t>
            </a:r>
            <a:r>
              <a:rPr lang="en-US" altLang="ko-KR" dirty="0"/>
              <a:t>/</a:t>
            </a:r>
            <a:r>
              <a:rPr lang="ko-KR" altLang="en-US" dirty="0"/>
              <a:t>결산하는 과정을 체계적으로 개선함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</a:t>
            </a:r>
            <a:r>
              <a:rPr lang="ko-KR" altLang="en-US">
                <a:solidFill>
                  <a:prstClr val="black"/>
                </a:solidFill>
              </a:rPr>
              <a:t>업무프로세스 </a:t>
            </a:r>
            <a:r>
              <a:rPr lang="ko-KR" altLang="en-US" smtClean="0">
                <a:solidFill>
                  <a:prstClr val="black"/>
                </a:solidFill>
              </a:rPr>
              <a:t>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52800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1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1.2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중기사업계획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316" idx="0"/>
          </p:cNvCxnSpPr>
          <p:nvPr/>
        </p:nvCxnSpPr>
        <p:spPr bwMode="auto">
          <a:xfrm rot="5400000">
            <a:off x="3952042" y="1386945"/>
            <a:ext cx="270790" cy="24093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1.2.1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작성요청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>
            <a:off x="28827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058161"/>
            <a:ext cx="82633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>
                <a:solidFill>
                  <a:prstClr val="white"/>
                </a:solidFill>
                <a:latin typeface="+mn-ea"/>
              </a:rPr>
              <a:t>1</a:t>
            </a:r>
            <a:r>
              <a:rPr lang="en-US" altLang="ko-KR" sz="1300" b="1" kern="0" smtClean="0">
                <a:solidFill>
                  <a:prstClr val="white"/>
                </a:solidFill>
                <a:latin typeface="+mn-ea"/>
              </a:rPr>
              <a:t>. </a:t>
            </a:r>
            <a:r>
              <a:rPr lang="ko-KR" altLang="en-US" sz="1300" b="1" kern="0" dirty="0">
                <a:solidFill>
                  <a:prstClr val="white"/>
                </a:solidFill>
                <a:latin typeface="+mn-ea"/>
              </a:rPr>
              <a:t>예산관리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1.3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예산편성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5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예산배정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2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1.5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예산절감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39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1.6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+mn-ea"/>
              </a:rPr>
              <a:t>예산변경</a:t>
            </a: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cxnSpLocks/>
            <a:stCxn id="320" idx="2"/>
            <a:endCxn id="324" idx="0"/>
          </p:cNvCxnSpPr>
          <p:nvPr/>
        </p:nvCxnSpPr>
        <p:spPr bwMode="auto">
          <a:xfrm rot="16200000" flipH="1">
            <a:off x="6361441" y="1386943"/>
            <a:ext cx="270790" cy="240940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cxnSpLocks/>
            <a:stCxn id="320" idx="2"/>
            <a:endCxn id="321" idx="0"/>
          </p:cNvCxnSpPr>
          <p:nvPr/>
        </p:nvCxnSpPr>
        <p:spPr bwMode="auto">
          <a:xfrm rot="5400000">
            <a:off x="4554392" y="1989295"/>
            <a:ext cx="270790" cy="12046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cxnSpLocks/>
            <a:stCxn id="320" idx="2"/>
            <a:endCxn id="322" idx="0"/>
          </p:cNvCxnSpPr>
          <p:nvPr/>
        </p:nvCxnSpPr>
        <p:spPr bwMode="auto">
          <a:xfrm rot="16200000" flipH="1">
            <a:off x="5156741" y="2591643"/>
            <a:ext cx="270790" cy="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cxnSpLocks/>
            <a:stCxn id="320" idx="2"/>
            <a:endCxn id="323" idx="0"/>
          </p:cNvCxnSpPr>
          <p:nvPr/>
        </p:nvCxnSpPr>
        <p:spPr bwMode="auto">
          <a:xfrm rot="16200000" flipH="1">
            <a:off x="5759091" y="1989293"/>
            <a:ext cx="270790" cy="120470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2" y="3392997"/>
            <a:ext cx="1035169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1.3.1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예산편성지침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6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1.4.1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예산집행계획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1.6.1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예산변경신청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3946770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예산요구입력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4500543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예산요구확정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5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5051406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예산안조정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623" y="394677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1.4.2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정기배정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4087437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>
            <a:off x="52921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>
            <a:off x="6496837" y="3126413"/>
            <a:ext cx="35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>
            <a:off x="77015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4087437" y="3815738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5292172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4087437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4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4" idx="2"/>
            <a:endCxn id="335" idx="0"/>
          </p:cNvCxnSpPr>
          <p:nvPr/>
        </p:nvCxnSpPr>
        <p:spPr bwMode="auto">
          <a:xfrm>
            <a:off x="4087437" y="492328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5" name="Rectangle 43">
            <a:extLst>
              <a:ext uri="{FF2B5EF4-FFF2-40B4-BE49-F238E27FC236}">
                <a16:creationId xmlns="" xmlns:a16="http://schemas.microsoft.com/office/drawing/2014/main" id="{5EA76E40-3173-4A0C-B239-99BF3DD71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651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1.7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00"/>
                </a:solidFill>
                <a:latin typeface="+mn-ea"/>
              </a:rPr>
              <a:t>예산결산</a:t>
            </a:r>
          </a:p>
        </p:txBody>
      </p:sp>
      <p:cxnSp>
        <p:nvCxnSpPr>
          <p:cNvPr id="346" name="꺾인 연결선 69">
            <a:extLst>
              <a:ext uri="{FF2B5EF4-FFF2-40B4-BE49-F238E27FC236}">
                <a16:creationId xmlns="" xmlns:a16="http://schemas.microsoft.com/office/drawing/2014/main" id="{135AD304-C4D2-4D92-8163-BDD70B7D769A}"/>
              </a:ext>
            </a:extLst>
          </p:cNvPr>
          <p:cNvCxnSpPr>
            <a:cxnSpLocks/>
            <a:stCxn id="320" idx="2"/>
            <a:endCxn id="345" idx="0"/>
          </p:cNvCxnSpPr>
          <p:nvPr/>
        </p:nvCxnSpPr>
        <p:spPr bwMode="auto">
          <a:xfrm rot="16200000" flipH="1">
            <a:off x="6963790" y="784594"/>
            <a:ext cx="270790" cy="36140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48" name="꺾인 연결선 91">
            <a:extLst>
              <a:ext uri="{FF2B5EF4-FFF2-40B4-BE49-F238E27FC236}">
                <a16:creationId xmlns="" xmlns:a16="http://schemas.microsoft.com/office/drawing/2014/main" id="{B7342035-BFB6-4623-978A-0DD668652F6A}"/>
              </a:ext>
            </a:extLst>
          </p:cNvPr>
          <p:cNvCxnSpPr>
            <a:cxnSpLocks/>
            <a:stCxn id="345" idx="2"/>
            <a:endCxn id="63" idx="0"/>
          </p:cNvCxnSpPr>
          <p:nvPr/>
        </p:nvCxnSpPr>
        <p:spPr bwMode="auto">
          <a:xfrm>
            <a:off x="8906235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323" y="3403352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1.5.1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절감목표등록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323" y="3959098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1.5.2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절감승인요쳥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6496872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1.2.2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사업계획작성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44965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1.2.3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사업계획취합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5" name="Rectangle 43">
            <a:extLst>
              <a:ext uri="{FF2B5EF4-FFF2-40B4-BE49-F238E27FC236}">
                <a16:creationId xmlns="" xmlns:a16="http://schemas.microsoft.com/office/drawing/2014/main" id="{376807C9-270C-4295-BADB-AB6D87D4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505140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1.2.4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사업계획승인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2882772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2882772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8" name="꺾인 연결선 91">
            <a:extLst>
              <a:ext uri="{FF2B5EF4-FFF2-40B4-BE49-F238E27FC236}">
                <a16:creationId xmlns="" xmlns:a16="http://schemas.microsoft.com/office/drawing/2014/main" id="{BC32C143-0962-4169-9BDC-CE51A8DF9DB6}"/>
              </a:ext>
            </a:extLst>
          </p:cNvPr>
          <p:cNvCxnSpPr>
            <a:stCxn id="354" idx="2"/>
            <a:endCxn id="355" idx="0"/>
          </p:cNvCxnSpPr>
          <p:nvPr/>
        </p:nvCxnSpPr>
        <p:spPr bwMode="auto">
          <a:xfrm>
            <a:off x="2882772" y="4919337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9" name="Rectangle 43">
            <a:extLst>
              <a:ext uri="{FF2B5EF4-FFF2-40B4-BE49-F238E27FC236}">
                <a16:creationId xmlns="" xmlns:a16="http://schemas.microsoft.com/office/drawing/2014/main" id="{183944B1-7232-4A5E-8628-B115F000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560674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1.2.5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사업실행계획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61" name="꺾인 연결선 91">
            <a:extLst>
              <a:ext uri="{FF2B5EF4-FFF2-40B4-BE49-F238E27FC236}">
                <a16:creationId xmlns="" xmlns:a16="http://schemas.microsoft.com/office/drawing/2014/main" id="{3D7259BF-8F70-46BF-880C-8A50AA91A40A}"/>
              </a:ext>
            </a:extLst>
          </p:cNvPr>
          <p:cNvCxnSpPr>
            <a:stCxn id="355" idx="2"/>
            <a:endCxn id="359" idx="0"/>
          </p:cNvCxnSpPr>
          <p:nvPr/>
        </p:nvCxnSpPr>
        <p:spPr bwMode="auto">
          <a:xfrm>
            <a:off x="2882772" y="5474147"/>
            <a:ext cx="0" cy="13259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62" name="Rectangle 43">
            <a:extLst>
              <a:ext uri="{FF2B5EF4-FFF2-40B4-BE49-F238E27FC236}">
                <a16:creationId xmlns="" xmlns:a16="http://schemas.microsoft.com/office/drawing/2014/main" id="{1CCFF26E-1B5E-4C0E-B6D9-8BF7DF72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5608920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1.3.5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예산확정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63" name="꺾인 연결선 91">
            <a:extLst>
              <a:ext uri="{FF2B5EF4-FFF2-40B4-BE49-F238E27FC236}">
                <a16:creationId xmlns="" xmlns:a16="http://schemas.microsoft.com/office/drawing/2014/main" id="{857CB15F-5C89-4B02-9508-F2A9338609C1}"/>
              </a:ext>
            </a:extLst>
          </p:cNvPr>
          <p:cNvCxnSpPr>
            <a:stCxn id="335" idx="2"/>
            <a:endCxn id="362" idx="0"/>
          </p:cNvCxnSpPr>
          <p:nvPr/>
        </p:nvCxnSpPr>
        <p:spPr bwMode="auto">
          <a:xfrm>
            <a:off x="4087437" y="5474147"/>
            <a:ext cx="0" cy="13477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23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1.6.2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dirty="0">
                <a:solidFill>
                  <a:srgbClr val="000000"/>
                </a:solidFill>
                <a:latin typeface="+mn-ea"/>
              </a:rPr>
              <a:t>예산변경승인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7701572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" name="Rectangle 43">
            <a:extLst>
              <a:ext uri="{FF2B5EF4-FFF2-40B4-BE49-F238E27FC236}">
                <a16:creationId xmlns="" xmlns:a16="http://schemas.microsoft.com/office/drawing/2014/main" id="{9F316396-9A47-439A-9482-65354621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721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1.7.1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잔액불용처리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9DED2B55-68C8-41A5-BDA5-81831BDF0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721" y="394479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1.7.2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예산이월처리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65" name="꺾인 연결선 91">
            <a:extLst>
              <a:ext uri="{FF2B5EF4-FFF2-40B4-BE49-F238E27FC236}">
                <a16:creationId xmlns="" xmlns:a16="http://schemas.microsoft.com/office/drawing/2014/main" id="{2B41A8A5-8167-45A0-ABA9-096F9E17219E}"/>
              </a:ext>
            </a:extLst>
          </p:cNvPr>
          <p:cNvCxnSpPr>
            <a:cxnSpLocks/>
            <a:stCxn id="64" idx="0"/>
            <a:endCxn id="63" idx="2"/>
          </p:cNvCxnSpPr>
          <p:nvPr/>
        </p:nvCxnSpPr>
        <p:spPr bwMode="auto">
          <a:xfrm flipV="1">
            <a:off x="8906270" y="3815737"/>
            <a:ext cx="0" cy="12905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Level1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Level2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Level3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Rectangle 43">
            <a:extLst>
              <a:ext uri="{FF2B5EF4-FFF2-40B4-BE49-F238E27FC236}">
                <a16:creationId xmlns="" xmlns:a16="http://schemas.microsoft.com/office/drawing/2014/main" id="{E3D82401-A830-0602-D55A-3D7323EE7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724418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00"/>
                </a:solidFill>
                <a:latin typeface="+mn-ea"/>
              </a:rPr>
              <a:t>1.1 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예산기준정보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1" name="Rectangle 43">
            <a:extLst>
              <a:ext uri="{FF2B5EF4-FFF2-40B4-BE49-F238E27FC236}">
                <a16:creationId xmlns="" xmlns:a16="http://schemas.microsoft.com/office/drawing/2014/main" id="{8C7218AA-FA01-AE9E-4347-DEE45D2A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3903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1.1.1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사업기준정보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2" name="Rectangle 43">
            <a:extLst>
              <a:ext uri="{FF2B5EF4-FFF2-40B4-BE49-F238E27FC236}">
                <a16:creationId xmlns="" xmlns:a16="http://schemas.microsoft.com/office/drawing/2014/main" id="{85039B3D-D699-ACE0-8607-D30FCBAC3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9421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 err="1">
                <a:latin typeface="+mn-ea"/>
              </a:rPr>
              <a:t>예산코드관리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3" name="Rectangle 43">
            <a:extLst>
              <a:ext uri="{FF2B5EF4-FFF2-40B4-BE49-F238E27FC236}">
                <a16:creationId xmlns="" xmlns:a16="http://schemas.microsoft.com/office/drawing/2014/main" id="{318A1D3C-FCE5-FC6A-4E77-B5408E83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44939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latin typeface="+mn-ea"/>
              </a:rPr>
              <a:t>1.1.3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latin typeface="+mn-ea"/>
              </a:rPr>
              <a:t>예산항목정의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4" name="Rectangle 43">
            <a:extLst>
              <a:ext uri="{FF2B5EF4-FFF2-40B4-BE49-F238E27FC236}">
                <a16:creationId xmlns="" xmlns:a16="http://schemas.microsoft.com/office/drawing/2014/main" id="{F9CE4552-706A-773D-CCD3-003F657CC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504878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예산통제기준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9" name="Rectangle 43">
            <a:extLst>
              <a:ext uri="{FF2B5EF4-FFF2-40B4-BE49-F238E27FC236}">
                <a16:creationId xmlns="" xmlns:a16="http://schemas.microsoft.com/office/drawing/2014/main" id="{3D700D45-EAF3-D7AF-CF3C-D69E7181D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721" y="450996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dirty="0">
                <a:solidFill>
                  <a:srgbClr val="0000CC"/>
                </a:solidFill>
                <a:latin typeface="+mn-ea"/>
              </a:rPr>
              <a:t>1.7.3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dirty="0">
                <a:solidFill>
                  <a:srgbClr val="0000CC"/>
                </a:solidFill>
                <a:latin typeface="+mn-ea"/>
              </a:rPr>
              <a:t>예산결산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41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248" y="451842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1.6.3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예산변경반영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42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41" idx="0"/>
            <a:endCxn id="59" idx="2"/>
          </p:cNvCxnSpPr>
          <p:nvPr/>
        </p:nvCxnSpPr>
        <p:spPr bwMode="auto">
          <a:xfrm flipH="1" flipV="1">
            <a:off x="7701572" y="4367537"/>
            <a:ext cx="1225" cy="1508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3" name="꺾인 연결선 91">
            <a:extLst>
              <a:ext uri="{FF2B5EF4-FFF2-40B4-BE49-F238E27FC236}">
                <a16:creationId xmlns="" xmlns:a16="http://schemas.microsoft.com/office/drawing/2014/main" id="{D830CFAD-B46E-C771-8872-15FC35C0916D}"/>
              </a:ext>
            </a:extLst>
          </p:cNvPr>
          <p:cNvCxnSpPr>
            <a:cxnSpLocks/>
            <a:stCxn id="39" idx="0"/>
            <a:endCxn id="64" idx="2"/>
          </p:cNvCxnSpPr>
          <p:nvPr/>
        </p:nvCxnSpPr>
        <p:spPr bwMode="auto">
          <a:xfrm flipV="1">
            <a:off x="8906270" y="4367536"/>
            <a:ext cx="0" cy="14242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1" name="제목 2">
            <a:extLst>
              <a:ext uri="{FF2B5EF4-FFF2-40B4-BE49-F238E27FC236}">
                <a16:creationId xmlns="" xmlns:a16="http://schemas.microsoft.com/office/drawing/2014/main" id="{9551AA14-AB9F-55B5-4876-85ECDC318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dirty="0"/>
              <a:t>3.2.1 </a:t>
            </a:r>
            <a:r>
              <a:rPr lang="ko-KR" altLang="en-US" dirty="0"/>
              <a:t>예산관리</a:t>
            </a:r>
            <a:r>
              <a:rPr lang="en-US" altLang="ko-KR" dirty="0"/>
              <a:t> </a:t>
            </a:r>
            <a:r>
              <a:rPr lang="ko-KR" altLang="en-US" dirty="0"/>
              <a:t>업무분류 및 기능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1800" dirty="0"/>
              <a:t>3.</a:t>
            </a:r>
            <a:r>
              <a:rPr lang="en-US" altLang="ko-KR" sz="1800" dirty="0">
                <a:solidFill>
                  <a:prstClr val="black"/>
                </a:solidFill>
              </a:rPr>
              <a:t>2.1.1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업무분류 구조도</a:t>
            </a:r>
            <a:endParaRPr lang="ko-KR" altLang="en-US" sz="1800" dirty="0"/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3396" y="4500543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1.4.3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수시배정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71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20" idx="0"/>
          </p:cNvCxnSpPr>
          <p:nvPr/>
        </p:nvCxnSpPr>
        <p:spPr bwMode="auto">
          <a:xfrm rot="5400000">
            <a:off x="3351003" y="783284"/>
            <a:ext cx="268169" cy="36140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0" idx="2"/>
            <a:endCxn id="21" idx="0"/>
          </p:cNvCxnSpPr>
          <p:nvPr/>
        </p:nvCxnSpPr>
        <p:spPr bwMode="auto">
          <a:xfrm flipH="1">
            <a:off x="1678002" y="3123792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1" idx="2"/>
            <a:endCxn id="22" idx="0"/>
          </p:cNvCxnSpPr>
          <p:nvPr/>
        </p:nvCxnSpPr>
        <p:spPr bwMode="auto">
          <a:xfrm>
            <a:off x="1678002" y="38131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2" idx="2"/>
            <a:endCxn id="23" idx="0"/>
          </p:cNvCxnSpPr>
          <p:nvPr/>
        </p:nvCxnSpPr>
        <p:spPr bwMode="auto">
          <a:xfrm>
            <a:off x="1678002" y="43649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3" idx="2"/>
            <a:endCxn id="24" idx="0"/>
          </p:cNvCxnSpPr>
          <p:nvPr/>
        </p:nvCxnSpPr>
        <p:spPr bwMode="auto">
          <a:xfrm>
            <a:off x="1678002" y="4916716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23" y="5049239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1.6.4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추경예산편성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88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87" idx="0"/>
            <a:endCxn id="41" idx="2"/>
          </p:cNvCxnSpPr>
          <p:nvPr/>
        </p:nvCxnSpPr>
        <p:spPr bwMode="auto">
          <a:xfrm flipV="1">
            <a:off x="7701572" y="4941168"/>
            <a:ext cx="1225" cy="10807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3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75" y="449774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1.5.3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절감목표반영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7921654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기준자료를 체계화하고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중기사업계획을 </a:t>
            </a:r>
            <a:r>
              <a:rPr lang="ko-KR" altLang="en-US" err="1">
                <a:latin typeface="+mn-ea"/>
                <a:ea typeface="+mn-ea"/>
              </a:rPr>
              <a:t>시스템화하여</a:t>
            </a:r>
            <a:r>
              <a:rPr lang="ko-KR" altLang="en-US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사업기획 단계부터 </a:t>
            </a:r>
            <a:r>
              <a:rPr lang="ko-KR" altLang="en-US" dirty="0" err="1">
                <a:latin typeface="+mn-ea"/>
                <a:ea typeface="+mn-ea"/>
              </a:rPr>
              <a:t>단년도</a:t>
            </a:r>
            <a:r>
              <a:rPr lang="ko-KR" altLang="en-US" dirty="0">
                <a:latin typeface="+mn-ea"/>
                <a:ea typeface="+mn-ea"/>
              </a:rPr>
              <a:t> 예산의 편성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집행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 통제</a:t>
            </a:r>
            <a:r>
              <a:rPr lang="en-US" altLang="ko-KR" dirty="0">
                <a:latin typeface="+mn-ea"/>
                <a:ea typeface="+mn-ea"/>
              </a:rPr>
              <a:t>/</a:t>
            </a:r>
            <a:r>
              <a:rPr lang="ko-KR" altLang="en-US" dirty="0">
                <a:latin typeface="+mn-ea"/>
                <a:ea typeface="+mn-ea"/>
              </a:rPr>
              <a:t>결산하는 기능을 세분화하여 관리함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3.2.1 </a:t>
            </a:r>
            <a:r>
              <a:rPr lang="ko-KR" altLang="en-US" dirty="0"/>
              <a:t>예산관리</a:t>
            </a:r>
            <a:r>
              <a:rPr lang="en-US" altLang="ko-KR" dirty="0"/>
              <a:t> </a:t>
            </a:r>
            <a:r>
              <a:rPr lang="ko-KR" altLang="en-US" dirty="0"/>
              <a:t>업무분류 및 기능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</a:t>
            </a:r>
            <a:r>
              <a:rPr lang="en-US" altLang="ko-KR" sz="1800" dirty="0">
                <a:solidFill>
                  <a:prstClr val="black"/>
                </a:solidFill>
              </a:rPr>
              <a:t>2.1.2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955471"/>
              </p:ext>
            </p:extLst>
          </p:nvPr>
        </p:nvGraphicFramePr>
        <p:xfrm>
          <a:off x="354520" y="1628775"/>
          <a:ext cx="9180512" cy="4689660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43268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43268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기준정보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예산시스템 관리에 필요한 기준정보 및 관리기준 정보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예산파트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사업별 세부기준자료 및 예산코드 체계화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예산편성항목의 정형화 및 통제기준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 기준정보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대분류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중분류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단위사업 체계의 사업별 기준정보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55330139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예산코드 관리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지출예산의 코드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체계화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항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세목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557783185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예산항목 정의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편성항목별 정형화 기준과 회계연결 및 예산 통제방법 정의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48509401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예산통제 기준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예산편성차수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연도별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요율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환율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등의 편성 기준자료와 권한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3555722"/>
                  </a:ext>
                </a:extLst>
              </a:tr>
              <a:tr h="243268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중기사업계획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중기사업계획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연도별 수입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지출계획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을 작성하여 기준정보로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맑은 고딕" pitchFamily="50" charset="-127"/>
                          <a:ea typeface="+mn-ea"/>
                        </a:rPr>
                        <a:t>예산파트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수작업으로 처리 중인  중기사업계획을 전산화하여 사업관리 기준 및 업무 편의성을 향상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58059666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계획작성요청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사업담당자에게 중기사업계획 작성 요청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사업계획작성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사업별 중기사업계획 작성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당해연도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+ 4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작성된 전체 중기사업계획을 취합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사업계획승인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취합완료된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중기사업계획에 대한 승인 요청 및 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사업실행계획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실행되는 사업의 단계별 사업계획 등록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43268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예산편성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부서의 사업별 예산요구내역을 취합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조정하여 예산을 편성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예산파트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총액 관리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방식에서 정형화되고 세분화된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근거를관리하는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방식으로 전환하여 일관되고 명확한 예산편성과 다양한 예산분석 체계를 마련하여 효율적인 예산편성과 내역사업별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Life-Cycle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관리가 가능하도록 개선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721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편성지침관리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사업편성 기준자료의 준비 및 편성지침을 등록하여 배포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예산요구입력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부서에서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단년도의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사업별 예산을 정형적으로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721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예산요구조정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부서에서 작성된 예산요구내역을 전체 예산에 맞게 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예산심의자료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조정완료된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예산을 심의자료로 제공하는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3268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예산확정처리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심의 완료된 예산을 최종적으로 확정하는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4696646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예산관리 업무프로세스 개선안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7252689"/>
              </p:ext>
            </p:extLst>
          </p:nvPr>
        </p:nvGraphicFramePr>
        <p:xfrm>
          <a:off x="350002" y="881351"/>
          <a:ext cx="9180514" cy="5427377"/>
        </p:xfrm>
        <a:graphic>
          <a:graphicData uri="http://schemas.openxmlformats.org/drawingml/2006/table">
            <a:tbl>
              <a:tblPr firstRow="1" bandRow="1"/>
              <a:tblGrid>
                <a:gridCol w="4012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6747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23172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예산배정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부서로부터의 예산 집행계획을 받아서 예산을 배정하는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예산파트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예산을 편성한 각 부서의 연간 월별 집행계획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배정요청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을 받아서 배정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현재의 연간 배정체제를 분기배정으로 변경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23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예산집행계획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각 부서에서 예산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건별로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연간 월별 집행계획을 작성하는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dirty="0">
                          <a:latin typeface="+mn-ea"/>
                          <a:ea typeface="+mn-ea"/>
                        </a:rPr>
                        <a:t>예산배정처리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업무부서에서 작성한 배정요청에 따라 예산을 배정하는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수시배정관리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긴급한 추가 배정요청사항을 받아서 승인 후 배정하는 업무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267475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</a:t>
                      </a:r>
                      <a:endParaRPr lang="en-US" altLang="ko-KR" sz="1000" b="1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목표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부서별로 예산절감 목표를 관리하여 예산을 절감하는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예산파트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절감목표를 관리할 수 있는 기능을 구현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절감목표등록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건별로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예산절감목표액을 등록하여 부서장이 승인하는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절감목표확정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절감 목표액을 배정액에서 차감하여 사용하지 않도록 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434646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예산이용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 등의 변경요청사항을 받아서 결재 후 반영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2)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추경예산 편성 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연간 예산편성에 준하는 절차로 예산 편성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예산파트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별도의 추경예산 입력 및 예산서 출력 기능 구축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323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예산변경신청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예산변경</a:t>
                      </a:r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사항 발생 시 예산변경을 신청하는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23172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예산변경승인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baseline="0" dirty="0">
                          <a:latin typeface="+mn-ea"/>
                          <a:ea typeface="+mn-ea"/>
                        </a:rPr>
                        <a:t>신청된 예산변경사항을 승인하고 예산에 반영하는 업무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예산변경반영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변경이 확정된 예산을 반영하는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추경예산편성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추경예산 편성 입력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부서장 승인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조정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확정하는 업무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775112120"/>
                  </a:ext>
                </a:extLst>
              </a:tr>
              <a:tr h="434646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예산결산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예산집행실적을 관리하고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연말 결산시점에 예산잔액에 대한 불용 처리 및 사유별 이월처리를 수행하고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예산결산 자료를 조회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출력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예산파트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예산파트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예산집행 </a:t>
                      </a:r>
                      <a:r>
                        <a:rPr lang="ko-KR" altLang="en-US" sz="1000" b="0">
                          <a:latin typeface="+mn-ea"/>
                          <a:ea typeface="+mn-ea"/>
                        </a:rPr>
                        <a:t>신청시점에 </a:t>
                      </a:r>
                      <a:r>
                        <a:rPr lang="ko-KR" altLang="en-US" sz="1000" b="0" dirty="0" err="1">
                          <a:latin typeface="+mn-ea"/>
                          <a:ea typeface="+mn-ea"/>
                        </a:rPr>
                        <a:t>예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산한도액과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비교하여 온라인 통제 시행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결산 처리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이월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불용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예산결산서 생성 기능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231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예산잔액불용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>
                          <a:latin typeface="+mn-ea"/>
                          <a:ea typeface="+mn-ea"/>
                        </a:rPr>
                        <a:t>예산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잔액을 불용처리하여 예산 집행실적을 마감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 err="1">
                          <a:latin typeface="+mn-ea"/>
                          <a:ea typeface="+mn-ea"/>
                        </a:rPr>
                        <a:t>예산이월처리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명시이월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사고이월</a:t>
                      </a:r>
                      <a:r>
                        <a:rPr lang="en-US" altLang="ko-KR" sz="1000" b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계속비이월 등 예산이월 처리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674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latin typeface="+mn-ea"/>
                          <a:ea typeface="+mn-ea"/>
                        </a:rPr>
                        <a:t>예산결산현황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예산결산 현황 조회 및 결산서 출력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634768325"/>
                  </a:ext>
                </a:extLst>
              </a:tr>
            </a:tbl>
          </a:graphicData>
        </a:graphic>
      </p:graphicFrame>
      <p:sp>
        <p:nvSpPr>
          <p:cNvPr id="10" name="제목 2">
            <a:extLst>
              <a:ext uri="{FF2B5EF4-FFF2-40B4-BE49-F238E27FC236}">
                <a16:creationId xmlns="" xmlns:a16="http://schemas.microsoft.com/office/drawing/2014/main" id="{C0E42CB6-E8AF-E644-9D0E-99DEEE340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dirty="0"/>
              <a:t>3.2.1 </a:t>
            </a:r>
            <a:r>
              <a:rPr lang="ko-KR" altLang="en-US" dirty="0"/>
              <a:t>예산관리</a:t>
            </a:r>
            <a:r>
              <a:rPr lang="en-US" altLang="ko-KR" dirty="0"/>
              <a:t> </a:t>
            </a:r>
            <a:r>
              <a:rPr lang="ko-KR" altLang="en-US" dirty="0"/>
              <a:t>업무분류 및 기능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</a:t>
            </a:r>
            <a:r>
              <a:rPr lang="en-US" altLang="ko-KR" sz="1800" dirty="0">
                <a:solidFill>
                  <a:prstClr val="black"/>
                </a:solidFill>
              </a:rPr>
              <a:t>2.1.2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2/2)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37387028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사업코드 체계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예산코드 체계 및 예산편성 내역의 정형화를 위한 예산항목 관리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예산항목의 계정코드 연결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편성된 예산에 대한 통제 방법 및 권한 부여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 편성 통제를 위한 차수관리 등의 기준정보를 관리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7844453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예산기준정보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996570"/>
              </p:ext>
            </p:extLst>
          </p:nvPr>
        </p:nvGraphicFramePr>
        <p:xfrm>
          <a:off x="344488" y="1988840"/>
          <a:ext cx="9181020" cy="4233321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076230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사업정보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예산코드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1.1.3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예산항목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1.1.4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예산통제 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코레일테그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41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33219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사업수행사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1" name="직사각형 120"/>
          <p:cNvSpPr/>
          <p:nvPr/>
        </p:nvSpPr>
        <p:spPr bwMode="auto">
          <a:xfrm>
            <a:off x="1885561" y="505244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2. </a:t>
            </a:r>
            <a:r>
              <a:rPr lang="ko-KR" altLang="en-US" sz="900" kern="0" dirty="0"/>
              <a:t>사업정보 추가 등록</a:t>
            </a:r>
            <a:endParaRPr lang="en-US" altLang="ko-KR" sz="900" kern="0" dirty="0"/>
          </a:p>
        </p:txBody>
      </p:sp>
      <p:sp>
        <p:nvSpPr>
          <p:cNvPr id="126" name="직사각형 125"/>
          <p:cNvSpPr/>
          <p:nvPr/>
        </p:nvSpPr>
        <p:spPr bwMode="auto">
          <a:xfrm>
            <a:off x="6393160" y="41883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편성항목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   계정 연결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4" name="직사각형 143"/>
          <p:cNvSpPr/>
          <p:nvPr/>
        </p:nvSpPr>
        <p:spPr bwMode="auto">
          <a:xfrm>
            <a:off x="5817096" y="253187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 편성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    항목 생성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67"/>
          <p:cNvGrpSpPr/>
          <p:nvPr/>
        </p:nvGrpSpPr>
        <p:grpSpPr>
          <a:xfrm flipH="1" flipV="1">
            <a:off x="2432719" y="4224343"/>
            <a:ext cx="274909" cy="832341"/>
            <a:chOff x="3031001" y="4361424"/>
            <a:chExt cx="265281" cy="327705"/>
          </a:xfrm>
        </p:grpSpPr>
        <p:sp>
          <p:nvSpPr>
            <p:cNvPr id="147" name="Line 175"/>
            <p:cNvSpPr>
              <a:spLocks noChangeShapeType="1"/>
            </p:cNvSpPr>
            <p:nvPr/>
          </p:nvSpPr>
          <p:spPr bwMode="auto">
            <a:xfrm flipH="1">
              <a:off x="3121055" y="4361424"/>
              <a:ext cx="175227" cy="153776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Freeform 176"/>
            <p:cNvSpPr>
              <a:spLocks noChangeArrowheads="1"/>
            </p:cNvSpPr>
            <p:nvPr/>
          </p:nvSpPr>
          <p:spPr bwMode="auto">
            <a:xfrm flipH="1">
              <a:off x="3031001" y="4406904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49" name="Rectangle 179"/>
          <p:cNvSpPr>
            <a:spLocks noChangeArrowheads="1"/>
          </p:cNvSpPr>
          <p:nvPr/>
        </p:nvSpPr>
        <p:spPr bwMode="auto">
          <a:xfrm flipH="1">
            <a:off x="2663830" y="4212552"/>
            <a:ext cx="965951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회계처리기준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 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집행분류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과세구분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전용계좌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원가구분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사업성격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 </a:t>
            </a: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업력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 smtClean="0"/>
              <a:t>업무 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1/7)</a:t>
            </a:r>
            <a:endParaRPr lang="ko-KR" altLang="en-US" sz="1800" dirty="0"/>
          </a:p>
        </p:txBody>
      </p:sp>
      <p:grpSp>
        <p:nvGrpSpPr>
          <p:cNvPr id="13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280592" y="4475857"/>
            <a:ext cx="756425" cy="410305"/>
            <a:chOff x="1696424" y="2542858"/>
            <a:chExt cx="756425" cy="410305"/>
          </a:xfrm>
        </p:grpSpPr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" name="육각형 1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사업발생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85561" y="28922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1. </a:t>
            </a:r>
            <a:r>
              <a:rPr lang="ko-KR" altLang="en-US" sz="900" kern="0" dirty="0"/>
              <a:t>사업코드 부여 </a:t>
            </a:r>
            <a:endParaRPr lang="en-US" altLang="ko-KR" sz="900" kern="0" dirty="0"/>
          </a:p>
        </p:txBody>
      </p:sp>
      <p:cxnSp>
        <p:nvCxnSpPr>
          <p:cNvPr id="20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endCxn id="19" idx="1"/>
          </p:cNvCxnSpPr>
          <p:nvPr/>
        </p:nvCxnSpPr>
        <p:spPr bwMode="auto">
          <a:xfrm rot="5400000" flipH="1" flipV="1">
            <a:off x="1045966" y="3647258"/>
            <a:ext cx="1434261" cy="24492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2260914" y="2554852"/>
            <a:ext cx="200503" cy="335790"/>
            <a:chOff x="3031001" y="4549936"/>
            <a:chExt cx="419948" cy="393230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329892" cy="29850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82815" y="2551533"/>
            <a:ext cx="11095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사업코드 부여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사업 기본정보 등록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3512840" y="303041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1. </a:t>
            </a:r>
            <a:r>
              <a:rPr lang="ko-KR" altLang="en-US" sz="900" kern="0" dirty="0"/>
              <a:t>예산코드 등록</a:t>
            </a:r>
            <a:endParaRPr lang="en-US" altLang="ko-KR" sz="900" kern="0" dirty="0"/>
          </a:p>
        </p:txBody>
      </p:sp>
      <p:grpSp>
        <p:nvGrpSpPr>
          <p:cNvPr id="75" name="그룹 67">
            <a:extLst>
              <a:ext uri="{FF2B5EF4-FFF2-40B4-BE49-F238E27FC236}">
                <a16:creationId xmlns="" xmlns:a16="http://schemas.microsoft.com/office/drawing/2014/main" id="{60CB3413-AE3A-E426-7FFB-B1AE94C79A6B}"/>
              </a:ext>
            </a:extLst>
          </p:cNvPr>
          <p:cNvGrpSpPr/>
          <p:nvPr/>
        </p:nvGrpSpPr>
        <p:grpSpPr>
          <a:xfrm flipH="1">
            <a:off x="3880097" y="2708920"/>
            <a:ext cx="288013" cy="321493"/>
            <a:chOff x="3031001" y="4549936"/>
            <a:chExt cx="402440" cy="321493"/>
          </a:xfrm>
        </p:grpSpPr>
        <p:sp>
          <p:nvSpPr>
            <p:cNvPr id="76" name="Line 175">
              <a:extLst>
                <a:ext uri="{FF2B5EF4-FFF2-40B4-BE49-F238E27FC236}">
                  <a16:creationId xmlns="" xmlns:a16="http://schemas.microsoft.com/office/drawing/2014/main" id="{C8E28283-FE2E-F7EC-0762-3D6AFDAA2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312384" cy="226765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176">
              <a:extLst>
                <a:ext uri="{FF2B5EF4-FFF2-40B4-BE49-F238E27FC236}">
                  <a16:creationId xmlns="" xmlns:a16="http://schemas.microsoft.com/office/drawing/2014/main" id="{4EEC020C-C523-0E3D-B334-55F43F4296B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9" name="Rectangle 179">
            <a:extLst>
              <a:ext uri="{FF2B5EF4-FFF2-40B4-BE49-F238E27FC236}">
                <a16:creationId xmlns="" xmlns:a16="http://schemas.microsoft.com/office/drawing/2014/main" id="{AA3CE2D0-4CAE-BA4D-59D7-199B0D4F55C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8347" y="2736457"/>
            <a:ext cx="137236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수입예산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: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관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항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>
                <a:solidFill>
                  <a:prstClr val="black"/>
                </a:solidFill>
              </a:rPr>
              <a:t>목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체계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지출예산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: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목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/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세목 체계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="" xmlns:a16="http://schemas.microsoft.com/office/drawing/2014/main" id="{94113137-0A46-5546-D250-2AC372F20D05}"/>
              </a:ext>
            </a:extLst>
          </p:cNvPr>
          <p:cNvSpPr/>
          <p:nvPr/>
        </p:nvSpPr>
        <p:spPr bwMode="auto">
          <a:xfrm>
            <a:off x="5132679" y="4797152"/>
            <a:ext cx="756425" cy="32077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dirty="0"/>
              <a:t>예산편성</a:t>
            </a:r>
            <a:endParaRPr lang="en-US" altLang="ko-KR" sz="900" kern="0" dirty="0"/>
          </a:p>
        </p:txBody>
      </p:sp>
      <p:sp>
        <p:nvSpPr>
          <p:cNvPr id="93" name="직사각형 92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7638073" y="361198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예산 권한 부여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5" name="Shape 266">
            <a:extLst>
              <a:ext uri="{FF2B5EF4-FFF2-40B4-BE49-F238E27FC236}">
                <a16:creationId xmlns="" xmlns:a16="http://schemas.microsoft.com/office/drawing/2014/main" id="{FAA55D3A-29D9-6DDB-996E-031DDA8679F2}"/>
              </a:ext>
            </a:extLst>
          </p:cNvPr>
          <p:cNvCxnSpPr>
            <a:cxnSpLocks noChangeShapeType="1"/>
            <a:stCxn id="83" idx="0"/>
            <a:endCxn id="144" idx="1"/>
          </p:cNvCxnSpPr>
          <p:nvPr/>
        </p:nvCxnSpPr>
        <p:spPr bwMode="auto">
          <a:xfrm rot="5400000" flipH="1" flipV="1">
            <a:off x="4611548" y="3591604"/>
            <a:ext cx="2104893" cy="306204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" name="직선 화살표 연결선 99">
            <a:extLst>
              <a:ext uri="{FF2B5EF4-FFF2-40B4-BE49-F238E27FC236}">
                <a16:creationId xmlns="" xmlns:a16="http://schemas.microsoft.com/office/drawing/2014/main" id="{55941D53-3B94-E68C-A3AC-60E69A02CB74}"/>
              </a:ext>
            </a:extLst>
          </p:cNvPr>
          <p:cNvCxnSpPr>
            <a:cxnSpLocks/>
            <a:stCxn id="144" idx="3"/>
            <a:endCxn id="113" idx="1"/>
          </p:cNvCxnSpPr>
          <p:nvPr/>
        </p:nvCxnSpPr>
        <p:spPr>
          <a:xfrm flipV="1">
            <a:off x="6573521" y="2677561"/>
            <a:ext cx="1050648" cy="1469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hape 266">
            <a:extLst>
              <a:ext uri="{FF2B5EF4-FFF2-40B4-BE49-F238E27FC236}">
                <a16:creationId xmlns="" xmlns:a16="http://schemas.microsoft.com/office/drawing/2014/main" id="{DF0F4B8A-339D-E46C-D7BF-9A40E47DD3A7}"/>
              </a:ext>
            </a:extLst>
          </p:cNvPr>
          <p:cNvCxnSpPr>
            <a:cxnSpLocks noChangeShapeType="1"/>
            <a:stCxn id="144" idx="2"/>
            <a:endCxn id="126" idx="1"/>
          </p:cNvCxnSpPr>
          <p:nvPr/>
        </p:nvCxnSpPr>
        <p:spPr bwMode="auto">
          <a:xfrm rot="16200000" flipH="1">
            <a:off x="5546189" y="3501763"/>
            <a:ext cx="1496091" cy="1978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7624169" y="251717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 통제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    방법 정의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16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6746235" y="4509123"/>
            <a:ext cx="107981" cy="305802"/>
            <a:chOff x="3031001" y="4549936"/>
            <a:chExt cx="270312" cy="350520"/>
          </a:xfrm>
        </p:grpSpPr>
        <p:sp>
          <p:nvSpPr>
            <p:cNvPr id="117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61" y="4753315"/>
              <a:ext cx="180252" cy="1471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8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54215" y="4573633"/>
            <a:ext cx="6132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N::1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연결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(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회계파트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="" xmlns:a16="http://schemas.microsoft.com/office/drawing/2014/main" id="{7B17C13D-213E-B522-71F4-19781386604E}"/>
              </a:ext>
            </a:extLst>
          </p:cNvPr>
          <p:cNvSpPr/>
          <p:nvPr/>
        </p:nvSpPr>
        <p:spPr bwMode="auto">
          <a:xfrm>
            <a:off x="7638073" y="397232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3. </a:t>
            </a:r>
            <a:r>
              <a:rPr lang="ko-KR" altLang="en-US" sz="900" kern="0" dirty="0">
                <a:solidFill>
                  <a:prstClr val="black"/>
                </a:solidFill>
              </a:rPr>
              <a:t>예산 편성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  </a:t>
            </a:r>
            <a:r>
              <a:rPr lang="ko-KR" altLang="en-US" sz="900" kern="0" dirty="0">
                <a:solidFill>
                  <a:prstClr val="black"/>
                </a:solidFill>
              </a:rPr>
              <a:t> 차수 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29" name="Shape 266">
            <a:extLst>
              <a:ext uri="{FF2B5EF4-FFF2-40B4-BE49-F238E27FC236}">
                <a16:creationId xmlns="" xmlns:a16="http://schemas.microsoft.com/office/drawing/2014/main" id="{5DD1F1AB-5361-DE21-EEF8-A2528FFC5AC5}"/>
              </a:ext>
            </a:extLst>
          </p:cNvPr>
          <p:cNvCxnSpPr>
            <a:cxnSpLocks noChangeShapeType="1"/>
            <a:stCxn id="144" idx="3"/>
            <a:endCxn id="93" idx="1"/>
          </p:cNvCxnSpPr>
          <p:nvPr/>
        </p:nvCxnSpPr>
        <p:spPr bwMode="auto">
          <a:xfrm>
            <a:off x="6573521" y="2692259"/>
            <a:ext cx="1064552" cy="1080114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121352" y="2851141"/>
            <a:ext cx="274908" cy="567810"/>
            <a:chOff x="3031001" y="4361424"/>
            <a:chExt cx="265280" cy="1066780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53882"/>
              <a:ext cx="90051" cy="974322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9537" y="2852936"/>
            <a:ext cx="965951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통제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방법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  </a:t>
            </a:r>
            <a:r>
              <a:rPr kumimoji="1" lang="en-US" altLang="ko-KR" sz="800" kern="0" dirty="0">
                <a:solidFill>
                  <a:prstClr val="black"/>
                </a:solidFill>
              </a:rPr>
              <a:t>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사업별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예산세목별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편성항목별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dirty="0">
                <a:solidFill>
                  <a:prstClr val="black"/>
                </a:solidFill>
              </a:rPr>
              <a:t>  - </a:t>
            </a:r>
            <a:r>
              <a:rPr kumimoji="1" lang="ko-KR" altLang="en-US" sz="800" kern="0" dirty="0" err="1">
                <a:solidFill>
                  <a:prstClr val="black"/>
                </a:solidFill>
              </a:rPr>
              <a:t>비통제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56" name="Rectangle 11">
            <a:extLst>
              <a:ext uri="{FF2B5EF4-FFF2-40B4-BE49-F238E27FC236}">
                <a16:creationId xmlns="" xmlns:a16="http://schemas.microsoft.com/office/drawing/2014/main" id="{3E256D49-41AB-1C35-29E1-39F59E719C4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85561" y="5759554"/>
            <a:ext cx="763183" cy="335737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계약정보</a:t>
            </a:r>
            <a:r>
              <a:rPr kumimoji="1" lang="en-US" altLang="ko-KR" sz="900" kern="0" dirty="0">
                <a:solidFill>
                  <a:prstClr val="black"/>
                </a:solidFill>
              </a:rPr>
              <a:t>&amp;</a:t>
            </a:r>
          </a:p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900" kern="0" dirty="0">
                <a:solidFill>
                  <a:prstClr val="black"/>
                </a:solidFill>
              </a:rPr>
              <a:t>수행일정</a:t>
            </a:r>
          </a:p>
        </p:txBody>
      </p:sp>
      <p:cxnSp>
        <p:nvCxnSpPr>
          <p:cNvPr id="158" name="직선 화살표 연결선 157">
            <a:extLst>
              <a:ext uri="{FF2B5EF4-FFF2-40B4-BE49-F238E27FC236}">
                <a16:creationId xmlns="" xmlns:a16="http://schemas.microsoft.com/office/drawing/2014/main" id="{D8439B0F-3092-BF8E-6908-AB28F8469DD5}"/>
              </a:ext>
            </a:extLst>
          </p:cNvPr>
          <p:cNvCxnSpPr>
            <a:stCxn id="19" idx="2"/>
            <a:endCxn id="121" idx="0"/>
          </p:cNvCxnSpPr>
          <p:nvPr/>
        </p:nvCxnSpPr>
        <p:spPr>
          <a:xfrm>
            <a:off x="2263774" y="3212976"/>
            <a:ext cx="0" cy="183946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화살표 연결선 158">
            <a:extLst>
              <a:ext uri="{FF2B5EF4-FFF2-40B4-BE49-F238E27FC236}">
                <a16:creationId xmlns="" xmlns:a16="http://schemas.microsoft.com/office/drawing/2014/main" id="{D4D4EE80-A41E-AAE5-77F0-E5AA921A537B}"/>
              </a:ext>
            </a:extLst>
          </p:cNvPr>
          <p:cNvCxnSpPr>
            <a:cxnSpLocks/>
            <a:stCxn id="156" idx="0"/>
            <a:endCxn id="121" idx="2"/>
          </p:cNvCxnSpPr>
          <p:nvPr/>
        </p:nvCxnSpPr>
        <p:spPr>
          <a:xfrm flipH="1" flipV="1">
            <a:off x="2263774" y="5373216"/>
            <a:ext cx="3379" cy="386338"/>
          </a:xfrm>
          <a:prstGeom prst="straightConnector1">
            <a:avLst/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3977039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>
                <a:latin typeface="+mn-ea"/>
                <a:ea typeface="+mn-ea"/>
              </a:rPr>
              <a:t>다년도에 걸쳐 수행하는 중장기 사업에 대한 연도별 사업계획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수입</a:t>
            </a:r>
            <a:r>
              <a:rPr lang="en-US" altLang="ko-KR" sz="1600" dirty="0">
                <a:latin typeface="+mn-ea"/>
                <a:ea typeface="+mn-ea"/>
              </a:rPr>
              <a:t>/</a:t>
            </a:r>
            <a:r>
              <a:rPr lang="ko-KR" altLang="en-US" sz="1600" dirty="0">
                <a:latin typeface="+mn-ea"/>
                <a:ea typeface="+mn-ea"/>
              </a:rPr>
              <a:t>지출계획</a:t>
            </a:r>
            <a:r>
              <a:rPr lang="en-US" altLang="ko-KR" sz="1600" dirty="0">
                <a:latin typeface="+mn-ea"/>
                <a:ea typeface="+mn-ea"/>
              </a:rPr>
              <a:t>)</a:t>
            </a:r>
            <a:r>
              <a:rPr lang="ko-KR" altLang="en-US" sz="1600" dirty="0">
                <a:latin typeface="+mn-ea"/>
                <a:ea typeface="+mn-ea"/>
              </a:rPr>
              <a:t>을 작성하여 수행사업에 대한 기준 자료로 활용하고 수행되는 사업에 대해서는 단계별 실행계획을 관리함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3167195"/>
              </p:ext>
            </p:extLst>
          </p:nvPr>
        </p:nvGraphicFramePr>
        <p:xfrm>
          <a:off x="344488" y="1916832"/>
          <a:ext cx="9181019" cy="4392488"/>
        </p:xfrm>
        <a:graphic>
          <a:graphicData uri="http://schemas.openxmlformats.org/drawingml/2006/table">
            <a:tbl>
              <a:tblPr/>
              <a:tblGrid>
                <a:gridCol w="2160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24036">
                <a:tc gridSpan="2"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1.2.1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계획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작성요청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1.2.2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1.2.3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사업계획취합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1.2.4</a:t>
                      </a:r>
                      <a:r>
                        <a:rPr lang="en-US" altLang="ko-KR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사업계획승인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1.2.5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실행계획관리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03320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0" i="0" u="none" strike="noStrike" baseline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코레일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92088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이사회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24136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코레일테크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961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2412712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1.2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중기사업계획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1698486" y="444564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1. </a:t>
            </a:r>
            <a:r>
              <a:rPr lang="ko-KR" altLang="en-US" sz="900" kern="0" dirty="0">
                <a:solidFill>
                  <a:srgbClr val="0000CC"/>
                </a:solidFill>
              </a:rPr>
              <a:t>중기계획 작성 요청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70" name="Shape 266">
            <a:extLst>
              <a:ext uri="{FF2B5EF4-FFF2-40B4-BE49-F238E27FC236}">
                <a16:creationId xmlns="" xmlns:a16="http://schemas.microsoft.com/office/drawing/2014/main" id="{51B320B7-F57B-41B8-B696-6A31F90BD156}"/>
              </a:ext>
            </a:extLst>
          </p:cNvPr>
          <p:cNvCxnSpPr>
            <a:cxnSpLocks noChangeShapeType="1"/>
            <a:stCxn id="84" idx="2"/>
            <a:endCxn id="69" idx="0"/>
          </p:cNvCxnSpPr>
          <p:nvPr/>
        </p:nvCxnSpPr>
        <p:spPr bwMode="auto">
          <a:xfrm>
            <a:off x="2074807" y="4265795"/>
            <a:ext cx="1892" cy="1798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>
            <a:extLst>
              <a:ext uri="{FF2B5EF4-FFF2-40B4-BE49-F238E27FC236}">
                <a16:creationId xmlns="" xmlns:a16="http://schemas.microsoft.com/office/drawing/2014/main" id="{DBD0E142-3842-4B0C-9872-B5AFD77DD41E}"/>
              </a:ext>
            </a:extLst>
          </p:cNvPr>
          <p:cNvSpPr/>
          <p:nvPr/>
        </p:nvSpPr>
        <p:spPr bwMode="auto">
          <a:xfrm>
            <a:off x="5037023" y="505244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4. </a:t>
            </a:r>
            <a:r>
              <a:rPr lang="ko-KR" altLang="en-US" sz="900" kern="0" dirty="0">
                <a:solidFill>
                  <a:srgbClr val="0000CC"/>
                </a:solidFill>
              </a:rPr>
              <a:t>중기 계획 취합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="" xmlns:a16="http://schemas.microsoft.com/office/drawing/2014/main" id="{EE6B892F-0F1D-4B34-ABE4-37BC9198A787}"/>
              </a:ext>
            </a:extLst>
          </p:cNvPr>
          <p:cNvSpPr/>
          <p:nvPr/>
        </p:nvSpPr>
        <p:spPr bwMode="auto">
          <a:xfrm>
            <a:off x="6645188" y="328498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6. </a:t>
            </a:r>
            <a:r>
              <a:rPr lang="ko-KR" altLang="en-US" sz="900" kern="0" dirty="0">
                <a:solidFill>
                  <a:srgbClr val="0000CC"/>
                </a:solidFill>
              </a:rPr>
              <a:t>중기계획 승인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73" name="Shape 266">
            <a:extLst>
              <a:ext uri="{FF2B5EF4-FFF2-40B4-BE49-F238E27FC236}">
                <a16:creationId xmlns="" xmlns:a16="http://schemas.microsoft.com/office/drawing/2014/main" id="{200486F7-A9E9-471F-9303-76449E812FF4}"/>
              </a:ext>
            </a:extLst>
          </p:cNvPr>
          <p:cNvCxnSpPr>
            <a:cxnSpLocks noChangeShapeType="1"/>
            <a:stCxn id="71" idx="0"/>
            <a:endCxn id="80" idx="2"/>
          </p:cNvCxnSpPr>
          <p:nvPr/>
        </p:nvCxnSpPr>
        <p:spPr bwMode="auto">
          <a:xfrm flipV="1">
            <a:off x="5415236" y="4304092"/>
            <a:ext cx="0" cy="7483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5" name="직사각형 74">
            <a:extLst>
              <a:ext uri="{FF2B5EF4-FFF2-40B4-BE49-F238E27FC236}">
                <a16:creationId xmlns="" xmlns:a16="http://schemas.microsoft.com/office/drawing/2014/main" id="{C5E17638-3C94-4359-9A7E-2C7FA001BBFB}"/>
              </a:ext>
            </a:extLst>
          </p:cNvPr>
          <p:cNvSpPr/>
          <p:nvPr/>
        </p:nvSpPr>
        <p:spPr bwMode="auto">
          <a:xfrm>
            <a:off x="3367754" y="58445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2. </a:t>
            </a:r>
            <a:r>
              <a:rPr lang="ko-KR" altLang="en-US" sz="900" kern="0" dirty="0">
                <a:solidFill>
                  <a:srgbClr val="0000CC"/>
                </a:solidFill>
              </a:rPr>
              <a:t>중기 계획 작성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76" name="Shape 266">
            <a:extLst>
              <a:ext uri="{FF2B5EF4-FFF2-40B4-BE49-F238E27FC236}">
                <a16:creationId xmlns="" xmlns:a16="http://schemas.microsoft.com/office/drawing/2014/main" id="{D02D0724-784E-4DB4-8396-F79C841EC21F}"/>
              </a:ext>
            </a:extLst>
          </p:cNvPr>
          <p:cNvCxnSpPr>
            <a:cxnSpLocks noChangeShapeType="1"/>
            <a:stCxn id="69" idx="2"/>
            <a:endCxn id="75" idx="1"/>
          </p:cNvCxnSpPr>
          <p:nvPr/>
        </p:nvCxnSpPr>
        <p:spPr bwMode="auto">
          <a:xfrm rot="16200000" flipH="1">
            <a:off x="2102975" y="4740139"/>
            <a:ext cx="1238503" cy="1291055"/>
          </a:xfrm>
          <a:prstGeom prst="bentConnector2">
            <a:avLst/>
          </a:prstGeom>
          <a:noFill/>
          <a:ln w="6350" algn="ctr">
            <a:solidFill>
              <a:srgbClr val="015EBB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7" name="직사각형 76">
            <a:extLst>
              <a:ext uri="{FF2B5EF4-FFF2-40B4-BE49-F238E27FC236}">
                <a16:creationId xmlns="" xmlns:a16="http://schemas.microsoft.com/office/drawing/2014/main" id="{756A2DA0-E49B-43EA-9998-1E7947B1F048}"/>
              </a:ext>
            </a:extLst>
          </p:cNvPr>
          <p:cNvSpPr/>
          <p:nvPr/>
        </p:nvSpPr>
        <p:spPr bwMode="auto">
          <a:xfrm>
            <a:off x="3367754" y="534047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3. </a:t>
            </a:r>
            <a:r>
              <a:rPr lang="ko-KR" altLang="en-US" sz="900" kern="0" dirty="0">
                <a:solidFill>
                  <a:srgbClr val="0000CC"/>
                </a:solidFill>
              </a:rPr>
              <a:t>중기 계획 부서장 승인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78" name="Shape 266">
            <a:extLst>
              <a:ext uri="{FF2B5EF4-FFF2-40B4-BE49-F238E27FC236}">
                <a16:creationId xmlns="" xmlns:a16="http://schemas.microsoft.com/office/drawing/2014/main" id="{F3378E86-EBBF-4870-9635-ED6629B191BD}"/>
              </a:ext>
            </a:extLst>
          </p:cNvPr>
          <p:cNvCxnSpPr>
            <a:cxnSpLocks noChangeShapeType="1"/>
            <a:stCxn id="77" idx="0"/>
            <a:endCxn id="71" idx="1"/>
          </p:cNvCxnSpPr>
          <p:nvPr/>
        </p:nvCxnSpPr>
        <p:spPr bwMode="auto">
          <a:xfrm rot="5400000" flipH="1" flipV="1">
            <a:off x="4327672" y="4631126"/>
            <a:ext cx="127646" cy="129105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" name="Shape 266">
            <a:extLst>
              <a:ext uri="{FF2B5EF4-FFF2-40B4-BE49-F238E27FC236}">
                <a16:creationId xmlns="" xmlns:a16="http://schemas.microsoft.com/office/drawing/2014/main" id="{E290BC30-C31A-45D7-AF0D-C7650A5D296E}"/>
              </a:ext>
            </a:extLst>
          </p:cNvPr>
          <p:cNvCxnSpPr>
            <a:cxnSpLocks noChangeShapeType="1"/>
            <a:stCxn id="75" idx="0"/>
            <a:endCxn id="77" idx="2"/>
          </p:cNvCxnSpPr>
          <p:nvPr/>
        </p:nvCxnSpPr>
        <p:spPr bwMode="auto">
          <a:xfrm flipV="1">
            <a:off x="3745967" y="5661248"/>
            <a:ext cx="0" cy="18328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" name="직사각형 79">
            <a:extLst>
              <a:ext uri="{FF2B5EF4-FFF2-40B4-BE49-F238E27FC236}">
                <a16:creationId xmlns="" xmlns:a16="http://schemas.microsoft.com/office/drawing/2014/main" id="{6FCF20F5-59AA-45A5-B7E8-3A95B5BCC471}"/>
              </a:ext>
            </a:extLst>
          </p:cNvPr>
          <p:cNvSpPr/>
          <p:nvPr/>
        </p:nvSpPr>
        <p:spPr bwMode="auto">
          <a:xfrm>
            <a:off x="5037023" y="398332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5. </a:t>
            </a:r>
            <a:r>
              <a:rPr lang="ko-KR" altLang="en-US" sz="900" kern="0" dirty="0">
                <a:solidFill>
                  <a:srgbClr val="0000CC"/>
                </a:solidFill>
              </a:rPr>
              <a:t>중기 계획 승인 요청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81" name="Shape 266">
            <a:extLst>
              <a:ext uri="{FF2B5EF4-FFF2-40B4-BE49-F238E27FC236}">
                <a16:creationId xmlns="" xmlns:a16="http://schemas.microsoft.com/office/drawing/2014/main" id="{D14D1850-A20A-4CAF-A846-C93594F78777}"/>
              </a:ext>
            </a:extLst>
          </p:cNvPr>
          <p:cNvCxnSpPr>
            <a:cxnSpLocks noChangeShapeType="1"/>
            <a:stCxn id="80" idx="3"/>
            <a:endCxn id="72" idx="1"/>
          </p:cNvCxnSpPr>
          <p:nvPr/>
        </p:nvCxnSpPr>
        <p:spPr bwMode="auto">
          <a:xfrm flipV="1">
            <a:off x="5793448" y="3445370"/>
            <a:ext cx="851740" cy="698337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직사각형 81">
            <a:extLst>
              <a:ext uri="{FF2B5EF4-FFF2-40B4-BE49-F238E27FC236}">
                <a16:creationId xmlns="" xmlns:a16="http://schemas.microsoft.com/office/drawing/2014/main" id="{FABCF880-D160-4ACF-A8C3-B828166601F6}"/>
              </a:ext>
            </a:extLst>
          </p:cNvPr>
          <p:cNvSpPr/>
          <p:nvPr/>
        </p:nvSpPr>
        <p:spPr bwMode="auto">
          <a:xfrm>
            <a:off x="8481392" y="5844533"/>
            <a:ext cx="756425" cy="320771"/>
          </a:xfrm>
          <a:prstGeom prst="rect">
            <a:avLst/>
          </a:prstGeom>
          <a:solidFill>
            <a:srgbClr val="D9D9D9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8. </a:t>
            </a:r>
            <a:r>
              <a:rPr lang="ko-KR" altLang="en-US" sz="900" kern="0" dirty="0">
                <a:solidFill>
                  <a:srgbClr val="0000CC"/>
                </a:solidFill>
              </a:rPr>
              <a:t>실행계획 등록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5" name="그룹 75">
            <a:extLst>
              <a:ext uri="{FF2B5EF4-FFF2-40B4-BE49-F238E27FC236}">
                <a16:creationId xmlns="" xmlns:a16="http://schemas.microsoft.com/office/drawing/2014/main" id="{F6284771-5438-4E61-815B-A7ADEAC6E97D}"/>
              </a:ext>
            </a:extLst>
          </p:cNvPr>
          <p:cNvGrpSpPr/>
          <p:nvPr/>
        </p:nvGrpSpPr>
        <p:grpSpPr>
          <a:xfrm>
            <a:off x="1696424" y="3861048"/>
            <a:ext cx="756425" cy="410305"/>
            <a:chOff x="1696424" y="2542858"/>
            <a:chExt cx="756425" cy="410305"/>
          </a:xfrm>
        </p:grpSpPr>
        <p:sp>
          <p:nvSpPr>
            <p:cNvPr id="84" name="직사각형 83">
              <a:extLst>
                <a:ext uri="{FF2B5EF4-FFF2-40B4-BE49-F238E27FC236}">
                  <a16:creationId xmlns="" xmlns:a16="http://schemas.microsoft.com/office/drawing/2014/main" id="{C4FC3EE6-99BE-40A5-AA19-48ECD614AA12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5" name="육각형 84">
              <a:extLst>
                <a:ext uri="{FF2B5EF4-FFF2-40B4-BE49-F238E27FC236}">
                  <a16:creationId xmlns="" xmlns:a16="http://schemas.microsoft.com/office/drawing/2014/main" id="{B2203D34-630E-40F6-82D4-757240EE7F3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매년 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2447984" y="4509120"/>
            <a:ext cx="236764" cy="282225"/>
            <a:chOff x="3031001" y="4549936"/>
            <a:chExt cx="248467" cy="282225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7" y="4644665"/>
              <a:ext cx="158411" cy="5842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665003" y="4519234"/>
            <a:ext cx="1734770" cy="24622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다년도 사업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srgbClr val="0000CC"/>
                </a:solidFill>
              </a:rPr>
              <a:t>사업별 당해년도 포함 향후 </a:t>
            </a:r>
            <a:r>
              <a:rPr kumimoji="1" lang="en-US" altLang="ko-KR" sz="800" kern="0" dirty="0">
                <a:solidFill>
                  <a:srgbClr val="0000CC"/>
                </a:solidFill>
              </a:rPr>
              <a:t>5</a:t>
            </a:r>
            <a:r>
              <a:rPr kumimoji="1" lang="ko-KR" altLang="en-US" sz="800" kern="0" dirty="0">
                <a:solidFill>
                  <a:srgbClr val="0000CC"/>
                </a:solidFill>
              </a:rPr>
              <a:t>개년도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11" name="제목 2">
            <a:extLst>
              <a:ext uri="{FF2B5EF4-FFF2-40B4-BE49-F238E27FC236}">
                <a16:creationId xmlns="" xmlns:a16="http://schemas.microsoft.com/office/drawing/2014/main" id="{3BEF3A1F-1689-AD1C-63E8-F77896E1F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2/7)</a:t>
            </a:r>
            <a:endParaRPr lang="ko-KR" altLang="en-US" sz="1800" dirty="0"/>
          </a:p>
        </p:txBody>
      </p:sp>
      <p:cxnSp>
        <p:nvCxnSpPr>
          <p:cNvPr id="66" name="연결선: 꺾임 65">
            <a:extLst>
              <a:ext uri="{FF2B5EF4-FFF2-40B4-BE49-F238E27FC236}">
                <a16:creationId xmlns="" xmlns:a16="http://schemas.microsoft.com/office/drawing/2014/main" id="{2A119E55-DB96-7F53-9FE0-1E9B27EC7508}"/>
              </a:ext>
            </a:extLst>
          </p:cNvPr>
          <p:cNvCxnSpPr>
            <a:cxnSpLocks/>
            <a:stCxn id="72" idx="0"/>
            <a:endCxn id="83" idx="2"/>
          </p:cNvCxnSpPr>
          <p:nvPr/>
        </p:nvCxnSpPr>
        <p:spPr>
          <a:xfrm rot="5400000" flipH="1" flipV="1">
            <a:off x="6788478" y="3048591"/>
            <a:ext cx="471317" cy="1471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="" xmlns:a16="http://schemas.microsoft.com/office/drawing/2014/main" id="{FE818016-59FA-E2BE-A69D-46F245D3C649}"/>
              </a:ext>
            </a:extLst>
          </p:cNvPr>
          <p:cNvSpPr/>
          <p:nvPr/>
        </p:nvSpPr>
        <p:spPr bwMode="auto">
          <a:xfrm>
            <a:off x="6646659" y="2492896"/>
            <a:ext cx="756425" cy="320771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rgbClr val="0000CC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7. </a:t>
            </a:r>
            <a:r>
              <a:rPr lang="ko-KR" altLang="en-US" sz="900" kern="0" dirty="0">
                <a:solidFill>
                  <a:srgbClr val="0000CC"/>
                </a:solidFill>
              </a:rPr>
              <a:t>중기계획 보고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103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8481391" y="5085184"/>
            <a:ext cx="756425" cy="410305"/>
            <a:chOff x="1696424" y="2542858"/>
            <a:chExt cx="756425" cy="410305"/>
          </a:xfrm>
        </p:grpSpPr>
        <p:sp>
          <p:nvSpPr>
            <p:cNvPr id="104" name="직사각형 103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05" name="육각형 104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사업실행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106" name="Shape 266">
            <a:extLst>
              <a:ext uri="{FF2B5EF4-FFF2-40B4-BE49-F238E27FC236}">
                <a16:creationId xmlns="" xmlns:a16="http://schemas.microsoft.com/office/drawing/2014/main" id="{5D8EB877-4E0F-ED15-62E8-93D8BBBB3FC5}"/>
              </a:ext>
            </a:extLst>
          </p:cNvPr>
          <p:cNvCxnSpPr>
            <a:cxnSpLocks noChangeShapeType="1"/>
            <a:endCxn id="82" idx="0"/>
          </p:cNvCxnSpPr>
          <p:nvPr/>
        </p:nvCxnSpPr>
        <p:spPr bwMode="auto">
          <a:xfrm>
            <a:off x="8859605" y="5489931"/>
            <a:ext cx="0" cy="35460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88205392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>
                <a:latin typeface="+mn-ea"/>
                <a:ea typeface="+mn-ea"/>
              </a:rPr>
              <a:t>체계적인 예산관리를 위해 정형화된 예산편성 기준 및 예산편성 지침을 온라인으로 배포하여 예산편성 지원을 강화하고 예산요구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예산조정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예산심의</a:t>
            </a:r>
            <a:r>
              <a:rPr lang="en-US" altLang="ko-KR" dirty="0">
                <a:latin typeface="+mn-ea"/>
                <a:ea typeface="+mn-ea"/>
              </a:rPr>
              <a:t>, </a:t>
            </a:r>
            <a:r>
              <a:rPr lang="ko-KR" altLang="en-US" dirty="0">
                <a:latin typeface="+mn-ea"/>
                <a:ea typeface="+mn-ea"/>
              </a:rPr>
              <a:t>예산을 확정하고 예산서를 출력하는 과정을 </a:t>
            </a:r>
            <a:r>
              <a:rPr lang="ko-KR" altLang="en-US" dirty="0" err="1">
                <a:latin typeface="+mn-ea"/>
                <a:ea typeface="+mn-ea"/>
              </a:rPr>
              <a:t>시스템화하여</a:t>
            </a:r>
            <a:r>
              <a:rPr lang="ko-KR" altLang="en-US" dirty="0">
                <a:latin typeface="+mn-ea"/>
                <a:ea typeface="+mn-ea"/>
              </a:rPr>
              <a:t> 효율적인 예산편성 업무를 구현함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19668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1.3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예산편성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68484"/>
              </p:ext>
            </p:extLst>
          </p:nvPr>
        </p:nvGraphicFramePr>
        <p:xfrm>
          <a:off x="344488" y="1989138"/>
          <a:ext cx="9181020" cy="4320182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648983"/>
                <a:gridCol w="1648984"/>
                <a:gridCol w="1648983"/>
                <a:gridCol w="1648983"/>
              </a:tblGrid>
              <a:tr h="359742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예산편성지침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1.3.2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예산요구입력</a:t>
                      </a:r>
                      <a:endParaRPr lang="ko-KR" altLang="en-US" sz="1100" b="1" i="0" u="none" strike="noStrike" smtClean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1.3.3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예산요구확정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1.3.4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예산안 조정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1.3.5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 확정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4723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961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8" name="직사각형 157"/>
          <p:cNvSpPr/>
          <p:nvPr/>
        </p:nvSpPr>
        <p:spPr bwMode="auto">
          <a:xfrm>
            <a:off x="1500005" y="3448635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3. </a:t>
            </a:r>
            <a:r>
              <a:rPr lang="ko-KR" altLang="en-US" sz="900" kern="0" dirty="0">
                <a:solidFill>
                  <a:srgbClr val="0000CC"/>
                </a:solidFill>
              </a:rPr>
              <a:t>편성 정형화</a:t>
            </a:r>
            <a:endParaRPr lang="en-US" altLang="ko-KR" sz="900" kern="0" dirty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srgbClr val="0000CC"/>
                </a:solidFill>
              </a:rPr>
              <a:t>   기준 현행화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160" name="직사각형 159"/>
          <p:cNvSpPr/>
          <p:nvPr/>
        </p:nvSpPr>
        <p:spPr bwMode="auto">
          <a:xfrm>
            <a:off x="1500005" y="2460157"/>
            <a:ext cx="756425" cy="320771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>
                <a:solidFill>
                  <a:prstClr val="black"/>
                </a:solidFill>
              </a:rPr>
              <a:t>예산편성 </a:t>
            </a:r>
            <a:r>
              <a:rPr lang="ko-KR" altLang="en-US" sz="900" kern="0" smtClean="0">
                <a:solidFill>
                  <a:prstClr val="black"/>
                </a:solidFill>
              </a:rPr>
              <a:t>지침안 </a:t>
            </a:r>
            <a:r>
              <a:rPr lang="ko-KR" altLang="en-US" sz="900" kern="0" dirty="0">
                <a:solidFill>
                  <a:prstClr val="black"/>
                </a:solidFill>
              </a:rPr>
              <a:t>검토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62" name="Shape 266"/>
          <p:cNvCxnSpPr>
            <a:cxnSpLocks noChangeShapeType="1"/>
            <a:endCxn id="177" idx="0"/>
          </p:cNvCxnSpPr>
          <p:nvPr/>
        </p:nvCxnSpPr>
        <p:spPr bwMode="auto">
          <a:xfrm>
            <a:off x="1864540" y="2780928"/>
            <a:ext cx="13678" cy="173468"/>
          </a:xfrm>
          <a:prstGeom prst="straightConnector1">
            <a:avLst/>
          </a:prstGeom>
          <a:noFill/>
          <a:ln w="6350" algn="ctr">
            <a:solidFill>
              <a:srgbClr val="0000CC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5" name="순서도: 판단 58"/>
          <p:cNvSpPr>
            <a:spLocks noChangeAspect="1" noChangeArrowheads="1"/>
          </p:cNvSpPr>
          <p:nvPr/>
        </p:nvSpPr>
        <p:spPr bwMode="auto">
          <a:xfrm>
            <a:off x="4729138" y="5756909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8.</a:t>
            </a:r>
            <a:r>
              <a:rPr lang="ko-KR" altLang="en-US" sz="900" kern="0" smtClean="0"/>
              <a:t>예산요구서 승인</a:t>
            </a:r>
            <a:endParaRPr lang="ko-KR" altLang="en-US" sz="900" kern="0" dirty="0"/>
          </a:p>
        </p:txBody>
      </p:sp>
      <p:sp>
        <p:nvSpPr>
          <p:cNvPr id="168" name="직사각형 167"/>
          <p:cNvSpPr/>
          <p:nvPr/>
        </p:nvSpPr>
        <p:spPr bwMode="auto">
          <a:xfrm>
            <a:off x="1500005" y="3942874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4. </a:t>
            </a:r>
            <a:r>
              <a:rPr lang="ko-KR" altLang="en-US" sz="900" kern="0" dirty="0">
                <a:solidFill>
                  <a:srgbClr val="0000CC"/>
                </a:solidFill>
              </a:rPr>
              <a:t>기준단가 </a:t>
            </a:r>
            <a:r>
              <a:rPr lang="en-US" altLang="ko-KR" sz="900" kern="0" dirty="0">
                <a:solidFill>
                  <a:srgbClr val="0000CC"/>
                </a:solidFill>
              </a:rPr>
              <a:t>(</a:t>
            </a:r>
            <a:r>
              <a:rPr lang="ko-KR" altLang="en-US" sz="900" kern="0" dirty="0">
                <a:solidFill>
                  <a:srgbClr val="0000CC"/>
                </a:solidFill>
              </a:rPr>
              <a:t>요율</a:t>
            </a:r>
            <a:r>
              <a:rPr lang="en-US" altLang="ko-KR" sz="900" kern="0" dirty="0">
                <a:solidFill>
                  <a:srgbClr val="0000CC"/>
                </a:solidFill>
              </a:rPr>
              <a:t>)</a:t>
            </a:r>
            <a:r>
              <a:rPr lang="ko-KR" altLang="en-US" sz="900" kern="0" dirty="0">
                <a:solidFill>
                  <a:srgbClr val="0000CC"/>
                </a:solidFill>
              </a:rPr>
              <a:t>현행화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169" name="직사각형 168"/>
          <p:cNvSpPr/>
          <p:nvPr/>
        </p:nvSpPr>
        <p:spPr bwMode="auto">
          <a:xfrm>
            <a:off x="1500005" y="44371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accent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5. </a:t>
            </a:r>
            <a:r>
              <a:rPr lang="ko-KR" altLang="en-US" sz="900" kern="0" dirty="0">
                <a:solidFill>
                  <a:srgbClr val="0000CC"/>
                </a:solidFill>
              </a:rPr>
              <a:t>예산 편성 </a:t>
            </a:r>
            <a:r>
              <a:rPr lang="ko-KR" altLang="en-US" sz="900" kern="0">
                <a:solidFill>
                  <a:srgbClr val="0000CC"/>
                </a:solidFill>
              </a:rPr>
              <a:t>지침 </a:t>
            </a:r>
            <a:r>
              <a:rPr lang="ko-KR" altLang="en-US" sz="900" kern="0" smtClean="0">
                <a:solidFill>
                  <a:srgbClr val="0000CC"/>
                </a:solidFill>
              </a:rPr>
              <a:t>등록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7022170" y="4077652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77" name="직사각형 176"/>
          <p:cNvSpPr/>
          <p:nvPr/>
        </p:nvSpPr>
        <p:spPr bwMode="auto">
          <a:xfrm>
            <a:off x="1500005" y="2954396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srgbClr val="0000CC"/>
                </a:solidFill>
              </a:rPr>
              <a:t>2. </a:t>
            </a:r>
            <a:r>
              <a:rPr lang="ko-KR" altLang="en-US" sz="900" kern="0" dirty="0">
                <a:solidFill>
                  <a:srgbClr val="0000CC"/>
                </a:solidFill>
              </a:rPr>
              <a:t>예산과목 및 코드 정비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178" name="Shape 266"/>
          <p:cNvCxnSpPr>
            <a:cxnSpLocks noChangeShapeType="1"/>
            <a:stCxn id="177" idx="2"/>
            <a:endCxn id="158" idx="0"/>
          </p:cNvCxnSpPr>
          <p:nvPr/>
        </p:nvCxnSpPr>
        <p:spPr bwMode="auto">
          <a:xfrm>
            <a:off x="1878218" y="3275167"/>
            <a:ext cx="0" cy="173468"/>
          </a:xfrm>
          <a:prstGeom prst="straightConnector1">
            <a:avLst/>
          </a:prstGeom>
          <a:noFill/>
          <a:ln w="6350" algn="ctr">
            <a:solidFill>
              <a:srgbClr val="0000CC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3/7)</a:t>
            </a:r>
            <a:endParaRPr lang="ko-KR" altLang="en-US" sz="1800" dirty="0"/>
          </a:p>
        </p:txBody>
      </p:sp>
      <p:sp>
        <p:nvSpPr>
          <p:cNvPr id="34" name="직사각형 33"/>
          <p:cNvSpPr/>
          <p:nvPr/>
        </p:nvSpPr>
        <p:spPr bwMode="auto">
          <a:xfrm>
            <a:off x="3368824" y="51243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6. </a:t>
            </a:r>
            <a:r>
              <a:rPr lang="ko-KR" altLang="en-US" sz="900" kern="0" dirty="0"/>
              <a:t>예산요구서 작성</a:t>
            </a:r>
            <a:endParaRPr lang="en-US" altLang="ko-KR" sz="900" kern="0" dirty="0"/>
          </a:p>
        </p:txBody>
      </p:sp>
      <p:cxnSp>
        <p:nvCxnSpPr>
          <p:cNvPr id="35" name="Shape 266"/>
          <p:cNvCxnSpPr>
            <a:cxnSpLocks noChangeShapeType="1"/>
            <a:stCxn id="165" idx="0"/>
            <a:endCxn id="37" idx="1"/>
          </p:cNvCxnSpPr>
          <p:nvPr/>
        </p:nvCxnSpPr>
        <p:spPr bwMode="auto">
          <a:xfrm rot="5400000" flipH="1" flipV="1">
            <a:off x="4649572" y="3742211"/>
            <a:ext cx="2815595" cy="1213802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직사각형 36"/>
          <p:cNvSpPr/>
          <p:nvPr/>
        </p:nvSpPr>
        <p:spPr bwMode="auto">
          <a:xfrm>
            <a:off x="6664270" y="278092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/>
              <a:t>9.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</a:rPr>
              <a:t>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</a:rPr>
              <a:t>예산 요구서 취합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cxnSp>
        <p:nvCxnSpPr>
          <p:cNvPr id="39" name="Shape 266"/>
          <p:cNvCxnSpPr>
            <a:cxnSpLocks noChangeShapeType="1"/>
            <a:stCxn id="34" idx="2"/>
            <a:endCxn id="51" idx="0"/>
          </p:cNvCxnSpPr>
          <p:nvPr/>
        </p:nvCxnSpPr>
        <p:spPr bwMode="auto">
          <a:xfrm>
            <a:off x="3747037" y="5445125"/>
            <a:ext cx="0" cy="32475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5" name="Shape 266"/>
          <p:cNvCxnSpPr>
            <a:cxnSpLocks noChangeShapeType="1"/>
            <a:stCxn id="169" idx="2"/>
            <a:endCxn id="34" idx="0"/>
          </p:cNvCxnSpPr>
          <p:nvPr/>
        </p:nvCxnSpPr>
        <p:spPr bwMode="auto">
          <a:xfrm rot="16200000" flipH="1">
            <a:off x="2629392" y="4006708"/>
            <a:ext cx="366471" cy="1868819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rgbClr val="0000CC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직사각형 50"/>
          <p:cNvSpPr/>
          <p:nvPr/>
        </p:nvSpPr>
        <p:spPr bwMode="auto">
          <a:xfrm>
            <a:off x="3368824" y="576987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7. </a:t>
            </a:r>
            <a:r>
              <a:rPr lang="ko-KR" altLang="en-US" sz="900" kern="0" dirty="0">
                <a:solidFill>
                  <a:prstClr val="black"/>
                </a:solidFill>
              </a:rPr>
              <a:t>예산요구서 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7" name="그룹 71"/>
          <p:cNvGrpSpPr/>
          <p:nvPr/>
        </p:nvGrpSpPr>
        <p:grpSpPr>
          <a:xfrm flipH="1" flipV="1">
            <a:off x="3779880" y="4869160"/>
            <a:ext cx="285076" cy="246950"/>
            <a:chOff x="3031001" y="4362372"/>
            <a:chExt cx="299167" cy="469789"/>
          </a:xfrm>
        </p:grpSpPr>
        <p:sp>
          <p:nvSpPr>
            <p:cNvPr id="58" name="Line 175"/>
            <p:cNvSpPr>
              <a:spLocks noChangeShapeType="1"/>
            </p:cNvSpPr>
            <p:nvPr/>
          </p:nvSpPr>
          <p:spPr bwMode="auto">
            <a:xfrm flipH="1">
              <a:off x="3121058" y="4362372"/>
              <a:ext cx="209110" cy="282292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0" name="Rectangle 179"/>
          <p:cNvSpPr>
            <a:spLocks noChangeArrowheads="1"/>
          </p:cNvSpPr>
          <p:nvPr/>
        </p:nvSpPr>
        <p:spPr bwMode="auto">
          <a:xfrm flipH="1">
            <a:off x="4017293" y="4888527"/>
            <a:ext cx="19258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사업별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예산항목별 편성근거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64" name="Shape 266"/>
          <p:cNvCxnSpPr>
            <a:cxnSpLocks noChangeShapeType="1"/>
            <a:stCxn id="37" idx="2"/>
            <a:endCxn id="150" idx="0"/>
          </p:cNvCxnSpPr>
          <p:nvPr/>
        </p:nvCxnSpPr>
        <p:spPr bwMode="auto">
          <a:xfrm flipH="1">
            <a:off x="7042482" y="3101699"/>
            <a:ext cx="1" cy="39930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6" name="Shape 266"/>
          <p:cNvCxnSpPr>
            <a:cxnSpLocks noChangeShapeType="1"/>
            <a:stCxn id="150" idx="2"/>
            <a:endCxn id="34" idx="3"/>
          </p:cNvCxnSpPr>
          <p:nvPr/>
        </p:nvCxnSpPr>
        <p:spPr bwMode="auto">
          <a:xfrm rot="5400000">
            <a:off x="4867995" y="3110253"/>
            <a:ext cx="1431742" cy="2917233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4" name="Shape 266"/>
          <p:cNvCxnSpPr>
            <a:cxnSpLocks noChangeShapeType="1"/>
            <a:stCxn id="158" idx="2"/>
            <a:endCxn id="168" idx="0"/>
          </p:cNvCxnSpPr>
          <p:nvPr/>
        </p:nvCxnSpPr>
        <p:spPr bwMode="auto">
          <a:xfrm>
            <a:off x="1878218" y="3769406"/>
            <a:ext cx="0" cy="173468"/>
          </a:xfrm>
          <a:prstGeom prst="straightConnector1">
            <a:avLst/>
          </a:prstGeom>
          <a:noFill/>
          <a:ln w="6350" algn="ctr">
            <a:solidFill>
              <a:srgbClr val="0000CC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168" idx="2"/>
            <a:endCxn id="169" idx="0"/>
          </p:cNvCxnSpPr>
          <p:nvPr/>
        </p:nvCxnSpPr>
        <p:spPr bwMode="auto">
          <a:xfrm>
            <a:off x="1878218" y="4263645"/>
            <a:ext cx="0" cy="173467"/>
          </a:xfrm>
          <a:prstGeom prst="straightConnector1">
            <a:avLst/>
          </a:prstGeom>
          <a:noFill/>
          <a:ln w="6350" algn="ctr">
            <a:solidFill>
              <a:srgbClr val="0000CC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" name="Shape 266"/>
          <p:cNvCxnSpPr>
            <a:cxnSpLocks noChangeShapeType="1"/>
            <a:stCxn id="51" idx="3"/>
            <a:endCxn id="165" idx="1"/>
          </p:cNvCxnSpPr>
          <p:nvPr/>
        </p:nvCxnSpPr>
        <p:spPr bwMode="auto">
          <a:xfrm>
            <a:off x="4125249" y="5930264"/>
            <a:ext cx="603889" cy="2640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" name="꺾인 연결선 118"/>
          <p:cNvCxnSpPr>
            <a:stCxn id="150" idx="3"/>
            <a:endCxn id="179" idx="0"/>
          </p:cNvCxnSpPr>
          <p:nvPr/>
        </p:nvCxnSpPr>
        <p:spPr>
          <a:xfrm>
            <a:off x="7763812" y="3677003"/>
            <a:ext cx="951777" cy="32806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순서도: 판단 58"/>
          <p:cNvSpPr>
            <a:spLocks noChangeAspect="1" noChangeArrowheads="1"/>
          </p:cNvSpPr>
          <p:nvPr/>
        </p:nvSpPr>
        <p:spPr bwMode="auto">
          <a:xfrm>
            <a:off x="6321152" y="3501008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lvl="0" algn="ctr" latinLnBrk="0">
              <a:defRPr/>
            </a:pPr>
            <a:r>
              <a:rPr lang="en-US" altLang="ko-KR" sz="900" kern="0" smtClean="0"/>
              <a:t>10. </a:t>
            </a:r>
            <a:r>
              <a:rPr lang="ko-KR" altLang="en-US" sz="900" kern="0"/>
              <a:t>예산요구 조정</a:t>
            </a:r>
            <a:endParaRPr lang="en-US" altLang="ko-KR" sz="900" kern="0" dirty="0"/>
          </a:p>
        </p:txBody>
      </p:sp>
      <p:sp>
        <p:nvSpPr>
          <p:cNvPr id="179" name="직사각형 178"/>
          <p:cNvSpPr/>
          <p:nvPr/>
        </p:nvSpPr>
        <p:spPr bwMode="auto">
          <a:xfrm>
            <a:off x="8337376" y="400506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smtClean="0"/>
              <a:t>11</a:t>
            </a:r>
            <a:r>
              <a:rPr kumimoji="0" lang="en-US" altLang="ko-KR" sz="90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</a:rPr>
              <a:t>. </a:t>
            </a: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</a:rPr>
              <a:t>예산</a:t>
            </a:r>
            <a:r>
              <a:rPr lang="ko-KR" altLang="en-US" sz="900" kern="0"/>
              <a:t>요구 </a:t>
            </a:r>
            <a:r>
              <a:rPr kumimoji="0" lang="ko-KR" altLang="en-US" sz="900" b="0" i="0" u="none" strike="noStrike" kern="0" cap="none" spc="0" normalizeH="0" baseline="0" noProof="0" smtClean="0">
                <a:ln>
                  <a:noFill/>
                </a:ln>
                <a:effectLst/>
                <a:uLnTx/>
                <a:uFillTx/>
              </a:rPr>
              <a:t>확정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8218178" y="3455895"/>
            <a:ext cx="26321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smtClean="0"/>
              <a:t>N</a:t>
            </a:r>
            <a:endParaRPr lang="ko-KR" altLang="en-US" sz="800" dirty="0"/>
          </a:p>
        </p:txBody>
      </p:sp>
      <p:sp>
        <p:nvSpPr>
          <p:cNvPr id="144" name="순서도: 다중 문서 143"/>
          <p:cNvSpPr/>
          <p:nvPr/>
        </p:nvSpPr>
        <p:spPr>
          <a:xfrm>
            <a:off x="8239700" y="4423225"/>
            <a:ext cx="968700" cy="526857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예</a:t>
            </a:r>
            <a:r>
              <a:rPr lang="ko-KR" altLang="en-US" sz="900" smtClean="0">
                <a:solidFill>
                  <a:schemeClr val="tx1"/>
                </a:solidFill>
              </a:rPr>
              <a:t>산서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  <a:r>
              <a:rPr lang="ko-KR" altLang="en-US" sz="900" smtClean="0">
                <a:solidFill>
                  <a:schemeClr val="tx1"/>
                </a:solidFill>
              </a:rPr>
              <a:t>출력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093823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예산 집행을 위한 예산배정 </a:t>
            </a:r>
            <a:r>
              <a:rPr lang="ko-KR" altLang="en-US" sz="1600">
                <a:latin typeface="+mn-ea"/>
                <a:ea typeface="+mn-ea"/>
              </a:rPr>
              <a:t>업무는 </a:t>
            </a:r>
            <a:r>
              <a:rPr lang="ko-KR" altLang="en-US" sz="1600" smtClean="0">
                <a:latin typeface="+mn-ea"/>
                <a:ea typeface="+mn-ea"/>
              </a:rPr>
              <a:t>예산집행계획 수립</a:t>
            </a:r>
            <a:r>
              <a:rPr lang="en-US" altLang="ko-KR" sz="1600">
                <a:latin typeface="+mn-ea"/>
                <a:ea typeface="+mn-ea"/>
              </a:rPr>
              <a:t>(</a:t>
            </a:r>
            <a:r>
              <a:rPr lang="ko-KR" altLang="en-US" sz="1600" smtClean="0">
                <a:latin typeface="+mn-ea"/>
                <a:ea typeface="+mn-ea"/>
              </a:rPr>
              <a:t>예산집행계획 </a:t>
            </a:r>
            <a:r>
              <a:rPr lang="ko-KR" altLang="en-US" sz="1600" dirty="0">
                <a:latin typeface="+mn-ea"/>
                <a:ea typeface="+mn-ea"/>
              </a:rPr>
              <a:t>작성</a:t>
            </a:r>
            <a:r>
              <a:rPr lang="en-US" altLang="ko-KR" sz="160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집행계획 </a:t>
            </a:r>
            <a:r>
              <a:rPr lang="ko-KR" altLang="en-US" sz="1600" dirty="0">
                <a:latin typeface="+mn-ea"/>
                <a:ea typeface="+mn-ea"/>
              </a:rPr>
              <a:t>승인 </a:t>
            </a:r>
            <a:r>
              <a:rPr lang="ko-KR" altLang="en-US" sz="1600">
                <a:latin typeface="+mn-ea"/>
                <a:ea typeface="+mn-ea"/>
              </a:rPr>
              <a:t>등</a:t>
            </a:r>
            <a:r>
              <a:rPr lang="en-US" altLang="ko-KR" sz="1600" smtClean="0">
                <a:latin typeface="+mn-ea"/>
                <a:ea typeface="+mn-ea"/>
              </a:rPr>
              <a:t>)</a:t>
            </a:r>
            <a:r>
              <a:rPr lang="ko-KR" altLang="en-US" sz="1600" smtClean="0">
                <a:latin typeface="+mn-ea"/>
                <a:ea typeface="+mn-ea"/>
              </a:rPr>
              <a:t>과</a:t>
            </a:r>
            <a:r>
              <a:rPr lang="en-US" altLang="ko-KR" sz="1600" smtClean="0">
                <a:latin typeface="+mn-ea"/>
                <a:ea typeface="+mn-ea"/>
              </a:rPr>
              <a:t> </a:t>
            </a:r>
            <a:r>
              <a:rPr lang="ko-KR" altLang="en-US" sz="1600" dirty="0">
                <a:latin typeface="+mn-ea"/>
                <a:ea typeface="+mn-ea"/>
              </a:rPr>
              <a:t>예산배정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정기배정</a:t>
            </a:r>
            <a:r>
              <a:rPr lang="en-US" altLang="ko-KR" sz="160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수시배정</a:t>
            </a:r>
            <a:r>
              <a:rPr lang="en-US" altLang="ko-KR" sz="1600" smtClean="0">
                <a:latin typeface="+mn-ea"/>
                <a:ea typeface="+mn-ea"/>
              </a:rPr>
              <a:t>)</a:t>
            </a:r>
            <a:r>
              <a:rPr lang="ko-KR" altLang="en-US" sz="1600" smtClean="0">
                <a:latin typeface="+mn-ea"/>
                <a:ea typeface="+mn-ea"/>
              </a:rPr>
              <a:t> </a:t>
            </a:r>
            <a:r>
              <a:rPr lang="ko-KR" altLang="en-US" sz="1600">
                <a:latin typeface="+mn-ea"/>
                <a:ea typeface="+mn-ea"/>
              </a:rPr>
              <a:t>업무로 </a:t>
            </a:r>
            <a:r>
              <a:rPr lang="ko-KR" altLang="en-US" sz="1600" smtClean="0">
                <a:latin typeface="+mn-ea"/>
                <a:ea typeface="+mn-ea"/>
              </a:rPr>
              <a:t>구성되며</a:t>
            </a:r>
            <a:r>
              <a:rPr lang="en-US" altLang="ko-KR" sz="1600" smtClean="0">
                <a:latin typeface="+mn-ea"/>
                <a:ea typeface="+mn-ea"/>
              </a:rPr>
              <a:t>, ¼</a:t>
            </a:r>
            <a:r>
              <a:rPr lang="ko-KR" altLang="en-US" sz="1600" smtClean="0">
                <a:latin typeface="+mn-ea"/>
                <a:ea typeface="+mn-ea"/>
              </a:rPr>
              <a:t>분기 배정신청은 연간 예산집행계획을 근거로 배정처리 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743779"/>
              </p:ext>
            </p:extLst>
          </p:nvPr>
        </p:nvGraphicFramePr>
        <p:xfrm>
          <a:off x="344488" y="1637621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1.4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예산배정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291616"/>
              </p:ext>
            </p:extLst>
          </p:nvPr>
        </p:nvGraphicFramePr>
        <p:xfrm>
          <a:off x="344488" y="1916832"/>
          <a:ext cx="9181020" cy="4392488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예산집행계획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1.4.2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정기 배정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수시 배정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5" name="직사각형 44"/>
          <p:cNvSpPr/>
          <p:nvPr/>
        </p:nvSpPr>
        <p:spPr bwMode="auto">
          <a:xfrm>
            <a:off x="1892319" y="57005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 dirty="0">
                <a:solidFill>
                  <a:prstClr val="black"/>
                </a:solidFill>
              </a:rPr>
              <a:t>예산 집행 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stCxn id="45" idx="3"/>
            <a:endCxn id="59" idx="1"/>
          </p:cNvCxnSpPr>
          <p:nvPr/>
        </p:nvCxnSpPr>
        <p:spPr bwMode="auto">
          <a:xfrm>
            <a:off x="2648744" y="5860903"/>
            <a:ext cx="432048" cy="96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" name="직사각형 88"/>
          <p:cNvSpPr/>
          <p:nvPr/>
        </p:nvSpPr>
        <p:spPr bwMode="auto">
          <a:xfrm>
            <a:off x="3081474" y="3063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4 </a:t>
            </a:r>
            <a:r>
              <a:rPr lang="ko-KR" altLang="en-US" sz="900" kern="0" smtClean="0">
                <a:solidFill>
                  <a:prstClr val="black"/>
                </a:solidFill>
              </a:rPr>
              <a:t>집행계획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취합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7292919" y="57332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9. </a:t>
            </a:r>
            <a:r>
              <a:rPr lang="ko-KR" altLang="en-US" sz="900" kern="0" smtClean="0">
                <a:solidFill>
                  <a:prstClr val="black"/>
                </a:solidFill>
              </a:rPr>
              <a:t>수시배정 요청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61" idx="0"/>
            <a:endCxn id="89" idx="2"/>
          </p:cNvCxnSpPr>
          <p:nvPr/>
        </p:nvCxnSpPr>
        <p:spPr bwMode="auto">
          <a:xfrm flipV="1">
            <a:off x="3459004" y="3384737"/>
            <a:ext cx="683" cy="12765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4" name="Shape 266"/>
          <p:cNvCxnSpPr>
            <a:cxnSpLocks noChangeShapeType="1"/>
            <a:stCxn id="118" idx="0"/>
            <a:endCxn id="64" idx="2"/>
          </p:cNvCxnSpPr>
          <p:nvPr/>
        </p:nvCxnSpPr>
        <p:spPr bwMode="auto">
          <a:xfrm flipH="1" flipV="1">
            <a:off x="5337669" y="4995792"/>
            <a:ext cx="1" cy="23340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953000" y="3063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8. </a:t>
            </a:r>
            <a:r>
              <a:rPr lang="ko-KR" altLang="en-US" sz="900" kern="0" dirty="0">
                <a:solidFill>
                  <a:prstClr val="black"/>
                </a:solidFill>
              </a:rPr>
              <a:t>정기 배정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(</a:t>
            </a:r>
            <a:r>
              <a:rPr lang="ko-KR" altLang="en-US" sz="900" kern="0" dirty="0">
                <a:solidFill>
                  <a:prstClr val="black"/>
                </a:solidFill>
              </a:rPr>
              <a:t>분기별</a:t>
            </a:r>
            <a:r>
              <a:rPr lang="en-US" altLang="ko-KR" sz="900" kern="0" dirty="0">
                <a:solidFill>
                  <a:prstClr val="black"/>
                </a:solidFill>
              </a:rPr>
              <a:t>)</a:t>
            </a:r>
          </a:p>
        </p:txBody>
      </p:sp>
      <p:cxnSp>
        <p:nvCxnSpPr>
          <p:cNvPr id="41" name="Shape 266"/>
          <p:cNvCxnSpPr>
            <a:cxnSpLocks noChangeShapeType="1"/>
            <a:stCxn id="39" idx="3"/>
            <a:endCxn id="53" idx="3"/>
          </p:cNvCxnSpPr>
          <p:nvPr/>
        </p:nvCxnSpPr>
        <p:spPr bwMode="auto">
          <a:xfrm>
            <a:off x="5709425" y="3224352"/>
            <a:ext cx="2811756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46"/>
          <p:cNvGrpSpPr/>
          <p:nvPr/>
        </p:nvGrpSpPr>
        <p:grpSpPr>
          <a:xfrm>
            <a:off x="8521181" y="3019199"/>
            <a:ext cx="756425" cy="410305"/>
            <a:chOff x="8445388" y="5367648"/>
            <a:chExt cx="756425" cy="410305"/>
          </a:xfrm>
        </p:grpSpPr>
        <p:sp>
          <p:nvSpPr>
            <p:cNvPr id="52" name="직사각형 51"/>
            <p:cNvSpPr/>
            <p:nvPr/>
          </p:nvSpPr>
          <p:spPr>
            <a:xfrm>
              <a:off x="8573870" y="537864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3" name="육각형 52"/>
            <p:cNvSpPr/>
            <p:nvPr/>
          </p:nvSpPr>
          <p:spPr bwMode="auto">
            <a:xfrm>
              <a:off x="8445388" y="536764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배정완료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33" name="육각형 32"/>
          <p:cNvSpPr/>
          <p:nvPr/>
        </p:nvSpPr>
        <p:spPr bwMode="auto">
          <a:xfrm>
            <a:off x="1280592" y="2996952"/>
            <a:ext cx="756425" cy="410305"/>
          </a:xfrm>
          <a:prstGeom prst="hexagon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연초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집행계획요청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3080792" y="5611907"/>
            <a:ext cx="756425" cy="517334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연간 예산 </a:t>
            </a:r>
            <a:r>
              <a:rPr lang="ko-KR" altLang="en-US" sz="900" kern="0" dirty="0">
                <a:solidFill>
                  <a:prstClr val="black"/>
                </a:solidFill>
              </a:rPr>
              <a:t>집행 계획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0" name="Shape 266"/>
          <p:cNvCxnSpPr>
            <a:cxnSpLocks noChangeShapeType="1"/>
            <a:stCxn id="63" idx="3"/>
            <a:endCxn id="90" idx="3"/>
          </p:cNvCxnSpPr>
          <p:nvPr/>
        </p:nvCxnSpPr>
        <p:spPr bwMode="auto">
          <a:xfrm flipH="1">
            <a:off x="8049344" y="5888144"/>
            <a:ext cx="360040" cy="54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" name="그룹 60"/>
          <p:cNvGrpSpPr/>
          <p:nvPr/>
        </p:nvGrpSpPr>
        <p:grpSpPr>
          <a:xfrm>
            <a:off x="8409384" y="5682991"/>
            <a:ext cx="756425" cy="410305"/>
            <a:chOff x="1446895" y="3951573"/>
            <a:chExt cx="756425" cy="410305"/>
          </a:xfrm>
        </p:grpSpPr>
        <p:sp>
          <p:nvSpPr>
            <p:cNvPr id="62" name="직사각형 61"/>
            <p:cNvSpPr/>
            <p:nvPr/>
          </p:nvSpPr>
          <p:spPr>
            <a:xfrm>
              <a:off x="1575377" y="396256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3" name="육각형 62"/>
            <p:cNvSpPr/>
            <p:nvPr/>
          </p:nvSpPr>
          <p:spPr bwMode="auto">
            <a:xfrm>
              <a:off x="1446895" y="395157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필요 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66" name="Shape 266"/>
          <p:cNvCxnSpPr>
            <a:cxnSpLocks noChangeShapeType="1"/>
            <a:stCxn id="59" idx="0"/>
            <a:endCxn id="61" idx="2"/>
          </p:cNvCxnSpPr>
          <p:nvPr/>
        </p:nvCxnSpPr>
        <p:spPr bwMode="auto">
          <a:xfrm flipH="1" flipV="1">
            <a:off x="3459004" y="5013325"/>
            <a:ext cx="1" cy="59858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9" name="Shape 266"/>
          <p:cNvCxnSpPr>
            <a:cxnSpLocks noChangeShapeType="1"/>
            <a:stCxn id="64" idx="0"/>
            <a:endCxn id="39" idx="2"/>
          </p:cNvCxnSpPr>
          <p:nvPr/>
        </p:nvCxnSpPr>
        <p:spPr bwMode="auto">
          <a:xfrm flipH="1" flipV="1">
            <a:off x="5331213" y="3384737"/>
            <a:ext cx="6456" cy="1259065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" name="직사각형 117"/>
          <p:cNvSpPr/>
          <p:nvPr/>
        </p:nvSpPr>
        <p:spPr bwMode="auto">
          <a:xfrm>
            <a:off x="4959457" y="52292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6. </a:t>
            </a:r>
            <a:r>
              <a:rPr lang="ko-KR" altLang="en-US" sz="900" kern="0" dirty="0">
                <a:solidFill>
                  <a:prstClr val="black"/>
                </a:solidFill>
              </a:rPr>
              <a:t>예산 배정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7" name="Shape 266"/>
          <p:cNvCxnSpPr>
            <a:cxnSpLocks noChangeShapeType="1"/>
            <a:stCxn id="90" idx="0"/>
            <a:endCxn id="51" idx="2"/>
          </p:cNvCxnSpPr>
          <p:nvPr/>
        </p:nvCxnSpPr>
        <p:spPr bwMode="auto">
          <a:xfrm flipV="1">
            <a:off x="7671132" y="5546562"/>
            <a:ext cx="0" cy="18669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4/7)</a:t>
            </a:r>
            <a:endParaRPr lang="ko-KR" altLang="en-US" sz="1800" dirty="0"/>
          </a:p>
        </p:txBody>
      </p:sp>
      <p:sp>
        <p:nvSpPr>
          <p:cNvPr id="47" name="직사각형 46"/>
          <p:cNvSpPr/>
          <p:nvPr/>
        </p:nvSpPr>
        <p:spPr bwMode="auto">
          <a:xfrm>
            <a:off x="4959457" y="57005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dirty="0">
                <a:solidFill>
                  <a:prstClr val="black"/>
                </a:solidFill>
              </a:rPr>
              <a:t>예산 </a:t>
            </a:r>
            <a:r>
              <a:rPr lang="ko-KR" altLang="en-US" sz="900" kern="0">
                <a:solidFill>
                  <a:prstClr val="black"/>
                </a:solidFill>
              </a:rPr>
              <a:t>배정 </a:t>
            </a:r>
            <a:r>
              <a:rPr lang="ko-KR" altLang="en-US" sz="900" kern="0" smtClean="0">
                <a:solidFill>
                  <a:prstClr val="black"/>
                </a:solidFill>
              </a:rPr>
              <a:t>요청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8" name="Shape 266"/>
          <p:cNvCxnSpPr>
            <a:cxnSpLocks noChangeShapeType="1"/>
            <a:stCxn id="59" idx="3"/>
            <a:endCxn id="47" idx="1"/>
          </p:cNvCxnSpPr>
          <p:nvPr/>
        </p:nvCxnSpPr>
        <p:spPr bwMode="auto">
          <a:xfrm flipV="1">
            <a:off x="3837217" y="5860903"/>
            <a:ext cx="1122240" cy="967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prstDash val="lg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" name="Shape 266"/>
          <p:cNvCxnSpPr>
            <a:cxnSpLocks noChangeShapeType="1"/>
            <a:stCxn id="47" idx="0"/>
            <a:endCxn id="118" idx="2"/>
          </p:cNvCxnSpPr>
          <p:nvPr/>
        </p:nvCxnSpPr>
        <p:spPr bwMode="auto">
          <a:xfrm flipV="1">
            <a:off x="5337670" y="5549971"/>
            <a:ext cx="0" cy="15054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직사각형 50"/>
          <p:cNvSpPr/>
          <p:nvPr/>
        </p:nvSpPr>
        <p:spPr bwMode="auto">
          <a:xfrm>
            <a:off x="7292919" y="52257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10. </a:t>
            </a:r>
            <a:r>
              <a:rPr lang="ko-KR" altLang="en-US" sz="900" kern="0" smtClean="0">
                <a:solidFill>
                  <a:prstClr val="black"/>
                </a:solidFill>
              </a:rPr>
              <a:t>수시 </a:t>
            </a:r>
            <a:r>
              <a:rPr lang="ko-KR" altLang="en-US" sz="900" kern="0" dirty="0">
                <a:solidFill>
                  <a:prstClr val="black"/>
                </a:solidFill>
              </a:rPr>
              <a:t>배정 승인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5" name="Shape 266"/>
          <p:cNvCxnSpPr>
            <a:cxnSpLocks noChangeShapeType="1"/>
            <a:stCxn id="51" idx="0"/>
            <a:endCxn id="65" idx="2"/>
          </p:cNvCxnSpPr>
          <p:nvPr/>
        </p:nvCxnSpPr>
        <p:spPr bwMode="auto">
          <a:xfrm flipH="1" flipV="1">
            <a:off x="7671131" y="5003805"/>
            <a:ext cx="1" cy="22198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직사각형 56"/>
          <p:cNvSpPr/>
          <p:nvPr/>
        </p:nvSpPr>
        <p:spPr bwMode="auto">
          <a:xfrm>
            <a:off x="7322303" y="3063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12. </a:t>
            </a:r>
            <a:r>
              <a:rPr lang="ko-KR" altLang="en-US" sz="900" kern="0" smtClean="0">
                <a:solidFill>
                  <a:prstClr val="black"/>
                </a:solidFill>
              </a:rPr>
              <a:t>수시 </a:t>
            </a:r>
            <a:r>
              <a:rPr lang="ko-KR" altLang="en-US" sz="900" kern="0" dirty="0">
                <a:solidFill>
                  <a:prstClr val="black"/>
                </a:solidFill>
              </a:rPr>
              <a:t>배정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(</a:t>
            </a:r>
            <a:r>
              <a:rPr lang="ko-KR" altLang="en-US" sz="900" kern="0" smtClean="0">
                <a:solidFill>
                  <a:prstClr val="black"/>
                </a:solidFill>
              </a:rPr>
              <a:t>신청시</a:t>
            </a:r>
            <a:r>
              <a:rPr lang="en-US" altLang="ko-KR" sz="900" kern="0" smtClean="0">
                <a:solidFill>
                  <a:prstClr val="black"/>
                </a:solidFill>
              </a:rPr>
              <a:t>)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8" name="Shape 266"/>
          <p:cNvCxnSpPr>
            <a:cxnSpLocks noChangeShapeType="1"/>
            <a:stCxn id="65" idx="0"/>
            <a:endCxn id="57" idx="2"/>
          </p:cNvCxnSpPr>
          <p:nvPr/>
        </p:nvCxnSpPr>
        <p:spPr bwMode="auto">
          <a:xfrm flipV="1">
            <a:off x="7671131" y="3384737"/>
            <a:ext cx="29385" cy="126707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순서도: 판단 58"/>
          <p:cNvSpPr>
            <a:spLocks noChangeAspect="1" noChangeArrowheads="1"/>
          </p:cNvSpPr>
          <p:nvPr/>
        </p:nvSpPr>
        <p:spPr bwMode="auto">
          <a:xfrm>
            <a:off x="2737674" y="4661335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예산집행계획 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ko-KR" altLang="en-US" sz="900" kern="0" dirty="0"/>
          </a:p>
        </p:txBody>
      </p:sp>
      <p:sp>
        <p:nvSpPr>
          <p:cNvPr id="64" name="순서도: 판단 58"/>
          <p:cNvSpPr>
            <a:spLocks noChangeAspect="1" noChangeArrowheads="1"/>
          </p:cNvSpPr>
          <p:nvPr/>
        </p:nvSpPr>
        <p:spPr bwMode="auto">
          <a:xfrm>
            <a:off x="4616339" y="4643802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>
                <a:solidFill>
                  <a:prstClr val="black"/>
                </a:solidFill>
              </a:rPr>
              <a:t>7. </a:t>
            </a:r>
            <a:r>
              <a:rPr lang="ko-KR" altLang="en-US" sz="900" kern="0" smtClean="0">
                <a:solidFill>
                  <a:prstClr val="black"/>
                </a:solidFill>
              </a:rPr>
              <a:t>정기배정 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요청안 </a:t>
            </a:r>
            <a:r>
              <a:rPr lang="ko-KR" altLang="en-US" sz="900" kern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5" name="순서도: 판단 58"/>
          <p:cNvSpPr>
            <a:spLocks noChangeAspect="1" noChangeArrowheads="1"/>
          </p:cNvSpPr>
          <p:nvPr/>
        </p:nvSpPr>
        <p:spPr bwMode="auto">
          <a:xfrm>
            <a:off x="6949801" y="4651815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11. </a:t>
            </a:r>
            <a:r>
              <a:rPr lang="ko-KR" altLang="en-US" sz="900" kern="0" smtClean="0">
                <a:solidFill>
                  <a:prstClr val="black"/>
                </a:solidFill>
              </a:rPr>
              <a:t>수시배정 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요청안 </a:t>
            </a:r>
            <a:r>
              <a:rPr lang="ko-KR" altLang="en-US" sz="900" kern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1" name="Shape 266"/>
          <p:cNvCxnSpPr>
            <a:cxnSpLocks noChangeShapeType="1"/>
            <a:stCxn id="74" idx="3"/>
          </p:cNvCxnSpPr>
          <p:nvPr/>
        </p:nvCxnSpPr>
        <p:spPr bwMode="auto">
          <a:xfrm flipH="1">
            <a:off x="5715882" y="5860903"/>
            <a:ext cx="360040" cy="5498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2" name="그룹 60"/>
          <p:cNvGrpSpPr/>
          <p:nvPr/>
        </p:nvGrpSpPr>
        <p:grpSpPr>
          <a:xfrm>
            <a:off x="6075922" y="5655750"/>
            <a:ext cx="756425" cy="410305"/>
            <a:chOff x="1446895" y="3951573"/>
            <a:chExt cx="756425" cy="410305"/>
          </a:xfrm>
        </p:grpSpPr>
        <p:sp>
          <p:nvSpPr>
            <p:cNvPr id="73" name="직사각형 72"/>
            <p:cNvSpPr/>
            <p:nvPr/>
          </p:nvSpPr>
          <p:spPr>
            <a:xfrm>
              <a:off x="1575377" y="396256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4" name="육각형 73"/>
            <p:cNvSpPr/>
            <p:nvPr/>
          </p:nvSpPr>
          <p:spPr bwMode="auto">
            <a:xfrm>
              <a:off x="1446895" y="395157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매 분기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en-US" altLang="ko-KR" sz="900" kern="0" smtClean="0">
                  <a:solidFill>
                    <a:prstClr val="black"/>
                  </a:solidFill>
                </a:rPr>
                <a:t>(1/4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분기 제외</a:t>
              </a:r>
              <a:r>
                <a:rPr lang="en-US" altLang="ko-KR" sz="900" kern="0" smtClean="0">
                  <a:solidFill>
                    <a:prstClr val="black"/>
                  </a:solidFill>
                </a:rPr>
                <a:t>)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3435543" y="4436371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82" name="TextBox 81"/>
          <p:cNvSpPr txBox="1"/>
          <p:nvPr/>
        </p:nvSpPr>
        <p:spPr>
          <a:xfrm>
            <a:off x="5337669" y="4431267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83" name="TextBox 82"/>
          <p:cNvSpPr txBox="1"/>
          <p:nvPr/>
        </p:nvSpPr>
        <p:spPr>
          <a:xfrm>
            <a:off x="7671131" y="4431267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cxnSp>
        <p:nvCxnSpPr>
          <p:cNvPr id="56" name="꺾인 연결선 55"/>
          <p:cNvCxnSpPr>
            <a:stCxn id="33" idx="0"/>
            <a:endCxn id="45" idx="0"/>
          </p:cNvCxnSpPr>
          <p:nvPr/>
        </p:nvCxnSpPr>
        <p:spPr>
          <a:xfrm>
            <a:off x="2037017" y="3202105"/>
            <a:ext cx="233515" cy="249841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712008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</a:rPr>
              <a:t>예산을 절감하기 의하여 부서별로 </a:t>
            </a:r>
            <a:r>
              <a:rPr lang="ko-KR" altLang="en-US" dirty="0">
                <a:latin typeface="+mn-ea"/>
              </a:rPr>
              <a:t>예산절감 </a:t>
            </a:r>
            <a:r>
              <a:rPr lang="ko-KR" altLang="en-US">
                <a:latin typeface="+mn-ea"/>
              </a:rPr>
              <a:t>목표를 </a:t>
            </a:r>
            <a:r>
              <a:rPr lang="ko-KR" altLang="en-US" smtClean="0">
                <a:latin typeface="+mn-ea"/>
              </a:rPr>
              <a:t>등록하고 부서장을 승인을 등하여 확정하고</a:t>
            </a:r>
            <a:r>
              <a:rPr lang="en-US" altLang="ko-KR" smtClean="0">
                <a:latin typeface="+mn-ea"/>
              </a:rPr>
              <a:t>, </a:t>
            </a:r>
            <a:r>
              <a:rPr lang="ko-KR" altLang="en-US" smtClean="0">
                <a:latin typeface="+mn-ea"/>
              </a:rPr>
              <a:t>확정된 절감목표는 예산 배정액에서 차감하여 예산한도를 감소시켜 예산 사용을 억제하는 역할을 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475659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1.5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예산절감목표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5/7)</a:t>
            </a:r>
            <a:endParaRPr lang="ko-KR" altLang="en-US" sz="1800" dirty="0"/>
          </a:p>
        </p:txBody>
      </p:sp>
      <p:graphicFrame>
        <p:nvGraphicFramePr>
          <p:cNvPr id="38" name="표 37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725109"/>
              </p:ext>
            </p:extLst>
          </p:nvPr>
        </p:nvGraphicFramePr>
        <p:xfrm>
          <a:off x="344488" y="1924188"/>
          <a:ext cx="9181020" cy="4392488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예산절감목표 등록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1.5.2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예산절감목표 승인요청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1.5.3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예산절감목표 반영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승인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="" xmlns:a16="http://schemas.microsoft.com/office/drawing/2014/main" id="{44C0DDBA-D8CE-4F0B-99E4-EDC0D01AAB5F}"/>
              </a:ext>
            </a:extLst>
          </p:cNvPr>
          <p:cNvSpPr/>
          <p:nvPr/>
        </p:nvSpPr>
        <p:spPr bwMode="auto">
          <a:xfrm>
            <a:off x="2508812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예산절감 목표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4" name="Shape 266">
            <a:extLst>
              <a:ext uri="{FF2B5EF4-FFF2-40B4-BE49-F238E27FC236}">
                <a16:creationId xmlns="" xmlns:a16="http://schemas.microsoft.com/office/drawing/2014/main" id="{4208196E-70CC-4D36-A882-4C6F09F6E679}"/>
              </a:ext>
            </a:extLst>
          </p:cNvPr>
          <p:cNvCxnSpPr>
            <a:cxnSpLocks noChangeShapeType="1"/>
            <a:stCxn id="47" idx="0"/>
          </p:cNvCxnSpPr>
          <p:nvPr/>
        </p:nvCxnSpPr>
        <p:spPr bwMode="auto">
          <a:xfrm flipH="1" flipV="1">
            <a:off x="5311790" y="4880677"/>
            <a:ext cx="4870" cy="61117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>
            <a:extLst>
              <a:ext uri="{FF2B5EF4-FFF2-40B4-BE49-F238E27FC236}">
                <a16:creationId xmlns="" xmlns:a16="http://schemas.microsoft.com/office/drawing/2014/main" id="{85D53206-2513-4743-BC8A-B208E2EEFA50}"/>
              </a:ext>
            </a:extLst>
          </p:cNvPr>
          <p:cNvCxnSpPr>
            <a:cxnSpLocks noChangeShapeType="1"/>
            <a:stCxn id="70" idx="0"/>
            <a:endCxn id="48" idx="1"/>
          </p:cNvCxnSpPr>
          <p:nvPr/>
        </p:nvCxnSpPr>
        <p:spPr bwMode="auto">
          <a:xfrm rot="5400000" flipH="1" flipV="1">
            <a:off x="5610083" y="2975533"/>
            <a:ext cx="1254860" cy="18514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" name="직사각형 46">
            <a:extLst>
              <a:ext uri="{FF2B5EF4-FFF2-40B4-BE49-F238E27FC236}">
                <a16:creationId xmlns="" xmlns:a16="http://schemas.microsoft.com/office/drawing/2014/main" id="{95A9A25D-D559-4350-B697-E17F705AAB3B}"/>
              </a:ext>
            </a:extLst>
          </p:cNvPr>
          <p:cNvSpPr/>
          <p:nvPr/>
        </p:nvSpPr>
        <p:spPr bwMode="auto">
          <a:xfrm>
            <a:off x="4938447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예산절감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목표승인 </a:t>
            </a:r>
            <a:r>
              <a:rPr lang="ko-KR" altLang="en-US" sz="900" kern="0" dirty="0">
                <a:solidFill>
                  <a:prstClr val="black"/>
                </a:solidFill>
              </a:rPr>
              <a:t>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63236" y="311344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6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예산파트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9" name="Shape 266">
            <a:extLst>
              <a:ext uri="{FF2B5EF4-FFF2-40B4-BE49-F238E27FC236}">
                <a16:creationId xmlns="" xmlns:a16="http://schemas.microsoft.com/office/drawing/2014/main" id="{C48EBC6B-31BC-41C4-94C3-4CC058D0D30D}"/>
              </a:ext>
            </a:extLst>
          </p:cNvPr>
          <p:cNvCxnSpPr>
            <a:cxnSpLocks noChangeShapeType="1"/>
            <a:stCxn id="48" idx="3"/>
            <a:endCxn id="61" idx="3"/>
          </p:cNvCxnSpPr>
          <p:nvPr/>
        </p:nvCxnSpPr>
        <p:spPr bwMode="auto">
          <a:xfrm flipV="1">
            <a:off x="7919661" y="3273825"/>
            <a:ext cx="660231" cy="1"/>
          </a:xfrm>
          <a:prstGeom prst="bentConnector3">
            <a:avLst>
              <a:gd name="adj1" fmla="val 50000"/>
            </a:avLst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" name="Shape 266">
            <a:extLst>
              <a:ext uri="{FF2B5EF4-FFF2-40B4-BE49-F238E27FC236}">
                <a16:creationId xmlns="" xmlns:a16="http://schemas.microsoft.com/office/drawing/2014/main" id="{A97B3C15-7BE9-4D93-BBAB-7090C47271D7}"/>
              </a:ext>
            </a:extLst>
          </p:cNvPr>
          <p:cNvCxnSpPr>
            <a:cxnSpLocks noChangeShapeType="1"/>
            <a:stCxn id="42" idx="3"/>
            <a:endCxn id="47" idx="1"/>
          </p:cNvCxnSpPr>
          <p:nvPr/>
        </p:nvCxnSpPr>
        <p:spPr bwMode="auto">
          <a:xfrm>
            <a:off x="3265237" y="5652235"/>
            <a:ext cx="1673210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2" name="그룹 6">
            <a:extLst>
              <a:ext uri="{FF2B5EF4-FFF2-40B4-BE49-F238E27FC236}">
                <a16:creationId xmlns="" xmlns:a16="http://schemas.microsoft.com/office/drawing/2014/main" id="{C5E9E291-7120-4132-B260-7FBB44370512}"/>
              </a:ext>
            </a:extLst>
          </p:cNvPr>
          <p:cNvGrpSpPr/>
          <p:nvPr/>
        </p:nvGrpSpPr>
        <p:grpSpPr>
          <a:xfrm>
            <a:off x="1280592" y="2500252"/>
            <a:ext cx="756425" cy="410305"/>
            <a:chOff x="2432720" y="3018693"/>
            <a:chExt cx="756425" cy="410305"/>
          </a:xfrm>
        </p:grpSpPr>
        <p:sp>
          <p:nvSpPr>
            <p:cNvPr id="53" name="직사각형 52">
              <a:extLst>
                <a:ext uri="{FF2B5EF4-FFF2-40B4-BE49-F238E27FC236}">
                  <a16:creationId xmlns="" xmlns:a16="http://schemas.microsoft.com/office/drawing/2014/main" id="{63E41C6C-32DC-4C5D-A361-4FF6EAF5D8F4}"/>
                </a:ext>
              </a:extLst>
            </p:cNvPr>
            <p:cNvSpPr/>
            <p:nvPr/>
          </p:nvSpPr>
          <p:spPr>
            <a:xfrm>
              <a:off x="2561202" y="302968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54" name="육각형 53">
              <a:extLst>
                <a:ext uri="{FF2B5EF4-FFF2-40B4-BE49-F238E27FC236}">
                  <a16:creationId xmlns="" xmlns:a16="http://schemas.microsoft.com/office/drawing/2014/main" id="{F1658F62-426A-441F-91FC-E26EFBEE3369}"/>
                </a:ext>
              </a:extLst>
            </p:cNvPr>
            <p:cNvSpPr/>
            <p:nvPr/>
          </p:nvSpPr>
          <p:spPr bwMode="auto">
            <a:xfrm>
              <a:off x="2432720" y="301869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예산 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절감지시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" name="그룹 28">
            <a:extLst>
              <a:ext uri="{FF2B5EF4-FFF2-40B4-BE49-F238E27FC236}">
                <a16:creationId xmlns="" xmlns:a16="http://schemas.microsoft.com/office/drawing/2014/main" id="{49D96B47-4A91-45D9-AAA0-3AE842AF679C}"/>
              </a:ext>
            </a:extLst>
          </p:cNvPr>
          <p:cNvGrpSpPr/>
          <p:nvPr/>
        </p:nvGrpSpPr>
        <p:grpSpPr>
          <a:xfrm>
            <a:off x="8579892" y="3068672"/>
            <a:ext cx="756425" cy="410305"/>
            <a:chOff x="2432720" y="3018693"/>
            <a:chExt cx="756425" cy="410305"/>
          </a:xfrm>
        </p:grpSpPr>
        <p:sp>
          <p:nvSpPr>
            <p:cNvPr id="56" name="직사각형 55">
              <a:extLst>
                <a:ext uri="{FF2B5EF4-FFF2-40B4-BE49-F238E27FC236}">
                  <a16:creationId xmlns="" xmlns:a16="http://schemas.microsoft.com/office/drawing/2014/main" id="{0C1D3A71-C4A9-493E-86D8-7072BAE497E8}"/>
                </a:ext>
              </a:extLst>
            </p:cNvPr>
            <p:cNvSpPr/>
            <p:nvPr/>
          </p:nvSpPr>
          <p:spPr>
            <a:xfrm>
              <a:off x="2561202" y="302968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1" name="육각형 60">
              <a:extLst>
                <a:ext uri="{FF2B5EF4-FFF2-40B4-BE49-F238E27FC236}">
                  <a16:creationId xmlns="" xmlns:a16="http://schemas.microsoft.com/office/drawing/2014/main" id="{C2EA4B19-389A-4B37-BE8F-9509103D039E}"/>
                </a:ext>
              </a:extLst>
            </p:cNvPr>
            <p:cNvSpPr/>
            <p:nvPr/>
          </p:nvSpPr>
          <p:spPr bwMode="auto">
            <a:xfrm>
              <a:off x="2432720" y="301869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dirty="0">
                  <a:solidFill>
                    <a:prstClr val="black"/>
                  </a:solidFill>
                </a:rPr>
                <a:t>예산절감 확정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2504728" y="309179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1. </a:t>
            </a:r>
            <a:r>
              <a:rPr lang="ko-KR" altLang="en-US" sz="900" kern="0">
                <a:solidFill>
                  <a:prstClr val="black"/>
                </a:solidFill>
              </a:rPr>
              <a:t>절감계획 </a:t>
            </a:r>
            <a:r>
              <a:rPr lang="ko-KR" altLang="en-US" sz="900" kern="0" smtClean="0">
                <a:solidFill>
                  <a:prstClr val="black"/>
                </a:solidFill>
              </a:rPr>
              <a:t>안 수립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2504729" y="38098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2. </a:t>
            </a:r>
            <a:r>
              <a:rPr lang="ko-KR" altLang="en-US" sz="900" kern="0" dirty="0">
                <a:solidFill>
                  <a:prstClr val="black"/>
                </a:solidFill>
              </a:rPr>
              <a:t>작성통보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9" name="Shape 266">
            <a:extLst>
              <a:ext uri="{FF2B5EF4-FFF2-40B4-BE49-F238E27FC236}">
                <a16:creationId xmlns="" xmlns:a16="http://schemas.microsoft.com/office/drawing/2014/main" id="{D580FC1E-9299-4DE1-BA6E-3A74A5FD9C53}"/>
              </a:ext>
            </a:extLst>
          </p:cNvPr>
          <p:cNvCxnSpPr>
            <a:cxnSpLocks noChangeShapeType="1"/>
            <a:stCxn id="63" idx="2"/>
            <a:endCxn id="42" idx="0"/>
          </p:cNvCxnSpPr>
          <p:nvPr/>
        </p:nvCxnSpPr>
        <p:spPr bwMode="auto">
          <a:xfrm>
            <a:off x="2882942" y="4130579"/>
            <a:ext cx="4083" cy="136127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0" name="순서도: 판단 58"/>
          <p:cNvSpPr>
            <a:spLocks noChangeAspect="1" noChangeArrowheads="1"/>
          </p:cNvSpPr>
          <p:nvPr/>
        </p:nvSpPr>
        <p:spPr bwMode="auto">
          <a:xfrm>
            <a:off x="4590460" y="4528686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예산절감목표 </a:t>
            </a:r>
            <a:r>
              <a:rPr lang="ko-KR" altLang="en-US" sz="900" kern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73180" y="388843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7. </a:t>
            </a:r>
            <a:r>
              <a:rPr lang="ko-KR" altLang="en-US" sz="900" kern="0" smtClean="0">
                <a:solidFill>
                  <a:prstClr val="black"/>
                </a:solidFill>
              </a:rPr>
              <a:t>절감목표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반영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" name="직선 화살표 연결선 10"/>
          <p:cNvCxnSpPr>
            <a:stCxn id="48" idx="2"/>
            <a:endCxn id="74" idx="0"/>
          </p:cNvCxnSpPr>
          <p:nvPr/>
        </p:nvCxnSpPr>
        <p:spPr>
          <a:xfrm>
            <a:off x="7541449" y="3434211"/>
            <a:ext cx="9944" cy="45422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Rectangle 179"/>
          <p:cNvSpPr>
            <a:spLocks noChangeArrowheads="1"/>
          </p:cNvSpPr>
          <p:nvPr/>
        </p:nvSpPr>
        <p:spPr bwMode="auto">
          <a:xfrm flipH="1">
            <a:off x="8242342" y="3809945"/>
            <a:ext cx="12743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예산배정 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–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절감목표액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)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76" name="그룹 35"/>
          <p:cNvGrpSpPr/>
          <p:nvPr/>
        </p:nvGrpSpPr>
        <p:grpSpPr>
          <a:xfrm flipH="1" flipV="1">
            <a:off x="7939549" y="3678572"/>
            <a:ext cx="307440" cy="360904"/>
            <a:chOff x="3031001" y="4475605"/>
            <a:chExt cx="322637" cy="356556"/>
          </a:xfrm>
        </p:grpSpPr>
        <p:sp>
          <p:nvSpPr>
            <p:cNvPr id="77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8222495" y="3592335"/>
            <a:ext cx="75533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smtClean="0">
                <a:solidFill>
                  <a:srgbClr val="0000CC"/>
                </a:solidFill>
              </a:rPr>
              <a:t>예산한도 차감</a:t>
            </a:r>
            <a:endParaRPr lang="ko-KR" altLang="en-US" sz="700" dirty="0" err="1" smtClean="0">
              <a:solidFill>
                <a:srgbClr val="0000CC"/>
              </a:solidFill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5337669" y="4293096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cxnSp>
        <p:nvCxnSpPr>
          <p:cNvPr id="20" name="꺾인 연결선 19"/>
          <p:cNvCxnSpPr>
            <a:stCxn id="54" idx="0"/>
            <a:endCxn id="62" idx="0"/>
          </p:cNvCxnSpPr>
          <p:nvPr/>
        </p:nvCxnSpPr>
        <p:spPr>
          <a:xfrm>
            <a:off x="2037017" y="2705405"/>
            <a:ext cx="845924" cy="38638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>
            <a:stCxn id="62" idx="2"/>
            <a:endCxn id="63" idx="0"/>
          </p:cNvCxnSpPr>
          <p:nvPr/>
        </p:nvCxnSpPr>
        <p:spPr>
          <a:xfrm>
            <a:off x="2882941" y="3412565"/>
            <a:ext cx="1" cy="3972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3301620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210725"/>
              </p:ext>
            </p:extLst>
          </p:nvPr>
        </p:nvGraphicFramePr>
        <p:xfrm>
          <a:off x="344488" y="1916832"/>
          <a:ext cx="9181020" cy="4398012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6122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971219"/>
                <a:gridCol w="1872208"/>
                <a:gridCol w="2340260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1.6.1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예산변경신청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예산변경승인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예산변경반영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1.6.4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추경예산관리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1060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1060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smtClean="0">
                <a:latin typeface="+mn-ea"/>
                <a:ea typeface="+mn-ea"/>
              </a:rPr>
              <a:t>연초에 편성한 예산은 집행과정에서 내부정책 변경이나 외부 환경의 변화로 과부족이 발생할 경우 타 부서 및 타 예산항목으로 전용하거나</a:t>
            </a:r>
            <a:r>
              <a:rPr lang="en-US" altLang="ko-KR" sz="1600" smtClean="0">
                <a:latin typeface="+mn-ea"/>
                <a:ea typeface="+mn-ea"/>
              </a:rPr>
              <a:t>,</a:t>
            </a:r>
            <a:r>
              <a:rPr lang="ko-KR" altLang="en-US" sz="1600" smtClean="0">
                <a:latin typeface="+mn-ea"/>
                <a:ea typeface="+mn-ea"/>
              </a:rPr>
              <a:t> 부족한 예산은 추경예산을 편성할 필요가 있으며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이를 처리할 수 있는 예산변경</a:t>
            </a:r>
            <a:r>
              <a:rPr lang="en-US" altLang="ko-KR" sz="1600" smtClean="0">
                <a:latin typeface="+mn-ea"/>
                <a:ea typeface="+mn-ea"/>
              </a:rPr>
              <a:t>(</a:t>
            </a:r>
            <a:r>
              <a:rPr lang="ko-KR" altLang="en-US" sz="1600" smtClean="0">
                <a:latin typeface="+mn-ea"/>
                <a:ea typeface="+mn-ea"/>
              </a:rPr>
              <a:t>이용</a:t>
            </a:r>
            <a:r>
              <a:rPr lang="en-US" altLang="ko-KR" sz="1600" smtClean="0">
                <a:latin typeface="+mn-ea"/>
                <a:ea typeface="+mn-ea"/>
              </a:rPr>
              <a:t>,</a:t>
            </a:r>
            <a:r>
              <a:rPr lang="ko-KR" altLang="en-US" sz="1600" smtClean="0">
                <a:latin typeface="+mn-ea"/>
                <a:ea typeface="+mn-ea"/>
              </a:rPr>
              <a:t>전용</a:t>
            </a:r>
            <a:r>
              <a:rPr lang="en-US" altLang="ko-KR" sz="1600" smtClean="0">
                <a:latin typeface="+mn-ea"/>
                <a:ea typeface="+mn-ea"/>
              </a:rPr>
              <a:t>) </a:t>
            </a:r>
            <a:r>
              <a:rPr lang="ko-KR" altLang="en-US" sz="1600" smtClean="0">
                <a:latin typeface="+mn-ea"/>
                <a:ea typeface="+mn-ea"/>
              </a:rPr>
              <a:t>및 추경예산 편성 기능을 구현함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3.2 </a:t>
            </a:r>
            <a:r>
              <a:rPr lang="ko-KR" altLang="en-US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3290459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1.1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1.6 </a:t>
                      </a:r>
                      <a:r>
                        <a:rPr kumimoji="1" lang="ko-KR" altLang="en-US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예산변경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44" name="Shape 266"/>
          <p:cNvCxnSpPr>
            <a:cxnSpLocks noChangeShapeType="1"/>
            <a:stCxn id="33" idx="3"/>
            <a:endCxn id="45" idx="1"/>
          </p:cNvCxnSpPr>
          <p:nvPr/>
        </p:nvCxnSpPr>
        <p:spPr bwMode="auto">
          <a:xfrm>
            <a:off x="2997400" y="5412884"/>
            <a:ext cx="803472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5" name="직사각형 44"/>
          <p:cNvSpPr/>
          <p:nvPr/>
        </p:nvSpPr>
        <p:spPr bwMode="auto">
          <a:xfrm>
            <a:off x="3800872" y="52524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3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예산변경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신청 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5" name="Shape 266"/>
          <p:cNvCxnSpPr>
            <a:cxnSpLocks noChangeShapeType="1"/>
            <a:endCxn id="54" idx="2"/>
          </p:cNvCxnSpPr>
          <p:nvPr/>
        </p:nvCxnSpPr>
        <p:spPr bwMode="auto">
          <a:xfrm flipH="1" flipV="1">
            <a:off x="4179085" y="4797263"/>
            <a:ext cx="17892" cy="45523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" name="직사각형 86"/>
          <p:cNvSpPr/>
          <p:nvPr/>
        </p:nvSpPr>
        <p:spPr bwMode="auto">
          <a:xfrm>
            <a:off x="3800872" y="311582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5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예산파트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dirty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54" idx="0"/>
            <a:endCxn id="87" idx="2"/>
          </p:cNvCxnSpPr>
          <p:nvPr/>
        </p:nvCxnSpPr>
        <p:spPr bwMode="auto">
          <a:xfrm flipV="1">
            <a:off x="4179085" y="3436596"/>
            <a:ext cx="0" cy="103989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직사각형 29"/>
          <p:cNvSpPr/>
          <p:nvPr/>
        </p:nvSpPr>
        <p:spPr bwMode="auto">
          <a:xfrm>
            <a:off x="2244842" y="448187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</a:t>
            </a:r>
            <a:r>
              <a:rPr lang="en-US" altLang="ko-KR" sz="900" kern="0" smtClean="0">
                <a:solidFill>
                  <a:prstClr val="black"/>
                </a:solidFill>
              </a:rPr>
              <a:t> </a:t>
            </a:r>
            <a:r>
              <a:rPr lang="ko-KR" altLang="en-US" sz="900" kern="0" smtClean="0">
                <a:solidFill>
                  <a:prstClr val="black"/>
                </a:solidFill>
              </a:rPr>
              <a:t>변경 </a:t>
            </a:r>
            <a:r>
              <a:rPr lang="ko-KR" altLang="en-US" sz="900" kern="0" dirty="0">
                <a:solidFill>
                  <a:prstClr val="black"/>
                </a:solidFill>
              </a:rPr>
              <a:t>협의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2240975" y="52524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 변경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>
                <a:solidFill>
                  <a:prstClr val="black"/>
                </a:solidFill>
              </a:rPr>
              <a:t>신</a:t>
            </a:r>
            <a:r>
              <a:rPr lang="ko-KR" altLang="en-US" sz="900" kern="0" smtClean="0">
                <a:solidFill>
                  <a:prstClr val="black"/>
                </a:solidFill>
              </a:rPr>
              <a:t>청서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5" name="그룹 35"/>
          <p:cNvGrpSpPr/>
          <p:nvPr/>
        </p:nvGrpSpPr>
        <p:grpSpPr>
          <a:xfrm flipH="1" flipV="1">
            <a:off x="2661789" y="4132866"/>
            <a:ext cx="307440" cy="360904"/>
            <a:chOff x="3031001" y="4475605"/>
            <a:chExt cx="322637" cy="356556"/>
          </a:xfrm>
        </p:grpSpPr>
        <p:sp>
          <p:nvSpPr>
            <p:cNvPr id="37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9" name="Rectangle 179"/>
          <p:cNvSpPr>
            <a:spLocks noChangeArrowheads="1"/>
          </p:cNvSpPr>
          <p:nvPr/>
        </p:nvSpPr>
        <p:spPr bwMode="auto">
          <a:xfrm flipH="1">
            <a:off x="2939800" y="4172312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부서내 예산 </a:t>
            </a:r>
            <a:r>
              <a:rPr kumimoji="1" lang="ko-KR" altLang="en-US" sz="800" kern="0" dirty="0">
                <a:solidFill>
                  <a:prstClr val="black"/>
                </a:solidFill>
              </a:rPr>
              <a:t>확인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부서간 협의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6009422" y="311582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6.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예산변경</a:t>
            </a:r>
            <a:endParaRPr lang="en-US" altLang="ko-KR" sz="900" kern="0" dirty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반영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9" name="Shape 266"/>
          <p:cNvCxnSpPr>
            <a:cxnSpLocks noChangeShapeType="1"/>
            <a:stCxn id="30" idx="2"/>
            <a:endCxn id="33" idx="0"/>
          </p:cNvCxnSpPr>
          <p:nvPr/>
        </p:nvCxnSpPr>
        <p:spPr bwMode="auto">
          <a:xfrm flipH="1">
            <a:off x="2619188" y="4802649"/>
            <a:ext cx="3867" cy="449849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5" name="Shape 266"/>
          <p:cNvCxnSpPr>
            <a:cxnSpLocks noChangeShapeType="1"/>
            <a:stCxn id="27" idx="0"/>
            <a:endCxn id="30" idx="1"/>
          </p:cNvCxnSpPr>
          <p:nvPr/>
        </p:nvCxnSpPr>
        <p:spPr bwMode="auto">
          <a:xfrm flipV="1">
            <a:off x="2119745" y="4642264"/>
            <a:ext cx="125097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61"/>
          <p:cNvGrpSpPr/>
          <p:nvPr/>
        </p:nvGrpSpPr>
        <p:grpSpPr>
          <a:xfrm>
            <a:off x="1363320" y="4437112"/>
            <a:ext cx="756425" cy="410305"/>
            <a:chOff x="1532620" y="4422851"/>
            <a:chExt cx="756425" cy="410305"/>
          </a:xfrm>
        </p:grpSpPr>
        <p:sp>
          <p:nvSpPr>
            <p:cNvPr id="26" name="직사각형 25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7" name="육각형 26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>
                  <a:solidFill>
                    <a:prstClr val="black"/>
                  </a:solidFill>
                </a:rPr>
                <a:t>예산변경 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필요 인식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9" name="Rectangle 179"/>
          <p:cNvSpPr>
            <a:spLocks noChangeArrowheads="1"/>
          </p:cNvSpPr>
          <p:nvPr/>
        </p:nvSpPr>
        <p:spPr bwMode="auto">
          <a:xfrm flipH="1">
            <a:off x="4891589" y="2916600"/>
            <a:ext cx="1161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단위사업 간 예산변경</a:t>
            </a:r>
            <a:endParaRPr kumimoji="1" lang="en-US" altLang="ko-KR" sz="800" kern="0" dirty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dirty="0">
                <a:solidFill>
                  <a:prstClr val="black"/>
                </a:solidFill>
              </a:rPr>
              <a:t>목 간 예산변경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6" name="Rectangle 179"/>
          <p:cNvSpPr>
            <a:spLocks noChangeArrowheads="1"/>
          </p:cNvSpPr>
          <p:nvPr/>
        </p:nvSpPr>
        <p:spPr bwMode="auto">
          <a:xfrm flipH="1">
            <a:off x="4904544" y="2713334"/>
            <a:ext cx="115663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예산항목간 예산변경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1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6/7)</a:t>
            </a:r>
            <a:endParaRPr lang="ko-KR" altLang="en-US" sz="1800" dirty="0"/>
          </a:p>
        </p:txBody>
      </p:sp>
      <p:sp>
        <p:nvSpPr>
          <p:cNvPr id="54" name="직사각형 53"/>
          <p:cNvSpPr/>
          <p:nvPr/>
        </p:nvSpPr>
        <p:spPr bwMode="auto">
          <a:xfrm>
            <a:off x="3800872" y="447649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4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예산변경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신청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62" name="그룹 35"/>
          <p:cNvGrpSpPr/>
          <p:nvPr/>
        </p:nvGrpSpPr>
        <p:grpSpPr>
          <a:xfrm flipH="1" flipV="1">
            <a:off x="4197683" y="2751037"/>
            <a:ext cx="307440" cy="360904"/>
            <a:chOff x="3031001" y="4475605"/>
            <a:chExt cx="322637" cy="356556"/>
          </a:xfrm>
        </p:grpSpPr>
        <p:sp>
          <p:nvSpPr>
            <p:cNvPr id="64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" name="TextBox 30"/>
          <p:cNvSpPr txBox="1"/>
          <p:nvPr/>
        </p:nvSpPr>
        <p:spPr>
          <a:xfrm>
            <a:off x="4419308" y="2635193"/>
            <a:ext cx="4860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smtClean="0"/>
              <a:t>[</a:t>
            </a:r>
            <a:r>
              <a:rPr lang="ko-KR" altLang="en-US" sz="900" smtClean="0"/>
              <a:t>조정</a:t>
            </a:r>
            <a:r>
              <a:rPr lang="en-US" altLang="ko-KR" sz="900" smtClean="0"/>
              <a:t>]</a:t>
            </a:r>
            <a:endParaRPr lang="ko-KR" altLang="en-US" sz="900" dirty="0" err="1" smtClean="0"/>
          </a:p>
        </p:txBody>
      </p:sp>
      <p:sp>
        <p:nvSpPr>
          <p:cNvPr id="68" name="TextBox 67"/>
          <p:cNvSpPr txBox="1"/>
          <p:nvPr/>
        </p:nvSpPr>
        <p:spPr>
          <a:xfrm>
            <a:off x="4432352" y="2904435"/>
            <a:ext cx="4860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smtClean="0"/>
              <a:t>[</a:t>
            </a:r>
            <a:r>
              <a:rPr lang="ko-KR" altLang="en-US" sz="900" smtClean="0"/>
              <a:t>전용</a:t>
            </a:r>
            <a:r>
              <a:rPr lang="en-US" altLang="ko-KR" sz="900" smtClean="0"/>
              <a:t>]</a:t>
            </a:r>
            <a:endParaRPr lang="ko-KR" altLang="en-US" sz="900" dirty="0" err="1" smtClean="0"/>
          </a:p>
        </p:txBody>
      </p:sp>
      <p:cxnSp>
        <p:nvCxnSpPr>
          <p:cNvPr id="70" name="Shape 266"/>
          <p:cNvCxnSpPr>
            <a:cxnSpLocks noChangeShapeType="1"/>
            <a:stCxn id="87" idx="3"/>
            <a:endCxn id="42" idx="1"/>
          </p:cNvCxnSpPr>
          <p:nvPr/>
        </p:nvCxnSpPr>
        <p:spPr bwMode="auto">
          <a:xfrm flipV="1">
            <a:off x="4557297" y="3276210"/>
            <a:ext cx="1452125" cy="1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" name="직사각형 70"/>
          <p:cNvSpPr/>
          <p:nvPr/>
        </p:nvSpPr>
        <p:spPr bwMode="auto">
          <a:xfrm>
            <a:off x="7329264" y="31087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7. </a:t>
            </a:r>
            <a:r>
              <a:rPr lang="ko-KR" altLang="en-US" sz="900" kern="0" smtClean="0">
                <a:solidFill>
                  <a:prstClr val="black"/>
                </a:solidFill>
              </a:rPr>
              <a:t>추경 차수 </a:t>
            </a:r>
            <a:r>
              <a:rPr lang="en-US" altLang="ko-KR" sz="900" kern="0" smtClean="0">
                <a:solidFill>
                  <a:prstClr val="black"/>
                </a:solidFill>
              </a:rPr>
              <a:t>open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7329264" y="524713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8. </a:t>
            </a:r>
            <a:r>
              <a:rPr lang="ko-KR" altLang="en-US" sz="900" kern="0" smtClean="0">
                <a:solidFill>
                  <a:prstClr val="black"/>
                </a:solidFill>
              </a:rPr>
              <a:t>추경 예산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편성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77" name="그룹 61"/>
          <p:cNvGrpSpPr/>
          <p:nvPr/>
        </p:nvGrpSpPr>
        <p:grpSpPr>
          <a:xfrm>
            <a:off x="7335126" y="2340304"/>
            <a:ext cx="756425" cy="410305"/>
            <a:chOff x="1532620" y="4422851"/>
            <a:chExt cx="756425" cy="410305"/>
          </a:xfrm>
        </p:grpSpPr>
        <p:sp>
          <p:nvSpPr>
            <p:cNvPr id="78" name="직사각형 77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9" name="육각형 78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추경예산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편성 결정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80" name="직사각형 79"/>
          <p:cNvSpPr/>
          <p:nvPr/>
        </p:nvSpPr>
        <p:spPr bwMode="auto">
          <a:xfrm>
            <a:off x="8409384" y="52513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9. </a:t>
            </a:r>
            <a:r>
              <a:rPr lang="ko-KR" altLang="en-US" sz="900" kern="0" smtClean="0">
                <a:solidFill>
                  <a:prstClr val="black"/>
                </a:solidFill>
              </a:rPr>
              <a:t>추경 예산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승인요청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2" name="순서도: 판단 58"/>
          <p:cNvSpPr>
            <a:spLocks noChangeAspect="1" noChangeArrowheads="1"/>
          </p:cNvSpPr>
          <p:nvPr/>
        </p:nvSpPr>
        <p:spPr bwMode="auto">
          <a:xfrm>
            <a:off x="8064283" y="4509120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10.</a:t>
            </a:r>
            <a:r>
              <a:rPr lang="ko-KR" altLang="en-US" sz="900" kern="0" smtClean="0"/>
              <a:t>예산요구서 승인</a:t>
            </a:r>
            <a:endParaRPr lang="ko-KR" altLang="en-US" sz="900" kern="0" dirty="0"/>
          </a:p>
        </p:txBody>
      </p:sp>
      <p:cxnSp>
        <p:nvCxnSpPr>
          <p:cNvPr id="49" name="직선 화살표 연결선 48"/>
          <p:cNvCxnSpPr>
            <a:stCxn id="71" idx="2"/>
            <a:endCxn id="72" idx="0"/>
          </p:cNvCxnSpPr>
          <p:nvPr/>
        </p:nvCxnSpPr>
        <p:spPr>
          <a:xfrm>
            <a:off x="7707477" y="3429568"/>
            <a:ext cx="0" cy="181756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/>
          <p:cNvCxnSpPr>
            <a:stCxn id="72" idx="3"/>
            <a:endCxn id="80" idx="1"/>
          </p:cNvCxnSpPr>
          <p:nvPr/>
        </p:nvCxnSpPr>
        <p:spPr>
          <a:xfrm>
            <a:off x="8085689" y="5407516"/>
            <a:ext cx="323695" cy="42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80" idx="0"/>
            <a:endCxn id="82" idx="2"/>
          </p:cNvCxnSpPr>
          <p:nvPr/>
        </p:nvCxnSpPr>
        <p:spPr>
          <a:xfrm flipH="1" flipV="1">
            <a:off x="8785613" y="4861110"/>
            <a:ext cx="1984" cy="39026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직사각형 88"/>
          <p:cNvSpPr/>
          <p:nvPr/>
        </p:nvSpPr>
        <p:spPr bwMode="auto">
          <a:xfrm>
            <a:off x="8409384" y="31089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11. </a:t>
            </a:r>
            <a:r>
              <a:rPr lang="ko-KR" altLang="en-US" sz="900" kern="0" smtClean="0">
                <a:solidFill>
                  <a:prstClr val="black"/>
                </a:solidFill>
              </a:rPr>
              <a:t>추경 예산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2" name="직선 화살표 연결선 91"/>
          <p:cNvCxnSpPr>
            <a:endCxn id="71" idx="0"/>
          </p:cNvCxnSpPr>
          <p:nvPr/>
        </p:nvCxnSpPr>
        <p:spPr>
          <a:xfrm>
            <a:off x="7707477" y="2745051"/>
            <a:ext cx="0" cy="36374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화살표 연결선 96"/>
          <p:cNvCxnSpPr>
            <a:stCxn id="82" idx="0"/>
            <a:endCxn id="89" idx="2"/>
          </p:cNvCxnSpPr>
          <p:nvPr/>
        </p:nvCxnSpPr>
        <p:spPr>
          <a:xfrm flipV="1">
            <a:off x="8785613" y="3429725"/>
            <a:ext cx="1984" cy="107939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8805034" y="4293096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81222973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예</a:t>
            </a:r>
            <a:r>
              <a:rPr lang="ko-KR" altLang="en-US" smtClean="0">
                <a:solidFill>
                  <a:srgbClr val="000000"/>
                </a:solidFill>
              </a:rPr>
              <a:t>산 </a:t>
            </a:r>
            <a:r>
              <a:rPr lang="ko-KR" altLang="en-US">
                <a:solidFill>
                  <a:srgbClr val="000000"/>
                </a:solidFill>
              </a:rPr>
              <a:t>건별로 </a:t>
            </a:r>
            <a:r>
              <a:rPr lang="ko-KR" altLang="en-US" smtClean="0">
                <a:solidFill>
                  <a:srgbClr val="000000"/>
                </a:solidFill>
              </a:rPr>
              <a:t>예산잔액에 대한 불용 및 이월처리로 예산 결산작업을 수행하여 차기 이월예산을 자동으로 생성하고</a:t>
            </a:r>
            <a:r>
              <a:rPr lang="en-US" altLang="ko-KR" smtClean="0">
                <a:solidFill>
                  <a:srgbClr val="000000"/>
                </a:solidFill>
              </a:rPr>
              <a:t>, </a:t>
            </a:r>
            <a:r>
              <a:rPr lang="ko-KR" altLang="en-US" smtClean="0">
                <a:solidFill>
                  <a:srgbClr val="000000"/>
                </a:solidFill>
              </a:rPr>
              <a:t>예산 결산서 </a:t>
            </a:r>
            <a:r>
              <a:rPr lang="ko-KR" altLang="en-US">
                <a:solidFill>
                  <a:srgbClr val="000000"/>
                </a:solidFill>
              </a:rPr>
              <a:t>및 </a:t>
            </a:r>
            <a:r>
              <a:rPr lang="ko-KR" altLang="en-US" smtClean="0">
                <a:solidFill>
                  <a:srgbClr val="000000"/>
                </a:solidFill>
              </a:rPr>
              <a:t>예산결산 부속명세서를 조회</a:t>
            </a:r>
            <a:r>
              <a:rPr lang="en-US" altLang="ko-KR" smtClean="0">
                <a:solidFill>
                  <a:srgbClr val="000000"/>
                </a:solidFill>
              </a:rPr>
              <a:t>/</a:t>
            </a:r>
            <a:r>
              <a:rPr lang="ko-KR" altLang="en-US" smtClean="0">
                <a:solidFill>
                  <a:srgbClr val="000000"/>
                </a:solidFill>
              </a:rPr>
              <a:t>출력하는 기능을 구현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3.2 </a:t>
            </a:r>
            <a:r>
              <a:rPr lang="ko-KR" altLang="en-US" sz="1200" dirty="0">
                <a:solidFill>
                  <a:prstClr val="black"/>
                </a:solidFill>
              </a:rPr>
              <a:t>예산관리 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7627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1.7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예산 결산</a:t>
                      </a:r>
                      <a:endParaRPr kumimoji="1" lang="ko-KR" altLang="en-US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04602"/>
              </p:ext>
            </p:extLst>
          </p:nvPr>
        </p:nvGraphicFramePr>
        <p:xfrm>
          <a:off x="344488" y="1924188"/>
          <a:ext cx="9181020" cy="431312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예산잔액 불용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1.7.2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 이월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1.7.3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 결산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2801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예산파트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5618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="" xmlns:a16="http://schemas.microsoft.com/office/drawing/2014/main" id="{DCE77E13-3276-4D48-A854-98355A596513}"/>
              </a:ext>
            </a:extLst>
          </p:cNvPr>
          <p:cNvSpPr/>
          <p:nvPr/>
        </p:nvSpPr>
        <p:spPr bwMode="auto">
          <a:xfrm>
            <a:off x="5492719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4. </a:t>
            </a:r>
            <a:r>
              <a:rPr lang="ko-KR" altLang="en-US" sz="900" kern="0" smtClean="0">
                <a:solidFill>
                  <a:prstClr val="black"/>
                </a:solidFill>
              </a:rPr>
              <a:t>차기이월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예산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95A9A25D-D559-4350-B697-E17F705AAB3B}"/>
              </a:ext>
            </a:extLst>
          </p:cNvPr>
          <p:cNvSpPr/>
          <p:nvPr/>
        </p:nvSpPr>
        <p:spPr bwMode="auto">
          <a:xfrm>
            <a:off x="4160912" y="5491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예산이월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63236" y="343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예산결산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2252359" y="343635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예산잔액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   불용처리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5492719" y="34290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예산이월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1" name="Shape 266">
            <a:extLst>
              <a:ext uri="{FF2B5EF4-FFF2-40B4-BE49-F238E27FC236}">
                <a16:creationId xmlns="" xmlns:a16="http://schemas.microsoft.com/office/drawing/2014/main" id="{95B84453-5B18-4DD4-B776-256B767C7EFE}"/>
              </a:ext>
            </a:extLst>
          </p:cNvPr>
          <p:cNvCxnSpPr>
            <a:cxnSpLocks noChangeShapeType="1"/>
            <a:stCxn id="49" idx="3"/>
            <a:endCxn id="50" idx="1"/>
          </p:cNvCxnSpPr>
          <p:nvPr/>
        </p:nvCxnSpPr>
        <p:spPr bwMode="auto">
          <a:xfrm flipV="1">
            <a:off x="3008784" y="3589386"/>
            <a:ext cx="2483935" cy="7356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748883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3.2.2 </a:t>
            </a:r>
            <a:r>
              <a:rPr lang="ko-KR" altLang="en-US"/>
              <a:t>예산관리</a:t>
            </a:r>
            <a:r>
              <a:rPr lang="en-US" altLang="ko-KR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2.2.1 </a:t>
            </a:r>
            <a:r>
              <a:rPr lang="ko-KR" altLang="en-US" sz="1800" dirty="0">
                <a:solidFill>
                  <a:prstClr val="black"/>
                </a:solidFill>
              </a:rPr>
              <a:t>예산관리 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7/7)</a:t>
            </a:r>
            <a:endParaRPr lang="ko-KR" altLang="en-US" sz="1800" dirty="0"/>
          </a:p>
        </p:txBody>
      </p:sp>
      <p:grpSp>
        <p:nvGrpSpPr>
          <p:cNvPr id="45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4351938" y="5812616"/>
            <a:ext cx="187187" cy="284436"/>
            <a:chOff x="3031001" y="4549936"/>
            <a:chExt cx="468590" cy="326029"/>
          </a:xfrm>
        </p:grpSpPr>
        <p:sp>
          <p:nvSpPr>
            <p:cNvPr id="46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378533" cy="23130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39125" y="5855766"/>
            <a:ext cx="8209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예산이월사유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5" name="꺾인 연결선 14"/>
          <p:cNvCxnSpPr>
            <a:stCxn id="34" idx="3"/>
            <a:endCxn id="50" idx="1"/>
          </p:cNvCxnSpPr>
          <p:nvPr/>
        </p:nvCxnSpPr>
        <p:spPr>
          <a:xfrm flipV="1">
            <a:off x="4917337" y="3589386"/>
            <a:ext cx="575382" cy="2062849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50" idx="2"/>
            <a:endCxn id="28" idx="0"/>
          </p:cNvCxnSpPr>
          <p:nvPr/>
        </p:nvCxnSpPr>
        <p:spPr>
          <a:xfrm>
            <a:off x="5870932" y="3749771"/>
            <a:ext cx="0" cy="174207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/>
          <p:cNvCxnSpPr>
            <a:stCxn id="50" idx="3"/>
            <a:endCxn id="35" idx="1"/>
          </p:cNvCxnSpPr>
          <p:nvPr/>
        </p:nvCxnSpPr>
        <p:spPr>
          <a:xfrm>
            <a:off x="6249144" y="3589386"/>
            <a:ext cx="914092" cy="735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7524515" y="3759834"/>
            <a:ext cx="187187" cy="1595451"/>
            <a:chOff x="3031001" y="3047210"/>
            <a:chExt cx="468590" cy="1828755"/>
          </a:xfrm>
        </p:grpSpPr>
        <p:sp>
          <p:nvSpPr>
            <p:cNvPr id="57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378533" cy="23130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3047210"/>
              <a:ext cx="90052" cy="172605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9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11701" y="3861048"/>
            <a:ext cx="1617607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수입 </a:t>
            </a:r>
            <a:r>
              <a:rPr kumimoji="1" lang="ko-KR" altLang="en-US" sz="800" kern="0">
                <a:solidFill>
                  <a:prstClr val="black"/>
                </a:solidFill>
              </a:rPr>
              <a:t>결산보고서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지출 결산보고서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명시이월비 집행실적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사고이월비 명세서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예비비 사용명세서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계속비 명세서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연차별 계속비 집행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명세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수입</a:t>
            </a:r>
            <a:r>
              <a:rPr kumimoji="1" lang="en-US" altLang="ko-KR" sz="800" kern="0">
                <a:solidFill>
                  <a:prstClr val="black"/>
                </a:solidFill>
              </a:rPr>
              <a:t>-</a:t>
            </a:r>
            <a:r>
              <a:rPr kumimoji="1" lang="ko-KR" altLang="en-US" sz="800" kern="0">
                <a:solidFill>
                  <a:prstClr val="black"/>
                </a:solidFill>
              </a:rPr>
              <a:t>손익계정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지출</a:t>
            </a:r>
            <a:r>
              <a:rPr kumimoji="1" lang="en-US" altLang="ko-KR" sz="800" kern="0">
                <a:solidFill>
                  <a:prstClr val="black"/>
                </a:solidFill>
              </a:rPr>
              <a:t>-</a:t>
            </a:r>
            <a:r>
              <a:rPr kumimoji="1" lang="ko-KR" altLang="en-US" sz="800" kern="0">
                <a:solidFill>
                  <a:prstClr val="black"/>
                </a:solidFill>
              </a:rPr>
              <a:t>손익계정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수입 결산보고서</a:t>
            </a:r>
            <a:r>
              <a:rPr kumimoji="1" lang="en-US" altLang="ko-KR" sz="800" kern="0">
                <a:solidFill>
                  <a:prstClr val="black"/>
                </a:solidFill>
              </a:rPr>
              <a:t>(</a:t>
            </a:r>
            <a:r>
              <a:rPr kumimoji="1" lang="ko-KR" altLang="en-US" sz="800" kern="0">
                <a:solidFill>
                  <a:prstClr val="black"/>
                </a:solidFill>
              </a:rPr>
              <a:t>합산</a:t>
            </a:r>
            <a:r>
              <a:rPr kumimoji="1" lang="en-US" altLang="ko-KR" sz="800" kern="0">
                <a:solidFill>
                  <a:prstClr val="black"/>
                </a:solidFill>
              </a:rPr>
              <a:t>)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지출 결산보고서</a:t>
            </a:r>
            <a:r>
              <a:rPr kumimoji="1" lang="en-US" altLang="ko-KR" sz="800" kern="0">
                <a:solidFill>
                  <a:prstClr val="black"/>
                </a:solidFill>
              </a:rPr>
              <a:t>(</a:t>
            </a:r>
            <a:r>
              <a:rPr kumimoji="1" lang="ko-KR" altLang="en-US" sz="800" kern="0">
                <a:solidFill>
                  <a:prstClr val="black"/>
                </a:solidFill>
              </a:rPr>
              <a:t>합산</a:t>
            </a:r>
            <a:r>
              <a:rPr kumimoji="1" lang="en-US" altLang="ko-KR" sz="800" kern="0">
                <a:solidFill>
                  <a:prstClr val="black"/>
                </a:solidFill>
              </a:rPr>
              <a:t>)</a:t>
            </a: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사업별 각목명세서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25354806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79157" y="885967"/>
            <a:ext cx="9180512" cy="623391"/>
          </a:xfrm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회계업무는 회계기준자료</a:t>
            </a:r>
            <a:r>
              <a:rPr lang="en-US" altLang="ko-KR" smtClean="0"/>
              <a:t>, </a:t>
            </a:r>
            <a:r>
              <a:rPr lang="ko-KR" altLang="en-US" smtClean="0"/>
              <a:t>결의서관리</a:t>
            </a:r>
            <a:r>
              <a:rPr lang="en-US" altLang="ko-KR" smtClean="0"/>
              <a:t>, </a:t>
            </a:r>
            <a:r>
              <a:rPr lang="ko-KR" altLang="en-US" smtClean="0"/>
              <a:t>전표관리</a:t>
            </a:r>
            <a:r>
              <a:rPr lang="en-US" altLang="ko-KR" smtClean="0"/>
              <a:t>, </a:t>
            </a:r>
            <a:r>
              <a:rPr lang="ko-KR" altLang="en-US" smtClean="0"/>
              <a:t>자금관리</a:t>
            </a:r>
            <a:r>
              <a:rPr lang="en-US" altLang="ko-KR" smtClean="0"/>
              <a:t>, </a:t>
            </a:r>
            <a:r>
              <a:rPr lang="ko-KR" altLang="en-US" smtClean="0"/>
              <a:t>결산관리</a:t>
            </a:r>
            <a:r>
              <a:rPr lang="en-US" altLang="ko-KR" smtClean="0"/>
              <a:t>, </a:t>
            </a:r>
            <a:r>
              <a:rPr lang="ko-KR" altLang="en-US" smtClean="0"/>
              <a:t>세무관리</a:t>
            </a:r>
            <a:r>
              <a:rPr lang="en-US" altLang="ko-KR"/>
              <a:t> </a:t>
            </a:r>
            <a:r>
              <a:rPr lang="ko-KR" altLang="en-US" smtClean="0"/>
              <a:t>부문으로 분류하고</a:t>
            </a:r>
            <a:r>
              <a:rPr lang="en-US" altLang="ko-KR" smtClean="0"/>
              <a:t>, </a:t>
            </a:r>
            <a:r>
              <a:rPr lang="ko-KR" altLang="en-US" smtClean="0"/>
              <a:t>각 업무구분별 세부기능을 추가 및 보완하여 예산을 집행하는 시점부터 예산</a:t>
            </a:r>
            <a:r>
              <a:rPr lang="en-US" altLang="ko-KR" smtClean="0"/>
              <a:t>/</a:t>
            </a:r>
            <a:r>
              <a:rPr lang="ko-KR" altLang="en-US" smtClean="0"/>
              <a:t>회계</a:t>
            </a:r>
            <a:r>
              <a:rPr lang="en-US" altLang="ko-KR" smtClean="0"/>
              <a:t>/</a:t>
            </a:r>
            <a:r>
              <a:rPr lang="ko-KR" altLang="en-US" smtClean="0"/>
              <a:t>자산</a:t>
            </a:r>
            <a:r>
              <a:rPr lang="en-US" altLang="ko-KR" smtClean="0"/>
              <a:t>/</a:t>
            </a:r>
            <a:r>
              <a:rPr lang="ko-KR" altLang="en-US" smtClean="0"/>
              <a:t>사업 등의 관련업무가 통합처리되어 정보의 무결성을 유지하도록 함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>
                <a:solidFill>
                  <a:prstClr val="black"/>
                </a:solidFill>
              </a:rPr>
              <a:t>업무프로세스 </a:t>
            </a:r>
            <a:r>
              <a:rPr lang="ko-KR" altLang="en-US" smtClean="0">
                <a:solidFill>
                  <a:prstClr val="black"/>
                </a:solidFill>
              </a:rPr>
              <a:t>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52800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2.2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결의서 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316" idx="0"/>
          </p:cNvCxnSpPr>
          <p:nvPr/>
        </p:nvCxnSpPr>
        <p:spPr bwMode="auto">
          <a:xfrm rot="5400000">
            <a:off x="3973926" y="1408829"/>
            <a:ext cx="270790" cy="236563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33929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2.2.1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지출결의관리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 flipH="1">
            <a:off x="2926467" y="3126413"/>
            <a:ext cx="38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058161"/>
            <a:ext cx="82633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smtClean="0">
                <a:solidFill>
                  <a:prstClr val="white"/>
                </a:solidFill>
                <a:latin typeface="+mn-ea"/>
              </a:rPr>
              <a:t>2. </a:t>
            </a:r>
            <a:r>
              <a:rPr lang="ko-KR" altLang="en-US" sz="1300" b="1" kern="0" smtClean="0">
                <a:solidFill>
                  <a:prstClr val="white"/>
                </a:solidFill>
                <a:latin typeface="+mn-ea"/>
              </a:rPr>
              <a:t>회계관리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2.3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자금 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2.4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전표관리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88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2.5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결산관리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9337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2.6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00"/>
                </a:solidFill>
                <a:latin typeface="+mn-ea"/>
              </a:rPr>
              <a:t>세무관리</a:t>
            </a:r>
            <a:endParaRPr lang="ko-KR" altLang="en-US" sz="1100" b="1" kern="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cxnSpLocks/>
            <a:stCxn id="320" idx="2"/>
            <a:endCxn id="324" idx="0"/>
          </p:cNvCxnSpPr>
          <p:nvPr/>
        </p:nvCxnSpPr>
        <p:spPr bwMode="auto">
          <a:xfrm rot="16200000" flipH="1">
            <a:off x="6342423" y="1405961"/>
            <a:ext cx="270790" cy="237136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cxnSpLocks/>
            <a:stCxn id="320" idx="2"/>
            <a:endCxn id="321" idx="0"/>
          </p:cNvCxnSpPr>
          <p:nvPr/>
        </p:nvCxnSpPr>
        <p:spPr bwMode="auto">
          <a:xfrm rot="5400000">
            <a:off x="4566050" y="2000953"/>
            <a:ext cx="270790" cy="1181382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cxnSpLocks/>
            <a:stCxn id="320" idx="2"/>
            <a:endCxn id="322" idx="0"/>
          </p:cNvCxnSpPr>
          <p:nvPr/>
        </p:nvCxnSpPr>
        <p:spPr bwMode="auto">
          <a:xfrm rot="16200000" flipH="1">
            <a:off x="5158174" y="2590210"/>
            <a:ext cx="270790" cy="286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cxnSpLocks/>
            <a:stCxn id="320" idx="2"/>
            <a:endCxn id="323" idx="0"/>
          </p:cNvCxnSpPr>
          <p:nvPr/>
        </p:nvCxnSpPr>
        <p:spPr bwMode="auto">
          <a:xfrm rot="16200000" flipH="1">
            <a:off x="5750299" y="1998086"/>
            <a:ext cx="270790" cy="118711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3392997"/>
            <a:ext cx="112832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2.3.1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자금집행관리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33929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2.4.1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전표내역조회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9337" y="33929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2.6.1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세금계산서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4509120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2.3.3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은행연계내역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5062893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2.3.4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법인카드관리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5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5613756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2.3.5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전자세금계산서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3946770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2.4.2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전표마감관리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4110754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 flipH="1">
            <a:off x="5294965" y="3126413"/>
            <a:ext cx="38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 flipH="1">
            <a:off x="6479214" y="3126413"/>
            <a:ext cx="38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 flipH="1">
            <a:off x="7663463" y="3126413"/>
            <a:ext cx="38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4110754" y="3815738"/>
            <a:ext cx="0" cy="69338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5294965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4110754" y="493186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4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4" idx="2"/>
            <a:endCxn id="335" idx="0"/>
          </p:cNvCxnSpPr>
          <p:nvPr/>
        </p:nvCxnSpPr>
        <p:spPr bwMode="auto">
          <a:xfrm>
            <a:off x="4110754" y="548563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5" name="Rectangle 43">
            <a:extLst>
              <a:ext uri="{FF2B5EF4-FFF2-40B4-BE49-F238E27FC236}">
                <a16:creationId xmlns="" xmlns:a16="http://schemas.microsoft.com/office/drawing/2014/main" id="{5EA76E40-3173-4A0C-B239-99BF3DD71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3586" y="2727039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2.7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00"/>
                </a:solidFill>
                <a:latin typeface="+mn-ea"/>
              </a:rPr>
              <a:t>연결재무제표</a:t>
            </a:r>
            <a:endParaRPr lang="ko-KR" altLang="en-US" sz="1100" b="1" kern="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46" name="꺾인 연결선 69">
            <a:extLst>
              <a:ext uri="{FF2B5EF4-FFF2-40B4-BE49-F238E27FC236}">
                <a16:creationId xmlns="" xmlns:a16="http://schemas.microsoft.com/office/drawing/2014/main" id="{135AD304-C4D2-4D92-8163-BDD70B7D769A}"/>
              </a:ext>
            </a:extLst>
          </p:cNvPr>
          <p:cNvCxnSpPr>
            <a:cxnSpLocks/>
            <a:stCxn id="320" idx="2"/>
            <a:endCxn id="345" idx="0"/>
          </p:cNvCxnSpPr>
          <p:nvPr/>
        </p:nvCxnSpPr>
        <p:spPr bwMode="auto">
          <a:xfrm rot="16200000" flipH="1">
            <a:off x="6934548" y="813837"/>
            <a:ext cx="270790" cy="355561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48" name="꺾인 연결선 91">
            <a:extLst>
              <a:ext uri="{FF2B5EF4-FFF2-40B4-BE49-F238E27FC236}">
                <a16:creationId xmlns="" xmlns:a16="http://schemas.microsoft.com/office/drawing/2014/main" id="{B7342035-BFB6-4623-978A-0DD668652F6A}"/>
              </a:ext>
            </a:extLst>
          </p:cNvPr>
          <p:cNvCxnSpPr>
            <a:cxnSpLocks/>
            <a:stCxn id="345" idx="2"/>
            <a:endCxn id="63" idx="0"/>
          </p:cNvCxnSpPr>
          <p:nvPr/>
        </p:nvCxnSpPr>
        <p:spPr bwMode="auto">
          <a:xfrm flipH="1">
            <a:off x="8847712" y="3126413"/>
            <a:ext cx="38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88" y="3403352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2.5.1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결산작업 처리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88" y="3959098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2.5.2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결산 마감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6479214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39447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2.2.2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수입결의관리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44965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2.2.3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수납</a:t>
            </a:r>
            <a:r>
              <a:rPr lang="en-US" altLang="ko-KR" sz="1100" b="1" kern="0" smtClean="0">
                <a:latin typeface="+mn-ea"/>
              </a:rPr>
              <a:t>/</a:t>
            </a:r>
            <a:r>
              <a:rPr lang="ko-KR" altLang="en-US" sz="1100" b="1" kern="0" smtClean="0">
                <a:latin typeface="+mn-ea"/>
              </a:rPr>
              <a:t>대체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5" name="Rectangle 43">
            <a:extLst>
              <a:ext uri="{FF2B5EF4-FFF2-40B4-BE49-F238E27FC236}">
                <a16:creationId xmlns="" xmlns:a16="http://schemas.microsoft.com/office/drawing/2014/main" id="{376807C9-270C-4295-BADB-AB6D87D4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505140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2.2.4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전표확정처리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2926467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2926467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8" name="꺾인 연결선 91">
            <a:extLst>
              <a:ext uri="{FF2B5EF4-FFF2-40B4-BE49-F238E27FC236}">
                <a16:creationId xmlns="" xmlns:a16="http://schemas.microsoft.com/office/drawing/2014/main" id="{BC32C143-0962-4169-9BDC-CE51A8DF9DB6}"/>
              </a:ext>
            </a:extLst>
          </p:cNvPr>
          <p:cNvCxnSpPr>
            <a:stCxn id="354" idx="2"/>
            <a:endCxn id="355" idx="0"/>
          </p:cNvCxnSpPr>
          <p:nvPr/>
        </p:nvCxnSpPr>
        <p:spPr bwMode="auto">
          <a:xfrm>
            <a:off x="2926467" y="4919337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9" name="Rectangle 43">
            <a:extLst>
              <a:ext uri="{FF2B5EF4-FFF2-40B4-BE49-F238E27FC236}">
                <a16:creationId xmlns="" xmlns:a16="http://schemas.microsoft.com/office/drawing/2014/main" id="{183944B1-7232-4A5E-8628-B115F000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341" y="560674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2.2.5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결의 정보검색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61" name="꺾인 연결선 91">
            <a:extLst>
              <a:ext uri="{FF2B5EF4-FFF2-40B4-BE49-F238E27FC236}">
                <a16:creationId xmlns="" xmlns:a16="http://schemas.microsoft.com/office/drawing/2014/main" id="{3D7259BF-8F70-46BF-880C-8A50AA91A40A}"/>
              </a:ext>
            </a:extLst>
          </p:cNvPr>
          <p:cNvCxnSpPr>
            <a:stCxn id="355" idx="2"/>
            <a:endCxn id="359" idx="0"/>
          </p:cNvCxnSpPr>
          <p:nvPr/>
        </p:nvCxnSpPr>
        <p:spPr bwMode="auto">
          <a:xfrm>
            <a:off x="2926467" y="5474147"/>
            <a:ext cx="0" cy="13259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62" name="Rectangle 43">
            <a:extLst>
              <a:ext uri="{FF2B5EF4-FFF2-40B4-BE49-F238E27FC236}">
                <a16:creationId xmlns="" xmlns:a16="http://schemas.microsoft.com/office/drawing/2014/main" id="{1CCFF26E-1B5E-4C0E-B6D9-8BF7DF72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5049239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2.4.4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상계처리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63" name="꺾인 연결선 91">
            <a:extLst>
              <a:ext uri="{FF2B5EF4-FFF2-40B4-BE49-F238E27FC236}">
                <a16:creationId xmlns="" xmlns:a16="http://schemas.microsoft.com/office/drawing/2014/main" id="{857CB15F-5C89-4B02-9508-F2A9338609C1}"/>
              </a:ext>
            </a:extLst>
          </p:cNvPr>
          <p:cNvCxnSpPr>
            <a:endCxn id="362" idx="0"/>
          </p:cNvCxnSpPr>
          <p:nvPr/>
        </p:nvCxnSpPr>
        <p:spPr bwMode="auto">
          <a:xfrm>
            <a:off x="5295003" y="4914466"/>
            <a:ext cx="0" cy="13477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9337" y="39447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2.6.2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CC"/>
                </a:solidFill>
                <a:latin typeface="+mn-ea"/>
              </a:rPr>
              <a:t>부가세 신고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7663463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" name="Rectangle 43">
            <a:extLst>
              <a:ext uri="{FF2B5EF4-FFF2-40B4-BE49-F238E27FC236}">
                <a16:creationId xmlns="" xmlns:a16="http://schemas.microsoft.com/office/drawing/2014/main" id="{9F316396-9A47-439A-9482-65354621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3586" y="3392996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2.7.1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연결기초자료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9DED2B55-68C8-41A5-BDA5-81831BDF0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3586" y="3944795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2.7.2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연결자료등록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65" name="꺾인 연결선 91">
            <a:extLst>
              <a:ext uri="{FF2B5EF4-FFF2-40B4-BE49-F238E27FC236}">
                <a16:creationId xmlns="" xmlns:a16="http://schemas.microsoft.com/office/drawing/2014/main" id="{2B41A8A5-8167-45A0-ABA9-096F9E17219E}"/>
              </a:ext>
            </a:extLst>
          </p:cNvPr>
          <p:cNvCxnSpPr>
            <a:cxnSpLocks/>
            <a:stCxn id="64" idx="0"/>
            <a:endCxn id="63" idx="2"/>
          </p:cNvCxnSpPr>
          <p:nvPr/>
        </p:nvCxnSpPr>
        <p:spPr bwMode="auto">
          <a:xfrm flipV="1">
            <a:off x="8847712" y="3815737"/>
            <a:ext cx="0" cy="12905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Level1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Level2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Level3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Rectangle 43">
            <a:extLst>
              <a:ext uri="{FF2B5EF4-FFF2-40B4-BE49-F238E27FC236}">
                <a16:creationId xmlns="" xmlns:a16="http://schemas.microsoft.com/office/drawing/2014/main" id="{E3D82401-A830-0602-D55A-3D7323EE7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092" y="2724418"/>
            <a:ext cx="1128327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2.1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회계기준자료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1" name="Rectangle 43">
            <a:extLst>
              <a:ext uri="{FF2B5EF4-FFF2-40B4-BE49-F238E27FC236}">
                <a16:creationId xmlns="" xmlns:a16="http://schemas.microsoft.com/office/drawing/2014/main" id="{8C7218AA-FA01-AE9E-4347-DEE45D2A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092" y="3390375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2.1.1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계정코드관리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2" name="Rectangle 43">
            <a:extLst>
              <a:ext uri="{FF2B5EF4-FFF2-40B4-BE49-F238E27FC236}">
                <a16:creationId xmlns="" xmlns:a16="http://schemas.microsoft.com/office/drawing/2014/main" id="{85039B3D-D699-ACE0-8607-D30FCBAC3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092" y="3942175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2.1.2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계좌정보관리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3" name="Rectangle 43">
            <a:extLst>
              <a:ext uri="{FF2B5EF4-FFF2-40B4-BE49-F238E27FC236}">
                <a16:creationId xmlns="" xmlns:a16="http://schemas.microsoft.com/office/drawing/2014/main" id="{318A1D3C-FCE5-FC6A-4E77-B5408E83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092" y="4493975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2.1.3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사업장 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9" name="Rectangle 43">
            <a:extLst>
              <a:ext uri="{FF2B5EF4-FFF2-40B4-BE49-F238E27FC236}">
                <a16:creationId xmlns="" xmlns:a16="http://schemas.microsoft.com/office/drawing/2014/main" id="{3D700D45-EAF3-D7AF-CF3C-D69E7181D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3586" y="4509960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2.7.3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연결재무제표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41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9337" y="4518427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2.6.3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CC"/>
                </a:solidFill>
                <a:latin typeface="+mn-ea"/>
              </a:rPr>
              <a:t>원천세 신고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42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41" idx="0"/>
            <a:endCxn id="59" idx="2"/>
          </p:cNvCxnSpPr>
          <p:nvPr/>
        </p:nvCxnSpPr>
        <p:spPr bwMode="auto">
          <a:xfrm flipV="1">
            <a:off x="7663463" y="4367537"/>
            <a:ext cx="0" cy="1508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3" name="꺾인 연결선 91">
            <a:extLst>
              <a:ext uri="{FF2B5EF4-FFF2-40B4-BE49-F238E27FC236}">
                <a16:creationId xmlns="" xmlns:a16="http://schemas.microsoft.com/office/drawing/2014/main" id="{D830CFAD-B46E-C771-8872-15FC35C0916D}"/>
              </a:ext>
            </a:extLst>
          </p:cNvPr>
          <p:cNvCxnSpPr>
            <a:cxnSpLocks/>
            <a:stCxn id="39" idx="0"/>
            <a:endCxn id="64" idx="2"/>
          </p:cNvCxnSpPr>
          <p:nvPr/>
        </p:nvCxnSpPr>
        <p:spPr bwMode="auto">
          <a:xfrm flipV="1">
            <a:off x="8847712" y="4367536"/>
            <a:ext cx="0" cy="14242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1" name="제목 2">
            <a:extLst>
              <a:ext uri="{FF2B5EF4-FFF2-40B4-BE49-F238E27FC236}">
                <a16:creationId xmlns="" xmlns:a16="http://schemas.microsoft.com/office/drawing/2014/main" id="{9551AA14-AB9F-55B5-4876-85ECDC318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26469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3.3.1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3.1.1 </a:t>
            </a:r>
            <a:r>
              <a:rPr lang="ko-KR" altLang="en-US" sz="1800" smtClean="0">
                <a:solidFill>
                  <a:prstClr val="black"/>
                </a:solidFill>
              </a:rPr>
              <a:t>회계관리 </a:t>
            </a:r>
            <a:r>
              <a:rPr lang="ko-KR" altLang="en-US" sz="1800" dirty="0">
                <a:solidFill>
                  <a:prstClr val="black"/>
                </a:solidFill>
              </a:rPr>
              <a:t>업무분류 구조도</a:t>
            </a:r>
            <a:endParaRPr lang="ko-KR" altLang="en-US" dirty="0"/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4500543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2.4.3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장부조회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1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20" idx="0"/>
          </p:cNvCxnSpPr>
          <p:nvPr/>
        </p:nvCxnSpPr>
        <p:spPr bwMode="auto">
          <a:xfrm rot="5400000">
            <a:off x="3383112" y="815393"/>
            <a:ext cx="268169" cy="354988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0" idx="2"/>
            <a:endCxn id="21" idx="0"/>
          </p:cNvCxnSpPr>
          <p:nvPr/>
        </p:nvCxnSpPr>
        <p:spPr bwMode="auto">
          <a:xfrm flipH="1">
            <a:off x="1742218" y="3123792"/>
            <a:ext cx="38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1" idx="2"/>
            <a:endCxn id="22" idx="0"/>
          </p:cNvCxnSpPr>
          <p:nvPr/>
        </p:nvCxnSpPr>
        <p:spPr bwMode="auto">
          <a:xfrm>
            <a:off x="1742218" y="38131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2" idx="2"/>
            <a:endCxn id="23" idx="0"/>
          </p:cNvCxnSpPr>
          <p:nvPr/>
        </p:nvCxnSpPr>
        <p:spPr bwMode="auto">
          <a:xfrm>
            <a:off x="1742218" y="43649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9337" y="5049239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2.6.4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CC"/>
                </a:solidFill>
                <a:latin typeface="+mn-ea"/>
              </a:rPr>
              <a:t>원천세자료 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88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87" idx="0"/>
            <a:endCxn id="41" idx="2"/>
          </p:cNvCxnSpPr>
          <p:nvPr/>
        </p:nvCxnSpPr>
        <p:spPr bwMode="auto">
          <a:xfrm flipV="1">
            <a:off x="7663463" y="4941168"/>
            <a:ext cx="0" cy="10807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3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88" y="4497740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2.5.3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재무제표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10" name="Rectangle 43">
            <a:extLst>
              <a:ext uri="{FF2B5EF4-FFF2-40B4-BE49-F238E27FC236}">
                <a16:creationId xmlns="" xmlns:a16="http://schemas.microsoft.com/office/drawing/2014/main" id="{1CCFF26E-1B5E-4C0E-B6D9-8BF7DF72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839" y="5613756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2.4.5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기타 현황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11" name="꺾인 연결선 91">
            <a:extLst>
              <a:ext uri="{FF2B5EF4-FFF2-40B4-BE49-F238E27FC236}">
                <a16:creationId xmlns="" xmlns:a16="http://schemas.microsoft.com/office/drawing/2014/main" id="{857CB15F-5C89-4B02-9508-F2A9338609C1}"/>
              </a:ext>
            </a:extLst>
          </p:cNvPr>
          <p:cNvCxnSpPr>
            <a:stCxn id="362" idx="2"/>
            <a:endCxn id="110" idx="0"/>
          </p:cNvCxnSpPr>
          <p:nvPr/>
        </p:nvCxnSpPr>
        <p:spPr bwMode="auto">
          <a:xfrm>
            <a:off x="5295003" y="5471980"/>
            <a:ext cx="0" cy="141776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4" name="Rectangle 43">
            <a:extLst>
              <a:ext uri="{FF2B5EF4-FFF2-40B4-BE49-F238E27FC236}">
                <a16:creationId xmlns="" xmlns:a16="http://schemas.microsoft.com/office/drawing/2014/main" id="{1CCFF26E-1B5E-4C0E-B6D9-8BF7DF72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88" y="5049239"/>
            <a:ext cx="1128327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2.5.4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결산 주석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115" name="꺾인 연결선 91">
            <a:extLst>
              <a:ext uri="{FF2B5EF4-FFF2-40B4-BE49-F238E27FC236}">
                <a16:creationId xmlns="" xmlns:a16="http://schemas.microsoft.com/office/drawing/2014/main" id="{857CB15F-5C89-4B02-9508-F2A9338609C1}"/>
              </a:ext>
            </a:extLst>
          </p:cNvPr>
          <p:cNvCxnSpPr/>
          <p:nvPr/>
        </p:nvCxnSpPr>
        <p:spPr bwMode="auto">
          <a:xfrm flipH="1">
            <a:off x="5915088" y="4914466"/>
            <a:ext cx="23605" cy="13477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6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410" y="5580051"/>
            <a:ext cx="1128251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2.6.5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CC"/>
                </a:solidFill>
                <a:latin typeface="+mn-ea"/>
              </a:rPr>
              <a:t>법인세자료 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117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116" idx="0"/>
          </p:cNvCxnSpPr>
          <p:nvPr/>
        </p:nvCxnSpPr>
        <p:spPr bwMode="auto">
          <a:xfrm flipV="1">
            <a:off x="7653536" y="5471980"/>
            <a:ext cx="0" cy="108071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8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6590" y="3944796"/>
            <a:ext cx="112832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2.3.2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전도금 관리</a:t>
            </a:r>
            <a:endParaRPr lang="en-US" altLang="ko-KR" sz="1100" b="1" kern="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44650904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업무를 추진하는 과정에서 발생하는 재무관련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를 일정한 양식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전표</a:t>
            </a:r>
            <a:r>
              <a:rPr lang="en-US" altLang="ko-KR" smtClean="0">
                <a:latin typeface="+mn-ea"/>
                <a:ea typeface="+mn-ea"/>
              </a:rPr>
              <a:t>)</a:t>
            </a:r>
            <a:r>
              <a:rPr lang="ko-KR" altLang="en-US" smtClean="0">
                <a:latin typeface="+mn-ea"/>
                <a:ea typeface="+mn-ea"/>
              </a:rPr>
              <a:t>으로 취합하고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재무상태를 파악할 수 있는 보고용 장부를 제공하는 것이 목표이며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이를 위해서 회계처리 기준에 따라 체계적으로 표준화하고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제반 회계처리 과정에서 발생하는 계정과목의 설정이나 분개처리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장부양식의 정리가 우선되어야 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시스템을 개선하는 과정에서 각 수행 부서와의 업무분장 및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공유</a:t>
            </a:r>
            <a:r>
              <a:rPr lang="en-US" altLang="ko-KR" smtClean="0">
                <a:latin typeface="+mn-ea"/>
                <a:ea typeface="+mn-ea"/>
              </a:rPr>
              <a:t>/DATA</a:t>
            </a:r>
            <a:r>
              <a:rPr lang="ko-KR" altLang="en-US" smtClean="0">
                <a:latin typeface="+mn-ea"/>
                <a:ea typeface="+mn-ea"/>
              </a:rPr>
              <a:t> </a:t>
            </a:r>
            <a:r>
              <a:rPr lang="en-US" altLang="ko-KR" smtClean="0">
                <a:latin typeface="+mn-ea"/>
                <a:ea typeface="+mn-ea"/>
              </a:rPr>
              <a:t>interface</a:t>
            </a:r>
            <a:r>
              <a:rPr lang="ko-KR" altLang="en-US" smtClean="0">
                <a:latin typeface="+mn-ea"/>
                <a:ea typeface="+mn-ea"/>
              </a:rPr>
              <a:t>에 대한 처리기준을 명확하게 정의해야 함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3.3.1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3.1.2 </a:t>
            </a:r>
            <a:r>
              <a:rPr lang="ko-KR" altLang="en-US" sz="1800" smtClean="0">
                <a:solidFill>
                  <a:prstClr val="black"/>
                </a:solidFill>
              </a:rPr>
              <a:t>회계관리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34680"/>
              </p:ext>
            </p:extLst>
          </p:nvPr>
        </p:nvGraphicFramePr>
        <p:xfrm>
          <a:off x="354520" y="2072568"/>
          <a:ext cx="9180512" cy="4389120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163375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3375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기준정보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회계시스템 운영에 필요한 기초정보 및 관리기준 정보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회계파트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계정별 관리항목 추가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기준 항목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거래처 용도 구분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계정코드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계정코드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코드명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등급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상계기준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대변 관리항목 정의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55330139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거래처정보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업태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종목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거래처 계좌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e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메일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등의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정보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557783185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계좌정보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보유하고 있는 입출금 계좌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상품정보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사원계좌 등 관리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48509401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사업장정보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사업자등록번호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사업장대표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계산서담당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e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메일 등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3555722"/>
                  </a:ext>
                </a:extLst>
              </a:tr>
              <a:tr h="163375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결의서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예산을 집행하고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수입을 관리하는 각종 신청서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를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회계파트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결의서 세분화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 입력시 예산통제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전표분개 완전 자동화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4)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수납처리 기능 구축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5)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세금계산서 발행 연계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58059666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지출결의서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카드지출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회입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세출외지출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예산대체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대체결의서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수입결의서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사업별 수입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일반수입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반납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세입외수입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계좌이체 결의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수납</a:t>
                      </a:r>
                      <a:r>
                        <a:rPr lang="en-US" altLang="ko-KR" sz="1000" b="1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대체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입금 현황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수납 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다중수납 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미결항목 상계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수납제외처리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전표 확정 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전표분개장 열람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전표확정처리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분개장수정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매출세금계산서 발행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결의서 정보 검색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결의서 검색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지출기록부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예산통제부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증빙관리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미사용 결의 현황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63375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자금관리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금융기관과 연계하여 입출금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회계파트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연계자료 활용도 제고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 (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입출금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출금전표 생성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          - 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수납 처리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카드 결의서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2)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전자세금계산서 연계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자급집행관리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자금집행승인요청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결과 수동처리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이체오류 조회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CMS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출금내역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전도금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1000" smtClean="0">
                          <a:latin typeface="+mn-ea"/>
                          <a:ea typeface="+mn-ea"/>
                        </a:rPr>
                        <a:t>여러 사업장의 운영비를 충당하기 위한 전도금 지급 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연계내역관리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기준환율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입출금내역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처리결과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연계내역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63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법인카드관리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카드등록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카드승인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청구 현황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미결의 현황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사용제한 현황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386996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3.3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회계관리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5291731"/>
              </p:ext>
            </p:extLst>
          </p:nvPr>
        </p:nvGraphicFramePr>
        <p:xfrm>
          <a:off x="350002" y="700320"/>
          <a:ext cx="9180514" cy="5516880"/>
        </p:xfrm>
        <a:graphic>
          <a:graphicData uri="http://schemas.openxmlformats.org/drawingml/2006/table">
            <a:tbl>
              <a:tblPr firstRow="1" bandRow="1"/>
              <a:tblGrid>
                <a:gridCol w="4012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3709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7090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전표관리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생성된 전표내역을 조회하고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마감처리 및 회계장부를 제공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회계파트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전표 관리항목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일마감제도 도입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DATA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추적기능 제고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전표내역조회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전표 상세내역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계정별 집계표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총계정원장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입출금 전표내역 조회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전표마감관리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일자별 전표 마감 및 마감 취소처리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마감이력 관리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회계장부관리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일계표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월계표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계정별 증감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보조부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세목별 잔액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잔액명세서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잔액상계관리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잔액구분별 상세내역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계정별 잔액 상계처리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잔액명세서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기타현황관리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대차오류 체크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전표 증빙구분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부가세구분 비교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7090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결산관리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결산 처리 기능의 자동화로 결산기간 단축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회계파트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회계파트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결산전표 자동 생성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결산 마감 이월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제무제표 실시간 조회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결산 주석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결산작업처리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결산진행현황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계정별 결산대체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선급비용 결산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미수수익 결산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결산마감처리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결산 이월처리 및 계정별잔액 재집계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이익잉여금처분계산안 작성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재무제표 조회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재무상태표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손익계산서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사업별 손익계산서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합계잔액시산표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결산 주석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결산주석 기초자료 관리 및 결산 주석 조회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709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세무관리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부가세 전자신고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원천세 전자신고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법인세신고 기초자료 제공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회계파트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부가세 전자신고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원천세 전자신고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법인세 기초자료 제공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세금계산서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매입 세금계산서 현황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전자세금계산서 연결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세무정보 수정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7090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부가세 신고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부가세 신고자료 작성 및 부가세 전자신고 파일 작성 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원천세 신고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원천세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근로소득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퇴직소득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사업소득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전자신고 파일 작성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법인세자료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접대비명세서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기부금명세서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세금과공과명세서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원천세 납부 내역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775112120"/>
                  </a:ext>
                </a:extLst>
              </a:tr>
              <a:tr h="237090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연결결산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en-US" altLang="ko-KR" sz="1000" b="1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모회사 양식에 의거 제무제표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생성 및 모회사에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DATA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제공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회계파트</a:t>
                      </a: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회계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파트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모회사 계정코드 매핑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연결 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DATA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모회사 양식 제무제표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연결기초자료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모회사 계정코드 매핑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709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연결자료 등록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연결 현금흐름표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자본변동표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3852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연결 재무제표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연결재무제표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모회사 양식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재무상태표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포괄손익계산서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현금흐름표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자본변동표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3634768325"/>
                  </a:ext>
                </a:extLst>
              </a:tr>
            </a:tbl>
          </a:graphicData>
        </a:graphic>
      </p:graphicFrame>
      <p:sp>
        <p:nvSpPr>
          <p:cNvPr id="10" name="제목 2">
            <a:extLst>
              <a:ext uri="{FF2B5EF4-FFF2-40B4-BE49-F238E27FC236}">
                <a16:creationId xmlns="" xmlns:a16="http://schemas.microsoft.com/office/drawing/2014/main" id="{C0E42CB6-E8AF-E644-9D0E-99DEEE340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3.3.1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3.1.2 </a:t>
            </a:r>
            <a:r>
              <a:rPr lang="ko-KR" altLang="en-US" sz="1800" smtClean="0">
                <a:solidFill>
                  <a:prstClr val="black"/>
                </a:solidFill>
              </a:rPr>
              <a:t>회계관리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2/2)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1834374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계정코드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거래처정보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계좌정보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사업장 정보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사업기준자료 등 회계시스템 관리의 기준자료를 표준화하고</a:t>
            </a:r>
            <a:r>
              <a:rPr lang="en-US" altLang="ko-KR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통합관리하여 이중작업을 배제하고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시스템을 체계적이고 효율적으로 운영하여 제도 및 환경 변화 및 사용자 요구에 탄력적으로 대응할 수 있도록 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850596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2.1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회계기준자료관리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301850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076230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계정코드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거래처정보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2.1.3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계좌정보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2.1.4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사업장 정보관리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1" name="직사각형 120"/>
          <p:cNvSpPr/>
          <p:nvPr/>
        </p:nvSpPr>
        <p:spPr bwMode="auto">
          <a:xfrm>
            <a:off x="1858666" y="518551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2</a:t>
            </a:r>
            <a:r>
              <a:rPr lang="en-US" altLang="ko-KR" sz="900" kern="0"/>
              <a:t>. </a:t>
            </a:r>
            <a:r>
              <a:rPr lang="ko-KR" altLang="en-US" sz="900" kern="0" smtClean="0"/>
              <a:t>계정코드 추가</a:t>
            </a:r>
            <a:r>
              <a:rPr lang="en-US" altLang="ko-KR" sz="900" kern="0" smtClean="0"/>
              <a:t>/</a:t>
            </a:r>
            <a:r>
              <a:rPr lang="ko-KR" altLang="en-US" sz="900" kern="0" smtClean="0"/>
              <a:t>변경요청</a:t>
            </a:r>
            <a:endParaRPr lang="en-US" altLang="ko-KR" sz="900" kern="0" dirty="0"/>
          </a:p>
        </p:txBody>
      </p:sp>
      <p:grpSp>
        <p:nvGrpSpPr>
          <p:cNvPr id="5" name="그룹 67"/>
          <p:cNvGrpSpPr/>
          <p:nvPr/>
        </p:nvGrpSpPr>
        <p:grpSpPr>
          <a:xfrm flipH="1" flipV="1">
            <a:off x="8406013" y="5043313"/>
            <a:ext cx="273235" cy="619253"/>
            <a:chOff x="3031001" y="4640556"/>
            <a:chExt cx="263666" cy="243809"/>
          </a:xfrm>
        </p:grpSpPr>
        <p:sp>
          <p:nvSpPr>
            <p:cNvPr id="147" name="Line 175"/>
            <p:cNvSpPr>
              <a:spLocks noChangeShapeType="1"/>
            </p:cNvSpPr>
            <p:nvPr/>
          </p:nvSpPr>
          <p:spPr bwMode="auto">
            <a:xfrm flipH="1" flipV="1">
              <a:off x="3121059" y="4792144"/>
              <a:ext cx="173608" cy="9222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Freeform 176"/>
            <p:cNvSpPr>
              <a:spLocks noChangeArrowheads="1"/>
            </p:cNvSpPr>
            <p:nvPr/>
          </p:nvSpPr>
          <p:spPr bwMode="auto">
            <a:xfrm flipH="1">
              <a:off x="3031001" y="4640556"/>
              <a:ext cx="90051" cy="175239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49" name="Rectangle 179"/>
          <p:cNvSpPr>
            <a:spLocks noChangeArrowheads="1"/>
          </p:cNvSpPr>
          <p:nvPr/>
        </p:nvSpPr>
        <p:spPr bwMode="auto">
          <a:xfrm flipH="1">
            <a:off x="8623627" y="5206650"/>
            <a:ext cx="96595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사업분류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과세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비과세 구분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전용계좌번호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원가구분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3.2.2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1/7)</a:t>
            </a:r>
            <a:endParaRPr lang="ko-KR" altLang="en-US" dirty="0"/>
          </a:p>
        </p:txBody>
      </p:sp>
      <p:grpSp>
        <p:nvGrpSpPr>
          <p:cNvPr id="13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316303" y="2413332"/>
            <a:ext cx="756425" cy="410305"/>
            <a:chOff x="1696424" y="2542858"/>
            <a:chExt cx="756425" cy="410305"/>
          </a:xfrm>
        </p:grpSpPr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" name="육각형 1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공기업</a:t>
              </a:r>
              <a:r>
                <a:rPr lang="en-US" altLang="ko-KR" sz="900" kern="0" smtClean="0">
                  <a:solidFill>
                    <a:prstClr val="black"/>
                  </a:solidFill>
                </a:rPr>
                <a:t>.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준정부기관결산지침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56656" y="3515454"/>
            <a:ext cx="756425" cy="488128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계정코드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체계 설계 및 등록</a:t>
            </a:r>
            <a:endParaRPr lang="en-US" altLang="ko-KR" sz="900" kern="0" dirty="0"/>
          </a:p>
        </p:txBody>
      </p:sp>
      <p:cxnSp>
        <p:nvCxnSpPr>
          <p:cNvPr id="20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15" idx="0"/>
            <a:endCxn id="19" idx="0"/>
          </p:cNvCxnSpPr>
          <p:nvPr/>
        </p:nvCxnSpPr>
        <p:spPr bwMode="auto">
          <a:xfrm>
            <a:off x="2072728" y="2618485"/>
            <a:ext cx="162141" cy="896969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2274357" y="4283974"/>
            <a:ext cx="206057" cy="353937"/>
            <a:chOff x="3031001" y="4520756"/>
            <a:chExt cx="431580" cy="311405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520756"/>
              <a:ext cx="341524" cy="12390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01712" y="4297049"/>
            <a:ext cx="138605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장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항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세목 체계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계정코드별 관리항목 정의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상계기준 및 결산기준 정의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2504728" y="28503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예산항목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계정 연결</a:t>
            </a:r>
            <a:endParaRPr lang="en-US" altLang="ko-KR" sz="900" kern="0" dirty="0"/>
          </a:p>
        </p:txBody>
      </p:sp>
      <p:grpSp>
        <p:nvGrpSpPr>
          <p:cNvPr id="75" name="그룹 67">
            <a:extLst>
              <a:ext uri="{FF2B5EF4-FFF2-40B4-BE49-F238E27FC236}">
                <a16:creationId xmlns="" xmlns:a16="http://schemas.microsoft.com/office/drawing/2014/main" id="{60CB3413-AE3A-E426-7FFB-B1AE94C79A6B}"/>
              </a:ext>
            </a:extLst>
          </p:cNvPr>
          <p:cNvGrpSpPr/>
          <p:nvPr/>
        </p:nvGrpSpPr>
        <p:grpSpPr>
          <a:xfrm flipH="1">
            <a:off x="2556007" y="2511523"/>
            <a:ext cx="258184" cy="347284"/>
            <a:chOff x="3031001" y="4549936"/>
            <a:chExt cx="360760" cy="347284"/>
          </a:xfrm>
        </p:grpSpPr>
        <p:sp>
          <p:nvSpPr>
            <p:cNvPr id="76" name="Line 175">
              <a:extLst>
                <a:ext uri="{FF2B5EF4-FFF2-40B4-BE49-F238E27FC236}">
                  <a16:creationId xmlns="" xmlns:a16="http://schemas.microsoft.com/office/drawing/2014/main" id="{C8E28283-FE2E-F7EC-0762-3D6AFDAA2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270703" cy="252556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176">
              <a:extLst>
                <a:ext uri="{FF2B5EF4-FFF2-40B4-BE49-F238E27FC236}">
                  <a16:creationId xmlns="" xmlns:a16="http://schemas.microsoft.com/office/drawing/2014/main" id="{4EEC020C-C523-0E3D-B334-55F43F4296B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9" name="Rectangle 179">
            <a:extLst>
              <a:ext uri="{FF2B5EF4-FFF2-40B4-BE49-F238E27FC236}">
                <a16:creationId xmlns="" xmlns:a16="http://schemas.microsoft.com/office/drawing/2014/main" id="{AA3CE2D0-4CAE-BA4D-59D7-199B0D4F55C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67317" y="2460428"/>
            <a:ext cx="137236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&lt;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계정코드 연결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N::1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연결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(1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예산항목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1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계정과목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8337376" y="47225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사업정보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8301031" y="29550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사업장정보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409384" y="3288237"/>
            <a:ext cx="274908" cy="682964"/>
            <a:chOff x="3031001" y="4361424"/>
            <a:chExt cx="265280" cy="1283129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72796"/>
              <a:ext cx="90051" cy="107175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25408" y="3376599"/>
            <a:ext cx="965951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사업자등록번호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대표자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업태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종목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주소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전자계산서 담당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E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메일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58" name="직선 화살표 연결선 157">
            <a:extLst>
              <a:ext uri="{FF2B5EF4-FFF2-40B4-BE49-F238E27FC236}">
                <a16:creationId xmlns="" xmlns:a16="http://schemas.microsoft.com/office/drawing/2014/main" id="{D8439B0F-3092-BF8E-6908-AB28F8469DD5}"/>
              </a:ext>
            </a:extLst>
          </p:cNvPr>
          <p:cNvCxnSpPr>
            <a:stCxn id="19" idx="2"/>
            <a:endCxn id="121" idx="0"/>
          </p:cNvCxnSpPr>
          <p:nvPr/>
        </p:nvCxnSpPr>
        <p:spPr>
          <a:xfrm>
            <a:off x="2234869" y="4003582"/>
            <a:ext cx="2010" cy="118193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19" idx="3"/>
            <a:endCxn id="74" idx="2"/>
          </p:cNvCxnSpPr>
          <p:nvPr/>
        </p:nvCxnSpPr>
        <p:spPr bwMode="auto">
          <a:xfrm flipV="1">
            <a:off x="2613081" y="3171112"/>
            <a:ext cx="269860" cy="58840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8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3299107" y="5733256"/>
            <a:ext cx="756425" cy="410305"/>
            <a:chOff x="1696424" y="2542858"/>
            <a:chExt cx="756425" cy="410305"/>
          </a:xfrm>
        </p:grpSpPr>
        <p:sp>
          <p:nvSpPr>
            <p:cNvPr id="59" name="직사각형 58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0" name="육각형 59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신규 거래처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61" name="직사각형 60"/>
          <p:cNvSpPr/>
          <p:nvPr/>
        </p:nvSpPr>
        <p:spPr bwMode="auto">
          <a:xfrm>
            <a:off x="3728864" y="51849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거래처 정보 등록</a:t>
            </a:r>
            <a:endParaRPr lang="en-US" altLang="ko-KR" sz="900" kern="0" dirty="0"/>
          </a:p>
        </p:txBody>
      </p:sp>
      <p:cxnSp>
        <p:nvCxnSpPr>
          <p:cNvPr id="62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60" idx="0"/>
            <a:endCxn id="61" idx="2"/>
          </p:cNvCxnSpPr>
          <p:nvPr/>
        </p:nvCxnSpPr>
        <p:spPr bwMode="auto">
          <a:xfrm flipV="1">
            <a:off x="4055532" y="5505759"/>
            <a:ext cx="51545" cy="432650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4216941" y="5506139"/>
            <a:ext cx="153468" cy="468559"/>
            <a:chOff x="3031001" y="4326979"/>
            <a:chExt cx="384180" cy="537077"/>
          </a:xfrm>
        </p:grpSpPr>
        <p:sp>
          <p:nvSpPr>
            <p:cNvPr id="69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326979"/>
              <a:ext cx="90052" cy="454526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1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70409" y="5538893"/>
            <a:ext cx="101751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거래필수정보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거래처계좌정보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거래담당자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사업자등록증 사본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3728864" y="35154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거래처 승인</a:t>
            </a:r>
            <a:endParaRPr lang="en-US" altLang="ko-KR" sz="900" kern="0" dirty="0"/>
          </a:p>
        </p:txBody>
      </p:sp>
      <p:cxnSp>
        <p:nvCxnSpPr>
          <p:cNvPr id="29" name="직선 화살표 연결선 28"/>
          <p:cNvCxnSpPr>
            <a:stCxn id="61" idx="0"/>
            <a:endCxn id="81" idx="2"/>
          </p:cNvCxnSpPr>
          <p:nvPr/>
        </p:nvCxnSpPr>
        <p:spPr>
          <a:xfrm flipV="1">
            <a:off x="4107077" y="3836225"/>
            <a:ext cx="0" cy="134876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5375598" y="2413332"/>
            <a:ext cx="905803" cy="410305"/>
            <a:chOff x="1696424" y="2542858"/>
            <a:chExt cx="756425" cy="410305"/>
          </a:xfrm>
        </p:grpSpPr>
        <p:sp>
          <p:nvSpPr>
            <p:cNvPr id="84" name="직사각형 8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5" name="육각형 8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>
                  <a:solidFill>
                    <a:prstClr val="black"/>
                  </a:solidFill>
                </a:rPr>
                <a:t>요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구불예금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en-US" altLang="ko-KR" sz="900" kern="0" smtClean="0">
                  <a:solidFill>
                    <a:prstClr val="black"/>
                  </a:solidFill>
                </a:rPr>
                <a:t>/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금융상품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86" name="직사각형 85"/>
          <p:cNvSpPr/>
          <p:nvPr/>
        </p:nvSpPr>
        <p:spPr bwMode="auto">
          <a:xfrm>
            <a:off x="6249144" y="351545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계좌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1" name="꺾인 연결선 30"/>
          <p:cNvCxnSpPr>
            <a:stCxn id="85" idx="0"/>
            <a:endCxn id="86" idx="0"/>
          </p:cNvCxnSpPr>
          <p:nvPr/>
        </p:nvCxnSpPr>
        <p:spPr>
          <a:xfrm>
            <a:off x="6281401" y="2618485"/>
            <a:ext cx="345956" cy="89696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/>
          <p:cNvSpPr/>
          <p:nvPr/>
        </p:nvSpPr>
        <p:spPr bwMode="auto">
          <a:xfrm>
            <a:off x="6283677" y="51875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용도별 계좌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88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5378103" y="4596473"/>
            <a:ext cx="905803" cy="410305"/>
            <a:chOff x="1696424" y="2542858"/>
            <a:chExt cx="756425" cy="410305"/>
          </a:xfrm>
        </p:grpSpPr>
        <p:sp>
          <p:nvSpPr>
            <p:cNvPr id="89" name="직사각형 88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0" name="육각형 89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사원 용도별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계좌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33" name="꺾인 연결선 32"/>
          <p:cNvCxnSpPr>
            <a:stCxn id="90" idx="0"/>
            <a:endCxn id="87" idx="0"/>
          </p:cNvCxnSpPr>
          <p:nvPr/>
        </p:nvCxnSpPr>
        <p:spPr>
          <a:xfrm>
            <a:off x="6283906" y="4801626"/>
            <a:ext cx="377984" cy="38591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7473280" y="2424215"/>
            <a:ext cx="905803" cy="410305"/>
            <a:chOff x="1696424" y="2542858"/>
            <a:chExt cx="756425" cy="410305"/>
          </a:xfrm>
        </p:grpSpPr>
        <p:sp>
          <p:nvSpPr>
            <p:cNvPr id="96" name="직사각형 95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7" name="육각형 96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사업장 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38" name="꺾인 연결선 37"/>
          <p:cNvCxnSpPr>
            <a:stCxn id="97" idx="0"/>
            <a:endCxn id="113" idx="0"/>
          </p:cNvCxnSpPr>
          <p:nvPr/>
        </p:nvCxnSpPr>
        <p:spPr>
          <a:xfrm>
            <a:off x="8379083" y="2629368"/>
            <a:ext cx="300161" cy="32572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타원 40"/>
          <p:cNvSpPr/>
          <p:nvPr/>
        </p:nvSpPr>
        <p:spPr>
          <a:xfrm>
            <a:off x="7473280" y="4354390"/>
            <a:ext cx="432389" cy="368159"/>
          </a:xfrm>
          <a:prstGeom prst="ellipse">
            <a:avLst/>
          </a:prstGeom>
          <a:blipFill>
            <a:blip r:embed="rId3"/>
            <a:tile tx="0" ty="0" sx="100000" sy="100000" flip="none" algn="tl"/>
          </a:blip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cxnSp>
        <p:nvCxnSpPr>
          <p:cNvPr id="43" name="꺾인 연결선 42"/>
          <p:cNvCxnSpPr>
            <a:stCxn id="41" idx="6"/>
            <a:endCxn id="93" idx="1"/>
          </p:cNvCxnSpPr>
          <p:nvPr/>
        </p:nvCxnSpPr>
        <p:spPr>
          <a:xfrm>
            <a:off x="7905669" y="4538470"/>
            <a:ext cx="431707" cy="344465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5770643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수입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지출이 발생하면 해당하는 예산을 선택하여 결의서 입력시점에 예산통제를 받고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입금이 되면 해당 미수금을 선택하여 수납처리를 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생성된 신청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결의</a:t>
            </a:r>
            <a:r>
              <a:rPr lang="en-US" altLang="ko-KR" smtClean="0">
                <a:latin typeface="+mn-ea"/>
                <a:ea typeface="+mn-ea"/>
              </a:rPr>
              <a:t>)</a:t>
            </a:r>
            <a:r>
              <a:rPr lang="ko-KR" altLang="en-US" smtClean="0">
                <a:latin typeface="+mn-ea"/>
                <a:ea typeface="+mn-ea"/>
              </a:rPr>
              <a:t>서는 결재권자의 승인을 받아 회계에 이첩하고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회계파트에서는 자동 분개된 전표를 열람</a:t>
            </a:r>
            <a:r>
              <a:rPr lang="en-US" altLang="ko-KR" smtClean="0">
                <a:latin typeface="+mn-ea"/>
                <a:ea typeface="+mn-ea"/>
              </a:rPr>
              <a:t>/</a:t>
            </a:r>
            <a:r>
              <a:rPr lang="ko-KR" altLang="en-US" smtClean="0">
                <a:latin typeface="+mn-ea"/>
                <a:ea typeface="+mn-ea"/>
              </a:rPr>
              <a:t>확인</a:t>
            </a:r>
            <a:r>
              <a:rPr lang="en-US" altLang="ko-KR" smtClean="0">
                <a:latin typeface="+mn-ea"/>
                <a:ea typeface="+mn-ea"/>
              </a:rPr>
              <a:t>/</a:t>
            </a:r>
            <a:r>
              <a:rPr lang="ko-KR" altLang="en-US" smtClean="0">
                <a:latin typeface="+mn-ea"/>
                <a:ea typeface="+mn-ea"/>
              </a:rPr>
              <a:t>보완한 후 확정하여 회계장부에 반영함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2.1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회계기준자료관리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252909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65618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728192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1530170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  <a:gridCol w="1530170"/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지출결의서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수입결의서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2.2.3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수납</a:t>
                      </a: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대체결의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2.2.4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전표 확정 처리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2.2.5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결의서 정보 검색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391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3224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1" name="직사각형 120"/>
          <p:cNvSpPr/>
          <p:nvPr/>
        </p:nvSpPr>
        <p:spPr bwMode="auto">
          <a:xfrm>
            <a:off x="1962236" y="501186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지출결의서 입력</a:t>
            </a:r>
            <a:endParaRPr lang="en-US" altLang="ko-KR" sz="900" kern="0" dirty="0"/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2/7)</a:t>
            </a:r>
            <a:endParaRPr lang="ko-KR" altLang="en-US" dirty="0"/>
          </a:p>
        </p:txBody>
      </p: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1991634" y="5319152"/>
            <a:ext cx="206057" cy="569976"/>
            <a:chOff x="3031001" y="4520756"/>
            <a:chExt cx="431580" cy="501484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520756"/>
              <a:ext cx="341524" cy="12390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7713"/>
              <a:ext cx="90052" cy="45452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93518" y="5404925"/>
            <a:ext cx="1386053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일반지출 결의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카드지출 </a:t>
            </a:r>
            <a:r>
              <a:rPr kumimoji="1" lang="ko-KR" altLang="en-US" sz="800" kern="0">
                <a:solidFill>
                  <a:prstClr val="black"/>
                </a:solidFill>
              </a:rPr>
              <a:t>결의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세출외지울 결의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회입 결의</a:t>
            </a:r>
            <a:endParaRPr kumimoji="1" lang="en-US" altLang="ko-KR" sz="800" kern="0">
              <a:solidFill>
                <a:prstClr val="black"/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8120118" y="2473032"/>
            <a:ext cx="293927" cy="19507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</a:t>
            </a:r>
          </a:p>
          <a:p>
            <a:pPr algn="ctr" latinLnBrk="0"/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결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의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서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검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171826" y="4437112"/>
            <a:ext cx="242219" cy="682964"/>
            <a:chOff x="3031001" y="4361424"/>
            <a:chExt cx="265280" cy="1283129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72796"/>
              <a:ext cx="90051" cy="107175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64513" y="4548532"/>
            <a:ext cx="1131298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지출 결의서 검색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지출기록부 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예산통제부 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예산한도 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미사용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기한초과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결의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6740652" y="2473032"/>
            <a:ext cx="1010612" cy="400319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4. </a:t>
            </a:r>
            <a:r>
              <a:rPr lang="ko-KR" altLang="en-US" sz="900" kern="0" smtClean="0"/>
              <a:t>분개장 열람</a:t>
            </a:r>
            <a:r>
              <a:rPr lang="en-US" altLang="ko-KR" sz="900" kern="0" smtClean="0"/>
              <a:t>/ </a:t>
            </a:r>
            <a:r>
              <a:rPr lang="ko-KR" altLang="en-US" sz="900" kern="0" smtClean="0"/>
              <a:t>증빙 확인</a:t>
            </a:r>
            <a:r>
              <a:rPr lang="en-US" altLang="ko-KR" sz="900" kern="0" smtClean="0"/>
              <a:t>/ </a:t>
            </a:r>
            <a:r>
              <a:rPr lang="ko-KR" altLang="en-US" sz="900" kern="0" smtClean="0"/>
              <a:t>보완</a:t>
            </a:r>
            <a:endParaRPr lang="en-US" altLang="ko-KR" sz="900" kern="0" dirty="0"/>
          </a:p>
        </p:txBody>
      </p:sp>
      <p:sp>
        <p:nvSpPr>
          <p:cNvPr id="64" name="순서도: 판단 58"/>
          <p:cNvSpPr>
            <a:spLocks noChangeAspect="1" noChangeArrowheads="1"/>
          </p:cNvSpPr>
          <p:nvPr/>
        </p:nvSpPr>
        <p:spPr bwMode="auto">
          <a:xfrm>
            <a:off x="1876752" y="4071800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결재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3" name="직선 화살표 연결선 72"/>
          <p:cNvCxnSpPr>
            <a:stCxn id="121" idx="0"/>
            <a:endCxn id="64" idx="2"/>
          </p:cNvCxnSpPr>
          <p:nvPr/>
        </p:nvCxnSpPr>
        <p:spPr>
          <a:xfrm flipV="1">
            <a:off x="2340449" y="4423790"/>
            <a:ext cx="9545" cy="58807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직사각형 76"/>
          <p:cNvSpPr/>
          <p:nvPr/>
        </p:nvSpPr>
        <p:spPr bwMode="auto">
          <a:xfrm>
            <a:off x="3485966" y="501186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수입결의서 입력</a:t>
            </a:r>
            <a:endParaRPr lang="en-US" altLang="ko-KR" sz="900" kern="0" dirty="0"/>
          </a:p>
        </p:txBody>
      </p:sp>
      <p:grpSp>
        <p:nvGrpSpPr>
          <p:cNvPr id="80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3515364" y="5319152"/>
            <a:ext cx="206057" cy="569976"/>
            <a:chOff x="3031001" y="4520756"/>
            <a:chExt cx="431580" cy="501484"/>
          </a:xfrm>
        </p:grpSpPr>
        <p:sp>
          <p:nvSpPr>
            <p:cNvPr id="83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520756"/>
              <a:ext cx="341524" cy="12390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7713"/>
              <a:ext cx="90052" cy="45452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2" name="순서도: 판단 58"/>
          <p:cNvSpPr>
            <a:spLocks noChangeAspect="1" noChangeArrowheads="1"/>
          </p:cNvSpPr>
          <p:nvPr/>
        </p:nvSpPr>
        <p:spPr bwMode="auto">
          <a:xfrm>
            <a:off x="3400482" y="4071800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결재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9" name="직선 화살표 연결선 98"/>
          <p:cNvCxnSpPr>
            <a:stCxn id="77" idx="0"/>
            <a:endCxn id="92" idx="2"/>
          </p:cNvCxnSpPr>
          <p:nvPr/>
        </p:nvCxnSpPr>
        <p:spPr>
          <a:xfrm flipV="1">
            <a:off x="3864179" y="4423790"/>
            <a:ext cx="9545" cy="58807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/>
          <p:cNvSpPr/>
          <p:nvPr/>
        </p:nvSpPr>
        <p:spPr bwMode="auto">
          <a:xfrm>
            <a:off x="5142150" y="501186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수납</a:t>
            </a:r>
            <a:r>
              <a:rPr lang="en-US" altLang="ko-KR" sz="900" kern="0" smtClean="0"/>
              <a:t>/</a:t>
            </a:r>
            <a:r>
              <a:rPr lang="ko-KR" altLang="en-US" sz="900" kern="0" smtClean="0"/>
              <a:t>대체 결의 입력</a:t>
            </a:r>
            <a:endParaRPr lang="en-US" altLang="ko-KR" sz="900" kern="0" dirty="0"/>
          </a:p>
        </p:txBody>
      </p:sp>
      <p:grpSp>
        <p:nvGrpSpPr>
          <p:cNvPr id="101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5171548" y="5319152"/>
            <a:ext cx="206057" cy="569976"/>
            <a:chOff x="3031001" y="4520756"/>
            <a:chExt cx="431580" cy="501484"/>
          </a:xfrm>
        </p:grpSpPr>
        <p:sp>
          <p:nvSpPr>
            <p:cNvPr id="102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520756"/>
              <a:ext cx="341524" cy="12390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7713"/>
              <a:ext cx="90052" cy="45452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4" name="순서도: 판단 58"/>
          <p:cNvSpPr>
            <a:spLocks noChangeAspect="1" noChangeArrowheads="1"/>
          </p:cNvSpPr>
          <p:nvPr/>
        </p:nvSpPr>
        <p:spPr bwMode="auto">
          <a:xfrm>
            <a:off x="5056666" y="4071800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결재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7" name="직선 화살표 연결선 106"/>
          <p:cNvCxnSpPr>
            <a:stCxn id="100" idx="0"/>
            <a:endCxn id="104" idx="2"/>
          </p:cNvCxnSpPr>
          <p:nvPr/>
        </p:nvCxnSpPr>
        <p:spPr>
          <a:xfrm flipV="1">
            <a:off x="5520363" y="4423790"/>
            <a:ext cx="9545" cy="58807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10962" y="5403612"/>
            <a:ext cx="102688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일반수입 </a:t>
            </a:r>
            <a:r>
              <a:rPr kumimoji="1" lang="ko-KR" altLang="en-US" sz="800" kern="0">
                <a:solidFill>
                  <a:prstClr val="black"/>
                </a:solidFill>
              </a:rPr>
              <a:t>결의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매출수입 </a:t>
            </a:r>
            <a:r>
              <a:rPr kumimoji="1" lang="ko-KR" altLang="en-US" sz="800" kern="0">
                <a:solidFill>
                  <a:prstClr val="black"/>
                </a:solidFill>
              </a:rPr>
              <a:t>결의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세입외수입 결의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반납 결의</a:t>
            </a:r>
            <a:endParaRPr kumimoji="1" lang="en-US" altLang="ko-KR" sz="800" kern="0">
              <a:solidFill>
                <a:prstClr val="black"/>
              </a:solidFill>
            </a:endParaRPr>
          </a:p>
        </p:txBody>
      </p:sp>
      <p:sp>
        <p:nvSpPr>
          <p:cNvPr id="109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67147" y="5271064"/>
            <a:ext cx="138605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일반 수납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다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중 수납처리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대체결의서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계좌대체 결의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예산대체 결의</a:t>
            </a:r>
            <a:endParaRPr kumimoji="1" lang="en-US" altLang="ko-KR" sz="800" kern="0">
              <a:solidFill>
                <a:prstClr val="black"/>
              </a:solidFill>
            </a:endParaRPr>
          </a:p>
        </p:txBody>
      </p:sp>
      <p:sp>
        <p:nvSpPr>
          <p:cNvPr id="110" name="순서도: 판단 58"/>
          <p:cNvSpPr>
            <a:spLocks noChangeAspect="1" noChangeArrowheads="1"/>
          </p:cNvSpPr>
          <p:nvPr/>
        </p:nvSpPr>
        <p:spPr bwMode="auto">
          <a:xfrm>
            <a:off x="6776979" y="3254967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전표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23" name="꺾인 연결선 22"/>
          <p:cNvCxnSpPr>
            <a:stCxn id="104" idx="0"/>
            <a:endCxn id="63" idx="1"/>
          </p:cNvCxnSpPr>
          <p:nvPr/>
        </p:nvCxnSpPr>
        <p:spPr>
          <a:xfrm rot="5400000" flipH="1" flipV="1">
            <a:off x="5435976" y="2767124"/>
            <a:ext cx="1398608" cy="121074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꺾인 연결선 41"/>
          <p:cNvCxnSpPr>
            <a:stCxn id="92" idx="0"/>
            <a:endCxn id="63" idx="1"/>
          </p:cNvCxnSpPr>
          <p:nvPr/>
        </p:nvCxnSpPr>
        <p:spPr>
          <a:xfrm rot="5400000" flipH="1" flipV="1">
            <a:off x="4607884" y="1939032"/>
            <a:ext cx="1398608" cy="286692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꺾인 연결선 44"/>
          <p:cNvCxnSpPr>
            <a:stCxn id="64" idx="0"/>
            <a:endCxn id="63" idx="1"/>
          </p:cNvCxnSpPr>
          <p:nvPr/>
        </p:nvCxnSpPr>
        <p:spPr>
          <a:xfrm rot="5400000" flipH="1" flipV="1">
            <a:off x="3846019" y="1177167"/>
            <a:ext cx="1398608" cy="439065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화살표 연결선 46"/>
          <p:cNvCxnSpPr>
            <a:stCxn id="63" idx="2"/>
            <a:endCxn id="110" idx="0"/>
          </p:cNvCxnSpPr>
          <p:nvPr/>
        </p:nvCxnSpPr>
        <p:spPr>
          <a:xfrm>
            <a:off x="7245958" y="2873351"/>
            <a:ext cx="4263" cy="38161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타원 110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6924676" y="3884646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49" name="직선 화살표 연결선 48"/>
          <p:cNvCxnSpPr>
            <a:stCxn id="110" idx="2"/>
            <a:endCxn id="114" idx="1"/>
          </p:cNvCxnSpPr>
          <p:nvPr/>
        </p:nvCxnSpPr>
        <p:spPr>
          <a:xfrm>
            <a:off x="7250221" y="3606957"/>
            <a:ext cx="3318" cy="4648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원통 68">
            <a:extLst>
              <a:ext uri="{FF2B5EF4-FFF2-40B4-BE49-F238E27FC236}">
                <a16:creationId xmlns="" xmlns:a16="http://schemas.microsoft.com/office/drawing/2014/main" id="{9ABA2FA7-3AA7-4C37-BB88-45EE8F6FE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3539" y="4071800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전표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8" name="원통 68">
            <a:extLst>
              <a:ext uri="{FF2B5EF4-FFF2-40B4-BE49-F238E27FC236}">
                <a16:creationId xmlns="" xmlns:a16="http://schemas.microsoft.com/office/drawing/2014/main" id="{9ABA2FA7-3AA7-4C37-BB88-45EE8F6FE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575" y="4689184"/>
            <a:ext cx="900000" cy="396000"/>
          </a:xfrm>
          <a:prstGeom prst="can">
            <a:avLst>
              <a:gd name="adj" fmla="val 25000"/>
            </a:avLst>
          </a:prstGeom>
          <a:solidFill>
            <a:schemeClr val="bg1"/>
          </a:solidFill>
          <a:ln w="1397" algn="ctr">
            <a:solidFill>
              <a:sysClr val="windowText" lastClr="000000"/>
            </a:solidFill>
            <a:round/>
            <a:headEnd/>
            <a:tailEnd/>
          </a:ln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계좌이체대상</a:t>
            </a:r>
            <a:endParaRPr kumimoji="1" lang="ko-KR" altLang="en-US" sz="9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6912885" y="4522107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2360544" y="3819151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29" name="TextBox 128"/>
          <p:cNvSpPr txBox="1"/>
          <p:nvPr/>
        </p:nvSpPr>
        <p:spPr>
          <a:xfrm>
            <a:off x="3884274" y="3819151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30" name="TextBox 129"/>
          <p:cNvSpPr txBox="1"/>
          <p:nvPr/>
        </p:nvSpPr>
        <p:spPr>
          <a:xfrm>
            <a:off x="5533400" y="3821964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87109709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전표가 확정되면 거래처 계좌로 송금할 대상과 전도금에 대한 자금집행 승인을 받아 이체의뢰하고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 출금이 완료되면 출금전표를 생성한다</a:t>
            </a:r>
            <a:r>
              <a:rPr lang="en-US" altLang="ko-KR" smtClean="0">
                <a:latin typeface="+mn-ea"/>
                <a:ea typeface="+mn-ea"/>
              </a:rPr>
              <a:t>. </a:t>
            </a:r>
            <a:r>
              <a:rPr lang="ko-KR" altLang="en-US" smtClean="0">
                <a:latin typeface="+mn-ea"/>
                <a:ea typeface="+mn-ea"/>
              </a:rPr>
              <a:t>외부과 연계를 통하여 입출금 거래내역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카드 승인</a:t>
            </a:r>
            <a:r>
              <a:rPr lang="en-US" altLang="ko-KR" smtClean="0">
                <a:latin typeface="+mn-ea"/>
                <a:ea typeface="+mn-ea"/>
              </a:rPr>
              <a:t>/</a:t>
            </a:r>
            <a:r>
              <a:rPr lang="ko-KR" altLang="en-US" smtClean="0">
                <a:latin typeface="+mn-ea"/>
                <a:ea typeface="+mn-ea"/>
              </a:rPr>
              <a:t>매입</a:t>
            </a:r>
            <a:r>
              <a:rPr lang="en-US" altLang="ko-KR" smtClean="0">
                <a:latin typeface="+mn-ea"/>
                <a:ea typeface="+mn-ea"/>
              </a:rPr>
              <a:t>/</a:t>
            </a:r>
            <a:r>
              <a:rPr lang="ko-KR" altLang="en-US" smtClean="0">
                <a:latin typeface="+mn-ea"/>
                <a:ea typeface="+mn-ea"/>
              </a:rPr>
              <a:t>청구 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와 전자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세금</a:t>
            </a:r>
            <a:r>
              <a:rPr lang="en-US" altLang="ko-KR" smtClean="0">
                <a:latin typeface="+mn-ea"/>
                <a:ea typeface="+mn-ea"/>
              </a:rPr>
              <a:t>)</a:t>
            </a:r>
            <a:r>
              <a:rPr lang="ko-KR" altLang="en-US" smtClean="0">
                <a:latin typeface="+mn-ea"/>
                <a:ea typeface="+mn-ea"/>
              </a:rPr>
              <a:t>계산서 정보를 수신하여 후속작업이 원활하게 수행되도록 지원함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065856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2.3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자금관리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62583"/>
              </p:ext>
            </p:extLst>
          </p:nvPr>
        </p:nvGraphicFramePr>
        <p:xfrm>
          <a:off x="344488" y="1987168"/>
          <a:ext cx="9181020" cy="425014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224136"/>
                <a:gridCol w="201622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944216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1764196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자금집행관리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2.3.2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전도금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금융기관 연계정보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2.3.4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법인카드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2.3.5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전자세금계산서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610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807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금융기관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1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3/7)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132095" y="6002032"/>
            <a:ext cx="516649" cy="183368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출금결과</a:t>
            </a:r>
            <a:endParaRPr lang="en-US" altLang="ko-KR" sz="900" kern="0" dirty="0"/>
          </a:p>
        </p:txBody>
      </p:sp>
      <p:sp>
        <p:nvSpPr>
          <p:cNvPr id="93" name="직사각형 92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7949369" y="480718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수입결의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8613203" y="24459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전자</a:t>
            </a:r>
            <a:r>
              <a:rPr lang="en-US" altLang="ko-KR" sz="900" kern="0" smtClean="0">
                <a:solidFill>
                  <a:prstClr val="black"/>
                </a:solidFill>
              </a:rPr>
              <a:t>(</a:t>
            </a:r>
            <a:r>
              <a:rPr lang="ko-KR" altLang="en-US" sz="900" kern="0" smtClean="0">
                <a:solidFill>
                  <a:prstClr val="black"/>
                </a:solidFill>
              </a:rPr>
              <a:t>세금</a:t>
            </a:r>
            <a:r>
              <a:rPr lang="en-US" altLang="ko-KR" sz="900" kern="0" smtClean="0">
                <a:solidFill>
                  <a:prstClr val="black"/>
                </a:solidFill>
              </a:rPr>
              <a:t>)</a:t>
            </a: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계산서 수신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2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63" idx="6"/>
            <a:endCxn id="64" idx="0"/>
          </p:cNvCxnSpPr>
          <p:nvPr/>
        </p:nvCxnSpPr>
        <p:spPr bwMode="auto">
          <a:xfrm>
            <a:off x="1535148" y="2558230"/>
            <a:ext cx="435349" cy="9877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6" name="직사각형 85"/>
          <p:cNvSpPr/>
          <p:nvPr/>
        </p:nvSpPr>
        <p:spPr bwMode="auto">
          <a:xfrm>
            <a:off x="5996775" y="29249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법인카드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7" name="직사각형 86"/>
          <p:cNvSpPr/>
          <p:nvPr/>
        </p:nvSpPr>
        <p:spPr bwMode="auto">
          <a:xfrm>
            <a:off x="6033120" y="53012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8. </a:t>
            </a:r>
            <a:r>
              <a:rPr lang="ko-KR" altLang="en-US" sz="900" kern="0" smtClean="0">
                <a:solidFill>
                  <a:prstClr val="black"/>
                </a:solidFill>
              </a:rPr>
              <a:t>공용카드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사용신청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1" name="타원 40"/>
          <p:cNvSpPr/>
          <p:nvPr/>
        </p:nvSpPr>
        <p:spPr>
          <a:xfrm>
            <a:off x="7833320" y="3963959"/>
            <a:ext cx="574239" cy="368159"/>
          </a:xfrm>
          <a:prstGeom prst="ellipse">
            <a:avLst/>
          </a:prstGeom>
          <a:blipFill>
            <a:blip r:embed="rId3"/>
            <a:tile tx="0" ty="0" sx="100000" sy="100000" flip="none" algn="tl"/>
          </a:blipFill>
          <a:ln w="6350">
            <a:solidFill>
              <a:srgbClr val="00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발행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솔루션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1332834" y="246535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2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1592284" y="26570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집행승인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요청</a:t>
            </a:r>
            <a:endParaRPr lang="en-US" altLang="ko-KR" sz="900" kern="0" dirty="0"/>
          </a:p>
        </p:txBody>
      </p:sp>
      <p:sp>
        <p:nvSpPr>
          <p:cNvPr id="66" name="순서도: 판단 58"/>
          <p:cNvSpPr>
            <a:spLocks noChangeAspect="1" noChangeArrowheads="1"/>
          </p:cNvSpPr>
          <p:nvPr/>
        </p:nvSpPr>
        <p:spPr bwMode="auto">
          <a:xfrm>
            <a:off x="1519083" y="3212976"/>
            <a:ext cx="90282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집행승인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1592284" y="368429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출금의뢰</a:t>
            </a:r>
            <a:endParaRPr lang="en-US" altLang="ko-KR" sz="900" kern="0" dirty="0"/>
          </a:p>
        </p:txBody>
      </p:sp>
      <p:sp>
        <p:nvSpPr>
          <p:cNvPr id="9" name="직사각형 8"/>
          <p:cNvSpPr/>
          <p:nvPr/>
        </p:nvSpPr>
        <p:spPr>
          <a:xfrm>
            <a:off x="1280190" y="4157680"/>
            <a:ext cx="4514778" cy="1287446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600" b="1" smtClean="0">
                <a:solidFill>
                  <a:schemeClr val="tx1"/>
                </a:solidFill>
              </a:rPr>
              <a:t>                   금융기관 연계</a:t>
            </a:r>
            <a:endParaRPr lang="en-US" altLang="ko-KR" sz="1600" b="1" smtClean="0">
              <a:solidFill>
                <a:schemeClr val="tx1"/>
              </a:solidFill>
            </a:endParaRPr>
          </a:p>
          <a:p>
            <a:pPr algn="ctr"/>
            <a:r>
              <a:rPr lang="ko-KR" altLang="en-US" sz="1600" b="1" smtClean="0">
                <a:solidFill>
                  <a:schemeClr val="tx1"/>
                </a:solidFill>
              </a:rPr>
              <a:t>                     </a:t>
            </a:r>
            <a:r>
              <a:rPr lang="en-US" altLang="ko-KR" sz="1600" b="1" smtClean="0">
                <a:solidFill>
                  <a:schemeClr val="tx1"/>
                </a:solidFill>
              </a:rPr>
              <a:t>(CMS / </a:t>
            </a:r>
            <a:r>
              <a:rPr lang="ko-KR" altLang="en-US" sz="1600" b="1" smtClean="0">
                <a:solidFill>
                  <a:schemeClr val="tx1"/>
                </a:solidFill>
              </a:rPr>
              <a:t>인하우스</a:t>
            </a:r>
            <a:r>
              <a:rPr lang="en-US" altLang="ko-KR" sz="1600" b="1" smtClean="0">
                <a:solidFill>
                  <a:schemeClr val="tx1"/>
                </a:solidFill>
              </a:rPr>
              <a:t>)</a:t>
            </a:r>
            <a:endParaRPr lang="ko-KR" altLang="en-US" sz="1600" b="1" smtClean="0">
              <a:solidFill>
                <a:schemeClr val="tx1"/>
              </a:solidFill>
            </a:endParaRPr>
          </a:p>
        </p:txBody>
      </p:sp>
      <p:cxnSp>
        <p:nvCxnSpPr>
          <p:cNvPr id="11" name="직선 화살표 연결선 10"/>
          <p:cNvCxnSpPr>
            <a:stCxn id="64" idx="2"/>
            <a:endCxn id="66" idx="0"/>
          </p:cNvCxnSpPr>
          <p:nvPr/>
        </p:nvCxnSpPr>
        <p:spPr>
          <a:xfrm flipH="1">
            <a:off x="1970496" y="2977779"/>
            <a:ext cx="1" cy="23519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66" idx="2"/>
            <a:endCxn id="72" idx="0"/>
          </p:cNvCxnSpPr>
          <p:nvPr/>
        </p:nvCxnSpPr>
        <p:spPr>
          <a:xfrm>
            <a:off x="1970496" y="3564966"/>
            <a:ext cx="1" cy="11932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7" name="Picture 73" descr="적재함_ico_Bmp1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4274" y="3932932"/>
            <a:ext cx="3651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" name="직사각형 79"/>
          <p:cNvSpPr/>
          <p:nvPr/>
        </p:nvSpPr>
        <p:spPr bwMode="auto">
          <a:xfrm>
            <a:off x="1580453" y="4308441"/>
            <a:ext cx="756425" cy="210712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출금의뢰</a:t>
            </a:r>
            <a:endParaRPr lang="en-US" altLang="ko-KR" sz="900" kern="0" dirty="0"/>
          </a:p>
        </p:txBody>
      </p:sp>
      <p:sp>
        <p:nvSpPr>
          <p:cNvPr id="83" name="직사각형 82"/>
          <p:cNvSpPr/>
          <p:nvPr/>
        </p:nvSpPr>
        <p:spPr bwMode="auto">
          <a:xfrm>
            <a:off x="1580453" y="5162021"/>
            <a:ext cx="756425" cy="210712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송금전문서식</a:t>
            </a:r>
            <a:endParaRPr lang="en-US" altLang="ko-KR" sz="900" kern="0" dirty="0"/>
          </a:p>
        </p:txBody>
      </p:sp>
      <p:sp>
        <p:nvSpPr>
          <p:cNvPr id="91" name="순서도: 판단 58"/>
          <p:cNvSpPr>
            <a:spLocks noChangeAspect="1" noChangeArrowheads="1"/>
          </p:cNvSpPr>
          <p:nvPr/>
        </p:nvSpPr>
        <p:spPr bwMode="auto">
          <a:xfrm>
            <a:off x="1507252" y="4718268"/>
            <a:ext cx="902826" cy="226126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800" kern="0" smtClean="0">
                <a:solidFill>
                  <a:prstClr val="black"/>
                </a:solidFill>
              </a:rPr>
              <a:t>공인인증서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23" name="직선 화살표 연결선 22"/>
          <p:cNvCxnSpPr>
            <a:endCxn id="91" idx="0"/>
          </p:cNvCxnSpPr>
          <p:nvPr/>
        </p:nvCxnSpPr>
        <p:spPr>
          <a:xfrm flipH="1">
            <a:off x="1958665" y="4613998"/>
            <a:ext cx="11832" cy="10427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화살표 연결선 29"/>
          <p:cNvCxnSpPr>
            <a:stCxn id="91" idx="2"/>
            <a:endCxn id="83" idx="0"/>
          </p:cNvCxnSpPr>
          <p:nvPr/>
        </p:nvCxnSpPr>
        <p:spPr>
          <a:xfrm>
            <a:off x="1958665" y="4944394"/>
            <a:ext cx="1" cy="21762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직사각형 91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424608" y="5765912"/>
            <a:ext cx="516649" cy="183368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송금처리</a:t>
            </a:r>
            <a:endParaRPr lang="en-US" altLang="ko-KR" sz="900" kern="0" dirty="0"/>
          </a:p>
        </p:txBody>
      </p:sp>
      <p:cxnSp>
        <p:nvCxnSpPr>
          <p:cNvPr id="48" name="구부러진 연결선 47"/>
          <p:cNvCxnSpPr>
            <a:stCxn id="83" idx="2"/>
            <a:endCxn id="92" idx="0"/>
          </p:cNvCxnSpPr>
          <p:nvPr/>
        </p:nvCxnSpPr>
        <p:spPr>
          <a:xfrm rot="5400000">
            <a:off x="1624211" y="5431456"/>
            <a:ext cx="393179" cy="275733"/>
          </a:xfrm>
          <a:prstGeom prst="curved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구부러진 연결선 49"/>
          <p:cNvCxnSpPr>
            <a:stCxn id="19" idx="0"/>
            <a:endCxn id="83" idx="2"/>
          </p:cNvCxnSpPr>
          <p:nvPr/>
        </p:nvCxnSpPr>
        <p:spPr>
          <a:xfrm rot="16200000" flipV="1">
            <a:off x="1859894" y="5471506"/>
            <a:ext cx="629299" cy="431754"/>
          </a:xfrm>
          <a:prstGeom prst="curvedConnector3">
            <a:avLst/>
          </a:prstGeom>
          <a:ln w="6350">
            <a:solidFill>
              <a:srgbClr val="0000C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모서리가 둥근 직사각형 52"/>
          <p:cNvSpPr/>
          <p:nvPr/>
        </p:nvSpPr>
        <p:spPr>
          <a:xfrm>
            <a:off x="3325251" y="2435075"/>
            <a:ext cx="792088" cy="335581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송신</a:t>
            </a:r>
          </a:p>
        </p:txBody>
      </p:sp>
      <p:sp>
        <p:nvSpPr>
          <p:cNvPr id="102" name="모서리가 둥근 직사각형 101"/>
          <p:cNvSpPr/>
          <p:nvPr/>
        </p:nvSpPr>
        <p:spPr>
          <a:xfrm>
            <a:off x="4171456" y="2445958"/>
            <a:ext cx="792088" cy="335581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수신</a:t>
            </a:r>
          </a:p>
        </p:txBody>
      </p:sp>
      <p:sp>
        <p:nvSpPr>
          <p:cNvPr id="103" name="모서리가 둥근 직사각형 102"/>
          <p:cNvSpPr/>
          <p:nvPr/>
        </p:nvSpPr>
        <p:spPr>
          <a:xfrm>
            <a:off x="5008293" y="2445958"/>
            <a:ext cx="792088" cy="335581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회신</a:t>
            </a:r>
          </a:p>
        </p:txBody>
      </p:sp>
      <p:sp>
        <p:nvSpPr>
          <p:cNvPr id="54" name="직사각형 53"/>
          <p:cNvSpPr/>
          <p:nvPr/>
        </p:nvSpPr>
        <p:spPr>
          <a:xfrm>
            <a:off x="3325251" y="2839822"/>
            <a:ext cx="792088" cy="815473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예금주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휴폐업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계좌이체의뢰</a:t>
            </a:r>
          </a:p>
        </p:txBody>
      </p:sp>
      <p:sp>
        <p:nvSpPr>
          <p:cNvPr id="105" name="직사각형 104"/>
          <p:cNvSpPr/>
          <p:nvPr/>
        </p:nvSpPr>
        <p:spPr>
          <a:xfrm>
            <a:off x="4189347" y="2839822"/>
            <a:ext cx="792088" cy="815473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계좌 정보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환율 정보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입출금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법인카드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세금계산서</a:t>
            </a:r>
          </a:p>
        </p:txBody>
      </p:sp>
      <p:sp>
        <p:nvSpPr>
          <p:cNvPr id="106" name="직사각형 105"/>
          <p:cNvSpPr/>
          <p:nvPr/>
        </p:nvSpPr>
        <p:spPr>
          <a:xfrm>
            <a:off x="5025008" y="2840406"/>
            <a:ext cx="792088" cy="815473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예금주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휴폐업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이체의뢰결과</a:t>
            </a:r>
          </a:p>
        </p:txBody>
      </p:sp>
      <p:grpSp>
        <p:nvGrpSpPr>
          <p:cNvPr id="108" name="Group 47"/>
          <p:cNvGrpSpPr>
            <a:grpSpLocks/>
          </p:cNvGrpSpPr>
          <p:nvPr/>
        </p:nvGrpSpPr>
        <p:grpSpPr bwMode="auto">
          <a:xfrm>
            <a:off x="3941507" y="3733674"/>
            <a:ext cx="1296106" cy="328533"/>
            <a:chOff x="1730" y="3067"/>
            <a:chExt cx="967" cy="142"/>
          </a:xfrm>
        </p:grpSpPr>
        <p:pic>
          <p:nvPicPr>
            <p:cNvPr id="109" name="Picture 48" descr="화살표2"/>
            <p:cNvPicPr>
              <a:picLocks noChangeAspect="1" noChangeArrowheads="1"/>
            </p:cNvPicPr>
            <p:nvPr/>
          </p:nvPicPr>
          <p:blipFill>
            <a:blip r:embed="rId5">
              <a:lum bright="12000" contrast="-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V="1">
              <a:off x="1730" y="3067"/>
              <a:ext cx="322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49" descr="화살표3"/>
            <p:cNvPicPr>
              <a:picLocks noChangeAspect="1" noChangeArrowheads="1"/>
            </p:cNvPicPr>
            <p:nvPr/>
          </p:nvPicPr>
          <p:blipFill>
            <a:blip r:embed="rId6">
              <a:lum bright="12000" contrast="-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V="1">
              <a:off x="2375" y="3067"/>
              <a:ext cx="322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4" name="직사각형 113"/>
          <p:cNvSpPr/>
          <p:nvPr/>
        </p:nvSpPr>
        <p:spPr bwMode="auto">
          <a:xfrm>
            <a:off x="5996775" y="340060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법인카드 승인내역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5" name="직사각형 114"/>
          <p:cNvSpPr/>
          <p:nvPr/>
        </p:nvSpPr>
        <p:spPr bwMode="auto">
          <a:xfrm>
            <a:off x="5996775" y="386850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4. </a:t>
            </a:r>
            <a:r>
              <a:rPr lang="ko-KR" altLang="en-US" sz="900" kern="0" smtClean="0">
                <a:solidFill>
                  <a:prstClr val="black"/>
                </a:solidFill>
              </a:rPr>
              <a:t>법인카드 매입내역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16" name="직사각형 115"/>
          <p:cNvSpPr/>
          <p:nvPr/>
        </p:nvSpPr>
        <p:spPr bwMode="auto">
          <a:xfrm>
            <a:off x="5996775" y="433236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6. </a:t>
            </a:r>
            <a:r>
              <a:rPr lang="ko-KR" altLang="en-US" sz="900" kern="0" smtClean="0">
                <a:solidFill>
                  <a:prstClr val="black"/>
                </a:solidFill>
              </a:rPr>
              <a:t>법인카드 청구내역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3" name="꺾인 연결선 72"/>
          <p:cNvCxnSpPr>
            <a:stCxn id="9" idx="3"/>
            <a:endCxn id="116" idx="1"/>
          </p:cNvCxnSpPr>
          <p:nvPr/>
        </p:nvCxnSpPr>
        <p:spPr>
          <a:xfrm flipV="1">
            <a:off x="5794968" y="4492751"/>
            <a:ext cx="201807" cy="308652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꺾인 연결선 97"/>
          <p:cNvCxnSpPr>
            <a:stCxn id="9" idx="3"/>
            <a:endCxn id="115" idx="1"/>
          </p:cNvCxnSpPr>
          <p:nvPr/>
        </p:nvCxnSpPr>
        <p:spPr>
          <a:xfrm flipV="1">
            <a:off x="5794968" y="4028887"/>
            <a:ext cx="201807" cy="772516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꺾인 연결선 99"/>
          <p:cNvCxnSpPr>
            <a:stCxn id="9" idx="3"/>
            <a:endCxn id="114" idx="1"/>
          </p:cNvCxnSpPr>
          <p:nvPr/>
        </p:nvCxnSpPr>
        <p:spPr>
          <a:xfrm flipV="1">
            <a:off x="5794968" y="3560989"/>
            <a:ext cx="201807" cy="1240414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꺾인 연결선 103"/>
          <p:cNvCxnSpPr>
            <a:stCxn id="86" idx="1"/>
            <a:endCxn id="9" idx="3"/>
          </p:cNvCxnSpPr>
          <p:nvPr/>
        </p:nvCxnSpPr>
        <p:spPr>
          <a:xfrm rot="10800000" flipV="1">
            <a:off x="5794969" y="3085329"/>
            <a:ext cx="201807" cy="171607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꺾인 연결선 117"/>
          <p:cNvCxnSpPr>
            <a:stCxn id="9" idx="3"/>
            <a:endCxn id="113" idx="1"/>
          </p:cNvCxnSpPr>
          <p:nvPr/>
        </p:nvCxnSpPr>
        <p:spPr>
          <a:xfrm flipV="1">
            <a:off x="5794968" y="2606344"/>
            <a:ext cx="2818235" cy="2195059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직사각형 130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7859399" y="284084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매출계산서 발행내역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32" name="타원 131"/>
          <p:cNvSpPr/>
          <p:nvPr/>
        </p:nvSpPr>
        <p:spPr>
          <a:xfrm>
            <a:off x="7243039" y="3845896"/>
            <a:ext cx="432389" cy="368159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지출결의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cxnSp>
        <p:nvCxnSpPr>
          <p:cNvPr id="124" name="꺾인 연결선 123"/>
          <p:cNvCxnSpPr>
            <a:stCxn id="115" idx="3"/>
            <a:endCxn id="132" idx="2"/>
          </p:cNvCxnSpPr>
          <p:nvPr/>
        </p:nvCxnSpPr>
        <p:spPr>
          <a:xfrm>
            <a:off x="6753200" y="4028887"/>
            <a:ext cx="489839" cy="1089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직사각형 138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6994212" y="34758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집행제한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사용내역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0" name="꺾인 연결선 129"/>
          <p:cNvCxnSpPr>
            <a:stCxn id="114" idx="3"/>
            <a:endCxn id="139" idx="1"/>
          </p:cNvCxnSpPr>
          <p:nvPr/>
        </p:nvCxnSpPr>
        <p:spPr>
          <a:xfrm>
            <a:off x="6753200" y="3560989"/>
            <a:ext cx="241012" cy="75205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6994212" y="469240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7. </a:t>
            </a:r>
            <a:r>
              <a:rPr lang="ko-KR" altLang="en-US" sz="900" kern="0" smtClean="0">
                <a:solidFill>
                  <a:prstClr val="black"/>
                </a:solidFill>
              </a:rPr>
              <a:t>카드청구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지급결의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4" name="꺾인 연결선 133"/>
          <p:cNvCxnSpPr>
            <a:stCxn id="116" idx="3"/>
            <a:endCxn id="142" idx="1"/>
          </p:cNvCxnSpPr>
          <p:nvPr/>
        </p:nvCxnSpPr>
        <p:spPr>
          <a:xfrm>
            <a:off x="6753200" y="4492751"/>
            <a:ext cx="241012" cy="360040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직사각형 150">
            <a:extLst>
              <a:ext uri="{FF2B5EF4-FFF2-40B4-BE49-F238E27FC236}">
                <a16:creationId xmlns="" xmlns:a16="http://schemas.microsoft.com/office/drawing/2014/main" id="{BF8C18E1-0D9B-18C0-FA71-E6F2194F7741}"/>
              </a:ext>
            </a:extLst>
          </p:cNvPr>
          <p:cNvSpPr/>
          <p:nvPr/>
        </p:nvSpPr>
        <p:spPr bwMode="auto">
          <a:xfrm>
            <a:off x="7004887" y="421574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카드사용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내역점검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2" name="꺾인 연결선 151"/>
          <p:cNvCxnSpPr>
            <a:stCxn id="115" idx="3"/>
            <a:endCxn id="151" idx="1"/>
          </p:cNvCxnSpPr>
          <p:nvPr/>
        </p:nvCxnSpPr>
        <p:spPr>
          <a:xfrm>
            <a:off x="6753200" y="4028887"/>
            <a:ext cx="251687" cy="347246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3" name="그룹 67"/>
          <p:cNvGrpSpPr/>
          <p:nvPr/>
        </p:nvGrpSpPr>
        <p:grpSpPr>
          <a:xfrm flipH="1" flipV="1">
            <a:off x="6347271" y="5622266"/>
            <a:ext cx="273235" cy="276774"/>
            <a:chOff x="3031001" y="4691318"/>
            <a:chExt cx="263666" cy="193047"/>
          </a:xfrm>
        </p:grpSpPr>
        <p:sp>
          <p:nvSpPr>
            <p:cNvPr id="156" name="Line 175"/>
            <p:cNvSpPr>
              <a:spLocks noChangeShapeType="1"/>
            </p:cNvSpPr>
            <p:nvPr/>
          </p:nvSpPr>
          <p:spPr bwMode="auto">
            <a:xfrm flipH="1" flipV="1">
              <a:off x="3121059" y="4792144"/>
              <a:ext cx="173608" cy="9222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Freeform 176"/>
            <p:cNvSpPr>
              <a:spLocks noChangeArrowheads="1"/>
            </p:cNvSpPr>
            <p:nvPr/>
          </p:nvSpPr>
          <p:spPr bwMode="auto">
            <a:xfrm flipH="1">
              <a:off x="3031001" y="4691318"/>
              <a:ext cx="90051" cy="175239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9" name="Rectangle 179"/>
          <p:cNvSpPr>
            <a:spLocks noChangeArrowheads="1"/>
          </p:cNvSpPr>
          <p:nvPr/>
        </p:nvSpPr>
        <p:spPr bwMode="auto">
          <a:xfrm flipH="1">
            <a:off x="6613416" y="5661678"/>
            <a:ext cx="77990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사용신청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사용승인</a:t>
            </a:r>
            <a:endParaRPr kumimoji="1" lang="en-US" altLang="ko-KR" sz="800" kern="0" smtClean="0">
              <a:solidFill>
                <a:prstClr val="black"/>
              </a:solidFill>
            </a:endParaRPr>
          </a:p>
        </p:txBody>
      </p:sp>
      <p:cxnSp>
        <p:nvCxnSpPr>
          <p:cNvPr id="166" name="구부러진 연결선 165"/>
          <p:cNvCxnSpPr>
            <a:stCxn id="93" idx="0"/>
            <a:endCxn id="41" idx="4"/>
          </p:cNvCxnSpPr>
          <p:nvPr/>
        </p:nvCxnSpPr>
        <p:spPr>
          <a:xfrm rot="16200000" flipV="1">
            <a:off x="7986480" y="4466078"/>
            <a:ext cx="475062" cy="207142"/>
          </a:xfrm>
          <a:prstGeom prst="curvedConnector3">
            <a:avLst/>
          </a:prstGeom>
          <a:ln w="6350">
            <a:solidFill>
              <a:srgbClr val="0000CC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구부러진 연결선 168"/>
          <p:cNvCxnSpPr>
            <a:stCxn id="41" idx="0"/>
            <a:endCxn id="131" idx="2"/>
          </p:cNvCxnSpPr>
          <p:nvPr/>
        </p:nvCxnSpPr>
        <p:spPr>
          <a:xfrm rot="5400000" flipH="1" flipV="1">
            <a:off x="7777857" y="3504204"/>
            <a:ext cx="802339" cy="117172"/>
          </a:xfrm>
          <a:prstGeom prst="curvedConnector3">
            <a:avLst/>
          </a:prstGeom>
          <a:ln w="6350">
            <a:solidFill>
              <a:srgbClr val="0000CC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" name="타원 169"/>
          <p:cNvSpPr/>
          <p:nvPr/>
        </p:nvSpPr>
        <p:spPr>
          <a:xfrm>
            <a:off x="8775221" y="4783485"/>
            <a:ext cx="432389" cy="368159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지출결의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cxnSp>
        <p:nvCxnSpPr>
          <p:cNvPr id="172" name="직선 화살표 연결선 171"/>
          <p:cNvCxnSpPr>
            <a:stCxn id="113" idx="2"/>
            <a:endCxn id="170" idx="0"/>
          </p:cNvCxnSpPr>
          <p:nvPr/>
        </p:nvCxnSpPr>
        <p:spPr>
          <a:xfrm>
            <a:off x="8991416" y="2766729"/>
            <a:ext cx="0" cy="201675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9287190" y="2899569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cxnSp>
        <p:nvCxnSpPr>
          <p:cNvPr id="177" name="꺾인 연결선 176"/>
          <p:cNvCxnSpPr>
            <a:stCxn id="113" idx="2"/>
            <a:endCxn id="175" idx="2"/>
          </p:cNvCxnSpPr>
          <p:nvPr/>
        </p:nvCxnSpPr>
        <p:spPr>
          <a:xfrm rot="16200000" flipH="1">
            <a:off x="9026443" y="2731702"/>
            <a:ext cx="225720" cy="29577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Rectangle 179"/>
          <p:cNvSpPr>
            <a:spLocks noChangeArrowheads="1"/>
          </p:cNvSpPr>
          <p:nvPr/>
        </p:nvSpPr>
        <p:spPr bwMode="auto">
          <a:xfrm flipH="1">
            <a:off x="1546910" y="2432452"/>
            <a:ext cx="77990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&lt;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계좌이체대상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67938" y="3517089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191" name="직사각형 190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2566688" y="52292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전도금 신청</a:t>
            </a:r>
            <a:endParaRPr lang="en-US" altLang="ko-KR" sz="900" kern="0" dirty="0"/>
          </a:p>
        </p:txBody>
      </p:sp>
      <p:sp>
        <p:nvSpPr>
          <p:cNvPr id="203" name="순서도: 문서 202"/>
          <p:cNvSpPr/>
          <p:nvPr/>
        </p:nvSpPr>
        <p:spPr>
          <a:xfrm>
            <a:off x="3162729" y="5513588"/>
            <a:ext cx="648072" cy="380053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3. </a:t>
            </a:r>
            <a:r>
              <a:rPr lang="ko-KR" altLang="en-US" sz="900" smtClean="0">
                <a:solidFill>
                  <a:schemeClr val="tx1"/>
                </a:solidFill>
              </a:rPr>
              <a:t>전도금 사용내역</a:t>
            </a:r>
          </a:p>
        </p:txBody>
      </p:sp>
      <p:sp>
        <p:nvSpPr>
          <p:cNvPr id="204" name="직사각형 20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2566688" y="26678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전도금승인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요청</a:t>
            </a:r>
            <a:endParaRPr lang="en-US" altLang="ko-KR" sz="900" kern="0" dirty="0"/>
          </a:p>
        </p:txBody>
      </p:sp>
      <p:cxnSp>
        <p:nvCxnSpPr>
          <p:cNvPr id="207" name="직선 화살표 연결선 206"/>
          <p:cNvCxnSpPr>
            <a:stCxn id="191" idx="0"/>
            <a:endCxn id="204" idx="2"/>
          </p:cNvCxnSpPr>
          <p:nvPr/>
        </p:nvCxnSpPr>
        <p:spPr>
          <a:xfrm flipV="1">
            <a:off x="2944901" y="2988662"/>
            <a:ext cx="0" cy="224053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꺾인 연결선 209"/>
          <p:cNvCxnSpPr>
            <a:stCxn id="204" idx="2"/>
            <a:endCxn id="66" idx="0"/>
          </p:cNvCxnSpPr>
          <p:nvPr/>
        </p:nvCxnSpPr>
        <p:spPr>
          <a:xfrm rot="5400000">
            <a:off x="2345542" y="2613617"/>
            <a:ext cx="224314" cy="97440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4188399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74450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재무관련 업무를 처리하면서 작성한 결의서를 확정하여 생성된 전표는 생성시점에 재무변동사항으로 인식되어 모든 회계시스템에 반영되므로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각종 회계장부를 실시간으로 제공하고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집계된 형태로 표현된 장부금액에 대한 근거와 장부 변동의 원인을 파악하는 추적기능을 제공하여 업무 효율화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7884644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2.4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256671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728192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1368152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  <a:gridCol w="1764196"/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전표내역 조회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전표 마감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2.4.3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장부 조회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2.4.4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상계처리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2.4.5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 관리자료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4/7)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18145" y="283236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전표생성</a:t>
            </a:r>
            <a:endParaRPr lang="en-US" altLang="ko-KR" sz="900" kern="0" dirty="0"/>
          </a:p>
        </p:txBody>
      </p:sp>
      <p:cxnSp>
        <p:nvCxnSpPr>
          <p:cNvPr id="20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63" idx="6"/>
            <a:endCxn id="19" idx="0"/>
          </p:cNvCxnSpPr>
          <p:nvPr/>
        </p:nvCxnSpPr>
        <p:spPr bwMode="auto">
          <a:xfrm>
            <a:off x="1535148" y="2558230"/>
            <a:ext cx="661210" cy="274137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6716855" y="28323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잔액구분별 상계처리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58" name="직선 화살표 연결선 157">
            <a:extLst>
              <a:ext uri="{FF2B5EF4-FFF2-40B4-BE49-F238E27FC236}">
                <a16:creationId xmlns="" xmlns:a16="http://schemas.microsoft.com/office/drawing/2014/main" id="{D8439B0F-3092-BF8E-6908-AB28F8469DD5}"/>
              </a:ext>
            </a:extLst>
          </p:cNvPr>
          <p:cNvCxnSpPr>
            <a:stCxn id="19" idx="2"/>
            <a:endCxn id="11" idx="0"/>
          </p:cNvCxnSpPr>
          <p:nvPr/>
        </p:nvCxnSpPr>
        <p:spPr>
          <a:xfrm flipH="1">
            <a:off x="2195888" y="3153138"/>
            <a:ext cx="470" cy="47186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4055732" y="3180796"/>
            <a:ext cx="153468" cy="200348"/>
            <a:chOff x="3031001" y="4634411"/>
            <a:chExt cx="384180" cy="229645"/>
          </a:xfrm>
        </p:grpSpPr>
        <p:sp>
          <p:nvSpPr>
            <p:cNvPr id="69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634411"/>
              <a:ext cx="90052" cy="192762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1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09200" y="3213552"/>
            <a:ext cx="1017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회계장부 변경 방지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3434671" y="411322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마감 취소</a:t>
            </a:r>
            <a:endParaRPr lang="en-US" altLang="ko-KR" sz="900" kern="0" dirty="0"/>
          </a:p>
        </p:txBody>
      </p:sp>
      <p:cxnSp>
        <p:nvCxnSpPr>
          <p:cNvPr id="29" name="직선 화살표 연결선 28"/>
          <p:cNvCxnSpPr>
            <a:stCxn id="73" idx="2"/>
            <a:endCxn id="77" idx="0"/>
          </p:cNvCxnSpPr>
          <p:nvPr/>
        </p:nvCxnSpPr>
        <p:spPr>
          <a:xfrm>
            <a:off x="3812884" y="3153137"/>
            <a:ext cx="0" cy="30511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타원 62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1332834" y="246535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1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72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54090" y="2599743"/>
            <a:ext cx="62332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noProof="0" smtClean="0">
                <a:solidFill>
                  <a:prstClr val="black"/>
                </a:solidFill>
              </a:rPr>
              <a:t>&lt;</a:t>
            </a:r>
            <a:r>
              <a:rPr kumimoji="1" lang="ko-KR" altLang="en-US" sz="800" kern="0" noProof="0" smtClean="0">
                <a:solidFill>
                  <a:prstClr val="black"/>
                </a:solidFill>
              </a:rPr>
              <a:t>전표확정</a:t>
            </a:r>
            <a:r>
              <a:rPr kumimoji="1" lang="en-US" altLang="ko-KR" sz="800" kern="0" noProof="0" smtClean="0">
                <a:solidFill>
                  <a:prstClr val="black"/>
                </a:solidFill>
              </a:rPr>
              <a:t>&gt;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" name="순서도: 문서 10"/>
          <p:cNvSpPr/>
          <p:nvPr/>
        </p:nvSpPr>
        <p:spPr>
          <a:xfrm>
            <a:off x="1419337" y="3625006"/>
            <a:ext cx="1553102" cy="1532782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일자별 전표 분개 현황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결의 및 회계처리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계정별 전표내역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계정별 집계표 조회</a:t>
            </a:r>
            <a:endParaRPr lang="en-US" altLang="ko-KR" sz="90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전표 상세내역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총계정원장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전표조회</a:t>
            </a:r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계산서일자</a:t>
            </a:r>
            <a:r>
              <a:rPr lang="en-US" altLang="ko-KR" sz="900" smtClean="0">
                <a:solidFill>
                  <a:schemeClr val="tx1"/>
                </a:solidFill>
              </a:rPr>
              <a:t>)</a:t>
            </a: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입금전표</a:t>
            </a:r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가수금</a:t>
            </a:r>
            <a:r>
              <a:rPr lang="en-US" altLang="ko-KR" sz="900" smtClean="0">
                <a:solidFill>
                  <a:schemeClr val="tx1"/>
                </a:solidFill>
              </a:rPr>
              <a:t>) </a:t>
            </a:r>
            <a:r>
              <a:rPr lang="ko-KR" altLang="en-US" sz="900" smtClean="0">
                <a:solidFill>
                  <a:schemeClr val="tx1"/>
                </a:solidFill>
              </a:rPr>
              <a:t>현황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출금</a:t>
            </a:r>
            <a:r>
              <a:rPr lang="en-US" altLang="ko-KR" sz="900" smtClean="0">
                <a:solidFill>
                  <a:schemeClr val="tx1"/>
                </a:solidFill>
              </a:rPr>
              <a:t>(</a:t>
            </a:r>
            <a:r>
              <a:rPr lang="ko-KR" altLang="en-US" sz="900" smtClean="0">
                <a:solidFill>
                  <a:schemeClr val="tx1"/>
                </a:solidFill>
              </a:rPr>
              <a:t>미지급반제</a:t>
            </a:r>
            <a:r>
              <a:rPr lang="en-US" altLang="ko-KR" sz="900" smtClean="0">
                <a:solidFill>
                  <a:schemeClr val="tx1"/>
                </a:solidFill>
              </a:rPr>
              <a:t>) </a:t>
            </a:r>
            <a:r>
              <a:rPr lang="ko-KR" altLang="en-US" sz="900" smtClean="0">
                <a:solidFill>
                  <a:schemeClr val="tx1"/>
                </a:solidFill>
              </a:rPr>
              <a:t>현황</a:t>
            </a:r>
            <a:endParaRPr lang="en-US" altLang="ko-KR" sz="900" smtClean="0">
              <a:solidFill>
                <a:schemeClr val="tx1"/>
              </a:solidFill>
            </a:endParaRPr>
          </a:p>
          <a:p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434671" y="28323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일마감</a:t>
            </a:r>
            <a:endParaRPr lang="en-US" altLang="ko-KR" sz="900" kern="0" dirty="0"/>
          </a:p>
        </p:txBody>
      </p:sp>
      <p:sp>
        <p:nvSpPr>
          <p:cNvPr id="77" name="순서도: 판단 58"/>
          <p:cNvSpPr>
            <a:spLocks noChangeAspect="1" noChangeArrowheads="1"/>
          </p:cNvSpPr>
          <p:nvPr/>
        </p:nvSpPr>
        <p:spPr bwMode="auto">
          <a:xfrm>
            <a:off x="3339642" y="3458256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취소요청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30" name="직선 화살표 연결선 29"/>
          <p:cNvCxnSpPr>
            <a:stCxn id="77" idx="2"/>
            <a:endCxn id="81" idx="0"/>
          </p:cNvCxnSpPr>
          <p:nvPr/>
        </p:nvCxnSpPr>
        <p:spPr>
          <a:xfrm>
            <a:off x="3812884" y="3810246"/>
            <a:ext cx="0" cy="30297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641127" y="4431132"/>
            <a:ext cx="153468" cy="222010"/>
            <a:chOff x="3031001" y="4609581"/>
            <a:chExt cx="384180" cy="254475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609581"/>
              <a:ext cx="90052" cy="192762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94595" y="4463882"/>
            <a:ext cx="101751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마감취소 사유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마감취소 이력 관리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8" name="순서도: 문서 97"/>
          <p:cNvSpPr/>
          <p:nvPr/>
        </p:nvSpPr>
        <p:spPr>
          <a:xfrm>
            <a:off x="4736976" y="3625006"/>
            <a:ext cx="1553102" cy="1532782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일계표 조회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월계표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업체별 거래냐역 조회</a:t>
            </a:r>
            <a:endParaRPr lang="en-US" altLang="ko-KR" sz="90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일일 전표현황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계정별 증감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보조부 조회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세목별 잔액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잔액명세서 조회</a:t>
            </a:r>
            <a:endParaRPr lang="en-US" altLang="ko-KR" sz="90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계정별 잔액 조회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cxnSp>
        <p:nvCxnSpPr>
          <p:cNvPr id="99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63" idx="6"/>
            <a:endCxn id="98" idx="0"/>
          </p:cNvCxnSpPr>
          <p:nvPr/>
        </p:nvCxnSpPr>
        <p:spPr bwMode="auto">
          <a:xfrm>
            <a:off x="1535148" y="2558230"/>
            <a:ext cx="3978379" cy="106677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" name="직사각형 99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6716855" y="42391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계정별 상계잔액 현황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01" name="순서도: 문서 100"/>
          <p:cNvSpPr/>
          <p:nvPr/>
        </p:nvSpPr>
        <p:spPr>
          <a:xfrm>
            <a:off x="7867432" y="3622558"/>
            <a:ext cx="1553102" cy="490668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대차 오류 조회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결의서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전표 증빙구분 비교</a:t>
            </a:r>
          </a:p>
        </p:txBody>
      </p:sp>
      <p:cxnSp>
        <p:nvCxnSpPr>
          <p:cNvPr id="102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63" idx="6"/>
            <a:endCxn id="101" idx="0"/>
          </p:cNvCxnSpPr>
          <p:nvPr/>
        </p:nvCxnSpPr>
        <p:spPr bwMode="auto">
          <a:xfrm>
            <a:off x="1535148" y="2558230"/>
            <a:ext cx="7108835" cy="1064328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" name="TextBox 102"/>
          <p:cNvSpPr txBox="1"/>
          <p:nvPr/>
        </p:nvSpPr>
        <p:spPr>
          <a:xfrm>
            <a:off x="3822640" y="3819151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55945246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74450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결산 </a:t>
            </a:r>
            <a:r>
              <a:rPr lang="ko-KR" altLang="en-US">
                <a:latin typeface="+mn-ea"/>
                <a:ea typeface="+mn-ea"/>
              </a:rPr>
              <a:t>계정과목 대체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선급비용 등 기간 </a:t>
            </a:r>
            <a:r>
              <a:rPr lang="ko-KR" altLang="en-US">
                <a:latin typeface="+mn-ea"/>
                <a:ea typeface="+mn-ea"/>
              </a:rPr>
              <a:t>일수계산에 의한 기간계산 분개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수주사업비 정산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대손충당금 설정 및 대손처리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자산의 감가상각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건설중인 자산 대체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미수수익 </a:t>
            </a:r>
            <a:r>
              <a:rPr lang="ko-KR" altLang="en-US">
                <a:latin typeface="+mn-ea"/>
                <a:ea typeface="+mn-ea"/>
              </a:rPr>
              <a:t>계산 등의 결산용 처리작업을 </a:t>
            </a:r>
            <a:r>
              <a:rPr lang="ko-KR" altLang="en-US" smtClean="0">
                <a:latin typeface="+mn-ea"/>
                <a:ea typeface="+mn-ea"/>
              </a:rPr>
              <a:t>자동화하고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각 업무별 </a:t>
            </a:r>
            <a:r>
              <a:rPr lang="ko-KR" altLang="en-US">
                <a:latin typeface="+mn-ea"/>
                <a:ea typeface="+mn-ea"/>
              </a:rPr>
              <a:t>결산일정을 </a:t>
            </a:r>
            <a:r>
              <a:rPr lang="ko-KR" altLang="en-US" smtClean="0">
                <a:latin typeface="+mn-ea"/>
                <a:ea typeface="+mn-ea"/>
              </a:rPr>
              <a:t>모니터링하여 </a:t>
            </a:r>
            <a:r>
              <a:rPr lang="ko-KR" altLang="en-US">
                <a:latin typeface="+mn-ea"/>
                <a:ea typeface="+mn-ea"/>
              </a:rPr>
              <a:t>결산 </a:t>
            </a:r>
            <a:r>
              <a:rPr lang="ko-KR" altLang="en-US" smtClean="0">
                <a:latin typeface="+mn-ea"/>
                <a:ea typeface="+mn-ea"/>
              </a:rPr>
              <a:t>지연 부문을 지원하여 </a:t>
            </a:r>
            <a:r>
              <a:rPr lang="ko-KR" altLang="en-US">
                <a:latin typeface="+mn-ea"/>
                <a:ea typeface="+mn-ea"/>
              </a:rPr>
              <a:t>결산기간을 </a:t>
            </a:r>
            <a:r>
              <a:rPr lang="ko-KR" altLang="en-US" smtClean="0">
                <a:latin typeface="+mn-ea"/>
                <a:ea typeface="+mn-ea"/>
              </a:rPr>
              <a:t>단축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6471689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2932825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728192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1368152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  <a:gridCol w="1764196"/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결산전표 생성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결산 마감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재무제표 조회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주석 기초자료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2.5.5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결산 주석관리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5/7)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568624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결산 작업 진행현황</a:t>
            </a:r>
            <a:endParaRPr lang="en-US" altLang="ko-KR" sz="900" kern="0" dirty="0"/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6697433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주석 기초자료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6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703845" y="3717641"/>
            <a:ext cx="153468" cy="329301"/>
            <a:chOff x="3031001" y="4486597"/>
            <a:chExt cx="384180" cy="377459"/>
          </a:xfrm>
        </p:grpSpPr>
        <p:sp>
          <p:nvSpPr>
            <p:cNvPr id="69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86597"/>
              <a:ext cx="90052" cy="31044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1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57313" y="3750352"/>
            <a:ext cx="119564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연도별 이월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당기순이익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미처분이익잉여금 대체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00888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연 결산 마감</a:t>
            </a:r>
            <a:endParaRPr lang="en-US" altLang="ko-KR" sz="900" kern="0" dirty="0"/>
          </a:p>
        </p:txBody>
      </p:sp>
      <p:sp>
        <p:nvSpPr>
          <p:cNvPr id="32" name="직사각형 31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31409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1.1 </a:t>
            </a:r>
            <a:r>
              <a:rPr lang="ko-KR" altLang="en-US" sz="900" kern="0" smtClean="0"/>
              <a:t>계정과목 대체</a:t>
            </a:r>
            <a:endParaRPr lang="en-US" altLang="ko-KR" sz="900" kern="0" dirty="0"/>
          </a:p>
        </p:txBody>
      </p:sp>
      <p:sp>
        <p:nvSpPr>
          <p:cNvPr id="33" name="직사각형 3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3589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1.2 </a:t>
            </a:r>
            <a:r>
              <a:rPr lang="ko-KR" altLang="en-US" sz="900" kern="0" smtClean="0"/>
              <a:t>기간계산 결산</a:t>
            </a:r>
            <a:endParaRPr lang="en-US" altLang="ko-KR" sz="900" kern="0" dirty="0"/>
          </a:p>
        </p:txBody>
      </p: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403896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1.3 </a:t>
            </a:r>
            <a:r>
              <a:rPr lang="ko-KR" altLang="en-US" sz="900" kern="0" smtClean="0"/>
              <a:t>수주사업 정산</a:t>
            </a:r>
            <a:endParaRPr lang="en-US" altLang="ko-KR" sz="900" kern="0" dirty="0"/>
          </a:p>
        </p:txBody>
      </p:sp>
      <p:sp>
        <p:nvSpPr>
          <p:cNvPr id="35" name="직사각형 34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448796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1.4 </a:t>
            </a:r>
            <a:r>
              <a:rPr lang="ko-KR" altLang="en-US" sz="900" kern="0" smtClean="0"/>
              <a:t>대손충당</a:t>
            </a:r>
            <a:endParaRPr lang="en-US" altLang="ko-KR" sz="900" kern="0" smtClean="0"/>
          </a:p>
          <a:p>
            <a:pPr algn="ctr" latinLnBrk="0"/>
            <a:r>
              <a:rPr lang="ko-KR" altLang="en-US" sz="900" kern="0"/>
              <a:t>설</a:t>
            </a:r>
            <a:r>
              <a:rPr lang="ko-KR" altLang="en-US" sz="900" kern="0" smtClean="0"/>
              <a:t>정</a:t>
            </a:r>
            <a:r>
              <a:rPr lang="en-US" altLang="ko-KR" sz="900" kern="0" smtClean="0"/>
              <a:t>/</a:t>
            </a:r>
            <a:r>
              <a:rPr lang="ko-KR" altLang="en-US" sz="900" kern="0" smtClean="0"/>
              <a:t>대손</a:t>
            </a:r>
            <a:endParaRPr lang="en-US" altLang="ko-KR" sz="900" kern="0" dirty="0"/>
          </a:p>
        </p:txBody>
      </p:sp>
      <p:sp>
        <p:nvSpPr>
          <p:cNvPr id="36" name="직사각형 35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493696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1.5 </a:t>
            </a:r>
            <a:r>
              <a:rPr lang="ko-KR" altLang="en-US" sz="900" kern="0" smtClean="0"/>
              <a:t>건중 자산 대체</a:t>
            </a:r>
            <a:endParaRPr lang="en-US" altLang="ko-KR" sz="900" kern="0" dirty="0"/>
          </a:p>
        </p:txBody>
      </p:sp>
      <p:sp>
        <p:nvSpPr>
          <p:cNvPr id="37" name="직사각형 36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53859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1.6 </a:t>
            </a:r>
            <a:r>
              <a:rPr lang="ko-KR" altLang="en-US" sz="900" kern="0" smtClean="0"/>
              <a:t>자산 감가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상각 작업</a:t>
            </a:r>
            <a:endParaRPr lang="en-US" altLang="ko-KR" sz="900" kern="0" dirty="0"/>
          </a:p>
        </p:txBody>
      </p:sp>
      <p:sp>
        <p:nvSpPr>
          <p:cNvPr id="38" name="직사각형 37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583495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1.7 </a:t>
            </a:r>
            <a:r>
              <a:rPr lang="ko-KR" altLang="en-US" sz="900" kern="0" smtClean="0"/>
              <a:t>미수수익 계산</a:t>
            </a:r>
            <a:endParaRPr lang="en-US" altLang="ko-KR" sz="900" kern="0" dirty="0"/>
          </a:p>
        </p:txBody>
      </p:sp>
      <p:cxnSp>
        <p:nvCxnSpPr>
          <p:cNvPr id="5" name="꺾인 연결선 4"/>
          <p:cNvCxnSpPr>
            <a:stCxn id="19" idx="2"/>
            <a:endCxn id="32" idx="1"/>
          </p:cNvCxnSpPr>
          <p:nvPr/>
        </p:nvCxnSpPr>
        <p:spPr>
          <a:xfrm rot="16200000" flipH="1">
            <a:off x="1804159" y="3014088"/>
            <a:ext cx="429944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꺾인 연결선 8"/>
          <p:cNvCxnSpPr>
            <a:stCxn id="19" idx="2"/>
            <a:endCxn id="33" idx="1"/>
          </p:cNvCxnSpPr>
          <p:nvPr/>
        </p:nvCxnSpPr>
        <p:spPr>
          <a:xfrm rot="16200000" flipH="1">
            <a:off x="1579660" y="3238587"/>
            <a:ext cx="878942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꺾인 연결선 12"/>
          <p:cNvCxnSpPr>
            <a:stCxn id="19" idx="2"/>
            <a:endCxn id="34" idx="1"/>
          </p:cNvCxnSpPr>
          <p:nvPr/>
        </p:nvCxnSpPr>
        <p:spPr>
          <a:xfrm rot="16200000" flipH="1">
            <a:off x="1355161" y="3463086"/>
            <a:ext cx="1327940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꺾인 연결선 14"/>
          <p:cNvCxnSpPr>
            <a:stCxn id="19" idx="2"/>
            <a:endCxn id="35" idx="1"/>
          </p:cNvCxnSpPr>
          <p:nvPr/>
        </p:nvCxnSpPr>
        <p:spPr>
          <a:xfrm rot="16200000" flipH="1">
            <a:off x="1130662" y="3687585"/>
            <a:ext cx="1776938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꺾인 연결선 16"/>
          <p:cNvCxnSpPr>
            <a:stCxn id="19" idx="2"/>
            <a:endCxn id="36" idx="1"/>
          </p:cNvCxnSpPr>
          <p:nvPr/>
        </p:nvCxnSpPr>
        <p:spPr>
          <a:xfrm rot="16200000" flipH="1">
            <a:off x="906163" y="3912084"/>
            <a:ext cx="2225936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꺾인 연결선 20"/>
          <p:cNvCxnSpPr>
            <a:stCxn id="19" idx="2"/>
            <a:endCxn id="37" idx="1"/>
          </p:cNvCxnSpPr>
          <p:nvPr/>
        </p:nvCxnSpPr>
        <p:spPr>
          <a:xfrm rot="16200000" flipH="1">
            <a:off x="681664" y="4136583"/>
            <a:ext cx="2674934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꺾인 연결선 24"/>
          <p:cNvCxnSpPr>
            <a:stCxn id="19" idx="2"/>
            <a:endCxn id="38" idx="1"/>
          </p:cNvCxnSpPr>
          <p:nvPr/>
        </p:nvCxnSpPr>
        <p:spPr>
          <a:xfrm rot="16200000" flipH="1">
            <a:off x="457164" y="4361083"/>
            <a:ext cx="3123935" cy="1445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674525" y="3373776"/>
            <a:ext cx="79451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연결산 이월</a:t>
            </a:r>
            <a:endParaRPr lang="en-US" altLang="ko-KR" sz="900" kern="0" dirty="0"/>
          </a:p>
        </p:txBody>
      </p:sp>
      <p:sp>
        <p:nvSpPr>
          <p:cNvPr id="58" name="직사각형 57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665283" y="4260357"/>
            <a:ext cx="79451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이익잉여금 처분계산안</a:t>
            </a:r>
            <a:endParaRPr lang="en-US" altLang="ko-KR" sz="900" kern="0" dirty="0"/>
          </a:p>
        </p:txBody>
      </p:sp>
      <p:cxnSp>
        <p:nvCxnSpPr>
          <p:cNvPr id="27" name="꺾인 연결선 26"/>
          <p:cNvCxnSpPr>
            <a:stCxn id="73" idx="2"/>
            <a:endCxn id="57" idx="1"/>
          </p:cNvCxnSpPr>
          <p:nvPr/>
        </p:nvCxnSpPr>
        <p:spPr>
          <a:xfrm rot="16200000" flipH="1">
            <a:off x="3245437" y="3105074"/>
            <a:ext cx="662752" cy="195424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꺾인 연결선 30"/>
          <p:cNvCxnSpPr>
            <a:stCxn id="73" idx="2"/>
            <a:endCxn id="58" idx="1"/>
          </p:cNvCxnSpPr>
          <p:nvPr/>
        </p:nvCxnSpPr>
        <p:spPr>
          <a:xfrm rot="16200000" flipH="1">
            <a:off x="2797526" y="3552985"/>
            <a:ext cx="1549333" cy="18618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695992" y="4579322"/>
            <a:ext cx="153468" cy="217834"/>
            <a:chOff x="3031001" y="4614365"/>
            <a:chExt cx="384180" cy="249691"/>
          </a:xfrm>
        </p:grpSpPr>
        <p:sp>
          <p:nvSpPr>
            <p:cNvPr id="66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614365"/>
              <a:ext cx="90052" cy="19276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9460" y="4653945"/>
            <a:ext cx="119564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처분계산안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입력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277267" y="5614146"/>
            <a:ext cx="79451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잔액 재집계</a:t>
            </a:r>
            <a:endParaRPr lang="en-US" altLang="ko-KR" sz="900" kern="0" dirty="0"/>
          </a:p>
        </p:txBody>
      </p:sp>
      <p:sp>
        <p:nvSpPr>
          <p:cNvPr id="84" name="순서도: 판단 58"/>
          <p:cNvSpPr>
            <a:spLocks noChangeAspect="1" noChangeArrowheads="1"/>
          </p:cNvSpPr>
          <p:nvPr/>
        </p:nvSpPr>
        <p:spPr bwMode="auto">
          <a:xfrm>
            <a:off x="3201283" y="4985111"/>
            <a:ext cx="946483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잔액구분 변경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1" name="직선 화살표 연결선 40"/>
          <p:cNvCxnSpPr>
            <a:stCxn id="84" idx="2"/>
            <a:endCxn id="76" idx="0"/>
          </p:cNvCxnSpPr>
          <p:nvPr/>
        </p:nvCxnSpPr>
        <p:spPr>
          <a:xfrm>
            <a:off x="3674525" y="5337101"/>
            <a:ext cx="0" cy="27704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순서도: 문서 85"/>
          <p:cNvSpPr/>
          <p:nvPr/>
        </p:nvSpPr>
        <p:spPr>
          <a:xfrm>
            <a:off x="4836877" y="2550639"/>
            <a:ext cx="1444524" cy="1360098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재무상태표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포괄손익계산서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기간별 손익계산서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사업별 손익계산서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이익잉여금처분계산서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자본변동표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현금흐름표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합계잔액시산표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사업별 원가계산서</a:t>
            </a:r>
          </a:p>
        </p:txBody>
      </p:sp>
      <p:sp>
        <p:nvSpPr>
          <p:cNvPr id="42" name="직사각형 41"/>
          <p:cNvSpPr/>
          <p:nvPr/>
        </p:nvSpPr>
        <p:spPr>
          <a:xfrm>
            <a:off x="6389979" y="3086382"/>
            <a:ext cx="1371333" cy="1273354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주주명부 등록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계정별 </a:t>
            </a:r>
            <a:r>
              <a:rPr lang="ko-KR" altLang="en-US" sz="900">
                <a:solidFill>
                  <a:schemeClr val="tx1"/>
                </a:solidFill>
              </a:rPr>
              <a:t>주석 </a:t>
            </a:r>
            <a:r>
              <a:rPr lang="ko-KR" altLang="en-US" sz="900" smtClean="0">
                <a:solidFill>
                  <a:schemeClr val="tx1"/>
                </a:solidFill>
              </a:rPr>
              <a:t>상세내역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채권분류 등록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채권 연령 등록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대손충당금 변동 등록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정부보조금 수익 등록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확정급여 현재가치변동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보험수리적 평가 추정</a:t>
            </a:r>
          </a:p>
        </p:txBody>
      </p:sp>
      <p:cxnSp>
        <p:nvCxnSpPr>
          <p:cNvPr id="44" name="직선 화살표 연결선 43"/>
          <p:cNvCxnSpPr>
            <a:stCxn id="113" idx="2"/>
            <a:endCxn id="42" idx="0"/>
          </p:cNvCxnSpPr>
          <p:nvPr/>
        </p:nvCxnSpPr>
        <p:spPr>
          <a:xfrm>
            <a:off x="7075646" y="2871410"/>
            <a:ext cx="0" cy="21497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8299552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결산 주석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8" name="직사각형 87"/>
          <p:cNvSpPr/>
          <p:nvPr/>
        </p:nvSpPr>
        <p:spPr>
          <a:xfrm>
            <a:off x="7785906" y="3086380"/>
            <a:ext cx="1730002" cy="3069350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01.</a:t>
            </a:r>
            <a:r>
              <a:rPr lang="ko-KR" altLang="en-US" sz="900" smtClean="0">
                <a:solidFill>
                  <a:schemeClr val="tx1"/>
                </a:solidFill>
              </a:rPr>
              <a:t>주주현황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02.KIFRS</a:t>
            </a:r>
            <a:r>
              <a:rPr lang="ko-KR" altLang="en-US" sz="900" smtClean="0">
                <a:solidFill>
                  <a:schemeClr val="tx1"/>
                </a:solidFill>
              </a:rPr>
              <a:t>도입 전환 조정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03.IFRS</a:t>
            </a:r>
            <a:r>
              <a:rPr lang="ko-KR" altLang="en-US" sz="900" smtClean="0">
                <a:solidFill>
                  <a:schemeClr val="tx1"/>
                </a:solidFill>
              </a:rPr>
              <a:t>도입 포괄손익 조정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04.</a:t>
            </a:r>
            <a:r>
              <a:rPr lang="ko-KR" altLang="en-US" sz="900" smtClean="0">
                <a:solidFill>
                  <a:schemeClr val="tx1"/>
                </a:solidFill>
              </a:rPr>
              <a:t>유형자산 감가상각 기준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05.</a:t>
            </a:r>
            <a:r>
              <a:rPr lang="ko-KR" altLang="en-US" sz="900" smtClean="0">
                <a:solidFill>
                  <a:schemeClr val="tx1"/>
                </a:solidFill>
              </a:rPr>
              <a:t>무형자산 감가상각 기준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06.</a:t>
            </a:r>
            <a:r>
              <a:rPr lang="ko-KR" altLang="en-US" sz="900" smtClean="0">
                <a:solidFill>
                  <a:schemeClr val="tx1"/>
                </a:solidFill>
              </a:rPr>
              <a:t>현금성자산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07.</a:t>
            </a:r>
            <a:r>
              <a:rPr lang="ko-KR" altLang="en-US" sz="900" smtClean="0">
                <a:solidFill>
                  <a:schemeClr val="tx1"/>
                </a:solidFill>
              </a:rPr>
              <a:t>매출채권 및 기타채권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08.</a:t>
            </a:r>
            <a:r>
              <a:rPr lang="ko-KR" altLang="en-US" sz="900" smtClean="0">
                <a:solidFill>
                  <a:schemeClr val="tx1"/>
                </a:solidFill>
              </a:rPr>
              <a:t>미수금 연령분석 상세내역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09.</a:t>
            </a:r>
            <a:r>
              <a:rPr lang="ko-KR" altLang="en-US" sz="900" smtClean="0">
                <a:solidFill>
                  <a:schemeClr val="tx1"/>
                </a:solidFill>
              </a:rPr>
              <a:t>기타채권 연령분석 상세내역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10.</a:t>
            </a:r>
            <a:r>
              <a:rPr lang="ko-KR" altLang="en-US" sz="900" smtClean="0">
                <a:solidFill>
                  <a:schemeClr val="tx1"/>
                </a:solidFill>
              </a:rPr>
              <a:t>채권 대손충당금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11.</a:t>
            </a:r>
            <a:r>
              <a:rPr lang="ko-KR" altLang="en-US" sz="900" smtClean="0">
                <a:solidFill>
                  <a:schemeClr val="tx1"/>
                </a:solidFill>
              </a:rPr>
              <a:t>재고자산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12.</a:t>
            </a:r>
            <a:r>
              <a:rPr lang="ko-KR" altLang="en-US" sz="900" smtClean="0">
                <a:solidFill>
                  <a:schemeClr val="tx1"/>
                </a:solidFill>
              </a:rPr>
              <a:t>재고자산과 게약부채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13.</a:t>
            </a:r>
            <a:r>
              <a:rPr lang="ko-KR" altLang="en-US" sz="900" smtClean="0">
                <a:solidFill>
                  <a:schemeClr val="tx1"/>
                </a:solidFill>
              </a:rPr>
              <a:t>공정가치 측정금융자산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14.</a:t>
            </a:r>
            <a:r>
              <a:rPr lang="ko-KR" altLang="en-US" sz="900" smtClean="0">
                <a:solidFill>
                  <a:schemeClr val="tx1"/>
                </a:solidFill>
              </a:rPr>
              <a:t>비금융자산 계정별 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15.</a:t>
            </a:r>
            <a:r>
              <a:rPr lang="ko-KR" altLang="en-US" sz="900" smtClean="0">
                <a:solidFill>
                  <a:schemeClr val="tx1"/>
                </a:solidFill>
              </a:rPr>
              <a:t>유형자산 장부금액 구성내역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16.</a:t>
            </a:r>
            <a:r>
              <a:rPr lang="ko-KR" altLang="en-US" sz="900" smtClean="0">
                <a:solidFill>
                  <a:schemeClr val="tx1"/>
                </a:solidFill>
              </a:rPr>
              <a:t>무형자산 장부금액 변동내역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17.</a:t>
            </a:r>
            <a:r>
              <a:rPr lang="ko-KR" altLang="en-US" sz="900" smtClean="0">
                <a:solidFill>
                  <a:schemeClr val="tx1"/>
                </a:solidFill>
              </a:rPr>
              <a:t>무형자산 장부금액 구성내역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18.</a:t>
            </a:r>
            <a:r>
              <a:rPr lang="ko-KR" altLang="en-US" sz="900" smtClean="0">
                <a:solidFill>
                  <a:schemeClr val="tx1"/>
                </a:solidFill>
              </a:rPr>
              <a:t>무형자산 장부금액 변동내역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19.</a:t>
            </a:r>
            <a:r>
              <a:rPr lang="ko-KR" altLang="en-US" sz="900" smtClean="0">
                <a:solidFill>
                  <a:schemeClr val="tx1"/>
                </a:solidFill>
              </a:rPr>
              <a:t>히스 장부금액 구성내역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900" smtClean="0">
                <a:solidFill>
                  <a:schemeClr val="tx1"/>
                </a:solidFill>
              </a:rPr>
              <a:t>74.</a:t>
            </a:r>
            <a:r>
              <a:rPr lang="ko-KR" altLang="en-US" sz="900" smtClean="0">
                <a:solidFill>
                  <a:schemeClr val="tx1"/>
                </a:solidFill>
              </a:rPr>
              <a:t>계류중인 소송사건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75.</a:t>
            </a:r>
            <a:r>
              <a:rPr lang="ko-KR" altLang="en-US" sz="900" smtClean="0">
                <a:solidFill>
                  <a:schemeClr val="tx1"/>
                </a:solidFill>
              </a:rPr>
              <a:t>제공받은 담보</a:t>
            </a:r>
            <a:r>
              <a:rPr lang="en-US" altLang="ko-KR" sz="900" smtClean="0">
                <a:solidFill>
                  <a:schemeClr val="tx1"/>
                </a:solidFill>
              </a:rPr>
              <a:t>/</a:t>
            </a:r>
            <a:r>
              <a:rPr lang="ko-KR" altLang="en-US" sz="900" smtClean="0">
                <a:solidFill>
                  <a:schemeClr val="tx1"/>
                </a:solidFill>
              </a:rPr>
              <a:t>지급보증 내역</a:t>
            </a:r>
            <a:r>
              <a:rPr lang="en-US" altLang="ko-KR" sz="900" smtClean="0">
                <a:solidFill>
                  <a:schemeClr val="tx1"/>
                </a:solidFill>
              </a:rPr>
              <a:t> </a:t>
            </a:r>
          </a:p>
          <a:p>
            <a:endParaRPr lang="en-US" altLang="ko-KR" sz="900" smtClean="0">
              <a:solidFill>
                <a:schemeClr val="tx1"/>
              </a:solidFill>
            </a:endParaRPr>
          </a:p>
          <a:p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3656856" y="5343652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291102028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74450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부가세 </a:t>
            </a:r>
            <a:r>
              <a:rPr lang="ko-KR" altLang="en-US">
                <a:latin typeface="+mn-ea"/>
                <a:ea typeface="+mn-ea"/>
              </a:rPr>
              <a:t>및 원천세는 </a:t>
            </a:r>
            <a:r>
              <a:rPr lang="ko-KR" altLang="en-US" smtClean="0">
                <a:latin typeface="+mn-ea"/>
                <a:ea typeface="+mn-ea"/>
              </a:rPr>
              <a:t>절차를 표준화하여 신고 기초자료를 생성하고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국세청의 </a:t>
            </a:r>
            <a:r>
              <a:rPr lang="en-US" altLang="ko-KR">
                <a:latin typeface="+mn-ea"/>
                <a:ea typeface="+mn-ea"/>
              </a:rPr>
              <a:t>HOME TAX</a:t>
            </a:r>
            <a:r>
              <a:rPr lang="ko-KR" altLang="en-US">
                <a:latin typeface="+mn-ea"/>
                <a:ea typeface="+mn-ea"/>
              </a:rPr>
              <a:t>신고에 필요한 전자신고 </a:t>
            </a:r>
            <a:r>
              <a:rPr lang="ko-KR" altLang="en-US" smtClean="0">
                <a:latin typeface="+mn-ea"/>
                <a:ea typeface="+mn-ea"/>
              </a:rPr>
              <a:t>자료를 </a:t>
            </a:r>
            <a:r>
              <a:rPr lang="ko-KR" altLang="en-US">
                <a:latin typeface="+mn-ea"/>
                <a:ea typeface="+mn-ea"/>
              </a:rPr>
              <a:t>작성하여 전자신고로 </a:t>
            </a:r>
            <a:r>
              <a:rPr lang="ko-KR" altLang="en-US" smtClean="0">
                <a:latin typeface="+mn-ea"/>
                <a:ea typeface="+mn-ea"/>
              </a:rPr>
              <a:t>처리하고 각종 신고자료를 보관하며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법인세 신고 기초자료를 제공하여 세무신고 업무를 효율적으로 지원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1720158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2.6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세무관리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3750471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656184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1512168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  <a:gridCol w="1692188"/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전자세금계산서 검증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신고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2.6.3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원천세 신고 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2.6.4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원천세 자료관리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2.6.5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법인세 기초자료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91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7220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6/7)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604287" y="273861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전자세금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계산서 수신</a:t>
            </a:r>
            <a:endParaRPr lang="en-US" altLang="ko-KR" sz="900" kern="0" dirty="0"/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6393160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기타소득자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자료관리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6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296816" y="2882939"/>
            <a:ext cx="153468" cy="521811"/>
            <a:chOff x="3031001" y="4265934"/>
            <a:chExt cx="384180" cy="598122"/>
          </a:xfrm>
        </p:grpSpPr>
        <p:sp>
          <p:nvSpPr>
            <p:cNvPr id="69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265934"/>
              <a:ext cx="90052" cy="54997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1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50284" y="2915652"/>
            <a:ext cx="119564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매출처별 내역 신고확정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간주임대료 자료 작성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예정신고 누락분 작성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‘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매출신고자료 마감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88463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매출부가세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신고자료 작성</a:t>
            </a:r>
            <a:endParaRPr lang="en-US" altLang="ko-KR" sz="900" kern="0" dirty="0"/>
          </a:p>
        </p:txBody>
      </p:sp>
      <p:sp>
        <p:nvSpPr>
          <p:cNvPr id="32" name="직사각형 31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31409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1.1 </a:t>
            </a:r>
            <a:r>
              <a:rPr lang="ko-KR" altLang="en-US" sz="900" kern="0" smtClean="0"/>
              <a:t>매출세금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계산서 확인</a:t>
            </a:r>
            <a:endParaRPr lang="en-US" altLang="ko-KR" sz="900" kern="0" dirty="0"/>
          </a:p>
        </p:txBody>
      </p:sp>
      <p:sp>
        <p:nvSpPr>
          <p:cNvPr id="33" name="직사각형 32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2091425" y="3589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1.2 </a:t>
            </a:r>
            <a:r>
              <a:rPr lang="ko-KR" altLang="en-US" sz="900" kern="0" smtClean="0"/>
              <a:t>매입 세금</a:t>
            </a:r>
            <a:endParaRPr lang="en-US" altLang="ko-KR" sz="900" kern="0" smtClean="0"/>
          </a:p>
          <a:p>
            <a:pPr algn="ctr" latinLnBrk="0"/>
            <a:r>
              <a:rPr lang="ko-KR" altLang="en-US" sz="900" kern="0"/>
              <a:t>계</a:t>
            </a:r>
            <a:r>
              <a:rPr lang="ko-KR" altLang="en-US" sz="900" kern="0" smtClean="0"/>
              <a:t>산서 확인</a:t>
            </a:r>
            <a:endParaRPr lang="en-US" altLang="ko-KR" sz="900" kern="0" dirty="0"/>
          </a:p>
        </p:txBody>
      </p: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604287" y="411634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전자세금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계산서 연결</a:t>
            </a:r>
            <a:endParaRPr lang="en-US" altLang="ko-KR" sz="900" kern="0" dirty="0"/>
          </a:p>
        </p:txBody>
      </p:sp>
      <p:sp>
        <p:nvSpPr>
          <p:cNvPr id="36" name="직사각형 35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604286" y="500924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결의서 세무정보 수정</a:t>
            </a:r>
            <a:endParaRPr lang="en-US" altLang="ko-KR" sz="900" kern="0" dirty="0"/>
          </a:p>
        </p:txBody>
      </p:sp>
      <p:cxnSp>
        <p:nvCxnSpPr>
          <p:cNvPr id="5" name="꺾인 연결선 4"/>
          <p:cNvCxnSpPr>
            <a:stCxn id="19" idx="2"/>
            <a:endCxn id="32" idx="1"/>
          </p:cNvCxnSpPr>
          <p:nvPr/>
        </p:nvCxnSpPr>
        <p:spPr>
          <a:xfrm rot="16200000" flipH="1">
            <a:off x="1915978" y="3125907"/>
            <a:ext cx="241968" cy="108925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꺾인 연결선 8"/>
          <p:cNvCxnSpPr>
            <a:stCxn id="19" idx="2"/>
            <a:endCxn id="33" idx="1"/>
          </p:cNvCxnSpPr>
          <p:nvPr/>
        </p:nvCxnSpPr>
        <p:spPr>
          <a:xfrm rot="16200000" flipH="1">
            <a:off x="1691479" y="3350406"/>
            <a:ext cx="690966" cy="108925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482696" y="5589240"/>
            <a:ext cx="153468" cy="217834"/>
            <a:chOff x="3031001" y="4614365"/>
            <a:chExt cx="384180" cy="249691"/>
          </a:xfrm>
        </p:grpSpPr>
        <p:sp>
          <p:nvSpPr>
            <p:cNvPr id="66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614365"/>
              <a:ext cx="90052" cy="19276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36164" y="5663863"/>
            <a:ext cx="119564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파일생성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6" name="순서도: 문서 85"/>
          <p:cNvSpPr/>
          <p:nvPr/>
        </p:nvSpPr>
        <p:spPr>
          <a:xfrm>
            <a:off x="7967288" y="3134402"/>
            <a:ext cx="1444524" cy="763074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접대비 명세서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기부금 명세서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세금공과금 명세서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-</a:t>
            </a:r>
            <a:r>
              <a:rPr lang="ko-KR" altLang="en-US" sz="900" smtClean="0">
                <a:solidFill>
                  <a:schemeClr val="tx1"/>
                </a:solidFill>
              </a:rPr>
              <a:t>원천납부세액명세서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8311338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법인세 기초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자료관리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5" name="Shape 266">
            <a:extLst>
              <a:ext uri="{FF2B5EF4-FFF2-40B4-BE49-F238E27FC236}">
                <a16:creationId xmlns="" xmlns:a16="http://schemas.microsoft.com/office/drawing/2014/main" id="{43AFBA05-5AE5-3DAF-39A2-BD204291D1BE}"/>
              </a:ext>
            </a:extLst>
          </p:cNvPr>
          <p:cNvCxnSpPr>
            <a:cxnSpLocks noChangeShapeType="1"/>
            <a:stCxn id="46" idx="6"/>
          </p:cNvCxnSpPr>
          <p:nvPr/>
        </p:nvCxnSpPr>
        <p:spPr bwMode="auto">
          <a:xfrm>
            <a:off x="1535148" y="2558230"/>
            <a:ext cx="435349" cy="21242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6" name="타원 45">
            <a:extLst>
              <a:ext uri="{FF2B5EF4-FFF2-40B4-BE49-F238E27FC236}">
                <a16:creationId xmlns="" xmlns:a16="http://schemas.microsoft.com/office/drawing/2014/main" id="{120BEEF4-38CF-4430-B6C7-09AB6D773DB4}"/>
              </a:ext>
            </a:extLst>
          </p:cNvPr>
          <p:cNvSpPr/>
          <p:nvPr/>
        </p:nvSpPr>
        <p:spPr>
          <a:xfrm>
            <a:off x="1332834" y="2465350"/>
            <a:ext cx="202314" cy="185760"/>
          </a:xfrm>
          <a:prstGeom prst="ellipse">
            <a:avLst/>
          </a:prstGeom>
          <a:solidFill>
            <a:sysClr val="windowText" lastClr="000000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000" b="1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돋움"/>
                <a:ea typeface="돋움"/>
                <a:cs typeface="+mn-cs"/>
              </a:rPr>
              <a:t>3</a:t>
            </a:r>
            <a:endParaRPr kumimoji="1" lang="ko-KR" altLang="en-US" sz="1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돋움"/>
              <a:ea typeface="돋움"/>
              <a:cs typeface="+mn-cs"/>
            </a:endParaRPr>
          </a:p>
        </p:txBody>
      </p:sp>
      <p:sp>
        <p:nvSpPr>
          <p:cNvPr id="47" name="Rectangle 179"/>
          <p:cNvSpPr>
            <a:spLocks noChangeArrowheads="1"/>
          </p:cNvSpPr>
          <p:nvPr/>
        </p:nvSpPr>
        <p:spPr bwMode="auto">
          <a:xfrm flipH="1">
            <a:off x="1546910" y="2432452"/>
            <a:ext cx="11994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&lt;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전자세금계산서 수신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</a:p>
        </p:txBody>
      </p:sp>
      <p:grpSp>
        <p:nvGrpSpPr>
          <p:cNvPr id="61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1708831" y="4453303"/>
            <a:ext cx="153468" cy="329301"/>
            <a:chOff x="3031001" y="4486597"/>
            <a:chExt cx="384180" cy="377459"/>
          </a:xfrm>
        </p:grpSpPr>
        <p:sp>
          <p:nvSpPr>
            <p:cNvPr id="62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86597"/>
              <a:ext cx="90052" cy="31044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2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62299" y="4526206"/>
            <a:ext cx="11956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연결보류건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 </a:t>
            </a: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DATA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수신 후 연결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29" name="직선 화살표 연결선 28"/>
          <p:cNvCxnSpPr>
            <a:stCxn id="19" idx="2"/>
            <a:endCxn id="34" idx="0"/>
          </p:cNvCxnSpPr>
          <p:nvPr/>
        </p:nvCxnSpPr>
        <p:spPr>
          <a:xfrm>
            <a:off x="1982500" y="3059386"/>
            <a:ext cx="0" cy="105695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1751776" y="5328179"/>
            <a:ext cx="153468" cy="477086"/>
            <a:chOff x="3031001" y="4317201"/>
            <a:chExt cx="384180" cy="546855"/>
          </a:xfrm>
        </p:grpSpPr>
        <p:sp>
          <p:nvSpPr>
            <p:cNvPr id="78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317201"/>
              <a:ext cx="90052" cy="45452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0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05244" y="5401094"/>
            <a:ext cx="119564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증빙구분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과세구분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공제구분(공제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불공제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</a:t>
            </a:r>
          </a:p>
        </p:txBody>
      </p:sp>
      <p:grpSp>
        <p:nvGrpSpPr>
          <p:cNvPr id="81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305808" y="3791431"/>
            <a:ext cx="153468" cy="395339"/>
            <a:chOff x="3031001" y="4410903"/>
            <a:chExt cx="384180" cy="453153"/>
          </a:xfrm>
        </p:grpSpPr>
        <p:sp>
          <p:nvSpPr>
            <p:cNvPr id="82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10903"/>
              <a:ext cx="90052" cy="41320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59276" y="3824157"/>
            <a:ext cx="119564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매입처별 내역 신고확정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매입 공통 안분작업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매입신고자료 마감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88463" y="34591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매입부가세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신고자료 작성</a:t>
            </a:r>
            <a:endParaRPr lang="en-US" altLang="ko-KR" sz="900" kern="0" dirty="0"/>
          </a:p>
        </p:txBody>
      </p:sp>
      <p:grpSp>
        <p:nvGrpSpPr>
          <p:cNvPr id="95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3301345" y="4583518"/>
            <a:ext cx="153468" cy="662867"/>
            <a:chOff x="3031001" y="4104252"/>
            <a:chExt cx="384180" cy="759804"/>
          </a:xfrm>
        </p:grpSpPr>
        <p:sp>
          <p:nvSpPr>
            <p:cNvPr id="96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104252"/>
              <a:ext cx="90052" cy="73200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8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54812" y="4616245"/>
            <a:ext cx="164220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그 밖의 경감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.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공제세액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금전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.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신용 공제 입력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예정신고 미환금세액 입력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대리납부 기납부세액 입력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매입자 납부특례 기납부세액 입력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88463" y="42512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세액경감 및 공제세액</a:t>
            </a:r>
            <a:endParaRPr lang="en-US" altLang="ko-KR" sz="900" kern="0" dirty="0"/>
          </a:p>
        </p:txBody>
      </p:sp>
      <p:sp>
        <p:nvSpPr>
          <p:cNvPr id="104" name="직사각형 103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88463" y="530120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4. </a:t>
            </a:r>
            <a:r>
              <a:rPr lang="ko-KR" altLang="en-US" sz="900" kern="0" smtClean="0"/>
              <a:t>부가세 전자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신고자료 작성</a:t>
            </a:r>
            <a:endParaRPr lang="en-US" altLang="ko-KR" sz="900" kern="0" dirty="0"/>
          </a:p>
        </p:txBody>
      </p:sp>
      <p:sp>
        <p:nvSpPr>
          <p:cNvPr id="105" name="직사각형 104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3188463" y="5877272"/>
            <a:ext cx="756425" cy="320771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5. </a:t>
            </a:r>
            <a:r>
              <a:rPr lang="ko-KR" altLang="en-US" sz="900" kern="0" smtClean="0"/>
              <a:t>부가세 전자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</a:t>
            </a:r>
            <a:r>
              <a:rPr lang="en-US" altLang="ko-KR" sz="900" kern="0" smtClean="0"/>
              <a:t>(</a:t>
            </a:r>
            <a:r>
              <a:rPr lang="ko-KR" altLang="en-US" sz="900" kern="0" smtClean="0"/>
              <a:t>홈택스</a:t>
            </a:r>
            <a:r>
              <a:rPr lang="en-US" altLang="ko-KR" sz="900" kern="0" smtClean="0"/>
              <a:t>)</a:t>
            </a:r>
            <a:endParaRPr lang="en-US" altLang="ko-KR" sz="900" kern="0" dirty="0"/>
          </a:p>
        </p:txBody>
      </p:sp>
      <p:grpSp>
        <p:nvGrpSpPr>
          <p:cNvPr id="106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4937024" y="2882939"/>
            <a:ext cx="153468" cy="521811"/>
            <a:chOff x="3031001" y="4265934"/>
            <a:chExt cx="384180" cy="598122"/>
          </a:xfrm>
        </p:grpSpPr>
        <p:sp>
          <p:nvSpPr>
            <p:cNvPr id="107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265934"/>
              <a:ext cx="90052" cy="54997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9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90492" y="2915652"/>
            <a:ext cx="131806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근로소득 원천징수 집계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퇴직소득 </a:t>
            </a:r>
            <a:r>
              <a:rPr kumimoji="1" lang="ko-KR" altLang="en-US" sz="800" kern="0">
                <a:solidFill>
                  <a:prstClr val="black"/>
                </a:solidFill>
              </a:rPr>
              <a:t>원천징수 집계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기타소득 원천징수 집계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사업소득 </a:t>
            </a:r>
            <a:r>
              <a:rPr kumimoji="1" lang="ko-KR" altLang="en-US" sz="800" kern="0">
                <a:solidFill>
                  <a:prstClr val="black"/>
                </a:solidFill>
              </a:rPr>
              <a:t>원천징수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집계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4828671" y="255063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원천세 전자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신고자료 작성</a:t>
            </a:r>
            <a:endParaRPr lang="en-US" altLang="ko-KR" sz="900" kern="0" dirty="0"/>
          </a:p>
        </p:txBody>
      </p:sp>
      <p:grpSp>
        <p:nvGrpSpPr>
          <p:cNvPr id="111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5122904" y="3976323"/>
            <a:ext cx="153468" cy="217834"/>
            <a:chOff x="3031001" y="4614365"/>
            <a:chExt cx="384180" cy="249691"/>
          </a:xfrm>
        </p:grpSpPr>
        <p:sp>
          <p:nvSpPr>
            <p:cNvPr id="112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4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614365"/>
              <a:ext cx="90052" cy="19276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5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76372" y="4050946"/>
            <a:ext cx="119564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파일생성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4828671" y="368829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원천세 전자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신고자료 작성</a:t>
            </a:r>
            <a:endParaRPr lang="en-US" altLang="ko-KR" sz="900" kern="0" dirty="0"/>
          </a:p>
        </p:txBody>
      </p:sp>
      <p:grpSp>
        <p:nvGrpSpPr>
          <p:cNvPr id="117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6511523" y="2873057"/>
            <a:ext cx="153468" cy="329301"/>
            <a:chOff x="3031001" y="4486597"/>
            <a:chExt cx="384180" cy="377459"/>
          </a:xfrm>
        </p:grpSpPr>
        <p:sp>
          <p:nvSpPr>
            <p:cNvPr id="118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9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86597"/>
              <a:ext cx="90052" cy="31044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0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64991" y="2945960"/>
            <a:ext cx="11956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기타소득자 입력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기타소득자 조회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21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6501513" y="3768732"/>
            <a:ext cx="153468" cy="792302"/>
            <a:chOff x="3031001" y="3955887"/>
            <a:chExt cx="384180" cy="908169"/>
          </a:xfrm>
        </p:grpSpPr>
        <p:sp>
          <p:nvSpPr>
            <p:cNvPr id="122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3955887"/>
              <a:ext cx="90052" cy="88573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4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54981" y="3801450"/>
            <a:ext cx="1318066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원천징수 이행신고서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원천징수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이행신고서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부표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지급조서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원천징수 영수증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기타소득지급명세서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사업소득지급명세서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6393160" y="34364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원천세 자료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관리</a:t>
            </a:r>
            <a:r>
              <a:rPr lang="en-US" altLang="ko-KR" sz="900" kern="0" smtClean="0"/>
              <a:t>;</a:t>
            </a:r>
            <a:endParaRPr lang="en-US" altLang="ko-KR" sz="900" kern="0" dirty="0"/>
          </a:p>
        </p:txBody>
      </p:sp>
      <p:cxnSp>
        <p:nvCxnSpPr>
          <p:cNvPr id="48" name="직선 연결선 47"/>
          <p:cNvCxnSpPr>
            <a:stCxn id="87" idx="2"/>
            <a:endCxn id="86" idx="0"/>
          </p:cNvCxnSpPr>
          <p:nvPr/>
        </p:nvCxnSpPr>
        <p:spPr>
          <a:xfrm flipH="1">
            <a:off x="8689550" y="2871410"/>
            <a:ext cx="1" cy="26299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77017926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74450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모회사의 계정코드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현금흐름표 코드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자본변동표 코드를 받아 코레일테크의 코드와 매핑하여 연결하고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코레일테크의 재무제표 정보를 모회사의 형태로 가공하여 모회사의 양식으로 재무제표를 확인하고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모회사에 제공할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를 추출함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3.3 </a:t>
            </a:r>
            <a:r>
              <a:rPr lang="ko-KR" altLang="en-US" smtClean="0">
                <a:solidFill>
                  <a:prstClr val="black"/>
                </a:solidFill>
              </a:rPr>
              <a:t>회계관리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977670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2.7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연결재무제표관리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7104044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52028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772308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연결 기초자료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연결 자료 등록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2.7.3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연결 재무제표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713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회계파트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805097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3.3.2 </a:t>
            </a:r>
            <a:r>
              <a:rPr lang="ko-KR" altLang="en-US" smtClean="0"/>
              <a:t>회계관리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3.2.1 </a:t>
            </a:r>
            <a:r>
              <a:rPr lang="ko-KR" altLang="en-US" sz="1800" smtClean="0"/>
              <a:t>회계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7/7)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29841" y="343137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계정코드 매핑</a:t>
            </a:r>
            <a:endParaRPr lang="en-US" altLang="ko-KR" sz="900" kern="0" dirty="0"/>
          </a:p>
        </p:txBody>
      </p:sp>
      <p:cxnSp>
        <p:nvCxnSpPr>
          <p:cNvPr id="5" name="꺾인 연결선 4"/>
          <p:cNvCxnSpPr>
            <a:stCxn id="92" idx="0"/>
            <a:endCxn id="19" idx="0"/>
          </p:cNvCxnSpPr>
          <p:nvPr/>
        </p:nvCxnSpPr>
        <p:spPr>
          <a:xfrm>
            <a:off x="2072728" y="2857846"/>
            <a:ext cx="135326" cy="57353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03086" y="3794013"/>
            <a:ext cx="131806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noProof="0" smtClean="0">
                <a:solidFill>
                  <a:prstClr val="black"/>
                </a:solidFill>
              </a:rPr>
              <a:t>재무상태표 가져오기</a:t>
            </a:r>
            <a:endParaRPr kumimoji="1" lang="en-US" altLang="ko-KR" sz="800" kern="0" noProof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손익게산서 가져오기</a:t>
            </a:r>
            <a:endParaRPr kumimoji="1" lang="en-US" altLang="ko-KR" sz="800" i="0" u="none" strike="noStrike" kern="0" cap="none" spc="0" normalizeH="0" baseline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noProof="0" smtClean="0">
                <a:solidFill>
                  <a:prstClr val="black"/>
                </a:solidFill>
              </a:rPr>
              <a:t>현금흐름표 가져오기</a:t>
            </a:r>
            <a:r>
              <a:rPr kumimoji="1" lang="en-US" altLang="ko-KR" sz="800" kern="0" noProof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noProof="0" smtClean="0">
                <a:solidFill>
                  <a:prstClr val="black"/>
                </a:solidFill>
              </a:rPr>
              <a:t>등록</a:t>
            </a:r>
            <a:endParaRPr kumimoji="1" lang="en-US" altLang="ko-KR" sz="800" kern="0" noProof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자본변동표 가져오기</a:t>
            </a:r>
            <a:r>
              <a:rPr kumimoji="1" lang="en-US" altLang="ko-KR" sz="800" i="0" u="none" strike="noStrike" kern="0" cap="none" spc="0" normalizeH="0" baseline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/</a:t>
            </a:r>
            <a:r>
              <a:rPr kumimoji="1" lang="ko-KR" altLang="en-US" sz="800" i="0" u="none" strike="noStrike" kern="0" cap="none" spc="0" normalizeH="0" baseline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등록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4741265" y="34290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연결 자료 등록</a:t>
            </a:r>
            <a:endParaRPr lang="en-US" altLang="ko-KR" sz="900" kern="0" dirty="0"/>
          </a:p>
        </p:txBody>
      </p:sp>
      <p:grpSp>
        <p:nvGrpSpPr>
          <p:cNvPr id="121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7801946" y="3768732"/>
            <a:ext cx="153468" cy="548095"/>
            <a:chOff x="3031001" y="4235807"/>
            <a:chExt cx="384180" cy="628249"/>
          </a:xfrm>
        </p:grpSpPr>
        <p:sp>
          <p:nvSpPr>
            <p:cNvPr id="122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235807"/>
              <a:ext cx="90052" cy="60496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4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55414" y="3801451"/>
            <a:ext cx="131806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재무상태표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조회</a:t>
            </a:r>
            <a:endParaRPr kumimoji="1" lang="en-US" altLang="ko-KR" sz="800" ker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손익게산서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현금흐름표 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자본변동표 조회</a:t>
            </a:r>
            <a:endParaRPr kumimoji="1" lang="en-US" altLang="ko-KR" sz="800" kern="0" dirty="0">
              <a:solidFill>
                <a:prstClr val="black"/>
              </a:solidFill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7693593" y="343643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모회사 연결 재무제표 조회</a:t>
            </a:r>
            <a:endParaRPr lang="en-US" altLang="ko-KR" sz="900" kern="0" dirty="0"/>
          </a:p>
        </p:txBody>
      </p:sp>
      <p:grpSp>
        <p:nvGrpSpPr>
          <p:cNvPr id="90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316303" y="2652693"/>
            <a:ext cx="756425" cy="410305"/>
            <a:chOff x="1696424" y="2542858"/>
            <a:chExt cx="756425" cy="410305"/>
          </a:xfrm>
        </p:grpSpPr>
        <p:sp>
          <p:nvSpPr>
            <p:cNvPr id="91" name="직사각형 90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2" name="육각형 91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모회사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계정코드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93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1879453" y="3757059"/>
            <a:ext cx="153468" cy="415437"/>
            <a:chOff x="3031001" y="4410903"/>
            <a:chExt cx="384180" cy="476189"/>
          </a:xfrm>
        </p:grpSpPr>
        <p:sp>
          <p:nvSpPr>
            <p:cNvPr id="94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39518"/>
              <a:ext cx="271681" cy="147574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410903"/>
              <a:ext cx="90052" cy="413200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1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32921" y="3809892"/>
            <a:ext cx="88378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계정코드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현금흐름코드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자본변동코드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1" name="직선 화살표 연결선 10"/>
          <p:cNvCxnSpPr>
            <a:stCxn id="19" idx="3"/>
            <a:endCxn id="110" idx="1"/>
          </p:cNvCxnSpPr>
          <p:nvPr/>
        </p:nvCxnSpPr>
        <p:spPr>
          <a:xfrm flipV="1">
            <a:off x="2586266" y="3589386"/>
            <a:ext cx="2154999" cy="237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>
            <a:stCxn id="110" idx="3"/>
            <a:endCxn id="125" idx="1"/>
          </p:cNvCxnSpPr>
          <p:nvPr/>
        </p:nvCxnSpPr>
        <p:spPr>
          <a:xfrm>
            <a:off x="5497690" y="3589386"/>
            <a:ext cx="2195903" cy="743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4849618" y="3749771"/>
            <a:ext cx="153468" cy="548095"/>
            <a:chOff x="3031001" y="4235807"/>
            <a:chExt cx="384180" cy="628249"/>
          </a:xfrm>
        </p:grpSpPr>
        <p:sp>
          <p:nvSpPr>
            <p:cNvPr id="133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34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235807"/>
              <a:ext cx="90052" cy="60496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35" name="직사각형 134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7693593" y="46764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모회사 연결 재무제표 추출</a:t>
            </a:r>
            <a:endParaRPr lang="en-US" altLang="ko-KR" sz="900" kern="0" dirty="0"/>
          </a:p>
        </p:txBody>
      </p:sp>
      <p:grpSp>
        <p:nvGrpSpPr>
          <p:cNvPr id="136" name="그룹 67">
            <a:extLst>
              <a:ext uri="{FF2B5EF4-FFF2-40B4-BE49-F238E27FC236}">
                <a16:creationId xmlns="" xmlns:a16="http://schemas.microsoft.com/office/drawing/2014/main" id="{D6AF1DEC-5516-D3A9-84DA-7D985C0FD2D3}"/>
              </a:ext>
            </a:extLst>
          </p:cNvPr>
          <p:cNvGrpSpPr/>
          <p:nvPr/>
        </p:nvGrpSpPr>
        <p:grpSpPr>
          <a:xfrm flipH="1" flipV="1">
            <a:off x="7801946" y="5005450"/>
            <a:ext cx="153468" cy="548095"/>
            <a:chOff x="3031001" y="4235807"/>
            <a:chExt cx="384180" cy="628249"/>
          </a:xfrm>
        </p:grpSpPr>
        <p:sp>
          <p:nvSpPr>
            <p:cNvPr id="137" name="Line 175">
              <a:extLst>
                <a:ext uri="{FF2B5EF4-FFF2-40B4-BE49-F238E27FC236}">
                  <a16:creationId xmlns="" xmlns:a16="http://schemas.microsoft.com/office/drawing/2014/main" id="{1DEBC07E-2A46-D3A4-88EC-20C0BC52C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43500" y="4716484"/>
              <a:ext cx="271681" cy="14757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38" name="Freeform 176">
              <a:extLst>
                <a:ext uri="{FF2B5EF4-FFF2-40B4-BE49-F238E27FC236}">
                  <a16:creationId xmlns="" xmlns:a16="http://schemas.microsoft.com/office/drawing/2014/main" id="{BEB9ED65-168E-AE38-D7AA-91DAA3190B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235807"/>
              <a:ext cx="90052" cy="604967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39" name="Rectangle 179">
            <a:extLst>
              <a:ext uri="{FF2B5EF4-FFF2-40B4-BE49-F238E27FC236}">
                <a16:creationId xmlns="" xmlns:a16="http://schemas.microsoft.com/office/drawing/2014/main" id="{156DE78F-86C9-F70F-CC35-22E0ECFD1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55414" y="5038169"/>
            <a:ext cx="131806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>
                <a:solidFill>
                  <a:prstClr val="black"/>
                </a:solidFill>
              </a:rPr>
              <a:t>재무상태표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DATA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추출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손익게산서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DATA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추출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현금흐름표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DATA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추출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lvl="0" indent="-93663" fontAlgn="base" latinLnBrk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자본변동표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DATA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추출</a:t>
            </a:r>
            <a:endParaRPr kumimoji="1" lang="en-US" altLang="ko-KR" sz="800" kern="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510771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81548" y="886681"/>
            <a:ext cx="9180512" cy="870304"/>
          </a:xfrm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>
              <a:spcAft>
                <a:spcPct val="30000"/>
              </a:spcAft>
              <a:buClr>
                <a:srgbClr val="808080"/>
              </a:buClr>
            </a:pP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구매업무의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전반적인 프로세스를 지원하고 예산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회계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자산관리 시스템과의 연계기능을  고도화하여 사용자의 편의와 구매 업무의 효율성을 강화합니다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.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구매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사전규격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입찰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/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계약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)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진행현황을 관리하여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구매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요청자에게 정확한 진행정보를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제공하고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법률자문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차량관리 업무를 처리함</a:t>
            </a:r>
            <a:endParaRPr lang="en-US" altLang="ko-KR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>
                <a:solidFill>
                  <a:prstClr val="black"/>
                </a:solidFill>
              </a:rPr>
              <a:t>업무프로세스 </a:t>
            </a:r>
            <a:r>
              <a:rPr lang="ko-KR" altLang="en-US" smtClean="0">
                <a:solidFill>
                  <a:prstClr val="black"/>
                </a:solidFill>
              </a:rPr>
              <a:t>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21752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676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3.2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물품청구관리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316" idx="0"/>
          </p:cNvCxnSpPr>
          <p:nvPr/>
        </p:nvCxnSpPr>
        <p:spPr bwMode="auto">
          <a:xfrm rot="5400000">
            <a:off x="3818092" y="1386418"/>
            <a:ext cx="270790" cy="241045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746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3.2.1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물품청구입력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>
            <a:off x="2748260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2058161"/>
            <a:ext cx="82633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smtClean="0">
                <a:solidFill>
                  <a:prstClr val="white"/>
                </a:solidFill>
                <a:latin typeface="+mn-ea"/>
              </a:rPr>
              <a:t>3. </a:t>
            </a:r>
            <a:r>
              <a:rPr lang="ko-KR" altLang="en-US" sz="1300" b="1" kern="0" smtClean="0">
                <a:solidFill>
                  <a:prstClr val="white"/>
                </a:solidFill>
                <a:latin typeface="+mn-ea"/>
              </a:rPr>
              <a:t>구매관리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2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3.3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수리계약관리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1614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3.5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구매진행관리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60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3.6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행정서비스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905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3.7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00"/>
                </a:solidFill>
                <a:latin typeface="+mn-ea"/>
              </a:rPr>
              <a:t>차량관리</a:t>
            </a:r>
            <a:endParaRPr lang="ko-KR" altLang="en-US" sz="1100" b="1" kern="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cxnSpLocks/>
            <a:stCxn id="320" idx="2"/>
            <a:endCxn id="324" idx="0"/>
          </p:cNvCxnSpPr>
          <p:nvPr/>
        </p:nvCxnSpPr>
        <p:spPr bwMode="auto">
          <a:xfrm rot="16200000" flipH="1">
            <a:off x="6827206" y="787756"/>
            <a:ext cx="270790" cy="360777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cxnSpLocks/>
            <a:stCxn id="320" idx="2"/>
            <a:endCxn id="321" idx="0"/>
          </p:cNvCxnSpPr>
          <p:nvPr/>
        </p:nvCxnSpPr>
        <p:spPr bwMode="auto">
          <a:xfrm rot="5400000">
            <a:off x="4419915" y="1988241"/>
            <a:ext cx="270790" cy="120680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cxnSpLocks/>
            <a:stCxn id="320" idx="2"/>
            <a:endCxn id="322" idx="0"/>
          </p:cNvCxnSpPr>
          <p:nvPr/>
        </p:nvCxnSpPr>
        <p:spPr bwMode="auto">
          <a:xfrm rot="16200000" flipH="1">
            <a:off x="5623560" y="1991401"/>
            <a:ext cx="270790" cy="120048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cxnSpLocks/>
            <a:stCxn id="320" idx="2"/>
            <a:endCxn id="323" idx="0"/>
          </p:cNvCxnSpPr>
          <p:nvPr/>
        </p:nvCxnSpPr>
        <p:spPr bwMode="auto">
          <a:xfrm rot="16200000" flipH="1">
            <a:off x="6225383" y="1389578"/>
            <a:ext cx="270790" cy="240413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1" y="3392997"/>
            <a:ext cx="1035169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3.3.1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수리요청입력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1614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3.5.1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사전규격관리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975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3.7.1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차량예약관리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2" y="3946770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3.3.2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수리요청승인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2" y="4500543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3.3.3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수리계약관리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5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2" y="5051406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3.3.4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수리검수관리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1614" y="394677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3.5.2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구매일정관리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3951906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 flipH="1">
            <a:off x="6359163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 flipH="1">
            <a:off x="7562809" y="3126413"/>
            <a:ext cx="35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>
            <a:off x="8766489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3951906" y="3815738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6359163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3951906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4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4" idx="2"/>
            <a:endCxn id="335" idx="0"/>
          </p:cNvCxnSpPr>
          <p:nvPr/>
        </p:nvCxnSpPr>
        <p:spPr bwMode="auto">
          <a:xfrm>
            <a:off x="3951906" y="492328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60" y="3403352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3.6.1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법률자문 접수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60" y="3959098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3.6.2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법률자문 할당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7562809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746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3.2.2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보유물품확인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746" y="44965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3.2.3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보유물품출고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2748295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2748295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975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3.7.2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차량운행처리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8766524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58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Level1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58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Level2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58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Level3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Rectangle 43">
            <a:extLst>
              <a:ext uri="{FF2B5EF4-FFF2-40B4-BE49-F238E27FC236}">
                <a16:creationId xmlns="" xmlns:a16="http://schemas.microsoft.com/office/drawing/2014/main" id="{E3D82401-A830-0602-D55A-3D7323EE7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2724418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3.1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구매기초자료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1" name="Rectangle 43">
            <a:extLst>
              <a:ext uri="{FF2B5EF4-FFF2-40B4-BE49-F238E27FC236}">
                <a16:creationId xmlns="" xmlns:a16="http://schemas.microsoft.com/office/drawing/2014/main" id="{8C7218AA-FA01-AE9E-4347-DEE45D2A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33903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3.1.1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>
                <a:latin typeface="+mn-ea"/>
              </a:rPr>
              <a:t>물품코드 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2" name="Rectangle 43">
            <a:extLst>
              <a:ext uri="{FF2B5EF4-FFF2-40B4-BE49-F238E27FC236}">
                <a16:creationId xmlns="" xmlns:a16="http://schemas.microsoft.com/office/drawing/2014/main" id="{85039B3D-D699-ACE0-8607-D30FCBAC3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39421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3.1.2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물품창고 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3" name="Rectangle 43">
            <a:extLst>
              <a:ext uri="{FF2B5EF4-FFF2-40B4-BE49-F238E27FC236}">
                <a16:creationId xmlns="" xmlns:a16="http://schemas.microsoft.com/office/drawing/2014/main" id="{318A1D3C-FCE5-FC6A-4E77-B5408E83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44939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3.1.3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거래처 정보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4" name="Rectangle 43">
            <a:extLst>
              <a:ext uri="{FF2B5EF4-FFF2-40B4-BE49-F238E27FC236}">
                <a16:creationId xmlns="" xmlns:a16="http://schemas.microsoft.com/office/drawing/2014/main" id="{F9CE4552-706A-773D-CCD3-003F657CC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030" y="504878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3.1.4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물품수급관리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41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975" y="451842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3.7.3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차량정비관리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42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41" idx="0"/>
            <a:endCxn id="59" idx="2"/>
          </p:cNvCxnSpPr>
          <p:nvPr/>
        </p:nvCxnSpPr>
        <p:spPr bwMode="auto">
          <a:xfrm flipV="1">
            <a:off x="8766524" y="4367537"/>
            <a:ext cx="0" cy="1508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1" name="제목 2">
            <a:extLst>
              <a:ext uri="{FF2B5EF4-FFF2-40B4-BE49-F238E27FC236}">
                <a16:creationId xmlns="" xmlns:a16="http://schemas.microsoft.com/office/drawing/2014/main" id="{9551AA14-AB9F-55B5-4876-85ECDC318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3.4.1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4.1.1 </a:t>
            </a:r>
            <a:r>
              <a:rPr lang="ko-KR" altLang="en-US" sz="1800" smtClean="0"/>
              <a:t>구매</a:t>
            </a:r>
            <a:r>
              <a:rPr lang="ko-KR" altLang="en-US" sz="1800" smtClean="0">
                <a:solidFill>
                  <a:prstClr val="black"/>
                </a:solidFill>
              </a:rPr>
              <a:t>관리 </a:t>
            </a:r>
            <a:r>
              <a:rPr lang="ko-KR" altLang="en-US" sz="1800">
                <a:solidFill>
                  <a:prstClr val="black"/>
                </a:solidFill>
              </a:rPr>
              <a:t>업무분류 </a:t>
            </a:r>
            <a:r>
              <a:rPr lang="ko-KR" altLang="en-US" sz="1800" smtClean="0">
                <a:solidFill>
                  <a:prstClr val="black"/>
                </a:solidFill>
              </a:rPr>
              <a:t>구조도</a:t>
            </a:r>
            <a:endParaRPr lang="ko-KR" altLang="en-US" dirty="0"/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1614" y="4500543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3.5.3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진척 모니터링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1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20" idx="0"/>
          </p:cNvCxnSpPr>
          <p:nvPr/>
        </p:nvCxnSpPr>
        <p:spPr bwMode="auto">
          <a:xfrm rot="5400000">
            <a:off x="3217580" y="783284"/>
            <a:ext cx="268169" cy="36140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0" idx="2"/>
            <a:endCxn id="21" idx="0"/>
          </p:cNvCxnSpPr>
          <p:nvPr/>
        </p:nvCxnSpPr>
        <p:spPr bwMode="auto">
          <a:xfrm flipH="1">
            <a:off x="1544579" y="3123792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1" idx="2"/>
            <a:endCxn id="22" idx="0"/>
          </p:cNvCxnSpPr>
          <p:nvPr/>
        </p:nvCxnSpPr>
        <p:spPr bwMode="auto">
          <a:xfrm>
            <a:off x="1544579" y="38131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2" idx="2"/>
            <a:endCxn id="23" idx="0"/>
          </p:cNvCxnSpPr>
          <p:nvPr/>
        </p:nvCxnSpPr>
        <p:spPr bwMode="auto">
          <a:xfrm>
            <a:off x="1544579" y="43649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3" idx="2"/>
            <a:endCxn id="24" idx="0"/>
          </p:cNvCxnSpPr>
          <p:nvPr/>
        </p:nvCxnSpPr>
        <p:spPr bwMode="auto">
          <a:xfrm>
            <a:off x="1544579" y="4916716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3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5260" y="449774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3.6.3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법률자문 회신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80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4322" y="5606746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3.3.5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수리진행현황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82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5" idx="2"/>
            <a:endCxn id="80" idx="0"/>
          </p:cNvCxnSpPr>
          <p:nvPr/>
        </p:nvCxnSpPr>
        <p:spPr bwMode="auto">
          <a:xfrm>
            <a:off x="3951906" y="5474147"/>
            <a:ext cx="0" cy="13259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6" idx="2"/>
            <a:endCxn id="70" idx="0"/>
          </p:cNvCxnSpPr>
          <p:nvPr/>
        </p:nvCxnSpPr>
        <p:spPr bwMode="auto">
          <a:xfrm>
            <a:off x="6359163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9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1614" y="505140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3.5.4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000" b="1" kern="0" smtClean="0">
                <a:latin typeface="+mn-ea"/>
              </a:rPr>
              <a:t>예산집행률관리</a:t>
            </a:r>
            <a:endParaRPr lang="en-US" altLang="ko-KR" sz="1000" b="1" kern="0" dirty="0">
              <a:latin typeface="+mn-ea"/>
            </a:endParaRPr>
          </a:p>
        </p:txBody>
      </p:sp>
      <p:cxnSp>
        <p:nvCxnSpPr>
          <p:cNvPr id="90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70" idx="2"/>
            <a:endCxn id="89" idx="0"/>
          </p:cNvCxnSpPr>
          <p:nvPr/>
        </p:nvCxnSpPr>
        <p:spPr bwMode="auto">
          <a:xfrm>
            <a:off x="6359163" y="492328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4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975" y="505140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3.7.4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CC"/>
                </a:solidFill>
                <a:latin typeface="+mn-ea"/>
              </a:rPr>
              <a:t>하이패스관리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95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94" idx="0"/>
            <a:endCxn id="41" idx="2"/>
          </p:cNvCxnSpPr>
          <p:nvPr/>
        </p:nvCxnSpPr>
        <p:spPr bwMode="auto">
          <a:xfrm flipV="1">
            <a:off x="8766524" y="4941168"/>
            <a:ext cx="0" cy="11023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8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968" y="2734320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3.4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>
                <a:solidFill>
                  <a:srgbClr val="000000"/>
                </a:solidFill>
                <a:latin typeface="+mn-ea"/>
              </a:rPr>
              <a:t>물</a:t>
            </a: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품 구매관리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99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968" y="340027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3.4.1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조달계약 의뢰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0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968" y="3954051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3.4.2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계약내역 </a:t>
            </a:r>
            <a:r>
              <a:rPr lang="ko-KR" altLang="en-US" sz="1100" b="1" kern="0">
                <a:latin typeface="+mn-ea"/>
              </a:rPr>
              <a:t>등록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01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968" y="4507824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3.4.3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선급금 지급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102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968" y="505868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3.4.4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000" b="1" kern="0">
                <a:latin typeface="+mn-ea"/>
              </a:rPr>
              <a:t>검수입고관리</a:t>
            </a:r>
            <a:endParaRPr lang="en-US" altLang="ko-KR" sz="1000" b="1" kern="0" dirty="0">
              <a:latin typeface="+mn-ea"/>
            </a:endParaRPr>
          </a:p>
        </p:txBody>
      </p:sp>
      <p:cxnSp>
        <p:nvCxnSpPr>
          <p:cNvPr id="16" name="꺾인 연결선 15"/>
          <p:cNvCxnSpPr>
            <a:endCxn id="320" idx="2"/>
          </p:cNvCxnSpPr>
          <p:nvPr/>
        </p:nvCxnSpPr>
        <p:spPr>
          <a:xfrm rot="5400000" flipH="1" flipV="1">
            <a:off x="5024628" y="2590334"/>
            <a:ext cx="268169" cy="1"/>
          </a:xfrm>
          <a:prstGeom prst="bentConnector3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/>
          <p:cNvCxnSpPr>
            <a:stCxn id="98" idx="2"/>
            <a:endCxn id="99" idx="0"/>
          </p:cNvCxnSpPr>
          <p:nvPr/>
        </p:nvCxnSpPr>
        <p:spPr>
          <a:xfrm flipH="1">
            <a:off x="5155517" y="3133694"/>
            <a:ext cx="35" cy="266583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/>
          <p:cNvCxnSpPr>
            <a:stCxn id="99" idx="2"/>
            <a:endCxn id="100" idx="0"/>
          </p:cNvCxnSpPr>
          <p:nvPr/>
        </p:nvCxnSpPr>
        <p:spPr>
          <a:xfrm>
            <a:off x="5155517" y="3823018"/>
            <a:ext cx="0" cy="131033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/>
          <p:cNvCxnSpPr>
            <a:endCxn id="101" idx="0"/>
          </p:cNvCxnSpPr>
          <p:nvPr/>
        </p:nvCxnSpPr>
        <p:spPr>
          <a:xfrm flipH="1">
            <a:off x="5155517" y="4376792"/>
            <a:ext cx="3195" cy="131032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/>
          <p:cNvCxnSpPr>
            <a:endCxn id="102" idx="0"/>
          </p:cNvCxnSpPr>
          <p:nvPr/>
        </p:nvCxnSpPr>
        <p:spPr>
          <a:xfrm flipH="1">
            <a:off x="5155517" y="4941168"/>
            <a:ext cx="3195" cy="117519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746" y="505868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3.2.4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물품수불관리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118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endCxn id="117" idx="0"/>
          </p:cNvCxnSpPr>
          <p:nvPr/>
        </p:nvCxnSpPr>
        <p:spPr bwMode="auto">
          <a:xfrm>
            <a:off x="2734245" y="4929628"/>
            <a:ext cx="1405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66958235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물품분류 및 물품코드를 관리하여 물품의 구매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수불 등의 기준을 관리하고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물품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에 </a:t>
            </a:r>
            <a:r>
              <a:rPr lang="ko-KR" altLang="en-US">
                <a:latin typeface="나눔고딕" panose="020D0604000000000000" pitchFamily="50" charset="-127"/>
                <a:ea typeface="나눔고딕" panose="020D0604000000000000" pitchFamily="50" charset="-127"/>
              </a:rPr>
              <a:t>대한 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요청을 받아서 재고를 확인한 다음 출고처리하고 부족할 경우 구매 결정한다</a:t>
            </a:r>
            <a:r>
              <a:rPr lang="en-US" altLang="ko-KR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사전규격 및 입찰</a:t>
            </a:r>
            <a:r>
              <a:rPr lang="en-US" altLang="ko-KR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계약 일정을 관리하고 입고되면 검수 처리하여 대금지급</a:t>
            </a:r>
            <a:r>
              <a:rPr lang="en-US" altLang="ko-KR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지출결의</a:t>
            </a:r>
            <a:r>
              <a:rPr lang="en-US" altLang="ko-KR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을 생성하고</a:t>
            </a:r>
            <a:r>
              <a:rPr lang="en-US" altLang="ko-KR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일정을 관리한다</a:t>
            </a:r>
            <a:r>
              <a:rPr lang="en-US" altLang="ko-KR" smtClean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mtClean="0">
                <a:latin typeface="+mn-ea"/>
                <a:ea typeface="+mn-ea"/>
              </a:rPr>
              <a:t> 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3.4.1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4.1.2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39020"/>
              </p:ext>
            </p:extLst>
          </p:nvPr>
        </p:nvGraphicFramePr>
        <p:xfrm>
          <a:off x="354520" y="1628804"/>
          <a:ext cx="9180512" cy="4608483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54854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4854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구매기초자료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구매시스템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관리에 필요한 기준정보 및 관리기준 정보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구매담당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물품별 표준자료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물품수급계획에 의한  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자동 발주품목 추출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물품 코드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물품별 품명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단위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구매단위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적정재고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 소요일수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등을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55330139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물품 창고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사업장별 창고 코드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창고의 특징 등을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557783185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거래처 정보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직접구매할 경우 거래처정보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거래계좌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담당자 정보를 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48509401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물품수급계획관리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물품별 기간 소요량을 계산하여 수급계획을 생성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3555722"/>
                  </a:ext>
                </a:extLst>
              </a:tr>
              <a:tr h="25485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물품청구관리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물품의 청구요청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구매진행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검수입고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 수불관리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구매담당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수불자료에 의한 물품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청구시 출고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 결정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검수처리시 대급지급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결의자동생성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58059666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물품청구 입력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물품의 수량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공정 등을 입력하여 물품을 청구한다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보유물품 확인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청구한 물품의 재고를 확인하고 출고처리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부족할 경우 구매요청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보유물품 출고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청구한 물품을 출고처리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5965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물품 수불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창고별 물품의 입고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출고 등 물품 수불을 관리한다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54854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수리계약관리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물품이나 자산의 수리 처리 진행과정을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구매담당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수리 검수시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대급지급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결의자동생성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 요청 입력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 대상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현상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수리여청부분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 요청내역</a:t>
                      </a:r>
                      <a:r>
                        <a:rPr lang="en-US" altLang="ko-KR" sz="1000" b="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등을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입력하여 요청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 요청 승인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수리요청한 사항을 검토하여 승인 및 수리 계약 요청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 계약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 선정 및 수리계약 체결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예상완료일 등 일정관리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 검수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 완료시에 검수처리 및 대금지급 결의서 처리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54854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수리 진행 현황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수리 요청건에 대한 진행현황 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509083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3.4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구매관리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3716244"/>
              </p:ext>
            </p:extLst>
          </p:nvPr>
        </p:nvGraphicFramePr>
        <p:xfrm>
          <a:off x="350002" y="881349"/>
          <a:ext cx="9180514" cy="5486400"/>
        </p:xfrm>
        <a:graphic>
          <a:graphicData uri="http://schemas.openxmlformats.org/drawingml/2006/table">
            <a:tbl>
              <a:tblPr firstRow="1" bandRow="1"/>
              <a:tblGrid>
                <a:gridCol w="4012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pc="-100" baseline="0" smtClean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구매일정을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5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0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물품구매관리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 계약에 대한 일정 및 진척도를 관리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구매담당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 계약의뢰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사전규젹 등록 및 입찰공고 신청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및 계약의뢰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 내역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용역에 대한 계약 내역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선급금 지급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선급금 계약건에 대한 선급금 지급의뢰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지출결의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검수입고관리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검수조서 입력 및 대금지급 신청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지출결의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smtClean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구매진행관리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조달청 사전규격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입찰의뢰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계약에 대한 일정을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구매담당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전 부서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사전규격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사전규격 의뢰 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사전규격 등록일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의견 만료일 처리 계획일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구매일정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구매에 대한 주요일자를 연동 생성 및 입력 처리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진척 모니터링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사전규격의뢰 및 입찰공고 진척도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계약 진척도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Monitoring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예산 집행률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용역건에 대한 진행율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지출금액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계약금액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비율 조회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smtClean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행정서비스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관련부서에서 </a:t>
                      </a: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제도</a:t>
                      </a:r>
                      <a:r>
                        <a:rPr lang="en-US" altLang="ko-KR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법률 검토를 의뢰받아 접수</a:t>
                      </a:r>
                      <a:r>
                        <a:rPr lang="en-US" altLang="ko-KR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할당</a:t>
                      </a:r>
                      <a:r>
                        <a:rPr lang="en-US" altLang="ko-KR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회신 처리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법률자문 접수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법률 검토 및 법령관련 질의서 의뢰 내용을 접수받고 확인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법률자문 할당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법률 검토하여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R&amp;R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을 정의하고 해당 부서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담당자에게 배포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법률자문 회신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의견수렴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자문검토 의견수신을 등록라여 관련부서 답변 회신지원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smtClean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차량관리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차량의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예약신청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유류 사용량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운행료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처량 정비 등을 관리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하이패스 운행료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차량예약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분류를 기준으로 내용연수 일괄 수정 기능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0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차량운행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매월 감가상각 작업을 수행하여 상각전표를 생성하여 마감처리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차량정비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 상세내역 및 집계표 조회 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하이패스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하이패스 카드 등록 및 발생 운행료 지급처리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0" name="제목 2">
            <a:extLst>
              <a:ext uri="{FF2B5EF4-FFF2-40B4-BE49-F238E27FC236}">
                <a16:creationId xmlns="" xmlns:a16="http://schemas.microsoft.com/office/drawing/2014/main" id="{C0E42CB6-E8AF-E644-9D0E-99DEEE340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3.4.1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4.1.2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2/2)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0233207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구매관리 시스템을 운영하기위한 기준자료인 물품코드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물품창고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거래처 정보를 관리하고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</a:p>
          <a:p>
            <a:r>
              <a:rPr lang="ko-KR" altLang="en-US" smtClean="0">
                <a:latin typeface="+mn-ea"/>
                <a:ea typeface="+mn-ea"/>
              </a:rPr>
              <a:t>주기적으로 물품 수급계획 정보를 생성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관리하여 물품 수급관리의 기초자료로 활용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33338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3.1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구매기초자료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8060074"/>
              </p:ext>
            </p:extLst>
          </p:nvPr>
        </p:nvGraphicFramePr>
        <p:xfrm>
          <a:off x="344488" y="1989138"/>
          <a:ext cx="9181020" cy="432099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076230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물품 코드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창고 정보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3.1.3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 정보 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3.1.4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수급 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05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구매담당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3841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사업부서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ctr" fontAlgn="ctr" latinLnBrk="0">
                        <a:buFont typeface="Arial" panose="020B0604020202020204" pitchFamily="34" charset="0"/>
                        <a:buChar char="•"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6" name="직사각형 125"/>
          <p:cNvSpPr/>
          <p:nvPr/>
        </p:nvSpPr>
        <p:spPr bwMode="auto">
          <a:xfrm>
            <a:off x="6105128" y="482426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>
                <a:solidFill>
                  <a:prstClr val="black"/>
                </a:solidFill>
              </a:rPr>
              <a:t>2</a:t>
            </a:r>
            <a:r>
              <a:rPr lang="en-US" altLang="ko-KR" sz="900" kern="0" smtClean="0">
                <a:solidFill>
                  <a:prstClr val="black"/>
                </a:solidFill>
              </a:rPr>
              <a:t>.</a:t>
            </a:r>
            <a:r>
              <a:rPr lang="ko-KR" altLang="en-US" sz="900" kern="0" smtClean="0">
                <a:solidFill>
                  <a:prstClr val="black"/>
                </a:solidFill>
              </a:rPr>
              <a:t>거래계좌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4" name="직사각형 143"/>
          <p:cNvSpPr/>
          <p:nvPr/>
        </p:nvSpPr>
        <p:spPr bwMode="auto">
          <a:xfrm>
            <a:off x="5529064" y="32129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거래처정보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4.2.1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1/7)</a:t>
            </a:r>
            <a:endParaRPr lang="ko-KR" altLang="en-US" dirty="0"/>
          </a:p>
        </p:txBody>
      </p:sp>
      <p:grpSp>
        <p:nvGrpSpPr>
          <p:cNvPr id="13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348908" y="2480366"/>
            <a:ext cx="756425" cy="410305"/>
            <a:chOff x="1696424" y="2542858"/>
            <a:chExt cx="756425" cy="410305"/>
          </a:xfrm>
        </p:grpSpPr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" name="육각형 1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물품코드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85561" y="325224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</a:t>
            </a:r>
            <a:r>
              <a:rPr lang="ko-KR" altLang="en-US" sz="900" kern="0" smtClean="0"/>
              <a:t>물품코드 등록 </a:t>
            </a:r>
            <a:endParaRPr lang="en-US" altLang="ko-KR" sz="900" kern="0" dirty="0"/>
          </a:p>
        </p:txBody>
      </p: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2349687" y="3588412"/>
            <a:ext cx="176240" cy="1064724"/>
            <a:chOff x="3031001" y="4481826"/>
            <a:chExt cx="369129" cy="774196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24006"/>
              <a:ext cx="90052" cy="732016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47328" y="3612946"/>
            <a:ext cx="1109528" cy="12311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물품 붐유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수불단위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구매단위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안전재고량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최소발주량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발주단위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구매소요일수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수불관리여부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계정코드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3633681" y="32522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창고 코드</a:t>
            </a:r>
            <a:endParaRPr lang="en-US" altLang="ko-KR" sz="900" kern="0" dirty="0"/>
          </a:p>
        </p:txBody>
      </p:sp>
      <p:cxnSp>
        <p:nvCxnSpPr>
          <p:cNvPr id="101" name="Shape 266">
            <a:extLst>
              <a:ext uri="{FF2B5EF4-FFF2-40B4-BE49-F238E27FC236}">
                <a16:creationId xmlns="" xmlns:a16="http://schemas.microsoft.com/office/drawing/2014/main" id="{DF0F4B8A-339D-E46C-D7BF-9A40E47DD3A7}"/>
              </a:ext>
            </a:extLst>
          </p:cNvPr>
          <p:cNvCxnSpPr>
            <a:cxnSpLocks noChangeShapeType="1"/>
            <a:stCxn id="144" idx="2"/>
            <a:endCxn id="126" idx="1"/>
          </p:cNvCxnSpPr>
          <p:nvPr/>
        </p:nvCxnSpPr>
        <p:spPr bwMode="auto">
          <a:xfrm rot="16200000" flipH="1">
            <a:off x="5280750" y="4160273"/>
            <a:ext cx="1450904" cy="1978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7624169" y="3356992"/>
            <a:ext cx="929231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물품 수금 계획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121352" y="3690953"/>
            <a:ext cx="274908" cy="554201"/>
            <a:chOff x="3031001" y="4361424"/>
            <a:chExt cx="265280" cy="1041215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16888"/>
              <a:ext cx="90051" cy="88575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9536" y="3767272"/>
            <a:ext cx="102672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발주량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=</a:t>
            </a: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안전재고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–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현재고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</a:t>
            </a: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kern="0">
              <a:solidFill>
                <a:prstClr val="black"/>
              </a:solidFill>
            </a:endParaRPr>
          </a:p>
          <a:p>
            <a:pPr marL="171450" marR="0" lvl="0" indent="-17145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소요량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: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투입계획</a:t>
            </a:r>
            <a:endParaRPr kumimoji="1" lang="en-US" altLang="ko-KR" sz="800" kern="0" smtClean="0">
              <a:solidFill>
                <a:prstClr val="black"/>
              </a:solidFill>
            </a:endParaRPr>
          </a:p>
        </p:txBody>
      </p:sp>
      <p:cxnSp>
        <p:nvCxnSpPr>
          <p:cNvPr id="6" name="꺾인 연결선 5"/>
          <p:cNvCxnSpPr>
            <a:stCxn id="15" idx="0"/>
            <a:endCxn id="19" idx="0"/>
          </p:cNvCxnSpPr>
          <p:nvPr/>
        </p:nvCxnSpPr>
        <p:spPr>
          <a:xfrm>
            <a:off x="2105333" y="2685519"/>
            <a:ext cx="158441" cy="56672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>
            <a:stCxn id="19" idx="3"/>
            <a:endCxn id="74" idx="1"/>
          </p:cNvCxnSpPr>
          <p:nvPr/>
        </p:nvCxnSpPr>
        <p:spPr>
          <a:xfrm flipV="1">
            <a:off x="2641986" y="3412630"/>
            <a:ext cx="99169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3667232" y="3593516"/>
            <a:ext cx="176240" cy="727081"/>
            <a:chOff x="3031001" y="4481826"/>
            <a:chExt cx="369129" cy="639709"/>
          </a:xfrm>
        </p:grpSpPr>
        <p:sp>
          <p:nvSpPr>
            <p:cNvPr id="59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16559"/>
              <a:ext cx="90052" cy="604976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1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3467" y="3665556"/>
            <a:ext cx="1710421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창고코드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창고명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수불관리여부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사업장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창고담당자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kern="0" smtClean="0">
              <a:solidFill>
                <a:prstClr val="black"/>
              </a:solidFill>
            </a:endParaRPr>
          </a:p>
        </p:txBody>
      </p:sp>
      <p:grpSp>
        <p:nvGrpSpPr>
          <p:cNvPr id="62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6281401" y="5437806"/>
            <a:ext cx="176240" cy="617491"/>
            <a:chOff x="3031001" y="4481826"/>
            <a:chExt cx="369129" cy="543289"/>
          </a:xfrm>
        </p:grpSpPr>
        <p:sp>
          <p:nvSpPr>
            <p:cNvPr id="63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25137"/>
              <a:ext cx="90052" cy="49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79042" y="5477743"/>
            <a:ext cx="1109528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성명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직함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전화번호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이메일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" name="타원 10"/>
          <p:cNvSpPr/>
          <p:nvPr/>
        </p:nvSpPr>
        <p:spPr>
          <a:xfrm>
            <a:off x="8634336" y="2517175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재고정보</a:t>
            </a:r>
          </a:p>
        </p:txBody>
      </p:sp>
      <p:cxnSp>
        <p:nvCxnSpPr>
          <p:cNvPr id="17" name="꺾인 연결선 16"/>
          <p:cNvCxnSpPr>
            <a:stCxn id="11" idx="2"/>
            <a:endCxn id="113" idx="0"/>
          </p:cNvCxnSpPr>
          <p:nvPr/>
        </p:nvCxnSpPr>
        <p:spPr>
          <a:xfrm rot="10800000" flipV="1">
            <a:off x="8088786" y="2685056"/>
            <a:ext cx="545551" cy="67193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직사각형 49"/>
          <p:cNvSpPr/>
          <p:nvPr/>
        </p:nvSpPr>
        <p:spPr bwMode="auto">
          <a:xfrm>
            <a:off x="6102326" y="51450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담당자정보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" name="꺾인 연결선 9"/>
          <p:cNvCxnSpPr>
            <a:stCxn id="19" idx="0"/>
            <a:endCxn id="113" idx="0"/>
          </p:cNvCxnSpPr>
          <p:nvPr/>
        </p:nvCxnSpPr>
        <p:spPr>
          <a:xfrm rot="16200000" flipH="1">
            <a:off x="5123905" y="392113"/>
            <a:ext cx="104747" cy="5825011"/>
          </a:xfrm>
          <a:prstGeom prst="bentConnector3">
            <a:avLst>
              <a:gd name="adj1" fmla="val -21824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644792" y="2792975"/>
            <a:ext cx="140455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안전재고량</a:t>
            </a:r>
            <a:r>
              <a:rPr lang="en-US" altLang="ko-KR" sz="900" smtClean="0"/>
              <a:t>, </a:t>
            </a:r>
            <a:r>
              <a:rPr lang="ko-KR" altLang="en-US" sz="900" smtClean="0"/>
              <a:t>최소발주량</a:t>
            </a:r>
            <a:endParaRPr lang="ko-KR" altLang="en-US" sz="900" dirty="0" err="1" smtClean="0"/>
          </a:p>
        </p:txBody>
      </p:sp>
      <p:sp>
        <p:nvSpPr>
          <p:cNvPr id="67" name="타원 66"/>
          <p:cNvSpPr/>
          <p:nvPr/>
        </p:nvSpPr>
        <p:spPr>
          <a:xfrm>
            <a:off x="8666905" y="2908391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소요량</a:t>
            </a:r>
          </a:p>
        </p:txBody>
      </p:sp>
      <p:cxnSp>
        <p:nvCxnSpPr>
          <p:cNvPr id="24" name="꺾인 연결선 23"/>
          <p:cNvCxnSpPr>
            <a:stCxn id="67" idx="2"/>
            <a:endCxn id="113" idx="0"/>
          </p:cNvCxnSpPr>
          <p:nvPr/>
        </p:nvCxnSpPr>
        <p:spPr>
          <a:xfrm rot="10800000" flipV="1">
            <a:off x="8088785" y="3076272"/>
            <a:ext cx="578120" cy="28072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70608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73176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사업부서에서 필요한 물품을 청구하면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구매담당이 접수하여 현재고를 확인하여 출고지시 혹은 발주처리를 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물품의 입출고 정보로 물품수불을 관리함 </a:t>
            </a:r>
            <a:r>
              <a:rPr lang="en-US" altLang="ko-KR" sz="1600" smtClean="0">
                <a:latin typeface="+mn-ea"/>
                <a:ea typeface="+mn-ea"/>
              </a:rPr>
              <a:t>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420605"/>
              </p:ext>
            </p:extLst>
          </p:nvPr>
        </p:nvGraphicFramePr>
        <p:xfrm>
          <a:off x="344488" y="1916832"/>
          <a:ext cx="9181019" cy="432048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1602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30425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980219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83184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물품 정구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보유물품 확인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보유물품 출고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3.2.4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물품 수불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308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돋움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구매담당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4421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1587921" y="501472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</a:t>
            </a:r>
            <a:r>
              <a:rPr lang="ko-KR" altLang="en-US" sz="900" kern="0" smtClean="0">
                <a:solidFill>
                  <a:srgbClr val="0000CC"/>
                </a:solidFill>
              </a:rPr>
              <a:t>물품 청구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1966134" y="5343021"/>
            <a:ext cx="270307" cy="462243"/>
            <a:chOff x="3031001" y="4369918"/>
            <a:chExt cx="283668" cy="462243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05744" y="5591207"/>
            <a:ext cx="1034257" cy="12311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물품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,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수량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,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소요일자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11" name="제목 2">
            <a:extLst>
              <a:ext uri="{FF2B5EF4-FFF2-40B4-BE49-F238E27FC236}">
                <a16:creationId xmlns="" xmlns:a16="http://schemas.microsoft.com/office/drawing/2014/main" id="{3BEF3A1F-1689-AD1C-63E8-F77896E1F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8913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2/7)</a:t>
            </a:r>
            <a:endParaRPr lang="ko-KR" altLang="en-US" dirty="0"/>
          </a:p>
        </p:txBody>
      </p:sp>
      <p:sp>
        <p:nvSpPr>
          <p:cNvPr id="39" name="타원 38"/>
          <p:cNvSpPr/>
          <p:nvPr/>
        </p:nvSpPr>
        <p:spPr>
          <a:xfrm>
            <a:off x="1347374" y="4149080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구매관리</a:t>
            </a:r>
          </a:p>
        </p:txBody>
      </p:sp>
      <p:cxnSp>
        <p:nvCxnSpPr>
          <p:cNvPr id="40" name="꺾인 연결선 39"/>
          <p:cNvCxnSpPr>
            <a:stCxn id="39" idx="6"/>
            <a:endCxn id="69" idx="0"/>
          </p:cNvCxnSpPr>
          <p:nvPr/>
        </p:nvCxnSpPr>
        <p:spPr>
          <a:xfrm>
            <a:off x="1698486" y="4316961"/>
            <a:ext cx="267648" cy="69776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392417" y="4513340"/>
            <a:ext cx="410369" cy="12311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검수조서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5673080" y="36716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3. </a:t>
            </a:r>
            <a:r>
              <a:rPr lang="ko-KR" altLang="en-US" sz="900" kern="0" smtClean="0">
                <a:solidFill>
                  <a:srgbClr val="0000CC"/>
                </a:solidFill>
              </a:rPr>
              <a:t>물품 출고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12" name="꺾인 연결선 11"/>
          <p:cNvCxnSpPr>
            <a:stCxn id="69" idx="3"/>
            <a:endCxn id="66" idx="0"/>
          </p:cNvCxnSpPr>
          <p:nvPr/>
        </p:nvCxnSpPr>
        <p:spPr>
          <a:xfrm flipV="1">
            <a:off x="2344346" y="3077010"/>
            <a:ext cx="1653900" cy="2098103"/>
          </a:xfrm>
          <a:prstGeom prst="bentConnector4">
            <a:avLst>
              <a:gd name="adj1" fmla="val 36256"/>
              <a:gd name="adj2" fmla="val 110896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6034061" y="3992443"/>
            <a:ext cx="253252" cy="357496"/>
            <a:chOff x="3031001" y="4474665"/>
            <a:chExt cx="265770" cy="357496"/>
          </a:xfrm>
        </p:grpSpPr>
        <p:sp>
          <p:nvSpPr>
            <p:cNvPr id="57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74665"/>
              <a:ext cx="175714" cy="17000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9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67568" y="4067780"/>
            <a:ext cx="931665" cy="12311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창고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,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물품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,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출고량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8049344" y="34290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4. </a:t>
            </a:r>
            <a:r>
              <a:rPr lang="ko-KR" altLang="en-US" sz="900" kern="0" smtClean="0">
                <a:solidFill>
                  <a:srgbClr val="0000CC"/>
                </a:solidFill>
              </a:rPr>
              <a:t>수불관리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8049344" y="40770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5. </a:t>
            </a:r>
            <a:r>
              <a:rPr lang="ko-KR" altLang="en-US" sz="900" kern="0" smtClean="0">
                <a:solidFill>
                  <a:srgbClr val="0000CC"/>
                </a:solidFill>
              </a:rPr>
              <a:t>수불 현황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50" name="직선 화살표 연결선 49"/>
          <p:cNvCxnSpPr>
            <a:stCxn id="96" idx="2"/>
            <a:endCxn id="97" idx="0"/>
          </p:cNvCxnSpPr>
          <p:nvPr/>
        </p:nvCxnSpPr>
        <p:spPr>
          <a:xfrm>
            <a:off x="8427557" y="3749771"/>
            <a:ext cx="0" cy="3273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3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3172889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3.2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 구매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6" name="순서도: 판단 58"/>
          <p:cNvSpPr>
            <a:spLocks noChangeAspect="1" noChangeArrowheads="1"/>
          </p:cNvSpPr>
          <p:nvPr/>
        </p:nvSpPr>
        <p:spPr bwMode="auto">
          <a:xfrm>
            <a:off x="3543618" y="3077010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</a:t>
            </a:r>
            <a:r>
              <a:rPr lang="ko-KR" altLang="en-US" sz="900" kern="0" smtClean="0"/>
              <a:t>재고확인</a:t>
            </a:r>
            <a:endParaRPr lang="ko-KR" altLang="en-US" sz="900" kern="0" dirty="0"/>
          </a:p>
        </p:txBody>
      </p:sp>
      <p:sp>
        <p:nvSpPr>
          <p:cNvPr id="68" name="타원 67"/>
          <p:cNvSpPr/>
          <p:nvPr/>
        </p:nvSpPr>
        <p:spPr>
          <a:xfrm>
            <a:off x="3822690" y="3850217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발주처리</a:t>
            </a:r>
          </a:p>
        </p:txBody>
      </p:sp>
      <p:cxnSp>
        <p:nvCxnSpPr>
          <p:cNvPr id="6" name="꺾인 연결선 5"/>
          <p:cNvCxnSpPr>
            <a:stCxn id="66" idx="3"/>
            <a:endCxn id="47" idx="0"/>
          </p:cNvCxnSpPr>
          <p:nvPr/>
        </p:nvCxnSpPr>
        <p:spPr>
          <a:xfrm>
            <a:off x="4452874" y="3253005"/>
            <a:ext cx="1598419" cy="41866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>
            <a:stCxn id="66" idx="2"/>
            <a:endCxn id="68" idx="0"/>
          </p:cNvCxnSpPr>
          <p:nvPr/>
        </p:nvCxnSpPr>
        <p:spPr>
          <a:xfrm>
            <a:off x="3998246" y="3429000"/>
            <a:ext cx="0" cy="42121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4548082" y="3061751"/>
            <a:ext cx="13115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재고충분 </a:t>
            </a:r>
            <a:r>
              <a:rPr lang="en-US" altLang="ko-KR" sz="900" smtClean="0">
                <a:sym typeface="Wingdings" panose="05000000000000000000" pitchFamily="2" charset="2"/>
              </a:rPr>
              <a:t> </a:t>
            </a:r>
            <a:r>
              <a:rPr lang="ko-KR" altLang="en-US" sz="900" smtClean="0">
                <a:sym typeface="Wingdings" panose="05000000000000000000" pitchFamily="2" charset="2"/>
              </a:rPr>
              <a:t>출고지시</a:t>
            </a:r>
            <a:endParaRPr lang="ko-KR" altLang="en-US" sz="900" dirty="0" err="1" smtClean="0"/>
          </a:p>
        </p:txBody>
      </p:sp>
      <p:sp>
        <p:nvSpPr>
          <p:cNvPr id="70" name="TextBox 69"/>
          <p:cNvSpPr txBox="1"/>
          <p:nvPr/>
        </p:nvSpPr>
        <p:spPr>
          <a:xfrm>
            <a:off x="3428331" y="3524192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재고부족</a:t>
            </a:r>
            <a:endParaRPr lang="ko-KR" altLang="en-US" sz="900" dirty="0" err="1" smtClean="0"/>
          </a:p>
        </p:txBody>
      </p:sp>
      <p:sp>
        <p:nvSpPr>
          <p:cNvPr id="71" name="타원 70"/>
          <p:cNvSpPr/>
          <p:nvPr/>
        </p:nvSpPr>
        <p:spPr>
          <a:xfrm>
            <a:off x="5897740" y="4723126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출고전표</a:t>
            </a:r>
          </a:p>
        </p:txBody>
      </p:sp>
      <p:cxnSp>
        <p:nvCxnSpPr>
          <p:cNvPr id="72" name="직선 화살표 연결선 71"/>
          <p:cNvCxnSpPr>
            <a:stCxn id="47" idx="2"/>
            <a:endCxn id="71" idx="0"/>
          </p:cNvCxnSpPr>
          <p:nvPr/>
        </p:nvCxnSpPr>
        <p:spPr>
          <a:xfrm>
            <a:off x="6051293" y="3992443"/>
            <a:ext cx="22003" cy="7306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17"/>
          <p:cNvCxnSpPr>
            <a:stCxn id="47" idx="3"/>
            <a:endCxn id="96" idx="0"/>
          </p:cNvCxnSpPr>
          <p:nvPr/>
        </p:nvCxnSpPr>
        <p:spPr>
          <a:xfrm flipV="1">
            <a:off x="6429505" y="3429000"/>
            <a:ext cx="1998052" cy="403058"/>
          </a:xfrm>
          <a:prstGeom prst="bentConnector4">
            <a:avLst>
              <a:gd name="adj1" fmla="val 40535"/>
              <a:gd name="adj2" fmla="val 156716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0029071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l" latinLnBrk="1"/>
            <a:r>
              <a:rPr lang="ko-KR" altLang="en-US" smtClean="0">
                <a:latin typeface="+mn-ea"/>
              </a:rPr>
              <a:t>수리 요청을 받아서 현상을 파악하고</a:t>
            </a:r>
            <a:r>
              <a:rPr lang="en-US" altLang="ko-KR" smtClean="0">
                <a:latin typeface="+mn-ea"/>
              </a:rPr>
              <a:t>, </a:t>
            </a:r>
            <a:r>
              <a:rPr lang="ko-KR" altLang="en-US" smtClean="0">
                <a:latin typeface="+mn-ea"/>
              </a:rPr>
              <a:t>계약을 체결하여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수리 </a:t>
            </a:r>
            <a:r>
              <a:rPr lang="ko-KR" altLang="en-US">
                <a:latin typeface="+mn-ea"/>
              </a:rPr>
              <a:t>처리 </a:t>
            </a:r>
            <a:r>
              <a:rPr lang="ko-KR" altLang="en-US" smtClean="0">
                <a:latin typeface="+mn-ea"/>
              </a:rPr>
              <a:t>진행과정을 관리하며</a:t>
            </a:r>
            <a:r>
              <a:rPr lang="en-US" altLang="ko-KR" smtClean="0">
                <a:latin typeface="+mn-ea"/>
              </a:rPr>
              <a:t>, </a:t>
            </a:r>
            <a:r>
              <a:rPr lang="ko-KR" altLang="en-US" smtClean="0">
                <a:latin typeface="+mn-ea"/>
              </a:rPr>
              <a:t>수리계약시 선금지급 조건이면 선금 지급결의를 생성하고</a:t>
            </a:r>
            <a:r>
              <a:rPr lang="en-US" altLang="ko-KR" smtClean="0">
                <a:latin typeface="+mn-ea"/>
              </a:rPr>
              <a:t>, </a:t>
            </a:r>
            <a:r>
              <a:rPr lang="ko-KR" altLang="en-US" smtClean="0">
                <a:latin typeface="+mn-ea"/>
              </a:rPr>
              <a:t>검수가 완료되면 대금지불 결의서를 생성함 </a:t>
            </a:r>
            <a:r>
              <a:rPr lang="en-US" altLang="ko-KR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4623769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3.3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수리계약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96695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713790"/>
                <a:gridCol w="1648984"/>
                <a:gridCol w="1648983"/>
                <a:gridCol w="1648983"/>
              </a:tblGrid>
              <a:tr h="359742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수리요청입력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3.3.2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수리요청 승인</a:t>
                      </a:r>
                      <a:endParaRPr lang="ko-KR" altLang="en-US" sz="1100" b="1" i="0" u="none" strike="noStrike" smtClean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3.3.3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수리계약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3.3.4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수리검수관리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3.3.5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수리진행현황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350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3630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8" name="직사각형 157"/>
          <p:cNvSpPr/>
          <p:nvPr/>
        </p:nvSpPr>
        <p:spPr bwMode="auto">
          <a:xfrm>
            <a:off x="1649470" y="4757298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 </a:t>
            </a:r>
            <a:r>
              <a:rPr lang="ko-KR" altLang="en-US" sz="900" kern="0" smtClean="0"/>
              <a:t>수리 요청</a:t>
            </a:r>
            <a:endParaRPr lang="en-US" altLang="ko-KR" sz="900" kern="0" dirty="0"/>
          </a:p>
        </p:txBody>
      </p:sp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768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3/7)</a:t>
            </a:r>
            <a:endParaRPr lang="ko-KR" altLang="en-US" dirty="0"/>
          </a:p>
        </p:txBody>
      </p:sp>
      <p:sp>
        <p:nvSpPr>
          <p:cNvPr id="144" name="순서도: 다중 문서 143"/>
          <p:cNvSpPr/>
          <p:nvPr/>
        </p:nvSpPr>
        <p:spPr>
          <a:xfrm>
            <a:off x="8261564" y="3363952"/>
            <a:ext cx="968700" cy="526857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smtClean="0">
                <a:solidFill>
                  <a:schemeClr val="tx1"/>
                </a:solidFill>
              </a:rPr>
              <a:t>6. </a:t>
            </a:r>
            <a:r>
              <a:rPr lang="ko-KR" altLang="en-US" sz="900" smtClean="0">
                <a:solidFill>
                  <a:schemeClr val="tx1"/>
                </a:solidFill>
              </a:rPr>
              <a:t>수리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진행현황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sp>
        <p:nvSpPr>
          <p:cNvPr id="48" name="순서도: 판단 58"/>
          <p:cNvSpPr>
            <a:spLocks noChangeAspect="1" noChangeArrowheads="1"/>
          </p:cNvSpPr>
          <p:nvPr/>
        </p:nvSpPr>
        <p:spPr bwMode="auto">
          <a:xfrm>
            <a:off x="3130814" y="3193515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확인</a:t>
            </a:r>
            <a:endParaRPr lang="ko-KR" altLang="en-US" sz="900" kern="0" dirty="0"/>
          </a:p>
        </p:txBody>
      </p:sp>
      <p:cxnSp>
        <p:nvCxnSpPr>
          <p:cNvPr id="14" name="꺾인 연결선 13"/>
          <p:cNvCxnSpPr>
            <a:stCxn id="158" idx="0"/>
            <a:endCxn id="48" idx="0"/>
          </p:cNvCxnSpPr>
          <p:nvPr/>
        </p:nvCxnSpPr>
        <p:spPr>
          <a:xfrm rot="5400000" flipH="1" flipV="1">
            <a:off x="2024671" y="3196528"/>
            <a:ext cx="1563783" cy="1557759"/>
          </a:xfrm>
          <a:prstGeom prst="bentConnector3">
            <a:avLst>
              <a:gd name="adj1" fmla="val 114618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/>
          <p:cNvSpPr/>
          <p:nvPr/>
        </p:nvSpPr>
        <p:spPr bwMode="auto">
          <a:xfrm>
            <a:off x="4880992" y="4009904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/>
              <a:t>4</a:t>
            </a:r>
            <a:r>
              <a:rPr lang="en-US" altLang="ko-KR" sz="900" kern="0" smtClean="0"/>
              <a:t>. </a:t>
            </a:r>
            <a:r>
              <a:rPr lang="ko-KR" altLang="en-US" sz="900" kern="0" smtClean="0"/>
              <a:t>수리계약</a:t>
            </a:r>
            <a:endParaRPr lang="en-US" altLang="ko-KR" sz="900" kern="0" dirty="0"/>
          </a:p>
        </p:txBody>
      </p:sp>
      <p:grpSp>
        <p:nvGrpSpPr>
          <p:cNvPr id="75" name="그룹 71"/>
          <p:cNvGrpSpPr/>
          <p:nvPr/>
        </p:nvGrpSpPr>
        <p:grpSpPr>
          <a:xfrm flipH="1" flipV="1">
            <a:off x="5326514" y="4333802"/>
            <a:ext cx="142524" cy="698964"/>
            <a:chOff x="3031001" y="3781480"/>
            <a:chExt cx="234413" cy="1329688"/>
          </a:xfrm>
        </p:grpSpPr>
        <p:sp>
          <p:nvSpPr>
            <p:cNvPr id="76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44356" cy="466504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176"/>
            <p:cNvSpPr>
              <a:spLocks noChangeArrowheads="1"/>
            </p:cNvSpPr>
            <p:nvPr/>
          </p:nvSpPr>
          <p:spPr bwMode="auto">
            <a:xfrm flipH="1">
              <a:off x="3031001" y="3781480"/>
              <a:ext cx="90050" cy="117893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8" name="Rectangle 179"/>
          <p:cNvSpPr>
            <a:spLocks noChangeArrowheads="1"/>
          </p:cNvSpPr>
          <p:nvPr/>
        </p:nvSpPr>
        <p:spPr bwMode="auto">
          <a:xfrm flipH="1">
            <a:off x="5547391" y="4422219"/>
            <a:ext cx="868707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계약정보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자산번호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게정과목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추진일정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선금지급여부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81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5870929" y="2959205"/>
            <a:ext cx="684545" cy="410305"/>
            <a:chOff x="1696424" y="2542858"/>
            <a:chExt cx="628284" cy="410305"/>
          </a:xfrm>
        </p:grpSpPr>
        <p:sp>
          <p:nvSpPr>
            <p:cNvPr id="82" name="직사각형 81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3" name="육각형 82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628284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거래처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검수요청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84" name="직사각형 83"/>
          <p:cNvSpPr/>
          <p:nvPr/>
        </p:nvSpPr>
        <p:spPr bwMode="auto">
          <a:xfrm>
            <a:off x="6599481" y="3975407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5. </a:t>
            </a:r>
            <a:r>
              <a:rPr lang="ko-KR" altLang="en-US" sz="900" kern="0" smtClean="0"/>
              <a:t>검수</a:t>
            </a:r>
            <a:endParaRPr lang="en-US" altLang="ko-KR" sz="900" kern="0" dirty="0"/>
          </a:p>
        </p:txBody>
      </p:sp>
      <p:cxnSp>
        <p:nvCxnSpPr>
          <p:cNvPr id="19" name="꺾인 연결선 18"/>
          <p:cNvCxnSpPr>
            <a:stCxn id="83" idx="0"/>
            <a:endCxn id="84" idx="0"/>
          </p:cNvCxnSpPr>
          <p:nvPr/>
        </p:nvCxnSpPr>
        <p:spPr>
          <a:xfrm>
            <a:off x="6555474" y="3164358"/>
            <a:ext cx="422220" cy="81104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순서도: 판단 58"/>
          <p:cNvSpPr>
            <a:spLocks noChangeAspect="1" noChangeArrowheads="1"/>
          </p:cNvSpPr>
          <p:nvPr/>
        </p:nvSpPr>
        <p:spPr bwMode="auto">
          <a:xfrm>
            <a:off x="1564868" y="3900954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부서</a:t>
            </a:r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ko-KR" altLang="en-US" sz="900" kern="0" dirty="0"/>
          </a:p>
        </p:txBody>
      </p:sp>
      <p:cxnSp>
        <p:nvCxnSpPr>
          <p:cNvPr id="17" name="꺾인 연결선 16"/>
          <p:cNvCxnSpPr>
            <a:stCxn id="48" idx="2"/>
            <a:endCxn id="74" idx="0"/>
          </p:cNvCxnSpPr>
          <p:nvPr/>
        </p:nvCxnSpPr>
        <p:spPr>
          <a:xfrm rot="16200000" flipH="1">
            <a:off x="4190124" y="2940822"/>
            <a:ext cx="464399" cy="1673763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타원 65"/>
          <p:cNvSpPr/>
          <p:nvPr/>
        </p:nvSpPr>
        <p:spPr>
          <a:xfrm>
            <a:off x="6798224" y="5023779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대금지불</a:t>
            </a:r>
          </a:p>
        </p:txBody>
      </p:sp>
      <p:cxnSp>
        <p:nvCxnSpPr>
          <p:cNvPr id="95" name="직선 화살표 연결선 94"/>
          <p:cNvCxnSpPr>
            <a:endCxn id="66" idx="0"/>
          </p:cNvCxnSpPr>
          <p:nvPr/>
        </p:nvCxnSpPr>
        <p:spPr>
          <a:xfrm>
            <a:off x="6951777" y="4293096"/>
            <a:ext cx="22003" cy="7306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타원 95"/>
          <p:cNvSpPr/>
          <p:nvPr/>
        </p:nvSpPr>
        <p:spPr>
          <a:xfrm>
            <a:off x="5096555" y="5078069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선금지급</a:t>
            </a:r>
          </a:p>
        </p:txBody>
      </p:sp>
      <p:cxnSp>
        <p:nvCxnSpPr>
          <p:cNvPr id="97" name="직선 화살표 연결선 96"/>
          <p:cNvCxnSpPr>
            <a:stCxn id="74" idx="2"/>
            <a:endCxn id="96" idx="0"/>
          </p:cNvCxnSpPr>
          <p:nvPr/>
        </p:nvCxnSpPr>
        <p:spPr>
          <a:xfrm>
            <a:off x="5259205" y="4330675"/>
            <a:ext cx="12906" cy="74739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9203337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48104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물품 조달 구분에 따라 구매 프로세스를 진행하며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나라장터 조달일 경우 사전규격을 등록하고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입찰공고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개찰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낙찰 처리하여 구매계약을 하고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선금 지급조건이면 선금 지급결의서를 생성한다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.</a:t>
            </a:r>
          </a:p>
          <a:p>
            <a:pPr algn="just" latinLnBrk="0"/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물품이 입고되면 검수처리하고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대금지불 결의서를 생성한다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.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ea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ea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ea"/>
              <a:ea typeface="+mn-ea"/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ea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ea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ea"/>
              <a:ea typeface="+mn-ea"/>
            </a:endParaRPr>
          </a:p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ea"/>
                <a:ea typeface="+mn-ea"/>
              </a:rPr>
              <a:t>3.4 </a:t>
            </a:r>
            <a:r>
              <a:rPr lang="ko-KR" altLang="en-US" sz="1200" smtClean="0">
                <a:solidFill>
                  <a:prstClr val="black"/>
                </a:solidFill>
                <a:latin typeface="+mn-ea"/>
                <a:ea typeface="+mn-ea"/>
              </a:rPr>
              <a:t>구매관리 </a:t>
            </a:r>
            <a:r>
              <a:rPr lang="ko-KR" altLang="en-US" sz="1200" dirty="0">
                <a:solidFill>
                  <a:prstClr val="black"/>
                </a:solidFill>
                <a:latin typeface="+mn-ea"/>
                <a:ea typeface="+mn-ea"/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  <a:latin typeface="+mn-ea"/>
              <a:ea typeface="+mn-ea"/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328573"/>
              </p:ext>
            </p:extLst>
          </p:nvPr>
        </p:nvGraphicFramePr>
        <p:xfrm>
          <a:off x="344488" y="1637621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3.4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물품구매관리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9793379"/>
              </p:ext>
            </p:extLst>
          </p:nvPr>
        </p:nvGraphicFramePr>
        <p:xfrm>
          <a:off x="344488" y="1916832"/>
          <a:ext cx="9181020" cy="431210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16224"/>
                <a:gridCol w="2106234"/>
                <a:gridCol w="2106234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조달계약 의뢰 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3.4.2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계약내역 등록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선급금 지급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3.4.4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검수입고관리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274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구매담당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9" name="직사각형 88"/>
          <p:cNvSpPr/>
          <p:nvPr/>
        </p:nvSpPr>
        <p:spPr bwMode="auto">
          <a:xfrm>
            <a:off x="2231838" y="31048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1 .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입찰공고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5784374" y="31082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선금</a:t>
            </a:r>
            <a:endParaRPr lang="en-US" altLang="ko-KR" sz="900" kern="0" smtClean="0">
              <a:solidFill>
                <a:prstClr val="black"/>
              </a:solidFill>
              <a:latin typeface="+mn-ea"/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지급결의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3878683" y="3102743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2</a:t>
            </a:r>
            <a:r>
              <a:rPr lang="en-US" altLang="ko-KR" sz="900" kern="0">
                <a:solidFill>
                  <a:prstClr val="black"/>
                </a:solidFill>
                <a:latin typeface="+mn-ea"/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계약등록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>
                <a:latin typeface="+mn-ea"/>
                <a:ea typeface="+mn-ea"/>
              </a:rPr>
              <a:t>3.4.2 </a:t>
            </a:r>
            <a:r>
              <a:rPr lang="ko-KR" altLang="en-US" smtClean="0">
                <a:latin typeface="+mn-ea"/>
                <a:ea typeface="+mn-ea"/>
              </a:rPr>
              <a:t>구매관리</a:t>
            </a:r>
            <a:r>
              <a:rPr lang="en-US" altLang="ko-KR" smtClean="0">
                <a:latin typeface="+mn-ea"/>
                <a:ea typeface="+mn-ea"/>
              </a:rPr>
              <a:t> </a:t>
            </a:r>
            <a:r>
              <a:rPr lang="ko-KR" altLang="en-US">
                <a:latin typeface="+mn-ea"/>
                <a:ea typeface="+mn-ea"/>
              </a:rPr>
              <a:t>업무 </a:t>
            </a:r>
            <a:r>
              <a:rPr lang="ko-KR" altLang="en-US" smtClean="0">
                <a:latin typeface="+mn-ea"/>
                <a:ea typeface="+mn-ea"/>
              </a:rPr>
              <a:t>프로세스 정의 </a:t>
            </a:r>
            <a:r>
              <a:rPr lang="en-US" altLang="ko-KR" smtClean="0">
                <a:latin typeface="+mn-ea"/>
                <a:ea typeface="+mn-ea"/>
              </a:rPr>
              <a:t/>
            </a:r>
            <a:br>
              <a:rPr lang="en-US" altLang="ko-KR" smtClean="0">
                <a:latin typeface="+mn-ea"/>
                <a:ea typeface="+mn-ea"/>
              </a:rPr>
            </a:br>
            <a:r>
              <a:rPr lang="en-US" altLang="ko-KR" smtClean="0">
                <a:latin typeface="+mn-ea"/>
                <a:ea typeface="+mn-ea"/>
              </a:rPr>
              <a:t>3.</a:t>
            </a:r>
            <a:r>
              <a:rPr lang="en-US" altLang="ko-KR" sz="1800" smtClean="0">
                <a:solidFill>
                  <a:prstClr val="black"/>
                </a:solidFill>
                <a:latin typeface="+mn-ea"/>
                <a:ea typeface="+mn-ea"/>
              </a:rPr>
              <a:t>4.2.2 </a:t>
            </a:r>
            <a:r>
              <a:rPr lang="ko-KR" altLang="en-US" sz="1800" smtClean="0">
                <a:solidFill>
                  <a:prstClr val="black"/>
                </a:solidFill>
                <a:latin typeface="+mn-ea"/>
                <a:ea typeface="+mn-ea"/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  <a:latin typeface="+mn-ea"/>
                <a:ea typeface="+mn-ea"/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  <a:latin typeface="+mn-ea"/>
                <a:ea typeface="+mn-ea"/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  <a:latin typeface="+mn-ea"/>
                <a:ea typeface="+mn-ea"/>
              </a:rPr>
              <a:t>(</a:t>
            </a:r>
            <a:r>
              <a:rPr lang="en-US" altLang="ko-KR" sz="1800" smtClean="0">
                <a:latin typeface="+mn-ea"/>
                <a:ea typeface="+mn-ea"/>
              </a:rPr>
              <a:t>4/7)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61" name="순서도: 판단 58"/>
          <p:cNvSpPr>
            <a:spLocks noChangeAspect="1" noChangeArrowheads="1"/>
          </p:cNvSpPr>
          <p:nvPr/>
        </p:nvSpPr>
        <p:spPr bwMode="auto">
          <a:xfrm>
            <a:off x="2167469" y="4127337"/>
            <a:ext cx="901291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latin typeface="+mn-ea"/>
              </a:rPr>
              <a:t>낙찰</a:t>
            </a:r>
            <a:endParaRPr lang="ko-KR" altLang="en-US" sz="900" kern="0" dirty="0">
              <a:latin typeface="+mn-ea"/>
            </a:endParaRPr>
          </a:p>
        </p:txBody>
      </p:sp>
      <p:cxnSp>
        <p:nvCxnSpPr>
          <p:cNvPr id="13" name="꺾인 연결선 12"/>
          <p:cNvCxnSpPr>
            <a:stCxn id="33" idx="0"/>
            <a:endCxn id="89" idx="0"/>
          </p:cNvCxnSpPr>
          <p:nvPr/>
        </p:nvCxnSpPr>
        <p:spPr>
          <a:xfrm>
            <a:off x="2109025" y="2698049"/>
            <a:ext cx="501026" cy="40682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89" idx="2"/>
            <a:endCxn id="61" idx="0"/>
          </p:cNvCxnSpPr>
          <p:nvPr/>
        </p:nvCxnSpPr>
        <p:spPr>
          <a:xfrm>
            <a:off x="2610051" y="3425643"/>
            <a:ext cx="8064" cy="70169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/>
          <p:cNvCxnSpPr>
            <a:stCxn id="39" idx="2"/>
            <a:endCxn id="74" idx="0"/>
          </p:cNvCxnSpPr>
          <p:nvPr/>
        </p:nvCxnSpPr>
        <p:spPr>
          <a:xfrm>
            <a:off x="6162587" y="3429000"/>
            <a:ext cx="3217" cy="64807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그룹 71"/>
          <p:cNvGrpSpPr/>
          <p:nvPr/>
        </p:nvGrpSpPr>
        <p:grpSpPr>
          <a:xfrm flipH="1" flipV="1">
            <a:off x="2677594" y="3501008"/>
            <a:ext cx="133994" cy="372900"/>
            <a:chOff x="3031001" y="4240983"/>
            <a:chExt cx="140618" cy="709391"/>
          </a:xfrm>
        </p:grpSpPr>
        <p:sp>
          <p:nvSpPr>
            <p:cNvPr id="98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99" name="Freeform 176"/>
            <p:cNvSpPr>
              <a:spLocks noChangeArrowheads="1"/>
            </p:cNvSpPr>
            <p:nvPr/>
          </p:nvSpPr>
          <p:spPr bwMode="auto">
            <a:xfrm flipH="1">
              <a:off x="3031001" y="4240983"/>
              <a:ext cx="90051" cy="45452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</a:endParaRPr>
            </a:p>
          </p:txBody>
        </p:sp>
      </p:grpSp>
      <p:sp>
        <p:nvSpPr>
          <p:cNvPr id="100" name="Rectangle 179"/>
          <p:cNvSpPr>
            <a:spLocks noChangeArrowheads="1"/>
          </p:cNvSpPr>
          <p:nvPr/>
        </p:nvSpPr>
        <p:spPr bwMode="auto">
          <a:xfrm flipH="1">
            <a:off x="2757281" y="3655811"/>
            <a:ext cx="12596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  <a:latin typeface="+mn-ea"/>
              </a:rPr>
              <a:t>사전규격 등록</a:t>
            </a:r>
            <a:endParaRPr kumimoji="1" lang="en-US" altLang="ko-KR" sz="800" kern="0" smtClean="0">
              <a:solidFill>
                <a:prstClr val="black"/>
              </a:solidFill>
              <a:latin typeface="+mn-ea"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  <a:latin typeface="+mn-ea"/>
              </a:rPr>
              <a:t>입찰공고문 등록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10" name="꺾인 연결선 9"/>
          <p:cNvCxnSpPr>
            <a:stCxn id="61" idx="2"/>
            <a:endCxn id="59" idx="0"/>
          </p:cNvCxnSpPr>
          <p:nvPr/>
        </p:nvCxnSpPr>
        <p:spPr>
          <a:xfrm rot="5400000" flipH="1" flipV="1">
            <a:off x="2749213" y="2971644"/>
            <a:ext cx="1376584" cy="1638781"/>
          </a:xfrm>
          <a:prstGeom prst="bentConnector5">
            <a:avLst>
              <a:gd name="adj1" fmla="val -16606"/>
              <a:gd name="adj2" fmla="val 52210"/>
              <a:gd name="adj3" fmla="val 116606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순서도: 판단 58"/>
          <p:cNvSpPr>
            <a:spLocks noChangeAspect="1" noChangeArrowheads="1"/>
          </p:cNvSpPr>
          <p:nvPr/>
        </p:nvSpPr>
        <p:spPr bwMode="auto">
          <a:xfrm>
            <a:off x="3823162" y="3679037"/>
            <a:ext cx="901291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latin typeface="+mn-ea"/>
              </a:rPr>
              <a:t>선금지금</a:t>
            </a:r>
            <a:endParaRPr lang="ko-KR" altLang="en-US" sz="900" kern="0" dirty="0">
              <a:latin typeface="+mn-ea"/>
            </a:endParaRPr>
          </a:p>
        </p:txBody>
      </p:sp>
      <p:cxnSp>
        <p:nvCxnSpPr>
          <p:cNvPr id="21" name="직선 화살표 연결선 20"/>
          <p:cNvCxnSpPr>
            <a:stCxn id="59" idx="2"/>
            <a:endCxn id="67" idx="0"/>
          </p:cNvCxnSpPr>
          <p:nvPr/>
        </p:nvCxnSpPr>
        <p:spPr>
          <a:xfrm>
            <a:off x="4256896" y="3429000"/>
            <a:ext cx="16912" cy="25003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꺾인 연결선 23"/>
          <p:cNvCxnSpPr>
            <a:stCxn id="67" idx="2"/>
            <a:endCxn id="39" idx="0"/>
          </p:cNvCxnSpPr>
          <p:nvPr/>
        </p:nvCxnSpPr>
        <p:spPr>
          <a:xfrm rot="5400000" flipH="1" flipV="1">
            <a:off x="4756798" y="2625238"/>
            <a:ext cx="922798" cy="1888779"/>
          </a:xfrm>
          <a:prstGeom prst="bentConnector5">
            <a:avLst>
              <a:gd name="adj1" fmla="val -24772"/>
              <a:gd name="adj2" fmla="val 51917"/>
              <a:gd name="adj3" fmla="val 124772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타원 73"/>
          <p:cNvSpPr/>
          <p:nvPr/>
        </p:nvSpPr>
        <p:spPr>
          <a:xfrm>
            <a:off x="5990248" y="4077072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선금지급</a:t>
            </a:r>
          </a:p>
        </p:txBody>
      </p:sp>
      <p:grpSp>
        <p:nvGrpSpPr>
          <p:cNvPr id="75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7041232" y="2370623"/>
            <a:ext cx="684545" cy="410305"/>
            <a:chOff x="1696424" y="2542858"/>
            <a:chExt cx="628284" cy="410305"/>
          </a:xfrm>
        </p:grpSpPr>
        <p:sp>
          <p:nvSpPr>
            <p:cNvPr id="76" name="직사각형 75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7" name="육각형 76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628284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  <a:latin typeface="+mn-ea"/>
                </a:rPr>
                <a:t>물품입고</a:t>
              </a:r>
              <a:endParaRPr lang="en-US" altLang="ko-KR" sz="900" kern="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82" name="직사각형 81"/>
          <p:cNvSpPr/>
          <p:nvPr/>
        </p:nvSpPr>
        <p:spPr bwMode="auto">
          <a:xfrm>
            <a:off x="7769784" y="3109843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latin typeface="+mn-ea"/>
              </a:rPr>
              <a:t>5. </a:t>
            </a:r>
            <a:r>
              <a:rPr lang="ko-KR" altLang="en-US" sz="900" kern="0" smtClean="0">
                <a:latin typeface="+mn-ea"/>
              </a:rPr>
              <a:t>검수</a:t>
            </a:r>
            <a:endParaRPr lang="en-US" altLang="ko-KR" sz="900" kern="0" dirty="0">
              <a:latin typeface="+mn-ea"/>
            </a:endParaRPr>
          </a:p>
        </p:txBody>
      </p:sp>
      <p:cxnSp>
        <p:nvCxnSpPr>
          <p:cNvPr id="83" name="꺾인 연결선 82"/>
          <p:cNvCxnSpPr>
            <a:stCxn id="77" idx="0"/>
            <a:endCxn id="82" idx="0"/>
          </p:cNvCxnSpPr>
          <p:nvPr/>
        </p:nvCxnSpPr>
        <p:spPr>
          <a:xfrm>
            <a:off x="7725777" y="2575776"/>
            <a:ext cx="422220" cy="53406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타원 84"/>
          <p:cNvSpPr/>
          <p:nvPr/>
        </p:nvSpPr>
        <p:spPr>
          <a:xfrm>
            <a:off x="7968527" y="4077072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대금지불</a:t>
            </a:r>
          </a:p>
        </p:txBody>
      </p:sp>
      <p:cxnSp>
        <p:nvCxnSpPr>
          <p:cNvPr id="94" name="직선 화살표 연결선 93"/>
          <p:cNvCxnSpPr>
            <a:endCxn id="85" idx="0"/>
          </p:cNvCxnSpPr>
          <p:nvPr/>
        </p:nvCxnSpPr>
        <p:spPr>
          <a:xfrm>
            <a:off x="8122080" y="3346389"/>
            <a:ext cx="22003" cy="7306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직사각형 105"/>
          <p:cNvSpPr/>
          <p:nvPr/>
        </p:nvSpPr>
        <p:spPr bwMode="auto">
          <a:xfrm>
            <a:off x="8629687" y="3710256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latin typeface="+mn-ea"/>
              </a:rPr>
              <a:t>6. </a:t>
            </a:r>
            <a:r>
              <a:rPr lang="ko-KR" altLang="en-US" sz="900" kern="0" smtClean="0">
                <a:latin typeface="+mn-ea"/>
              </a:rPr>
              <a:t>물품수불</a:t>
            </a:r>
            <a:endParaRPr lang="en-US" altLang="ko-KR" sz="900" kern="0" dirty="0">
              <a:latin typeface="+mn-ea"/>
            </a:endParaRPr>
          </a:p>
        </p:txBody>
      </p:sp>
      <p:cxnSp>
        <p:nvCxnSpPr>
          <p:cNvPr id="30" name="꺾인 연결선 29"/>
          <p:cNvCxnSpPr>
            <a:stCxn id="82" idx="3"/>
            <a:endCxn id="106" idx="0"/>
          </p:cNvCxnSpPr>
          <p:nvPr/>
        </p:nvCxnSpPr>
        <p:spPr>
          <a:xfrm>
            <a:off x="8526209" y="3270229"/>
            <a:ext cx="481691" cy="44002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순서도: 문서 33"/>
          <p:cNvSpPr/>
          <p:nvPr/>
        </p:nvSpPr>
        <p:spPr>
          <a:xfrm>
            <a:off x="1568624" y="2575776"/>
            <a:ext cx="540401" cy="349168"/>
          </a:xfrm>
          <a:prstGeom prst="flowChartDocumen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사전규격</a:t>
            </a:r>
          </a:p>
        </p:txBody>
      </p:sp>
    </p:spTree>
    <p:extLst>
      <p:ext uri="{BB962C8B-B14F-4D97-AF65-F5344CB8AC3E}">
        <p14:creationId xmlns:p14="http://schemas.microsoft.com/office/powerpoint/2010/main" val="89606756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 smtClean="0">
                <a:solidFill>
                  <a:prstClr val="black"/>
                </a:solidFill>
                <a:latin typeface="+mn-ea"/>
              </a:rPr>
              <a:t>나라장터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조달일 경우 사전규격을 등록하고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입찰공고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개찰</a:t>
            </a:r>
            <a:r>
              <a:rPr kumimoji="1" lang="en-US" altLang="ko-KR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dirty="0">
                <a:solidFill>
                  <a:prstClr val="black"/>
                </a:solidFill>
                <a:latin typeface="+mn-ea"/>
              </a:rPr>
              <a:t>낙찰 처리하여 </a:t>
            </a:r>
            <a:r>
              <a:rPr kumimoji="1" lang="ko-KR" altLang="en-US">
                <a:solidFill>
                  <a:prstClr val="black"/>
                </a:solidFill>
                <a:latin typeface="+mn-ea"/>
              </a:rPr>
              <a:t>구매계약을 </a:t>
            </a:r>
            <a:r>
              <a:rPr kumimoji="1" lang="ko-KR" altLang="en-US" smtClean="0">
                <a:solidFill>
                  <a:prstClr val="black"/>
                </a:solidFill>
                <a:latin typeface="+mn-ea"/>
              </a:rPr>
              <a:t>하는 과정의 진행 데이터를 조달 사이트에서 취합하여 시스템에 기록하여 진행상태를 공유한다</a:t>
            </a:r>
            <a:r>
              <a:rPr kumimoji="1" lang="en-US" altLang="ko-KR" smtClean="0">
                <a:solidFill>
                  <a:prstClr val="black"/>
                </a:solidFill>
                <a:latin typeface="+mn-ea"/>
              </a:rPr>
              <a:t>.(RPA </a:t>
            </a:r>
            <a:r>
              <a:rPr kumimoji="1" lang="ko-KR" altLang="en-US" smtClean="0">
                <a:solidFill>
                  <a:prstClr val="black"/>
                </a:solidFill>
                <a:latin typeface="+mn-ea"/>
              </a:rPr>
              <a:t>솔루션도입</a:t>
            </a:r>
            <a:r>
              <a:rPr kumimoji="1" lang="en-US" altLang="ko-KR" smtClean="0">
                <a:solidFill>
                  <a:prstClr val="black"/>
                </a:solidFill>
                <a:latin typeface="+mn-ea"/>
              </a:rPr>
              <a:t>)</a:t>
            </a:r>
            <a:endParaRPr lang="ko-KR" altLang="en-US" dirty="0">
              <a:latin typeface="+mn-ea"/>
            </a:endParaRPr>
          </a:p>
          <a:p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6424995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3.5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구매진행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5/7)</a:t>
            </a:r>
            <a:endParaRPr lang="ko-KR" altLang="en-US" dirty="0"/>
          </a:p>
        </p:txBody>
      </p:sp>
      <p:graphicFrame>
        <p:nvGraphicFramePr>
          <p:cNvPr id="38" name="표 37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7973340"/>
              </p:ext>
            </p:extLst>
          </p:nvPr>
        </p:nvGraphicFramePr>
        <p:xfrm>
          <a:off x="344488" y="1924188"/>
          <a:ext cx="9181020" cy="4392488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722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160240"/>
                <a:gridCol w="2106234"/>
                <a:gridCol w="2106234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사전 규격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3.5.2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구매일정관리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3.5.3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진척도 모니터링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3.5.4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 집행률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069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나라장터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00937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돋움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구매담당</a:t>
                      </a:r>
                      <a:endParaRPr lang="ko-KR" altLang="en-US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0" name="직사각형 39"/>
          <p:cNvSpPr/>
          <p:nvPr/>
        </p:nvSpPr>
        <p:spPr bwMode="auto">
          <a:xfrm>
            <a:off x="2231838" y="249502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1 .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 요청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1" name="직사각형 40"/>
          <p:cNvSpPr/>
          <p:nvPr/>
        </p:nvSpPr>
        <p:spPr bwMode="auto">
          <a:xfrm>
            <a:off x="5097016" y="2498382"/>
            <a:ext cx="461787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계약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3152800" y="2492896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2</a:t>
            </a:r>
            <a:r>
              <a:rPr lang="en-US" altLang="ko-KR" sz="900" kern="0">
                <a:solidFill>
                  <a:prstClr val="black"/>
                </a:solidFill>
                <a:latin typeface="+mn-ea"/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입찰공고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45" name="꺾인 연결선 44"/>
          <p:cNvCxnSpPr>
            <a:stCxn id="96" idx="0"/>
            <a:endCxn id="40" idx="1"/>
          </p:cNvCxnSpPr>
          <p:nvPr/>
        </p:nvCxnSpPr>
        <p:spPr>
          <a:xfrm rot="5400000" flipH="1" flipV="1">
            <a:off x="1467538" y="3006964"/>
            <a:ext cx="1115853" cy="41274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순서도: 문서 95"/>
          <p:cNvSpPr/>
          <p:nvPr/>
        </p:nvSpPr>
        <p:spPr>
          <a:xfrm>
            <a:off x="1548889" y="3771264"/>
            <a:ext cx="540401" cy="349168"/>
          </a:xfrm>
          <a:prstGeom prst="flowChartDocumen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사전규격</a:t>
            </a:r>
          </a:p>
        </p:txBody>
      </p:sp>
      <p:sp>
        <p:nvSpPr>
          <p:cNvPr id="6" name="배지 5"/>
          <p:cNvSpPr/>
          <p:nvPr/>
        </p:nvSpPr>
        <p:spPr>
          <a:xfrm>
            <a:off x="3293691" y="3346389"/>
            <a:ext cx="1892729" cy="514659"/>
          </a:xfrm>
          <a:prstGeom prst="plaque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1400" smtClean="0">
                <a:solidFill>
                  <a:schemeClr val="tx1"/>
                </a:solidFill>
              </a:rPr>
              <a:t>RPA </a:t>
            </a:r>
            <a:r>
              <a:rPr lang="ko-KR" altLang="en-US" sz="1400" smtClean="0">
                <a:solidFill>
                  <a:schemeClr val="tx1"/>
                </a:solidFill>
              </a:rPr>
              <a:t>솔루션</a:t>
            </a:r>
            <a:r>
              <a:rPr lang="en-US" altLang="ko-KR" sz="1400" smtClean="0">
                <a:solidFill>
                  <a:schemeClr val="tx1"/>
                </a:solidFill>
              </a:rPr>
              <a:t> </a:t>
            </a:r>
            <a:endParaRPr lang="ko-KR" altLang="en-US" sz="1400" smtClean="0">
              <a:solidFill>
                <a:schemeClr val="tx1"/>
              </a:solidFill>
            </a:endParaRPr>
          </a:p>
        </p:txBody>
      </p:sp>
      <p:cxnSp>
        <p:nvCxnSpPr>
          <p:cNvPr id="9" name="직선 화살표 연결선 8"/>
          <p:cNvCxnSpPr>
            <a:stCxn id="40" idx="3"/>
            <a:endCxn id="42" idx="1"/>
          </p:cNvCxnSpPr>
          <p:nvPr/>
        </p:nvCxnSpPr>
        <p:spPr>
          <a:xfrm>
            <a:off x="2988263" y="2655411"/>
            <a:ext cx="164537" cy="61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>
            <a:stCxn id="42" idx="3"/>
            <a:endCxn id="41" idx="1"/>
          </p:cNvCxnSpPr>
          <p:nvPr/>
        </p:nvCxnSpPr>
        <p:spPr>
          <a:xfrm>
            <a:off x="3909225" y="2656025"/>
            <a:ext cx="1187791" cy="27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직사각형 96"/>
          <p:cNvSpPr/>
          <p:nvPr/>
        </p:nvSpPr>
        <p:spPr bwMode="auto">
          <a:xfrm>
            <a:off x="3985071" y="2489537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8" name="직사각형 97"/>
          <p:cNvSpPr/>
          <p:nvPr/>
        </p:nvSpPr>
        <p:spPr bwMode="auto">
          <a:xfrm>
            <a:off x="4509648" y="2476973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4.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개찰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24" name="직선 화살표 연결선 23"/>
          <p:cNvCxnSpPr>
            <a:stCxn id="42" idx="2"/>
            <a:endCxn id="6" idx="0"/>
          </p:cNvCxnSpPr>
          <p:nvPr/>
        </p:nvCxnSpPr>
        <p:spPr>
          <a:xfrm>
            <a:off x="3531013" y="2819153"/>
            <a:ext cx="709043" cy="52723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>
            <a:stCxn id="41" idx="2"/>
            <a:endCxn id="6" idx="0"/>
          </p:cNvCxnSpPr>
          <p:nvPr/>
        </p:nvCxnSpPr>
        <p:spPr>
          <a:xfrm flipH="1">
            <a:off x="4240056" y="2819153"/>
            <a:ext cx="1087854" cy="52723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>
            <a:stCxn id="40" idx="2"/>
            <a:endCxn id="6" idx="0"/>
          </p:cNvCxnSpPr>
          <p:nvPr/>
        </p:nvCxnSpPr>
        <p:spPr>
          <a:xfrm>
            <a:off x="2610051" y="2815796"/>
            <a:ext cx="1630005" cy="53059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화살표 연결선 29"/>
          <p:cNvCxnSpPr>
            <a:stCxn id="97" idx="2"/>
            <a:endCxn id="6" idx="0"/>
          </p:cNvCxnSpPr>
          <p:nvPr/>
        </p:nvCxnSpPr>
        <p:spPr>
          <a:xfrm>
            <a:off x="4209437" y="2815794"/>
            <a:ext cx="30619" cy="53059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화살표 연결선 31"/>
          <p:cNvCxnSpPr>
            <a:stCxn id="98" idx="2"/>
            <a:endCxn id="6" idx="0"/>
          </p:cNvCxnSpPr>
          <p:nvPr/>
        </p:nvCxnSpPr>
        <p:spPr>
          <a:xfrm flipH="1">
            <a:off x="4240056" y="2803230"/>
            <a:ext cx="493958" cy="54315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순서도: 자기 디스크 32"/>
          <p:cNvSpPr/>
          <p:nvPr/>
        </p:nvSpPr>
        <p:spPr>
          <a:xfrm>
            <a:off x="3747472" y="4293096"/>
            <a:ext cx="989504" cy="552200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1100" smtClean="0">
                <a:solidFill>
                  <a:schemeClr val="tx1"/>
                </a:solidFill>
              </a:rPr>
              <a:t>구매진행</a:t>
            </a:r>
          </a:p>
        </p:txBody>
      </p:sp>
      <p:cxnSp>
        <p:nvCxnSpPr>
          <p:cNvPr id="35" name="직선 화살표 연결선 34"/>
          <p:cNvCxnSpPr>
            <a:stCxn id="6" idx="2"/>
            <a:endCxn id="33" idx="1"/>
          </p:cNvCxnSpPr>
          <p:nvPr/>
        </p:nvCxnSpPr>
        <p:spPr>
          <a:xfrm>
            <a:off x="4240056" y="3861048"/>
            <a:ext cx="2168" cy="432048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순서도: 다중 문서 108"/>
          <p:cNvSpPr/>
          <p:nvPr/>
        </p:nvSpPr>
        <p:spPr>
          <a:xfrm>
            <a:off x="5961112" y="4437708"/>
            <a:ext cx="1008112" cy="72008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구매진행현황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모니터링</a:t>
            </a:r>
          </a:p>
        </p:txBody>
      </p:sp>
      <p:cxnSp>
        <p:nvCxnSpPr>
          <p:cNvPr id="111" name="꺾인 연결선 110"/>
          <p:cNvCxnSpPr>
            <a:stCxn id="33" idx="4"/>
            <a:endCxn id="109" idx="0"/>
          </p:cNvCxnSpPr>
          <p:nvPr/>
        </p:nvCxnSpPr>
        <p:spPr>
          <a:xfrm flipV="1">
            <a:off x="4736976" y="4437708"/>
            <a:ext cx="1797546" cy="131488"/>
          </a:xfrm>
          <a:prstGeom prst="bentConnector4">
            <a:avLst>
              <a:gd name="adj1" fmla="val 34050"/>
              <a:gd name="adj2" fmla="val 383837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순서도: 다중 문서 113"/>
          <p:cNvSpPr/>
          <p:nvPr/>
        </p:nvSpPr>
        <p:spPr>
          <a:xfrm>
            <a:off x="7898654" y="4293245"/>
            <a:ext cx="1008112" cy="72008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예산 집행현황</a:t>
            </a:r>
          </a:p>
        </p:txBody>
      </p:sp>
      <p:sp>
        <p:nvSpPr>
          <p:cNvPr id="115" name="타원 114"/>
          <p:cNvSpPr/>
          <p:nvPr/>
        </p:nvSpPr>
        <p:spPr>
          <a:xfrm>
            <a:off x="8796164" y="2756712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예산관리</a:t>
            </a:r>
          </a:p>
        </p:txBody>
      </p:sp>
      <p:cxnSp>
        <p:nvCxnSpPr>
          <p:cNvPr id="117" name="꺾인 연결선 116"/>
          <p:cNvCxnSpPr>
            <a:stCxn id="115" idx="2"/>
            <a:endCxn id="114" idx="0"/>
          </p:cNvCxnSpPr>
          <p:nvPr/>
        </p:nvCxnSpPr>
        <p:spPr>
          <a:xfrm rot="10800000" flipV="1">
            <a:off x="8472064" y="2924593"/>
            <a:ext cx="324100" cy="136865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그룹 71"/>
          <p:cNvGrpSpPr/>
          <p:nvPr/>
        </p:nvGrpSpPr>
        <p:grpSpPr>
          <a:xfrm flipH="1" flipV="1">
            <a:off x="8121352" y="5019994"/>
            <a:ext cx="220876" cy="425131"/>
            <a:chOff x="3031001" y="3781480"/>
            <a:chExt cx="234413" cy="1329688"/>
          </a:xfrm>
        </p:grpSpPr>
        <p:sp>
          <p:nvSpPr>
            <p:cNvPr id="120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44356" cy="466504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1" name="Freeform 176"/>
            <p:cNvSpPr>
              <a:spLocks noChangeArrowheads="1"/>
            </p:cNvSpPr>
            <p:nvPr/>
          </p:nvSpPr>
          <p:spPr bwMode="auto">
            <a:xfrm flipH="1">
              <a:off x="3031001" y="3781480"/>
              <a:ext cx="90050" cy="117893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2" name="Rectangle 179"/>
          <p:cNvSpPr>
            <a:spLocks noChangeArrowheads="1"/>
          </p:cNvSpPr>
          <p:nvPr/>
        </p:nvSpPr>
        <p:spPr bwMode="auto">
          <a:xfrm flipH="1">
            <a:off x="8342228" y="5168805"/>
            <a:ext cx="117367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사업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예산세목별 예산집행률 관리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pic>
        <p:nvPicPr>
          <p:cNvPr id="123" name="Picture 203" descr="comp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813466" y="3175240"/>
            <a:ext cx="818744" cy="7706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4" name="Picture 204" descr="comp27"/>
          <p:cNvPicPr>
            <a:picLocks noChangeAspect="1" noChangeArrowheads="1" noCrop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58" y="3317788"/>
            <a:ext cx="857250" cy="64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0746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614807"/>
              </p:ext>
            </p:extLst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/>
                <a:gridCol w="2916324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자문 요청 접수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3.6.2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자문 할당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3.6.3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자문 회신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195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돋움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413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81374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smtClean="0">
                <a:latin typeface="+mn-ea"/>
                <a:ea typeface="+mn-ea"/>
              </a:rPr>
              <a:t>현업의 법률자문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업무처리 방법 등의 요청에 대한 회신 처리 서비스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smtClean="0">
                <a:solidFill>
                  <a:prstClr val="black"/>
                </a:solidFill>
              </a:rPr>
              <a:t>3.4 </a:t>
            </a:r>
            <a:r>
              <a:rPr lang="ko-KR" altLang="en-US" smtClean="0">
                <a:solidFill>
                  <a:prstClr val="black"/>
                </a:solidFill>
              </a:rPr>
              <a:t>구매관리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9576101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3.6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행정서비스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1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4.2.3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6/7)</a:t>
            </a:r>
            <a:endParaRPr lang="ko-KR" altLang="en-US" dirty="0"/>
          </a:p>
        </p:txBody>
      </p:sp>
      <p:sp>
        <p:nvSpPr>
          <p:cNvPr id="50" name="직사각형 49"/>
          <p:cNvSpPr/>
          <p:nvPr/>
        </p:nvSpPr>
        <p:spPr bwMode="auto">
          <a:xfrm>
            <a:off x="1995527" y="542865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자문 요청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2" name="직사각형 31"/>
          <p:cNvSpPr/>
          <p:nvPr/>
        </p:nvSpPr>
        <p:spPr bwMode="auto">
          <a:xfrm>
            <a:off x="1989573" y="32939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자문 요청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접수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" name="직선 화살표 연결선 8"/>
          <p:cNvCxnSpPr>
            <a:stCxn id="50" idx="0"/>
            <a:endCxn id="32" idx="2"/>
          </p:cNvCxnSpPr>
          <p:nvPr/>
        </p:nvCxnSpPr>
        <p:spPr>
          <a:xfrm flipH="1" flipV="1">
            <a:off x="2367786" y="3614722"/>
            <a:ext cx="5954" cy="181393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/>
          <p:cNvSpPr/>
          <p:nvPr/>
        </p:nvSpPr>
        <p:spPr bwMode="auto">
          <a:xfrm>
            <a:off x="4592676" y="32939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자문 할당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1" name="직선 화살표 연결선 10"/>
          <p:cNvCxnSpPr>
            <a:stCxn id="32" idx="3"/>
            <a:endCxn id="35" idx="1"/>
          </p:cNvCxnSpPr>
          <p:nvPr/>
        </p:nvCxnSpPr>
        <p:spPr>
          <a:xfrm>
            <a:off x="2745998" y="3454337"/>
            <a:ext cx="184667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/>
          <p:cNvSpPr/>
          <p:nvPr/>
        </p:nvSpPr>
        <p:spPr bwMode="auto">
          <a:xfrm>
            <a:off x="7609256" y="329395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자문 작성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및 회신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4" name="직선 화살표 연결선 13"/>
          <p:cNvCxnSpPr>
            <a:stCxn id="35" idx="3"/>
            <a:endCxn id="40" idx="1"/>
          </p:cNvCxnSpPr>
          <p:nvPr/>
        </p:nvCxnSpPr>
        <p:spPr>
          <a:xfrm flipV="1">
            <a:off x="5349101" y="3454336"/>
            <a:ext cx="226015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구부러진 연결선 15"/>
          <p:cNvCxnSpPr>
            <a:stCxn id="40" idx="2"/>
            <a:endCxn id="50" idx="3"/>
          </p:cNvCxnSpPr>
          <p:nvPr/>
        </p:nvCxnSpPr>
        <p:spPr>
          <a:xfrm rot="5400000">
            <a:off x="4382550" y="1984124"/>
            <a:ext cx="1974323" cy="5235517"/>
          </a:xfrm>
          <a:prstGeom prst="curved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08473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차량 예약 후 차량의 운행거리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유류 사용량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운전자</a:t>
            </a:r>
            <a:r>
              <a:rPr lang="en-US" altLang="ko-KR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등의 </a:t>
            </a:r>
            <a:r>
              <a:rPr lang="ko-KR" altLang="en-US" sz="1600" smtClean="0">
                <a:latin typeface="+mn-ea"/>
                <a:ea typeface="+mn-ea"/>
              </a:rPr>
              <a:t>운행일지와 정비 이력을 등록하고</a:t>
            </a:r>
            <a:endParaRPr lang="en-US" altLang="ko-KR" sz="1600" smtClean="0">
              <a:latin typeface="+mn-ea"/>
              <a:ea typeface="+mn-ea"/>
            </a:endParaRPr>
          </a:p>
          <a:p>
            <a:r>
              <a:rPr lang="ko-KR" altLang="en-US" sz="1600" smtClean="0">
                <a:latin typeface="+mn-ea"/>
                <a:ea typeface="+mn-ea"/>
              </a:rPr>
              <a:t>하이패스 카드로 자동출금이 되면 해당 차량을 연결하여 하이패스 카드 출금처리 전표를 생성한다</a:t>
            </a:r>
            <a:r>
              <a:rPr lang="en-US" altLang="ko-KR" sz="1600" smtClean="0">
                <a:latin typeface="+mn-ea"/>
                <a:ea typeface="+mn-ea"/>
              </a:rPr>
              <a:t>.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3.4 </a:t>
            </a:r>
            <a:r>
              <a:rPr lang="ko-KR" altLang="en-US" sz="1200" smtClean="0">
                <a:solidFill>
                  <a:prstClr val="black"/>
                </a:solidFill>
              </a:rPr>
              <a:t>구매관리 </a:t>
            </a:r>
            <a:r>
              <a:rPr lang="ko-KR" altLang="en-US" sz="1200" dirty="0">
                <a:solidFill>
                  <a:prstClr val="black"/>
                </a:solidFill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145719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3.7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차량 관리</a:t>
                      </a:r>
                      <a:endParaRPr kumimoji="1" lang="ko-KR" altLang="en-US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8369326"/>
              </p:ext>
            </p:extLst>
          </p:nvPr>
        </p:nvGraphicFramePr>
        <p:xfrm>
          <a:off x="344488" y="1924188"/>
          <a:ext cx="9181020" cy="4385132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9442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100233"/>
                <a:gridCol w="2100234"/>
                <a:gridCol w="2100233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차량예약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3.7.2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차량운행 관리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차량정비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3.7.4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하이패스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2801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경영지원처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2819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1836768" y="4428918"/>
            <a:ext cx="860182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차량 예약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3.4.2 </a:t>
            </a:r>
            <a:r>
              <a:rPr lang="ko-KR" altLang="en-US" smtClean="0"/>
              <a:t>구매관리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4.2.2 </a:t>
            </a:r>
            <a:r>
              <a:rPr lang="ko-KR" altLang="en-US" sz="1800" smtClean="0">
                <a:solidFill>
                  <a:prstClr val="black"/>
                </a:solidFill>
              </a:rPr>
              <a:t>구매관리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7/7)</a:t>
            </a:r>
            <a:endParaRPr lang="ko-KR" altLang="en-US" dirty="0"/>
          </a:p>
        </p:txBody>
      </p:sp>
      <p:sp>
        <p:nvSpPr>
          <p:cNvPr id="32" name="직사각형 31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3737874" y="4428918"/>
            <a:ext cx="860182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차량 운행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5869793" y="4428918"/>
            <a:ext cx="860182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차량 정비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7905328" y="4428918"/>
            <a:ext cx="860182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하이패스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5" name="타원 34"/>
          <p:cNvSpPr/>
          <p:nvPr/>
        </p:nvSpPr>
        <p:spPr>
          <a:xfrm>
            <a:off x="9066384" y="2715349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자동출금</a:t>
            </a:r>
          </a:p>
        </p:txBody>
      </p:sp>
      <p:cxnSp>
        <p:nvCxnSpPr>
          <p:cNvPr id="9" name="꺾인 연결선 8"/>
          <p:cNvCxnSpPr>
            <a:stCxn id="35" idx="2"/>
            <a:endCxn id="34" idx="0"/>
          </p:cNvCxnSpPr>
          <p:nvPr/>
        </p:nvCxnSpPr>
        <p:spPr>
          <a:xfrm rot="10800000" flipV="1">
            <a:off x="8335420" y="2883230"/>
            <a:ext cx="730965" cy="1545688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8265368" y="2658277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하이패스카드</a:t>
            </a:r>
            <a:endParaRPr lang="ko-KR" altLang="en-US" sz="900" dirty="0" err="1" smtClean="0"/>
          </a:p>
        </p:txBody>
      </p:sp>
      <p:sp>
        <p:nvSpPr>
          <p:cNvPr id="12" name="순서도: 자기 디스크 11"/>
          <p:cNvSpPr/>
          <p:nvPr/>
        </p:nvSpPr>
        <p:spPr>
          <a:xfrm>
            <a:off x="1847148" y="2919258"/>
            <a:ext cx="864096" cy="365726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차량 정보</a:t>
            </a:r>
          </a:p>
        </p:txBody>
      </p:sp>
      <p:cxnSp>
        <p:nvCxnSpPr>
          <p:cNvPr id="14" name="직선 화살표 연결선 13"/>
          <p:cNvCxnSpPr>
            <a:stCxn id="49" idx="0"/>
            <a:endCxn id="12" idx="3"/>
          </p:cNvCxnSpPr>
          <p:nvPr/>
        </p:nvCxnSpPr>
        <p:spPr>
          <a:xfrm flipV="1">
            <a:off x="2266859" y="3284984"/>
            <a:ext cx="12337" cy="114393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순서도: 자기 디스크 44"/>
          <p:cNvSpPr/>
          <p:nvPr/>
        </p:nvSpPr>
        <p:spPr>
          <a:xfrm>
            <a:off x="3733960" y="3573016"/>
            <a:ext cx="864096" cy="365726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차량 운행정보</a:t>
            </a:r>
          </a:p>
        </p:txBody>
      </p:sp>
      <p:sp>
        <p:nvSpPr>
          <p:cNvPr id="46" name="순서도: 자기 디스크 45"/>
          <p:cNvSpPr/>
          <p:nvPr/>
        </p:nvSpPr>
        <p:spPr>
          <a:xfrm>
            <a:off x="5865040" y="3783354"/>
            <a:ext cx="864096" cy="365726"/>
          </a:xfrm>
          <a:prstGeom prst="flowChartMagneticDisk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차량 정비정보</a:t>
            </a:r>
          </a:p>
        </p:txBody>
      </p:sp>
      <p:cxnSp>
        <p:nvCxnSpPr>
          <p:cNvPr id="16" name="꺾인 연결선 15"/>
          <p:cNvCxnSpPr>
            <a:stCxn id="12" idx="4"/>
            <a:endCxn id="34" idx="0"/>
          </p:cNvCxnSpPr>
          <p:nvPr/>
        </p:nvCxnSpPr>
        <p:spPr>
          <a:xfrm>
            <a:off x="2711244" y="3102121"/>
            <a:ext cx="5624175" cy="132679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6342334" y="2877000"/>
            <a:ext cx="14189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차량 하이패스 카드번호</a:t>
            </a:r>
            <a:endParaRPr lang="ko-KR" altLang="en-US" sz="900" dirty="0" err="1" smtClean="0"/>
          </a:p>
        </p:txBody>
      </p:sp>
      <p:cxnSp>
        <p:nvCxnSpPr>
          <p:cNvPr id="19" name="직선 화살표 연결선 18"/>
          <p:cNvCxnSpPr>
            <a:stCxn id="32" idx="0"/>
            <a:endCxn id="45" idx="3"/>
          </p:cNvCxnSpPr>
          <p:nvPr/>
        </p:nvCxnSpPr>
        <p:spPr>
          <a:xfrm flipH="1" flipV="1">
            <a:off x="4166008" y="3938742"/>
            <a:ext cx="1957" cy="49017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>
            <a:stCxn id="33" idx="0"/>
            <a:endCxn id="46" idx="3"/>
          </p:cNvCxnSpPr>
          <p:nvPr/>
        </p:nvCxnSpPr>
        <p:spPr>
          <a:xfrm flipH="1" flipV="1">
            <a:off x="6297088" y="4149080"/>
            <a:ext cx="2796" cy="27983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화살표 연결선 24"/>
          <p:cNvCxnSpPr>
            <a:stCxn id="49" idx="3"/>
            <a:endCxn id="32" idx="1"/>
          </p:cNvCxnSpPr>
          <p:nvPr/>
        </p:nvCxnSpPr>
        <p:spPr>
          <a:xfrm>
            <a:off x="2696950" y="4589304"/>
            <a:ext cx="1040924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8196183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81548" y="886681"/>
            <a:ext cx="9180512" cy="870304"/>
          </a:xfrm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>
              <a:spcAft>
                <a:spcPct val="30000"/>
              </a:spcAft>
              <a:buClr>
                <a:srgbClr val="808080"/>
              </a:buClr>
            </a:pP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자산의 취득에서부터 배치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이동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후속지출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재물조사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불용처리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처분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감가상각</a:t>
            </a:r>
            <a:r>
              <a:rPr lang="en-US" altLang="ko-KR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보험가입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등 자산의 변동이력을 </a:t>
            </a:r>
            <a:r>
              <a:rPr lang="ko-KR" altLang="en-US" smtClean="0">
                <a:latin typeface="+mn-ea"/>
                <a:ea typeface="+mn-ea"/>
              </a:rPr>
              <a:t>개별 자산별로 관리하며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구매 및</a:t>
            </a:r>
            <a:r>
              <a:rPr lang="en-US" altLang="ko-KR" smtClean="0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지출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에 의한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자산 취득과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자산처분 및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감가상각 결과를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회계시스템에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제공하는 등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시스템간의 </a:t>
            </a:r>
            <a:r>
              <a:rPr lang="ko-KR" altLang="en-US">
                <a:solidFill>
                  <a:srgbClr val="000000"/>
                </a:solidFill>
                <a:latin typeface="+mn-ea"/>
                <a:ea typeface="+mn-ea"/>
              </a:rPr>
              <a:t>긴밀한 연계를 통하여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효율적인 업무처리 지원</a:t>
            </a:r>
            <a:endParaRPr lang="en-US" altLang="ko-KR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>
                <a:solidFill>
                  <a:prstClr val="black"/>
                </a:solidFill>
              </a:rPr>
              <a:t>업무프로세스 </a:t>
            </a:r>
            <a:r>
              <a:rPr lang="ko-KR" altLang="en-US" smtClean="0">
                <a:solidFill>
                  <a:prstClr val="black"/>
                </a:solidFill>
              </a:rPr>
              <a:t>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52800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1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4.2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자산취득관리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316" idx="0"/>
          </p:cNvCxnSpPr>
          <p:nvPr/>
        </p:nvCxnSpPr>
        <p:spPr bwMode="auto">
          <a:xfrm rot="5400000">
            <a:off x="3952042" y="1386945"/>
            <a:ext cx="270790" cy="24093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4.2.1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검수조서관리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>
            <a:off x="28827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058161"/>
            <a:ext cx="82633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 smtClean="0">
                <a:solidFill>
                  <a:prstClr val="white"/>
                </a:solidFill>
                <a:latin typeface="+mn-ea"/>
              </a:rPr>
              <a:t>4. </a:t>
            </a:r>
            <a:r>
              <a:rPr lang="ko-KR" altLang="en-US" sz="1300" b="1" kern="0" smtClean="0">
                <a:solidFill>
                  <a:prstClr val="white"/>
                </a:solidFill>
                <a:latin typeface="+mn-ea"/>
              </a:rPr>
              <a:t>자산관리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4.3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자산변동관리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5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4.4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재물조사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2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4.5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자산처분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395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4.6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00"/>
                </a:solidFill>
                <a:latin typeface="+mn-ea"/>
              </a:rPr>
              <a:t>감가상각</a:t>
            </a:r>
            <a:endParaRPr lang="ko-KR" altLang="en-US" sz="1100" b="1" kern="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cxnSpLocks/>
            <a:stCxn id="320" idx="2"/>
            <a:endCxn id="324" idx="0"/>
          </p:cNvCxnSpPr>
          <p:nvPr/>
        </p:nvCxnSpPr>
        <p:spPr bwMode="auto">
          <a:xfrm rot="16200000" flipH="1">
            <a:off x="6361441" y="1386943"/>
            <a:ext cx="270790" cy="240940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cxnSpLocks/>
            <a:stCxn id="320" idx="2"/>
            <a:endCxn id="321" idx="0"/>
          </p:cNvCxnSpPr>
          <p:nvPr/>
        </p:nvCxnSpPr>
        <p:spPr bwMode="auto">
          <a:xfrm rot="5400000">
            <a:off x="4554392" y="1989295"/>
            <a:ext cx="270790" cy="12046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cxnSpLocks/>
            <a:stCxn id="320" idx="2"/>
            <a:endCxn id="322" idx="0"/>
          </p:cNvCxnSpPr>
          <p:nvPr/>
        </p:nvCxnSpPr>
        <p:spPr bwMode="auto">
          <a:xfrm rot="16200000" flipH="1">
            <a:off x="5156741" y="2591643"/>
            <a:ext cx="270790" cy="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cxnSpLocks/>
            <a:stCxn id="320" idx="2"/>
            <a:endCxn id="323" idx="0"/>
          </p:cNvCxnSpPr>
          <p:nvPr/>
        </p:nvCxnSpPr>
        <p:spPr bwMode="auto">
          <a:xfrm rot="16200000" flipH="1">
            <a:off x="5759091" y="1989293"/>
            <a:ext cx="270790" cy="120470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2" y="3392997"/>
            <a:ext cx="1035169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4.3.1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자산이동관리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6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4.4.1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재물조사 계획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23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4.6.1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상각기준관리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3946770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4.3.2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자산분할관리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4500543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4.3.3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자산합병관리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5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3" y="5051406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4.3.4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후속적지출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4623" y="394677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4.4.2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재물조사목록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4087437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>
            <a:off x="52921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>
            <a:off x="6496837" y="3126413"/>
            <a:ext cx="35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>
            <a:off x="7701537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4087437" y="3815738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5292172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4087437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4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stCxn id="334" idx="2"/>
            <a:endCxn id="335" idx="0"/>
          </p:cNvCxnSpPr>
          <p:nvPr/>
        </p:nvCxnSpPr>
        <p:spPr bwMode="auto">
          <a:xfrm>
            <a:off x="4087437" y="492328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5" name="Rectangle 43">
            <a:extLst>
              <a:ext uri="{FF2B5EF4-FFF2-40B4-BE49-F238E27FC236}">
                <a16:creationId xmlns="" xmlns:a16="http://schemas.microsoft.com/office/drawing/2014/main" id="{5EA76E40-3173-4A0C-B239-99BF3DD71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651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4.7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00"/>
                </a:solidFill>
                <a:latin typeface="+mn-ea"/>
              </a:rPr>
              <a:t>자산결산</a:t>
            </a:r>
            <a:endParaRPr lang="ko-KR" altLang="en-US" sz="1100" b="1" kern="0" dirty="0">
              <a:solidFill>
                <a:srgbClr val="000000"/>
              </a:solidFill>
              <a:latin typeface="+mn-ea"/>
            </a:endParaRPr>
          </a:p>
        </p:txBody>
      </p:sp>
      <p:cxnSp>
        <p:nvCxnSpPr>
          <p:cNvPr id="346" name="꺾인 연결선 69">
            <a:extLst>
              <a:ext uri="{FF2B5EF4-FFF2-40B4-BE49-F238E27FC236}">
                <a16:creationId xmlns="" xmlns:a16="http://schemas.microsoft.com/office/drawing/2014/main" id="{135AD304-C4D2-4D92-8163-BDD70B7D769A}"/>
              </a:ext>
            </a:extLst>
          </p:cNvPr>
          <p:cNvCxnSpPr>
            <a:cxnSpLocks/>
            <a:stCxn id="320" idx="2"/>
            <a:endCxn id="345" idx="0"/>
          </p:cNvCxnSpPr>
          <p:nvPr/>
        </p:nvCxnSpPr>
        <p:spPr bwMode="auto">
          <a:xfrm rot="16200000" flipH="1">
            <a:off x="6963790" y="784594"/>
            <a:ext cx="270790" cy="36140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48" name="꺾인 연결선 91">
            <a:extLst>
              <a:ext uri="{FF2B5EF4-FFF2-40B4-BE49-F238E27FC236}">
                <a16:creationId xmlns="" xmlns:a16="http://schemas.microsoft.com/office/drawing/2014/main" id="{B7342035-BFB6-4623-978A-0DD668652F6A}"/>
              </a:ext>
            </a:extLst>
          </p:cNvPr>
          <p:cNvCxnSpPr>
            <a:cxnSpLocks/>
            <a:stCxn id="345" idx="2"/>
            <a:endCxn id="63" idx="0"/>
          </p:cNvCxnSpPr>
          <p:nvPr/>
        </p:nvCxnSpPr>
        <p:spPr bwMode="auto">
          <a:xfrm>
            <a:off x="8906235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323" y="3403352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4.5.1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자산불용처리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9323" y="3959098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4.5.2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자산처분신청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6496872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4.2.2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자산지출결의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44965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4.2.3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자산취득처리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55" name="Rectangle 43">
            <a:extLst>
              <a:ext uri="{FF2B5EF4-FFF2-40B4-BE49-F238E27FC236}">
                <a16:creationId xmlns="" xmlns:a16="http://schemas.microsoft.com/office/drawing/2014/main" id="{376807C9-270C-4295-BADB-AB6D87D4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505140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4.2.4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자산배치관리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2882772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2882772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8" name="꺾인 연결선 91">
            <a:extLst>
              <a:ext uri="{FF2B5EF4-FFF2-40B4-BE49-F238E27FC236}">
                <a16:creationId xmlns="" xmlns:a16="http://schemas.microsoft.com/office/drawing/2014/main" id="{BC32C143-0962-4169-9BDC-CE51A8DF9DB6}"/>
              </a:ext>
            </a:extLst>
          </p:cNvPr>
          <p:cNvCxnSpPr>
            <a:stCxn id="354" idx="2"/>
            <a:endCxn id="355" idx="0"/>
          </p:cNvCxnSpPr>
          <p:nvPr/>
        </p:nvCxnSpPr>
        <p:spPr bwMode="auto">
          <a:xfrm>
            <a:off x="2882772" y="4919337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9" name="Rectangle 43">
            <a:extLst>
              <a:ext uri="{FF2B5EF4-FFF2-40B4-BE49-F238E27FC236}">
                <a16:creationId xmlns="" xmlns:a16="http://schemas.microsoft.com/office/drawing/2014/main" id="{183944B1-7232-4A5E-8628-B115F000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223" y="560674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4.2.5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사용권자산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361" name="꺾인 연결선 91">
            <a:extLst>
              <a:ext uri="{FF2B5EF4-FFF2-40B4-BE49-F238E27FC236}">
                <a16:creationId xmlns="" xmlns:a16="http://schemas.microsoft.com/office/drawing/2014/main" id="{3D7259BF-8F70-46BF-880C-8A50AA91A40A}"/>
              </a:ext>
            </a:extLst>
          </p:cNvPr>
          <p:cNvCxnSpPr>
            <a:stCxn id="355" idx="2"/>
            <a:endCxn id="359" idx="0"/>
          </p:cNvCxnSpPr>
          <p:nvPr/>
        </p:nvCxnSpPr>
        <p:spPr bwMode="auto">
          <a:xfrm>
            <a:off x="2882772" y="5474147"/>
            <a:ext cx="0" cy="13259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23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4.6.2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감가상각처리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7701572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3" name="Rectangle 43">
            <a:extLst>
              <a:ext uri="{FF2B5EF4-FFF2-40B4-BE49-F238E27FC236}">
                <a16:creationId xmlns="" xmlns:a16="http://schemas.microsoft.com/office/drawing/2014/main" id="{9F316396-9A47-439A-9482-65354621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721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4.7.1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자산결산처리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64" name="Rectangle 43">
            <a:extLst>
              <a:ext uri="{FF2B5EF4-FFF2-40B4-BE49-F238E27FC236}">
                <a16:creationId xmlns="" xmlns:a16="http://schemas.microsoft.com/office/drawing/2014/main" id="{9DED2B55-68C8-41A5-BDA5-81831BDF0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8721" y="394479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36000" tIns="36000" rIns="36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4.7.2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자산대장관리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cxnSp>
        <p:nvCxnSpPr>
          <p:cNvPr id="65" name="꺾인 연결선 91">
            <a:extLst>
              <a:ext uri="{FF2B5EF4-FFF2-40B4-BE49-F238E27FC236}">
                <a16:creationId xmlns="" xmlns:a16="http://schemas.microsoft.com/office/drawing/2014/main" id="{2B41A8A5-8167-45A0-ABA9-096F9E17219E}"/>
              </a:ext>
            </a:extLst>
          </p:cNvPr>
          <p:cNvCxnSpPr>
            <a:cxnSpLocks/>
            <a:stCxn id="64" idx="0"/>
            <a:endCxn id="63" idx="2"/>
          </p:cNvCxnSpPr>
          <p:nvPr/>
        </p:nvCxnSpPr>
        <p:spPr bwMode="auto">
          <a:xfrm flipV="1">
            <a:off x="8906270" y="3815737"/>
            <a:ext cx="0" cy="129058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Level1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Level2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Level3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Rectangle 43">
            <a:extLst>
              <a:ext uri="{FF2B5EF4-FFF2-40B4-BE49-F238E27FC236}">
                <a16:creationId xmlns="" xmlns:a16="http://schemas.microsoft.com/office/drawing/2014/main" id="{E3D82401-A830-0602-D55A-3D7323EE7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724418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00"/>
                </a:solidFill>
                <a:latin typeface="+mn-ea"/>
              </a:rPr>
              <a:t>4.1 </a:t>
            </a:r>
            <a:endParaRPr lang="en-US" altLang="ko-KR" sz="1100" b="1" kern="0" dirty="0">
              <a:solidFill>
                <a:srgbClr val="000000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자산기초자료</a:t>
            </a:r>
            <a:endParaRPr lang="en-US" altLang="ko-KR" sz="1100" b="1" kern="0" spc="-15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1" name="Rectangle 43">
            <a:extLst>
              <a:ext uri="{FF2B5EF4-FFF2-40B4-BE49-F238E27FC236}">
                <a16:creationId xmlns="" xmlns:a16="http://schemas.microsoft.com/office/drawing/2014/main" id="{8C7218AA-FA01-AE9E-4347-DEE45D2A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3903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4.1.1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 분류코드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2" name="Rectangle 43">
            <a:extLst>
              <a:ext uri="{FF2B5EF4-FFF2-40B4-BE49-F238E27FC236}">
                <a16:creationId xmlns="" xmlns:a16="http://schemas.microsoft.com/office/drawing/2014/main" id="{85039B3D-D699-ACE0-8607-D30FCBAC3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9421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4.1.2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 사양관리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3" name="Rectangle 43">
            <a:extLst>
              <a:ext uri="{FF2B5EF4-FFF2-40B4-BE49-F238E27FC236}">
                <a16:creationId xmlns="" xmlns:a16="http://schemas.microsoft.com/office/drawing/2014/main" id="{318A1D3C-FCE5-FC6A-4E77-B5408E83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44939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4.1.3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자산담당자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4" name="Rectangle 43">
            <a:extLst>
              <a:ext uri="{FF2B5EF4-FFF2-40B4-BE49-F238E27FC236}">
                <a16:creationId xmlns="" xmlns:a16="http://schemas.microsoft.com/office/drawing/2014/main" id="{F9CE4552-706A-773D-CCD3-003F657CC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504878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4.1.4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자산가계정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41" name="Rectangle 43">
            <a:extLst>
              <a:ext uri="{FF2B5EF4-FFF2-40B4-BE49-F238E27FC236}">
                <a16:creationId xmlns="" xmlns:a16="http://schemas.microsoft.com/office/drawing/2014/main" id="{470A1225-C1B3-240B-66B3-C63DA61F2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5248" y="4518427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4.6.3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solidFill>
                  <a:srgbClr val="000000"/>
                </a:solidFill>
                <a:latin typeface="+mn-ea"/>
              </a:rPr>
              <a:t>감가상각 현황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42" name="꺾인 연결선 91">
            <a:extLst>
              <a:ext uri="{FF2B5EF4-FFF2-40B4-BE49-F238E27FC236}">
                <a16:creationId xmlns="" xmlns:a16="http://schemas.microsoft.com/office/drawing/2014/main" id="{5FB3F20A-8D33-C6E0-046B-666492CB4DCB}"/>
              </a:ext>
            </a:extLst>
          </p:cNvPr>
          <p:cNvCxnSpPr>
            <a:cxnSpLocks/>
            <a:stCxn id="41" idx="0"/>
            <a:endCxn id="59" idx="2"/>
          </p:cNvCxnSpPr>
          <p:nvPr/>
        </p:nvCxnSpPr>
        <p:spPr bwMode="auto">
          <a:xfrm flipH="1" flipV="1">
            <a:off x="7701572" y="4367537"/>
            <a:ext cx="1225" cy="150890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1" name="제목 2">
            <a:extLst>
              <a:ext uri="{FF2B5EF4-FFF2-40B4-BE49-F238E27FC236}">
                <a16:creationId xmlns="" xmlns:a16="http://schemas.microsoft.com/office/drawing/2014/main" id="{9551AA14-AB9F-55B5-4876-85ECDC318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3.5.1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3.5</a:t>
            </a:r>
            <a:r>
              <a:rPr lang="en-US" altLang="ko-KR" sz="1800" smtClean="0">
                <a:solidFill>
                  <a:prstClr val="black"/>
                </a:solidFill>
              </a:rPr>
              <a:t>.1.1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>
                <a:solidFill>
                  <a:prstClr val="black"/>
                </a:solidFill>
              </a:rPr>
              <a:t>업무분류 </a:t>
            </a:r>
            <a:r>
              <a:rPr lang="ko-KR" altLang="en-US" sz="1800" smtClean="0">
                <a:solidFill>
                  <a:prstClr val="black"/>
                </a:solidFill>
              </a:rPr>
              <a:t>구조도</a:t>
            </a:r>
            <a:endParaRPr lang="ko-KR" altLang="en-US" dirty="0"/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3396" y="4500543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4.4.3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재물조사결과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1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20" idx="0"/>
          </p:cNvCxnSpPr>
          <p:nvPr/>
        </p:nvCxnSpPr>
        <p:spPr bwMode="auto">
          <a:xfrm rot="5400000">
            <a:off x="3351003" y="783284"/>
            <a:ext cx="268169" cy="361409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0" idx="2"/>
            <a:endCxn id="21" idx="0"/>
          </p:cNvCxnSpPr>
          <p:nvPr/>
        </p:nvCxnSpPr>
        <p:spPr bwMode="auto">
          <a:xfrm flipH="1">
            <a:off x="1678002" y="3123792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1" idx="2"/>
            <a:endCxn id="22" idx="0"/>
          </p:cNvCxnSpPr>
          <p:nvPr/>
        </p:nvCxnSpPr>
        <p:spPr bwMode="auto">
          <a:xfrm>
            <a:off x="1678002" y="38131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2" idx="2"/>
            <a:endCxn id="23" idx="0"/>
          </p:cNvCxnSpPr>
          <p:nvPr/>
        </p:nvCxnSpPr>
        <p:spPr bwMode="auto">
          <a:xfrm>
            <a:off x="1678002" y="43649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3" idx="2"/>
            <a:endCxn id="24" idx="0"/>
          </p:cNvCxnSpPr>
          <p:nvPr/>
        </p:nvCxnSpPr>
        <p:spPr bwMode="auto">
          <a:xfrm>
            <a:off x="1678002" y="4916716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3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1775" y="449774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4.5.3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자산처분처리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80" name="Rectangle 43">
            <a:extLst>
              <a:ext uri="{FF2B5EF4-FFF2-40B4-BE49-F238E27FC236}">
                <a16:creationId xmlns="" xmlns:a16="http://schemas.microsoft.com/office/drawing/2014/main" id="{FB16AB14-DCB7-4BB3-B826-76FB9C0BA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9852" y="5606746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4.3.5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자산변경이력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82" name="꺾인 연결선 91">
            <a:extLst>
              <a:ext uri="{FF2B5EF4-FFF2-40B4-BE49-F238E27FC236}">
                <a16:creationId xmlns="" xmlns:a16="http://schemas.microsoft.com/office/drawing/2014/main" id="{5A327428-C648-4BDA-8B8C-10424E53D48C}"/>
              </a:ext>
            </a:extLst>
          </p:cNvPr>
          <p:cNvCxnSpPr>
            <a:endCxn id="80" idx="0"/>
          </p:cNvCxnSpPr>
          <p:nvPr/>
        </p:nvCxnSpPr>
        <p:spPr bwMode="auto">
          <a:xfrm>
            <a:off x="4087436" y="5478624"/>
            <a:ext cx="0" cy="12812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33236043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구매 및 자산취득 결의와 </a:t>
            </a:r>
            <a:r>
              <a:rPr lang="ko-KR" altLang="en-US">
                <a:latin typeface="+mn-ea"/>
                <a:ea typeface="+mn-ea"/>
              </a:rPr>
              <a:t>연계하여 자산 취득한 이후 이루어지는 이동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변경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감가상각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자본적 지출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분할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합병 등 모든 자산관련 </a:t>
            </a:r>
            <a:r>
              <a:rPr lang="ko-KR" altLang="en-US" smtClean="0">
                <a:latin typeface="+mn-ea"/>
                <a:ea typeface="+mn-ea"/>
              </a:rPr>
              <a:t>변동과 매각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</a:t>
            </a:r>
            <a:r>
              <a:rPr lang="ko-KR" altLang="en-US">
                <a:latin typeface="+mn-ea"/>
                <a:ea typeface="+mn-ea"/>
              </a:rPr>
              <a:t>폐기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손</a:t>
            </a:r>
            <a:r>
              <a:rPr lang="en-US" altLang="ko-KR">
                <a:latin typeface="+mn-ea"/>
                <a:ea typeface="+mn-ea"/>
              </a:rPr>
              <a:t>·</a:t>
            </a:r>
            <a:r>
              <a:rPr lang="ko-KR" altLang="en-US">
                <a:latin typeface="+mn-ea"/>
                <a:ea typeface="+mn-ea"/>
              </a:rPr>
              <a:t>망실 같은 자산의 처분에 이르는 전 라이프 사이클에 걸친 정보를 통합하여 관리하며</a:t>
            </a:r>
            <a:r>
              <a:rPr lang="en-US" altLang="ko-KR">
                <a:latin typeface="+mn-ea"/>
                <a:ea typeface="+mn-ea"/>
              </a:rPr>
              <a:t>, </a:t>
            </a:r>
            <a:r>
              <a:rPr lang="ko-KR" altLang="en-US">
                <a:latin typeface="+mn-ea"/>
                <a:ea typeface="+mn-ea"/>
              </a:rPr>
              <a:t>모든 회계처리는 자동으로 수행되어 </a:t>
            </a:r>
            <a:r>
              <a:rPr lang="ko-KR" altLang="en-US" smtClean="0">
                <a:latin typeface="+mn-ea"/>
                <a:ea typeface="+mn-ea"/>
              </a:rPr>
              <a:t>회계에 반영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3.5.1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5.1.2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4520" y="1628801"/>
          <a:ext cx="9180512" cy="4632960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803470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4255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42552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자산기초자료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자산시스템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관리에 필요한 기준정보 및 관리기준 정보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분류별 내용연수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자산구분별 사양관리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자산담당자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자산건별 가계정 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자산분류코드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자산의 계정과목별 대분류</a:t>
                      </a:r>
                      <a:r>
                        <a:rPr lang="en-US" altLang="ko-KR" sz="1000" b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중분류 체계 및 내용연수 </a:t>
                      </a: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55330139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 사양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자산구분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토지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구축물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기계장치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차량 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별 사양관리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557783185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자산담당자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각 부서의 자산담당자를 등록하여 해당 부서의 자산관리권한 부여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48509401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자산가계정관리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취득건별로 가계정번호를 부여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투입금액을 집계 후 취득시 처리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3555722"/>
                  </a:ext>
                </a:extLst>
              </a:tr>
              <a:tr h="242552"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자산취득관리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 대상의 인식 및 자산 취득 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취득전표 생성 및 배치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검수조서 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취득품목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자산지출결의 별도관리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자산취득전표 자동생성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개별자산의 배치관리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5.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사용권자산 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해지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58059666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검수조서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 검수자료 취합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및 검수자료의 추가 입력으로 취득대상 확보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자산지출결의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구매외의 자산 취득에 대한 지출결의 입력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토지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건물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용역 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자산취득처리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자산가계정과 취득대상자산 목록을 선택하여 자산취득 처리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 배치 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취득한 자산을 사용부서에 배치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개별자산 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 개시됨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사용권자산관리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사용권자산의 취득 및 해지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월별 상각내역 조회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42552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자산변경</a:t>
                      </a:r>
                      <a:endParaRPr lang="en-US" altLang="ko-KR" sz="1000" b="1" smtClean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자산이 이동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분할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합병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후속적지출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등의 변경사항을 관리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자산 분할 관리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자산 합병 관리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3.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자산변경이력 세부현황 제공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취득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이동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재물조사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합병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분할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상각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불용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처분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자산이동관리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인계부서의 이동 등록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숭인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인수부서 입력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일괄이동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자산분할관리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개별자산의 분할 등록 및 승인처리로 분할된 자산으로 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자산합병관리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자산의 합병 등록 및 승인처리로 하나의 자산으로 통합 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후속적지출관리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기존자산에 자본적지출에 의한 자산 명목가치 증가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255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자산변경이력조회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자산이 취득부터 처분까지의 상세이력 조회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0024036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3.5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자산관리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268252"/>
              </p:ext>
            </p:extLst>
          </p:nvPr>
        </p:nvGraphicFramePr>
        <p:xfrm>
          <a:off x="350002" y="881349"/>
          <a:ext cx="9180514" cy="5355938"/>
        </p:xfrm>
        <a:graphic>
          <a:graphicData uri="http://schemas.openxmlformats.org/drawingml/2006/table">
            <a:tbl>
              <a:tblPr firstRow="1" bandRow="1"/>
              <a:tblGrid>
                <a:gridCol w="4012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03883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0388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재물조사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재물조사 계획을 작성하여 배포하고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결과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 보고 및 확인 처리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재물조사 계획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자산목록 및 라벨인쇄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결과보고서 입력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확인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조치계획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조치계획에 대한 지시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승인처리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재물조사 계획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재물조사 계획을 작성하여 등록 및 각 부서에 일정을 알림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재무조사 목록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각 부서의 재물조사 일정에 따른 보유자산 목록 및 라벨 인쇄 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재물조사결과관리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재물조사 결과 등록 및 보고서 작성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보고서 확인 관리</a:t>
                      </a:r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303883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자산처분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불용처리 및 볼용자산의 처분신청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 전표  자동생성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latinLnBrk="1"/>
                      <a:endParaRPr lang="en-US" altLang="ko-KR" sz="1000" b="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불용신청 및 처분신청의 전자결재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처분전표 생성 자동화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자산불용처리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자산의 불용신청 및 불용처리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불용상태의 자산만 처분 가능함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자산처분신청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각 부서에서 매각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폐가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기증 등의 형태로 자산 처분을 신청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자산처분처리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부서장의 승인을 받은 처분신청에 대한 확정 및 처분전표 처리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9381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감가상각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취득시점부터 매월 감가상각을 수행하고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 전표를 자공생성하여 마감처리하고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마감된 년월은 취득을 금지하여 변동 방지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개별자산의 감가상각 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상각마감월의 취득불허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지연 취득은 일괄 상각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감가상각전표 자동생성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상각기준관리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분류를 기준으로 내용연수 일괄 수정 기능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03883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감가상각 처리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매월 감가상각 작업을 수행하여 상각전표를 생성하여 마감처리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감가상각 현황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감가상각 상세내역 및 집계표 조회 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03883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>
                        <a:lnSpc>
                          <a:spcPts val="1000"/>
                        </a:lnSpc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자산결산</a:t>
                      </a:r>
                      <a:endParaRPr lang="ko-KR" altLang="en-US" sz="10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건설중인 자산에 대한 결산 및 자산 장부를 조회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경영지원처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자산담당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건설중인자산 결산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장부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이월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증가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감소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상각누계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당월상각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잔액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건중자산결산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건설중인 자산에 대한 결산전표 생성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건설중인자산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투입비용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3038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자산 대장 조회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자산 대창 및 장부 조회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5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10" name="제목 2">
            <a:extLst>
              <a:ext uri="{FF2B5EF4-FFF2-40B4-BE49-F238E27FC236}">
                <a16:creationId xmlns="" xmlns:a16="http://schemas.microsoft.com/office/drawing/2014/main" id="{C0E42CB6-E8AF-E644-9D0E-99DEEE340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3.5.1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5.1.2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업무기능 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2/2)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8418051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자산을 계정과목</a:t>
            </a:r>
            <a:r>
              <a:rPr lang="en-US" altLang="ko-KR" smtClean="0">
                <a:latin typeface="+mn-ea"/>
                <a:ea typeface="+mn-ea"/>
              </a:rPr>
              <a:t>&gt;</a:t>
            </a:r>
            <a:r>
              <a:rPr lang="ko-KR" altLang="en-US" smtClean="0">
                <a:latin typeface="+mn-ea"/>
                <a:ea typeface="+mn-ea"/>
              </a:rPr>
              <a:t>대분류</a:t>
            </a:r>
            <a:r>
              <a:rPr lang="en-US" altLang="ko-KR" smtClean="0">
                <a:latin typeface="+mn-ea"/>
                <a:ea typeface="+mn-ea"/>
              </a:rPr>
              <a:t>&gt;</a:t>
            </a:r>
            <a:r>
              <a:rPr lang="ko-KR" altLang="en-US" smtClean="0">
                <a:latin typeface="+mn-ea"/>
                <a:ea typeface="+mn-ea"/>
              </a:rPr>
              <a:t>중분류로 세분화하여 분류하여 내용연수를 관리하고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자산별 세부사양을  입력하여 구분별 자산대장리하며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각 부서별로 자산담당자를 운영하여 업무처리를 원활하게 하며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취득건별로 가계정을 관리하여 </a:t>
            </a:r>
            <a:r>
              <a:rPr lang="ko-KR" altLang="en-US" dirty="0">
                <a:latin typeface="+mn-ea"/>
              </a:rPr>
              <a:t>자산 취득가를 용이하게 집계할 수 </a:t>
            </a:r>
            <a:r>
              <a:rPr lang="ko-KR" altLang="en-US">
                <a:latin typeface="+mn-ea"/>
              </a:rPr>
              <a:t>있도록 </a:t>
            </a:r>
            <a:r>
              <a:rPr lang="ko-KR" altLang="en-US" smtClean="0">
                <a:latin typeface="+mn-ea"/>
              </a:rPr>
              <a:t>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86471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4.1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자산기초자료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1590324"/>
              </p:ext>
            </p:extLst>
          </p:nvPr>
        </p:nvGraphicFramePr>
        <p:xfrm>
          <a:off x="344488" y="1989138"/>
          <a:ext cx="9181020" cy="432099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076230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자산분류코드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 사양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4.1.3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자산담당자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4.1.4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 가계정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05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3841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1" name="직사각형 120"/>
          <p:cNvSpPr/>
          <p:nvPr/>
        </p:nvSpPr>
        <p:spPr bwMode="auto">
          <a:xfrm>
            <a:off x="1885561" y="47256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/>
              <a:t>2</a:t>
            </a:r>
            <a:r>
              <a:rPr lang="en-US" altLang="ko-KR" sz="900" kern="0"/>
              <a:t>. </a:t>
            </a:r>
            <a:r>
              <a:rPr lang="ko-KR" altLang="en-US" sz="900" kern="0" smtClean="0"/>
              <a:t>자산취득시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분류 선택</a:t>
            </a:r>
            <a:endParaRPr lang="en-US" altLang="ko-KR" sz="900" kern="0" dirty="0"/>
          </a:p>
        </p:txBody>
      </p:sp>
      <p:sp>
        <p:nvSpPr>
          <p:cNvPr id="126" name="직사각형 125"/>
          <p:cNvSpPr/>
          <p:nvPr/>
        </p:nvSpPr>
        <p:spPr bwMode="auto">
          <a:xfrm>
            <a:off x="6393160" y="488415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담당자 조회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44" name="직사각형 143"/>
          <p:cNvSpPr/>
          <p:nvPr/>
        </p:nvSpPr>
        <p:spPr bwMode="auto">
          <a:xfrm>
            <a:off x="5817096" y="322767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자산담당자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1/7)</a:t>
            </a:r>
            <a:endParaRPr lang="ko-KR" altLang="en-US" dirty="0"/>
          </a:p>
        </p:txBody>
      </p:sp>
      <p:grpSp>
        <p:nvGrpSpPr>
          <p:cNvPr id="13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348908" y="2480366"/>
            <a:ext cx="756425" cy="410305"/>
            <a:chOff x="1696424" y="2542858"/>
            <a:chExt cx="756425" cy="410305"/>
          </a:xfrm>
        </p:grpSpPr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" name="육각형 1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자산분류기준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85561" y="325224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</a:t>
            </a:r>
            <a:r>
              <a:rPr lang="ko-KR" altLang="en-US" sz="900" kern="0" smtClean="0"/>
              <a:t>자산분류 등록 </a:t>
            </a:r>
            <a:endParaRPr lang="en-US" altLang="ko-KR" sz="900" kern="0" dirty="0"/>
          </a:p>
        </p:txBody>
      </p: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2349687" y="3573016"/>
            <a:ext cx="176240" cy="398184"/>
            <a:chOff x="3031001" y="4481826"/>
            <a:chExt cx="369129" cy="350335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47328" y="3612946"/>
            <a:ext cx="11095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계정과목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중분류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내용연수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사양항목 관리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3633681" y="3252244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자산별 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필수사양 등록</a:t>
            </a:r>
            <a:endParaRPr lang="en-US" altLang="ko-KR" sz="900" kern="0" dirty="0"/>
          </a:p>
        </p:txBody>
      </p:sp>
      <p:cxnSp>
        <p:nvCxnSpPr>
          <p:cNvPr id="101" name="Shape 266">
            <a:extLst>
              <a:ext uri="{FF2B5EF4-FFF2-40B4-BE49-F238E27FC236}">
                <a16:creationId xmlns="" xmlns:a16="http://schemas.microsoft.com/office/drawing/2014/main" id="{DF0F4B8A-339D-E46C-D7BF-9A40E47DD3A7}"/>
              </a:ext>
            </a:extLst>
          </p:cNvPr>
          <p:cNvCxnSpPr>
            <a:cxnSpLocks noChangeShapeType="1"/>
            <a:stCxn id="144" idx="2"/>
            <a:endCxn id="126" idx="1"/>
          </p:cNvCxnSpPr>
          <p:nvPr/>
        </p:nvCxnSpPr>
        <p:spPr bwMode="auto">
          <a:xfrm rot="16200000" flipH="1">
            <a:off x="5546189" y="4197564"/>
            <a:ext cx="1496091" cy="197851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7624169" y="321297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자산취득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가계정번호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="" xmlns:a16="http://schemas.microsoft.com/office/drawing/2014/main" id="{7B17C13D-213E-B522-71F4-19781386604E}"/>
              </a:ext>
            </a:extLst>
          </p:cNvPr>
          <p:cNvSpPr/>
          <p:nvPr/>
        </p:nvSpPr>
        <p:spPr bwMode="auto">
          <a:xfrm>
            <a:off x="8012999" y="487575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dash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가계정번호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별 누적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121352" y="3546937"/>
            <a:ext cx="274908" cy="298028"/>
            <a:chOff x="3031001" y="4361424"/>
            <a:chExt cx="265280" cy="559925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5705"/>
              <a:ext cx="90051" cy="37564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9537" y="3623256"/>
            <a:ext cx="9659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구매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자동부여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입력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자산지출결의</a:t>
            </a:r>
            <a:endParaRPr kumimoji="1" lang="en-US" altLang="ko-KR" sz="800" kern="0" smtClean="0">
              <a:solidFill>
                <a:prstClr val="black"/>
              </a:solidFill>
            </a:endParaRPr>
          </a:p>
        </p:txBody>
      </p:sp>
      <p:cxnSp>
        <p:nvCxnSpPr>
          <p:cNvPr id="158" name="직선 화살표 연결선 157">
            <a:extLst>
              <a:ext uri="{FF2B5EF4-FFF2-40B4-BE49-F238E27FC236}">
                <a16:creationId xmlns="" xmlns:a16="http://schemas.microsoft.com/office/drawing/2014/main" id="{D8439B0F-3092-BF8E-6908-AB28F8469DD5}"/>
              </a:ext>
            </a:extLst>
          </p:cNvPr>
          <p:cNvCxnSpPr>
            <a:stCxn id="19" idx="2"/>
            <a:endCxn id="121" idx="0"/>
          </p:cNvCxnSpPr>
          <p:nvPr/>
        </p:nvCxnSpPr>
        <p:spPr>
          <a:xfrm>
            <a:off x="2263774" y="3573016"/>
            <a:ext cx="0" cy="115265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꺾인 연결선 5"/>
          <p:cNvCxnSpPr>
            <a:stCxn id="15" idx="0"/>
            <a:endCxn id="19" idx="0"/>
          </p:cNvCxnSpPr>
          <p:nvPr/>
        </p:nvCxnSpPr>
        <p:spPr>
          <a:xfrm>
            <a:off x="2105333" y="2685519"/>
            <a:ext cx="158441" cy="56672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>
            <a:stCxn id="19" idx="3"/>
            <a:endCxn id="74" idx="1"/>
          </p:cNvCxnSpPr>
          <p:nvPr/>
        </p:nvCxnSpPr>
        <p:spPr>
          <a:xfrm flipV="1">
            <a:off x="2641986" y="3412630"/>
            <a:ext cx="991695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3667232" y="3593508"/>
            <a:ext cx="176240" cy="1081297"/>
            <a:chOff x="3031001" y="4481826"/>
            <a:chExt cx="369129" cy="951361"/>
          </a:xfrm>
        </p:grpSpPr>
        <p:sp>
          <p:nvSpPr>
            <p:cNvPr id="59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7443"/>
              <a:ext cx="90052" cy="88574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1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3467" y="3665556"/>
            <a:ext cx="1710421" cy="9848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토지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지번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지목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준공일자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.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전체면적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건축면적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연면적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건폐율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용적율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구축물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준공일자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기계장치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장비규격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모델명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차량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차종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차량번호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연식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배기량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소프트웨어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-Version,License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타입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,..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위치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설치일자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2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6445215" y="5219152"/>
            <a:ext cx="176240" cy="398184"/>
            <a:chOff x="3031001" y="4481826"/>
            <a:chExt cx="369129" cy="350335"/>
          </a:xfrm>
        </p:grpSpPr>
        <p:sp>
          <p:nvSpPr>
            <p:cNvPr id="63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42856" y="5259082"/>
            <a:ext cx="11095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 자료 수신자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재물조사 담당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불용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처분 신청자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" name="타원 10"/>
          <p:cNvSpPr/>
          <p:nvPr/>
        </p:nvSpPr>
        <p:spPr>
          <a:xfrm>
            <a:off x="7755221" y="4324912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지출결의</a:t>
            </a:r>
          </a:p>
        </p:txBody>
      </p:sp>
      <p:cxnSp>
        <p:nvCxnSpPr>
          <p:cNvPr id="17" name="꺾인 연결선 16"/>
          <p:cNvCxnSpPr>
            <a:stCxn id="11" idx="6"/>
            <a:endCxn id="128" idx="0"/>
          </p:cNvCxnSpPr>
          <p:nvPr/>
        </p:nvCxnSpPr>
        <p:spPr>
          <a:xfrm>
            <a:off x="8106333" y="4492793"/>
            <a:ext cx="284879" cy="38296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269768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84619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자산취득 자료로 검수조서와</a:t>
            </a:r>
            <a:r>
              <a:rPr lang="en-US" altLang="ko-KR" sz="1600" smtClean="0">
                <a:latin typeface="+mn-ea"/>
                <a:ea typeface="+mn-ea"/>
              </a:rPr>
              <a:t> </a:t>
            </a:r>
            <a:r>
              <a:rPr lang="ko-KR" altLang="en-US" sz="1600" smtClean="0">
                <a:latin typeface="+mn-ea"/>
                <a:ea typeface="+mn-ea"/>
              </a:rPr>
              <a:t>건별로 취득금액을 집계하기 위한 가계정번호를 관리하여 검수완료 시점에 자산취득 대상 물품을 인식하고 취득처리를 하여 자산 취득결의서를 생성하며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취득된 자산은 사용부서로 배치하고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사용권자산의 취득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해지 사항을 입력하여 사용권자산도 포함하여 관리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4172835"/>
              </p:ext>
            </p:extLst>
          </p:nvPr>
        </p:nvGraphicFramePr>
        <p:xfrm>
          <a:off x="344488" y="1989138"/>
          <a:ext cx="9181019" cy="4273686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4016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92261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48983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403960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검수조서관리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자산지출결의입력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자산취득결의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4.2.4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자산배치관리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4.2.5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사용권자산관리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588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경영지원처</a:t>
                      </a:r>
                      <a:endParaRPr lang="en-US" altLang="ko-KR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돋움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돋움"/>
                          <a:cs typeface="+mn-cs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10851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1587921" y="501472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 </a:t>
            </a:r>
            <a:r>
              <a:rPr lang="ko-KR" altLang="en-US" sz="900" kern="0" smtClean="0">
                <a:solidFill>
                  <a:srgbClr val="0000CC"/>
                </a:solidFill>
              </a:rPr>
              <a:t>검수조서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관리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1966134" y="5343021"/>
            <a:ext cx="270307" cy="462243"/>
            <a:chOff x="3031001" y="4369918"/>
            <a:chExt cx="283668" cy="462243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16696" y="5523105"/>
            <a:ext cx="1361270" cy="24622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검수조서 조회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srgbClr val="0000CC"/>
                </a:solidFill>
              </a:rPr>
              <a:t>검수조서 추가 입력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(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구매외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11" name="제목 2">
            <a:extLst>
              <a:ext uri="{FF2B5EF4-FFF2-40B4-BE49-F238E27FC236}">
                <a16:creationId xmlns="" xmlns:a16="http://schemas.microsoft.com/office/drawing/2014/main" id="{3BEF3A1F-1689-AD1C-63E8-F77896E1F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8913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2/7)</a:t>
            </a:r>
            <a:endParaRPr lang="ko-KR" altLang="en-US" dirty="0"/>
          </a:p>
        </p:txBody>
      </p:sp>
      <p:grpSp>
        <p:nvGrpSpPr>
          <p:cNvPr id="103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7898654" y="2564978"/>
            <a:ext cx="798762" cy="410305"/>
            <a:chOff x="1696424" y="2542858"/>
            <a:chExt cx="756425" cy="410305"/>
          </a:xfrm>
        </p:grpSpPr>
        <p:sp>
          <p:nvSpPr>
            <p:cNvPr id="104" name="직사각형 103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05" name="육각형 104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사용권자산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도입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39" name="타원 38"/>
          <p:cNvSpPr/>
          <p:nvPr/>
        </p:nvSpPr>
        <p:spPr>
          <a:xfrm>
            <a:off x="1347374" y="4149080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구매관리</a:t>
            </a:r>
          </a:p>
        </p:txBody>
      </p:sp>
      <p:cxnSp>
        <p:nvCxnSpPr>
          <p:cNvPr id="40" name="꺾인 연결선 39"/>
          <p:cNvCxnSpPr>
            <a:stCxn id="39" idx="6"/>
            <a:endCxn id="69" idx="0"/>
          </p:cNvCxnSpPr>
          <p:nvPr/>
        </p:nvCxnSpPr>
        <p:spPr>
          <a:xfrm>
            <a:off x="1698486" y="4316961"/>
            <a:ext cx="267648" cy="697766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392417" y="4513340"/>
            <a:ext cx="410369" cy="12311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검수조서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3080792" y="501801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 </a:t>
            </a:r>
            <a:r>
              <a:rPr lang="ko-KR" altLang="en-US" sz="900" kern="0" smtClean="0">
                <a:solidFill>
                  <a:srgbClr val="0000CC"/>
                </a:solidFill>
              </a:rPr>
              <a:t>자산취득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결의서 입력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9" name="직선 화살표 연결선 8"/>
          <p:cNvCxnSpPr>
            <a:stCxn id="69" idx="3"/>
            <a:endCxn id="44" idx="1"/>
          </p:cNvCxnSpPr>
          <p:nvPr/>
        </p:nvCxnSpPr>
        <p:spPr>
          <a:xfrm>
            <a:off x="2344346" y="5175113"/>
            <a:ext cx="736446" cy="328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4953000" y="24928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 </a:t>
            </a:r>
            <a:r>
              <a:rPr lang="ko-KR" altLang="en-US" sz="900" kern="0" smtClean="0">
                <a:solidFill>
                  <a:srgbClr val="0000CC"/>
                </a:solidFill>
              </a:rPr>
              <a:t>자산취득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인식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12" name="꺾인 연결선 11"/>
          <p:cNvCxnSpPr>
            <a:stCxn id="69" idx="3"/>
            <a:endCxn id="47" idx="1"/>
          </p:cNvCxnSpPr>
          <p:nvPr/>
        </p:nvCxnSpPr>
        <p:spPr>
          <a:xfrm flipV="1">
            <a:off x="2344346" y="2653282"/>
            <a:ext cx="2608654" cy="2521831"/>
          </a:xfrm>
          <a:prstGeom prst="bentConnector3">
            <a:avLst>
              <a:gd name="adj1" fmla="val 10325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직사각형 50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4376936" y="501052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2. </a:t>
            </a:r>
            <a:r>
              <a:rPr lang="ko-KR" altLang="en-US" sz="900" kern="0" smtClean="0"/>
              <a:t>자산취득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신청</a:t>
            </a:r>
            <a:endParaRPr lang="en-US" altLang="ko-KR" sz="900" kern="0" dirty="0"/>
          </a:p>
        </p:txBody>
      </p:sp>
      <p:sp>
        <p:nvSpPr>
          <p:cNvPr id="53" name="직사각형 52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4953000" y="34389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3. </a:t>
            </a:r>
            <a:r>
              <a:rPr lang="ko-KR" altLang="en-US" sz="900" kern="0" smtClean="0">
                <a:solidFill>
                  <a:srgbClr val="0000CC"/>
                </a:solidFill>
              </a:rPr>
              <a:t>자산취득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확정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16" name="꺾인 연결선 15"/>
          <p:cNvCxnSpPr>
            <a:stCxn id="51" idx="0"/>
            <a:endCxn id="53" idx="1"/>
          </p:cNvCxnSpPr>
          <p:nvPr/>
        </p:nvCxnSpPr>
        <p:spPr>
          <a:xfrm rot="5400000" flipH="1" flipV="1">
            <a:off x="4148497" y="4206024"/>
            <a:ext cx="1411155" cy="19785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5313981" y="2813667"/>
            <a:ext cx="253252" cy="357496"/>
            <a:chOff x="3031001" y="4474665"/>
            <a:chExt cx="265770" cy="357496"/>
          </a:xfrm>
        </p:grpSpPr>
        <p:sp>
          <p:nvSpPr>
            <p:cNvPr id="57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74665"/>
              <a:ext cx="175714" cy="17000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9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47488" y="2889004"/>
            <a:ext cx="1349728" cy="369332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검수 물품에서 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자산취득 대상이 아닌 물품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 제외처리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5155656" y="4317375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취등결의</a:t>
            </a:r>
          </a:p>
        </p:txBody>
      </p:sp>
      <p:cxnSp>
        <p:nvCxnSpPr>
          <p:cNvPr id="23" name="직선 화살표 연결선 22"/>
          <p:cNvCxnSpPr>
            <a:stCxn id="53" idx="2"/>
            <a:endCxn id="65" idx="0"/>
          </p:cNvCxnSpPr>
          <p:nvPr/>
        </p:nvCxnSpPr>
        <p:spPr>
          <a:xfrm flipH="1">
            <a:off x="5331212" y="3759756"/>
            <a:ext cx="1" cy="55761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4454753" y="5345710"/>
            <a:ext cx="270307" cy="462243"/>
            <a:chOff x="3031001" y="4369918"/>
            <a:chExt cx="283668" cy="462243"/>
          </a:xfrm>
        </p:grpSpPr>
        <p:sp>
          <p:nvSpPr>
            <p:cNvPr id="86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8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05315" y="5545890"/>
            <a:ext cx="787395" cy="24622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구매자산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srgbClr val="0000CC"/>
                </a:solidFill>
              </a:rPr>
              <a:t>공사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/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용역자산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6592621" y="343898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4. </a:t>
            </a:r>
            <a:r>
              <a:rPr lang="ko-KR" altLang="en-US" sz="900" kern="0" smtClean="0">
                <a:solidFill>
                  <a:srgbClr val="0000CC"/>
                </a:solidFill>
              </a:rPr>
              <a:t>자산배치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25" name="직선 화살표 연결선 24"/>
          <p:cNvCxnSpPr>
            <a:stCxn id="53" idx="3"/>
            <a:endCxn id="89" idx="1"/>
          </p:cNvCxnSpPr>
          <p:nvPr/>
        </p:nvCxnSpPr>
        <p:spPr>
          <a:xfrm>
            <a:off x="5709425" y="3599371"/>
            <a:ext cx="883196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원통 68">
            <a:extLst>
              <a:ext uri="{FF2B5EF4-FFF2-40B4-BE49-F238E27FC236}">
                <a16:creationId xmlns="" xmlns:a16="http://schemas.microsoft.com/office/drawing/2014/main" id="{4D420994-D82F-4483-86F2-50CDF8261CC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694016" y="4066097"/>
            <a:ext cx="638808" cy="374322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</a:rPr>
              <a:t>자산</a:t>
            </a:r>
            <a:endParaRPr kumimoji="1" lang="en-US" altLang="ko-KR" sz="800" b="1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kern="0" smtClean="0">
                <a:solidFill>
                  <a:prstClr val="black"/>
                </a:solidFill>
                <a:latin typeface="+mn-ea"/>
              </a:rPr>
              <a:t>MASTER</a:t>
            </a:r>
            <a:endParaRPr kumimoji="1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5" name="직선 화살표 연결선 44"/>
          <p:cNvCxnSpPr/>
          <p:nvPr/>
        </p:nvCxnSpPr>
        <p:spPr>
          <a:xfrm>
            <a:off x="5547488" y="3759756"/>
            <a:ext cx="413624" cy="38932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원통 68">
            <a:extLst>
              <a:ext uri="{FF2B5EF4-FFF2-40B4-BE49-F238E27FC236}">
                <a16:creationId xmlns="" xmlns:a16="http://schemas.microsoft.com/office/drawing/2014/main" id="{4D420994-D82F-4483-86F2-50CDF8261CC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5424" y="4068559"/>
            <a:ext cx="638808" cy="374322"/>
          </a:xfrm>
          <a:prstGeom prst="can">
            <a:avLst>
              <a:gd name="adj" fmla="val 25000"/>
            </a:avLst>
          </a:prstGeom>
          <a:noFill/>
          <a:ln w="1397" algn="ctr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kern="0" smtClean="0">
                <a:solidFill>
                  <a:prstClr val="black"/>
                </a:solidFill>
                <a:latin typeface="+mn-ea"/>
              </a:rPr>
              <a:t>개별자산</a:t>
            </a:r>
            <a:endParaRPr kumimoji="1" lang="ko-KR" altLang="en-US" sz="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95" name="직선 화살표 연결선 94"/>
          <p:cNvCxnSpPr/>
          <p:nvPr/>
        </p:nvCxnSpPr>
        <p:spPr>
          <a:xfrm>
            <a:off x="6768896" y="3762218"/>
            <a:ext cx="413624" cy="38932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직사각형 95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8481050" y="342900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 </a:t>
            </a:r>
            <a:r>
              <a:rPr lang="ko-KR" altLang="en-US" sz="900" kern="0" smtClean="0">
                <a:solidFill>
                  <a:srgbClr val="0000CC"/>
                </a:solidFill>
              </a:rPr>
              <a:t>사용권자산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등록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8481050" y="441450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2. </a:t>
            </a:r>
            <a:r>
              <a:rPr lang="ko-KR" altLang="en-US" sz="900" kern="0" smtClean="0">
                <a:solidFill>
                  <a:srgbClr val="0000CC"/>
                </a:solidFill>
              </a:rPr>
              <a:t>사용권자산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해지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48" name="꺾인 연결선 47"/>
          <p:cNvCxnSpPr>
            <a:stCxn id="105" idx="0"/>
            <a:endCxn id="96" idx="0"/>
          </p:cNvCxnSpPr>
          <p:nvPr/>
        </p:nvCxnSpPr>
        <p:spPr>
          <a:xfrm>
            <a:off x="8697416" y="2770131"/>
            <a:ext cx="161847" cy="65886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화살표 연결선 49"/>
          <p:cNvCxnSpPr>
            <a:stCxn id="96" idx="2"/>
            <a:endCxn id="97" idx="0"/>
          </p:cNvCxnSpPr>
          <p:nvPr/>
        </p:nvCxnSpPr>
        <p:spPr>
          <a:xfrm>
            <a:off x="8859263" y="3749771"/>
            <a:ext cx="0" cy="66473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5373720" y="4662863"/>
            <a:ext cx="253252" cy="357496"/>
            <a:chOff x="3031001" y="4474665"/>
            <a:chExt cx="265770" cy="357496"/>
          </a:xfrm>
        </p:grpSpPr>
        <p:sp>
          <p:nvSpPr>
            <p:cNvPr id="100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74665"/>
              <a:ext cx="175714" cy="17000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2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07227" y="4738200"/>
            <a:ext cx="1247136" cy="24622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결의서는 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결재를 통해 회계에 이첩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graphicFrame>
        <p:nvGraphicFramePr>
          <p:cNvPr id="49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0053022"/>
              </p:ext>
            </p:extLst>
          </p:nvPr>
        </p:nvGraphicFramePr>
        <p:xfrm>
          <a:off x="344488" y="1628800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4.2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 취득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213501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자산의 이동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자산관리자의 일괄이동 포함</a:t>
            </a:r>
            <a:r>
              <a:rPr lang="en-US" altLang="ko-KR" smtClean="0">
                <a:latin typeface="+mn-ea"/>
                <a:ea typeface="+mn-ea"/>
              </a:rPr>
              <a:t>), </a:t>
            </a:r>
            <a:r>
              <a:rPr lang="ko-KR" altLang="en-US" smtClean="0">
                <a:latin typeface="+mn-ea"/>
                <a:ea typeface="+mn-ea"/>
              </a:rPr>
              <a:t>자산의 합병 및 분할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후속적 지출 등 자산의 변동사항을 입력하여 자산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를 현행화함 </a:t>
            </a:r>
            <a:r>
              <a:rPr lang="en-US" altLang="ko-KR" smtClean="0">
                <a:latin typeface="+mn-ea"/>
                <a:ea typeface="+mn-ea"/>
              </a:rPr>
              <a:t>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3540887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4.3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 변동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413463"/>
              </p:ext>
            </p:extLst>
          </p:nvPr>
        </p:nvGraphicFramePr>
        <p:xfrm>
          <a:off x="344488" y="1989138"/>
          <a:ext cx="9181020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8417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713790"/>
                <a:gridCol w="1648984"/>
                <a:gridCol w="1648983"/>
                <a:gridCol w="1648983"/>
              </a:tblGrid>
              <a:tr h="359742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자산이동관리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4.3.2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자산분할 관리</a:t>
                      </a:r>
                      <a:endParaRPr lang="ko-KR" altLang="en-US" sz="1100" b="1" i="0" u="none" strike="noStrike" smtClean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4.3.3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자산합병관리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4.3.4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후속적지출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4.3.5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자산변경이력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350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3630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8" name="직사각형 157"/>
          <p:cNvSpPr/>
          <p:nvPr/>
        </p:nvSpPr>
        <p:spPr bwMode="auto">
          <a:xfrm>
            <a:off x="1367056" y="3645024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인계부서 이동 등록</a:t>
            </a:r>
            <a:endParaRPr lang="en-US" altLang="ko-KR" sz="900" kern="0" dirty="0"/>
          </a:p>
        </p:txBody>
      </p:sp>
      <p:sp>
        <p:nvSpPr>
          <p:cNvPr id="169" name="직사각형 168"/>
          <p:cNvSpPr/>
          <p:nvPr/>
        </p:nvSpPr>
        <p:spPr bwMode="auto">
          <a:xfrm>
            <a:off x="1367056" y="49411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accent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2. </a:t>
            </a:r>
            <a:r>
              <a:rPr lang="ko-KR" altLang="en-US" sz="900" kern="0" smtClean="0">
                <a:solidFill>
                  <a:srgbClr val="0000CC"/>
                </a:solidFill>
              </a:rPr>
              <a:t>인수부서</a:t>
            </a:r>
            <a:endParaRPr lang="en-US" altLang="ko-KR" sz="900" kern="0" smtClean="0">
              <a:solidFill>
                <a:srgbClr val="0000CC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srgbClr val="0000CC"/>
                </a:solidFill>
              </a:rPr>
              <a:t>배치 입력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768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3/7)</a:t>
            </a:r>
            <a:endParaRPr lang="ko-KR" altLang="en-US" dirty="0"/>
          </a:p>
        </p:txBody>
      </p:sp>
      <p:grpSp>
        <p:nvGrpSpPr>
          <p:cNvPr id="57" name="그룹 71"/>
          <p:cNvGrpSpPr/>
          <p:nvPr/>
        </p:nvGrpSpPr>
        <p:grpSpPr>
          <a:xfrm flipH="1" flipV="1">
            <a:off x="3571482" y="3476156"/>
            <a:ext cx="223372" cy="533566"/>
            <a:chOff x="3031001" y="4096130"/>
            <a:chExt cx="234413" cy="1015038"/>
          </a:xfrm>
        </p:grpSpPr>
        <p:sp>
          <p:nvSpPr>
            <p:cNvPr id="58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44356" cy="466504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Freeform 176"/>
            <p:cNvSpPr>
              <a:spLocks noChangeArrowheads="1"/>
            </p:cNvSpPr>
            <p:nvPr/>
          </p:nvSpPr>
          <p:spPr bwMode="auto">
            <a:xfrm flipH="1">
              <a:off x="3031001" y="4096130"/>
              <a:ext cx="90051" cy="73202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0" name="Rectangle 179"/>
          <p:cNvSpPr>
            <a:spLocks noChangeArrowheads="1"/>
          </p:cNvSpPr>
          <p:nvPr/>
        </p:nvSpPr>
        <p:spPr bwMode="auto">
          <a:xfrm flipH="1">
            <a:off x="3747191" y="3642184"/>
            <a:ext cx="192588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개별자산의 분할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분할전 감가상각 조회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</a:t>
            </a:r>
            <a:r>
              <a:rPr kumimoji="1" lang="en-US" altLang="ko-KR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 </a:t>
            </a:r>
            <a:r>
              <a:rPr kumimoji="1" lang="ko-KR" altLang="en-US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분할된 형대로 제공</a:t>
            </a:r>
            <a:r>
              <a:rPr kumimoji="1" lang="en-US" altLang="ko-KR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)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04" name="Shape 266"/>
          <p:cNvCxnSpPr>
            <a:cxnSpLocks noChangeShapeType="1"/>
            <a:stCxn id="158" idx="2"/>
            <a:endCxn id="47" idx="0"/>
          </p:cNvCxnSpPr>
          <p:nvPr/>
        </p:nvCxnSpPr>
        <p:spPr bwMode="auto">
          <a:xfrm flipH="1">
            <a:off x="1745268" y="3965795"/>
            <a:ext cx="1" cy="296082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3" name="Shape 266"/>
          <p:cNvCxnSpPr>
            <a:cxnSpLocks noChangeShapeType="1"/>
            <a:stCxn id="47" idx="2"/>
            <a:endCxn id="169" idx="0"/>
          </p:cNvCxnSpPr>
          <p:nvPr/>
        </p:nvCxnSpPr>
        <p:spPr bwMode="auto">
          <a:xfrm>
            <a:off x="1745268" y="4613867"/>
            <a:ext cx="1" cy="327301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4" name="순서도: 다중 문서 143"/>
          <p:cNvSpPr/>
          <p:nvPr/>
        </p:nvSpPr>
        <p:spPr>
          <a:xfrm>
            <a:off x="8179377" y="3151652"/>
            <a:ext cx="968700" cy="526857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변경이력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sp>
        <p:nvSpPr>
          <p:cNvPr id="47" name="순서도: 판단 58"/>
          <p:cNvSpPr>
            <a:spLocks noChangeAspect="1" noChangeArrowheads="1"/>
          </p:cNvSpPr>
          <p:nvPr/>
        </p:nvSpPr>
        <p:spPr bwMode="auto">
          <a:xfrm>
            <a:off x="1290640" y="4261877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인계부서</a:t>
            </a:r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ko-KR" altLang="en-US" sz="900" kern="0" dirty="0"/>
          </a:p>
        </p:txBody>
      </p:sp>
      <p:sp>
        <p:nvSpPr>
          <p:cNvPr id="48" name="순서도: 판단 58"/>
          <p:cNvSpPr>
            <a:spLocks noChangeAspect="1" noChangeArrowheads="1"/>
          </p:cNvSpPr>
          <p:nvPr/>
        </p:nvSpPr>
        <p:spPr bwMode="auto">
          <a:xfrm>
            <a:off x="1290640" y="5558021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인수부서</a:t>
            </a:r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ko-KR" altLang="en-US" sz="900" kern="0" dirty="0"/>
          </a:p>
        </p:txBody>
      </p:sp>
      <p:cxnSp>
        <p:nvCxnSpPr>
          <p:cNvPr id="10" name="직선 화살표 연결선 9"/>
          <p:cNvCxnSpPr>
            <a:stCxn id="169" idx="2"/>
            <a:endCxn id="48" idx="0"/>
          </p:cNvCxnSpPr>
          <p:nvPr/>
        </p:nvCxnSpPr>
        <p:spPr>
          <a:xfrm flipH="1">
            <a:off x="1745268" y="5261939"/>
            <a:ext cx="1" cy="29608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/>
          <p:cNvSpPr/>
          <p:nvPr/>
        </p:nvSpPr>
        <p:spPr bwMode="auto">
          <a:xfrm>
            <a:off x="2036335" y="2448388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4. </a:t>
            </a:r>
            <a:r>
              <a:rPr lang="ko-KR" altLang="en-US" sz="900" kern="0" smtClean="0"/>
              <a:t>일괄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이동처리</a:t>
            </a:r>
            <a:endParaRPr lang="en-US" altLang="ko-KR" sz="900" kern="0" dirty="0"/>
          </a:p>
        </p:txBody>
      </p:sp>
      <p:sp>
        <p:nvSpPr>
          <p:cNvPr id="54" name="직사각형 53"/>
          <p:cNvSpPr/>
          <p:nvPr/>
        </p:nvSpPr>
        <p:spPr bwMode="auto">
          <a:xfrm>
            <a:off x="2036335" y="3155383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3. </a:t>
            </a:r>
            <a:r>
              <a:rPr lang="ko-KR" altLang="en-US" sz="900" kern="0" smtClean="0"/>
              <a:t>부서이동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확정 처리</a:t>
            </a:r>
            <a:endParaRPr lang="en-US" altLang="ko-KR" sz="900" kern="0" dirty="0"/>
          </a:p>
        </p:txBody>
      </p:sp>
      <p:cxnSp>
        <p:nvCxnSpPr>
          <p:cNvPr id="14" name="꺾인 연결선 13"/>
          <p:cNvCxnSpPr>
            <a:stCxn id="48" idx="2"/>
            <a:endCxn id="54" idx="2"/>
          </p:cNvCxnSpPr>
          <p:nvPr/>
        </p:nvCxnSpPr>
        <p:spPr>
          <a:xfrm rot="5400000" flipH="1" flipV="1">
            <a:off x="862979" y="4358443"/>
            <a:ext cx="2433857" cy="669280"/>
          </a:xfrm>
          <a:prstGeom prst="bentConnector3">
            <a:avLst>
              <a:gd name="adj1" fmla="val -9392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2900303" y="2440914"/>
            <a:ext cx="684545" cy="410305"/>
            <a:chOff x="1696424" y="2542858"/>
            <a:chExt cx="628284" cy="410305"/>
          </a:xfrm>
        </p:grpSpPr>
        <p:sp>
          <p:nvSpPr>
            <p:cNvPr id="62" name="직사각형 61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3" name="육각형 62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628284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분할 요구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67" name="꺾인 연결선 66"/>
          <p:cNvCxnSpPr>
            <a:stCxn id="63" idx="0"/>
            <a:endCxn id="69" idx="0"/>
          </p:cNvCxnSpPr>
          <p:nvPr/>
        </p:nvCxnSpPr>
        <p:spPr>
          <a:xfrm>
            <a:off x="3584848" y="2646067"/>
            <a:ext cx="242832" cy="51069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/>
          <p:cNvSpPr/>
          <p:nvPr/>
        </p:nvSpPr>
        <p:spPr bwMode="auto">
          <a:xfrm>
            <a:off x="3449467" y="3156758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자산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분할처리</a:t>
            </a:r>
            <a:endParaRPr lang="en-US" altLang="ko-KR" sz="900" kern="0" dirty="0"/>
          </a:p>
        </p:txBody>
      </p:sp>
      <p:grpSp>
        <p:nvGrpSpPr>
          <p:cNvPr id="70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4583515" y="2438340"/>
            <a:ext cx="684545" cy="410305"/>
            <a:chOff x="1696424" y="2542858"/>
            <a:chExt cx="628284" cy="410305"/>
          </a:xfrm>
        </p:grpSpPr>
        <p:sp>
          <p:nvSpPr>
            <p:cNvPr id="71" name="직사각형 70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72" name="육각형 71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628284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합병 요구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cxnSp>
        <p:nvCxnSpPr>
          <p:cNvPr id="73" name="꺾인 연결선 72"/>
          <p:cNvCxnSpPr>
            <a:stCxn id="72" idx="0"/>
            <a:endCxn id="74" idx="0"/>
          </p:cNvCxnSpPr>
          <p:nvPr/>
        </p:nvCxnSpPr>
        <p:spPr>
          <a:xfrm>
            <a:off x="5268060" y="2643493"/>
            <a:ext cx="242832" cy="510691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/>
          <p:cNvSpPr/>
          <p:nvPr/>
        </p:nvSpPr>
        <p:spPr bwMode="auto">
          <a:xfrm>
            <a:off x="5132679" y="3154184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자산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합병처리</a:t>
            </a:r>
            <a:endParaRPr lang="en-US" altLang="ko-KR" sz="900" kern="0" dirty="0"/>
          </a:p>
        </p:txBody>
      </p:sp>
      <p:grpSp>
        <p:nvGrpSpPr>
          <p:cNvPr id="75" name="그룹 71"/>
          <p:cNvGrpSpPr/>
          <p:nvPr/>
        </p:nvGrpSpPr>
        <p:grpSpPr>
          <a:xfrm flipH="1" flipV="1">
            <a:off x="5182498" y="3478082"/>
            <a:ext cx="223372" cy="508297"/>
            <a:chOff x="3031001" y="4144200"/>
            <a:chExt cx="234413" cy="966968"/>
          </a:xfrm>
        </p:grpSpPr>
        <p:sp>
          <p:nvSpPr>
            <p:cNvPr id="76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44356" cy="466504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176"/>
            <p:cNvSpPr>
              <a:spLocks noChangeArrowheads="1"/>
            </p:cNvSpPr>
            <p:nvPr/>
          </p:nvSpPr>
          <p:spPr bwMode="auto">
            <a:xfrm flipH="1">
              <a:off x="3031001" y="4144200"/>
              <a:ext cx="90051" cy="604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8" name="Rectangle 179"/>
          <p:cNvSpPr>
            <a:spLocks noChangeArrowheads="1"/>
          </p:cNvSpPr>
          <p:nvPr/>
        </p:nvSpPr>
        <p:spPr bwMode="auto">
          <a:xfrm flipH="1">
            <a:off x="5403375" y="3644108"/>
            <a:ext cx="192588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자산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MASTER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의 합병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개별자산 형태로 존재 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 </a:t>
            </a:r>
            <a:r>
              <a:rPr kumimoji="1" lang="en-US" altLang="ko-KR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 </a:t>
            </a:r>
            <a:r>
              <a:rPr kumimoji="1" lang="ko-KR" altLang="en-US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자산번호만 합병</a:t>
            </a:r>
            <a:r>
              <a:rPr kumimoji="1" lang="en-US" altLang="ko-KR" sz="800" kern="0" smtClean="0">
                <a:solidFill>
                  <a:prstClr val="black"/>
                </a:solidFill>
                <a:sym typeface="Wingdings" panose="05000000000000000000" pitchFamily="2" charset="2"/>
              </a:rPr>
              <a:t>)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 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1745266" y="4582648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sp>
        <p:nvSpPr>
          <p:cNvPr id="80" name="TextBox 79"/>
          <p:cNvSpPr txBox="1"/>
          <p:nvPr/>
        </p:nvSpPr>
        <p:spPr>
          <a:xfrm>
            <a:off x="1731116" y="5870563"/>
            <a:ext cx="24237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/>
              <a:t>Y</a:t>
            </a:r>
            <a:endParaRPr lang="ko-KR" altLang="en-US" sz="800" dirty="0"/>
          </a:p>
        </p:txBody>
      </p:sp>
      <p:grpSp>
        <p:nvGrpSpPr>
          <p:cNvPr id="81" name="그룹 75">
            <a:extLst>
              <a:ext uri="{FF2B5EF4-FFF2-40B4-BE49-F238E27FC236}">
                <a16:creationId xmlns="" xmlns:a16="http://schemas.microsoft.com/office/drawing/2014/main" id="{92F947FE-75C9-41DF-500A-CDCFA32276E2}"/>
              </a:ext>
            </a:extLst>
          </p:cNvPr>
          <p:cNvGrpSpPr/>
          <p:nvPr/>
        </p:nvGrpSpPr>
        <p:grpSpPr>
          <a:xfrm>
            <a:off x="6242979" y="2420888"/>
            <a:ext cx="684545" cy="410305"/>
            <a:chOff x="1696424" y="2542858"/>
            <a:chExt cx="628284" cy="410305"/>
          </a:xfrm>
        </p:grpSpPr>
        <p:sp>
          <p:nvSpPr>
            <p:cNvPr id="82" name="직사각형 81">
              <a:extLst>
                <a:ext uri="{FF2B5EF4-FFF2-40B4-BE49-F238E27FC236}">
                  <a16:creationId xmlns="" xmlns:a16="http://schemas.microsoft.com/office/drawing/2014/main" id="{18D2F032-4CFC-D2DA-34FE-B3F0A0653438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83" name="육각형 82">
              <a:extLst>
                <a:ext uri="{FF2B5EF4-FFF2-40B4-BE49-F238E27FC236}">
                  <a16:creationId xmlns="" xmlns:a16="http://schemas.microsoft.com/office/drawing/2014/main" id="{2CD4025B-B173-5255-172F-F2CA41A3370B}"/>
                </a:ext>
              </a:extLst>
            </p:cNvPr>
            <p:cNvSpPr/>
            <p:nvPr/>
          </p:nvSpPr>
          <p:spPr bwMode="auto">
            <a:xfrm>
              <a:off x="1696424" y="2542858"/>
              <a:ext cx="628284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후속지출발생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84" name="직사각형 83"/>
          <p:cNvSpPr/>
          <p:nvPr/>
        </p:nvSpPr>
        <p:spPr bwMode="auto">
          <a:xfrm>
            <a:off x="6951272" y="3119878"/>
            <a:ext cx="756425" cy="32077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후속적지출</a:t>
            </a:r>
            <a:endParaRPr lang="en-US" altLang="ko-KR" sz="900" kern="0" smtClean="0"/>
          </a:p>
          <a:p>
            <a:pPr algn="ctr" latinLnBrk="0"/>
            <a:r>
              <a:rPr lang="ko-KR" altLang="en-US" sz="900" kern="0" smtClean="0"/>
              <a:t>입력</a:t>
            </a:r>
            <a:endParaRPr lang="en-US" altLang="ko-KR" sz="900" kern="0" dirty="0"/>
          </a:p>
        </p:txBody>
      </p:sp>
      <p:cxnSp>
        <p:nvCxnSpPr>
          <p:cNvPr id="19" name="꺾인 연결선 18"/>
          <p:cNvCxnSpPr>
            <a:stCxn id="83" idx="0"/>
            <a:endCxn id="84" idx="0"/>
          </p:cNvCxnSpPr>
          <p:nvPr/>
        </p:nvCxnSpPr>
        <p:spPr>
          <a:xfrm>
            <a:off x="6927524" y="2626041"/>
            <a:ext cx="401961" cy="49383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그룹 71"/>
          <p:cNvGrpSpPr/>
          <p:nvPr/>
        </p:nvGrpSpPr>
        <p:grpSpPr>
          <a:xfrm flipH="1" flipV="1">
            <a:off x="2110164" y="2772481"/>
            <a:ext cx="133994" cy="296477"/>
            <a:chOff x="3031001" y="4386367"/>
            <a:chExt cx="140618" cy="564007"/>
          </a:xfrm>
        </p:grpSpPr>
        <p:sp>
          <p:nvSpPr>
            <p:cNvPr id="86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176"/>
            <p:cNvSpPr>
              <a:spLocks noChangeArrowheads="1"/>
            </p:cNvSpPr>
            <p:nvPr/>
          </p:nvSpPr>
          <p:spPr bwMode="auto">
            <a:xfrm flipH="1">
              <a:off x="3031001" y="4386367"/>
              <a:ext cx="90051" cy="37564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8" name="Rectangle 179"/>
          <p:cNvSpPr>
            <a:spLocks noChangeArrowheads="1"/>
          </p:cNvSpPr>
          <p:nvPr/>
        </p:nvSpPr>
        <p:spPr bwMode="auto">
          <a:xfrm flipH="1">
            <a:off x="2189851" y="2864603"/>
            <a:ext cx="12596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 개편시 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  일괄이동 처리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57103977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재물조사 계획을 작성하여 승인을 받고 배포하면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각 부서의 재물조사 담당자는 재물조사 대상 목록과 부착할 라벨지를 출력하여 재물조사를 실시하고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이상이 있는 자산의 차이수량과 자산 상태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조치 방안을 입력하여 보고서를 작성하여 보고하고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z="1600" smtClean="0">
                <a:solidFill>
                  <a:prstClr val="black"/>
                </a:solidFill>
                <a:latin typeface="+mn-ea"/>
                <a:ea typeface="+mn-ea"/>
              </a:rPr>
              <a:t>자산담당은 조치 의견을 입력하여 회신한다</a:t>
            </a:r>
            <a:r>
              <a:rPr kumimoji="1" lang="en-US" altLang="ko-KR" sz="1600" smtClean="0">
                <a:solidFill>
                  <a:prstClr val="black"/>
                </a:solidFill>
                <a:latin typeface="+mn-ea"/>
                <a:ea typeface="+mn-ea"/>
              </a:rPr>
              <a:t>.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3.5 </a:t>
            </a:r>
            <a:r>
              <a:rPr lang="ko-KR" altLang="en-US" sz="1200" smtClean="0">
                <a:solidFill>
                  <a:prstClr val="black"/>
                </a:solidFill>
              </a:rPr>
              <a:t>자산관리 </a:t>
            </a:r>
            <a:r>
              <a:rPr lang="ko-KR" altLang="en-US" sz="1200" dirty="0">
                <a:solidFill>
                  <a:prstClr val="black"/>
                </a:solidFill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6487705"/>
              </p:ext>
            </p:extLst>
          </p:nvPr>
        </p:nvGraphicFramePr>
        <p:xfrm>
          <a:off x="344488" y="1637621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4.4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재물조사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5639261"/>
              </p:ext>
            </p:extLst>
          </p:nvPr>
        </p:nvGraphicFramePr>
        <p:xfrm>
          <a:off x="344488" y="1916832"/>
          <a:ext cx="9181020" cy="431210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재물조사 게획 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4.4.2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재물조사 목록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재물조사 결과 보고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274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9" name="직사각형 88"/>
          <p:cNvSpPr/>
          <p:nvPr/>
        </p:nvSpPr>
        <p:spPr bwMode="auto">
          <a:xfrm>
            <a:off x="2231838" y="314096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 </a:t>
            </a:r>
            <a:r>
              <a:rPr lang="ko-KR" altLang="en-US" sz="900" kern="0" smtClean="0">
                <a:solidFill>
                  <a:prstClr val="black"/>
                </a:solidFill>
              </a:rPr>
              <a:t>재물조사 계획 작성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90" name="직사각형 89"/>
          <p:cNvSpPr/>
          <p:nvPr/>
        </p:nvSpPr>
        <p:spPr bwMode="auto">
          <a:xfrm>
            <a:off x="7238198" y="55172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재물조사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결과 보고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stCxn id="61" idx="0"/>
            <a:endCxn id="89" idx="2"/>
          </p:cNvCxnSpPr>
          <p:nvPr/>
        </p:nvCxnSpPr>
        <p:spPr bwMode="auto">
          <a:xfrm flipV="1">
            <a:off x="2610051" y="3461739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520952" y="429309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재물조사 준비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1" name="Shape 266"/>
          <p:cNvCxnSpPr>
            <a:cxnSpLocks noChangeShapeType="1"/>
            <a:stCxn id="47" idx="3"/>
            <a:endCxn id="90" idx="1"/>
          </p:cNvCxnSpPr>
          <p:nvPr/>
        </p:nvCxnSpPr>
        <p:spPr bwMode="auto">
          <a:xfrm>
            <a:off x="5283834" y="5677618"/>
            <a:ext cx="1954364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" name="그룹 21"/>
          <p:cNvGrpSpPr/>
          <p:nvPr/>
        </p:nvGrpSpPr>
        <p:grpSpPr>
          <a:xfrm>
            <a:off x="1352600" y="2492896"/>
            <a:ext cx="756425" cy="410305"/>
            <a:chOff x="1446895" y="3951573"/>
            <a:chExt cx="756425" cy="410305"/>
          </a:xfrm>
        </p:grpSpPr>
        <p:sp>
          <p:nvSpPr>
            <p:cNvPr id="32" name="직사각형 31"/>
            <p:cNvSpPr/>
            <p:nvPr/>
          </p:nvSpPr>
          <p:spPr>
            <a:xfrm>
              <a:off x="1575377" y="3962568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3" name="육각형 32"/>
            <p:cNvSpPr/>
            <p:nvPr/>
          </p:nvSpPr>
          <p:spPr bwMode="auto">
            <a:xfrm>
              <a:off x="1446895" y="3951573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재물조사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59" name="직사각형 58"/>
          <p:cNvSpPr/>
          <p:nvPr/>
        </p:nvSpPr>
        <p:spPr bwMode="auto">
          <a:xfrm>
            <a:off x="2231838" y="4293096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재물조사 계획 배포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4/7)</a:t>
            </a:r>
            <a:endParaRPr lang="ko-KR" altLang="en-US" dirty="0"/>
          </a:p>
        </p:txBody>
      </p:sp>
      <p:sp>
        <p:nvSpPr>
          <p:cNvPr id="47" name="직사각형 46"/>
          <p:cNvSpPr/>
          <p:nvPr/>
        </p:nvSpPr>
        <p:spPr bwMode="auto">
          <a:xfrm>
            <a:off x="4527409" y="55172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>
                <a:solidFill>
                  <a:prstClr val="black"/>
                </a:solidFill>
              </a:rPr>
              <a:t>4</a:t>
            </a:r>
            <a:r>
              <a:rPr lang="en-US" altLang="ko-KR" sz="900" kern="0" smtClea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재물조사 결과 등록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5" name="Shape 266"/>
          <p:cNvCxnSpPr>
            <a:cxnSpLocks noChangeShapeType="1"/>
            <a:stCxn id="90" idx="0"/>
            <a:endCxn id="65" idx="2"/>
          </p:cNvCxnSpPr>
          <p:nvPr/>
        </p:nvCxnSpPr>
        <p:spPr bwMode="auto">
          <a:xfrm flipH="1" flipV="1">
            <a:off x="7616410" y="4820520"/>
            <a:ext cx="1" cy="696712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" name="직사각형 56"/>
          <p:cNvSpPr/>
          <p:nvPr/>
        </p:nvSpPr>
        <p:spPr bwMode="auto">
          <a:xfrm>
            <a:off x="7238198" y="306396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7. </a:t>
            </a:r>
            <a:r>
              <a:rPr lang="ko-KR" altLang="en-US" sz="900" kern="0" smtClean="0">
                <a:solidFill>
                  <a:prstClr val="black"/>
                </a:solidFill>
              </a:rPr>
              <a:t>결과보고서 확인</a:t>
            </a:r>
            <a:r>
              <a:rPr lang="en-US" altLang="ko-KR" sz="900" kern="0" smtClean="0">
                <a:solidFill>
                  <a:prstClr val="black"/>
                </a:solidFill>
              </a:rPr>
              <a:t> 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58" name="Shape 266"/>
          <p:cNvCxnSpPr>
            <a:cxnSpLocks noChangeShapeType="1"/>
            <a:stCxn id="65" idx="0"/>
            <a:endCxn id="57" idx="2"/>
          </p:cNvCxnSpPr>
          <p:nvPr/>
        </p:nvCxnSpPr>
        <p:spPr bwMode="auto">
          <a:xfrm flipV="1">
            <a:off x="7616410" y="3384737"/>
            <a:ext cx="1" cy="10837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순서도: 판단 58"/>
          <p:cNvSpPr>
            <a:spLocks noChangeAspect="1" noChangeArrowheads="1"/>
          </p:cNvSpPr>
          <p:nvPr/>
        </p:nvSpPr>
        <p:spPr bwMode="auto">
          <a:xfrm>
            <a:off x="2159405" y="3717032"/>
            <a:ext cx="901291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승인</a:t>
            </a:r>
            <a:endParaRPr lang="ko-KR" altLang="en-US" sz="900" kern="0" dirty="0"/>
          </a:p>
        </p:txBody>
      </p:sp>
      <p:sp>
        <p:nvSpPr>
          <p:cNvPr id="65" name="순서도: 판단 58"/>
          <p:cNvSpPr>
            <a:spLocks noChangeAspect="1" noChangeArrowheads="1"/>
          </p:cNvSpPr>
          <p:nvPr/>
        </p:nvSpPr>
        <p:spPr bwMode="auto">
          <a:xfrm>
            <a:off x="6895080" y="4468530"/>
            <a:ext cx="1442660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6. </a:t>
            </a:r>
            <a:r>
              <a:rPr lang="ko-KR" altLang="en-US" sz="900" kern="0" smtClean="0">
                <a:solidFill>
                  <a:prstClr val="black"/>
                </a:solidFill>
              </a:rPr>
              <a:t>부서장 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" name="꺾인 연결선 12"/>
          <p:cNvCxnSpPr>
            <a:stCxn id="33" idx="0"/>
            <a:endCxn id="89" idx="0"/>
          </p:cNvCxnSpPr>
          <p:nvPr/>
        </p:nvCxnSpPr>
        <p:spPr>
          <a:xfrm>
            <a:off x="2109025" y="2698049"/>
            <a:ext cx="501026" cy="44291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화살표 연결선 16"/>
          <p:cNvCxnSpPr>
            <a:stCxn id="61" idx="2"/>
            <a:endCxn id="59" idx="0"/>
          </p:cNvCxnSpPr>
          <p:nvPr/>
        </p:nvCxnSpPr>
        <p:spPr>
          <a:xfrm>
            <a:off x="2610051" y="4069022"/>
            <a:ext cx="0" cy="22407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순서도: 다중 문서 24"/>
          <p:cNvSpPr/>
          <p:nvPr/>
        </p:nvSpPr>
        <p:spPr>
          <a:xfrm>
            <a:off x="5072914" y="4698554"/>
            <a:ext cx="1108076" cy="543325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1)</a:t>
            </a:r>
            <a:r>
              <a:rPr lang="ko-KR" altLang="en-US" sz="900" smtClean="0">
                <a:solidFill>
                  <a:schemeClr val="tx1"/>
                </a:solidFill>
              </a:rPr>
              <a:t>보유자산 목록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2)</a:t>
            </a:r>
            <a:r>
              <a:rPr lang="ko-KR" altLang="en-US" sz="900" smtClean="0">
                <a:solidFill>
                  <a:schemeClr val="tx1"/>
                </a:solidFill>
              </a:rPr>
              <a:t>자산 라벨지</a:t>
            </a:r>
          </a:p>
        </p:txBody>
      </p:sp>
      <p:cxnSp>
        <p:nvCxnSpPr>
          <p:cNvPr id="27" name="직선 화살표 연결선 26"/>
          <p:cNvCxnSpPr>
            <a:stCxn id="39" idx="2"/>
            <a:endCxn id="47" idx="0"/>
          </p:cNvCxnSpPr>
          <p:nvPr/>
        </p:nvCxnSpPr>
        <p:spPr>
          <a:xfrm>
            <a:off x="4899165" y="4613867"/>
            <a:ext cx="6457" cy="90336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꺾인 연결선 28"/>
          <p:cNvCxnSpPr>
            <a:stCxn id="39" idx="2"/>
            <a:endCxn id="25" idx="1"/>
          </p:cNvCxnSpPr>
          <p:nvPr/>
        </p:nvCxnSpPr>
        <p:spPr>
          <a:xfrm rot="16200000" flipH="1">
            <a:off x="4807864" y="4705167"/>
            <a:ext cx="356350" cy="173749"/>
          </a:xfrm>
          <a:prstGeom prst="bentConnector2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stCxn id="59" idx="3"/>
            <a:endCxn id="39" idx="1"/>
          </p:cNvCxnSpPr>
          <p:nvPr/>
        </p:nvCxnSpPr>
        <p:spPr>
          <a:xfrm flipV="1">
            <a:off x="2988263" y="4453482"/>
            <a:ext cx="1532689" cy="27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그룹 71"/>
          <p:cNvGrpSpPr/>
          <p:nvPr/>
        </p:nvGrpSpPr>
        <p:grpSpPr>
          <a:xfrm flipH="1" flipV="1">
            <a:off x="7682966" y="5852623"/>
            <a:ext cx="133994" cy="296477"/>
            <a:chOff x="3031001" y="4386367"/>
            <a:chExt cx="140618" cy="564007"/>
          </a:xfrm>
        </p:grpSpPr>
        <p:sp>
          <p:nvSpPr>
            <p:cNvPr id="79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Freeform 176"/>
            <p:cNvSpPr>
              <a:spLocks noChangeArrowheads="1"/>
            </p:cNvSpPr>
            <p:nvPr/>
          </p:nvSpPr>
          <p:spPr bwMode="auto">
            <a:xfrm flipH="1">
              <a:off x="3031001" y="4386367"/>
              <a:ext cx="90051" cy="37564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1" name="Rectangle 179"/>
          <p:cNvSpPr>
            <a:spLocks noChangeArrowheads="1"/>
          </p:cNvSpPr>
          <p:nvPr/>
        </p:nvSpPr>
        <p:spPr bwMode="auto">
          <a:xfrm flipH="1">
            <a:off x="7762653" y="5984937"/>
            <a:ext cx="125961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건별 조치계획 입력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84" name="그룹 71"/>
          <p:cNvGrpSpPr/>
          <p:nvPr/>
        </p:nvGrpSpPr>
        <p:grpSpPr>
          <a:xfrm flipH="1" flipV="1">
            <a:off x="4857003" y="5831535"/>
            <a:ext cx="133994" cy="296477"/>
            <a:chOff x="3031001" y="4386367"/>
            <a:chExt cx="140618" cy="564007"/>
          </a:xfrm>
        </p:grpSpPr>
        <p:sp>
          <p:nvSpPr>
            <p:cNvPr id="86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176"/>
            <p:cNvSpPr>
              <a:spLocks noChangeArrowheads="1"/>
            </p:cNvSpPr>
            <p:nvPr/>
          </p:nvSpPr>
          <p:spPr bwMode="auto">
            <a:xfrm flipH="1">
              <a:off x="3031001" y="4386367"/>
              <a:ext cx="90051" cy="37564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8" name="Rectangle 179"/>
          <p:cNvSpPr>
            <a:spLocks noChangeArrowheads="1"/>
          </p:cNvSpPr>
          <p:nvPr/>
        </p:nvSpPr>
        <p:spPr bwMode="auto">
          <a:xfrm flipH="1">
            <a:off x="4989529" y="5913609"/>
            <a:ext cx="12596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자산 상태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차이</a:t>
            </a: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수량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91" name="그룹 71"/>
          <p:cNvGrpSpPr/>
          <p:nvPr/>
        </p:nvGrpSpPr>
        <p:grpSpPr>
          <a:xfrm flipH="1" flipV="1">
            <a:off x="7741878" y="3387133"/>
            <a:ext cx="133994" cy="372900"/>
            <a:chOff x="3031001" y="4240983"/>
            <a:chExt cx="140618" cy="709391"/>
          </a:xfrm>
        </p:grpSpPr>
        <p:sp>
          <p:nvSpPr>
            <p:cNvPr id="92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Freeform 176"/>
            <p:cNvSpPr>
              <a:spLocks noChangeArrowheads="1"/>
            </p:cNvSpPr>
            <p:nvPr/>
          </p:nvSpPr>
          <p:spPr bwMode="auto">
            <a:xfrm flipH="1">
              <a:off x="3031001" y="4240983"/>
              <a:ext cx="90051" cy="45452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6" name="Rectangle 179"/>
          <p:cNvSpPr>
            <a:spLocks noChangeArrowheads="1"/>
          </p:cNvSpPr>
          <p:nvPr/>
        </p:nvSpPr>
        <p:spPr bwMode="auto">
          <a:xfrm flipH="1">
            <a:off x="7821565" y="3541936"/>
            <a:ext cx="12596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건별 조치계획에 대한 의견제시 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97" name="그룹 71"/>
          <p:cNvGrpSpPr/>
          <p:nvPr/>
        </p:nvGrpSpPr>
        <p:grpSpPr>
          <a:xfrm flipH="1" flipV="1">
            <a:off x="2981009" y="3306936"/>
            <a:ext cx="133994" cy="372900"/>
            <a:chOff x="3031001" y="4240983"/>
            <a:chExt cx="140618" cy="709391"/>
          </a:xfrm>
        </p:grpSpPr>
        <p:sp>
          <p:nvSpPr>
            <p:cNvPr id="98" name="Line 175"/>
            <p:cNvSpPr>
              <a:spLocks noChangeShapeType="1"/>
            </p:cNvSpPr>
            <p:nvPr/>
          </p:nvSpPr>
          <p:spPr bwMode="auto">
            <a:xfrm flipH="1" flipV="1">
              <a:off x="3121064" y="4682894"/>
              <a:ext cx="50555" cy="26748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Freeform 176"/>
            <p:cNvSpPr>
              <a:spLocks noChangeArrowheads="1"/>
            </p:cNvSpPr>
            <p:nvPr/>
          </p:nvSpPr>
          <p:spPr bwMode="auto">
            <a:xfrm flipH="1">
              <a:off x="3031001" y="4240983"/>
              <a:ext cx="90051" cy="45452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0" name="Rectangle 179"/>
          <p:cNvSpPr>
            <a:spLocks noChangeArrowheads="1"/>
          </p:cNvSpPr>
          <p:nvPr/>
        </p:nvSpPr>
        <p:spPr bwMode="auto">
          <a:xfrm flipH="1">
            <a:off x="3060696" y="3461739"/>
            <a:ext cx="12596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부서별 조사기간 및 담당자 입력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831907405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자산의 상태를 입력하여 자산불용을 신청하여 부서장의 승인을 받으면 자산 담당자는 확정하여 자산의 상태를 불용으로 처리하고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처분신청도 확정하는 시점에 자산 상태를 변경한다</a:t>
            </a:r>
            <a:r>
              <a:rPr lang="en-US" altLang="ko-KR" sz="1600" smtClean="0">
                <a:latin typeface="+mn-ea"/>
                <a:ea typeface="+mn-ea"/>
              </a:rPr>
              <a:t>. </a:t>
            </a:r>
            <a:r>
              <a:rPr lang="ko-KR" altLang="en-US" sz="1600" smtClean="0">
                <a:latin typeface="+mn-ea"/>
                <a:ea typeface="+mn-ea"/>
              </a:rPr>
              <a:t>처분 확정시 에는 처분 결의서가 생성되며 결의서는 결재를 통해 회계파트에 이첩한다</a:t>
            </a:r>
            <a:r>
              <a:rPr lang="en-US" altLang="ko-KR" sz="1600" smtClean="0">
                <a:latin typeface="+mn-ea"/>
                <a:ea typeface="+mn-ea"/>
              </a:rPr>
              <a:t>.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466206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자산처분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5/7)</a:t>
            </a:r>
            <a:endParaRPr lang="ko-KR" altLang="en-US" dirty="0"/>
          </a:p>
        </p:txBody>
      </p:sp>
      <p:graphicFrame>
        <p:nvGraphicFramePr>
          <p:cNvPr id="38" name="표 37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8492974"/>
              </p:ext>
            </p:extLst>
          </p:nvPr>
        </p:nvGraphicFramePr>
        <p:xfrm>
          <a:off x="344488" y="1924188"/>
          <a:ext cx="9181020" cy="4392488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 불용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4.5.2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 처분 신청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4.5.3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 처분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44" name="Shape 266">
            <a:extLst>
              <a:ext uri="{FF2B5EF4-FFF2-40B4-BE49-F238E27FC236}">
                <a16:creationId xmlns="" xmlns:a16="http://schemas.microsoft.com/office/drawing/2014/main" id="{4208196E-70CC-4D36-A882-4C6F09F6E679}"/>
              </a:ext>
            </a:extLst>
          </p:cNvPr>
          <p:cNvCxnSpPr>
            <a:cxnSpLocks noChangeShapeType="1"/>
            <a:stCxn id="47" idx="0"/>
            <a:endCxn id="51" idx="2"/>
          </p:cNvCxnSpPr>
          <p:nvPr/>
        </p:nvCxnSpPr>
        <p:spPr bwMode="auto">
          <a:xfrm flipH="1" flipV="1">
            <a:off x="5311790" y="4725144"/>
            <a:ext cx="4870" cy="4326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6" name="Shape 266">
            <a:extLst>
              <a:ext uri="{FF2B5EF4-FFF2-40B4-BE49-F238E27FC236}">
                <a16:creationId xmlns="" xmlns:a16="http://schemas.microsoft.com/office/drawing/2014/main" id="{85D53206-2513-4743-BC8A-B208E2EEFA50}"/>
              </a:ext>
            </a:extLst>
          </p:cNvPr>
          <p:cNvCxnSpPr>
            <a:cxnSpLocks noChangeShapeType="1"/>
            <a:stCxn id="51" idx="0"/>
            <a:endCxn id="48" idx="1"/>
          </p:cNvCxnSpPr>
          <p:nvPr/>
        </p:nvCxnSpPr>
        <p:spPr bwMode="auto">
          <a:xfrm rot="5400000" flipH="1" flipV="1">
            <a:off x="5595355" y="2805273"/>
            <a:ext cx="1284317" cy="1851446"/>
          </a:xfrm>
          <a:prstGeom prst="bentConnector2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7" name="직사각형 46">
            <a:extLst>
              <a:ext uri="{FF2B5EF4-FFF2-40B4-BE49-F238E27FC236}">
                <a16:creationId xmlns="" xmlns:a16="http://schemas.microsoft.com/office/drawing/2014/main" id="{95A9A25D-D559-4350-B697-E17F705AAB3B}"/>
              </a:ext>
            </a:extLst>
          </p:cNvPr>
          <p:cNvSpPr/>
          <p:nvPr/>
        </p:nvSpPr>
        <p:spPr bwMode="auto">
          <a:xfrm>
            <a:off x="4938447" y="51577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 처분 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63236" y="292845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4.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자산처분 확정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1614297" y="515778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1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en-US" altLang="ko-KR" sz="900" kern="0" smtClean="0">
                <a:solidFill>
                  <a:prstClr val="black"/>
                </a:solidFill>
              </a:rPr>
              <a:t>1</a:t>
            </a:r>
            <a:r>
              <a:rPr lang="ko-KR" altLang="en-US" sz="900" kern="0" smtClean="0">
                <a:solidFill>
                  <a:prstClr val="black"/>
                </a:solidFill>
              </a:rPr>
              <a:t>자산 불용 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1614297" y="285293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 불용 확정</a:t>
            </a:r>
            <a:r>
              <a:rPr lang="en-US" altLang="ko-KR" sz="900" kern="0" smtClean="0">
                <a:solidFill>
                  <a:prstClr val="black"/>
                </a:solidFill>
              </a:rPr>
              <a:t>/</a:t>
            </a:r>
            <a:r>
              <a:rPr lang="ko-KR" altLang="en-US" sz="900" kern="0" smtClean="0">
                <a:solidFill>
                  <a:prstClr val="black"/>
                </a:solidFill>
              </a:rPr>
              <a:t>취소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9" name="Shape 266">
            <a:extLst>
              <a:ext uri="{FF2B5EF4-FFF2-40B4-BE49-F238E27FC236}">
                <a16:creationId xmlns="" xmlns:a16="http://schemas.microsoft.com/office/drawing/2014/main" id="{D580FC1E-9299-4DE1-BA6E-3A74A5FD9C53}"/>
              </a:ext>
            </a:extLst>
          </p:cNvPr>
          <p:cNvCxnSpPr>
            <a:cxnSpLocks noChangeShapeType="1"/>
            <a:stCxn id="62" idx="0"/>
            <a:endCxn id="39" idx="2"/>
          </p:cNvCxnSpPr>
          <p:nvPr/>
        </p:nvCxnSpPr>
        <p:spPr bwMode="auto">
          <a:xfrm flipH="1" flipV="1">
            <a:off x="1992509" y="4725144"/>
            <a:ext cx="1" cy="432644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" name="직선 화살표 연결선 10"/>
          <p:cNvCxnSpPr>
            <a:stCxn id="48" idx="2"/>
            <a:endCxn id="84" idx="0"/>
          </p:cNvCxnSpPr>
          <p:nvPr/>
        </p:nvCxnSpPr>
        <p:spPr>
          <a:xfrm flipH="1">
            <a:off x="7541448" y="3249222"/>
            <a:ext cx="1" cy="32379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순서도: 판단 58"/>
          <p:cNvSpPr>
            <a:spLocks noChangeAspect="1" noChangeArrowheads="1"/>
          </p:cNvSpPr>
          <p:nvPr/>
        </p:nvSpPr>
        <p:spPr bwMode="auto">
          <a:xfrm>
            <a:off x="1468778" y="4373154"/>
            <a:ext cx="1047462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0" name="직선 화살표 연결선 9"/>
          <p:cNvCxnSpPr>
            <a:stCxn id="39" idx="0"/>
            <a:endCxn id="63" idx="2"/>
          </p:cNvCxnSpPr>
          <p:nvPr/>
        </p:nvCxnSpPr>
        <p:spPr>
          <a:xfrm flipV="1">
            <a:off x="1992509" y="3173707"/>
            <a:ext cx="1" cy="119944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순서도: 판단 58"/>
          <p:cNvSpPr>
            <a:spLocks noChangeAspect="1" noChangeArrowheads="1"/>
          </p:cNvSpPr>
          <p:nvPr/>
        </p:nvSpPr>
        <p:spPr bwMode="auto">
          <a:xfrm>
            <a:off x="4788059" y="4373154"/>
            <a:ext cx="1047462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승인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Rectangle 179"/>
          <p:cNvSpPr>
            <a:spLocks noChangeArrowheads="1"/>
          </p:cNvSpPr>
          <p:nvPr/>
        </p:nvSpPr>
        <p:spPr bwMode="auto">
          <a:xfrm flipH="1">
            <a:off x="2686678" y="5012050"/>
            <a:ext cx="1274362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처분방법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성능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용도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관리경위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불용사유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0" name="그룹 35"/>
          <p:cNvGrpSpPr/>
          <p:nvPr/>
        </p:nvGrpSpPr>
        <p:grpSpPr>
          <a:xfrm flipH="1" flipV="1">
            <a:off x="2383885" y="4869160"/>
            <a:ext cx="307440" cy="740947"/>
            <a:chOff x="3031001" y="4111521"/>
            <a:chExt cx="322637" cy="732021"/>
          </a:xfrm>
        </p:grpSpPr>
        <p:sp>
          <p:nvSpPr>
            <p:cNvPr id="64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176"/>
            <p:cNvSpPr>
              <a:spLocks noChangeArrowheads="1"/>
            </p:cNvSpPr>
            <p:nvPr/>
          </p:nvSpPr>
          <p:spPr bwMode="auto">
            <a:xfrm flipH="1">
              <a:off x="3031001" y="4111521"/>
              <a:ext cx="90051" cy="732021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2666831" y="4794440"/>
            <a:ext cx="72327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smtClean="0">
                <a:solidFill>
                  <a:srgbClr val="0000CC"/>
                </a:solidFill>
              </a:rPr>
              <a:t>불용신청내용</a:t>
            </a:r>
            <a:endParaRPr lang="ko-KR" altLang="en-US" sz="700" dirty="0" err="1" smtClean="0">
              <a:solidFill>
                <a:srgbClr val="0000CC"/>
              </a:solidFill>
            </a:endParaRPr>
          </a:p>
        </p:txBody>
      </p:sp>
      <p:sp>
        <p:nvSpPr>
          <p:cNvPr id="71" name="Rectangle 179"/>
          <p:cNvSpPr>
            <a:spLocks noChangeArrowheads="1"/>
          </p:cNvSpPr>
          <p:nvPr/>
        </p:nvSpPr>
        <p:spPr bwMode="auto">
          <a:xfrm flipH="1">
            <a:off x="5436960" y="5627398"/>
            <a:ext cx="127436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처분방법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(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매각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,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기증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,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폐기</a:t>
            </a:r>
            <a:r>
              <a:rPr kumimoji="1" lang="en-US" altLang="ko-KR" sz="800" kern="0">
                <a:solidFill>
                  <a:prstClr val="black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처분시 받은 금액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처분 사유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72" name="그룹 35"/>
          <p:cNvGrpSpPr/>
          <p:nvPr/>
        </p:nvGrpSpPr>
        <p:grpSpPr>
          <a:xfrm flipH="1" flipV="1">
            <a:off x="5169028" y="5493408"/>
            <a:ext cx="234350" cy="469750"/>
            <a:chOff x="3031001" y="4370897"/>
            <a:chExt cx="360072" cy="464090"/>
          </a:xfrm>
        </p:grpSpPr>
        <p:sp>
          <p:nvSpPr>
            <p:cNvPr id="73" name="Line 175"/>
            <p:cNvSpPr>
              <a:spLocks noChangeShapeType="1"/>
            </p:cNvSpPr>
            <p:nvPr/>
          </p:nvSpPr>
          <p:spPr bwMode="auto">
            <a:xfrm flipH="1" flipV="1">
              <a:off x="3121057" y="4644665"/>
              <a:ext cx="270016" cy="190322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Freeform 176"/>
            <p:cNvSpPr>
              <a:spLocks noChangeArrowheads="1"/>
            </p:cNvSpPr>
            <p:nvPr/>
          </p:nvSpPr>
          <p:spPr bwMode="auto">
            <a:xfrm flipH="1">
              <a:off x="3031001" y="4370897"/>
              <a:ext cx="90051" cy="341492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82" name="직사각형 81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1623310" y="557684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1.2 </a:t>
            </a:r>
            <a:r>
              <a:rPr lang="ko-KR" altLang="en-US" sz="900" kern="0" smtClean="0">
                <a:solidFill>
                  <a:prstClr val="black"/>
                </a:solidFill>
              </a:rPr>
              <a:t>자산 불용 취소신청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="" xmlns:a16="http://schemas.microsoft.com/office/drawing/2014/main" id="{06333513-207E-4FCF-92BE-D8E452610029}"/>
              </a:ext>
            </a:extLst>
          </p:cNvPr>
          <p:cNvSpPr/>
          <p:nvPr/>
        </p:nvSpPr>
        <p:spPr bwMode="auto">
          <a:xfrm>
            <a:off x="7163235" y="357301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자산처분 결의서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85" name="타원 84"/>
          <p:cNvSpPr/>
          <p:nvPr/>
        </p:nvSpPr>
        <p:spPr>
          <a:xfrm>
            <a:off x="7380056" y="4205273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취득결의</a:t>
            </a:r>
          </a:p>
        </p:txBody>
      </p:sp>
      <p:cxnSp>
        <p:nvCxnSpPr>
          <p:cNvPr id="86" name="직선 화살표 연결선 85"/>
          <p:cNvCxnSpPr>
            <a:stCxn id="84" idx="2"/>
            <a:endCxn id="85" idx="0"/>
          </p:cNvCxnSpPr>
          <p:nvPr/>
        </p:nvCxnSpPr>
        <p:spPr>
          <a:xfrm>
            <a:off x="7541448" y="3893787"/>
            <a:ext cx="14164" cy="311486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7598911" y="4519795"/>
            <a:ext cx="253252" cy="357496"/>
            <a:chOff x="3031001" y="4474665"/>
            <a:chExt cx="265770" cy="357496"/>
          </a:xfrm>
        </p:grpSpPr>
        <p:sp>
          <p:nvSpPr>
            <p:cNvPr id="88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74665"/>
              <a:ext cx="175714" cy="170000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0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32418" y="4595132"/>
            <a:ext cx="1247136" cy="24622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결의서는 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결재를 통해 회계에 이첩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7601984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8292444"/>
              </p:ext>
            </p:extLst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3762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/>
                <a:gridCol w="2916324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감가상각 기준관리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4.6.2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감가상각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4.6.3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감가상각 현황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195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413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81374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smtClean="0">
                <a:latin typeface="+mn-ea"/>
                <a:ea typeface="+mn-ea"/>
              </a:rPr>
              <a:t>토지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미술품 등을 제외한 모든 자산은 정액법으로 취득월부터 비망가액을 남기고 감가상각을 처리하며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취득이 지연 입력된 건은 입력년월에</a:t>
            </a:r>
            <a:r>
              <a:rPr lang="en-US" altLang="ko-KR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미상각 금액을 포함한 금액으로 상각금액을 계산하고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마감시에는 해당월의 추가 취득을 방지하고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생성된 감가상각 결의서는 결재를 통하여 회계에 이첩함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smtClean="0">
                <a:solidFill>
                  <a:prstClr val="black"/>
                </a:solidFill>
              </a:rPr>
              <a:t>3.5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1516593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4.6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감가상각관리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7" name="직사각형 86"/>
          <p:cNvSpPr/>
          <p:nvPr/>
        </p:nvSpPr>
        <p:spPr bwMode="auto">
          <a:xfrm>
            <a:off x="3800872" y="311582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감가상각 계산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88" name="Shape 266"/>
          <p:cNvCxnSpPr>
            <a:cxnSpLocks noChangeShapeType="1"/>
            <a:stCxn id="54" idx="0"/>
            <a:endCxn id="87" idx="2"/>
          </p:cNvCxnSpPr>
          <p:nvPr/>
        </p:nvCxnSpPr>
        <p:spPr bwMode="auto">
          <a:xfrm flipV="1">
            <a:off x="4179085" y="3436596"/>
            <a:ext cx="0" cy="105085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그룹 35"/>
          <p:cNvGrpSpPr/>
          <p:nvPr/>
        </p:nvGrpSpPr>
        <p:grpSpPr>
          <a:xfrm flipH="1" flipV="1">
            <a:off x="2348742" y="3740300"/>
            <a:ext cx="247791" cy="334403"/>
            <a:chOff x="3031001" y="4549936"/>
            <a:chExt cx="260039" cy="330374"/>
          </a:xfrm>
        </p:grpSpPr>
        <p:sp>
          <p:nvSpPr>
            <p:cNvPr id="37" name="Line 175"/>
            <p:cNvSpPr>
              <a:spLocks noChangeShapeType="1"/>
            </p:cNvSpPr>
            <p:nvPr/>
          </p:nvSpPr>
          <p:spPr bwMode="auto">
            <a:xfrm flipH="1" flipV="1">
              <a:off x="3121058" y="4644664"/>
              <a:ext cx="169982" cy="235646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9" name="Rectangle 179"/>
          <p:cNvSpPr>
            <a:spLocks noChangeArrowheads="1"/>
          </p:cNvSpPr>
          <p:nvPr/>
        </p:nvSpPr>
        <p:spPr bwMode="auto">
          <a:xfrm flipH="1">
            <a:off x="2567110" y="3828486"/>
            <a:ext cx="87406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자산분류별 내용연수 조정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" name="그룹 61"/>
          <p:cNvGrpSpPr/>
          <p:nvPr/>
        </p:nvGrpSpPr>
        <p:grpSpPr>
          <a:xfrm>
            <a:off x="1377478" y="2660872"/>
            <a:ext cx="756425" cy="410305"/>
            <a:chOff x="1532620" y="4422851"/>
            <a:chExt cx="756425" cy="410305"/>
          </a:xfrm>
        </p:grpSpPr>
        <p:sp>
          <p:nvSpPr>
            <p:cNvPr id="26" name="직사각형 25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7" name="육각형 26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감가상각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기준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76" name="Rectangle 179"/>
          <p:cNvSpPr>
            <a:spLocks noChangeArrowheads="1"/>
          </p:cNvSpPr>
          <p:nvPr/>
        </p:nvSpPr>
        <p:spPr bwMode="auto">
          <a:xfrm flipH="1">
            <a:off x="4546141" y="3884045"/>
            <a:ext cx="11566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전월 상각완료 상태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당월 상각자료 미 존재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1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6/7)</a:t>
            </a:r>
            <a:endParaRPr lang="ko-KR" altLang="en-US" dirty="0"/>
          </a:p>
        </p:txBody>
      </p:sp>
      <p:sp>
        <p:nvSpPr>
          <p:cNvPr id="54" name="직사각형 53"/>
          <p:cNvSpPr/>
          <p:nvPr/>
        </p:nvSpPr>
        <p:spPr bwMode="auto">
          <a:xfrm>
            <a:off x="3800872" y="448744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감가상각 마감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62" name="그룹 35"/>
          <p:cNvGrpSpPr/>
          <p:nvPr/>
        </p:nvGrpSpPr>
        <p:grpSpPr>
          <a:xfrm flipH="1" flipV="1">
            <a:off x="4197683" y="3891360"/>
            <a:ext cx="307440" cy="360904"/>
            <a:chOff x="3031001" y="4475605"/>
            <a:chExt cx="322637" cy="356556"/>
          </a:xfrm>
        </p:grpSpPr>
        <p:sp>
          <p:nvSpPr>
            <p:cNvPr id="64" name="Line 175"/>
            <p:cNvSpPr>
              <a:spLocks noChangeShapeType="1"/>
            </p:cNvSpPr>
            <p:nvPr/>
          </p:nvSpPr>
          <p:spPr bwMode="auto">
            <a:xfrm flipH="1">
              <a:off x="3121058" y="4475605"/>
              <a:ext cx="232580" cy="169059"/>
            </a:xfrm>
            <a:prstGeom prst="line">
              <a:avLst/>
            </a:prstGeom>
            <a:noFill/>
            <a:ln w="144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176"/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70" name="Shape 266"/>
          <p:cNvCxnSpPr>
            <a:cxnSpLocks noChangeShapeType="1"/>
            <a:stCxn id="54" idx="3"/>
            <a:endCxn id="52" idx="2"/>
          </p:cNvCxnSpPr>
          <p:nvPr/>
        </p:nvCxnSpPr>
        <p:spPr bwMode="auto">
          <a:xfrm>
            <a:off x="4557297" y="4647832"/>
            <a:ext cx="1115783" cy="0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직사각형 49"/>
          <p:cNvSpPr/>
          <p:nvPr/>
        </p:nvSpPr>
        <p:spPr bwMode="auto">
          <a:xfrm>
            <a:off x="2005087" y="341953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내용연수 조정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" name="꺾인 연결선 6"/>
          <p:cNvCxnSpPr>
            <a:stCxn id="27" idx="0"/>
            <a:endCxn id="50" idx="0"/>
          </p:cNvCxnSpPr>
          <p:nvPr/>
        </p:nvCxnSpPr>
        <p:spPr>
          <a:xfrm>
            <a:off x="2133903" y="2866025"/>
            <a:ext cx="249397" cy="553507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타원 51"/>
          <p:cNvSpPr/>
          <p:nvPr/>
        </p:nvSpPr>
        <p:spPr>
          <a:xfrm>
            <a:off x="5673080" y="4479951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상각결의</a:t>
            </a:r>
          </a:p>
        </p:txBody>
      </p:sp>
      <p:sp>
        <p:nvSpPr>
          <p:cNvPr id="56" name="순서도: 다중 문서 55"/>
          <p:cNvSpPr/>
          <p:nvPr/>
        </p:nvSpPr>
        <p:spPr>
          <a:xfrm>
            <a:off x="7689304" y="3005297"/>
            <a:ext cx="968700" cy="526857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감가상각 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현황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cxnSp>
        <p:nvCxnSpPr>
          <p:cNvPr id="12" name="직선 화살표 연결선 11"/>
          <p:cNvCxnSpPr>
            <a:stCxn id="87" idx="3"/>
            <a:endCxn id="56" idx="1"/>
          </p:cNvCxnSpPr>
          <p:nvPr/>
        </p:nvCxnSpPr>
        <p:spPr>
          <a:xfrm flipV="1">
            <a:off x="4557297" y="3268726"/>
            <a:ext cx="3132007" cy="748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769797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건설중인 자산에 투입된 비용을 건설중인자산으로 대체하고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자산 장부</a:t>
            </a:r>
            <a:r>
              <a:rPr lang="en-US" altLang="ko-KR" sz="1600" smtClean="0">
                <a:latin typeface="+mn-ea"/>
                <a:ea typeface="+mn-ea"/>
              </a:rPr>
              <a:t>(</a:t>
            </a:r>
            <a:r>
              <a:rPr lang="ko-KR" altLang="en-US" sz="1600" smtClean="0">
                <a:latin typeface="+mn-ea"/>
                <a:ea typeface="+mn-ea"/>
              </a:rPr>
              <a:t>자산의 증감</a:t>
            </a:r>
            <a:r>
              <a:rPr lang="en-US" altLang="ko-KR" sz="1600" smtClean="0">
                <a:latin typeface="+mn-ea"/>
                <a:ea typeface="+mn-ea"/>
              </a:rPr>
              <a:t>/</a:t>
            </a:r>
            <a:r>
              <a:rPr lang="ko-KR" altLang="en-US" sz="1600" smtClean="0">
                <a:latin typeface="+mn-ea"/>
                <a:ea typeface="+mn-ea"/>
              </a:rPr>
              <a:t>감가상각 증감</a:t>
            </a:r>
            <a:r>
              <a:rPr lang="en-US" altLang="ko-KR" sz="1600" smtClean="0">
                <a:latin typeface="+mn-ea"/>
                <a:ea typeface="+mn-ea"/>
              </a:rPr>
              <a:t>)</a:t>
            </a:r>
            <a:r>
              <a:rPr lang="ko-KR" altLang="en-US" sz="1600" smtClean="0">
                <a:latin typeface="+mn-ea"/>
                <a:ea typeface="+mn-ea"/>
              </a:rPr>
              <a:t>를 조회하고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자산 종류별 자산 대장을 조회함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3.5 </a:t>
            </a:r>
            <a:r>
              <a:rPr lang="ko-KR" altLang="en-US" sz="1200" smtClean="0">
                <a:solidFill>
                  <a:prstClr val="black"/>
                </a:solidFill>
              </a:rPr>
              <a:t>자산관리 </a:t>
            </a:r>
            <a:r>
              <a:rPr lang="ko-KR" altLang="en-US" sz="1200" dirty="0">
                <a:solidFill>
                  <a:prstClr val="black"/>
                </a:solidFill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4563288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4.7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자산 결산</a:t>
                      </a:r>
                      <a:endParaRPr kumimoji="1" lang="ko-KR" altLang="en-US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655262"/>
              </p:ext>
            </p:extLst>
          </p:nvPr>
        </p:nvGraphicFramePr>
        <p:xfrm>
          <a:off x="344488" y="1924188"/>
          <a:ext cx="9181020" cy="4385132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7444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500500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 결산처리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4.7.2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 대장 관리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2801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72819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9" name="직사각형 48">
            <a:extLst>
              <a:ext uri="{FF2B5EF4-FFF2-40B4-BE49-F238E27FC236}">
                <a16:creationId xmlns="" xmlns:a16="http://schemas.microsoft.com/office/drawing/2014/main" id="{4442D94C-A835-4332-BB62-DA4981D9BB7B}"/>
              </a:ext>
            </a:extLst>
          </p:cNvPr>
          <p:cNvSpPr/>
          <p:nvPr/>
        </p:nvSpPr>
        <p:spPr bwMode="auto">
          <a:xfrm>
            <a:off x="2252359" y="3436356"/>
            <a:ext cx="860182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건설중인자산 대체 결산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3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3.5.2 </a:t>
            </a:r>
            <a:r>
              <a:rPr lang="ko-KR" altLang="en-US" smtClean="0"/>
              <a:t>자산관리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5.2.1 </a:t>
            </a:r>
            <a:r>
              <a:rPr lang="ko-KR" altLang="en-US" sz="1800" smtClean="0">
                <a:solidFill>
                  <a:prstClr val="black"/>
                </a:solidFill>
              </a:rPr>
              <a:t>자산관리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7/7)</a:t>
            </a:r>
            <a:endParaRPr lang="ko-KR" altLang="en-US" dirty="0"/>
          </a:p>
        </p:txBody>
      </p:sp>
      <p:sp>
        <p:nvSpPr>
          <p:cNvPr id="29" name="타원 28"/>
          <p:cNvSpPr/>
          <p:nvPr/>
        </p:nvSpPr>
        <p:spPr>
          <a:xfrm>
            <a:off x="2508294" y="4149080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대체결의</a:t>
            </a:r>
          </a:p>
        </p:txBody>
      </p:sp>
      <p:cxnSp>
        <p:nvCxnSpPr>
          <p:cNvPr id="6" name="직선 화살표 연결선 5"/>
          <p:cNvCxnSpPr>
            <a:stCxn id="49" idx="2"/>
            <a:endCxn id="29" idx="0"/>
          </p:cNvCxnSpPr>
          <p:nvPr/>
        </p:nvCxnSpPr>
        <p:spPr>
          <a:xfrm>
            <a:off x="2682450" y="3757127"/>
            <a:ext cx="1400" cy="39195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순서도: 다중 문서 30"/>
          <p:cNvSpPr/>
          <p:nvPr/>
        </p:nvSpPr>
        <p:spPr>
          <a:xfrm>
            <a:off x="7185248" y="3436356"/>
            <a:ext cx="968700" cy="526857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자산대장</a:t>
            </a:r>
            <a:endParaRPr lang="ko-KR" altLang="en-US" sz="900" dirty="0" smtClean="0">
              <a:solidFill>
                <a:schemeClr val="tx1"/>
              </a:solidFill>
            </a:endParaRPr>
          </a:p>
        </p:txBody>
      </p:sp>
      <p:sp>
        <p:nvSpPr>
          <p:cNvPr id="7" name="순서도: 문서 6"/>
          <p:cNvSpPr/>
          <p:nvPr/>
        </p:nvSpPr>
        <p:spPr>
          <a:xfrm>
            <a:off x="5312701" y="3438245"/>
            <a:ext cx="975855" cy="504056"/>
          </a:xfrm>
          <a:prstGeom prst="flowChart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자산 장부</a:t>
            </a:r>
          </a:p>
        </p:txBody>
      </p:sp>
      <p:grpSp>
        <p:nvGrpSpPr>
          <p:cNvPr id="36" name="그룹 35"/>
          <p:cNvGrpSpPr/>
          <p:nvPr/>
        </p:nvGrpSpPr>
        <p:grpSpPr>
          <a:xfrm flipH="1" flipV="1">
            <a:off x="7450523" y="3963221"/>
            <a:ext cx="338004" cy="1156808"/>
            <a:chOff x="3031001" y="3753828"/>
            <a:chExt cx="354712" cy="1142874"/>
          </a:xfrm>
        </p:grpSpPr>
        <p:sp>
          <p:nvSpPr>
            <p:cNvPr id="37" name="Line 175"/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264656" cy="252038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Freeform 176"/>
            <p:cNvSpPr>
              <a:spLocks noChangeArrowheads="1"/>
            </p:cNvSpPr>
            <p:nvPr/>
          </p:nvSpPr>
          <p:spPr bwMode="auto">
            <a:xfrm flipH="1">
              <a:off x="3031001" y="3753828"/>
              <a:ext cx="90051" cy="1071753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764031" y="3942301"/>
            <a:ext cx="54373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smtClean="0">
                <a:solidFill>
                  <a:srgbClr val="0000CC"/>
                </a:solidFill>
              </a:rPr>
              <a:t>자산대장</a:t>
            </a:r>
            <a:endParaRPr lang="ko-KR" altLang="en-US" sz="700" dirty="0" err="1" smtClean="0">
              <a:solidFill>
                <a:srgbClr val="0000CC"/>
              </a:solidFill>
            </a:endParaRPr>
          </a:p>
        </p:txBody>
      </p:sp>
      <p:sp>
        <p:nvSpPr>
          <p:cNvPr id="40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33320" y="4116754"/>
            <a:ext cx="1710421" cy="9848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토지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지번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지목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준공일자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.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전체면적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건축면적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연면적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건폐율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용적율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구축물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준공일자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등기일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등기번호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기계장치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장비규격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모델명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차량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차종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차량번호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연식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배기량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소프트웨어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-Version,License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타입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,..</a:t>
            </a: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기타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-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위치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설치일자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,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용량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…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41" name="그룹 40"/>
          <p:cNvGrpSpPr/>
          <p:nvPr/>
        </p:nvGrpSpPr>
        <p:grpSpPr>
          <a:xfrm flipH="1" flipV="1">
            <a:off x="5529064" y="3933056"/>
            <a:ext cx="338004" cy="596163"/>
            <a:chOff x="3031001" y="4307720"/>
            <a:chExt cx="354712" cy="588982"/>
          </a:xfrm>
        </p:grpSpPr>
        <p:sp>
          <p:nvSpPr>
            <p:cNvPr id="42" name="Line 175"/>
            <p:cNvSpPr>
              <a:spLocks noChangeShapeType="1"/>
            </p:cNvSpPr>
            <p:nvPr/>
          </p:nvSpPr>
          <p:spPr bwMode="auto">
            <a:xfrm flipH="1" flipV="1">
              <a:off x="3121057" y="4644664"/>
              <a:ext cx="264656" cy="252038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Freeform 176"/>
            <p:cNvSpPr>
              <a:spLocks noChangeArrowheads="1"/>
            </p:cNvSpPr>
            <p:nvPr/>
          </p:nvSpPr>
          <p:spPr bwMode="auto">
            <a:xfrm flipH="1">
              <a:off x="3031001" y="4307720"/>
              <a:ext cx="90051" cy="45452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4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01813" y="4159884"/>
            <a:ext cx="171042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계정과목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이월잔액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/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당기증가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/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당기감소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/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잔액</a:t>
            </a:r>
            <a:r>
              <a:rPr kumimoji="1" lang="en-US" altLang="ko-KR" sz="800" kern="0">
                <a:solidFill>
                  <a:prstClr val="black"/>
                </a:solidFill>
              </a:rPr>
              <a:t> 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전월상각누계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당월상각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/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상각누계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816298" y="3963213"/>
            <a:ext cx="54373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smtClean="0">
                <a:solidFill>
                  <a:srgbClr val="0000CC"/>
                </a:solidFill>
              </a:rPr>
              <a:t>장부형식</a:t>
            </a:r>
            <a:endParaRPr lang="ko-KR" altLang="en-US" sz="700" dirty="0" err="1" smtClean="0">
              <a:solidFill>
                <a:srgbClr val="0000C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9937181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81548" y="886681"/>
            <a:ext cx="9180512" cy="870304"/>
          </a:xfrm>
          <a:noFill/>
          <a:ln w="63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>
              <a:spcAft>
                <a:spcPct val="30000"/>
              </a:spcAft>
              <a:buClr>
                <a:srgbClr val="808080"/>
              </a:buClr>
            </a:pP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사업계획에서부터 사업종료까지의 사업단계별 정보를 표준화하고 체계적으로 관리하고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예산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회계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구매 등의 내부 시스템과 전자결재 연동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조달정보의 실시간 취득 등 긴밀한 내</a:t>
            </a:r>
            <a:r>
              <a:rPr lang="en-US" altLang="ko-KR" smtClean="0">
                <a:solidFill>
                  <a:srgbClr val="000000"/>
                </a:solidFill>
                <a:latin typeface="+mn-ea"/>
                <a:ea typeface="+mn-ea"/>
              </a:rPr>
              <a:t>.</a:t>
            </a:r>
            <a:r>
              <a:rPr lang="ko-KR" altLang="en-US" smtClean="0">
                <a:solidFill>
                  <a:srgbClr val="000000"/>
                </a:solidFill>
                <a:latin typeface="+mn-ea"/>
                <a:ea typeface="+mn-ea"/>
              </a:rPr>
              <a:t>외부연계를 통해서 효율적인고 원활한 사업관리 업무 시스템을 구현</a:t>
            </a:r>
            <a:endParaRPr lang="en-US" altLang="ko-KR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>
                <a:solidFill>
                  <a:prstClr val="black"/>
                </a:solidFill>
              </a:rPr>
              <a:t>업무프로세스 </a:t>
            </a:r>
            <a:r>
              <a:rPr lang="ko-KR" altLang="en-US" smtClean="0">
                <a:solidFill>
                  <a:prstClr val="black"/>
                </a:solidFill>
              </a:rPr>
              <a:t>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="" xmlns:a16="http://schemas.microsoft.com/office/drawing/2014/main" id="{834EF977-2F4F-4CFA-8644-DCEB070BA4D7}"/>
              </a:ext>
            </a:extLst>
          </p:cNvPr>
          <p:cNvSpPr/>
          <p:nvPr/>
        </p:nvSpPr>
        <p:spPr bwMode="auto">
          <a:xfrm>
            <a:off x="354519" y="1628800"/>
            <a:ext cx="917048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업무분류 구조도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(TO-BE)</a:t>
            </a:r>
            <a:endParaRPr lang="ko-KR" altLang="en-US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12" name="Rectangle 4">
            <a:extLst>
              <a:ext uri="{FF2B5EF4-FFF2-40B4-BE49-F238E27FC236}">
                <a16:creationId xmlns="" xmlns:a16="http://schemas.microsoft.com/office/drawing/2014/main" id="{89D385C2-BC55-4019-B543-408E7D7B9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952800"/>
            <a:ext cx="9170481" cy="435588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latinLnBrk="0">
              <a:lnSpc>
                <a:spcPct val="100000"/>
              </a:lnSpc>
              <a:spcBef>
                <a:spcPts val="1200"/>
              </a:spcBef>
              <a:buClr>
                <a:schemeClr val="tx1"/>
              </a:buClr>
              <a:buFont typeface="Wingdings" pitchFamily="2" charset="2"/>
              <a:buChar char="q"/>
              <a:defRPr/>
            </a:pPr>
            <a:endParaRPr lang="ko-KR" altLang="en-US" sz="1400" b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16" name="Rectangle 43">
            <a:extLst>
              <a:ext uri="{FF2B5EF4-FFF2-40B4-BE49-F238E27FC236}">
                <a16:creationId xmlns="" xmlns:a16="http://schemas.microsoft.com/office/drawing/2014/main" id="{F6A7BD53-EDB7-4ACE-ACD6-9D9808E65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2828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5.2 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수주진행관리</a:t>
            </a:r>
            <a:endParaRPr lang="en-US" altLang="ko-KR" sz="1100" b="1" kern="0" spc="-150" dirty="0">
              <a:latin typeface="+mn-ea"/>
            </a:endParaRPr>
          </a:p>
        </p:txBody>
      </p:sp>
      <p:cxnSp>
        <p:nvCxnSpPr>
          <p:cNvPr id="317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316" idx="0"/>
          </p:cNvCxnSpPr>
          <p:nvPr/>
        </p:nvCxnSpPr>
        <p:spPr bwMode="auto">
          <a:xfrm rot="5400000">
            <a:off x="4070879" y="1505782"/>
            <a:ext cx="270790" cy="2171724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18" name="Rectangle 43">
            <a:extLst>
              <a:ext uri="{FF2B5EF4-FFF2-40B4-BE49-F238E27FC236}">
                <a16:creationId xmlns="" xmlns:a16="http://schemas.microsoft.com/office/drawing/2014/main" id="{55A536C4-1F9D-4CFC-B360-5BE659245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2898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5.2.1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수주진행관리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19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316" idx="2"/>
            <a:endCxn id="318" idx="0"/>
          </p:cNvCxnSpPr>
          <p:nvPr/>
        </p:nvCxnSpPr>
        <p:spPr bwMode="auto">
          <a:xfrm>
            <a:off x="3120412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0" name="Rectangle 43">
            <a:extLst>
              <a:ext uri="{FF2B5EF4-FFF2-40B4-BE49-F238E27FC236}">
                <a16:creationId xmlns="" xmlns:a16="http://schemas.microsoft.com/office/drawing/2014/main" id="{C37FE70D-B49D-4E1B-8525-B9801948F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2058161"/>
            <a:ext cx="8263366" cy="398088"/>
          </a:xfrm>
          <a:prstGeom prst="roundRect">
            <a:avLst>
              <a:gd name="adj" fmla="val 0"/>
            </a:avLst>
          </a:prstGeom>
          <a:solidFill>
            <a:srgbClr val="508CD2"/>
          </a:solidFill>
          <a:ln w="9525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marL="85725" indent="-85725" algn="ctr" eaLnBrk="0" fontAlgn="base" latinLnBrk="0" hangingPunct="0">
              <a:spcBef>
                <a:spcPts val="600"/>
              </a:spcBef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300" b="1" kern="0">
                <a:solidFill>
                  <a:prstClr val="white"/>
                </a:solidFill>
                <a:latin typeface="+mn-ea"/>
              </a:rPr>
              <a:t>5</a:t>
            </a:r>
            <a:r>
              <a:rPr lang="en-US" altLang="ko-KR" sz="1300" b="1" kern="0" smtClean="0">
                <a:solidFill>
                  <a:prstClr val="white"/>
                </a:solidFill>
                <a:latin typeface="+mn-ea"/>
              </a:rPr>
              <a:t>. </a:t>
            </a:r>
            <a:r>
              <a:rPr lang="ko-KR" altLang="en-US" sz="1300" b="1" kern="0" smtClean="0">
                <a:solidFill>
                  <a:prstClr val="white"/>
                </a:solidFill>
                <a:latin typeface="+mn-ea"/>
              </a:rPr>
              <a:t>사업관리</a:t>
            </a:r>
            <a:endParaRPr lang="en-US" altLang="ko-KR" sz="13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321" name="Rectangle 43">
            <a:extLst>
              <a:ext uri="{FF2B5EF4-FFF2-40B4-BE49-F238E27FC236}">
                <a16:creationId xmlns="" xmlns:a16="http://schemas.microsoft.com/office/drawing/2014/main" id="{D6022CC8-8B0F-4459-9750-B32A286F0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13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5.3 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latin typeface="+mn-ea"/>
              </a:rPr>
              <a:t>사업실행관리</a:t>
            </a:r>
            <a:endParaRPr lang="en-US" altLang="ko-KR" sz="1100" b="1" kern="0" spc="-150" dirty="0">
              <a:latin typeface="+mn-ea"/>
            </a:endParaRPr>
          </a:p>
        </p:txBody>
      </p:sp>
      <p:sp>
        <p:nvSpPr>
          <p:cNvPr id="322" name="Rectangle 43">
            <a:extLst>
              <a:ext uri="{FF2B5EF4-FFF2-40B4-BE49-F238E27FC236}">
                <a16:creationId xmlns="" xmlns:a16="http://schemas.microsoft.com/office/drawing/2014/main" id="{AAC9D106-BE04-41F1-AFEB-0A5D0264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438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latin typeface="+mn-ea"/>
              </a:rPr>
              <a:t>사업실적 관리</a:t>
            </a:r>
            <a:endParaRPr lang="en-US" altLang="ko-KR" sz="1100" b="1" kern="0" spc="-150" dirty="0">
              <a:latin typeface="+mn-ea"/>
            </a:endParaRPr>
          </a:p>
        </p:txBody>
      </p:sp>
      <p:sp>
        <p:nvSpPr>
          <p:cNvPr id="323" name="Rectangle 43">
            <a:extLst>
              <a:ext uri="{FF2B5EF4-FFF2-40B4-BE49-F238E27FC236}">
                <a16:creationId xmlns="" xmlns:a16="http://schemas.microsoft.com/office/drawing/2014/main" id="{710E7DA3-5FB4-4ACB-A8F3-7C5B8554A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9743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 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latin typeface="+mn-ea"/>
              </a:rPr>
              <a:t>기성청구관리</a:t>
            </a:r>
            <a:endParaRPr lang="en-US" altLang="ko-KR" sz="1100" b="1" kern="0" spc="-150" dirty="0">
              <a:latin typeface="+mn-ea"/>
            </a:endParaRPr>
          </a:p>
        </p:txBody>
      </p:sp>
      <p:sp>
        <p:nvSpPr>
          <p:cNvPr id="324" name="Rectangle 43">
            <a:extLst>
              <a:ext uri="{FF2B5EF4-FFF2-40B4-BE49-F238E27FC236}">
                <a16:creationId xmlns="" xmlns:a16="http://schemas.microsoft.com/office/drawing/2014/main" id="{1F3C037D-8663-4BB2-8F50-67E55BF23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2050" y="2727039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5.6 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사업결산관리</a:t>
            </a:r>
            <a:endParaRPr lang="ko-KR" altLang="en-US" sz="1100" b="1" kern="0" dirty="0">
              <a:latin typeface="+mn-ea"/>
            </a:endParaRPr>
          </a:p>
        </p:txBody>
      </p:sp>
      <p:cxnSp>
        <p:nvCxnSpPr>
          <p:cNvPr id="325" name="꺾인 연결선 95">
            <a:extLst>
              <a:ext uri="{FF2B5EF4-FFF2-40B4-BE49-F238E27FC236}">
                <a16:creationId xmlns="" xmlns:a16="http://schemas.microsoft.com/office/drawing/2014/main" id="{4707B7F0-4A9A-48EF-A615-1016A4AB6D50}"/>
              </a:ext>
            </a:extLst>
          </p:cNvPr>
          <p:cNvCxnSpPr>
            <a:cxnSpLocks/>
            <a:stCxn id="320" idx="2"/>
            <a:endCxn id="324" idx="0"/>
          </p:cNvCxnSpPr>
          <p:nvPr/>
        </p:nvCxnSpPr>
        <p:spPr bwMode="auto">
          <a:xfrm rot="16200000" flipH="1">
            <a:off x="6955490" y="792895"/>
            <a:ext cx="270790" cy="359749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6" name="꺾인 연결선 98">
            <a:extLst>
              <a:ext uri="{FF2B5EF4-FFF2-40B4-BE49-F238E27FC236}">
                <a16:creationId xmlns="" xmlns:a16="http://schemas.microsoft.com/office/drawing/2014/main" id="{140F111D-6450-4FBD-BB10-FB50112D1751}"/>
              </a:ext>
            </a:extLst>
          </p:cNvPr>
          <p:cNvCxnSpPr>
            <a:cxnSpLocks/>
            <a:stCxn id="320" idx="2"/>
            <a:endCxn id="321" idx="0"/>
          </p:cNvCxnSpPr>
          <p:nvPr/>
        </p:nvCxnSpPr>
        <p:spPr bwMode="auto">
          <a:xfrm rot="5400000">
            <a:off x="4792032" y="2226935"/>
            <a:ext cx="270790" cy="72941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7" name="꺾인 연결선 101">
            <a:extLst>
              <a:ext uri="{FF2B5EF4-FFF2-40B4-BE49-F238E27FC236}">
                <a16:creationId xmlns="" xmlns:a16="http://schemas.microsoft.com/office/drawing/2014/main" id="{BA41D50E-5184-4CAD-B9D9-E23D3EC512F4}"/>
              </a:ext>
            </a:extLst>
          </p:cNvPr>
          <p:cNvCxnSpPr>
            <a:cxnSpLocks/>
            <a:stCxn id="320" idx="2"/>
            <a:endCxn id="322" idx="0"/>
          </p:cNvCxnSpPr>
          <p:nvPr/>
        </p:nvCxnSpPr>
        <p:spPr bwMode="auto">
          <a:xfrm rot="16200000" flipH="1">
            <a:off x="5513184" y="2235201"/>
            <a:ext cx="270790" cy="71288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328" name="꺾인 연결선 104">
            <a:extLst>
              <a:ext uri="{FF2B5EF4-FFF2-40B4-BE49-F238E27FC236}">
                <a16:creationId xmlns="" xmlns:a16="http://schemas.microsoft.com/office/drawing/2014/main" id="{7D6841DF-7D60-4A15-8D68-2DF204ABC742}"/>
              </a:ext>
            </a:extLst>
          </p:cNvPr>
          <p:cNvCxnSpPr>
            <a:cxnSpLocks/>
            <a:stCxn id="320" idx="2"/>
            <a:endCxn id="323" idx="0"/>
          </p:cNvCxnSpPr>
          <p:nvPr/>
        </p:nvCxnSpPr>
        <p:spPr bwMode="auto">
          <a:xfrm rot="16200000" flipH="1">
            <a:off x="6234336" y="1514048"/>
            <a:ext cx="270790" cy="215519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329" name="Rectangle 43">
            <a:extLst>
              <a:ext uri="{FF2B5EF4-FFF2-40B4-BE49-F238E27FC236}">
                <a16:creationId xmlns="" xmlns:a16="http://schemas.microsoft.com/office/drawing/2014/main" id="{E965CCD8-2743-48F9-8315-B5DADCCD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132" y="3392997"/>
            <a:ext cx="1035169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5.3.1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사업수주관리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0" name="Rectangle 43">
            <a:extLst>
              <a:ext uri="{FF2B5EF4-FFF2-40B4-BE49-F238E27FC236}">
                <a16:creationId xmlns="" xmlns:a16="http://schemas.microsoft.com/office/drawing/2014/main" id="{178EBF35-26B2-480A-87C2-82B04DC82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508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사업실적 현황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2" name="Rectangle 43">
            <a:extLst>
              <a:ext uri="{FF2B5EF4-FFF2-40B4-BE49-F238E27FC236}">
                <a16:creationId xmlns="" xmlns:a16="http://schemas.microsoft.com/office/drawing/2014/main" id="{A402D1D2-36A2-408F-9FA1-94C47FEEA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2120" y="33929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5.6.1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선수수익결산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3" name="Rectangle 43">
            <a:extLst>
              <a:ext uri="{FF2B5EF4-FFF2-40B4-BE49-F238E27FC236}">
                <a16:creationId xmlns="" xmlns:a16="http://schemas.microsoft.com/office/drawing/2014/main" id="{70CCE5AE-3D2E-4940-9C11-ABFBE5F5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133" y="3946770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solidFill>
                  <a:srgbClr val="0000CC"/>
                </a:solidFill>
                <a:latin typeface="+mn-ea"/>
              </a:rPr>
              <a:t>5.3.2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solidFill>
                  <a:srgbClr val="0000CC"/>
                </a:solidFill>
                <a:latin typeface="+mn-ea"/>
              </a:rPr>
              <a:t>실행계획 관리</a:t>
            </a:r>
            <a:endParaRPr lang="en-US" altLang="ko-KR" sz="1100" b="1" kern="0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334" name="Rectangle 43">
            <a:extLst>
              <a:ext uri="{FF2B5EF4-FFF2-40B4-BE49-F238E27FC236}">
                <a16:creationId xmlns="" xmlns:a16="http://schemas.microsoft.com/office/drawing/2014/main" id="{C6AF2B82-F503-46E0-AD73-C09C27E99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133" y="4500543"/>
            <a:ext cx="103516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5.3.3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사업실적집계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36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508" y="3946770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사업실적배부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37" name="꺾인 연결선 91">
            <a:extLst>
              <a:ext uri="{FF2B5EF4-FFF2-40B4-BE49-F238E27FC236}">
                <a16:creationId xmlns="" xmlns:a16="http://schemas.microsoft.com/office/drawing/2014/main" id="{46BE52CD-219C-4FE0-BAF9-A389CB6A694E}"/>
              </a:ext>
            </a:extLst>
          </p:cNvPr>
          <p:cNvCxnSpPr>
            <a:stCxn id="321" idx="2"/>
            <a:endCxn id="329" idx="0"/>
          </p:cNvCxnSpPr>
          <p:nvPr/>
        </p:nvCxnSpPr>
        <p:spPr bwMode="auto">
          <a:xfrm>
            <a:off x="4562717" y="3126413"/>
            <a:ext cx="0" cy="26658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8" name="꺾인 연결선 91">
            <a:extLst>
              <a:ext uri="{FF2B5EF4-FFF2-40B4-BE49-F238E27FC236}">
                <a16:creationId xmlns="" xmlns:a16="http://schemas.microsoft.com/office/drawing/2014/main" id="{E5264E3C-153B-4603-8339-982EA3EFD6B0}"/>
              </a:ext>
            </a:extLst>
          </p:cNvPr>
          <p:cNvCxnSpPr>
            <a:stCxn id="322" idx="2"/>
            <a:endCxn id="330" idx="0"/>
          </p:cNvCxnSpPr>
          <p:nvPr/>
        </p:nvCxnSpPr>
        <p:spPr bwMode="auto">
          <a:xfrm>
            <a:off x="6005022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9" name="꺾인 연결선 91">
            <a:extLst>
              <a:ext uri="{FF2B5EF4-FFF2-40B4-BE49-F238E27FC236}">
                <a16:creationId xmlns="" xmlns:a16="http://schemas.microsoft.com/office/drawing/2014/main" id="{EFB36DBF-C4D7-484B-B813-6C87C11905B8}"/>
              </a:ext>
            </a:extLst>
          </p:cNvPr>
          <p:cNvCxnSpPr>
            <a:stCxn id="323" idx="2"/>
            <a:endCxn id="349" idx="0"/>
          </p:cNvCxnSpPr>
          <p:nvPr/>
        </p:nvCxnSpPr>
        <p:spPr bwMode="auto">
          <a:xfrm>
            <a:off x="7447327" y="3126413"/>
            <a:ext cx="35" cy="27693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0" name="꺾인 연결선 91">
            <a:extLst>
              <a:ext uri="{FF2B5EF4-FFF2-40B4-BE49-F238E27FC236}">
                <a16:creationId xmlns="" xmlns:a16="http://schemas.microsoft.com/office/drawing/2014/main" id="{D538DF82-7B4A-4238-AA2A-4BD4B1FC198E}"/>
              </a:ext>
            </a:extLst>
          </p:cNvPr>
          <p:cNvCxnSpPr>
            <a:stCxn id="324" idx="2"/>
            <a:endCxn id="332" idx="0"/>
          </p:cNvCxnSpPr>
          <p:nvPr/>
        </p:nvCxnSpPr>
        <p:spPr bwMode="auto">
          <a:xfrm>
            <a:off x="8889634" y="3126413"/>
            <a:ext cx="3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1" name="꺾인 연결선 91">
            <a:extLst>
              <a:ext uri="{FF2B5EF4-FFF2-40B4-BE49-F238E27FC236}">
                <a16:creationId xmlns="" xmlns:a16="http://schemas.microsoft.com/office/drawing/2014/main" id="{C1093954-97D2-42CF-B1F6-164C80F61F06}"/>
              </a:ext>
            </a:extLst>
          </p:cNvPr>
          <p:cNvCxnSpPr>
            <a:stCxn id="329" idx="2"/>
            <a:endCxn id="333" idx="0"/>
          </p:cNvCxnSpPr>
          <p:nvPr/>
        </p:nvCxnSpPr>
        <p:spPr bwMode="auto">
          <a:xfrm>
            <a:off x="4562717" y="3815738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2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stCxn id="330" idx="2"/>
            <a:endCxn id="336" idx="0"/>
          </p:cNvCxnSpPr>
          <p:nvPr/>
        </p:nvCxnSpPr>
        <p:spPr bwMode="auto">
          <a:xfrm>
            <a:off x="6005057" y="3815737"/>
            <a:ext cx="0" cy="13103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3" name="꺾인 연결선 91">
            <a:extLst>
              <a:ext uri="{FF2B5EF4-FFF2-40B4-BE49-F238E27FC236}">
                <a16:creationId xmlns="" xmlns:a16="http://schemas.microsoft.com/office/drawing/2014/main" id="{0FDB1728-739B-4663-8E33-2C7F9C8B6D4C}"/>
              </a:ext>
            </a:extLst>
          </p:cNvPr>
          <p:cNvCxnSpPr>
            <a:stCxn id="333" idx="2"/>
            <a:endCxn id="334" idx="0"/>
          </p:cNvCxnSpPr>
          <p:nvPr/>
        </p:nvCxnSpPr>
        <p:spPr bwMode="auto">
          <a:xfrm>
            <a:off x="4562717" y="4369511"/>
            <a:ext cx="0" cy="131032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9" name="Rectangle 43">
            <a:extLst>
              <a:ext uri="{FF2B5EF4-FFF2-40B4-BE49-F238E27FC236}">
                <a16:creationId xmlns="" xmlns:a16="http://schemas.microsoft.com/office/drawing/2014/main" id="{516D57EA-8179-4547-AFA2-EF10E8DF8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9813" y="3403352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기성청구 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0" name="Rectangle 43">
            <a:extLst>
              <a:ext uri="{FF2B5EF4-FFF2-40B4-BE49-F238E27FC236}">
                <a16:creationId xmlns="" xmlns:a16="http://schemas.microsoft.com/office/drawing/2014/main" id="{A9BE069A-19F1-4EFE-B1F4-D663E17A6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9813" y="3959098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기성청구 현황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2" name="꺾인 연결선 91">
            <a:extLst>
              <a:ext uri="{FF2B5EF4-FFF2-40B4-BE49-F238E27FC236}">
                <a16:creationId xmlns="" xmlns:a16="http://schemas.microsoft.com/office/drawing/2014/main" id="{D9020392-6D4A-4B21-8B86-95FF602905AC}"/>
              </a:ext>
            </a:extLst>
          </p:cNvPr>
          <p:cNvCxnSpPr>
            <a:stCxn id="349" idx="2"/>
            <a:endCxn id="350" idx="0"/>
          </p:cNvCxnSpPr>
          <p:nvPr/>
        </p:nvCxnSpPr>
        <p:spPr bwMode="auto">
          <a:xfrm>
            <a:off x="7447362" y="3826093"/>
            <a:ext cx="0" cy="133005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53" name="Rectangle 43">
            <a:extLst>
              <a:ext uri="{FF2B5EF4-FFF2-40B4-BE49-F238E27FC236}">
                <a16:creationId xmlns="" xmlns:a16="http://schemas.microsoft.com/office/drawing/2014/main" id="{1FE693CD-399F-49A0-809A-A7B82892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2898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5.2.2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입찰자료 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4" name="Rectangle 43">
            <a:extLst>
              <a:ext uri="{FF2B5EF4-FFF2-40B4-BE49-F238E27FC236}">
                <a16:creationId xmlns="" xmlns:a16="http://schemas.microsoft.com/office/drawing/2014/main" id="{3F7C3607-3FBE-4F11-994A-E538406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2898" y="44965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5.2.3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입찰진행관리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355" name="Rectangle 43">
            <a:extLst>
              <a:ext uri="{FF2B5EF4-FFF2-40B4-BE49-F238E27FC236}">
                <a16:creationId xmlns="" xmlns:a16="http://schemas.microsoft.com/office/drawing/2014/main" id="{376807C9-270C-4295-BADB-AB6D87D4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2898" y="505140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5.2.4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입찰결과관리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356" name="꺾인 연결선 91">
            <a:extLst>
              <a:ext uri="{FF2B5EF4-FFF2-40B4-BE49-F238E27FC236}">
                <a16:creationId xmlns="" xmlns:a16="http://schemas.microsoft.com/office/drawing/2014/main" id="{C40C9A90-9A50-4418-A92B-D549DB775864}"/>
              </a:ext>
            </a:extLst>
          </p:cNvPr>
          <p:cNvCxnSpPr>
            <a:stCxn id="318" idx="2"/>
            <a:endCxn id="353" idx="0"/>
          </p:cNvCxnSpPr>
          <p:nvPr/>
        </p:nvCxnSpPr>
        <p:spPr bwMode="auto">
          <a:xfrm>
            <a:off x="3120447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7" name="꺾인 연결선 91">
            <a:extLst>
              <a:ext uri="{FF2B5EF4-FFF2-40B4-BE49-F238E27FC236}">
                <a16:creationId xmlns="" xmlns:a16="http://schemas.microsoft.com/office/drawing/2014/main" id="{B65E55FB-9ED9-49B9-A004-E4FAF0F3433F}"/>
              </a:ext>
            </a:extLst>
          </p:cNvPr>
          <p:cNvCxnSpPr>
            <a:stCxn id="353" idx="2"/>
            <a:endCxn id="354" idx="0"/>
          </p:cNvCxnSpPr>
          <p:nvPr/>
        </p:nvCxnSpPr>
        <p:spPr bwMode="auto">
          <a:xfrm>
            <a:off x="3120447" y="43675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8" name="꺾인 연결선 91">
            <a:extLst>
              <a:ext uri="{FF2B5EF4-FFF2-40B4-BE49-F238E27FC236}">
                <a16:creationId xmlns="" xmlns:a16="http://schemas.microsoft.com/office/drawing/2014/main" id="{BC32C143-0962-4169-9BDC-CE51A8DF9DB6}"/>
              </a:ext>
            </a:extLst>
          </p:cNvPr>
          <p:cNvCxnSpPr>
            <a:stCxn id="354" idx="2"/>
            <a:endCxn id="355" idx="0"/>
          </p:cNvCxnSpPr>
          <p:nvPr/>
        </p:nvCxnSpPr>
        <p:spPr bwMode="auto">
          <a:xfrm>
            <a:off x="3120447" y="4919337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Rectangle 43">
            <a:extLst>
              <a:ext uri="{FF2B5EF4-FFF2-40B4-BE49-F238E27FC236}">
                <a16:creationId xmlns="" xmlns:a16="http://schemas.microsoft.com/office/drawing/2014/main" id="{78B858DD-518B-45F9-8530-B0F311347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2120" y="3944796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5.6.2</a:t>
            </a: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pc="-150" smtClean="0">
                <a:latin typeface="+mn-ea"/>
              </a:rPr>
              <a:t>미수수익 결산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60" name="꺾인 연결선 91">
            <a:extLst>
              <a:ext uri="{FF2B5EF4-FFF2-40B4-BE49-F238E27FC236}">
                <a16:creationId xmlns="" xmlns:a16="http://schemas.microsoft.com/office/drawing/2014/main" id="{AD7CD1B6-DB58-4971-90B4-343157356751}"/>
              </a:ext>
            </a:extLst>
          </p:cNvPr>
          <p:cNvCxnSpPr>
            <a:cxnSpLocks/>
            <a:stCxn id="59" idx="0"/>
            <a:endCxn id="332" idx="2"/>
          </p:cNvCxnSpPr>
          <p:nvPr/>
        </p:nvCxnSpPr>
        <p:spPr bwMode="auto">
          <a:xfrm flipV="1">
            <a:off x="8889669" y="3815737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6" name="Rectangle 43">
            <a:extLst>
              <a:ext uri="{FF2B5EF4-FFF2-40B4-BE49-F238E27FC236}">
                <a16:creationId xmlns="" xmlns:a16="http://schemas.microsoft.com/office/drawing/2014/main" id="{CE600711-459B-49BE-98FC-F7DDC039C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058161"/>
            <a:ext cx="566033" cy="389930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Level1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Rectangle 43">
            <a:extLst>
              <a:ext uri="{FF2B5EF4-FFF2-40B4-BE49-F238E27FC236}">
                <a16:creationId xmlns="" xmlns:a16="http://schemas.microsoft.com/office/drawing/2014/main" id="{D4181FB3-E5A1-4294-AEE4-A86E412A0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2553774"/>
            <a:ext cx="566033" cy="689558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Level2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Rectangle 43">
            <a:extLst>
              <a:ext uri="{FF2B5EF4-FFF2-40B4-BE49-F238E27FC236}">
                <a16:creationId xmlns="" xmlns:a16="http://schemas.microsoft.com/office/drawing/2014/main" id="{70FA894C-28C6-49F0-8FC0-617614258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81" y="3330295"/>
            <a:ext cx="566033" cy="2907017"/>
          </a:xfrm>
          <a:prstGeom prst="roundRect">
            <a:avLst>
              <a:gd name="adj" fmla="val 0"/>
            </a:avLst>
          </a:prstGeom>
          <a:solidFill>
            <a:sysClr val="windowText" lastClr="000000">
              <a:lumMod val="75000"/>
              <a:lumOff val="25000"/>
            </a:sysClr>
          </a:solidFill>
          <a:ln w="12700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E3DED1"/>
            </a:outerShdw>
          </a:effectLst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50" b="1" kern="0" smtClean="0">
                <a:solidFill>
                  <a:schemeClr val="bg1"/>
                </a:solidFill>
                <a:latin typeface="+mn-ea"/>
              </a:rPr>
              <a:t>Level3</a:t>
            </a:r>
            <a:endParaRPr kumimoji="1" lang="en-US" altLang="ko-KR" sz="1050" b="1" kern="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Rectangle 43">
            <a:extLst>
              <a:ext uri="{FF2B5EF4-FFF2-40B4-BE49-F238E27FC236}">
                <a16:creationId xmlns="" xmlns:a16="http://schemas.microsoft.com/office/drawing/2014/main" id="{E3D82401-A830-0602-D55A-3D7323EE7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523" y="2724418"/>
            <a:ext cx="1035168" cy="39937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5.1 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사업기획관리</a:t>
            </a:r>
            <a:endParaRPr lang="en-US" altLang="ko-KR" sz="1100" b="1" kern="0" spc="-150" dirty="0">
              <a:latin typeface="+mn-ea"/>
            </a:endParaRPr>
          </a:p>
        </p:txBody>
      </p:sp>
      <p:sp>
        <p:nvSpPr>
          <p:cNvPr id="21" name="Rectangle 43">
            <a:extLst>
              <a:ext uri="{FF2B5EF4-FFF2-40B4-BE49-F238E27FC236}">
                <a16:creationId xmlns="" xmlns:a16="http://schemas.microsoft.com/office/drawing/2014/main" id="{8C7218AA-FA01-AE9E-4347-DEE45D2A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3903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5.1.1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사업분류등록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2" name="Rectangle 43">
            <a:extLst>
              <a:ext uri="{FF2B5EF4-FFF2-40B4-BE49-F238E27FC236}">
                <a16:creationId xmlns="" xmlns:a16="http://schemas.microsoft.com/office/drawing/2014/main" id="{85039B3D-D699-ACE0-8607-D30FCBAC3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39421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5.1.2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사업코드 등록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3" name="Rectangle 43">
            <a:extLst>
              <a:ext uri="{FF2B5EF4-FFF2-40B4-BE49-F238E27FC236}">
                <a16:creationId xmlns="" xmlns:a16="http://schemas.microsoft.com/office/drawing/2014/main" id="{318A1D3C-FCE5-FC6A-4E77-B5408E833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449397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5.1.3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사업기획관리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24" name="Rectangle 43">
            <a:extLst>
              <a:ext uri="{FF2B5EF4-FFF2-40B4-BE49-F238E27FC236}">
                <a16:creationId xmlns="" xmlns:a16="http://schemas.microsoft.com/office/drawing/2014/main" id="{F9CE4552-706A-773D-CCD3-003F657CC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453" y="5048785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rgbClr val="015EBB"/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5.1.4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사업전략관리</a:t>
            </a:r>
            <a:endParaRPr lang="en-US" altLang="ko-KR" sz="1100" b="1" kern="0" dirty="0">
              <a:latin typeface="+mn-ea"/>
            </a:endParaRPr>
          </a:p>
        </p:txBody>
      </p:sp>
      <p:sp>
        <p:nvSpPr>
          <p:cNvPr id="51" name="제목 2">
            <a:extLst>
              <a:ext uri="{FF2B5EF4-FFF2-40B4-BE49-F238E27FC236}">
                <a16:creationId xmlns="" xmlns:a16="http://schemas.microsoft.com/office/drawing/2014/main" id="{9551AA14-AB9F-55B5-4876-85ECDC318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3.6.1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3.6</a:t>
            </a:r>
            <a:r>
              <a:rPr lang="en-US" altLang="ko-KR" sz="1800" smtClean="0">
                <a:solidFill>
                  <a:prstClr val="black"/>
                </a:solidFill>
              </a:rPr>
              <a:t>.1.1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>
                <a:solidFill>
                  <a:prstClr val="black"/>
                </a:solidFill>
              </a:rPr>
              <a:t>업무분류 </a:t>
            </a:r>
            <a:r>
              <a:rPr lang="ko-KR" altLang="en-US" sz="1800" smtClean="0">
                <a:solidFill>
                  <a:prstClr val="black"/>
                </a:solidFill>
              </a:rPr>
              <a:t>구조도</a:t>
            </a:r>
            <a:endParaRPr lang="ko-KR" altLang="en-US" sz="1800" dirty="0"/>
          </a:p>
        </p:txBody>
      </p:sp>
      <p:sp>
        <p:nvSpPr>
          <p:cNvPr id="70" name="Rectangle 43">
            <a:extLst>
              <a:ext uri="{FF2B5EF4-FFF2-40B4-BE49-F238E27FC236}">
                <a16:creationId xmlns="" xmlns:a16="http://schemas.microsoft.com/office/drawing/2014/main" id="{553D359E-ECF9-404B-BF6B-276C1785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508" y="4500543"/>
            <a:ext cx="1035098" cy="42274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12700" algn="ctr">
            <a:solidFill>
              <a:schemeClr val="tx1">
                <a:lumMod val="65000"/>
                <a:lumOff val="35000"/>
              </a:schemeClr>
            </a:solidFill>
            <a:miter lim="800000"/>
            <a:headEnd/>
            <a:tailEnd/>
          </a:ln>
          <a:effectLst/>
        </p:spPr>
        <p:txBody>
          <a:bodyPr wrap="square" lIns="72000" tIns="36000" rIns="72000" bIns="36000" anchor="ctr"/>
          <a:lstStyle/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en-US" altLang="ko-KR" sz="1100" b="1" kern="0" smtClean="0">
                <a:latin typeface="+mn-ea"/>
              </a:rPr>
              <a:t>5.5.3</a:t>
            </a:r>
            <a:endParaRPr lang="en-US" altLang="ko-KR" sz="1100" b="1" kern="0" dirty="0">
              <a:latin typeface="+mn-ea"/>
            </a:endParaRPr>
          </a:p>
          <a:p>
            <a:pPr algn="ctr" eaLnBrk="0" fontAlgn="base" latinLnBrk="0" hangingPunct="0">
              <a:spcAft>
                <a:spcPct val="0"/>
              </a:spcAft>
              <a:buClr>
                <a:prstClr val="black"/>
              </a:buClr>
              <a:buSzPct val="90000"/>
            </a:pPr>
            <a:r>
              <a:rPr lang="ko-KR" altLang="en-US" sz="1100" b="1" kern="0" smtClean="0">
                <a:latin typeface="+mn-ea"/>
              </a:rPr>
              <a:t>사업별 원가</a:t>
            </a:r>
            <a:endParaRPr lang="en-US" altLang="ko-KR" sz="1100" b="1" kern="0" dirty="0">
              <a:latin typeface="+mn-ea"/>
            </a:endParaRPr>
          </a:p>
        </p:txBody>
      </p:sp>
      <p:cxnSp>
        <p:nvCxnSpPr>
          <p:cNvPr id="71" name="꺾인 연결선 16">
            <a:extLst>
              <a:ext uri="{FF2B5EF4-FFF2-40B4-BE49-F238E27FC236}">
                <a16:creationId xmlns="" xmlns:a16="http://schemas.microsoft.com/office/drawing/2014/main" id="{3527B8CC-4135-46EF-B509-FECE5DAD555E}"/>
              </a:ext>
            </a:extLst>
          </p:cNvPr>
          <p:cNvCxnSpPr>
            <a:cxnSpLocks/>
            <a:stCxn id="320" idx="2"/>
            <a:endCxn id="20" idx="0"/>
          </p:cNvCxnSpPr>
          <p:nvPr/>
        </p:nvCxnSpPr>
        <p:spPr bwMode="auto">
          <a:xfrm rot="5400000">
            <a:off x="3351038" y="783319"/>
            <a:ext cx="268169" cy="361402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0" idx="2"/>
            <a:endCxn id="21" idx="0"/>
          </p:cNvCxnSpPr>
          <p:nvPr/>
        </p:nvCxnSpPr>
        <p:spPr bwMode="auto">
          <a:xfrm flipH="1">
            <a:off x="1678002" y="3123792"/>
            <a:ext cx="105" cy="266583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1" idx="2"/>
            <a:endCxn id="22" idx="0"/>
          </p:cNvCxnSpPr>
          <p:nvPr/>
        </p:nvCxnSpPr>
        <p:spPr bwMode="auto">
          <a:xfrm>
            <a:off x="1678002" y="38131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2" idx="2"/>
            <a:endCxn id="23" idx="0"/>
          </p:cNvCxnSpPr>
          <p:nvPr/>
        </p:nvCxnSpPr>
        <p:spPr bwMode="auto">
          <a:xfrm>
            <a:off x="1678002" y="4364916"/>
            <a:ext cx="0" cy="12905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꺾인 연결선 91">
            <a:extLst>
              <a:ext uri="{FF2B5EF4-FFF2-40B4-BE49-F238E27FC236}">
                <a16:creationId xmlns="" xmlns:a16="http://schemas.microsoft.com/office/drawing/2014/main" id="{B0A7D987-FCF9-44DF-AA7E-C84A8DEA1277}"/>
              </a:ext>
            </a:extLst>
          </p:cNvPr>
          <p:cNvCxnSpPr>
            <a:stCxn id="23" idx="2"/>
            <a:endCxn id="24" idx="0"/>
          </p:cNvCxnSpPr>
          <p:nvPr/>
        </p:nvCxnSpPr>
        <p:spPr bwMode="auto">
          <a:xfrm>
            <a:off x="1678002" y="4916716"/>
            <a:ext cx="0" cy="132069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9" name="꺾인 연결선 91">
            <a:extLst>
              <a:ext uri="{FF2B5EF4-FFF2-40B4-BE49-F238E27FC236}">
                <a16:creationId xmlns="" xmlns:a16="http://schemas.microsoft.com/office/drawing/2014/main" id="{498B867C-3266-4F6D-A473-81764FDFAFA6}"/>
              </a:ext>
            </a:extLst>
          </p:cNvPr>
          <p:cNvCxnSpPr>
            <a:endCxn id="70" idx="0"/>
          </p:cNvCxnSpPr>
          <p:nvPr/>
        </p:nvCxnSpPr>
        <p:spPr bwMode="auto">
          <a:xfrm>
            <a:off x="6004919" y="4381839"/>
            <a:ext cx="138" cy="118704"/>
          </a:xfrm>
          <a:prstGeom prst="straightConnector1">
            <a:avLst/>
          </a:prstGeom>
          <a:solidFill>
            <a:srgbClr val="FBB779"/>
          </a:solidFill>
          <a:ln w="12700" cap="flat" cmpd="sng" algn="ctr">
            <a:solidFill>
              <a:srgbClr val="000000">
                <a:lumMod val="50000"/>
                <a:lumOff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87335085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사업을 분류하고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예상사업정보를 등록하여 조달사이트에서 해당사업의 입찰진행 정보를 취합하고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단계별 정보를 취합하여 내부적으로 신속하게 대응할 수 있도록 자료를 제공하고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수주사업에 대한 실행계획과 실시간 실적 집계로 사업별 원가</a:t>
            </a:r>
            <a:r>
              <a:rPr lang="en-US" altLang="ko-KR" smtClean="0">
                <a:latin typeface="+mn-ea"/>
                <a:ea typeface="+mn-ea"/>
              </a:rPr>
              <a:t>,</a:t>
            </a:r>
            <a:r>
              <a:rPr lang="ko-KR" altLang="en-US" smtClean="0">
                <a:latin typeface="+mn-ea"/>
                <a:ea typeface="+mn-ea"/>
              </a:rPr>
              <a:t> 기성 신청 자료를 제공하고 사업별 결산을 처리</a:t>
            </a:r>
            <a:endParaRPr lang="ko-KR" altLang="en-US" dirty="0">
              <a:latin typeface="+mn-ea"/>
              <a:ea typeface="+mn-ea"/>
            </a:endParaRP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6552728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3.6.1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3.6.1.2 </a:t>
            </a:r>
            <a:r>
              <a:rPr lang="ko-KR" altLang="en-US" sz="1800" smtClean="0"/>
              <a:t>사업관리 </a:t>
            </a:r>
            <a:r>
              <a:rPr lang="ko-KR" altLang="en-US" sz="1800" smtClean="0">
                <a:solidFill>
                  <a:prstClr val="black"/>
                </a:solidFill>
              </a:rPr>
              <a:t>업무기능 </a:t>
            </a:r>
            <a:r>
              <a:rPr lang="ko-KR" altLang="en-US" sz="1800" dirty="0">
                <a:solidFill>
                  <a:prstClr val="black"/>
                </a:solidFill>
              </a:rPr>
              <a:t>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="" xmlns:a16="http://schemas.microsoft.com/office/drawing/2014/main" id="{E9F2C507-AF08-4734-AD3C-A634FC74D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128686"/>
              </p:ext>
            </p:extLst>
          </p:nvPr>
        </p:nvGraphicFramePr>
        <p:xfrm>
          <a:off x="354520" y="1628803"/>
          <a:ext cx="9180512" cy="4514841"/>
        </p:xfrm>
        <a:graphic>
          <a:graphicData uri="http://schemas.openxmlformats.org/drawingml/2006/table">
            <a:tbl>
              <a:tblPr firstRow="1" bandRow="1"/>
              <a:tblGrid>
                <a:gridCol w="3948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1176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9959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8884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392761856"/>
                    </a:ext>
                  </a:extLst>
                </a:gridCol>
                <a:gridCol w="742844">
                  <a:extLst>
                    <a:ext uri="{9D8B030D-6E8A-4147-A177-3AD203B41FA5}">
                      <a16:colId xmlns="" xmlns:a16="http://schemas.microsoft.com/office/drawing/2014/main" val="2283819833"/>
                    </a:ext>
                  </a:extLst>
                </a:gridCol>
                <a:gridCol w="1606940">
                  <a:extLst>
                    <a:ext uri="{9D8B030D-6E8A-4147-A177-3AD203B41FA5}">
                      <a16:colId xmlns="" xmlns:a16="http://schemas.microsoft.com/office/drawing/2014/main" val="3659144700"/>
                    </a:ext>
                  </a:extLst>
                </a:gridCol>
              </a:tblGrid>
              <a:tr h="27720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주관 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7202"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사업기획관리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사업을 분류하고 사업정보를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기술사업본부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환경사업본부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1)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사업분류코드 등록</a:t>
                      </a:r>
                      <a:endParaRPr lang="en-US" altLang="ko-KR" sz="1000" b="0" i="0" u="none" strike="noStrike" baseline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2) </a:t>
                      </a:r>
                      <a:r>
                        <a:rPr lang="ko-KR" altLang="en-US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사업코드</a:t>
                      </a: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등록</a:t>
                      </a: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3) </a:t>
                      </a:r>
                      <a:r>
                        <a:rPr lang="ko-KR" altLang="en-US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일정계획 관리</a:t>
                      </a: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</a:t>
                      </a:r>
                      <a:endParaRPr lang="en-US" altLang="ko-KR" sz="1000" b="0" i="0" u="none" strike="noStrike" spc="-150" smtClean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사업분류등록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 체계를 분류하여 사업코드 등록 및 원가 배부 작업시 참조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755330139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사업코드관리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사업의 분류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557783185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사업기획관리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수주예상사업을 등록하고 예상년월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담당자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진행상태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 등을 입력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148509401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사업전략관리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수주예상사업의 입찰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 일정 계획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433555722"/>
                  </a:ext>
                </a:extLst>
              </a:tr>
              <a:tr h="277202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수주진행관리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사전규격등록부터 수주까지의 진행 관리 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기술사업본부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환경사업본부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각지사</a:t>
                      </a: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 진행현황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사업실적 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출력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기술자정보 등록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출력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4) RPA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입찰정보 취합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현장설명회 결과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입찰결과 관리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58059666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latin typeface="+mn-ea"/>
                          <a:ea typeface="+mn-ea"/>
                        </a:rPr>
                        <a:t>수주진행관리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 대상사업에 대한 진행상태를 관리 및 영업활동 이력 입력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</a:rPr>
                        <a:t>입찰자료 관리</a:t>
                      </a:r>
                      <a:endParaRPr lang="ko-KR" altLang="en-US" sz="10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제안 및 입찰 제출용 사업실적 및 보유기술자 정보를 입력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출력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</a:rPr>
                        <a:t>입찰진행 관리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조달 사이트에서 건별 진행정보를 취득하여 진행정보로 등록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</a:rPr>
                        <a:t>입찰결과 관리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투찰금액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낙찰업체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낙찰가 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 의견 등 결과관리 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77202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dirty="0"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smtClean="0">
                          <a:latin typeface="+mn-ea"/>
                          <a:ea typeface="+mn-ea"/>
                        </a:rPr>
                        <a:t>사업실행관리</a:t>
                      </a: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수주정보를 관리하고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실행계획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 및 실적을 집계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기술사업본부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smtClean="0">
                          <a:latin typeface="맑은 고딕" pitchFamily="50" charset="-127"/>
                          <a:ea typeface="+mn-ea"/>
                        </a:rPr>
                        <a:t>환경사업본부</a:t>
                      </a:r>
                      <a:endParaRPr lang="en-US" altLang="ko-KR" sz="1000" b="0" smtClean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 조달정보 취득</a:t>
                      </a: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(RPA)</a:t>
                      </a:r>
                      <a:endParaRPr lang="ko-KR" altLang="en-US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2)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실행예산 편성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3)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사업별 일정계획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4)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투입계획 관리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5) </a:t>
                      </a:r>
                      <a:r>
                        <a:rPr lang="ko-KR" altLang="en-US" sz="1000" b="0" smtClean="0">
                          <a:latin typeface="+mn-ea"/>
                          <a:ea typeface="+mn-ea"/>
                        </a:rPr>
                        <a:t>지출 실적 자동집계</a:t>
                      </a:r>
                      <a:endParaRPr lang="en-US" altLang="ko-KR" sz="1000" b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smtClean="0">
                          <a:latin typeface="+mn-ea"/>
                          <a:ea typeface="+mn-ea"/>
                        </a:rPr>
                        <a:t>6)</a:t>
                      </a: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투입인력 입력</a:t>
                      </a:r>
                      <a:endParaRPr lang="en-US" altLang="ko-KR" sz="1000" b="0" baseline="0" smtClean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baseline="0" smtClean="0">
                          <a:latin typeface="+mn-ea"/>
                          <a:ea typeface="+mn-ea"/>
                        </a:rPr>
                        <a:t>7) </a:t>
                      </a:r>
                      <a:r>
                        <a:rPr lang="ko-KR" altLang="en-US" sz="1000" b="0" baseline="0" smtClean="0">
                          <a:latin typeface="+mn-ea"/>
                          <a:ea typeface="+mn-ea"/>
                        </a:rPr>
                        <a:t>투입자재 입력</a:t>
                      </a: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568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latin typeface="+mn-ea"/>
                        </a:rPr>
                        <a:t>사업수주관리</a:t>
                      </a:r>
                      <a:endParaRPr lang="en-US" altLang="ko-KR" sz="1000" b="1" kern="0" dirty="0"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나라장터의 계약정보를  확인하여 시스템에 입력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latin typeface="+mn-ea"/>
                        </a:rPr>
                        <a:t>실행계획 관리</a:t>
                      </a:r>
                      <a:endParaRPr lang="en-US" altLang="ko-KR" sz="1000" b="1" kern="0" dirty="0"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후 실행계획 정보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예산정보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일정계획정보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투입계획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772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latin typeface="+mn-ea"/>
                        </a:rPr>
                        <a:t>사업실적집계</a:t>
                      </a:r>
                      <a:endParaRPr lang="en-US" altLang="ko-KR" sz="1000" b="1" kern="0" dirty="0"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지출결의서의 사업별 실적 집계 및 투입 인력과</a:t>
                      </a:r>
                      <a:r>
                        <a:rPr lang="en-US" altLang="ko-KR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투입자재 집계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6860491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목표모델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  <a:latin typeface="+mn-lt"/>
                <a:ea typeface="+mn-ea"/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  <a:p>
            <a:pPr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  <a:latin typeface="+mn-lt"/>
                <a:ea typeface="+mn-ea"/>
              </a:rPr>
              <a:t>3.6 </a:t>
            </a:r>
            <a:r>
              <a:rPr lang="ko-KR" altLang="en-US" sz="1200" smtClean="0">
                <a:solidFill>
                  <a:prstClr val="black"/>
                </a:solidFill>
                <a:latin typeface="+mn-lt"/>
                <a:ea typeface="+mn-ea"/>
              </a:rPr>
              <a:t>사업관리 </a:t>
            </a:r>
            <a:r>
              <a:rPr lang="ko-KR" altLang="en-US" sz="1200" dirty="0">
                <a:solidFill>
                  <a:prstClr val="black"/>
                </a:solidFill>
                <a:latin typeface="+mn-lt"/>
                <a:ea typeface="+mn-ea"/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  <a:latin typeface="+mn-lt"/>
              <a:ea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="" xmlns:a16="http://schemas.microsoft.com/office/drawing/2014/main" id="{EA81E65E-B8D8-451B-BB56-CC5F3ED460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0169123"/>
              </p:ext>
            </p:extLst>
          </p:nvPr>
        </p:nvGraphicFramePr>
        <p:xfrm>
          <a:off x="350002" y="881346"/>
          <a:ext cx="9180514" cy="5355941"/>
        </p:xfrm>
        <a:graphic>
          <a:graphicData uri="http://schemas.openxmlformats.org/drawingml/2006/table">
            <a:tbl>
              <a:tblPr firstRow="1" bandRow="1"/>
              <a:tblGrid>
                <a:gridCol w="40123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08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396044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619674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276717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000" b="1" spc="-100" baseline="0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lang="ko-KR" altLang="en-US" sz="1000" b="1" spc="-100" baseline="0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업무명칭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정의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주관조직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사용조직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개선사항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Lv2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bg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Lv3</a:t>
                      </a:r>
                      <a:endParaRPr lang="ko-KR" altLang="en-US" sz="1000" b="1" dirty="0">
                        <a:solidFill>
                          <a:schemeClr val="bg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1458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6717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pc="-150" smtClean="0">
                          <a:solidFill>
                            <a:srgbClr val="000000"/>
                          </a:solidFill>
                          <a:latin typeface="+mn-ea"/>
                        </a:rPr>
                        <a:t>사업실적 관리</a:t>
                      </a:r>
                      <a:endParaRPr lang="en-US" altLang="ko-KR" sz="1000" b="1" kern="0" spc="-150" dirty="0">
                        <a:solidFill>
                          <a:srgbClr val="000000"/>
                        </a:solidFill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marR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실적 집계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공통비 간접비에 대한 배부로 사업별 손익 계산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각종 실적 조회 기능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공통비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간접비의 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 배부기준 관리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배부 기능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5856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사업실적 현황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각종  사업실적  현항 조회 기능 구축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사업별로 실 투입공수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자재 용품사용 실적집계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일일 근태기록 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안전관리 일보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보건관리 일보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환경관리 일보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품질관리 일보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계약관련 도급 지출전표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자재 재고관리 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PO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자재발주 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계정별 지출전표 집계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소모용품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폐기물처리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시설재료비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간이 영수증 관련 지출전표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제초용품 사용 실적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안전관리비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기계경비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임차료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손해보험료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차량비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유류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보험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렌트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톨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정비 포함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앱사용료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급여처리 국민연금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회사부담금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건강보험 외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회사부담금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감가상각비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복리후생비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제초작업비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외주비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도장재료 투입실적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및 월별 집계 처리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 기성기준 집계 처리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정산 토탈 집계 처리</a:t>
                      </a:r>
                      <a:r>
                        <a:rPr lang="en-US" altLang="ko-KR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pc="-150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결산 부속 서류를 위한 집계 처리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 실적 배부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계정별 배부기준 관리 및 공통비 간접비에 대한 사업별 배부 계산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원가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배부계산 후 사업별 손익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예실대비표 관리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4150836785"/>
                  </a:ext>
                </a:extLst>
              </a:tr>
              <a:tr h="276717"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pc="-150" smtClean="0">
                          <a:solidFill>
                            <a:srgbClr val="000000"/>
                          </a:solidFill>
                          <a:latin typeface="+mn-ea"/>
                        </a:rPr>
                        <a:t>기성청구관리</a:t>
                      </a:r>
                      <a:endParaRPr lang="en-US" altLang="ko-KR" sz="1000" b="1" kern="0" spc="-150" dirty="0">
                        <a:solidFill>
                          <a:srgbClr val="000000"/>
                        </a:solidFill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기성관리 및 지급조건에 의한 기성 청구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매출계산서 발행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 청구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세금계산서 발행 연계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청구 현황 및 통계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 청구 처리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공정율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기성율에 의한 기성 청구 관리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443431688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매출 계산서 발행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 신청에 대한 매출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세금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계산서 발행 관리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연계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176410975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 청구 현황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사업별 청구내역 조회 및 공정율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기성율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4966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rgbClr val="000000"/>
                          </a:solidFill>
                          <a:latin typeface="+mn-ea"/>
                        </a:rPr>
                        <a:t>사업결산관리</a:t>
                      </a:r>
                      <a:endParaRPr lang="ko-KR" altLang="en-US" sz="1000" b="1" kern="0" dirty="0">
                        <a:solidFill>
                          <a:srgbClr val="000000"/>
                        </a:solidFill>
                        <a:latin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각 사업별 공정율과 기성율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선금 수납 등에 대한 결산전표 생성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 부서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선수수익 결산</a:t>
                      </a:r>
                      <a:endParaRPr lang="en-US" altLang="ko-KR" sz="1000" b="1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미수수익 결산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372411127"/>
                  </a:ext>
                </a:extLst>
              </a:tr>
              <a:tr h="2767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선수수익 결산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예산집행율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공정율</a:t>
                      </a:r>
                      <a:r>
                        <a:rPr lang="en-US" altLang="ko-KR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대비 선금 수납분에 대한 결산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553434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en-US" altLang="ko-KR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algn="ctr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ctr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미수수익  결산</a:t>
                      </a:r>
                      <a:endParaRPr lang="en-US" altLang="ko-KR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돋움"/>
                          <a:ea typeface="돋움"/>
                        </a:defRPr>
                      </a:lvl9pPr>
                    </a:lstStyle>
                    <a:p>
                      <a:pPr marL="0" algn="l" defTabSz="914400" rtl="0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ko-KR" altLang="en-US" sz="1000" b="1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예산집행율 대비 기성율에 대한 미수수익 결산</a:t>
                      </a:r>
                      <a:endParaRPr lang="ko-KR" altLang="en-US" sz="1000" b="1" kern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dirty="0">
                        <a:latin typeface="맑은 고딕" pitchFamily="50" charset="-127"/>
                        <a:ea typeface="+mn-ea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1100" b="1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제목 2">
            <a:extLst>
              <a:ext uri="{FF2B5EF4-FFF2-40B4-BE49-F238E27FC236}">
                <a16:creationId xmlns="" xmlns:a16="http://schemas.microsoft.com/office/drawing/2014/main" id="{C0E42CB6-E8AF-E644-9D0E-99DEEE340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3.6.1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 dirty="0"/>
              <a:t>업무분류 및 기능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3.6.1.2 </a:t>
            </a:r>
            <a:r>
              <a:rPr lang="ko-KR" altLang="en-US" sz="1800" smtClean="0"/>
              <a:t>사업관리 </a:t>
            </a:r>
            <a:r>
              <a:rPr lang="ko-KR" altLang="en-US" sz="1800" smtClean="0">
                <a:solidFill>
                  <a:prstClr val="black"/>
                </a:solidFill>
              </a:rPr>
              <a:t>업무기능 </a:t>
            </a:r>
            <a:r>
              <a:rPr lang="ko-KR" altLang="en-US" sz="1800" dirty="0">
                <a:solidFill>
                  <a:prstClr val="black"/>
                </a:solidFill>
              </a:rPr>
              <a:t>정의 </a:t>
            </a:r>
            <a:r>
              <a:rPr lang="en-US" altLang="ko-KR" sz="1800" dirty="0">
                <a:solidFill>
                  <a:prstClr val="black"/>
                </a:solidFill>
              </a:rPr>
              <a:t>(</a:t>
            </a:r>
            <a:r>
              <a:rPr lang="en-US" altLang="ko-KR" sz="1800" dirty="0"/>
              <a:t>2/2)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44472275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사업을 분류하여 원가코드로 사용하고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수주예상사업 정보를 등록하고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진행 상태에 따라 사업정보를 갱신하고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사업 전략일정을 등록</a:t>
            </a:r>
            <a:r>
              <a:rPr lang="en-US" altLang="ko-KR" smtClean="0">
                <a:latin typeface="+mn-ea"/>
                <a:ea typeface="+mn-ea"/>
              </a:rPr>
              <a:t>/</a:t>
            </a:r>
            <a:r>
              <a:rPr lang="ko-KR" altLang="en-US" smtClean="0">
                <a:latin typeface="+mn-ea"/>
                <a:ea typeface="+mn-ea"/>
              </a:rPr>
              <a:t>관리하며 사업분류별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사업장별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기간별 사업 기획 보고자료를 추출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자산관리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9706394"/>
              </p:ext>
            </p:extLst>
          </p:nvPr>
        </p:nvGraphicFramePr>
        <p:xfrm>
          <a:off x="344488" y="162002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5.1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사업기획관리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692088"/>
              </p:ext>
            </p:extLst>
          </p:nvPr>
        </p:nvGraphicFramePr>
        <p:xfrm>
          <a:off x="344488" y="1989138"/>
          <a:ext cx="9181020" cy="432099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076230">
                  <a:extLst>
                    <a:ext uri="{9D8B030D-6E8A-4147-A177-3AD203B41FA5}">
                      <a16:colId xmlns="" xmlns:a16="http://schemas.microsoft.com/office/drawing/2014/main" val="2872472588"/>
                    </a:ext>
                  </a:extLst>
                </a:gridCol>
                <a:gridCol w="2076231">
                  <a:extLst>
                    <a:ext uri="{9D8B030D-6E8A-4147-A177-3AD203B41FA5}">
                      <a16:colId xmlns="" xmlns:a16="http://schemas.microsoft.com/office/drawing/2014/main" val="623386945"/>
                    </a:ext>
                  </a:extLst>
                </a:gridCol>
              </a:tblGrid>
              <a:tr h="375988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사업분류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코드 </a:t>
                      </a:r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5.1.3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 기획 </a:t>
                      </a:r>
                      <a:r>
                        <a:rPr kumimoji="0" lang="ko-KR" altLang="en-US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5.1.4 </a:t>
                      </a:r>
                      <a:r>
                        <a:rPr kumimoji="0" lang="ko-KR" altLang="en-US" sz="11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 전략 관리</a:t>
                      </a:r>
                      <a:endParaRPr kumimoji="0" lang="ko-KR" alt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70577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3841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각지사</a:t>
                      </a:r>
                      <a:r>
                        <a:rPr lang="en-US" altLang="ko-KR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4" name="직사각형 143"/>
          <p:cNvSpPr/>
          <p:nvPr/>
        </p:nvSpPr>
        <p:spPr bwMode="auto">
          <a:xfrm>
            <a:off x="5817096" y="32326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사업기획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12" name="제목 2">
            <a:extLst>
              <a:ext uri="{FF2B5EF4-FFF2-40B4-BE49-F238E27FC236}">
                <a16:creationId xmlns="" xmlns:a16="http://schemas.microsoft.com/office/drawing/2014/main" id="{06124950-BD0B-F209-D7A0-7EAC9F610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1/6)</a:t>
            </a:r>
            <a:endParaRPr lang="ko-KR" altLang="en-US" dirty="0"/>
          </a:p>
        </p:txBody>
      </p:sp>
      <p:grpSp>
        <p:nvGrpSpPr>
          <p:cNvPr id="13" name="그룹 75">
            <a:extLst>
              <a:ext uri="{FF2B5EF4-FFF2-40B4-BE49-F238E27FC236}">
                <a16:creationId xmlns="" xmlns:a16="http://schemas.microsoft.com/office/drawing/2014/main" id="{07C3713F-A668-F5CB-5995-303FBE577A8D}"/>
              </a:ext>
            </a:extLst>
          </p:cNvPr>
          <p:cNvGrpSpPr/>
          <p:nvPr/>
        </p:nvGrpSpPr>
        <p:grpSpPr>
          <a:xfrm>
            <a:off x="1348908" y="2480366"/>
            <a:ext cx="756425" cy="410305"/>
            <a:chOff x="1696424" y="2542858"/>
            <a:chExt cx="756425" cy="410305"/>
          </a:xfrm>
        </p:grpSpPr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EDD455E1-53B3-757D-5D9D-017FE4AC547D}"/>
                </a:ext>
              </a:extLst>
            </p:cNvPr>
            <p:cNvSpPr/>
            <p:nvPr/>
          </p:nvSpPr>
          <p:spPr>
            <a:xfrm>
              <a:off x="1824906" y="2553853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15" name="육각형 14">
              <a:extLst>
                <a:ext uri="{FF2B5EF4-FFF2-40B4-BE49-F238E27FC236}">
                  <a16:creationId xmlns="" xmlns:a16="http://schemas.microsoft.com/office/drawing/2014/main" id="{04D351D6-56F6-3F45-B9D8-AD64A6AFDF74}"/>
                </a:ext>
              </a:extLst>
            </p:cNvPr>
            <p:cNvSpPr/>
            <p:nvPr/>
          </p:nvSpPr>
          <p:spPr bwMode="auto">
            <a:xfrm>
              <a:off x="1696424" y="2542858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사업분류기준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="" xmlns:a16="http://schemas.microsoft.com/office/drawing/2014/main" id="{FE6AD8C4-4C19-5D85-0D7B-99CE9800FAD7}"/>
              </a:ext>
            </a:extLst>
          </p:cNvPr>
          <p:cNvSpPr/>
          <p:nvPr/>
        </p:nvSpPr>
        <p:spPr bwMode="auto">
          <a:xfrm>
            <a:off x="1885561" y="32326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</a:t>
            </a:r>
            <a:r>
              <a:rPr lang="ko-KR" altLang="en-US" sz="900" kern="0" smtClean="0"/>
              <a:t>사업분류 등록 </a:t>
            </a:r>
            <a:endParaRPr lang="en-US" altLang="ko-KR" sz="900" kern="0" dirty="0"/>
          </a:p>
        </p:txBody>
      </p:sp>
      <p:grpSp>
        <p:nvGrpSpPr>
          <p:cNvPr id="25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2349687" y="3573016"/>
            <a:ext cx="176240" cy="398184"/>
            <a:chOff x="3031001" y="4481826"/>
            <a:chExt cx="369129" cy="350335"/>
          </a:xfrm>
        </p:grpSpPr>
        <p:sp>
          <p:nvSpPr>
            <p:cNvPr id="26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8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47328" y="3705000"/>
            <a:ext cx="11095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대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&gt;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중분류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prstClr val="black"/>
                </a:solidFill>
              </a:rPr>
              <a:t>(</a:t>
            </a:r>
            <a:r>
              <a:rPr kumimoji="1" lang="ko-KR" altLang="en-US" sz="800" kern="0" smtClean="0">
                <a:solidFill>
                  <a:prstClr val="black"/>
                </a:solidFill>
              </a:rPr>
              <a:t>원가코드</a:t>
            </a:r>
            <a:r>
              <a:rPr kumimoji="1" lang="en-US" altLang="ko-KR" sz="800" kern="0" smtClean="0">
                <a:solidFill>
                  <a:prstClr val="black"/>
                </a:solidFill>
              </a:rPr>
              <a:t>)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="" xmlns:a16="http://schemas.microsoft.com/office/drawing/2014/main" id="{30796747-2526-ABC8-3938-C86749A2BFA2}"/>
              </a:ext>
            </a:extLst>
          </p:cNvPr>
          <p:cNvSpPr/>
          <p:nvPr/>
        </p:nvSpPr>
        <p:spPr bwMode="auto">
          <a:xfrm>
            <a:off x="3633681" y="3232611"/>
            <a:ext cx="821354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15EBB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1. </a:t>
            </a:r>
            <a:r>
              <a:rPr lang="ko-KR" altLang="en-US" sz="900" kern="0" smtClean="0"/>
              <a:t>사업코드등록</a:t>
            </a:r>
            <a:endParaRPr lang="en-US" altLang="ko-KR" sz="900" kern="0" dirty="0"/>
          </a:p>
        </p:txBody>
      </p:sp>
      <p:sp>
        <p:nvSpPr>
          <p:cNvPr id="113" name="직사각형 112">
            <a:extLst>
              <a:ext uri="{FF2B5EF4-FFF2-40B4-BE49-F238E27FC236}">
                <a16:creationId xmlns="" xmlns:a16="http://schemas.microsoft.com/office/drawing/2014/main" id="{2F3EFAE6-5267-B300-2822-A4793D1C4B99}"/>
              </a:ext>
            </a:extLst>
          </p:cNvPr>
          <p:cNvSpPr/>
          <p:nvPr/>
        </p:nvSpPr>
        <p:spPr bwMode="auto">
          <a:xfrm>
            <a:off x="7624169" y="32326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사업전략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grpSp>
        <p:nvGrpSpPr>
          <p:cNvPr id="146" name="그룹 67">
            <a:extLst>
              <a:ext uri="{FF2B5EF4-FFF2-40B4-BE49-F238E27FC236}">
                <a16:creationId xmlns="" xmlns:a16="http://schemas.microsoft.com/office/drawing/2014/main" id="{C4DD18CD-449A-47B8-B970-F945D235FBC0}"/>
              </a:ext>
            </a:extLst>
          </p:cNvPr>
          <p:cNvGrpSpPr/>
          <p:nvPr/>
        </p:nvGrpSpPr>
        <p:grpSpPr>
          <a:xfrm flipH="1">
            <a:off x="8121352" y="3546937"/>
            <a:ext cx="274908" cy="298028"/>
            <a:chOff x="3031001" y="4361424"/>
            <a:chExt cx="265280" cy="559925"/>
          </a:xfrm>
        </p:grpSpPr>
        <p:sp>
          <p:nvSpPr>
            <p:cNvPr id="150" name="Line 175">
              <a:extLst>
                <a:ext uri="{FF2B5EF4-FFF2-40B4-BE49-F238E27FC236}">
                  <a16:creationId xmlns="" xmlns:a16="http://schemas.microsoft.com/office/drawing/2014/main" id="{81D656B5-8A7B-58D2-39DC-39CBD4355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361424"/>
              <a:ext cx="175223" cy="283241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6">
              <a:extLst>
                <a:ext uri="{FF2B5EF4-FFF2-40B4-BE49-F238E27FC236}">
                  <a16:creationId xmlns="" xmlns:a16="http://schemas.microsoft.com/office/drawing/2014/main" id="{CDF1031A-C26C-9583-28A5-54502A967C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5705"/>
              <a:ext cx="90051" cy="37564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5" name="Rectangle 179">
            <a:extLst>
              <a:ext uri="{FF2B5EF4-FFF2-40B4-BE49-F238E27FC236}">
                <a16:creationId xmlns="" xmlns:a16="http://schemas.microsoft.com/office/drawing/2014/main" id="{8D71CA95-B7DB-D7F1-AD24-662B6ED2CA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9537" y="3683416"/>
            <a:ext cx="9659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일정계획</a:t>
            </a:r>
            <a:endParaRPr kumimoji="1" lang="en-US" altLang="ko-KR" sz="800" kern="0" smtClean="0">
              <a:solidFill>
                <a:prstClr val="black"/>
              </a:solidFill>
            </a:endParaRPr>
          </a:p>
        </p:txBody>
      </p:sp>
      <p:cxnSp>
        <p:nvCxnSpPr>
          <p:cNvPr id="6" name="꺾인 연결선 5"/>
          <p:cNvCxnSpPr>
            <a:stCxn id="15" idx="0"/>
            <a:endCxn id="19" idx="0"/>
          </p:cNvCxnSpPr>
          <p:nvPr/>
        </p:nvCxnSpPr>
        <p:spPr>
          <a:xfrm>
            <a:off x="2105333" y="2685519"/>
            <a:ext cx="158441" cy="54709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>
            <a:stCxn id="19" idx="3"/>
            <a:endCxn id="74" idx="1"/>
          </p:cNvCxnSpPr>
          <p:nvPr/>
        </p:nvCxnSpPr>
        <p:spPr>
          <a:xfrm>
            <a:off x="2641986" y="3392997"/>
            <a:ext cx="991695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3667232" y="3593508"/>
            <a:ext cx="176240" cy="1081297"/>
            <a:chOff x="3031001" y="4481826"/>
            <a:chExt cx="369129" cy="951361"/>
          </a:xfrm>
        </p:grpSpPr>
        <p:sp>
          <p:nvSpPr>
            <p:cNvPr id="59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7443"/>
              <a:ext cx="90052" cy="885744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1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3467" y="3665556"/>
            <a:ext cx="117545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사업분류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사업코드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사업명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업체명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예상수주시점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예상금액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담당부서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진행상태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진행상태별 일자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62" name="그룹 67">
            <a:extLst>
              <a:ext uri="{FF2B5EF4-FFF2-40B4-BE49-F238E27FC236}">
                <a16:creationId xmlns="" xmlns:a16="http://schemas.microsoft.com/office/drawing/2014/main" id="{3B5AF8CC-3A0C-9154-BB71-9E41BC0E35F4}"/>
              </a:ext>
            </a:extLst>
          </p:cNvPr>
          <p:cNvGrpSpPr/>
          <p:nvPr/>
        </p:nvGrpSpPr>
        <p:grpSpPr>
          <a:xfrm flipH="1">
            <a:off x="6139792" y="3572287"/>
            <a:ext cx="176240" cy="398184"/>
            <a:chOff x="3031001" y="4481826"/>
            <a:chExt cx="369129" cy="350335"/>
          </a:xfrm>
        </p:grpSpPr>
        <p:sp>
          <p:nvSpPr>
            <p:cNvPr id="63" name="Line 175">
              <a:extLst>
                <a:ext uri="{FF2B5EF4-FFF2-40B4-BE49-F238E27FC236}">
                  <a16:creationId xmlns="" xmlns:a16="http://schemas.microsoft.com/office/drawing/2014/main" id="{44F514DF-1B3A-6DF9-F87E-70D4AA438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481826"/>
              <a:ext cx="279073" cy="162839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176">
              <a:extLst>
                <a:ext uri="{FF2B5EF4-FFF2-40B4-BE49-F238E27FC236}">
                  <a16:creationId xmlns="" xmlns:a16="http://schemas.microsoft.com/office/drawing/2014/main" id="{CA94408A-AC20-5567-3BCE-C548670EE7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49936"/>
              <a:ext cx="90051" cy="282225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ln>
              <a:headEnd/>
              <a:tailE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" name="Rectangle 179">
            <a:extLst>
              <a:ext uri="{FF2B5EF4-FFF2-40B4-BE49-F238E27FC236}">
                <a16:creationId xmlns="" xmlns:a16="http://schemas.microsoft.com/office/drawing/2014/main" id="{5FC9B16E-92F4-89DC-96AD-C6B9701726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37433" y="3612217"/>
            <a:ext cx="110952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수주예상일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진행상태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부서</a:t>
            </a:r>
            <a:endParaRPr kumimoji="1" lang="en-US" altLang="ko-KR" sz="800" kern="0" smtClean="0">
              <a:solidFill>
                <a:prstClr val="black"/>
              </a:solidFill>
            </a:endParaRPr>
          </a:p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kern="0" smtClean="0">
                <a:solidFill>
                  <a:prstClr val="black"/>
                </a:solidFill>
              </a:rPr>
              <a:t>담당자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42" name="직선 화살표 연결선 41"/>
          <p:cNvCxnSpPr>
            <a:stCxn id="144" idx="3"/>
            <a:endCxn id="113" idx="1"/>
          </p:cNvCxnSpPr>
          <p:nvPr/>
        </p:nvCxnSpPr>
        <p:spPr>
          <a:xfrm>
            <a:off x="6573521" y="3392997"/>
            <a:ext cx="1050648" cy="0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>
            <a:stCxn id="74" idx="3"/>
            <a:endCxn id="144" idx="1"/>
          </p:cNvCxnSpPr>
          <p:nvPr/>
        </p:nvCxnSpPr>
        <p:spPr>
          <a:xfrm>
            <a:off x="4455035" y="3392997"/>
            <a:ext cx="1362061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3886129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784619"/>
          </a:xfrm>
        </p:spPr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mtClean="0">
                <a:latin typeface="+mn-ea"/>
                <a:ea typeface="+mn-ea"/>
              </a:rPr>
              <a:t>나라장터에서 조달 정보를 취득하여 수주 진행에 대한 단계별 정보를 관리하고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사전규격을 공유하고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현장설명회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입찰자료 준비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투찰</a:t>
            </a:r>
            <a:r>
              <a:rPr lang="en-US" altLang="ko-KR">
                <a:latin typeface="+mn-ea"/>
                <a:ea typeface="+mn-ea"/>
              </a:rPr>
              <a:t> </a:t>
            </a:r>
            <a:r>
              <a:rPr lang="ko-KR" altLang="en-US" smtClean="0">
                <a:latin typeface="+mn-ea"/>
                <a:ea typeface="+mn-ea"/>
              </a:rPr>
              <a:t>및 입찰 결과를 등록하여 수주 진행을 관리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</a:p>
        </p:txBody>
      </p:sp>
      <p:graphicFrame>
        <p:nvGraphicFramePr>
          <p:cNvPr id="67" name="표 66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075009"/>
              </p:ext>
            </p:extLst>
          </p:nvPr>
        </p:nvGraphicFramePr>
        <p:xfrm>
          <a:off x="344488" y="1989138"/>
          <a:ext cx="9181019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722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94421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16024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226825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55190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수주진행관리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입찰자료관리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입찰진행관리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5.2.4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입찰결과 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13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나라장터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31377">
                <a:tc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64807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9" name="직사각형 68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1587921" y="40585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1. </a:t>
            </a:r>
            <a:r>
              <a:rPr lang="ko-KR" altLang="en-US" sz="900" kern="0" smtClean="0">
                <a:solidFill>
                  <a:srgbClr val="0000CC"/>
                </a:solidFill>
              </a:rPr>
              <a:t>사업코드</a:t>
            </a:r>
            <a:r>
              <a:rPr lang="en-US" altLang="ko-KR" sz="900" kern="0" smtClean="0">
                <a:solidFill>
                  <a:srgbClr val="0000CC"/>
                </a:solidFill>
              </a:rPr>
              <a:t> 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7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1966134" y="4386823"/>
            <a:ext cx="270307" cy="740471"/>
            <a:chOff x="3031001" y="4369918"/>
            <a:chExt cx="283668" cy="740471"/>
          </a:xfrm>
        </p:grpSpPr>
        <p:sp>
          <p:nvSpPr>
            <p:cNvPr id="9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0411"/>
              <a:ext cx="90052" cy="54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16696" y="4566907"/>
            <a:ext cx="878446" cy="738664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입찰 관련 정보</a:t>
            </a:r>
            <a:endParaRPr kumimoji="1" lang="en-US" altLang="ko-KR" sz="800" ker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사전규격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사업설명회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입찰 요구서류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입찰일정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L="171450" marR="0" lvl="0" indent="-17145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11" name="제목 2">
            <a:extLst>
              <a:ext uri="{FF2B5EF4-FFF2-40B4-BE49-F238E27FC236}">
                <a16:creationId xmlns="" xmlns:a16="http://schemas.microsoft.com/office/drawing/2014/main" id="{3BEF3A1F-1689-AD1C-63E8-F77896E1F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8913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2/6)</a:t>
            </a:r>
            <a:endParaRPr lang="ko-KR" altLang="en-US" dirty="0"/>
          </a:p>
        </p:txBody>
      </p:sp>
      <p:graphicFrame>
        <p:nvGraphicFramePr>
          <p:cNvPr id="49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1791020"/>
              </p:ext>
            </p:extLst>
          </p:nvPr>
        </p:nvGraphicFramePr>
        <p:xfrm>
          <a:off x="344488" y="1628800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5.2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수주진행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" name="순서도: 문서 54"/>
          <p:cNvSpPr/>
          <p:nvPr/>
        </p:nvSpPr>
        <p:spPr>
          <a:xfrm>
            <a:off x="1568624" y="5585379"/>
            <a:ext cx="582003" cy="319503"/>
          </a:xfrm>
          <a:prstGeom prst="flowChartDocumen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사전규격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3296816" y="40572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>
                <a:solidFill>
                  <a:srgbClr val="0000CC"/>
                </a:solidFill>
              </a:rPr>
              <a:t>2</a:t>
            </a:r>
            <a:r>
              <a:rPr lang="en-US" altLang="ko-KR" sz="900" kern="0" smtClean="0">
                <a:solidFill>
                  <a:srgbClr val="0000CC"/>
                </a:solidFill>
              </a:rPr>
              <a:t>. </a:t>
            </a:r>
            <a:r>
              <a:rPr lang="ko-KR" altLang="en-US" sz="900" kern="0" smtClean="0">
                <a:solidFill>
                  <a:srgbClr val="0000CC"/>
                </a:solidFill>
              </a:rPr>
              <a:t>사업설명회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grpSp>
        <p:nvGrpSpPr>
          <p:cNvPr id="61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3732974" y="4381106"/>
            <a:ext cx="220328" cy="632922"/>
            <a:chOff x="3031001" y="4477467"/>
            <a:chExt cx="231219" cy="632922"/>
          </a:xfrm>
        </p:grpSpPr>
        <p:sp>
          <p:nvSpPr>
            <p:cNvPr id="62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8" y="4477467"/>
              <a:ext cx="141162" cy="388715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0411"/>
              <a:ext cx="90052" cy="54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4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72880" y="4466472"/>
            <a:ext cx="878446" cy="738664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입찰 관련 정보</a:t>
            </a:r>
            <a:endParaRPr kumimoji="1" lang="en-US" altLang="ko-KR" sz="800" ker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사전규격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사업설명회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입찰 요구서류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>
                <a:solidFill>
                  <a:srgbClr val="0000CC"/>
                </a:solidFill>
              </a:rPr>
              <a:t> </a:t>
            </a:r>
            <a:r>
              <a:rPr kumimoji="1" lang="en-US" altLang="ko-KR" sz="800" kern="0" smtClean="0">
                <a:solidFill>
                  <a:srgbClr val="0000CC"/>
                </a:solidFill>
              </a:rPr>
              <a:t>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입찰일정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L="171450" marR="0" lvl="0" indent="-17145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cxnSp>
        <p:nvCxnSpPr>
          <p:cNvPr id="66" name="직선 화살표 연결선 65"/>
          <p:cNvCxnSpPr>
            <a:stCxn id="69" idx="3"/>
            <a:endCxn id="60" idx="1"/>
          </p:cNvCxnSpPr>
          <p:nvPr/>
        </p:nvCxnSpPr>
        <p:spPr>
          <a:xfrm flipV="1">
            <a:off x="2344346" y="4217647"/>
            <a:ext cx="952470" cy="126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3296816" y="519646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3. </a:t>
            </a:r>
            <a:r>
              <a:rPr lang="ko-KR" altLang="en-US" sz="900" kern="0" smtClean="0">
                <a:solidFill>
                  <a:srgbClr val="0000CC"/>
                </a:solidFill>
              </a:rPr>
              <a:t>입찰 준비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15" name="직선 화살표 연결선 14"/>
          <p:cNvCxnSpPr>
            <a:stCxn id="60" idx="2"/>
            <a:endCxn id="68" idx="0"/>
          </p:cNvCxnSpPr>
          <p:nvPr/>
        </p:nvCxnSpPr>
        <p:spPr>
          <a:xfrm>
            <a:off x="3675029" y="4378032"/>
            <a:ext cx="0" cy="81842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/>
          <p:nvPr/>
        </p:nvCxnSpPr>
        <p:spPr>
          <a:xfrm>
            <a:off x="1734759" y="4378032"/>
            <a:ext cx="10585" cy="1207347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직사각형 72"/>
          <p:cNvSpPr/>
          <p:nvPr/>
        </p:nvSpPr>
        <p:spPr bwMode="auto">
          <a:xfrm>
            <a:off x="1745344" y="24858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1 .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 요청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4610522" y="2489163"/>
            <a:ext cx="461787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계약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2666306" y="2483677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2</a:t>
            </a:r>
            <a:r>
              <a:rPr lang="en-US" altLang="ko-KR" sz="900" kern="0">
                <a:solidFill>
                  <a:prstClr val="black"/>
                </a:solidFill>
                <a:latin typeface="+mn-ea"/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입찰공고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78" name="순서도: 문서 77"/>
          <p:cNvSpPr/>
          <p:nvPr/>
        </p:nvSpPr>
        <p:spPr>
          <a:xfrm>
            <a:off x="1489252" y="2812589"/>
            <a:ext cx="540401" cy="349168"/>
          </a:xfrm>
          <a:prstGeom prst="flowChartDocumen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사전규격</a:t>
            </a:r>
          </a:p>
        </p:txBody>
      </p:sp>
      <p:sp>
        <p:nvSpPr>
          <p:cNvPr id="79" name="배지 78"/>
          <p:cNvSpPr/>
          <p:nvPr/>
        </p:nvSpPr>
        <p:spPr>
          <a:xfrm>
            <a:off x="2807197" y="3184676"/>
            <a:ext cx="1892729" cy="264102"/>
          </a:xfrm>
          <a:prstGeom prst="plaque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1400" smtClean="0">
                <a:solidFill>
                  <a:schemeClr val="tx1"/>
                </a:solidFill>
              </a:rPr>
              <a:t>RPA </a:t>
            </a:r>
            <a:r>
              <a:rPr lang="ko-KR" altLang="en-US" sz="1400" smtClean="0">
                <a:solidFill>
                  <a:schemeClr val="tx1"/>
                </a:solidFill>
              </a:rPr>
              <a:t>솔루션</a:t>
            </a:r>
            <a:r>
              <a:rPr lang="en-US" altLang="ko-KR" sz="1400" smtClean="0">
                <a:solidFill>
                  <a:schemeClr val="tx1"/>
                </a:solidFill>
              </a:rPr>
              <a:t> </a:t>
            </a:r>
            <a:endParaRPr lang="ko-KR" altLang="en-US" sz="1400" smtClean="0">
              <a:solidFill>
                <a:schemeClr val="tx1"/>
              </a:solidFill>
            </a:endParaRPr>
          </a:p>
        </p:txBody>
      </p:sp>
      <p:cxnSp>
        <p:nvCxnSpPr>
          <p:cNvPr id="80" name="직선 화살표 연결선 79"/>
          <p:cNvCxnSpPr>
            <a:stCxn id="73" idx="3"/>
            <a:endCxn id="76" idx="1"/>
          </p:cNvCxnSpPr>
          <p:nvPr/>
        </p:nvCxnSpPr>
        <p:spPr>
          <a:xfrm>
            <a:off x="2501769" y="2646192"/>
            <a:ext cx="164537" cy="61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화살표 연결선 80"/>
          <p:cNvCxnSpPr>
            <a:stCxn id="76" idx="3"/>
            <a:endCxn id="75" idx="1"/>
          </p:cNvCxnSpPr>
          <p:nvPr/>
        </p:nvCxnSpPr>
        <p:spPr>
          <a:xfrm>
            <a:off x="3422731" y="2646806"/>
            <a:ext cx="1187791" cy="27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/>
          <p:cNvSpPr/>
          <p:nvPr/>
        </p:nvSpPr>
        <p:spPr bwMode="auto">
          <a:xfrm>
            <a:off x="3498577" y="2480318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3" name="직사각형 82"/>
          <p:cNvSpPr/>
          <p:nvPr/>
        </p:nvSpPr>
        <p:spPr bwMode="auto">
          <a:xfrm>
            <a:off x="4023154" y="2467754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4.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개찰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84" name="직선 화살표 연결선 83"/>
          <p:cNvCxnSpPr>
            <a:stCxn id="76" idx="2"/>
            <a:endCxn id="79" idx="0"/>
          </p:cNvCxnSpPr>
          <p:nvPr/>
        </p:nvCxnSpPr>
        <p:spPr>
          <a:xfrm>
            <a:off x="3044519" y="2809934"/>
            <a:ext cx="709043" cy="3747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화살표 연결선 84"/>
          <p:cNvCxnSpPr>
            <a:stCxn id="75" idx="2"/>
            <a:endCxn id="79" idx="0"/>
          </p:cNvCxnSpPr>
          <p:nvPr/>
        </p:nvCxnSpPr>
        <p:spPr>
          <a:xfrm flipH="1">
            <a:off x="3753562" y="2809934"/>
            <a:ext cx="1087854" cy="3747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화살표 연결선 97"/>
          <p:cNvCxnSpPr>
            <a:stCxn id="73" idx="2"/>
            <a:endCxn id="79" idx="0"/>
          </p:cNvCxnSpPr>
          <p:nvPr/>
        </p:nvCxnSpPr>
        <p:spPr>
          <a:xfrm>
            <a:off x="2123557" y="2806577"/>
            <a:ext cx="1630005" cy="37809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/>
          <p:cNvCxnSpPr>
            <a:stCxn id="82" idx="2"/>
            <a:endCxn id="79" idx="0"/>
          </p:cNvCxnSpPr>
          <p:nvPr/>
        </p:nvCxnSpPr>
        <p:spPr>
          <a:xfrm>
            <a:off x="3722943" y="2806575"/>
            <a:ext cx="30619" cy="3781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/>
          <p:cNvCxnSpPr>
            <a:stCxn id="83" idx="2"/>
            <a:endCxn id="79" idx="0"/>
          </p:cNvCxnSpPr>
          <p:nvPr/>
        </p:nvCxnSpPr>
        <p:spPr>
          <a:xfrm flipH="1">
            <a:off x="3753562" y="2794011"/>
            <a:ext cx="493958" cy="39066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순서도: 다중 문서 109"/>
          <p:cNvSpPr/>
          <p:nvPr/>
        </p:nvSpPr>
        <p:spPr>
          <a:xfrm>
            <a:off x="3859648" y="5436600"/>
            <a:ext cx="860731" cy="626635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사업실적</a:t>
            </a:r>
            <a:endParaRPr lang="en-US" altLang="ko-KR" sz="90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보유기술자</a:t>
            </a:r>
          </a:p>
        </p:txBody>
      </p:sp>
      <p:sp>
        <p:nvSpPr>
          <p:cNvPr id="112" name="순서도: 다중 문서 111"/>
          <p:cNvSpPr/>
          <p:nvPr/>
        </p:nvSpPr>
        <p:spPr>
          <a:xfrm>
            <a:off x="8201392" y="4380107"/>
            <a:ext cx="1008112" cy="72008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수주 진행현황</a:t>
            </a:r>
          </a:p>
        </p:txBody>
      </p:sp>
      <p:cxnSp>
        <p:nvCxnSpPr>
          <p:cNvPr id="114" name="꺾인 연결선 113"/>
          <p:cNvCxnSpPr>
            <a:stCxn id="68" idx="3"/>
            <a:endCxn id="121" idx="2"/>
          </p:cNvCxnSpPr>
          <p:nvPr/>
        </p:nvCxnSpPr>
        <p:spPr>
          <a:xfrm flipV="1">
            <a:off x="4053241" y="4377684"/>
            <a:ext cx="1961707" cy="97916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9" name="Picture 203" descr="comp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8883" y="2828601"/>
            <a:ext cx="756684" cy="673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1" name="구부러진 연결선 30"/>
          <p:cNvCxnSpPr>
            <a:stCxn id="79" idx="2"/>
            <a:endCxn id="69" idx="0"/>
          </p:cNvCxnSpPr>
          <p:nvPr/>
        </p:nvCxnSpPr>
        <p:spPr>
          <a:xfrm rot="5400000">
            <a:off x="2554973" y="2859939"/>
            <a:ext cx="609751" cy="1787428"/>
          </a:xfrm>
          <a:prstGeom prst="curvedConnector3">
            <a:avLst/>
          </a:prstGeom>
          <a:ln w="63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직사각형 120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5636735" y="405691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4. </a:t>
            </a:r>
            <a:r>
              <a:rPr lang="ko-KR" altLang="en-US" sz="900" kern="0" smtClean="0">
                <a:solidFill>
                  <a:srgbClr val="0000CC"/>
                </a:solidFill>
              </a:rPr>
              <a:t>투찰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sp>
        <p:nvSpPr>
          <p:cNvPr id="122" name="순서도: 판단 58"/>
          <p:cNvSpPr>
            <a:spLocks noChangeAspect="1" noChangeArrowheads="1"/>
          </p:cNvSpPr>
          <p:nvPr/>
        </p:nvSpPr>
        <p:spPr bwMode="auto">
          <a:xfrm>
            <a:off x="5565160" y="2890660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/>
              <a:t>5. </a:t>
            </a:r>
            <a:r>
              <a:rPr lang="ko-KR" altLang="en-US" sz="900" kern="0" smtClean="0"/>
              <a:t>낙찰</a:t>
            </a:r>
            <a:endParaRPr lang="ko-KR" altLang="en-US" sz="900" kern="0" dirty="0"/>
          </a:p>
        </p:txBody>
      </p:sp>
      <p:sp>
        <p:nvSpPr>
          <p:cNvPr id="123" name="직사각형 122">
            <a:extLst>
              <a:ext uri="{FF2B5EF4-FFF2-40B4-BE49-F238E27FC236}">
                <a16:creationId xmlns="" xmlns:a16="http://schemas.microsoft.com/office/drawing/2014/main" id="{D2D8A06B-FCE2-4E86-9A38-2374CA26C811}"/>
              </a:ext>
            </a:extLst>
          </p:cNvPr>
          <p:cNvSpPr/>
          <p:nvPr/>
        </p:nvSpPr>
        <p:spPr bwMode="auto">
          <a:xfrm>
            <a:off x="7992316" y="401939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rgbClr val="0000CC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srgbClr val="0000CC"/>
                </a:solidFill>
              </a:rPr>
              <a:t>6. </a:t>
            </a:r>
            <a:r>
              <a:rPr lang="ko-KR" altLang="en-US" sz="900" kern="0" smtClean="0">
                <a:solidFill>
                  <a:srgbClr val="0000CC"/>
                </a:solidFill>
              </a:rPr>
              <a:t>입찰결과</a:t>
            </a:r>
            <a:endParaRPr lang="en-US" altLang="ko-KR" sz="900" kern="0" dirty="0">
              <a:solidFill>
                <a:srgbClr val="0000CC"/>
              </a:solidFill>
            </a:endParaRPr>
          </a:p>
        </p:txBody>
      </p:sp>
      <p:cxnSp>
        <p:nvCxnSpPr>
          <p:cNvPr id="36" name="직선 화살표 연결선 35"/>
          <p:cNvCxnSpPr>
            <a:stCxn id="121" idx="0"/>
            <a:endCxn id="122" idx="2"/>
          </p:cNvCxnSpPr>
          <p:nvPr/>
        </p:nvCxnSpPr>
        <p:spPr>
          <a:xfrm flipV="1">
            <a:off x="6014948" y="3242650"/>
            <a:ext cx="4840" cy="81426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꺾인 연결선 40"/>
          <p:cNvCxnSpPr>
            <a:endCxn id="123" idx="0"/>
          </p:cNvCxnSpPr>
          <p:nvPr/>
        </p:nvCxnSpPr>
        <p:spPr>
          <a:xfrm>
            <a:off x="6487356" y="3066655"/>
            <a:ext cx="1883173" cy="952742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6527259" y="2842137"/>
            <a:ext cx="3818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smtClean="0"/>
              <a:t>Yes</a:t>
            </a:r>
            <a:endParaRPr lang="ko-KR" altLang="en-US" sz="1000" dirty="0" err="1" smtClean="0"/>
          </a:p>
        </p:txBody>
      </p:sp>
    </p:spTree>
    <p:extLst>
      <p:ext uri="{BB962C8B-B14F-4D97-AF65-F5344CB8AC3E}">
        <p14:creationId xmlns:p14="http://schemas.microsoft.com/office/powerpoint/2010/main" val="245934853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mtClean="0">
                <a:latin typeface="+mn-ea"/>
                <a:ea typeface="+mn-ea"/>
              </a:rPr>
              <a:t>자산의 이동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자산관리자의 일괄이동 포함</a:t>
            </a:r>
            <a:r>
              <a:rPr lang="en-US" altLang="ko-KR" smtClean="0">
                <a:latin typeface="+mn-ea"/>
                <a:ea typeface="+mn-ea"/>
              </a:rPr>
              <a:t>), </a:t>
            </a:r>
            <a:r>
              <a:rPr lang="ko-KR" altLang="en-US" smtClean="0">
                <a:latin typeface="+mn-ea"/>
                <a:ea typeface="+mn-ea"/>
              </a:rPr>
              <a:t>자산의 합병 및 분할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후속적 지출 등 자산의 변동사항을 입력하여 자산 </a:t>
            </a:r>
            <a:r>
              <a:rPr lang="en-US" altLang="ko-KR" smtClean="0">
                <a:latin typeface="+mn-ea"/>
                <a:ea typeface="+mn-ea"/>
              </a:rPr>
              <a:t>DATA</a:t>
            </a:r>
            <a:r>
              <a:rPr lang="ko-KR" altLang="en-US" smtClean="0">
                <a:latin typeface="+mn-ea"/>
                <a:ea typeface="+mn-ea"/>
              </a:rPr>
              <a:t>를 현행화함 </a:t>
            </a:r>
            <a:r>
              <a:rPr lang="en-US" altLang="ko-KR" smtClean="0">
                <a:latin typeface="+mn-ea"/>
                <a:ea typeface="+mn-ea"/>
              </a:rPr>
              <a:t>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141428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5.3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사업실행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77682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정의</a:t>
            </a:r>
            <a:r>
              <a:rPr lang="en-US" altLang="ko-KR" sz="180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3/6)</a:t>
            </a:r>
            <a:endParaRPr lang="ko-KR" altLang="en-US" dirty="0"/>
          </a:p>
        </p:txBody>
      </p:sp>
      <p:graphicFrame>
        <p:nvGraphicFramePr>
          <p:cNvPr id="98" name="표 97">
            <a:extLst>
              <a:ext uri="{FF2B5EF4-FFF2-40B4-BE49-F238E27FC236}">
                <a16:creationId xmlns="" xmlns:a16="http://schemas.microsoft.com/office/drawing/2014/main" id="{B9C1765B-1F8E-42AC-B47B-D049433647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8514669"/>
              </p:ext>
            </p:extLst>
          </p:nvPr>
        </p:nvGraphicFramePr>
        <p:xfrm>
          <a:off x="344488" y="1989138"/>
          <a:ext cx="9181019" cy="4248174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52028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9523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772307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455190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latinLnBrk="0" hangingPunct="0"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5.3.1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kern="0" smtClean="0">
                          <a:solidFill>
                            <a:schemeClr val="bg1"/>
                          </a:solidFill>
                          <a:latin typeface="+mn-ea"/>
                        </a:rPr>
                        <a:t>사업수주관리</a:t>
                      </a:r>
                      <a:endParaRPr lang="en-US" altLang="ko-KR" sz="1100" b="1" kern="0" dirty="0">
                        <a:solidFill>
                          <a:schemeClr val="bg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5.3.2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실행계획 관리</a:t>
                      </a:r>
                      <a:endParaRPr lang="ko-KR" altLang="en-US" sz="1100" b="1" i="0" u="none" strike="noStrike" smtClean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5.3.3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사업실적관리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1353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나라장터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31377">
                <a:tc>
                  <a:txBody>
                    <a:bodyPr/>
                    <a:lstStyle/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64807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각 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 bwMode="auto">
          <a:xfrm>
            <a:off x="1745344" y="2485806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1 .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 요청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2" name="직사각형 51"/>
          <p:cNvSpPr/>
          <p:nvPr/>
        </p:nvSpPr>
        <p:spPr bwMode="auto">
          <a:xfrm>
            <a:off x="4610522" y="2489163"/>
            <a:ext cx="461787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계약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2666306" y="2483677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2</a:t>
            </a:r>
            <a:r>
              <a:rPr lang="en-US" altLang="ko-KR" sz="900" kern="0">
                <a:solidFill>
                  <a:prstClr val="black"/>
                </a:solidFill>
                <a:latin typeface="+mn-ea"/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입찰공고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6" name="순서도: 문서 55"/>
          <p:cNvSpPr/>
          <p:nvPr/>
        </p:nvSpPr>
        <p:spPr>
          <a:xfrm>
            <a:off x="1489252" y="2812589"/>
            <a:ext cx="540401" cy="349168"/>
          </a:xfrm>
          <a:prstGeom prst="flowChartDocumen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  <a:latin typeface="+mn-ea"/>
              </a:rPr>
              <a:t>사전규격</a:t>
            </a:r>
          </a:p>
        </p:txBody>
      </p:sp>
      <p:sp>
        <p:nvSpPr>
          <p:cNvPr id="64" name="배지 63"/>
          <p:cNvSpPr/>
          <p:nvPr/>
        </p:nvSpPr>
        <p:spPr>
          <a:xfrm>
            <a:off x="2807197" y="3184676"/>
            <a:ext cx="1892729" cy="264102"/>
          </a:xfrm>
          <a:prstGeom prst="plaque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1400" smtClean="0">
                <a:solidFill>
                  <a:schemeClr val="tx1"/>
                </a:solidFill>
              </a:rPr>
              <a:t>RPA </a:t>
            </a:r>
            <a:r>
              <a:rPr lang="ko-KR" altLang="en-US" sz="1400" smtClean="0">
                <a:solidFill>
                  <a:schemeClr val="tx1"/>
                </a:solidFill>
              </a:rPr>
              <a:t>솔루션</a:t>
            </a:r>
            <a:r>
              <a:rPr lang="en-US" altLang="ko-KR" sz="1400" smtClean="0">
                <a:solidFill>
                  <a:schemeClr val="tx1"/>
                </a:solidFill>
              </a:rPr>
              <a:t> </a:t>
            </a:r>
            <a:endParaRPr lang="ko-KR" altLang="en-US" sz="1400" smtClean="0">
              <a:solidFill>
                <a:schemeClr val="tx1"/>
              </a:solidFill>
            </a:endParaRPr>
          </a:p>
        </p:txBody>
      </p:sp>
      <p:cxnSp>
        <p:nvCxnSpPr>
          <p:cNvPr id="66" name="직선 화살표 연결선 65"/>
          <p:cNvCxnSpPr>
            <a:stCxn id="51" idx="3"/>
            <a:endCxn id="55" idx="1"/>
          </p:cNvCxnSpPr>
          <p:nvPr/>
        </p:nvCxnSpPr>
        <p:spPr>
          <a:xfrm>
            <a:off x="2501769" y="2646192"/>
            <a:ext cx="164537" cy="61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/>
          <p:cNvCxnSpPr>
            <a:stCxn id="55" idx="3"/>
            <a:endCxn id="52" idx="1"/>
          </p:cNvCxnSpPr>
          <p:nvPr/>
        </p:nvCxnSpPr>
        <p:spPr>
          <a:xfrm>
            <a:off x="3422731" y="2646806"/>
            <a:ext cx="1187791" cy="2743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/>
          <p:cNvSpPr/>
          <p:nvPr/>
        </p:nvSpPr>
        <p:spPr bwMode="auto">
          <a:xfrm>
            <a:off x="3498577" y="2480318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1" name="직사각형 90"/>
          <p:cNvSpPr/>
          <p:nvPr/>
        </p:nvSpPr>
        <p:spPr bwMode="auto">
          <a:xfrm>
            <a:off x="4023154" y="2467754"/>
            <a:ext cx="448732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4.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개찰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92" name="직선 화살표 연결선 91"/>
          <p:cNvCxnSpPr>
            <a:stCxn id="55" idx="2"/>
            <a:endCxn id="64" idx="0"/>
          </p:cNvCxnSpPr>
          <p:nvPr/>
        </p:nvCxnSpPr>
        <p:spPr>
          <a:xfrm>
            <a:off x="3044519" y="2809934"/>
            <a:ext cx="709043" cy="3747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화살표 연결선 92"/>
          <p:cNvCxnSpPr>
            <a:stCxn id="52" idx="2"/>
            <a:endCxn id="64" idx="0"/>
          </p:cNvCxnSpPr>
          <p:nvPr/>
        </p:nvCxnSpPr>
        <p:spPr>
          <a:xfrm flipH="1">
            <a:off x="3753562" y="2809934"/>
            <a:ext cx="1087854" cy="374742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/>
          <p:cNvCxnSpPr>
            <a:stCxn id="51" idx="2"/>
            <a:endCxn id="64" idx="0"/>
          </p:cNvCxnSpPr>
          <p:nvPr/>
        </p:nvCxnSpPr>
        <p:spPr>
          <a:xfrm>
            <a:off x="2123557" y="2806577"/>
            <a:ext cx="1630005" cy="37809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/>
          <p:cNvCxnSpPr>
            <a:stCxn id="90" idx="2"/>
            <a:endCxn id="64" idx="0"/>
          </p:cNvCxnSpPr>
          <p:nvPr/>
        </p:nvCxnSpPr>
        <p:spPr>
          <a:xfrm>
            <a:off x="3722943" y="2806575"/>
            <a:ext cx="30619" cy="37810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화살표 연결선 95"/>
          <p:cNvCxnSpPr>
            <a:stCxn id="91" idx="2"/>
            <a:endCxn id="64" idx="0"/>
          </p:cNvCxnSpPr>
          <p:nvPr/>
        </p:nvCxnSpPr>
        <p:spPr>
          <a:xfrm flipH="1">
            <a:off x="3753562" y="2794011"/>
            <a:ext cx="493958" cy="39066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7" name="Picture 203" descr="comp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8883" y="2828601"/>
            <a:ext cx="756684" cy="673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" name="직사각형 98"/>
          <p:cNvSpPr/>
          <p:nvPr/>
        </p:nvSpPr>
        <p:spPr bwMode="auto">
          <a:xfrm>
            <a:off x="2284503" y="3873911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1 .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수주정보</a:t>
            </a:r>
            <a:endParaRPr lang="en-US" altLang="ko-KR" sz="900" kern="0" smtClean="0">
              <a:solidFill>
                <a:prstClr val="black"/>
              </a:solidFill>
              <a:latin typeface="+mn-ea"/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입력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" name="구부러진 연결선 4"/>
          <p:cNvCxnSpPr>
            <a:stCxn id="64" idx="2"/>
            <a:endCxn id="99" idx="0"/>
          </p:cNvCxnSpPr>
          <p:nvPr/>
        </p:nvCxnSpPr>
        <p:spPr>
          <a:xfrm rot="5400000">
            <a:off x="2995573" y="3115921"/>
            <a:ext cx="425133" cy="1090846"/>
          </a:xfrm>
          <a:prstGeom prst="curved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/>
          <p:cNvSpPr/>
          <p:nvPr/>
        </p:nvSpPr>
        <p:spPr bwMode="auto">
          <a:xfrm>
            <a:off x="4841415" y="3873910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2 .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실행계획 입력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01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5152393" y="4207206"/>
            <a:ext cx="270307" cy="740471"/>
            <a:chOff x="3031001" y="4369918"/>
            <a:chExt cx="283668" cy="740471"/>
          </a:xfrm>
        </p:grpSpPr>
        <p:sp>
          <p:nvSpPr>
            <p:cNvPr id="102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0411"/>
              <a:ext cx="90052" cy="54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5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02955" y="4387290"/>
            <a:ext cx="1157368" cy="492443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실행 계획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일정계획 입력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lvl="0"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lang="ko-KR" altLang="en-US" sz="800">
                <a:solidFill>
                  <a:srgbClr val="0000CC"/>
                </a:solidFill>
                <a:latin typeface="+mn-ea"/>
              </a:rPr>
              <a:t>투입인력 </a:t>
            </a:r>
            <a:r>
              <a:rPr lang="ko-KR" altLang="en-US" sz="800" smtClean="0">
                <a:solidFill>
                  <a:srgbClr val="0000CC"/>
                </a:solidFill>
                <a:latin typeface="+mn-ea"/>
              </a:rPr>
              <a:t>계획 입력</a:t>
            </a:r>
            <a:endParaRPr lang="en-US" altLang="ko-KR" sz="800">
              <a:solidFill>
                <a:srgbClr val="0000CC"/>
              </a:solidFill>
              <a:latin typeface="+mn-ea"/>
            </a:endParaRPr>
          </a:p>
          <a:p>
            <a:pPr lvl="0">
              <a:defRPr/>
            </a:pPr>
            <a:r>
              <a:rPr lang="en-US" altLang="ko-KR" sz="800">
                <a:solidFill>
                  <a:srgbClr val="0000CC"/>
                </a:solidFill>
                <a:latin typeface="+mn-ea"/>
              </a:rPr>
              <a:t> </a:t>
            </a:r>
            <a:r>
              <a:rPr lang="en-US" altLang="ko-KR" sz="800" smtClean="0">
                <a:solidFill>
                  <a:srgbClr val="0000CC"/>
                </a:solidFill>
                <a:latin typeface="+mn-ea"/>
              </a:rPr>
              <a:t>   - </a:t>
            </a:r>
            <a:r>
              <a:rPr lang="ko-KR" altLang="en-US" sz="800" smtClean="0">
                <a:solidFill>
                  <a:srgbClr val="0000CC"/>
                </a:solidFill>
                <a:latin typeface="+mn-ea"/>
              </a:rPr>
              <a:t>투입자재 계획 입력</a:t>
            </a:r>
            <a:r>
              <a:rPr lang="en-US" altLang="ko-KR" sz="800" smtClean="0">
                <a:solidFill>
                  <a:srgbClr val="0000CC"/>
                </a:solidFill>
                <a:latin typeface="+mn-ea"/>
              </a:rPr>
              <a:t> 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cxnSp>
        <p:nvCxnSpPr>
          <p:cNvPr id="7" name="직선 화살표 연결선 6"/>
          <p:cNvCxnSpPr>
            <a:stCxn id="99" idx="3"/>
            <a:endCxn id="100" idx="1"/>
          </p:cNvCxnSpPr>
          <p:nvPr/>
        </p:nvCxnSpPr>
        <p:spPr>
          <a:xfrm flipV="1">
            <a:off x="3040928" y="4034296"/>
            <a:ext cx="1800487" cy="1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직사각형 105"/>
          <p:cNvSpPr/>
          <p:nvPr/>
        </p:nvSpPr>
        <p:spPr bwMode="auto">
          <a:xfrm>
            <a:off x="7169448" y="3885155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  <a:latin typeface="+mn-ea"/>
              </a:rPr>
              <a:t>3 .</a:t>
            </a:r>
            <a:r>
              <a:rPr lang="ko-KR" altLang="en-US" sz="900" kern="0" smtClean="0">
                <a:solidFill>
                  <a:prstClr val="black"/>
                </a:solidFill>
                <a:latin typeface="+mn-ea"/>
              </a:rPr>
              <a:t>사업실적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7" name="타원 106"/>
          <p:cNvSpPr/>
          <p:nvPr/>
        </p:nvSpPr>
        <p:spPr>
          <a:xfrm>
            <a:off x="8337376" y="2855121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</a:t>
            </a:r>
          </a:p>
        </p:txBody>
      </p:sp>
      <p:cxnSp>
        <p:nvCxnSpPr>
          <p:cNvPr id="11" name="꺾인 연결선 10"/>
          <p:cNvCxnSpPr>
            <a:stCxn id="107" idx="2"/>
            <a:endCxn id="106" idx="0"/>
          </p:cNvCxnSpPr>
          <p:nvPr/>
        </p:nvCxnSpPr>
        <p:spPr>
          <a:xfrm rot="10800000" flipV="1">
            <a:off x="7547662" y="3023001"/>
            <a:ext cx="789715" cy="86215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8467764" y="3201383"/>
            <a:ext cx="270307" cy="740471"/>
            <a:chOff x="3031001" y="4369918"/>
            <a:chExt cx="283668" cy="740471"/>
          </a:xfrm>
        </p:grpSpPr>
        <p:sp>
          <p:nvSpPr>
            <p:cNvPr id="109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0411"/>
              <a:ext cx="90052" cy="54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1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18326" y="3381467"/>
            <a:ext cx="636393" cy="492443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결의서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수입결의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lang="ko-KR" altLang="en-US" sz="800" smtClean="0">
                <a:solidFill>
                  <a:srgbClr val="0000CC"/>
                </a:solidFill>
                <a:latin typeface="+mn-ea"/>
              </a:rPr>
              <a:t>지출결의</a:t>
            </a:r>
            <a:endParaRPr lang="en-US" altLang="ko-KR" sz="800" smtClean="0">
              <a:solidFill>
                <a:srgbClr val="0000CC"/>
              </a:solidFill>
              <a:latin typeface="+mn-ea"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 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   -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대체결의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7537479" y="2807271"/>
            <a:ext cx="69281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smtClean="0"/>
              <a:t>사업</a:t>
            </a:r>
            <a:r>
              <a:rPr lang="en-US" altLang="ko-KR" sz="900" smtClean="0"/>
              <a:t>/</a:t>
            </a:r>
            <a:r>
              <a:rPr lang="ko-KR" altLang="en-US" sz="900" smtClean="0"/>
              <a:t>계정</a:t>
            </a:r>
            <a:endParaRPr lang="ko-KR" altLang="en-US" sz="900" dirty="0" err="1" smtClean="0"/>
          </a:p>
        </p:txBody>
      </p:sp>
      <p:sp>
        <p:nvSpPr>
          <p:cNvPr id="13" name="순서도: 다중 문서 12"/>
          <p:cNvSpPr/>
          <p:nvPr/>
        </p:nvSpPr>
        <p:spPr>
          <a:xfrm>
            <a:off x="7717775" y="4641118"/>
            <a:ext cx="1318747" cy="66009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사업실적 현황</a:t>
            </a:r>
          </a:p>
        </p:txBody>
      </p:sp>
      <p:cxnSp>
        <p:nvCxnSpPr>
          <p:cNvPr id="16" name="꺾인 연결선 15"/>
          <p:cNvCxnSpPr>
            <a:stCxn id="106" idx="2"/>
            <a:endCxn id="13" idx="0"/>
          </p:cNvCxnSpPr>
          <p:nvPr/>
        </p:nvCxnSpPr>
        <p:spPr>
          <a:xfrm rot="16200000" flipH="1">
            <a:off x="7790171" y="3963416"/>
            <a:ext cx="435192" cy="920212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694796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kumimoji="1" lang="ko-KR" altLang="en-US">
                <a:solidFill>
                  <a:prstClr val="black"/>
                </a:solidFill>
                <a:latin typeface="+mn-ea"/>
                <a:ea typeface="+mn-ea"/>
              </a:rPr>
              <a:t>사업별 </a:t>
            </a:r>
            <a:r>
              <a:rPr kumimoji="1" lang="ko-KR" altLang="en-US" smtClean="0">
                <a:solidFill>
                  <a:prstClr val="black"/>
                </a:solidFill>
                <a:latin typeface="+mn-ea"/>
                <a:ea typeface="+mn-ea"/>
              </a:rPr>
              <a:t>실적을 집계하여 각종 사업별 실적현황을 제공하고</a:t>
            </a:r>
            <a:r>
              <a:rPr kumimoji="1" lang="en-US" altLang="ko-KR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mtClean="0">
                <a:solidFill>
                  <a:prstClr val="black"/>
                </a:solidFill>
                <a:latin typeface="+mn-ea"/>
                <a:ea typeface="+mn-ea"/>
              </a:rPr>
              <a:t>공통비와 간접비를 수행사업별로 배부하여 사업별 원가계산서와 손익계산서를 제공하고</a:t>
            </a:r>
            <a:r>
              <a:rPr kumimoji="1" lang="en-US" altLang="ko-KR" smtClean="0">
                <a:solidFill>
                  <a:prstClr val="black"/>
                </a:solidFill>
                <a:latin typeface="+mn-ea"/>
                <a:ea typeface="+mn-ea"/>
              </a:rPr>
              <a:t>, </a:t>
            </a:r>
            <a:r>
              <a:rPr kumimoji="1" lang="ko-KR" altLang="en-US" smtClean="0">
                <a:solidFill>
                  <a:prstClr val="black"/>
                </a:solidFill>
                <a:latin typeface="+mn-ea"/>
                <a:ea typeface="+mn-ea"/>
              </a:rPr>
              <a:t>기성고 신청자료를 생성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Ⅲ. </a:t>
            </a:r>
            <a:r>
              <a:rPr lang="ko-KR" altLang="en-US" sz="1200" smtClean="0">
                <a:solidFill>
                  <a:prstClr val="black"/>
                </a:solidFill>
              </a:rPr>
              <a:t>목표모델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dirty="0">
                <a:solidFill>
                  <a:prstClr val="black"/>
                </a:solidFill>
              </a:rPr>
              <a:t>3. </a:t>
            </a:r>
            <a:r>
              <a:rPr lang="ko-KR" altLang="en-US" sz="1200" dirty="0">
                <a:solidFill>
                  <a:prstClr val="black"/>
                </a:solidFill>
              </a:rPr>
              <a:t>업무별 개선안 설계</a:t>
            </a:r>
            <a:endParaRPr lang="en-US" altLang="ko-KR" sz="1200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z="1200" smtClean="0">
                <a:solidFill>
                  <a:prstClr val="black"/>
                </a:solidFill>
              </a:rPr>
              <a:t>3.6 </a:t>
            </a:r>
            <a:r>
              <a:rPr lang="ko-KR" altLang="en-US" sz="1200" smtClean="0">
                <a:solidFill>
                  <a:prstClr val="black"/>
                </a:solidFill>
              </a:rPr>
              <a:t>사업관리 </a:t>
            </a:r>
            <a:r>
              <a:rPr lang="ko-KR" altLang="en-US" sz="1200" dirty="0">
                <a:solidFill>
                  <a:prstClr val="black"/>
                </a:solidFill>
              </a:rPr>
              <a:t>업무프로세스 개선안</a:t>
            </a:r>
            <a:endParaRPr lang="en-US" altLang="ko-KR" sz="1200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5974237"/>
              </p:ext>
            </p:extLst>
          </p:nvPr>
        </p:nvGraphicFramePr>
        <p:xfrm>
          <a:off x="344488" y="1637621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5.4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사업실적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8868075"/>
              </p:ext>
            </p:extLst>
          </p:nvPr>
        </p:nvGraphicFramePr>
        <p:xfrm>
          <a:off x="344488" y="1916832"/>
          <a:ext cx="9181020" cy="431210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사업실적 현황 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5.4.2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사업실적 배부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5.4.3</a:t>
                      </a:r>
                      <a:r>
                        <a:rPr lang="en-US" altLang="ko-KR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1" i="0" u="none" strike="noStrike" baseline="0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사업별 원가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274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9" name="직사각형 88"/>
          <p:cNvSpPr/>
          <p:nvPr/>
        </p:nvSpPr>
        <p:spPr bwMode="auto">
          <a:xfrm>
            <a:off x="2648503" y="3104872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 </a:t>
            </a:r>
            <a:r>
              <a:rPr lang="ko-KR" altLang="en-US" sz="900" kern="0" smtClean="0">
                <a:solidFill>
                  <a:prstClr val="black"/>
                </a:solidFill>
              </a:rPr>
              <a:t>직접비 집계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93" name="Shape 266"/>
          <p:cNvCxnSpPr>
            <a:cxnSpLocks noChangeShapeType="1"/>
            <a:endCxn id="89" idx="2"/>
          </p:cNvCxnSpPr>
          <p:nvPr/>
        </p:nvCxnSpPr>
        <p:spPr bwMode="auto">
          <a:xfrm flipV="1">
            <a:off x="3026716" y="3425643"/>
            <a:ext cx="0" cy="255293"/>
          </a:xfrm>
          <a:prstGeom prst="straightConnector1">
            <a:avLst/>
          </a:prstGeom>
          <a:noFill/>
          <a:ln w="6350" algn="ctr">
            <a:solidFill>
              <a:sysClr val="windowText" lastClr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" name="직사각형 38"/>
          <p:cNvSpPr/>
          <p:nvPr/>
        </p:nvSpPr>
        <p:spPr bwMode="auto">
          <a:xfrm>
            <a:off x="4694701" y="3900317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4. </a:t>
            </a:r>
            <a:r>
              <a:rPr lang="ko-KR" altLang="en-US" sz="900" kern="0" smtClean="0">
                <a:solidFill>
                  <a:prstClr val="black"/>
                </a:solidFill>
              </a:rPr>
              <a:t>간접비배부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4694700" y="3319436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</a:t>
            </a:r>
            <a:r>
              <a:rPr lang="ko-KR" altLang="en-US" sz="900" kern="0" smtClean="0">
                <a:solidFill>
                  <a:prstClr val="black"/>
                </a:solidFill>
              </a:rPr>
              <a:t>공통비배부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0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96744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4/6)</a:t>
            </a:r>
            <a:endParaRPr lang="ko-KR" altLang="en-US" dirty="0"/>
          </a:p>
        </p:txBody>
      </p:sp>
      <p:sp>
        <p:nvSpPr>
          <p:cNvPr id="57" name="직사각형 56"/>
          <p:cNvSpPr/>
          <p:nvPr/>
        </p:nvSpPr>
        <p:spPr bwMode="auto">
          <a:xfrm>
            <a:off x="7238198" y="31082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5. </a:t>
            </a:r>
            <a:r>
              <a:rPr lang="ko-KR" altLang="en-US" sz="900" kern="0" smtClean="0">
                <a:solidFill>
                  <a:prstClr val="black"/>
                </a:solidFill>
              </a:rPr>
              <a:t>배부 결과</a:t>
            </a:r>
            <a:r>
              <a:rPr lang="en-US" altLang="ko-KR" sz="900" kern="0" smtClean="0">
                <a:solidFill>
                  <a:prstClr val="black"/>
                </a:solidFill>
              </a:rPr>
              <a:t> 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13" name="꺾인 연결선 12"/>
          <p:cNvCxnSpPr>
            <a:stCxn id="49" idx="6"/>
            <a:endCxn id="89" idx="0"/>
          </p:cNvCxnSpPr>
          <p:nvPr/>
        </p:nvCxnSpPr>
        <p:spPr>
          <a:xfrm>
            <a:off x="1744396" y="2698049"/>
            <a:ext cx="1282320" cy="406823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순서도: 다중 문서 24"/>
          <p:cNvSpPr/>
          <p:nvPr/>
        </p:nvSpPr>
        <p:spPr>
          <a:xfrm>
            <a:off x="7803184" y="3672821"/>
            <a:ext cx="1108076" cy="543325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900" smtClean="0">
                <a:solidFill>
                  <a:schemeClr val="tx1"/>
                </a:solidFill>
              </a:rPr>
              <a:t>1) </a:t>
            </a:r>
            <a:r>
              <a:rPr lang="ko-KR" altLang="en-US" sz="900" smtClean="0">
                <a:solidFill>
                  <a:schemeClr val="tx1"/>
                </a:solidFill>
              </a:rPr>
              <a:t>손익계산서</a:t>
            </a:r>
            <a:endParaRPr lang="en-US" altLang="ko-KR" sz="900" smtClean="0">
              <a:solidFill>
                <a:schemeClr val="tx1"/>
              </a:solidFill>
            </a:endParaRPr>
          </a:p>
          <a:p>
            <a:r>
              <a:rPr lang="en-US" altLang="ko-KR" sz="900" smtClean="0">
                <a:solidFill>
                  <a:schemeClr val="tx1"/>
                </a:solidFill>
              </a:rPr>
              <a:t>2) </a:t>
            </a:r>
            <a:r>
              <a:rPr lang="ko-KR" altLang="en-US" sz="900" smtClean="0">
                <a:solidFill>
                  <a:schemeClr val="tx1"/>
                </a:solidFill>
              </a:rPr>
              <a:t>예실대비표</a:t>
            </a:r>
          </a:p>
        </p:txBody>
      </p:sp>
      <p:cxnSp>
        <p:nvCxnSpPr>
          <p:cNvPr id="29" name="꺾인 연결선 28"/>
          <p:cNvCxnSpPr>
            <a:stCxn id="39" idx="2"/>
            <a:endCxn id="57" idx="0"/>
          </p:cNvCxnSpPr>
          <p:nvPr/>
        </p:nvCxnSpPr>
        <p:spPr>
          <a:xfrm rot="5400000" flipH="1" flipV="1">
            <a:off x="5788232" y="2392910"/>
            <a:ext cx="1112859" cy="2543497"/>
          </a:xfrm>
          <a:prstGeom prst="bentConnector5">
            <a:avLst>
              <a:gd name="adj1" fmla="val -20542"/>
              <a:gd name="adj2" fmla="val 50000"/>
              <a:gd name="adj3" fmla="val 120542"/>
            </a:avLst>
          </a:prstGeom>
          <a:ln w="635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타원 48"/>
          <p:cNvSpPr/>
          <p:nvPr/>
        </p:nvSpPr>
        <p:spPr>
          <a:xfrm>
            <a:off x="1393284" y="2530168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결의서</a:t>
            </a:r>
          </a:p>
        </p:txBody>
      </p:sp>
      <p:grpSp>
        <p:nvGrpSpPr>
          <p:cNvPr id="50" name="그룹 81">
            <a:extLst>
              <a:ext uri="{FF2B5EF4-FFF2-40B4-BE49-F238E27FC236}">
                <a16:creationId xmlns="" xmlns:a16="http://schemas.microsoft.com/office/drawing/2014/main" id="{B9CBDEC8-48BA-4157-8092-868AD0354561}"/>
              </a:ext>
            </a:extLst>
          </p:cNvPr>
          <p:cNvGrpSpPr/>
          <p:nvPr/>
        </p:nvGrpSpPr>
        <p:grpSpPr>
          <a:xfrm flipH="1">
            <a:off x="1584651" y="2875001"/>
            <a:ext cx="270307" cy="740471"/>
            <a:chOff x="3031001" y="4369918"/>
            <a:chExt cx="283668" cy="740471"/>
          </a:xfrm>
        </p:grpSpPr>
        <p:sp>
          <p:nvSpPr>
            <p:cNvPr id="51" name="Line 175">
              <a:extLst>
                <a:ext uri="{FF2B5EF4-FFF2-40B4-BE49-F238E27FC236}">
                  <a16:creationId xmlns="" xmlns:a16="http://schemas.microsoft.com/office/drawing/2014/main" id="{8FEAE476-3E26-4C39-88AE-13924EBF55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1057" y="4369918"/>
              <a:ext cx="193612" cy="274747"/>
            </a:xfrm>
            <a:prstGeom prst="line">
              <a:avLst/>
            </a:prstGeom>
            <a:noFill/>
            <a:ln w="144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176">
              <a:extLst>
                <a:ext uri="{FF2B5EF4-FFF2-40B4-BE49-F238E27FC236}">
                  <a16:creationId xmlns="" xmlns:a16="http://schemas.microsoft.com/office/drawing/2014/main" id="{0C42D5A3-C8D4-47FB-8CE1-5E5062421F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031001" y="4560411"/>
              <a:ext cx="90052" cy="549978"/>
            </a:xfrm>
            <a:custGeom>
              <a:avLst/>
              <a:gdLst>
                <a:gd name="T0" fmla="*/ 2147483647 w 56"/>
                <a:gd name="T1" fmla="*/ 0 h 210"/>
                <a:gd name="T2" fmla="*/ 0 w 56"/>
                <a:gd name="T3" fmla="*/ 0 h 210"/>
                <a:gd name="T4" fmla="*/ 0 w 56"/>
                <a:gd name="T5" fmla="*/ 2147483647 h 210"/>
                <a:gd name="T6" fmla="*/ 2147483647 w 56"/>
                <a:gd name="T7" fmla="*/ 2147483647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0"/>
                <a:gd name="T14" fmla="*/ 56 w 5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0">
                  <a:moveTo>
                    <a:pt x="56" y="0"/>
                  </a:moveTo>
                  <a:lnTo>
                    <a:pt x="0" y="0"/>
                  </a:lnTo>
                  <a:lnTo>
                    <a:pt x="0" y="210"/>
                  </a:lnTo>
                  <a:lnTo>
                    <a:pt x="56" y="210"/>
                  </a:lnTo>
                </a:path>
              </a:pathLst>
            </a:custGeom>
            <a:noFill/>
            <a:ln w="144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200" b="1" i="0" u="sng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3" name="Rectangle 179">
            <a:extLst>
              <a:ext uri="{FF2B5EF4-FFF2-40B4-BE49-F238E27FC236}">
                <a16:creationId xmlns="" xmlns:a16="http://schemas.microsoft.com/office/drawing/2014/main" id="{784F35BB-1155-4353-9143-A1576C3626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99117" y="3080573"/>
            <a:ext cx="636393" cy="492443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pPr marL="93663" marR="0" lvl="0" indent="-93663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결의서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kumimoji="1" lang="ko-KR" altLang="en-US" sz="800" kern="0" smtClean="0">
                <a:solidFill>
                  <a:srgbClr val="0000CC"/>
                </a:solidFill>
              </a:rPr>
              <a:t>수입결의</a:t>
            </a:r>
            <a:endParaRPr kumimoji="1" lang="en-US" altLang="ko-KR" sz="800" kern="0" smtClean="0">
              <a:solidFill>
                <a:srgbClr val="0000CC"/>
              </a:solidFill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kern="0" smtClean="0">
                <a:solidFill>
                  <a:srgbClr val="0000CC"/>
                </a:solidFill>
              </a:rPr>
              <a:t>    - </a:t>
            </a:r>
            <a:r>
              <a:rPr lang="ko-KR" altLang="en-US" sz="800" smtClean="0">
                <a:solidFill>
                  <a:srgbClr val="0000CC"/>
                </a:solidFill>
                <a:latin typeface="+mn-ea"/>
              </a:rPr>
              <a:t>지출결의</a:t>
            </a:r>
            <a:endParaRPr lang="en-US" altLang="ko-KR" sz="800" smtClean="0">
              <a:solidFill>
                <a:srgbClr val="0000CC"/>
              </a:solidFill>
              <a:latin typeface="+mn-ea"/>
            </a:endParaRPr>
          </a:p>
          <a:p>
            <a:pPr marR="0" lvl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0" algn="l"/>
                <a:tab pos="447675" algn="l"/>
                <a:tab pos="896938" algn="l"/>
                <a:tab pos="1346200" algn="l"/>
                <a:tab pos="1795463" algn="l"/>
                <a:tab pos="2244725" algn="l"/>
                <a:tab pos="2693988" algn="l"/>
                <a:tab pos="3143250" algn="l"/>
                <a:tab pos="3592513" algn="l"/>
                <a:tab pos="4041775" algn="l"/>
                <a:tab pos="4491038" algn="l"/>
                <a:tab pos="4940300" algn="l"/>
                <a:tab pos="5389563" algn="l"/>
                <a:tab pos="5838825" algn="l"/>
                <a:tab pos="6288088" algn="l"/>
                <a:tab pos="6737350" algn="l"/>
                <a:tab pos="7186613" algn="l"/>
                <a:tab pos="7635875" algn="l"/>
                <a:tab pos="8085138" algn="l"/>
                <a:tab pos="8534400" algn="l"/>
                <a:tab pos="8983663" algn="l"/>
              </a:tabLst>
              <a:defRPr/>
            </a:pPr>
            <a:r>
              <a:rPr kumimoji="1" lang="en-US" altLang="ko-KR" sz="800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 </a:t>
            </a:r>
            <a:r>
              <a:rPr kumimoji="1" lang="en-US" altLang="ko-KR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   - </a:t>
            </a:r>
            <a:r>
              <a:rPr kumimoji="1" lang="ko-KR" altLang="en-US" sz="800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+mn-ea"/>
              </a:rPr>
              <a:t>대체결의</a:t>
            </a:r>
            <a:endParaRPr kumimoji="1" lang="en-US" altLang="ko-KR" sz="800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</a:endParaRPr>
          </a:p>
        </p:txBody>
      </p:sp>
      <p:sp>
        <p:nvSpPr>
          <p:cNvPr id="7" name="순서도: 다중 문서 6"/>
          <p:cNvSpPr/>
          <p:nvPr/>
        </p:nvSpPr>
        <p:spPr>
          <a:xfrm>
            <a:off x="2474213" y="3732397"/>
            <a:ext cx="1138190" cy="669260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사업실적 현황</a:t>
            </a:r>
          </a:p>
        </p:txBody>
      </p:sp>
      <p:sp>
        <p:nvSpPr>
          <p:cNvPr id="8" name="순서도: 처리 7"/>
          <p:cNvSpPr/>
          <p:nvPr/>
        </p:nvSpPr>
        <p:spPr>
          <a:xfrm>
            <a:off x="1538431" y="4453481"/>
            <a:ext cx="2261192" cy="1654567"/>
          </a:xfrm>
          <a:prstGeom prst="flowChart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t" anchorCtr="0"/>
          <a:lstStyle/>
          <a:p>
            <a:r>
              <a:rPr lang="ko-KR" altLang="en-US" sz="900">
                <a:solidFill>
                  <a:schemeClr val="tx1"/>
                </a:solidFill>
              </a:rPr>
              <a:t>사업별로 실 투입공수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자재 용품사용 실적집계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일일 근태기록 집계</a:t>
            </a:r>
            <a:r>
              <a:rPr lang="en-US" altLang="ko-KR" sz="900" smtClean="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안전관리 일보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보건관리 일보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환경관리 일보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품질관리 일보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계약관련 도급 지출전표</a:t>
            </a:r>
            <a:r>
              <a:rPr lang="en-US" altLang="ko-KR" sz="900">
                <a:solidFill>
                  <a:schemeClr val="tx1"/>
                </a:solidFill>
              </a:rPr>
              <a:t>(</a:t>
            </a:r>
            <a:r>
              <a:rPr lang="ko-KR" altLang="en-US" sz="900">
                <a:solidFill>
                  <a:schemeClr val="tx1"/>
                </a:solidFill>
              </a:rPr>
              <a:t>회계</a:t>
            </a:r>
            <a:r>
              <a:rPr lang="en-US" altLang="ko-KR" sz="900">
                <a:solidFill>
                  <a:schemeClr val="tx1"/>
                </a:solidFill>
              </a:rPr>
              <a:t>) </a:t>
            </a:r>
            <a:r>
              <a:rPr lang="ko-KR" altLang="en-US" sz="900">
                <a:solidFill>
                  <a:schemeClr val="tx1"/>
                </a:solidFill>
              </a:rPr>
              <a:t>집계</a:t>
            </a:r>
            <a:r>
              <a:rPr lang="en-US" altLang="ko-KR" sz="900">
                <a:solidFill>
                  <a:schemeClr val="tx1"/>
                </a:solidFill>
              </a:rPr>
              <a:t>,</a:t>
            </a:r>
            <a:r>
              <a:rPr lang="ko-KR" altLang="en-US" sz="900">
                <a:solidFill>
                  <a:schemeClr val="tx1"/>
                </a:solidFill>
              </a:rPr>
              <a:t>자재 재고관리 집계</a:t>
            </a:r>
            <a:r>
              <a:rPr lang="en-US" altLang="ko-KR" sz="900">
                <a:solidFill>
                  <a:schemeClr val="tx1"/>
                </a:solidFill>
              </a:rPr>
              <a:t>, PO </a:t>
            </a:r>
            <a:r>
              <a:rPr lang="ko-KR" altLang="en-US" sz="900">
                <a:solidFill>
                  <a:schemeClr val="tx1"/>
                </a:solidFill>
              </a:rPr>
              <a:t>자재발주 집계</a:t>
            </a:r>
            <a:r>
              <a:rPr lang="en-US" altLang="ko-KR" sz="900">
                <a:solidFill>
                  <a:schemeClr val="tx1"/>
                </a:solidFill>
              </a:rPr>
              <a:t>,  </a:t>
            </a:r>
            <a:r>
              <a:rPr lang="ko-KR" altLang="en-US" sz="900">
                <a:solidFill>
                  <a:schemeClr val="tx1"/>
                </a:solidFill>
              </a:rPr>
              <a:t>계정별 지출전표 </a:t>
            </a:r>
            <a:r>
              <a:rPr lang="ko-KR" altLang="en-US" sz="900" smtClean="0">
                <a:solidFill>
                  <a:schemeClr val="tx1"/>
                </a:solidFill>
              </a:rPr>
              <a:t>집계</a:t>
            </a:r>
            <a:r>
              <a:rPr lang="en-US" altLang="ko-KR" sz="900" smtClean="0">
                <a:solidFill>
                  <a:schemeClr val="tx1"/>
                </a:solidFill>
              </a:rPr>
              <a:t>, </a:t>
            </a:r>
            <a:r>
              <a:rPr lang="ko-KR" altLang="en-US" sz="900" smtClean="0">
                <a:solidFill>
                  <a:schemeClr val="tx1"/>
                </a:solidFill>
              </a:rPr>
              <a:t>국민연금</a:t>
            </a:r>
            <a:r>
              <a:rPr lang="en-US" altLang="ko-KR" sz="900">
                <a:solidFill>
                  <a:schemeClr val="tx1"/>
                </a:solidFill>
              </a:rPr>
              <a:t>(</a:t>
            </a:r>
            <a:r>
              <a:rPr lang="ko-KR" altLang="en-US" sz="900">
                <a:solidFill>
                  <a:schemeClr val="tx1"/>
                </a:solidFill>
              </a:rPr>
              <a:t>회사부담금</a:t>
            </a:r>
            <a:r>
              <a:rPr lang="en-US" altLang="ko-KR" sz="900">
                <a:solidFill>
                  <a:schemeClr val="tx1"/>
                </a:solidFill>
              </a:rPr>
              <a:t>), </a:t>
            </a:r>
            <a:r>
              <a:rPr lang="ko-KR" altLang="en-US" sz="900">
                <a:solidFill>
                  <a:schemeClr val="tx1"/>
                </a:solidFill>
              </a:rPr>
              <a:t>건강보험 외</a:t>
            </a:r>
            <a:r>
              <a:rPr lang="en-US" altLang="ko-KR" sz="900">
                <a:solidFill>
                  <a:schemeClr val="tx1"/>
                </a:solidFill>
              </a:rPr>
              <a:t>(</a:t>
            </a:r>
            <a:r>
              <a:rPr lang="ko-KR" altLang="en-US" sz="900">
                <a:solidFill>
                  <a:schemeClr val="tx1"/>
                </a:solidFill>
              </a:rPr>
              <a:t>회사부담금</a:t>
            </a:r>
            <a:r>
              <a:rPr lang="en-US" altLang="ko-KR" sz="900">
                <a:solidFill>
                  <a:schemeClr val="tx1"/>
                </a:solidFill>
              </a:rPr>
              <a:t>), </a:t>
            </a:r>
            <a:r>
              <a:rPr lang="ko-KR" altLang="en-US" sz="900">
                <a:solidFill>
                  <a:schemeClr val="tx1"/>
                </a:solidFill>
              </a:rPr>
              <a:t>감가상각비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복리후생비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제초작업비</a:t>
            </a:r>
            <a:r>
              <a:rPr lang="en-US" altLang="ko-KR" sz="900">
                <a:solidFill>
                  <a:schemeClr val="tx1"/>
                </a:solidFill>
              </a:rPr>
              <a:t>,</a:t>
            </a:r>
            <a:r>
              <a:rPr lang="ko-KR" altLang="en-US" sz="900">
                <a:solidFill>
                  <a:schemeClr val="tx1"/>
                </a:solidFill>
              </a:rPr>
              <a:t>외주비</a:t>
            </a:r>
            <a:r>
              <a:rPr lang="en-US" altLang="ko-KR" sz="900">
                <a:solidFill>
                  <a:schemeClr val="tx1"/>
                </a:solidFill>
              </a:rPr>
              <a:t>,</a:t>
            </a:r>
            <a:r>
              <a:rPr lang="ko-KR" altLang="en-US" sz="900">
                <a:solidFill>
                  <a:schemeClr val="tx1"/>
                </a:solidFill>
              </a:rPr>
              <a:t>도장재료 투입실적</a:t>
            </a:r>
            <a:r>
              <a:rPr lang="en-US" altLang="ko-KR" sz="900">
                <a:solidFill>
                  <a:schemeClr val="tx1"/>
                </a:solidFill>
              </a:rPr>
              <a:t>) </a:t>
            </a:r>
            <a:r>
              <a:rPr lang="ko-KR" altLang="en-US" sz="900">
                <a:solidFill>
                  <a:schemeClr val="tx1"/>
                </a:solidFill>
              </a:rPr>
              <a:t>및 월별 집계 처리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기성기준 집계 처리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정산 토탈 집계 처리</a:t>
            </a:r>
            <a:r>
              <a:rPr lang="en-US" altLang="ko-KR" sz="900">
                <a:solidFill>
                  <a:schemeClr val="tx1"/>
                </a:solidFill>
              </a:rPr>
              <a:t>, </a:t>
            </a:r>
            <a:r>
              <a:rPr lang="ko-KR" altLang="en-US" sz="900">
                <a:solidFill>
                  <a:schemeClr val="tx1"/>
                </a:solidFill>
              </a:rPr>
              <a:t>결산 부속 서류를 위한 집계 처리</a:t>
            </a:r>
            <a:endParaRPr lang="ko-KR" altLang="en-US" sz="900" smtClean="0">
              <a:solidFill>
                <a:schemeClr val="tx1"/>
              </a:solidFill>
            </a:endParaRPr>
          </a:p>
        </p:txBody>
      </p:sp>
      <p:sp>
        <p:nvSpPr>
          <p:cNvPr id="63" name="직사각형 62"/>
          <p:cNvSpPr/>
          <p:nvPr/>
        </p:nvSpPr>
        <p:spPr bwMode="auto">
          <a:xfrm>
            <a:off x="4694700" y="2701591"/>
            <a:ext cx="756425" cy="326257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latinLnBrk="0"/>
            <a:r>
              <a:rPr lang="en-US" altLang="ko-KR" sz="900" kern="0" dirty="0">
                <a:solidFill>
                  <a:prstClr val="black"/>
                </a:solidFill>
              </a:rPr>
              <a:t>2</a:t>
            </a:r>
            <a:r>
              <a:rPr lang="en-US" altLang="ko-KR" sz="900" kern="0">
                <a:solidFill>
                  <a:prstClr val="black"/>
                </a:solidFill>
              </a:rPr>
              <a:t>. </a:t>
            </a:r>
            <a:r>
              <a:rPr lang="ko-KR" altLang="en-US" sz="900" kern="0" smtClean="0">
                <a:solidFill>
                  <a:prstClr val="black"/>
                </a:solidFill>
              </a:rPr>
              <a:t>계정별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latinLnBrk="0"/>
            <a:r>
              <a:rPr lang="ko-KR" altLang="en-US" sz="900" kern="0" smtClean="0">
                <a:solidFill>
                  <a:prstClr val="black"/>
                </a:solidFill>
              </a:rPr>
              <a:t>   배부기준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22" name="직선 화살표 연결선 21"/>
          <p:cNvCxnSpPr>
            <a:stCxn id="63" idx="2"/>
            <a:endCxn id="59" idx="0"/>
          </p:cNvCxnSpPr>
          <p:nvPr/>
        </p:nvCxnSpPr>
        <p:spPr>
          <a:xfrm>
            <a:off x="5072913" y="3027848"/>
            <a:ext cx="0" cy="291588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/>
          <p:cNvCxnSpPr>
            <a:stCxn id="59" idx="2"/>
            <a:endCxn id="39" idx="0"/>
          </p:cNvCxnSpPr>
          <p:nvPr/>
        </p:nvCxnSpPr>
        <p:spPr>
          <a:xfrm>
            <a:off x="5072913" y="3645693"/>
            <a:ext cx="1" cy="254624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27"/>
          <p:cNvCxnSpPr>
            <a:stCxn id="57" idx="2"/>
            <a:endCxn id="25" idx="0"/>
          </p:cNvCxnSpPr>
          <p:nvPr/>
        </p:nvCxnSpPr>
        <p:spPr>
          <a:xfrm rot="16200000" flipH="1">
            <a:off x="7903022" y="3142388"/>
            <a:ext cx="243821" cy="81704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24747955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>
                <a:latin typeface="+mn-ea"/>
                <a:ea typeface="+mn-ea"/>
              </a:rPr>
              <a:t>원가계산 후 사업별로 집계된 집행률과 기성률의 차이에 대한 추가 기성을 청구하고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수입결의서를 생성한다</a:t>
            </a:r>
            <a:r>
              <a:rPr lang="en-US" altLang="ko-KR" smtClean="0">
                <a:latin typeface="+mn-ea"/>
                <a:ea typeface="+mn-ea"/>
              </a:rPr>
              <a:t>. </a:t>
            </a:r>
            <a:r>
              <a:rPr lang="ko-KR" altLang="en-US" smtClean="0">
                <a:latin typeface="+mn-ea"/>
                <a:ea typeface="+mn-ea"/>
              </a:rPr>
              <a:t>수입결의서에서 전자계산서 발행 사이트와 연계하여 매출</a:t>
            </a:r>
            <a:r>
              <a:rPr lang="en-US" altLang="ko-KR" smtClean="0">
                <a:latin typeface="+mn-ea"/>
                <a:ea typeface="+mn-ea"/>
              </a:rPr>
              <a:t>(</a:t>
            </a:r>
            <a:r>
              <a:rPr lang="ko-KR" altLang="en-US" smtClean="0">
                <a:latin typeface="+mn-ea"/>
                <a:ea typeface="+mn-ea"/>
              </a:rPr>
              <a:t>세금</a:t>
            </a:r>
            <a:r>
              <a:rPr lang="en-US" altLang="ko-KR" smtClean="0">
                <a:latin typeface="+mn-ea"/>
                <a:ea typeface="+mn-ea"/>
              </a:rPr>
              <a:t>)</a:t>
            </a:r>
            <a:r>
              <a:rPr lang="ko-KR" altLang="en-US" smtClean="0">
                <a:latin typeface="+mn-ea"/>
                <a:ea typeface="+mn-ea"/>
              </a:rPr>
              <a:t>계산서를 발행하고</a:t>
            </a:r>
            <a:r>
              <a:rPr lang="en-US" altLang="ko-KR" smtClean="0">
                <a:latin typeface="+mn-ea"/>
                <a:ea typeface="+mn-ea"/>
              </a:rPr>
              <a:t>, </a:t>
            </a:r>
            <a:r>
              <a:rPr lang="ko-KR" altLang="en-US" smtClean="0">
                <a:latin typeface="+mn-ea"/>
                <a:ea typeface="+mn-ea"/>
              </a:rPr>
              <a:t>기성청구 현황을 조회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pPr lvl="0">
              <a:spcBef>
                <a:spcPts val="288"/>
              </a:spcBef>
            </a:pPr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8" name="Group 149">
            <a:extLst>
              <a:ext uri="{FF2B5EF4-FFF2-40B4-BE49-F238E27FC236}">
                <a16:creationId xmlns="" xmlns:a16="http://schemas.microsoft.com/office/drawing/2014/main" id="{551BE73B-0A29-4C6F-A0AD-28AE2351A9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0804601"/>
              </p:ext>
            </p:extLst>
          </p:nvPr>
        </p:nvGraphicFramePr>
        <p:xfrm>
          <a:off x="344488" y="1635017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5.5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기성청구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5/6)</a:t>
            </a:r>
            <a:endParaRPr lang="ko-KR" altLang="en-US" dirty="0"/>
          </a:p>
        </p:txBody>
      </p:sp>
      <p:graphicFrame>
        <p:nvGraphicFramePr>
          <p:cNvPr id="38" name="표 37">
            <a:extLst>
              <a:ext uri="{FF2B5EF4-FFF2-40B4-BE49-F238E27FC236}">
                <a16:creationId xmlns="" xmlns:a16="http://schemas.microsoft.com/office/drawing/2014/main" id="{3AF7127D-8702-4233-AC8F-E013A33377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7155734"/>
              </p:ext>
            </p:extLst>
          </p:nvPr>
        </p:nvGraphicFramePr>
        <p:xfrm>
          <a:off x="344488" y="1924188"/>
          <a:ext cx="9181020" cy="4392488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830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748306"/>
                <a:gridCol w="2748305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기성 청구 처리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5.5.2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매출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세금</a:t>
                      </a: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계산서 발행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5.5.3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기성 청구 현황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0078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기술사업본부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prstClr val="black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환경사업본부</a:t>
                      </a:r>
                      <a:endParaRPr lang="en-US" altLang="ko-KR" sz="1100" b="0" kern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0784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3" name="직사각형 62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2174209" y="310822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기성청구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0" name="꺾인 연결선 39"/>
          <p:cNvCxnSpPr>
            <a:stCxn id="41" idx="6"/>
            <a:endCxn id="63" idx="0"/>
          </p:cNvCxnSpPr>
          <p:nvPr/>
        </p:nvCxnSpPr>
        <p:spPr>
          <a:xfrm>
            <a:off x="1744396" y="2698049"/>
            <a:ext cx="808026" cy="410180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타원 40"/>
          <p:cNvSpPr/>
          <p:nvPr/>
        </p:nvSpPr>
        <p:spPr>
          <a:xfrm>
            <a:off x="1393284" y="2530168"/>
            <a:ext cx="351112" cy="335761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원가계산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4878684" y="3713488"/>
            <a:ext cx="811317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3. (</a:t>
            </a:r>
            <a:r>
              <a:rPr lang="ko-KR" altLang="en-US" sz="900" kern="0" smtClean="0">
                <a:solidFill>
                  <a:prstClr val="black"/>
                </a:solidFill>
              </a:rPr>
              <a:t>세금</a:t>
            </a:r>
            <a:r>
              <a:rPr lang="en-US" altLang="ko-KR" sz="900" kern="0" smtClean="0">
                <a:solidFill>
                  <a:prstClr val="black"/>
                </a:solidFill>
              </a:rPr>
              <a:t>)</a:t>
            </a:r>
            <a:r>
              <a:rPr lang="ko-KR" altLang="en-US" sz="900" kern="0" smtClean="0">
                <a:solidFill>
                  <a:prstClr val="black"/>
                </a:solidFill>
              </a:rPr>
              <a:t>계산서</a:t>
            </a:r>
            <a:endParaRPr lang="en-US" altLang="ko-KR" sz="900" kern="0" smtClean="0">
              <a:solidFill>
                <a:prstClr val="black"/>
              </a:solidFill>
            </a:endParaRPr>
          </a:p>
          <a:p>
            <a:pPr algn="ctr" latinLnBrk="0"/>
            <a:r>
              <a:rPr lang="ko-KR" altLang="en-US" sz="900" kern="0" smtClean="0">
                <a:solidFill>
                  <a:prstClr val="black"/>
                </a:solidFill>
              </a:rPr>
              <a:t>발행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="" xmlns:a16="http://schemas.microsoft.com/office/drawing/2014/main" id="{717C4118-0851-43E2-815B-2FE2A5CBA94B}"/>
              </a:ext>
            </a:extLst>
          </p:cNvPr>
          <p:cNvSpPr/>
          <p:nvPr/>
        </p:nvSpPr>
        <p:spPr bwMode="auto">
          <a:xfrm>
            <a:off x="2174209" y="3971499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2. </a:t>
            </a:r>
            <a:r>
              <a:rPr lang="ko-KR" altLang="en-US" sz="900" kern="0" smtClean="0">
                <a:solidFill>
                  <a:prstClr val="black"/>
                </a:solidFill>
              </a:rPr>
              <a:t>수입결의서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6" name="꺾인 연결선 5"/>
          <p:cNvCxnSpPr>
            <a:stCxn id="43" idx="3"/>
            <a:endCxn id="42" idx="1"/>
          </p:cNvCxnSpPr>
          <p:nvPr/>
        </p:nvCxnSpPr>
        <p:spPr>
          <a:xfrm flipV="1">
            <a:off x="2930634" y="3873874"/>
            <a:ext cx="1948050" cy="258011"/>
          </a:xfrm>
          <a:prstGeom prst="bentConnector3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>
            <a:stCxn id="63" idx="2"/>
            <a:endCxn id="43" idx="0"/>
          </p:cNvCxnSpPr>
          <p:nvPr/>
        </p:nvCxnSpPr>
        <p:spPr>
          <a:xfrm>
            <a:off x="2552422" y="3429000"/>
            <a:ext cx="0" cy="54249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>
            <a:stCxn id="42" idx="2"/>
            <a:endCxn id="15" idx="0"/>
          </p:cNvCxnSpPr>
          <p:nvPr/>
        </p:nvCxnSpPr>
        <p:spPr>
          <a:xfrm flipH="1">
            <a:off x="5284169" y="4034259"/>
            <a:ext cx="174" cy="771235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순서도: 종속 처리 14"/>
          <p:cNvSpPr/>
          <p:nvPr/>
        </p:nvSpPr>
        <p:spPr>
          <a:xfrm>
            <a:off x="4780113" y="4805494"/>
            <a:ext cx="1008112" cy="423706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</a:rPr>
              <a:t>세금계산서</a:t>
            </a:r>
            <a:endParaRPr lang="en-US" altLang="ko-KR" sz="900">
              <a:solidFill>
                <a:schemeClr val="tx1"/>
              </a:solidFill>
            </a:endParaRPr>
          </a:p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발행사이트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17" name="순서도: 다중 문서 16"/>
          <p:cNvSpPr/>
          <p:nvPr/>
        </p:nvSpPr>
        <p:spPr>
          <a:xfrm>
            <a:off x="7404022" y="3429000"/>
            <a:ext cx="1224136" cy="691432"/>
          </a:xfrm>
          <a:prstGeom prst="flowChartMultidocumen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기성 청구 현황</a:t>
            </a:r>
          </a:p>
        </p:txBody>
      </p:sp>
      <p:cxnSp>
        <p:nvCxnSpPr>
          <p:cNvPr id="19" name="꺾인 연결선 18"/>
          <p:cNvCxnSpPr>
            <a:stCxn id="63" idx="3"/>
            <a:endCxn id="17" idx="0"/>
          </p:cNvCxnSpPr>
          <p:nvPr/>
        </p:nvCxnSpPr>
        <p:spPr>
          <a:xfrm>
            <a:off x="2930634" y="3268615"/>
            <a:ext cx="5169672" cy="160385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8445500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416390"/>
              </p:ext>
            </p:extLst>
          </p:nvPr>
        </p:nvGraphicFramePr>
        <p:xfrm>
          <a:off x="344488" y="1916832"/>
          <a:ext cx="9181020" cy="432048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6724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572508"/>
              </a:tblGrid>
              <a:tr h="324036">
                <a:tc>
                  <a:txBody>
                    <a:bodyPr/>
                    <a:lstStyle/>
                    <a:p>
                      <a:pPr algn="r" fontAlgn="ctr" latinLnBrk="0"/>
                      <a:r>
                        <a:rPr lang="en-US" altLang="ko-KR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Level 3</a:t>
                      </a:r>
                    </a:p>
                    <a:p>
                      <a:pPr algn="l" fontAlgn="ctr" latinLnBrk="0"/>
                      <a:r>
                        <a:rPr lang="ko-KR" altLang="en-US" sz="10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역할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5.6.1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선수수익 결산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5.6.2 </a:t>
                      </a:r>
                      <a:r>
                        <a:rPr lang="ko-KR" altLang="en-US" sz="1100" b="1" i="0" u="none" strike="noStrike" smtClean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미수수익 결산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1954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경영지원처</a:t>
                      </a:r>
                      <a:endParaRPr lang="en-US" altLang="ko-KR" sz="1100" b="0" i="0" u="none" strike="noStrike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자산담당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2413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업무부서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8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813742"/>
          </a:xfrm>
        </p:spPr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smtClean="0">
                <a:latin typeface="+mn-ea"/>
                <a:ea typeface="+mn-ea"/>
              </a:rPr>
              <a:t>사업별로 기성률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집행률</a:t>
            </a:r>
            <a:r>
              <a:rPr lang="en-US" altLang="ko-KR" sz="1600" smtClean="0">
                <a:latin typeface="+mn-ea"/>
                <a:ea typeface="+mn-ea"/>
              </a:rPr>
              <a:t>, </a:t>
            </a:r>
            <a:r>
              <a:rPr lang="ko-KR" altLang="en-US" sz="1600" smtClean="0">
                <a:latin typeface="+mn-ea"/>
                <a:ea typeface="+mn-ea"/>
              </a:rPr>
              <a:t>선수금 수입분을 비교하여 선수수익에 대한 결산과 미수수익에 대한 결산 전표를 생성한다</a:t>
            </a:r>
            <a:r>
              <a:rPr lang="en-US" altLang="ko-KR" sz="1600" smtClean="0">
                <a:latin typeface="+mn-ea"/>
                <a:ea typeface="+mn-ea"/>
              </a:rPr>
              <a:t>.</a:t>
            </a:r>
            <a:r>
              <a:rPr lang="ko-KR" altLang="en-US" sz="1600" smtClean="0">
                <a:latin typeface="+mn-ea"/>
                <a:ea typeface="+mn-ea"/>
              </a:rPr>
              <a:t> </a:t>
            </a:r>
            <a:endParaRPr lang="ko-KR" altLang="en-US" sz="1600" dirty="0">
              <a:latin typeface="+mn-ea"/>
              <a:ea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 vert="horz" lIns="0" tIns="45720" rIns="0" bIns="45720" rtlCol="0" anchor="ctr">
            <a:noAutofit/>
          </a:bodyPr>
          <a:lstStyle/>
          <a:p>
            <a:r>
              <a:rPr lang="en-US" altLang="ko-KR" smtClean="0">
                <a:solidFill>
                  <a:prstClr val="black"/>
                </a:solidFill>
              </a:rPr>
              <a:t>Ⅲ. </a:t>
            </a:r>
            <a:r>
              <a:rPr lang="ko-KR" altLang="en-US" smtClean="0">
                <a:solidFill>
                  <a:prstClr val="black"/>
                </a:solidFill>
              </a:rPr>
              <a:t>목표모델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dirty="0">
                <a:solidFill>
                  <a:prstClr val="black"/>
                </a:solidFill>
              </a:rPr>
              <a:t>3. </a:t>
            </a:r>
            <a:r>
              <a:rPr lang="ko-KR" altLang="en-US" dirty="0">
                <a:solidFill>
                  <a:prstClr val="black"/>
                </a:solidFill>
              </a:rPr>
              <a:t>업무별 개선안 설계</a:t>
            </a:r>
            <a:endParaRPr lang="en-US" altLang="ko-KR" dirty="0">
              <a:solidFill>
                <a:prstClr val="black"/>
              </a:solidFill>
            </a:endParaRPr>
          </a:p>
          <a:p>
            <a:r>
              <a:rPr lang="en-US" altLang="ko-KR" smtClean="0">
                <a:solidFill>
                  <a:prstClr val="black"/>
                </a:solidFill>
              </a:rPr>
              <a:t>3.6 </a:t>
            </a:r>
            <a:r>
              <a:rPr lang="ko-KR" altLang="en-US" smtClean="0">
                <a:solidFill>
                  <a:prstClr val="black"/>
                </a:solidFill>
              </a:rPr>
              <a:t>사업관리 </a:t>
            </a:r>
            <a:r>
              <a:rPr lang="ko-KR" altLang="en-US" dirty="0">
                <a:solidFill>
                  <a:prstClr val="black"/>
                </a:solidFill>
              </a:rPr>
              <a:t>업무프로세스 개선안</a:t>
            </a:r>
            <a:endParaRPr lang="en-US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08" name="Group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6889590"/>
              </p:ext>
            </p:extLst>
          </p:nvPr>
        </p:nvGraphicFramePr>
        <p:xfrm>
          <a:off x="344488" y="1592796"/>
          <a:ext cx="9181020" cy="27432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449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5489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10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업무구조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145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돋움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사업관리 </a:t>
                      </a:r>
                      <a:r>
                        <a:rPr kumimoji="1" lang="en-US" altLang="ko-KR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&gt; </a:t>
                      </a:r>
                      <a:r>
                        <a:rPr kumimoji="1" lang="en-US" altLang="ko-KR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5.6 </a:t>
                      </a:r>
                      <a:r>
                        <a:rPr kumimoji="1" lang="ko-KR" altLang="en-US" sz="12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사업 결산 관리</a:t>
                      </a:r>
                      <a:endParaRPr kumimoji="1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6" name="그룹 61"/>
          <p:cNvGrpSpPr/>
          <p:nvPr/>
        </p:nvGrpSpPr>
        <p:grpSpPr>
          <a:xfrm>
            <a:off x="1377478" y="2660872"/>
            <a:ext cx="756425" cy="410305"/>
            <a:chOff x="1532620" y="4422851"/>
            <a:chExt cx="756425" cy="410305"/>
          </a:xfrm>
        </p:grpSpPr>
        <p:sp>
          <p:nvSpPr>
            <p:cNvPr id="26" name="직사각형 25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27" name="육각형 26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선수금</a:t>
              </a:r>
              <a:endParaRPr lang="en-US" altLang="ko-KR" sz="900" kern="0" smtClean="0">
                <a:solidFill>
                  <a:prstClr val="black"/>
                </a:solidFill>
              </a:endParaRPr>
            </a:p>
            <a:p>
              <a:pPr algn="ctr" latinLnBrk="0"/>
              <a:r>
                <a:rPr lang="en-US" altLang="ko-KR" sz="900" kern="0">
                  <a:solidFill>
                    <a:prstClr val="black"/>
                  </a:solidFill>
                </a:rPr>
                <a:t> 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집행률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1" name="제목 2">
            <a:extLst>
              <a:ext uri="{FF2B5EF4-FFF2-40B4-BE49-F238E27FC236}">
                <a16:creationId xmlns="" xmlns:a16="http://schemas.microsoft.com/office/drawing/2014/main" id="{EF9342E7-5D75-D340-5C4C-08E58BD13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488" y="0"/>
            <a:ext cx="6624736" cy="781320"/>
          </a:xfrm>
        </p:spPr>
        <p:txBody>
          <a:bodyPr>
            <a:noAutofit/>
          </a:bodyPr>
          <a:lstStyle/>
          <a:p>
            <a:r>
              <a:rPr lang="en-US" altLang="ko-KR" smtClean="0"/>
              <a:t>3.6.2 </a:t>
            </a:r>
            <a:r>
              <a:rPr lang="ko-KR" altLang="en-US" smtClean="0"/>
              <a:t>사업관리</a:t>
            </a:r>
            <a:r>
              <a:rPr lang="en-US" altLang="ko-KR" smtClean="0"/>
              <a:t> </a:t>
            </a:r>
            <a:r>
              <a:rPr lang="ko-KR" altLang="en-US"/>
              <a:t>업무 </a:t>
            </a:r>
            <a:r>
              <a:rPr lang="ko-KR" altLang="en-US" smtClean="0"/>
              <a:t>프로세스 정의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3.</a:t>
            </a:r>
            <a:r>
              <a:rPr lang="en-US" altLang="ko-KR" sz="1800" smtClean="0">
                <a:solidFill>
                  <a:prstClr val="black"/>
                </a:solidFill>
              </a:rPr>
              <a:t>6.2.1 </a:t>
            </a:r>
            <a:r>
              <a:rPr lang="ko-KR" altLang="en-US" sz="1800" smtClean="0">
                <a:solidFill>
                  <a:prstClr val="black"/>
                </a:solidFill>
              </a:rPr>
              <a:t>사업관리 </a:t>
            </a:r>
            <a:r>
              <a:rPr lang="ko-KR" altLang="en-US" sz="1800" dirty="0">
                <a:solidFill>
                  <a:prstClr val="black"/>
                </a:solidFill>
              </a:rPr>
              <a:t>업무 프로세스 맵 </a:t>
            </a:r>
            <a:r>
              <a:rPr lang="ko-KR" altLang="en-US" sz="1800">
                <a:solidFill>
                  <a:prstClr val="black"/>
                </a:solidFill>
              </a:rPr>
              <a:t>정의</a:t>
            </a:r>
            <a:r>
              <a:rPr lang="en-US" altLang="ko-KR" sz="1800" smtClean="0">
                <a:solidFill>
                  <a:prstClr val="black"/>
                </a:solidFill>
              </a:rPr>
              <a:t>(</a:t>
            </a:r>
            <a:r>
              <a:rPr lang="en-US" altLang="ko-KR" sz="1800" smtClean="0"/>
              <a:t>6/6)</a:t>
            </a:r>
            <a:endParaRPr lang="ko-KR" altLang="en-US" dirty="0"/>
          </a:p>
        </p:txBody>
      </p:sp>
      <p:sp>
        <p:nvSpPr>
          <p:cNvPr id="50" name="직사각형 49"/>
          <p:cNvSpPr/>
          <p:nvPr/>
        </p:nvSpPr>
        <p:spPr bwMode="auto">
          <a:xfrm>
            <a:off x="2460389" y="4166703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선수수익 결산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7" name="꺾인 연결선 6"/>
          <p:cNvCxnSpPr>
            <a:stCxn id="27" idx="0"/>
            <a:endCxn id="29" idx="0"/>
          </p:cNvCxnSpPr>
          <p:nvPr/>
        </p:nvCxnSpPr>
        <p:spPr>
          <a:xfrm>
            <a:off x="2133903" y="2866025"/>
            <a:ext cx="704699" cy="37586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순서도: 판단 58"/>
          <p:cNvSpPr>
            <a:spLocks noChangeAspect="1" noChangeArrowheads="1"/>
          </p:cNvSpPr>
          <p:nvPr/>
        </p:nvSpPr>
        <p:spPr bwMode="auto">
          <a:xfrm>
            <a:off x="2383974" y="3241894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선수금</a:t>
            </a:r>
            <a:r>
              <a:rPr lang="en-US" altLang="ko-KR" sz="900" kern="0" smtClean="0"/>
              <a:t>&gt;</a:t>
            </a:r>
            <a:r>
              <a:rPr lang="ko-KR" altLang="en-US" sz="900" kern="0" smtClean="0"/>
              <a:t>집행률</a:t>
            </a:r>
            <a:endParaRPr lang="ko-KR" altLang="en-US" sz="900" kern="0" dirty="0"/>
          </a:p>
        </p:txBody>
      </p:sp>
      <p:cxnSp>
        <p:nvCxnSpPr>
          <p:cNvPr id="10" name="직선 화살표 연결선 9"/>
          <p:cNvCxnSpPr>
            <a:stCxn id="29" idx="2"/>
            <a:endCxn id="50" idx="0"/>
          </p:cNvCxnSpPr>
          <p:nvPr/>
        </p:nvCxnSpPr>
        <p:spPr>
          <a:xfrm>
            <a:off x="2838602" y="3593884"/>
            <a:ext cx="0" cy="57281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그룹 61"/>
          <p:cNvGrpSpPr/>
          <p:nvPr/>
        </p:nvGrpSpPr>
        <p:grpSpPr>
          <a:xfrm>
            <a:off x="5602390" y="2671867"/>
            <a:ext cx="756425" cy="410305"/>
            <a:chOff x="1532620" y="4422851"/>
            <a:chExt cx="756425" cy="410305"/>
          </a:xfrm>
        </p:grpSpPr>
        <p:sp>
          <p:nvSpPr>
            <p:cNvPr id="35" name="직사각형 34"/>
            <p:cNvSpPr/>
            <p:nvPr/>
          </p:nvSpPr>
          <p:spPr>
            <a:xfrm>
              <a:off x="1661102" y="4433846"/>
              <a:ext cx="499802" cy="393752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36" name="육각형 35"/>
            <p:cNvSpPr/>
            <p:nvPr/>
          </p:nvSpPr>
          <p:spPr bwMode="auto">
            <a:xfrm>
              <a:off x="1532620" y="4422851"/>
              <a:ext cx="756425" cy="410305"/>
            </a:xfrm>
            <a:prstGeom prst="hexagon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lIns="0" tIns="0" rIns="0" bIns="0" rtlCol="0" anchor="ctr">
              <a:noAutofit/>
            </a:bodyPr>
            <a:lstStyle/>
            <a:p>
              <a:pPr algn="ctr" latinLnBrk="0"/>
              <a:r>
                <a:rPr lang="ko-KR" altLang="en-US" sz="900" kern="0" smtClean="0">
                  <a:solidFill>
                    <a:prstClr val="black"/>
                  </a:solidFill>
                </a:rPr>
                <a:t>기성률</a:t>
              </a:r>
              <a:r>
                <a:rPr lang="en-US" altLang="ko-KR" sz="900" kern="0" smtClean="0">
                  <a:solidFill>
                    <a:prstClr val="black"/>
                  </a:solidFill>
                </a:rPr>
                <a:t> </a:t>
              </a:r>
              <a:r>
                <a:rPr lang="ko-KR" altLang="en-US" sz="900" kern="0" smtClean="0">
                  <a:solidFill>
                    <a:prstClr val="black"/>
                  </a:solidFill>
                </a:rPr>
                <a:t>집행률</a:t>
              </a:r>
              <a:endParaRPr lang="en-US" altLang="ko-KR" sz="9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0" name="직사각형 39"/>
          <p:cNvSpPr/>
          <p:nvPr/>
        </p:nvSpPr>
        <p:spPr bwMode="auto">
          <a:xfrm>
            <a:off x="6685301" y="4177698"/>
            <a:ext cx="756425" cy="32077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0" tIns="0" rIns="0" bIns="0" rtlCol="0" anchor="ctr">
            <a:noAutofit/>
          </a:bodyPr>
          <a:lstStyle/>
          <a:p>
            <a:pPr algn="ctr" latinLnBrk="0"/>
            <a:r>
              <a:rPr lang="en-US" altLang="ko-KR" sz="900" kern="0" smtClean="0">
                <a:solidFill>
                  <a:prstClr val="black"/>
                </a:solidFill>
              </a:rPr>
              <a:t>1. </a:t>
            </a:r>
            <a:r>
              <a:rPr lang="ko-KR" altLang="en-US" sz="900" kern="0" smtClean="0">
                <a:solidFill>
                  <a:prstClr val="black"/>
                </a:solidFill>
              </a:rPr>
              <a:t>미수수익 결산</a:t>
            </a:r>
            <a:endParaRPr lang="en-US" altLang="ko-KR" sz="900" kern="0" dirty="0">
              <a:solidFill>
                <a:prstClr val="black"/>
              </a:solidFill>
            </a:endParaRPr>
          </a:p>
        </p:txBody>
      </p:sp>
      <p:cxnSp>
        <p:nvCxnSpPr>
          <p:cNvPr id="42" name="꺾인 연결선 41"/>
          <p:cNvCxnSpPr>
            <a:stCxn id="36" idx="0"/>
            <a:endCxn id="43" idx="0"/>
          </p:cNvCxnSpPr>
          <p:nvPr/>
        </p:nvCxnSpPr>
        <p:spPr>
          <a:xfrm>
            <a:off x="6358815" y="2877020"/>
            <a:ext cx="704699" cy="375869"/>
          </a:xfrm>
          <a:prstGeom prst="bentConnector2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순서도: 판단 58"/>
          <p:cNvSpPr>
            <a:spLocks noChangeAspect="1" noChangeArrowheads="1"/>
          </p:cNvSpPr>
          <p:nvPr/>
        </p:nvSpPr>
        <p:spPr bwMode="auto">
          <a:xfrm>
            <a:off x="6608886" y="3252889"/>
            <a:ext cx="909256" cy="351990"/>
          </a:xfrm>
          <a:prstGeom prst="flowChartDecision">
            <a:avLst/>
          </a:prstGeom>
          <a:solidFill>
            <a:sysClr val="window" lastClr="FFFFFF"/>
          </a:solidFill>
          <a:ln w="9525" cap="flat" cmpd="sng" algn="ctr">
            <a:solidFill>
              <a:schemeClr val="tx1"/>
            </a:solidFill>
            <a:prstDash val="solid"/>
          </a:ln>
          <a:effectLst/>
        </p:spPr>
        <p:txBody>
          <a:bodyPr wrap="none" lIns="0" tIns="0" rIns="0" bIns="0" rtlCol="0" anchor="ctr">
            <a:noAutofit/>
          </a:bodyPr>
          <a:lstStyle/>
          <a:p>
            <a:pPr algn="ctr" latinLnBrk="0"/>
            <a:r>
              <a:rPr lang="ko-KR" altLang="en-US" sz="900" kern="0" smtClean="0"/>
              <a:t>잡행률</a:t>
            </a:r>
            <a:r>
              <a:rPr lang="en-US" altLang="ko-KR" sz="900" kern="0" smtClean="0"/>
              <a:t>&gt;</a:t>
            </a:r>
            <a:r>
              <a:rPr lang="ko-KR" altLang="en-US" sz="900" kern="0"/>
              <a:t>기</a:t>
            </a:r>
            <a:r>
              <a:rPr lang="ko-KR" altLang="en-US" sz="900" kern="0" smtClean="0"/>
              <a:t>성률</a:t>
            </a:r>
            <a:endParaRPr lang="ko-KR" altLang="en-US" sz="900" kern="0" dirty="0"/>
          </a:p>
        </p:txBody>
      </p:sp>
      <p:cxnSp>
        <p:nvCxnSpPr>
          <p:cNvPr id="44" name="직선 화살표 연결선 43"/>
          <p:cNvCxnSpPr>
            <a:stCxn id="43" idx="2"/>
            <a:endCxn id="40" idx="0"/>
          </p:cNvCxnSpPr>
          <p:nvPr/>
        </p:nvCxnSpPr>
        <p:spPr>
          <a:xfrm>
            <a:off x="7063514" y="3604879"/>
            <a:ext cx="0" cy="572819"/>
          </a:xfrm>
          <a:prstGeom prst="straightConnector1">
            <a:avLst/>
          </a:prstGeom>
          <a:ln w="63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516699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표준화 및 데이터 표준관리 방안을 수립하기 위해 </a:t>
            </a:r>
            <a:r>
              <a:rPr lang="en-US" altLang="ko-KR" dirty="0"/>
              <a:t>5</a:t>
            </a:r>
            <a:r>
              <a:rPr lang="ko-KR" altLang="en-US" dirty="0"/>
              <a:t>개의 데이터 표준화 대상별 </a:t>
            </a:r>
            <a:r>
              <a:rPr lang="ko-KR" altLang="en-US"/>
              <a:t>관리 </a:t>
            </a:r>
            <a:r>
              <a:rPr lang="ko-KR" altLang="en-US" smtClean="0"/>
              <a:t>및 </a:t>
            </a:r>
            <a:r>
              <a:rPr lang="ko-KR" altLang="en-US"/>
              <a:t>표준화 </a:t>
            </a:r>
            <a:r>
              <a:rPr lang="ko-KR" altLang="en-US" smtClean="0"/>
              <a:t>적용 방안을 </a:t>
            </a:r>
            <a:r>
              <a:rPr lang="ko-KR" altLang="en-US" dirty="0"/>
              <a:t>제시함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3.7 DATABASE </a:t>
            </a:r>
            <a:r>
              <a:rPr lang="ko-KR" altLang="en-US" spc="-150" smtClean="0"/>
              <a:t>표준화 방안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3.7.1 </a:t>
            </a:r>
            <a:r>
              <a:rPr lang="ko-KR" altLang="en-US" sz="1800" spc="-150" smtClean="0"/>
              <a:t>표준화 적용 개선 방안 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 smtClean="0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"/>
          <p:cNvGrpSpPr/>
          <p:nvPr/>
        </p:nvGrpSpPr>
        <p:grpSpPr>
          <a:xfrm>
            <a:off x="347048" y="1592840"/>
            <a:ext cx="9214465" cy="4788910"/>
            <a:chOff x="201528" y="1592840"/>
            <a:chExt cx="9502496" cy="4788910"/>
          </a:xfrm>
        </p:grpSpPr>
        <p:grpSp>
          <p:nvGrpSpPr>
            <p:cNvPr id="6" name="그룹 52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54" name="직사각형 53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</a:t>
                </a:r>
                <a:r>
                  <a:rPr lang="ko-KR" altLang="en-US" sz="1400" b="1" kern="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표준화 적용</a:t>
                </a:r>
                <a:endPara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5" name="직사각형 54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55"/>
            <p:cNvGrpSpPr/>
            <p:nvPr/>
          </p:nvGrpSpPr>
          <p:grpSpPr>
            <a:xfrm>
              <a:off x="6969224" y="2020566"/>
              <a:ext cx="2646878" cy="4258004"/>
              <a:chOff x="2324708" y="394145"/>
              <a:chExt cx="3186842" cy="4258004"/>
            </a:xfrm>
          </p:grpSpPr>
          <p:sp>
            <p:nvSpPr>
              <p:cNvPr id="57" name="직사각형 56"/>
              <p:cNvSpPr/>
              <p:nvPr/>
            </p:nvSpPr>
            <p:spPr>
              <a:xfrm>
                <a:off x="2324709" y="692149"/>
                <a:ext cx="3186840" cy="396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endParaRPr lang="ko-KR" altLang="en-US" sz="8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8" name="직사각형 57"/>
              <p:cNvSpPr/>
              <p:nvPr/>
            </p:nvSpPr>
            <p:spPr bwMode="auto">
              <a:xfrm>
                <a:off x="2324708" y="394145"/>
                <a:ext cx="3186842" cy="298005"/>
              </a:xfrm>
              <a:prstGeom prst="rect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72000" tIns="0" rIns="7200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kumimoji="1" lang="ko-KR" altLang="en-US" sz="1200" b="1" spc="-5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방향성 정의</a:t>
                </a:r>
              </a:p>
            </p:txBody>
          </p:sp>
        </p:grpSp>
        <p:sp>
          <p:nvSpPr>
            <p:cNvPr id="59" name="AutoShape 3"/>
            <p:cNvSpPr>
              <a:spLocks noChangeArrowheads="1"/>
            </p:cNvSpPr>
            <p:nvPr/>
          </p:nvSpPr>
          <p:spPr bwMode="auto">
            <a:xfrm>
              <a:off x="3910538" y="3861048"/>
              <a:ext cx="2700000" cy="1376844"/>
            </a:xfrm>
            <a:prstGeom prst="homePlate">
              <a:avLst>
                <a:gd name="adj" fmla="val 25183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t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표준화 대상 후보</a:t>
              </a:r>
            </a:p>
          </p:txBody>
        </p:sp>
        <p:sp>
          <p:nvSpPr>
            <p:cNvPr id="60" name="AutoShape 5"/>
            <p:cNvSpPr>
              <a:spLocks noChangeArrowheads="1"/>
            </p:cNvSpPr>
            <p:nvPr/>
          </p:nvSpPr>
          <p:spPr bwMode="auto">
            <a:xfrm>
              <a:off x="3910538" y="2672916"/>
              <a:ext cx="2700000" cy="540060"/>
            </a:xfrm>
            <a:prstGeom prst="homePlate">
              <a:avLst>
                <a:gd name="adj" fmla="val 25746"/>
              </a:avLst>
            </a:prstGeom>
            <a:solidFill>
              <a:schemeClr val="bg1">
                <a:lumMod val="75000"/>
                <a:alpha val="50000"/>
              </a:schemeClr>
            </a:solidFill>
            <a:ln w="254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72000" tIns="72000" rIns="72000" bIns="72000" anchor="ctr" anchorCtr="1"/>
            <a:lstStyle/>
            <a:p>
              <a:pPr algn="ctr">
                <a:spcBef>
                  <a:spcPct val="50000"/>
                </a:spcBef>
              </a:pPr>
              <a:r>
                <a:rPr lang="ko-KR" altLang="en-US" sz="12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표준 현황 분석</a:t>
              </a:r>
            </a:p>
          </p:txBody>
        </p:sp>
        <p:sp>
          <p:nvSpPr>
            <p:cNvPr id="61" name="AutoShape 6"/>
            <p:cNvSpPr>
              <a:spLocks noChangeArrowheads="1"/>
            </p:cNvSpPr>
            <p:nvPr/>
          </p:nvSpPr>
          <p:spPr bwMode="auto">
            <a:xfrm>
              <a:off x="7049941" y="2797137"/>
              <a:ext cx="2483948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표준화 대상 식별</a:t>
              </a:r>
            </a:p>
          </p:txBody>
        </p:sp>
        <p:sp>
          <p:nvSpPr>
            <p:cNvPr id="62" name="AutoShape 7"/>
            <p:cNvSpPr>
              <a:spLocks noChangeArrowheads="1"/>
            </p:cNvSpPr>
            <p:nvPr/>
          </p:nvSpPr>
          <p:spPr bwMode="auto">
            <a:xfrm>
              <a:off x="7049941" y="4283086"/>
              <a:ext cx="2483948" cy="755650"/>
            </a:xfrm>
            <a:prstGeom prst="homePlate">
              <a:avLst>
                <a:gd name="adj" fmla="val 0"/>
              </a:avLst>
            </a:prstGeom>
            <a:ln>
              <a:miter lim="800000"/>
              <a:headEnd/>
              <a:tailEnd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표준화 대상별 관리 방법</a:t>
              </a:r>
            </a:p>
          </p:txBody>
        </p:sp>
        <p:sp>
          <p:nvSpPr>
            <p:cNvPr id="63" name="Text Box 8"/>
            <p:cNvSpPr txBox="1">
              <a:spLocks noChangeArrowheads="1"/>
            </p:cNvSpPr>
            <p:nvPr/>
          </p:nvSpPr>
          <p:spPr bwMode="auto">
            <a:xfrm>
              <a:off x="7049941" y="3564222"/>
              <a:ext cx="2483948" cy="2608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표준화 대상 정의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4" name="Text Box 9"/>
            <p:cNvSpPr txBox="1">
              <a:spLocks noChangeArrowheads="1"/>
            </p:cNvSpPr>
            <p:nvPr/>
          </p:nvSpPr>
          <p:spPr bwMode="auto">
            <a:xfrm>
              <a:off x="7049941" y="5028045"/>
              <a:ext cx="2483948" cy="453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2000" tIns="72000" rIns="72000" bIns="72000">
              <a:spAutoFit/>
            </a:bodyPr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표준화 대상별 관리 기준</a:t>
              </a:r>
              <a:endParaRPr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표준화 대상별 관리 지침</a:t>
              </a:r>
            </a:p>
          </p:txBody>
        </p:sp>
        <p:cxnSp>
          <p:nvCxnSpPr>
            <p:cNvPr id="65" name="AutoShape 10"/>
            <p:cNvCxnSpPr>
              <a:cxnSpLocks noChangeShapeType="1"/>
              <a:stCxn id="60" idx="3"/>
              <a:endCxn id="57" idx="1"/>
            </p:cNvCxnSpPr>
            <p:nvPr/>
          </p:nvCxnSpPr>
          <p:spPr bwMode="auto">
            <a:xfrm>
              <a:off x="6610538" y="2942946"/>
              <a:ext cx="358687" cy="1355624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6" name="AutoShape 11"/>
            <p:cNvCxnSpPr>
              <a:cxnSpLocks noChangeShapeType="1"/>
              <a:stCxn id="59" idx="3"/>
              <a:endCxn id="57" idx="1"/>
            </p:cNvCxnSpPr>
            <p:nvPr/>
          </p:nvCxnSpPr>
          <p:spPr bwMode="auto">
            <a:xfrm flipV="1">
              <a:off x="6610538" y="4298570"/>
              <a:ext cx="358687" cy="250900"/>
            </a:xfrm>
            <a:prstGeom prst="bentConnector3">
              <a:avLst>
                <a:gd name="adj1" fmla="val 50000"/>
              </a:avLst>
            </a:prstGeom>
            <a:noFill/>
            <a:ln w="28575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7" name="Text Box 12"/>
            <p:cNvSpPr txBox="1">
              <a:spLocks noChangeArrowheads="1"/>
            </p:cNvSpPr>
            <p:nvPr/>
          </p:nvSpPr>
          <p:spPr bwMode="auto">
            <a:xfrm>
              <a:off x="3910538" y="3231087"/>
              <a:ext cx="2700000" cy="539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ko-KR" altLang="en-US" sz="9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관련 시스템 구축 시 적용한 데이터 표준의 현황 분석 결과를 반영</a:t>
              </a:r>
            </a:p>
          </p:txBody>
        </p:sp>
        <p:sp>
          <p:nvSpPr>
            <p:cNvPr id="68" name="Text Box 13"/>
            <p:cNvSpPr txBox="1">
              <a:spLocks noChangeArrowheads="1"/>
            </p:cNvSpPr>
            <p:nvPr/>
          </p:nvSpPr>
          <p:spPr bwMode="auto">
            <a:xfrm>
              <a:off x="3910538" y="5244815"/>
              <a:ext cx="2700000" cy="4524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" tIns="72000" rIns="72000" bIns="72000"/>
            <a:lstStyle>
              <a:lvl1pPr marL="85725" indent="-85725"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>
                <a:lnSpc>
                  <a:spcPts val="900"/>
                </a:lnSpc>
                <a:spcBef>
                  <a:spcPts val="600"/>
                </a:spcBef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6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개 표준화 대상 후보에 대한 표준화 방안 제시</a:t>
              </a:r>
            </a:p>
          </p:txBody>
        </p:sp>
        <p:sp>
          <p:nvSpPr>
            <p:cNvPr id="69" name="AutoShape 6"/>
            <p:cNvSpPr>
              <a:spLocks noChangeArrowheads="1"/>
            </p:cNvSpPr>
            <p:nvPr/>
          </p:nvSpPr>
          <p:spPr bwMode="auto">
            <a:xfrm>
              <a:off x="4044992" y="4221088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단어사전</a:t>
              </a:r>
            </a:p>
          </p:txBody>
        </p:sp>
        <p:sp>
          <p:nvSpPr>
            <p:cNvPr id="70" name="AutoShape 6"/>
            <p:cNvSpPr>
              <a:spLocks noChangeArrowheads="1"/>
            </p:cNvSpPr>
            <p:nvPr/>
          </p:nvSpPr>
          <p:spPr bwMode="auto">
            <a:xfrm>
              <a:off x="5170845" y="4221088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용어사전</a:t>
              </a:r>
            </a:p>
          </p:txBody>
        </p:sp>
        <p:sp>
          <p:nvSpPr>
            <p:cNvPr id="71" name="AutoShape 6"/>
            <p:cNvSpPr>
              <a:spLocks noChangeArrowheads="1"/>
            </p:cNvSpPr>
            <p:nvPr/>
          </p:nvSpPr>
          <p:spPr bwMode="auto">
            <a:xfrm>
              <a:off x="4044992" y="4524879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도메인</a:t>
              </a:r>
            </a:p>
          </p:txBody>
        </p:sp>
        <p:sp>
          <p:nvSpPr>
            <p:cNvPr id="72" name="AutoShape 6"/>
            <p:cNvSpPr>
              <a:spLocks noChangeArrowheads="1"/>
            </p:cNvSpPr>
            <p:nvPr/>
          </p:nvSpPr>
          <p:spPr bwMode="auto">
            <a:xfrm>
              <a:off x="5170845" y="4524879"/>
              <a:ext cx="1080000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객체 네이밍</a:t>
              </a:r>
            </a:p>
          </p:txBody>
        </p:sp>
        <p:sp>
          <p:nvSpPr>
            <p:cNvPr id="73" name="AutoShape 6"/>
            <p:cNvSpPr>
              <a:spLocks noChangeArrowheads="1"/>
            </p:cNvSpPr>
            <p:nvPr/>
          </p:nvSpPr>
          <p:spPr bwMode="auto">
            <a:xfrm>
              <a:off x="4043749" y="4842439"/>
              <a:ext cx="1081243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 데이터</a:t>
              </a:r>
            </a:p>
          </p:txBody>
        </p:sp>
        <p:sp>
          <p:nvSpPr>
            <p:cNvPr id="74" name="직사각형 73"/>
            <p:cNvSpPr/>
            <p:nvPr/>
          </p:nvSpPr>
          <p:spPr bwMode="auto">
            <a:xfrm>
              <a:off x="242017" y="2059377"/>
              <a:ext cx="3186842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242017" y="2500530"/>
              <a:ext cx="3186840" cy="3881220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ln w="28575">
                  <a:solidFill>
                    <a:srgbClr val="000000"/>
                  </a:solidFill>
                </a:ln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오각형 75"/>
            <p:cNvSpPr/>
            <p:nvPr/>
          </p:nvSpPr>
          <p:spPr>
            <a:xfrm rot="16200000">
              <a:off x="1677850" y="1337699"/>
              <a:ext cx="331432" cy="3001868"/>
            </a:xfrm>
            <a:prstGeom prst="homePlate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eaVert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품질관리 체계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342632" y="3049384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방침</a:t>
              </a:r>
            </a:p>
          </p:txBody>
        </p:sp>
        <p:sp>
          <p:nvSpPr>
            <p:cNvPr id="78" name="직사각형 77"/>
            <p:cNvSpPr/>
            <p:nvPr/>
          </p:nvSpPr>
          <p:spPr>
            <a:xfrm>
              <a:off x="342632" y="3396123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조직</a:t>
              </a:r>
            </a:p>
          </p:txBody>
        </p:sp>
        <p:sp>
          <p:nvSpPr>
            <p:cNvPr id="79" name="직사각형 78"/>
            <p:cNvSpPr/>
            <p:nvPr/>
          </p:nvSpPr>
          <p:spPr>
            <a:xfrm>
              <a:off x="342632" y="514095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품질관리 프로세스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342632" y="5487698"/>
              <a:ext cx="2584934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관리 인프라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342632" y="5836430"/>
              <a:ext cx="3001868" cy="30415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 법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제도</a:t>
              </a:r>
            </a:p>
          </p:txBody>
        </p:sp>
        <p:sp>
          <p:nvSpPr>
            <p:cNvPr id="82" name="직사각형 81"/>
            <p:cNvSpPr/>
            <p:nvPr/>
          </p:nvSpPr>
          <p:spPr>
            <a:xfrm>
              <a:off x="342632" y="3739483"/>
              <a:ext cx="2584934" cy="135689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b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1668019" y="4325794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551835" y="4325794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85" name="직사각형 84"/>
            <p:cNvSpPr/>
            <p:nvPr/>
          </p:nvSpPr>
          <p:spPr>
            <a:xfrm>
              <a:off x="1668019" y="3812135"/>
              <a:ext cx="1117654" cy="51605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2962300" y="3049384"/>
              <a:ext cx="382200" cy="27424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0" tIns="36000" rIns="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공개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개방</a:t>
              </a:r>
            </a:p>
          </p:txBody>
        </p:sp>
        <p:sp>
          <p:nvSpPr>
            <p:cNvPr id="87" name="직사각형 86"/>
            <p:cNvSpPr/>
            <p:nvPr/>
          </p:nvSpPr>
          <p:spPr>
            <a:xfrm>
              <a:off x="551835" y="3812135"/>
              <a:ext cx="1117654" cy="51605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9050">
              <a:solidFill>
                <a:srgbClr val="C00000"/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ko-KR" altLang="en-US" sz="900" dirty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cxnSp>
          <p:nvCxnSpPr>
            <p:cNvPr id="88" name="AutoShape 68"/>
            <p:cNvCxnSpPr>
              <a:cxnSpLocks noChangeShapeType="1"/>
              <a:stCxn id="87" idx="3"/>
              <a:endCxn id="60" idx="1"/>
            </p:cNvCxnSpPr>
            <p:nvPr/>
          </p:nvCxnSpPr>
          <p:spPr bwMode="auto">
            <a:xfrm flipV="1">
              <a:off x="1669489" y="2942946"/>
              <a:ext cx="2241049" cy="1127216"/>
            </a:xfrm>
            <a:prstGeom prst="bentConnector3">
              <a:avLst>
                <a:gd name="adj1" fmla="val 89102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AutoShape 68"/>
            <p:cNvCxnSpPr>
              <a:cxnSpLocks noChangeShapeType="1"/>
              <a:stCxn id="87" idx="3"/>
              <a:endCxn id="59" idx="1"/>
            </p:cNvCxnSpPr>
            <p:nvPr/>
          </p:nvCxnSpPr>
          <p:spPr bwMode="auto">
            <a:xfrm>
              <a:off x="1669489" y="4070162"/>
              <a:ext cx="2241049" cy="479308"/>
            </a:xfrm>
            <a:prstGeom prst="bentConnector3">
              <a:avLst>
                <a:gd name="adj1" fmla="val 88677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8" name="그룹 89"/>
            <p:cNvGrpSpPr/>
            <p:nvPr/>
          </p:nvGrpSpPr>
          <p:grpSpPr>
            <a:xfrm>
              <a:off x="1289739" y="3942464"/>
              <a:ext cx="769700" cy="769701"/>
              <a:chOff x="-1683537" y="3004277"/>
              <a:chExt cx="892622" cy="892622"/>
            </a:xfrm>
          </p:grpSpPr>
          <p:sp>
            <p:nvSpPr>
              <p:cNvPr id="91" name="모서리가 둥근 직사각형 90"/>
              <p:cNvSpPr/>
              <p:nvPr/>
            </p:nvSpPr>
            <p:spPr>
              <a:xfrm>
                <a:off x="-1683537" y="3004277"/>
                <a:ext cx="892622" cy="892622"/>
              </a:xfrm>
              <a:prstGeom prst="roundRect">
                <a:avLst>
                  <a:gd name="adj" fmla="val 21178"/>
                </a:avLst>
              </a:prstGeom>
              <a:solidFill>
                <a:schemeClr val="bg1">
                  <a:alpha val="46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92" name="타원 91"/>
              <p:cNvSpPr/>
              <p:nvPr/>
            </p:nvSpPr>
            <p:spPr>
              <a:xfrm>
                <a:off x="-1491716" y="3243890"/>
                <a:ext cx="490467" cy="36290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7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7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93" name="AutoShape 6"/>
            <p:cNvSpPr>
              <a:spLocks noChangeArrowheads="1"/>
            </p:cNvSpPr>
            <p:nvPr/>
          </p:nvSpPr>
          <p:spPr bwMode="auto">
            <a:xfrm>
              <a:off x="5170845" y="4842439"/>
              <a:ext cx="1081243" cy="252000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lIns="36000" tIns="72000" rIns="36000" bIns="72000" anchor="ctr"/>
            <a:lstStyle/>
            <a:p>
              <a:pPr algn="ctr">
                <a:spcBef>
                  <a:spcPct val="50000"/>
                </a:spcBef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관련 도구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2715818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경영정보시스템의 </a:t>
            </a:r>
            <a:r>
              <a:rPr lang="en-US" altLang="ko-KR" smtClean="0"/>
              <a:t>DATABASE </a:t>
            </a:r>
            <a:r>
              <a:rPr lang="ko-KR" altLang="en-US" dirty="0"/>
              <a:t>설계와 </a:t>
            </a:r>
            <a:r>
              <a:rPr lang="ko-KR" altLang="en-US"/>
              <a:t>개발을 </a:t>
            </a:r>
            <a:r>
              <a:rPr lang="ko-KR" altLang="en-US" smtClean="0"/>
              <a:t>표준화하고</a:t>
            </a:r>
            <a:r>
              <a:rPr lang="en-US" altLang="ko-KR" dirty="0"/>
              <a:t>, </a:t>
            </a:r>
            <a:r>
              <a:rPr lang="ko-KR" altLang="en-US" dirty="0"/>
              <a:t>전사적인 데이터 표준의 사용 및 재사용을 통해 시스템 간 상호 운용성</a:t>
            </a:r>
            <a:r>
              <a:rPr lang="en-US" altLang="ko-KR" dirty="0"/>
              <a:t>, </a:t>
            </a:r>
            <a:r>
              <a:rPr lang="ko-KR" altLang="en-US" dirty="0"/>
              <a:t>데이터 공유</a:t>
            </a:r>
            <a:r>
              <a:rPr lang="en-US" altLang="ko-KR" dirty="0"/>
              <a:t>, </a:t>
            </a:r>
            <a:r>
              <a:rPr lang="ko-KR" altLang="en-US" dirty="0"/>
              <a:t>시스템 통합</a:t>
            </a:r>
            <a:r>
              <a:rPr lang="en-US" altLang="ko-KR" dirty="0"/>
              <a:t>, </a:t>
            </a:r>
            <a:r>
              <a:rPr lang="ko-KR" altLang="en-US" dirty="0"/>
              <a:t>비즈니스 프로세스 개선 등을 지원하도록 </a:t>
            </a:r>
            <a:r>
              <a:rPr lang="en-US" altLang="ko-KR" dirty="0"/>
              <a:t>5</a:t>
            </a:r>
            <a:r>
              <a:rPr lang="ko-KR" altLang="en-US" dirty="0"/>
              <a:t>개 분야의 데이터 표준을 수립함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3.7.2.1 </a:t>
            </a:r>
            <a:r>
              <a:rPr lang="ko-KR" altLang="en-US" sz="1800" spc="-150" dirty="0"/>
              <a:t>데이터 표준화 </a:t>
            </a:r>
            <a:r>
              <a:rPr lang="ko-KR" altLang="en-US" sz="1800" spc="-150"/>
              <a:t>대상 </a:t>
            </a:r>
            <a:r>
              <a:rPr lang="ko-KR" altLang="en-US" sz="1800" spc="-150" smtClean="0"/>
              <a:t> 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5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6" name="그룹 51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94" name="직사각형 93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표준화 대상과 데이터 표준</a:t>
                </a:r>
              </a:p>
            </p:txBody>
          </p:sp>
          <p:sp>
            <p:nvSpPr>
              <p:cNvPr id="95" name="직사각형 94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96" name="AutoShape 27"/>
            <p:cNvSpPr>
              <a:spLocks noChangeArrowheads="1"/>
            </p:cNvSpPr>
            <p:nvPr/>
          </p:nvSpPr>
          <p:spPr bwMode="auto">
            <a:xfrm>
              <a:off x="458392" y="4892318"/>
              <a:ext cx="1561726" cy="3993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코드 데이터</a:t>
              </a:r>
            </a:p>
          </p:txBody>
        </p:sp>
        <p:sp>
          <p:nvSpPr>
            <p:cNvPr id="97" name="AutoShape 27"/>
            <p:cNvSpPr>
              <a:spLocks noChangeArrowheads="1"/>
            </p:cNvSpPr>
            <p:nvPr/>
          </p:nvSpPr>
          <p:spPr bwMode="auto">
            <a:xfrm>
              <a:off x="458392" y="5428615"/>
              <a:ext cx="1561726" cy="39933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관련 도구</a:t>
              </a:r>
            </a:p>
          </p:txBody>
        </p:sp>
        <p:sp>
          <p:nvSpPr>
            <p:cNvPr id="98" name="AutoShape 27"/>
            <p:cNvSpPr>
              <a:spLocks noChangeArrowheads="1"/>
            </p:cNvSpPr>
            <p:nvPr/>
          </p:nvSpPr>
          <p:spPr bwMode="auto">
            <a:xfrm>
              <a:off x="458392" y="2747129"/>
              <a:ext cx="1561726" cy="3993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단어 사전</a:t>
              </a:r>
            </a:p>
          </p:txBody>
        </p:sp>
        <p:sp>
          <p:nvSpPr>
            <p:cNvPr id="99" name="AutoShape 27"/>
            <p:cNvSpPr>
              <a:spLocks noChangeArrowheads="1"/>
            </p:cNvSpPr>
            <p:nvPr/>
          </p:nvSpPr>
          <p:spPr bwMode="auto">
            <a:xfrm>
              <a:off x="458392" y="3283426"/>
              <a:ext cx="1561726" cy="3993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 사전</a:t>
              </a:r>
            </a:p>
          </p:txBody>
        </p:sp>
        <p:sp>
          <p:nvSpPr>
            <p:cNvPr id="100" name="AutoShape 27"/>
            <p:cNvSpPr>
              <a:spLocks noChangeArrowheads="1"/>
            </p:cNvSpPr>
            <p:nvPr/>
          </p:nvSpPr>
          <p:spPr bwMode="auto">
            <a:xfrm>
              <a:off x="458392" y="3819723"/>
              <a:ext cx="1561726" cy="39933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도메인</a:t>
              </a:r>
            </a:p>
          </p:txBody>
        </p:sp>
        <p:sp>
          <p:nvSpPr>
            <p:cNvPr id="101" name="AutoShape 27"/>
            <p:cNvSpPr>
              <a:spLocks noChangeArrowheads="1"/>
            </p:cNvSpPr>
            <p:nvPr/>
          </p:nvSpPr>
          <p:spPr bwMode="auto">
            <a:xfrm>
              <a:off x="458392" y="4356021"/>
              <a:ext cx="1561726" cy="3993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객체의 네이밍</a:t>
              </a:r>
            </a:p>
          </p:txBody>
        </p:sp>
        <p:sp>
          <p:nvSpPr>
            <p:cNvPr id="102" name="직사각형 101"/>
            <p:cNvSpPr/>
            <p:nvPr/>
          </p:nvSpPr>
          <p:spPr bwMode="auto">
            <a:xfrm>
              <a:off x="452500" y="2312876"/>
              <a:ext cx="1583858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표준화 대상</a:t>
              </a:r>
            </a:p>
          </p:txBody>
        </p:sp>
        <p:sp>
          <p:nvSpPr>
            <p:cNvPr id="103" name="AutoShape 27"/>
            <p:cNvSpPr>
              <a:spLocks noChangeArrowheads="1"/>
            </p:cNvSpPr>
            <p:nvPr/>
          </p:nvSpPr>
          <p:spPr bwMode="auto">
            <a:xfrm>
              <a:off x="3050680" y="4758243"/>
              <a:ext cx="1561726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코드</a:t>
              </a:r>
            </a:p>
          </p:txBody>
        </p:sp>
        <p:sp>
          <p:nvSpPr>
            <p:cNvPr id="104" name="AutoShape 27"/>
            <p:cNvSpPr>
              <a:spLocks noChangeArrowheads="1"/>
            </p:cNvSpPr>
            <p:nvPr/>
          </p:nvSpPr>
          <p:spPr bwMode="auto">
            <a:xfrm>
              <a:off x="3050680" y="5428615"/>
              <a:ext cx="1561726" cy="39933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데이터 도구</a:t>
              </a:r>
            </a:p>
          </p:txBody>
        </p:sp>
        <p:sp>
          <p:nvSpPr>
            <p:cNvPr id="105" name="AutoShape 27"/>
            <p:cNvSpPr>
              <a:spLocks noChangeArrowheads="1"/>
            </p:cNvSpPr>
            <p:nvPr/>
          </p:nvSpPr>
          <p:spPr bwMode="auto">
            <a:xfrm>
              <a:off x="3050680" y="2747129"/>
              <a:ext cx="1561726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자료 사전</a:t>
              </a:r>
            </a:p>
          </p:txBody>
        </p:sp>
        <p:sp>
          <p:nvSpPr>
            <p:cNvPr id="106" name="AutoShape 27"/>
            <p:cNvSpPr>
              <a:spLocks noChangeArrowheads="1"/>
            </p:cNvSpPr>
            <p:nvPr/>
          </p:nvSpPr>
          <p:spPr bwMode="auto">
            <a:xfrm>
              <a:off x="3050680" y="3417500"/>
              <a:ext cx="1561726" cy="39933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도메인</a:t>
              </a:r>
            </a:p>
          </p:txBody>
        </p:sp>
        <p:sp>
          <p:nvSpPr>
            <p:cNvPr id="107" name="AutoShape 27"/>
            <p:cNvSpPr>
              <a:spLocks noChangeArrowheads="1"/>
            </p:cNvSpPr>
            <p:nvPr/>
          </p:nvSpPr>
          <p:spPr bwMode="auto">
            <a:xfrm>
              <a:off x="3050680" y="4087872"/>
              <a:ext cx="1561726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네이밍 룰</a:t>
              </a:r>
            </a:p>
          </p:txBody>
        </p:sp>
        <p:sp>
          <p:nvSpPr>
            <p:cNvPr id="108" name="직사각형 107"/>
            <p:cNvSpPr/>
            <p:nvPr/>
          </p:nvSpPr>
          <p:spPr bwMode="auto">
            <a:xfrm>
              <a:off x="3044788" y="2312876"/>
              <a:ext cx="1583858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cxnSp>
          <p:nvCxnSpPr>
            <p:cNvPr id="109" name="직선 연결선 108"/>
            <p:cNvCxnSpPr>
              <a:stCxn id="98" idx="3"/>
              <a:endCxn id="105" idx="1"/>
            </p:cNvCxnSpPr>
            <p:nvPr/>
          </p:nvCxnSpPr>
          <p:spPr bwMode="auto">
            <a:xfrm>
              <a:off x="2020118" y="2946798"/>
              <a:ext cx="1030562" cy="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0" name="직선 연결선 109"/>
            <p:cNvCxnSpPr>
              <a:stCxn id="99" idx="3"/>
              <a:endCxn id="105" idx="1"/>
            </p:cNvCxnSpPr>
            <p:nvPr/>
          </p:nvCxnSpPr>
          <p:spPr bwMode="auto">
            <a:xfrm flipV="1">
              <a:off x="2020118" y="2946798"/>
              <a:ext cx="1030562" cy="53629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1" name="직선 연결선 110"/>
            <p:cNvCxnSpPr>
              <a:stCxn id="100" idx="3"/>
              <a:endCxn id="106" idx="1"/>
            </p:cNvCxnSpPr>
            <p:nvPr/>
          </p:nvCxnSpPr>
          <p:spPr bwMode="auto">
            <a:xfrm flipV="1">
              <a:off x="2020118" y="3617170"/>
              <a:ext cx="1030562" cy="402223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2" name="직선 연결선 111"/>
            <p:cNvCxnSpPr>
              <a:stCxn id="101" idx="3"/>
              <a:endCxn id="107" idx="1"/>
            </p:cNvCxnSpPr>
            <p:nvPr/>
          </p:nvCxnSpPr>
          <p:spPr bwMode="auto">
            <a:xfrm flipV="1">
              <a:off x="2020118" y="4287541"/>
              <a:ext cx="1030562" cy="26814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3" name="직선 연결선 112"/>
            <p:cNvCxnSpPr>
              <a:stCxn id="96" idx="3"/>
              <a:endCxn id="103" idx="1"/>
            </p:cNvCxnSpPr>
            <p:nvPr/>
          </p:nvCxnSpPr>
          <p:spPr bwMode="auto">
            <a:xfrm flipV="1">
              <a:off x="2020118" y="4957912"/>
              <a:ext cx="1030562" cy="134075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4" name="직선 연결선 113"/>
            <p:cNvCxnSpPr>
              <a:stCxn id="97" idx="3"/>
              <a:endCxn id="104" idx="1"/>
            </p:cNvCxnSpPr>
            <p:nvPr/>
          </p:nvCxnSpPr>
          <p:spPr bwMode="auto">
            <a:xfrm>
              <a:off x="2020118" y="5628285"/>
              <a:ext cx="1030562" cy="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15" name="원통 114"/>
            <p:cNvSpPr/>
            <p:nvPr/>
          </p:nvSpPr>
          <p:spPr>
            <a:xfrm>
              <a:off x="5508807" y="3638743"/>
              <a:ext cx="972108" cy="1053117"/>
            </a:xfrm>
            <a:prstGeom prst="can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0800000" scaled="1"/>
              <a:tileRect/>
            </a:gra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메타데이터</a:t>
              </a:r>
              <a:r>
                <a:rPr lang="en-US" altLang="ko-KR" sz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리파지토리</a:t>
              </a:r>
            </a:p>
          </p:txBody>
        </p:sp>
        <p:cxnSp>
          <p:nvCxnSpPr>
            <p:cNvPr id="116" name="직선 연결선 115"/>
            <p:cNvCxnSpPr>
              <a:stCxn id="105" idx="3"/>
              <a:endCxn id="115" idx="2"/>
            </p:cNvCxnSpPr>
            <p:nvPr/>
          </p:nvCxnSpPr>
          <p:spPr bwMode="auto">
            <a:xfrm>
              <a:off x="4612406" y="2946798"/>
              <a:ext cx="896401" cy="1218504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7" name="직선 연결선 116"/>
            <p:cNvCxnSpPr>
              <a:stCxn id="107" idx="3"/>
              <a:endCxn id="115" idx="2"/>
            </p:cNvCxnSpPr>
            <p:nvPr/>
          </p:nvCxnSpPr>
          <p:spPr bwMode="auto">
            <a:xfrm flipV="1">
              <a:off x="4612406" y="4165302"/>
              <a:ext cx="896401" cy="12223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8" name="직선 연결선 117"/>
            <p:cNvCxnSpPr>
              <a:stCxn id="106" idx="3"/>
              <a:endCxn id="115" idx="2"/>
            </p:cNvCxnSpPr>
            <p:nvPr/>
          </p:nvCxnSpPr>
          <p:spPr bwMode="auto">
            <a:xfrm>
              <a:off x="4612406" y="3617170"/>
              <a:ext cx="896401" cy="548132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9" name="직선 연결선 118"/>
            <p:cNvCxnSpPr>
              <a:stCxn id="103" idx="3"/>
              <a:endCxn id="115" idx="2"/>
            </p:cNvCxnSpPr>
            <p:nvPr/>
          </p:nvCxnSpPr>
          <p:spPr bwMode="auto">
            <a:xfrm flipV="1">
              <a:off x="4612406" y="4165302"/>
              <a:ext cx="896401" cy="79261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20" name="직선 연결선 119"/>
            <p:cNvCxnSpPr>
              <a:stCxn id="104" idx="3"/>
              <a:endCxn id="115" idx="2"/>
            </p:cNvCxnSpPr>
            <p:nvPr/>
          </p:nvCxnSpPr>
          <p:spPr bwMode="auto">
            <a:xfrm flipV="1">
              <a:off x="4612406" y="4165302"/>
              <a:ext cx="896401" cy="1462983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21" name="Rectangle 99"/>
            <p:cNvSpPr>
              <a:spLocks noChangeArrowheads="1"/>
            </p:cNvSpPr>
            <p:nvPr/>
          </p:nvSpPr>
          <p:spPr bwMode="auto">
            <a:xfrm>
              <a:off x="8837613" y="2948029"/>
              <a:ext cx="530891" cy="1428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 algn="ctr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2" name="AutoShape 6"/>
            <p:cNvSpPr>
              <a:spLocks noChangeArrowheads="1"/>
            </p:cNvSpPr>
            <p:nvPr/>
          </p:nvSpPr>
          <p:spPr bwMode="auto">
            <a:xfrm>
              <a:off x="7042138" y="2861639"/>
              <a:ext cx="2519374" cy="704142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엔티티의 공통 속성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타입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사이즈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제약조건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검증 조건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을 정의</a:t>
              </a:r>
            </a:p>
          </p:txBody>
        </p:sp>
        <p:sp>
          <p:nvSpPr>
            <p:cNvPr id="123" name="타원 122"/>
            <p:cNvSpPr/>
            <p:nvPr/>
          </p:nvSpPr>
          <p:spPr bwMode="auto">
            <a:xfrm>
              <a:off x="6942504" y="3117198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4" name="AutoShape 6"/>
            <p:cNvSpPr>
              <a:spLocks noChangeArrowheads="1"/>
            </p:cNvSpPr>
            <p:nvPr/>
          </p:nvSpPr>
          <p:spPr bwMode="auto">
            <a:xfrm>
              <a:off x="7042138" y="3716343"/>
              <a:ext cx="2519374" cy="637226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객체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논리 모델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물리 모델에 적용하는 명명 규칙 정의</a:t>
              </a:r>
            </a:p>
          </p:txBody>
        </p:sp>
        <p:sp>
          <p:nvSpPr>
            <p:cNvPr id="125" name="타원 124"/>
            <p:cNvSpPr/>
            <p:nvPr/>
          </p:nvSpPr>
          <p:spPr bwMode="auto">
            <a:xfrm>
              <a:off x="6942504" y="3938444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3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6" name="AutoShape 6"/>
            <p:cNvSpPr>
              <a:spLocks noChangeArrowheads="1"/>
            </p:cNvSpPr>
            <p:nvPr/>
          </p:nvSpPr>
          <p:spPr bwMode="auto">
            <a:xfrm>
              <a:off x="7042138" y="4504131"/>
              <a:ext cx="2519374" cy="918070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코드 체계와 표준 코드 목록을 정의</a:t>
              </a:r>
            </a:p>
          </p:txBody>
        </p:sp>
        <p:sp>
          <p:nvSpPr>
            <p:cNvPr id="127" name="타원 126"/>
            <p:cNvSpPr/>
            <p:nvPr/>
          </p:nvSpPr>
          <p:spPr bwMode="auto">
            <a:xfrm>
              <a:off x="6942504" y="4866654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4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8" name="AutoShape 6"/>
            <p:cNvSpPr>
              <a:spLocks noChangeArrowheads="1"/>
            </p:cNvSpPr>
            <p:nvPr/>
          </p:nvSpPr>
          <p:spPr bwMode="auto">
            <a:xfrm>
              <a:off x="7042138" y="5572764"/>
              <a:ext cx="2519374" cy="700552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관리</a:t>
              </a:r>
              <a:r>
                <a:rPr kumimoji="1"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개발에 사용되는 표준 데이터 도구를 정의</a:t>
              </a:r>
            </a:p>
          </p:txBody>
        </p:sp>
        <p:sp>
          <p:nvSpPr>
            <p:cNvPr id="129" name="타원 128"/>
            <p:cNvSpPr/>
            <p:nvPr/>
          </p:nvSpPr>
          <p:spPr bwMode="auto">
            <a:xfrm>
              <a:off x="6942504" y="5826528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5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AutoShape 6"/>
            <p:cNvSpPr>
              <a:spLocks noChangeArrowheads="1"/>
            </p:cNvSpPr>
            <p:nvPr/>
          </p:nvSpPr>
          <p:spPr bwMode="auto">
            <a:xfrm>
              <a:off x="7042138" y="2023411"/>
              <a:ext cx="2519374" cy="704142"/>
            </a:xfrm>
            <a:prstGeom prst="rect">
              <a:avLst/>
            </a:prstGeom>
            <a:ln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lIns="108000" tIns="0" rIns="108000" bIns="0" anchor="ctr"/>
            <a:lstStyle/>
            <a:p>
              <a:pPr algn="ctr" defTabSz="1025315"/>
              <a:r>
                <a:rPr kumimoji="1" lang="ko-KR" altLang="en-US" sz="110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경영정보시스템 </a:t>
              </a: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구축 시 데이터 객체의 명명 시 적용하는 단어사전과 용어사전</a:t>
              </a:r>
            </a:p>
          </p:txBody>
        </p:sp>
        <p:sp>
          <p:nvSpPr>
            <p:cNvPr id="131" name="타원 130"/>
            <p:cNvSpPr/>
            <p:nvPr/>
          </p:nvSpPr>
          <p:spPr bwMode="auto">
            <a:xfrm>
              <a:off x="6942504" y="2278970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2" name="AutoShape 12"/>
            <p:cNvSpPr>
              <a:spLocks noChangeArrowheads="1"/>
            </p:cNvSpPr>
            <p:nvPr/>
          </p:nvSpPr>
          <p:spPr bwMode="auto">
            <a:xfrm rot="5400000">
              <a:off x="4890652" y="4121266"/>
              <a:ext cx="3570248" cy="277200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chemeClr val="accent1"/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noFill/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endParaRPr lang="ko-KR" altLang="en-US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3" name="AutoShape 88"/>
            <p:cNvSpPr>
              <a:spLocks noChangeAspect="1" noChangeArrowheads="1"/>
            </p:cNvSpPr>
            <p:nvPr/>
          </p:nvSpPr>
          <p:spPr bwMode="auto">
            <a:xfrm>
              <a:off x="4802533" y="2498647"/>
              <a:ext cx="624334" cy="3487559"/>
            </a:xfrm>
            <a:prstGeom prst="rightArrow">
              <a:avLst>
                <a:gd name="adj1" fmla="val 74847"/>
                <a:gd name="adj2" fmla="val 49627"/>
              </a:avLst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46000">
                  <a:schemeClr val="accent2">
                    <a:lumMod val="95000"/>
                    <a:lumOff val="5000"/>
                  </a:schemeClr>
                </a:gs>
                <a:gs pos="100000">
                  <a:schemeClr val="accent2">
                    <a:lumMod val="60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  <a:effectLst/>
            <a:extLst/>
          </p:spPr>
          <p:txBody>
            <a:bodyPr vert="eaVert" wrap="none" lIns="144000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400" dirty="0">
                  <a:solidFill>
                    <a:srgbClr val="BEDCFF">
                      <a:lumMod val="2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메타 데이터리파지토리 저장</a:t>
              </a:r>
            </a:p>
          </p:txBody>
        </p:sp>
        <p:sp>
          <p:nvSpPr>
            <p:cNvPr id="134" name="AutoShape 88"/>
            <p:cNvSpPr>
              <a:spLocks noChangeAspect="1" noChangeArrowheads="1"/>
            </p:cNvSpPr>
            <p:nvPr/>
          </p:nvSpPr>
          <p:spPr bwMode="auto">
            <a:xfrm>
              <a:off x="2250336" y="2498647"/>
              <a:ext cx="624334" cy="3487559"/>
            </a:xfrm>
            <a:prstGeom prst="rightArrow">
              <a:avLst>
                <a:gd name="adj1" fmla="val 74847"/>
                <a:gd name="adj2" fmla="val 49627"/>
              </a:avLst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46000">
                  <a:schemeClr val="accent2">
                    <a:lumMod val="95000"/>
                    <a:lumOff val="5000"/>
                  </a:schemeClr>
                </a:gs>
                <a:gs pos="100000">
                  <a:schemeClr val="accent2">
                    <a:lumMod val="60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  <a:effectLst/>
            <a:extLst/>
          </p:spPr>
          <p:txBody>
            <a:bodyPr vert="eaVert" wrap="none" lIns="144000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400" dirty="0">
                  <a:solidFill>
                    <a:srgbClr val="BEDCFF">
                      <a:lumMod val="2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표준화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3738171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ko-KR" altLang="en-US" dirty="0"/>
              <a:t>표준 자료사전은 표준 단어 사전과 표준 용어 사전으로 구성하며</a:t>
            </a:r>
            <a:r>
              <a:rPr lang="en-US" altLang="ko-KR" dirty="0"/>
              <a:t>, </a:t>
            </a:r>
            <a:r>
              <a:rPr lang="ko-KR" altLang="en-US" dirty="0"/>
              <a:t>표준 자료 사전 구축</a:t>
            </a:r>
            <a:r>
              <a:rPr lang="en-US" altLang="ko-KR" dirty="0"/>
              <a:t>, </a:t>
            </a:r>
            <a:r>
              <a:rPr lang="ko-KR" altLang="en-US" dirty="0"/>
              <a:t>관리 시에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적용할 관리 기준과 관리 지침을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 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3.7.2.2 </a:t>
            </a:r>
            <a:r>
              <a:rPr lang="ko-KR" altLang="en-US" sz="1800" spc="-150" smtClean="0"/>
              <a:t>표준 </a:t>
            </a:r>
            <a:r>
              <a:rPr lang="ko-KR" altLang="en-US" sz="1800" spc="-150" dirty="0"/>
              <a:t>자료사전 구축 방안 </a:t>
            </a:r>
            <a:r>
              <a:rPr lang="en-US" altLang="ko-KR" sz="1800" spc="-150" dirty="0"/>
              <a:t>(1/3)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8"/>
          <p:cNvGrpSpPr/>
          <p:nvPr/>
        </p:nvGrpSpPr>
        <p:grpSpPr>
          <a:xfrm>
            <a:off x="344489" y="1592840"/>
            <a:ext cx="9217024" cy="4752399"/>
            <a:chOff x="201528" y="1592840"/>
            <a:chExt cx="9504447" cy="4752399"/>
          </a:xfrm>
        </p:grpSpPr>
        <p:sp>
          <p:nvSpPr>
            <p:cNvPr id="56" name="직사각형 55"/>
            <p:cNvSpPr/>
            <p:nvPr/>
          </p:nvSpPr>
          <p:spPr bwMode="auto">
            <a:xfrm>
              <a:off x="7293260" y="1592840"/>
              <a:ext cx="2412715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관리 지침</a:t>
              </a:r>
            </a:p>
          </p:txBody>
        </p:sp>
        <p:sp>
          <p:nvSpPr>
            <p:cNvPr id="57" name="직사각형 56"/>
            <p:cNvSpPr/>
            <p:nvPr/>
          </p:nvSpPr>
          <p:spPr bwMode="auto">
            <a:xfrm>
              <a:off x="3433940" y="1592840"/>
              <a:ext cx="3821365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관리 기준</a:t>
              </a:r>
            </a:p>
          </p:txBody>
        </p:sp>
        <p:sp>
          <p:nvSpPr>
            <p:cNvPr id="58" name="직사각형 57"/>
            <p:cNvSpPr/>
            <p:nvPr/>
          </p:nvSpPr>
          <p:spPr bwMode="auto">
            <a:xfrm>
              <a:off x="201528" y="1592840"/>
              <a:ext cx="30361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표준 자료 사전의 구성 </a:t>
              </a:r>
            </a:p>
          </p:txBody>
        </p:sp>
        <p:sp>
          <p:nvSpPr>
            <p:cNvPr id="59" name="AutoShape 27"/>
            <p:cNvSpPr>
              <a:spLocks noChangeArrowheads="1"/>
            </p:cNvSpPr>
            <p:nvPr/>
          </p:nvSpPr>
          <p:spPr bwMode="auto">
            <a:xfrm>
              <a:off x="236476" y="2994260"/>
              <a:ext cx="1267200" cy="399336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표준 자료 사전</a:t>
              </a:r>
            </a:p>
          </p:txBody>
        </p:sp>
        <p:grpSp>
          <p:nvGrpSpPr>
            <p:cNvPr id="6" name="그룹 59"/>
            <p:cNvGrpSpPr/>
            <p:nvPr/>
          </p:nvGrpSpPr>
          <p:grpSpPr>
            <a:xfrm>
              <a:off x="1892660" y="2278280"/>
              <a:ext cx="1296000" cy="1618772"/>
              <a:chOff x="2072680" y="2240868"/>
              <a:chExt cx="1296000" cy="1618772"/>
            </a:xfrm>
          </p:grpSpPr>
          <p:sp>
            <p:nvSpPr>
              <p:cNvPr id="61" name="AutoShape 27"/>
              <p:cNvSpPr>
                <a:spLocks noChangeArrowheads="1"/>
              </p:cNvSpPr>
              <p:nvPr/>
            </p:nvSpPr>
            <p:spPr bwMode="auto">
              <a:xfrm>
                <a:off x="2072680" y="2240868"/>
                <a:ext cx="1295263" cy="399338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표준 단어 사전</a:t>
                </a:r>
              </a:p>
            </p:txBody>
          </p:sp>
          <p:sp>
            <p:nvSpPr>
              <p:cNvPr id="62" name="직사각형 61"/>
              <p:cNvSpPr/>
              <p:nvPr/>
            </p:nvSpPr>
            <p:spPr>
              <a:xfrm>
                <a:off x="2072680" y="2648728"/>
                <a:ext cx="1296000" cy="121091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</a:ln>
            </p:spPr>
            <p:txBody>
              <a:bodyPr wrap="square" anchor="ctr"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ko-KR" altLang="en-US" sz="1000" smtClean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코레일테크 </a:t>
                </a: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업무상 사용되며 일정한 의미를 갖는 최소 단위의 단어</a:t>
                </a:r>
                <a:r>
                  <a:rPr lang="en-US" altLang="ko-KR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(word)</a:t>
                </a: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를 정의한 사전</a:t>
                </a:r>
              </a:p>
            </p:txBody>
          </p:sp>
        </p:grpSp>
        <p:grpSp>
          <p:nvGrpSpPr>
            <p:cNvPr id="7" name="그룹 62"/>
            <p:cNvGrpSpPr/>
            <p:nvPr/>
          </p:nvGrpSpPr>
          <p:grpSpPr>
            <a:xfrm>
              <a:off x="1892660" y="4437112"/>
              <a:ext cx="1296000" cy="1630560"/>
              <a:chOff x="2072680" y="3724632"/>
              <a:chExt cx="1296000" cy="1630560"/>
            </a:xfrm>
          </p:grpSpPr>
          <p:sp>
            <p:nvSpPr>
              <p:cNvPr id="64" name="AutoShape 27"/>
              <p:cNvSpPr>
                <a:spLocks noChangeArrowheads="1"/>
              </p:cNvSpPr>
              <p:nvPr/>
            </p:nvSpPr>
            <p:spPr bwMode="auto">
              <a:xfrm>
                <a:off x="2072680" y="3724632"/>
                <a:ext cx="1295263" cy="399338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표준 용어 사전</a:t>
                </a:r>
              </a:p>
            </p:txBody>
          </p:sp>
          <p:sp>
            <p:nvSpPr>
              <p:cNvPr id="65" name="직사각형 64"/>
              <p:cNvSpPr/>
              <p:nvPr/>
            </p:nvSpPr>
            <p:spPr>
              <a:xfrm>
                <a:off x="2072680" y="4132492"/>
                <a:ext cx="1296000" cy="1222700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</a:ln>
            </p:spPr>
            <p:txBody>
              <a:bodyPr wrap="square" anchor="ctr"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</a:t>
                </a:r>
                <a:r>
                  <a:rPr lang="ko-KR" altLang="en-US" sz="100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용어는 </a:t>
                </a:r>
                <a:r>
                  <a:rPr lang="ko-KR" altLang="en-US" sz="1000" smtClean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코레일테크 </a:t>
                </a: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업무에서 빈번하게 사용되며 표준 단어를 조합해 정의한 용어</a:t>
                </a:r>
                <a:r>
                  <a:rPr lang="en-US" altLang="ko-KR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(term)</a:t>
                </a:r>
                <a:endPara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66" name="AutoShape 73"/>
            <p:cNvCxnSpPr>
              <a:cxnSpLocks noChangeShapeType="1"/>
              <a:stCxn id="59" idx="3"/>
              <a:endCxn id="61" idx="1"/>
            </p:cNvCxnSpPr>
            <p:nvPr/>
          </p:nvCxnSpPr>
          <p:spPr bwMode="auto">
            <a:xfrm flipV="1">
              <a:off x="1503676" y="2477949"/>
              <a:ext cx="388984" cy="715979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7" name="AutoShape 73"/>
            <p:cNvCxnSpPr>
              <a:cxnSpLocks noChangeShapeType="1"/>
              <a:stCxn id="59" idx="3"/>
              <a:endCxn id="64" idx="1"/>
            </p:cNvCxnSpPr>
            <p:nvPr/>
          </p:nvCxnSpPr>
          <p:spPr bwMode="auto">
            <a:xfrm>
              <a:off x="1503676" y="3193928"/>
              <a:ext cx="388984" cy="1442853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triangl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8" name="Rectangle 79"/>
            <p:cNvSpPr>
              <a:spLocks noChangeArrowheads="1"/>
            </p:cNvSpPr>
            <p:nvPr/>
          </p:nvSpPr>
          <p:spPr bwMode="auto">
            <a:xfrm>
              <a:off x="236476" y="3393596"/>
              <a:ext cx="1267288" cy="1103459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</a:ln>
            <a:extLst/>
          </p:spPr>
          <p:txBody>
            <a:bodyPr wrap="square" anchor="ctr">
              <a:noAutofit/>
            </a:bodyPr>
            <a:lstStyle/>
            <a:p>
              <a:pPr>
                <a:spcBef>
                  <a:spcPts val="600"/>
                </a:spcBef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자료 사전은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단어사전과 표준 용어사전으로 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구성됨</a:t>
              </a:r>
            </a:p>
          </p:txBody>
        </p:sp>
        <p:sp>
          <p:nvSpPr>
            <p:cNvPr id="69" name="Rectangle 79"/>
            <p:cNvSpPr>
              <a:spLocks noChangeArrowheads="1"/>
            </p:cNvSpPr>
            <p:nvPr/>
          </p:nvSpPr>
          <p:spPr bwMode="auto">
            <a:xfrm>
              <a:off x="4344963" y="1988841"/>
              <a:ext cx="2912293" cy="792088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단어는 정보시스템이 대상으로 하고 있는 업무범위 또는 일반적으로 사용되는 사전적 의미의 단어 가운데에서 추출해야 하며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지나치게 업무에 의존적이거나 방언을 사용해서는 안되며 약어의 사용도 최소화해야 함</a:t>
              </a:r>
            </a:p>
          </p:txBody>
        </p:sp>
        <p:sp>
          <p:nvSpPr>
            <p:cNvPr id="70" name="AutoShape 27"/>
            <p:cNvSpPr>
              <a:spLocks noChangeArrowheads="1"/>
            </p:cNvSpPr>
            <p:nvPr/>
          </p:nvSpPr>
          <p:spPr bwMode="auto">
            <a:xfrm>
              <a:off x="3441154" y="1988840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표준성</a:t>
              </a:r>
            </a:p>
          </p:txBody>
        </p:sp>
        <p:sp>
          <p:nvSpPr>
            <p:cNvPr id="71" name="AutoShape 27"/>
            <p:cNvSpPr>
              <a:spLocks noChangeArrowheads="1"/>
            </p:cNvSpPr>
            <p:nvPr/>
          </p:nvSpPr>
          <p:spPr bwMode="auto">
            <a:xfrm>
              <a:off x="3441154" y="2816932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참조가능성</a:t>
              </a:r>
            </a:p>
          </p:txBody>
        </p:sp>
        <p:sp>
          <p:nvSpPr>
            <p:cNvPr id="72" name="AutoShape 27"/>
            <p:cNvSpPr>
              <a:spLocks noChangeArrowheads="1"/>
            </p:cNvSpPr>
            <p:nvPr/>
          </p:nvSpPr>
          <p:spPr bwMode="auto">
            <a:xfrm>
              <a:off x="3441154" y="3248980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일반성</a:t>
              </a:r>
            </a:p>
          </p:txBody>
        </p:sp>
        <p:sp>
          <p:nvSpPr>
            <p:cNvPr id="73" name="AutoShape 27"/>
            <p:cNvSpPr>
              <a:spLocks noChangeArrowheads="1"/>
            </p:cNvSpPr>
            <p:nvPr/>
          </p:nvSpPr>
          <p:spPr bwMode="auto">
            <a:xfrm>
              <a:off x="3441154" y="3681028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대표성</a:t>
              </a:r>
            </a:p>
          </p:txBody>
        </p:sp>
        <p:sp>
          <p:nvSpPr>
            <p:cNvPr id="74" name="Rectangle 79"/>
            <p:cNvSpPr>
              <a:spLocks noChangeArrowheads="1"/>
            </p:cNvSpPr>
            <p:nvPr/>
          </p:nvSpPr>
          <p:spPr bwMode="auto">
            <a:xfrm>
              <a:off x="7293260" y="1988841"/>
              <a:ext cx="2376203" cy="2196244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단어는 전사적으로 관리하고 있는 엔티티와 속성을 개별 데이터 단위로 하여 추출하고 논리명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한글명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기준으로 물리명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영문명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영문약어명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유사 용어까지 함께 정리하여 관리해야 함</a:t>
              </a:r>
              <a:endPara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 사전에는 개별 단어 외에도 동의어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유의어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반의어 등과 같은 단어 간의 구조도 함께 정의되어야 함</a:t>
              </a:r>
            </a:p>
          </p:txBody>
        </p:sp>
        <p:sp>
          <p:nvSpPr>
            <p:cNvPr id="75" name="Rectangle 79"/>
            <p:cNvSpPr>
              <a:spLocks noChangeArrowheads="1"/>
            </p:cNvSpPr>
            <p:nvPr/>
          </p:nvSpPr>
          <p:spPr bwMode="auto">
            <a:xfrm>
              <a:off x="4344963" y="2819847"/>
              <a:ext cx="2912293" cy="393729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단어는 기업이나 기관에서 새로운 업무를 정의할 때 참조할 수 있어야 함</a:t>
              </a:r>
            </a:p>
          </p:txBody>
        </p:sp>
        <p:sp>
          <p:nvSpPr>
            <p:cNvPr id="76" name="Rectangle 79"/>
            <p:cNvSpPr>
              <a:spLocks noChangeArrowheads="1"/>
            </p:cNvSpPr>
            <p:nvPr/>
          </p:nvSpPr>
          <p:spPr bwMode="auto">
            <a:xfrm>
              <a:off x="4344963" y="3251895"/>
              <a:ext cx="2912293" cy="396423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단어와 의미상 크게 다르지 않아 일반인도 단어의 의미를 이해할 수 있어야 함</a:t>
              </a:r>
            </a:p>
          </p:txBody>
        </p:sp>
        <p:sp>
          <p:nvSpPr>
            <p:cNvPr id="77" name="Rectangle 79"/>
            <p:cNvSpPr>
              <a:spLocks noChangeArrowheads="1"/>
            </p:cNvSpPr>
            <p:nvPr/>
          </p:nvSpPr>
          <p:spPr bwMode="auto">
            <a:xfrm>
              <a:off x="4344963" y="3683943"/>
              <a:ext cx="2912293" cy="501141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단어는 동의어를 가질 수 있으나 표준 단어로 선언된 단어는 유사한 의미를 갖는 동의어들을 대표할 수 있어야 함</a:t>
              </a:r>
            </a:p>
          </p:txBody>
        </p:sp>
        <p:cxnSp>
          <p:nvCxnSpPr>
            <p:cNvPr id="78" name="AutoShape 73"/>
            <p:cNvCxnSpPr>
              <a:cxnSpLocks noChangeShapeType="1"/>
              <a:stCxn id="61" idx="3"/>
              <a:endCxn id="70" idx="1"/>
            </p:cNvCxnSpPr>
            <p:nvPr/>
          </p:nvCxnSpPr>
          <p:spPr bwMode="auto">
            <a:xfrm flipV="1">
              <a:off x="3187923" y="2188509"/>
              <a:ext cx="253231" cy="289440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9" name="AutoShape 73"/>
            <p:cNvCxnSpPr>
              <a:cxnSpLocks noChangeShapeType="1"/>
              <a:stCxn id="61" idx="3"/>
              <a:endCxn id="71" idx="1"/>
            </p:cNvCxnSpPr>
            <p:nvPr/>
          </p:nvCxnSpPr>
          <p:spPr bwMode="auto">
            <a:xfrm>
              <a:off x="3187923" y="2477949"/>
              <a:ext cx="253231" cy="538652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0" name="AutoShape 73"/>
            <p:cNvCxnSpPr>
              <a:cxnSpLocks noChangeShapeType="1"/>
              <a:stCxn id="61" idx="3"/>
              <a:endCxn id="72" idx="1"/>
            </p:cNvCxnSpPr>
            <p:nvPr/>
          </p:nvCxnSpPr>
          <p:spPr bwMode="auto">
            <a:xfrm>
              <a:off x="3187923" y="2477949"/>
              <a:ext cx="253231" cy="970700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1" name="AutoShape 73"/>
            <p:cNvCxnSpPr>
              <a:cxnSpLocks noChangeShapeType="1"/>
              <a:stCxn id="61" idx="3"/>
              <a:endCxn id="73" idx="1"/>
            </p:cNvCxnSpPr>
            <p:nvPr/>
          </p:nvCxnSpPr>
          <p:spPr bwMode="auto">
            <a:xfrm>
              <a:off x="3187923" y="2477949"/>
              <a:ext cx="253231" cy="1402748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2" name="Rectangle 79"/>
            <p:cNvSpPr>
              <a:spLocks noChangeArrowheads="1"/>
            </p:cNvSpPr>
            <p:nvPr/>
          </p:nvSpPr>
          <p:spPr bwMode="auto">
            <a:xfrm>
              <a:off x="4344963" y="4362564"/>
              <a:ext cx="2912293" cy="552125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용어 사전은 용어 사용이나 의미의 차이로 인해 발생되는 전사 차원의 혼란을 최소화할 수 있어야 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3" name="AutoShape 27"/>
            <p:cNvSpPr>
              <a:spLocks noChangeArrowheads="1"/>
            </p:cNvSpPr>
            <p:nvPr/>
          </p:nvSpPr>
          <p:spPr bwMode="auto">
            <a:xfrm>
              <a:off x="3441154" y="4362564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표준성</a:t>
              </a:r>
            </a:p>
          </p:txBody>
        </p:sp>
        <p:sp>
          <p:nvSpPr>
            <p:cNvPr id="84" name="AutoShape 27"/>
            <p:cNvSpPr>
              <a:spLocks noChangeArrowheads="1"/>
            </p:cNvSpPr>
            <p:nvPr/>
          </p:nvSpPr>
          <p:spPr bwMode="auto">
            <a:xfrm>
              <a:off x="3441154" y="4950693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일반성</a:t>
              </a:r>
            </a:p>
          </p:txBody>
        </p:sp>
        <p:sp>
          <p:nvSpPr>
            <p:cNvPr id="85" name="AutoShape 27"/>
            <p:cNvSpPr>
              <a:spLocks noChangeArrowheads="1"/>
            </p:cNvSpPr>
            <p:nvPr/>
          </p:nvSpPr>
          <p:spPr bwMode="auto">
            <a:xfrm>
              <a:off x="3441154" y="5670773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업무지향성</a:t>
              </a:r>
            </a:p>
          </p:txBody>
        </p:sp>
        <p:sp>
          <p:nvSpPr>
            <p:cNvPr id="86" name="Rectangle 79"/>
            <p:cNvSpPr>
              <a:spLocks noChangeArrowheads="1"/>
            </p:cNvSpPr>
            <p:nvPr/>
          </p:nvSpPr>
          <p:spPr bwMode="auto">
            <a:xfrm>
              <a:off x="7293260" y="4362564"/>
              <a:ext cx="2376203" cy="1982675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용어는 전사적으로 사용되고 있는 엔티티와 속성의 용어를 대상으로 표준 단어 사전에 정의되어 있는 단어를 조합하여 생성</a:t>
              </a:r>
              <a:endPara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사전은 엔티티 용어 사전과 속성 용어 사전으로 구분하여 정의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관리하며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각각의 용어는 논리명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한글명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과 물리명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영문명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가지며 용어의 범위 및 자격 형식 등에 대한 설명을 포함하고 있어야 함</a:t>
              </a:r>
            </a:p>
          </p:txBody>
        </p:sp>
        <p:sp>
          <p:nvSpPr>
            <p:cNvPr id="87" name="Rectangle 79"/>
            <p:cNvSpPr>
              <a:spLocks noChangeArrowheads="1"/>
            </p:cNvSpPr>
            <p:nvPr/>
          </p:nvSpPr>
          <p:spPr bwMode="auto">
            <a:xfrm>
              <a:off x="4344963" y="4953608"/>
              <a:ext cx="2912293" cy="681161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용어가 지나치게 업무 관점으로 정의되어 직관적인 이해가 힘들거나 의미상의 혼란을 초래해서는 안됨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일반적인 의미와 다르게 사용된 용어는 다른 용어로 대체해야 함</a:t>
              </a:r>
            </a:p>
          </p:txBody>
        </p:sp>
        <p:sp>
          <p:nvSpPr>
            <p:cNvPr id="88" name="Rectangle 79"/>
            <p:cNvSpPr>
              <a:spLocks noChangeArrowheads="1"/>
            </p:cNvSpPr>
            <p:nvPr/>
          </p:nvSpPr>
          <p:spPr bwMode="auto">
            <a:xfrm>
              <a:off x="4344963" y="5673688"/>
              <a:ext cx="2912293" cy="671550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용어는 업무를 반영하여 약어를 사용하거나 내부에서 별도로 정의하여 사용할 수 있다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 지나친 약어의 사용이나 신규 용어의 개발은 업무에 대한 이해도를 떨어뜨릴 수 있으므로 주의한다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89" name="AutoShape 73"/>
            <p:cNvCxnSpPr>
              <a:cxnSpLocks noChangeShapeType="1"/>
              <a:stCxn id="64" idx="3"/>
              <a:endCxn id="83" idx="1"/>
            </p:cNvCxnSpPr>
            <p:nvPr/>
          </p:nvCxnSpPr>
          <p:spPr bwMode="auto">
            <a:xfrm flipV="1">
              <a:off x="3187923" y="4562233"/>
              <a:ext cx="253231" cy="74548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0" name="AutoShape 73"/>
            <p:cNvCxnSpPr>
              <a:cxnSpLocks noChangeShapeType="1"/>
              <a:stCxn id="64" idx="3"/>
              <a:endCxn id="84" idx="1"/>
            </p:cNvCxnSpPr>
            <p:nvPr/>
          </p:nvCxnSpPr>
          <p:spPr bwMode="auto">
            <a:xfrm>
              <a:off x="3187923" y="4636781"/>
              <a:ext cx="253231" cy="513581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1" name="AutoShape 73"/>
            <p:cNvCxnSpPr>
              <a:cxnSpLocks noChangeShapeType="1"/>
              <a:stCxn id="64" idx="3"/>
              <a:endCxn id="85" idx="1"/>
            </p:cNvCxnSpPr>
            <p:nvPr/>
          </p:nvCxnSpPr>
          <p:spPr bwMode="auto">
            <a:xfrm>
              <a:off x="3187923" y="4636781"/>
              <a:ext cx="253231" cy="1233661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188550640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표준 자료사전 구성요소의 정의</a:t>
            </a:r>
            <a:r>
              <a:rPr lang="en-US" altLang="ko-KR" dirty="0"/>
              <a:t>, </a:t>
            </a:r>
            <a:r>
              <a:rPr lang="ko-KR" altLang="en-US" dirty="0"/>
              <a:t>표준 자료사전 구축 목적</a:t>
            </a:r>
            <a:r>
              <a:rPr lang="en-US" altLang="ko-KR" dirty="0"/>
              <a:t>, </a:t>
            </a:r>
            <a:r>
              <a:rPr lang="ko-KR" altLang="en-US" dirty="0"/>
              <a:t>용어사전 작성 가이드라인을 아래와 같이 제시함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 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3.7.2.2 </a:t>
            </a:r>
            <a:r>
              <a:rPr lang="ko-KR" altLang="en-US" sz="1800" spc="-150"/>
              <a:t>표준 자료사전 구축 </a:t>
            </a:r>
            <a:r>
              <a:rPr lang="ko-KR" altLang="en-US" sz="1800" spc="-150" smtClean="0"/>
              <a:t>방안</a:t>
            </a:r>
            <a:r>
              <a:rPr lang="en-US" altLang="ko-KR" sz="1800" spc="-150" smtClean="0"/>
              <a:t>(2/3</a:t>
            </a:r>
            <a:r>
              <a:rPr lang="en-US" altLang="ko-KR" sz="1800" spc="-150"/>
              <a:t>)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"/>
          <p:cNvGrpSpPr/>
          <p:nvPr/>
        </p:nvGrpSpPr>
        <p:grpSpPr>
          <a:xfrm>
            <a:off x="344488" y="1593850"/>
            <a:ext cx="9217025" cy="4788910"/>
            <a:chOff x="201528" y="1592840"/>
            <a:chExt cx="9504447" cy="4788910"/>
          </a:xfrm>
        </p:grpSpPr>
        <p:grpSp>
          <p:nvGrpSpPr>
            <p:cNvPr id="6" name="그룹 46"/>
            <p:cNvGrpSpPr/>
            <p:nvPr/>
          </p:nvGrpSpPr>
          <p:grpSpPr>
            <a:xfrm>
              <a:off x="4124263" y="1592840"/>
              <a:ext cx="5581712" cy="4788909"/>
              <a:chOff x="200025" y="1592840"/>
              <a:chExt cx="4680967" cy="4788909"/>
            </a:xfrm>
          </p:grpSpPr>
          <p:sp>
            <p:nvSpPr>
              <p:cNvPr id="48" name="직사각형 47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용어사전 작성 가이드라인</a:t>
                </a:r>
              </a:p>
            </p:txBody>
          </p:sp>
          <p:sp>
            <p:nvSpPr>
              <p:cNvPr id="49" name="직사각형 48"/>
              <p:cNvSpPr/>
              <p:nvPr/>
            </p:nvSpPr>
            <p:spPr bwMode="auto">
              <a:xfrm>
                <a:off x="200025" y="1916830"/>
                <a:ext cx="4680967" cy="4464919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49"/>
            <p:cNvGrpSpPr/>
            <p:nvPr/>
          </p:nvGrpSpPr>
          <p:grpSpPr>
            <a:xfrm>
              <a:off x="201528" y="4869160"/>
              <a:ext cx="3858958" cy="1512590"/>
              <a:chOff x="200025" y="1592840"/>
              <a:chExt cx="4680967" cy="1512590"/>
            </a:xfrm>
          </p:grpSpPr>
          <p:sp>
            <p:nvSpPr>
              <p:cNvPr id="51" name="직사각형 50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 자료사전 구축 목적</a:t>
                </a:r>
              </a:p>
            </p:txBody>
          </p:sp>
          <p:sp>
            <p:nvSpPr>
              <p:cNvPr id="52" name="직사각형 51"/>
              <p:cNvSpPr/>
              <p:nvPr/>
            </p:nvSpPr>
            <p:spPr bwMode="auto">
              <a:xfrm>
                <a:off x="200025" y="1916831"/>
                <a:ext cx="4680967" cy="1188599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buClr>
                    <a:prstClr val="black"/>
                  </a:buClr>
                  <a:buFont typeface="Wingdings" pitchFamily="2" charset="2"/>
                  <a:buChar char="q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표준단어와 표준용어를 정의하는 목적은 업무상 편의나 관습에 따라 동일한 단어나 용어를 서로 다른 의미로 사용하는 등의 문제를 방지할 수 있고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표준단어와 표준용어를 사용하여 국가 차원의 서로 상이한 업무 간에 의사소통이 필요한 경우 용어에 대한 이해 부족으로 인한 문제점을 최소화 하기 위함</a:t>
                </a:r>
              </a:p>
              <a:p>
                <a:pPr marL="182563" indent="-182563">
                  <a:buClr>
                    <a:prstClr val="black"/>
                  </a:buClr>
                  <a:buFont typeface="Wingdings" pitchFamily="2" charset="2"/>
                  <a:buChar char="q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또한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구조에서 관리되는 모든 엔티티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관계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속성명은 데이터사전에서 정의된 단어와 용어를 사용함으로써 데이터에 대한 사용자들의 이해를 도움</a:t>
                </a:r>
              </a:p>
            </p:txBody>
          </p:sp>
        </p:grpSp>
        <p:grpSp>
          <p:nvGrpSpPr>
            <p:cNvPr id="8" name="그룹 52"/>
            <p:cNvGrpSpPr/>
            <p:nvPr/>
          </p:nvGrpSpPr>
          <p:grpSpPr>
            <a:xfrm>
              <a:off x="201528" y="1592840"/>
              <a:ext cx="3858958" cy="1799991"/>
              <a:chOff x="200025" y="1592840"/>
              <a:chExt cx="4680967" cy="1799991"/>
            </a:xfrm>
          </p:grpSpPr>
          <p:sp>
            <p:nvSpPr>
              <p:cNvPr id="54" name="직사각형 53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단어와 용어의 정의</a:t>
                </a:r>
              </a:p>
            </p:txBody>
          </p:sp>
          <p:sp>
            <p:nvSpPr>
              <p:cNvPr id="55" name="직사각형 54"/>
              <p:cNvSpPr/>
              <p:nvPr/>
            </p:nvSpPr>
            <p:spPr bwMode="auto">
              <a:xfrm>
                <a:off x="200025" y="1916831"/>
                <a:ext cx="4680967" cy="1476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92" name="AutoShape 27"/>
            <p:cNvSpPr>
              <a:spLocks noChangeArrowheads="1"/>
            </p:cNvSpPr>
            <p:nvPr/>
          </p:nvSpPr>
          <p:spPr bwMode="auto">
            <a:xfrm>
              <a:off x="4203979" y="1988840"/>
              <a:ext cx="1233199" cy="1260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용어명</a:t>
              </a:r>
            </a:p>
          </p:txBody>
        </p:sp>
        <p:sp>
          <p:nvSpPr>
            <p:cNvPr id="93" name="Rectangle 79"/>
            <p:cNvSpPr>
              <a:spLocks noChangeArrowheads="1"/>
            </p:cNvSpPr>
            <p:nvPr/>
          </p:nvSpPr>
          <p:spPr bwMode="auto">
            <a:xfrm>
              <a:off x="5500123" y="1988840"/>
              <a:ext cx="4105101" cy="1260000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요소의 명명에 사용될 용어로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용어의 명과 그 정의가 데이터 사전 전체에서 고유해야 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한글로 작성하는 것을 원칙으로 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언더스코어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(_)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이외의 특수 문자는 포함하지 않으며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언더스코어도 시각적 이해도를 증진시키기 위한 목적에 한해 사용한다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 algn="l"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영문으로 작성된 용어가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보다 널리 관용적으로 사용되는 경우에 대해서만 제한적으로 영문명을 허용한다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ID :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컴퓨터 이용자의 신분을 증명할 수 있는 고유의 문자나 부호</a:t>
              </a:r>
            </a:p>
          </p:txBody>
        </p:sp>
        <p:sp>
          <p:nvSpPr>
            <p:cNvPr id="94" name="AutoShape 27"/>
            <p:cNvSpPr>
              <a:spLocks noChangeArrowheads="1"/>
            </p:cNvSpPr>
            <p:nvPr/>
          </p:nvSpPr>
          <p:spPr bwMode="auto">
            <a:xfrm>
              <a:off x="4203979" y="3320984"/>
              <a:ext cx="1233199" cy="504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 영문명</a:t>
              </a:r>
            </a:p>
          </p:txBody>
        </p:sp>
        <p:sp>
          <p:nvSpPr>
            <p:cNvPr id="95" name="Rectangle 79"/>
            <p:cNvSpPr>
              <a:spLocks noChangeArrowheads="1"/>
            </p:cNvSpPr>
            <p:nvPr/>
          </p:nvSpPr>
          <p:spPr bwMode="auto">
            <a:xfrm>
              <a:off x="5500123" y="3320984"/>
              <a:ext cx="4105101" cy="504000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용어에 대한 영문명을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Full Name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으로 작성하며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대문자로 일관되게 작성하는 것을 원칙으로 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6" name="AutoShape 27"/>
            <p:cNvSpPr>
              <a:spLocks noChangeArrowheads="1"/>
            </p:cNvSpPr>
            <p:nvPr/>
          </p:nvSpPr>
          <p:spPr bwMode="auto">
            <a:xfrm>
              <a:off x="4203979" y="3897324"/>
              <a:ext cx="1233199" cy="233998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 영문 약어명</a:t>
              </a:r>
            </a:p>
          </p:txBody>
        </p:sp>
        <p:sp>
          <p:nvSpPr>
            <p:cNvPr id="97" name="Rectangle 79"/>
            <p:cNvSpPr>
              <a:spLocks noChangeArrowheads="1"/>
            </p:cNvSpPr>
            <p:nvPr/>
          </p:nvSpPr>
          <p:spPr bwMode="auto">
            <a:xfrm>
              <a:off x="5500123" y="3897324"/>
              <a:ext cx="4105101" cy="2339988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영문 약어의 작성은 다음과 같은 원칙을 적용한다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가능하면 최대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6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 이내로 정의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대문자로 작성하고 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_’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외의 특수문자는 불허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고유명사 화되어 사용되는 약어는 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_’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를 앞에 붙여 정의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_ISO)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복합어의 영문약어는 각 용어의 약어를 조합하지 않고 다시 작성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HUMAN RESOURCE → HR)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모음을 제외한 자음의 결합으로 영문 약어 작성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첫글자가 모음인 경우는 이를 포함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PRICE → PRC)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같은 자음이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 이상 연속되면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개만 선택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MAPPING → MPNG)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영문명의 앞부분만 취해서 사용도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BALANCE → BAL)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영문명의 첫글자와 마지막 글자를 조합하여 사용 가능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영문명의 길이가 긴 경우는 첫 자음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끝 자음 사이에 특징 있는 자음 포함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YARD → YD, MESSAGE → MSG)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영문명의 발음에 따라 표기도 가능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LIGHT → LITE)</a:t>
              </a:r>
              <a:endPara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8" name="AutoShape 27"/>
            <p:cNvSpPr>
              <a:spLocks noChangeArrowheads="1"/>
            </p:cNvSpPr>
            <p:nvPr/>
          </p:nvSpPr>
          <p:spPr bwMode="auto">
            <a:xfrm>
              <a:off x="344490" y="1943783"/>
              <a:ext cx="551804" cy="36221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lnSpc>
                  <a:spcPts val="900"/>
                </a:lnSpc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단어</a:t>
              </a: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(word)</a:t>
              </a:r>
              <a:endPara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9" name="Rectangle 79"/>
            <p:cNvSpPr>
              <a:spLocks noChangeArrowheads="1"/>
            </p:cNvSpPr>
            <p:nvPr/>
          </p:nvSpPr>
          <p:spPr bwMode="auto">
            <a:xfrm>
              <a:off x="959239" y="1943783"/>
              <a:ext cx="3025775" cy="362218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lnSpc>
                  <a:spcPts val="1100"/>
                </a:lnSpc>
                <a:spcBef>
                  <a:spcPts val="0"/>
                </a:spcBef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업무에서 사용되며 일정한 의미를 갖고 있는 최소 단위</a:t>
              </a:r>
            </a:p>
          </p:txBody>
        </p:sp>
        <p:sp>
          <p:nvSpPr>
            <p:cNvPr id="100" name="AutoShape 27"/>
            <p:cNvSpPr>
              <a:spLocks noChangeArrowheads="1"/>
            </p:cNvSpPr>
            <p:nvPr/>
          </p:nvSpPr>
          <p:spPr bwMode="auto">
            <a:xfrm>
              <a:off x="344490" y="2348672"/>
              <a:ext cx="551804" cy="289153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lnSpc>
                  <a:spcPts val="900"/>
                </a:lnSpc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</a:t>
              </a:r>
              <a:endParaRPr lang="en-US" altLang="ko-KR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lnSpc>
                  <a:spcPts val="900"/>
                </a:lnSpc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(term)</a:t>
              </a:r>
              <a:endPara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1" name="Rectangle 79"/>
            <p:cNvSpPr>
              <a:spLocks noChangeArrowheads="1"/>
            </p:cNvSpPr>
            <p:nvPr/>
          </p:nvSpPr>
          <p:spPr bwMode="auto">
            <a:xfrm>
              <a:off x="959239" y="2348672"/>
              <a:ext cx="3025775" cy="289153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lnSpc>
                  <a:spcPts val="1100"/>
                </a:lnSpc>
                <a:spcBef>
                  <a:spcPts val="0"/>
                </a:spcBef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단어들의 조합</a:t>
              </a:r>
            </a:p>
          </p:txBody>
        </p:sp>
        <p:sp>
          <p:nvSpPr>
            <p:cNvPr id="102" name="AutoShape 27"/>
            <p:cNvSpPr>
              <a:spLocks noChangeArrowheads="1"/>
            </p:cNvSpPr>
            <p:nvPr/>
          </p:nvSpPr>
          <p:spPr bwMode="auto">
            <a:xfrm>
              <a:off x="344490" y="2681553"/>
              <a:ext cx="551804" cy="64807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행정표준</a:t>
              </a: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</a:t>
              </a:r>
            </a:p>
          </p:txBody>
        </p:sp>
        <p:sp>
          <p:nvSpPr>
            <p:cNvPr id="103" name="Rectangle 79"/>
            <p:cNvSpPr>
              <a:spLocks noChangeArrowheads="1"/>
            </p:cNvSpPr>
            <p:nvPr/>
          </p:nvSpPr>
          <p:spPr bwMode="auto">
            <a:xfrm>
              <a:off x="959239" y="2681553"/>
              <a:ext cx="3025775" cy="648072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 latinLnBrk="0">
                <a:lnSpc>
                  <a:spcPts val="1100"/>
                </a:lnSpc>
                <a:spcBef>
                  <a:spcPts val="0"/>
                </a:spcBef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각급 행정기관에서 업무적으로 사용되고 있는 한글 명사형 어휘를 행정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DB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구축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․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운영에 사용하기위하여 행정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DB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표준화 지침에서 정한 규칙에 따라 선정하고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용어의 의미를 정의한 것</a:t>
              </a:r>
            </a:p>
          </p:txBody>
        </p:sp>
        <p:sp>
          <p:nvSpPr>
            <p:cNvPr id="104" name="Rectangle 79"/>
            <p:cNvSpPr>
              <a:spLocks noChangeArrowheads="1"/>
            </p:cNvSpPr>
            <p:nvPr/>
          </p:nvSpPr>
          <p:spPr bwMode="auto">
            <a:xfrm>
              <a:off x="236999" y="3478579"/>
              <a:ext cx="3823487" cy="1332000"/>
            </a:xfrm>
            <a:prstGeom prst="roundRect">
              <a:avLst>
                <a:gd name="adj" fmla="val 11507"/>
              </a:avLst>
            </a:prstGeom>
            <a:noFill/>
            <a:ln w="9525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 latinLnBrk="0">
                <a:lnSpc>
                  <a:spcPts val="1100"/>
                </a:lnSpc>
                <a:spcBef>
                  <a:spcPts val="0"/>
                </a:spcBef>
              </a:pP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참조</a:t>
              </a:r>
              <a:r>
                <a:rPr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] </a:t>
              </a:r>
              <a:r>
                <a:rPr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행정표준용어사전 및 행정표준관리시스템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행정표준용어사전 </a:t>
              </a:r>
              <a:r>
                <a:rPr lang="en-US" altLang="ko-KR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</a:t>
              </a:r>
              <a:r>
                <a:rPr lang="ko-KR" altLang="en-US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행정표준용어사전이란 각급 행정기관에서 업무적으로 사용되는 명사형 어휘에 대해 행정정보 데이터베이스 시스템 구축 및 운용 시 사용되도록 사전화한 단어들의 집합</a:t>
              </a:r>
            </a:p>
            <a:p>
              <a:pPr marL="90488" indent="-90488" algn="l">
                <a:lnSpc>
                  <a:spcPts val="1100"/>
                </a:lnSpc>
                <a:spcBef>
                  <a:spcPts val="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행정데이터관리시스템 </a:t>
              </a:r>
              <a:r>
                <a:rPr lang="en-US" altLang="ko-KR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: </a:t>
              </a:r>
              <a:r>
                <a:rPr lang="ko-KR" altLang="en-US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행정표준용어를 데이터 사전화하여 용어의 의미의 경계를 명확하게 하고 동일한 의미를 갖는 용어에 대하여 동일한 용어를 사용하게 함으로써 기관 내 또는 기관 간의 상호 의사소통의 원활화를 도모하기 위해 만들어진 시스템 </a:t>
              </a:r>
              <a:r>
                <a:rPr lang="en-US" altLang="ko-KR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(URL: http://www.adams.go.kr)</a:t>
              </a:r>
              <a:endParaRPr lang="ko-KR" altLang="en-US" sz="9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4862600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표준 자료사전을 신속하게 구축하기 위한 구축 절차와 구축 후 적용 분야</a:t>
            </a:r>
            <a:r>
              <a:rPr lang="en-US" altLang="ko-KR" dirty="0"/>
              <a:t>(</a:t>
            </a:r>
            <a:r>
              <a:rPr lang="ko-KR" altLang="en-US" dirty="0"/>
              <a:t>정보화 관련 문서 작성</a:t>
            </a:r>
            <a:r>
              <a:rPr lang="en-US" altLang="ko-KR" dirty="0"/>
              <a:t>, </a:t>
            </a:r>
            <a:r>
              <a:rPr lang="ko-KR" altLang="en-US" dirty="0"/>
              <a:t>정보화 시스템 구축</a:t>
            </a:r>
            <a:r>
              <a:rPr lang="en-US" altLang="ko-KR" dirty="0"/>
              <a:t>/</a:t>
            </a:r>
            <a:r>
              <a:rPr lang="ko-KR" altLang="en-US" dirty="0"/>
              <a:t>운영</a:t>
            </a:r>
            <a:r>
              <a:rPr lang="en-US" altLang="ko-KR" dirty="0"/>
              <a:t>, </a:t>
            </a:r>
            <a:r>
              <a:rPr lang="ko-KR" altLang="en-US" dirty="0"/>
              <a:t>정보화 시스템 품질진단</a:t>
            </a:r>
            <a:r>
              <a:rPr lang="en-US" altLang="ko-KR" dirty="0"/>
              <a:t>/</a:t>
            </a:r>
            <a:r>
              <a:rPr lang="ko-KR" altLang="en-US" dirty="0"/>
              <a:t>감리</a:t>
            </a:r>
            <a:r>
              <a:rPr lang="en-US" altLang="ko-KR" dirty="0"/>
              <a:t>)</a:t>
            </a:r>
            <a:r>
              <a:rPr lang="ko-KR" altLang="en-US" dirty="0"/>
              <a:t>를 아래와 같이 제시함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 smtClean="0"/>
              <a:t>데이터 표준화 설계 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3.7.2.2 </a:t>
            </a:r>
            <a:r>
              <a:rPr lang="ko-KR" altLang="en-US" sz="1800" spc="-150"/>
              <a:t>표준 자료사전 구축 </a:t>
            </a:r>
            <a:r>
              <a:rPr lang="ko-KR" altLang="en-US" sz="1800" spc="-150" smtClean="0"/>
              <a:t>방안</a:t>
            </a:r>
            <a:r>
              <a:rPr lang="en-US" altLang="ko-KR" sz="1800" spc="-150" smtClean="0"/>
              <a:t>(3/3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5"/>
          <p:cNvGrpSpPr/>
          <p:nvPr/>
        </p:nvGrpSpPr>
        <p:grpSpPr>
          <a:xfrm>
            <a:off x="344488" y="1592840"/>
            <a:ext cx="9217025" cy="4788909"/>
            <a:chOff x="209411" y="1592840"/>
            <a:chExt cx="9496564" cy="4788909"/>
          </a:xfrm>
        </p:grpSpPr>
        <p:grpSp>
          <p:nvGrpSpPr>
            <p:cNvPr id="6" name="그룹 32"/>
            <p:cNvGrpSpPr/>
            <p:nvPr/>
          </p:nvGrpSpPr>
          <p:grpSpPr>
            <a:xfrm>
              <a:off x="6609184" y="1592840"/>
              <a:ext cx="3096791" cy="4788909"/>
              <a:chOff x="200025" y="1592840"/>
              <a:chExt cx="4680967" cy="4788909"/>
            </a:xfrm>
          </p:grpSpPr>
          <p:sp>
            <p:nvSpPr>
              <p:cNvPr id="34" name="직사각형 33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 자료사전 적용 분야</a:t>
                </a:r>
              </a:p>
            </p:txBody>
          </p:sp>
          <p:sp>
            <p:nvSpPr>
              <p:cNvPr id="35" name="직사각형 34"/>
              <p:cNvSpPr/>
              <p:nvPr/>
            </p:nvSpPr>
            <p:spPr bwMode="auto">
              <a:xfrm>
                <a:off x="200025" y="1916830"/>
                <a:ext cx="4680967" cy="4464919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37"/>
            <p:cNvGrpSpPr/>
            <p:nvPr/>
          </p:nvGrpSpPr>
          <p:grpSpPr>
            <a:xfrm>
              <a:off x="209411" y="1592840"/>
              <a:ext cx="3411441" cy="4788909"/>
              <a:chOff x="200025" y="1592840"/>
              <a:chExt cx="4680967" cy="4788909"/>
            </a:xfrm>
          </p:grpSpPr>
          <p:sp>
            <p:nvSpPr>
              <p:cNvPr id="39" name="직사각형 38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 자료사전 구축 절차</a:t>
                </a:r>
              </a:p>
            </p:txBody>
          </p:sp>
          <p:sp>
            <p:nvSpPr>
              <p:cNvPr id="43" name="직사각형 42"/>
              <p:cNvSpPr/>
              <p:nvPr/>
            </p:nvSpPr>
            <p:spPr bwMode="auto">
              <a:xfrm>
                <a:off x="200025" y="1916830"/>
                <a:ext cx="4680967" cy="4464919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8" name="그룹 43"/>
            <p:cNvGrpSpPr/>
            <p:nvPr/>
          </p:nvGrpSpPr>
          <p:grpSpPr>
            <a:xfrm>
              <a:off x="3980892" y="2144136"/>
              <a:ext cx="2084042" cy="3829526"/>
              <a:chOff x="4196195" y="2191761"/>
              <a:chExt cx="2084042" cy="3829526"/>
            </a:xfrm>
          </p:grpSpPr>
          <p:sp>
            <p:nvSpPr>
              <p:cNvPr id="45" name="AutoShape 27"/>
              <p:cNvSpPr>
                <a:spLocks noChangeArrowheads="1"/>
              </p:cNvSpPr>
              <p:nvPr/>
            </p:nvSpPr>
            <p:spPr bwMode="auto">
              <a:xfrm>
                <a:off x="4196195" y="2191761"/>
                <a:ext cx="2084042" cy="336606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메타데이터 관리 시스템</a:t>
                </a:r>
              </a:p>
            </p:txBody>
          </p:sp>
          <p:sp>
            <p:nvSpPr>
              <p:cNvPr id="46" name="AutoShape 27"/>
              <p:cNvSpPr>
                <a:spLocks noChangeArrowheads="1"/>
              </p:cNvSpPr>
              <p:nvPr/>
            </p:nvSpPr>
            <p:spPr bwMode="auto">
              <a:xfrm>
                <a:off x="4196195" y="2529764"/>
                <a:ext cx="2084042" cy="3491523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</a:ln>
            </p:spPr>
            <p:txBody>
              <a:bodyPr wrap="square" anchor="t">
                <a:noAutofit/>
              </a:bodyPr>
              <a:lstStyle/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행정 표준 용어 관리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단어 사전 관리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용어 사전 관리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자료사전 검색 기능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자료사전 유효성 검증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자료사전 제개정 이력 관리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모델의 자료사전 준수 여부 진단 기준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행정 표준 용어 등록 시 등록 서식 생성</a:t>
                </a:r>
                <a:endPara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fontAlgn="base">
                  <a:spcBef>
                    <a:spcPts val="600"/>
                  </a:spcBef>
                  <a:spcAft>
                    <a:spcPct val="0"/>
                  </a:spcAft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kumimoji="1"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사전 정의서 출력 기능</a:t>
                </a:r>
              </a:p>
            </p:txBody>
          </p:sp>
          <p:sp>
            <p:nvSpPr>
              <p:cNvPr id="56" name="원통 55"/>
              <p:cNvSpPr/>
              <p:nvPr/>
            </p:nvSpPr>
            <p:spPr>
              <a:xfrm>
                <a:off x="4344978" y="5096805"/>
                <a:ext cx="1816940" cy="683870"/>
              </a:xfrm>
              <a:prstGeom prst="can">
                <a:avLst/>
              </a:pr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0800000" scaled="1"/>
                <a:tileRect/>
              </a:gra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72000" tIns="36000" rIns="7200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10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메타데이터</a:t>
                </a:r>
                <a:r>
                  <a:rPr lang="en-US" altLang="ko-KR" sz="10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ko-KR" altLang="en-US" sz="10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리파지토리</a:t>
                </a:r>
              </a:p>
            </p:txBody>
          </p:sp>
        </p:grpSp>
        <p:sp>
          <p:nvSpPr>
            <p:cNvPr id="57" name="AutoShape 27"/>
            <p:cNvSpPr>
              <a:spLocks noChangeArrowheads="1"/>
            </p:cNvSpPr>
            <p:nvPr/>
          </p:nvSpPr>
          <p:spPr bwMode="auto">
            <a:xfrm>
              <a:off x="596516" y="2747629"/>
              <a:ext cx="2541521" cy="79208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1">
                  <a:lumMod val="75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>
                <a:buFont typeface="Arial" panose="020B0604020202020204" pitchFamily="34" charset="0"/>
                <a:buChar char="•"/>
                <a:defRPr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현행 시스템으로부터 단어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 추출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 정의서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속성 정의서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화면설계서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논리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ERD,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물리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ERD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등</a:t>
              </a:r>
            </a:p>
          </p:txBody>
        </p:sp>
        <p:sp>
          <p:nvSpPr>
            <p:cNvPr id="58" name="AutoShape 27"/>
            <p:cNvSpPr>
              <a:spLocks noChangeArrowheads="1"/>
            </p:cNvSpPr>
            <p:nvPr/>
          </p:nvSpPr>
          <p:spPr bwMode="auto">
            <a:xfrm>
              <a:off x="596516" y="3733350"/>
              <a:ext cx="2541521" cy="67735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1">
                  <a:lumMod val="75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  <a:defRPr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추출한 단어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용어를 용어작성 가이드라인에 의거 정의하고 데이터 사전 정의서 기록</a:t>
              </a:r>
            </a:p>
          </p:txBody>
        </p:sp>
        <p:sp>
          <p:nvSpPr>
            <p:cNvPr id="59" name="AutoShape 27"/>
            <p:cNvSpPr>
              <a:spLocks noChangeArrowheads="1"/>
            </p:cNvSpPr>
            <p:nvPr/>
          </p:nvSpPr>
          <p:spPr bwMode="auto">
            <a:xfrm>
              <a:off x="596516" y="4608487"/>
              <a:ext cx="2541521" cy="35113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1">
                  <a:lumMod val="75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  <a:defRPr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메타데이터관리시스템에 등록</a:t>
              </a:r>
            </a:p>
          </p:txBody>
        </p:sp>
        <p:cxnSp>
          <p:nvCxnSpPr>
            <p:cNvPr id="60" name="직선 연결선 59"/>
            <p:cNvCxnSpPr>
              <a:stCxn id="57" idx="2"/>
              <a:endCxn id="58" idx="0"/>
            </p:cNvCxnSpPr>
            <p:nvPr/>
          </p:nvCxnSpPr>
          <p:spPr bwMode="auto">
            <a:xfrm>
              <a:off x="1867277" y="3539717"/>
              <a:ext cx="0" cy="193633"/>
            </a:xfrm>
            <a:prstGeom prst="line">
              <a:avLst/>
            </a:prstGeom>
            <a:solidFill>
              <a:srgbClr val="FBB779"/>
            </a:solidFill>
            <a:ln w="1905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61" name="직선 연결선 60"/>
            <p:cNvCxnSpPr>
              <a:stCxn id="58" idx="2"/>
              <a:endCxn id="59" idx="0"/>
            </p:cNvCxnSpPr>
            <p:nvPr/>
          </p:nvCxnSpPr>
          <p:spPr bwMode="auto">
            <a:xfrm>
              <a:off x="1867277" y="4410708"/>
              <a:ext cx="0" cy="197779"/>
            </a:xfrm>
            <a:prstGeom prst="line">
              <a:avLst/>
            </a:prstGeom>
            <a:solidFill>
              <a:srgbClr val="FBB779"/>
            </a:solidFill>
            <a:ln w="1905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sp>
          <p:nvSpPr>
            <p:cNvPr id="62" name="AutoShape 27"/>
            <p:cNvSpPr>
              <a:spLocks noChangeArrowheads="1"/>
            </p:cNvSpPr>
            <p:nvPr/>
          </p:nvSpPr>
          <p:spPr bwMode="auto">
            <a:xfrm>
              <a:off x="596516" y="2024845"/>
              <a:ext cx="2541521" cy="54896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1">
                  <a:lumMod val="75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  <a:defRPr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행정데이터관리시스템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(www.adams.go.kr)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통해 제공되는 국가 차원의 표준용어 검색</a:t>
              </a:r>
            </a:p>
          </p:txBody>
        </p:sp>
        <p:cxnSp>
          <p:nvCxnSpPr>
            <p:cNvPr id="63" name="직선 연결선 62"/>
            <p:cNvCxnSpPr>
              <a:stCxn id="62" idx="2"/>
              <a:endCxn id="57" idx="0"/>
            </p:cNvCxnSpPr>
            <p:nvPr/>
          </p:nvCxnSpPr>
          <p:spPr bwMode="auto">
            <a:xfrm>
              <a:off x="1867277" y="2573813"/>
              <a:ext cx="0" cy="173816"/>
            </a:xfrm>
            <a:prstGeom prst="line">
              <a:avLst/>
            </a:prstGeom>
            <a:solidFill>
              <a:srgbClr val="FBB779"/>
            </a:solidFill>
            <a:ln w="1905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grpSp>
          <p:nvGrpSpPr>
            <p:cNvPr id="9" name="그룹 63"/>
            <p:cNvGrpSpPr/>
            <p:nvPr/>
          </p:nvGrpSpPr>
          <p:grpSpPr>
            <a:xfrm>
              <a:off x="6839971" y="2024844"/>
              <a:ext cx="2541521" cy="4248472"/>
              <a:chOff x="153916" y="2051039"/>
              <a:chExt cx="2541521" cy="4248472"/>
            </a:xfrm>
          </p:grpSpPr>
          <p:sp>
            <p:nvSpPr>
              <p:cNvPr id="65" name="AutoShape 27"/>
              <p:cNvSpPr>
                <a:spLocks noChangeArrowheads="1"/>
              </p:cNvSpPr>
              <p:nvPr/>
            </p:nvSpPr>
            <p:spPr bwMode="auto">
              <a:xfrm>
                <a:off x="153916" y="2051039"/>
                <a:ext cx="2541521" cy="336606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정보화 관련 문서 작성</a:t>
                </a:r>
              </a:p>
            </p:txBody>
          </p:sp>
          <p:sp>
            <p:nvSpPr>
              <p:cNvPr id="66" name="AutoShape 27"/>
              <p:cNvSpPr>
                <a:spLocks noChangeArrowheads="1"/>
              </p:cNvSpPr>
              <p:nvPr/>
            </p:nvSpPr>
            <p:spPr bwMode="auto">
              <a:xfrm>
                <a:off x="153916" y="2389043"/>
                <a:ext cx="2541521" cy="59997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>
                    <a:lumMod val="75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lIns="108000" tIns="36000" rIns="108000" bIns="36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90488" indent="-90488" algn="l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정보화 기획 문서 작성 시 표준 단어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용어 검색 활용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algn="l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  <a:defRPr/>
                </a:pP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RFP 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작성 등</a:t>
                </a:r>
              </a:p>
            </p:txBody>
          </p:sp>
          <p:sp>
            <p:nvSpPr>
              <p:cNvPr id="67" name="AutoShape 27"/>
              <p:cNvSpPr>
                <a:spLocks noChangeArrowheads="1"/>
              </p:cNvSpPr>
              <p:nvPr/>
            </p:nvSpPr>
            <p:spPr bwMode="auto">
              <a:xfrm>
                <a:off x="153916" y="3094622"/>
                <a:ext cx="2541521" cy="336606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정보화 시스템 구축 </a:t>
                </a:r>
                <a:r>
                  <a:rPr kumimoji="1"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/ </a:t>
                </a:r>
                <a:r>
                  <a:rPr kumimoji="1"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운영</a:t>
                </a:r>
              </a:p>
            </p:txBody>
          </p:sp>
          <p:sp>
            <p:nvSpPr>
              <p:cNvPr id="68" name="AutoShape 27"/>
              <p:cNvSpPr>
                <a:spLocks noChangeArrowheads="1"/>
              </p:cNvSpPr>
              <p:nvPr/>
            </p:nvSpPr>
            <p:spPr bwMode="auto">
              <a:xfrm>
                <a:off x="153916" y="3423100"/>
                <a:ext cx="2541521" cy="164275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>
                    <a:lumMod val="75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lIns="108000" tIns="36000" rIns="108000" bIns="36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90488" indent="-90488" algn="l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아래의 산출물 작성 시 표준자료사전의 표준사전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표준용어를 적용하여 작성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요구사항 정의서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 설계서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논리 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ERD</a:t>
                </a: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물리 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ERD</a:t>
                </a: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엔티티 정의서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속성 정의서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테이블 설계서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28600" indent="-228600" algn="l">
                  <a:spcBef>
                    <a:spcPts val="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ü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화면설계서</a:t>
                </a:r>
              </a:p>
            </p:txBody>
          </p:sp>
          <p:sp>
            <p:nvSpPr>
              <p:cNvPr id="69" name="AutoShape 27"/>
              <p:cNvSpPr>
                <a:spLocks noChangeArrowheads="1"/>
              </p:cNvSpPr>
              <p:nvPr/>
            </p:nvSpPr>
            <p:spPr bwMode="auto">
              <a:xfrm>
                <a:off x="153916" y="5253012"/>
                <a:ext cx="2541521" cy="336606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정보화 시스템 품질진단</a:t>
                </a:r>
                <a:r>
                  <a:rPr kumimoji="1"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kumimoji="1"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감리</a:t>
                </a:r>
              </a:p>
            </p:txBody>
          </p:sp>
          <p:sp>
            <p:nvSpPr>
              <p:cNvPr id="70" name="AutoShape 27"/>
              <p:cNvSpPr>
                <a:spLocks noChangeArrowheads="1"/>
              </p:cNvSpPr>
              <p:nvPr/>
            </p:nvSpPr>
            <p:spPr bwMode="auto">
              <a:xfrm>
                <a:off x="153916" y="5591015"/>
                <a:ext cx="2541521" cy="70849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1">
                    <a:lumMod val="75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lIns="108000" tIns="36000" rIns="108000" bIns="36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90488" indent="-90488" algn="l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품질 진단 및 </a:t>
                </a:r>
                <a:r>
                  <a:rPr lang="ko-KR" altLang="en-US" sz="1000" b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감리의 </a:t>
                </a:r>
                <a:r>
                  <a:rPr lang="ko-KR" altLang="en-US" sz="1000" b="0" smtClean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기준정보로 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사용</a:t>
                </a:r>
                <a:endPara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 algn="l">
                  <a:spcBef>
                    <a:spcPts val="600"/>
                  </a:spcBef>
                  <a:buClr>
                    <a:srgbClr val="000000"/>
                  </a:buClr>
                  <a:buFont typeface="Wingdings" panose="05000000000000000000" pitchFamily="2" charset="2"/>
                  <a:buChar char="§"/>
                  <a:defRPr/>
                </a:pP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구축된 정보시스템이 표준 자료사전에 따라 구축되었는지 진단</a:t>
                </a:r>
                <a:r>
                  <a:rPr lang="en-US" altLang="ko-KR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1000" b="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감리</a:t>
                </a:r>
              </a:p>
            </p:txBody>
          </p:sp>
        </p:grpSp>
        <p:cxnSp>
          <p:nvCxnSpPr>
            <p:cNvPr id="71" name="꺾인 연결선 70"/>
            <p:cNvCxnSpPr>
              <a:stCxn id="46" idx="3"/>
              <a:endCxn id="66" idx="1"/>
            </p:cNvCxnSpPr>
            <p:nvPr/>
          </p:nvCxnSpPr>
          <p:spPr bwMode="auto">
            <a:xfrm flipV="1">
              <a:off x="6064934" y="2662833"/>
              <a:ext cx="775037" cy="1565068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lg"/>
            </a:ln>
            <a:effectLst/>
          </p:spPr>
        </p:cxnSp>
        <p:cxnSp>
          <p:nvCxnSpPr>
            <p:cNvPr id="72" name="꺾인 연결선 71"/>
            <p:cNvCxnSpPr>
              <a:stCxn id="46" idx="3"/>
              <a:endCxn id="68" idx="1"/>
            </p:cNvCxnSpPr>
            <p:nvPr/>
          </p:nvCxnSpPr>
          <p:spPr bwMode="auto">
            <a:xfrm flipV="1">
              <a:off x="6064934" y="4218280"/>
              <a:ext cx="775037" cy="9621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lg"/>
            </a:ln>
            <a:effectLst/>
          </p:spPr>
        </p:cxnSp>
        <p:cxnSp>
          <p:nvCxnSpPr>
            <p:cNvPr id="73" name="꺾인 연결선 72"/>
            <p:cNvCxnSpPr>
              <a:stCxn id="46" idx="3"/>
              <a:endCxn id="70" idx="1"/>
            </p:cNvCxnSpPr>
            <p:nvPr/>
          </p:nvCxnSpPr>
          <p:spPr bwMode="auto">
            <a:xfrm>
              <a:off x="6064934" y="4227901"/>
              <a:ext cx="775037" cy="169116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lg"/>
            </a:ln>
            <a:effectLst/>
          </p:spPr>
        </p:cxnSp>
        <p:cxnSp>
          <p:nvCxnSpPr>
            <p:cNvPr id="74" name="꺾인 연결선 73"/>
            <p:cNvCxnSpPr>
              <a:stCxn id="59" idx="3"/>
              <a:endCxn id="46" idx="1"/>
            </p:cNvCxnSpPr>
            <p:nvPr/>
          </p:nvCxnSpPr>
          <p:spPr bwMode="auto">
            <a:xfrm flipV="1">
              <a:off x="3138037" y="4227901"/>
              <a:ext cx="842855" cy="556152"/>
            </a:xfrm>
            <a:prstGeom prst="bentConnector3">
              <a:avLst>
                <a:gd name="adj1" fmla="val 38699"/>
              </a:avLst>
            </a:prstGeom>
            <a:solidFill>
              <a:srgbClr val="FBB779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lg"/>
            </a:ln>
            <a:effectLst/>
          </p:spPr>
        </p:cxnSp>
        <p:sp>
          <p:nvSpPr>
            <p:cNvPr id="75" name="AutoShape 27"/>
            <p:cNvSpPr>
              <a:spLocks noChangeArrowheads="1"/>
            </p:cNvSpPr>
            <p:nvPr/>
          </p:nvSpPr>
          <p:spPr bwMode="auto">
            <a:xfrm>
              <a:off x="596516" y="5157397"/>
              <a:ext cx="2541521" cy="1055131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1">
                  <a:lumMod val="75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  <a:defRPr/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행정데이터관리시스템에 등록</a:t>
              </a:r>
              <a: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사용하고자 하는 표준용어가 등록되어 있지 않고</a:t>
              </a:r>
              <a:r>
                <a:rPr lang="en-US" altLang="ko-KR" sz="8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</a:t>
              </a:r>
              <a:r>
                <a:rPr lang="en-US" altLang="ko-KR" sz="8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만 사용하는 용어가 아닌 기관 사이에 공동으로 활용되는 연계정보 등과 관련된 용어인 경우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 공공기관이 참조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활용할 수 있도록 행정표준용어에 등록할 것을 권고함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76" name="직선 연결선 75"/>
            <p:cNvCxnSpPr>
              <a:stCxn id="59" idx="2"/>
              <a:endCxn id="75" idx="0"/>
            </p:cNvCxnSpPr>
            <p:nvPr/>
          </p:nvCxnSpPr>
          <p:spPr bwMode="auto">
            <a:xfrm>
              <a:off x="1867277" y="4959619"/>
              <a:ext cx="0" cy="197778"/>
            </a:xfrm>
            <a:prstGeom prst="line">
              <a:avLst/>
            </a:prstGeom>
            <a:solidFill>
              <a:srgbClr val="FBB779"/>
            </a:solidFill>
            <a:ln w="1905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061863429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ko-KR" altLang="en-US" smtClean="0"/>
              <a:t>경영정보시스템 </a:t>
            </a:r>
            <a:r>
              <a:rPr lang="ko-KR" altLang="en-US" dirty="0"/>
              <a:t>데이터에 대한 표준 도메인의 관리 기준</a:t>
            </a:r>
            <a:r>
              <a:rPr lang="en-US" altLang="ko-KR" dirty="0"/>
              <a:t>(</a:t>
            </a:r>
            <a:r>
              <a:rPr lang="ko-KR" altLang="en-US" dirty="0"/>
              <a:t>표준성</a:t>
            </a:r>
            <a:r>
              <a:rPr lang="en-US" altLang="ko-KR" dirty="0"/>
              <a:t>, </a:t>
            </a:r>
            <a:r>
              <a:rPr lang="ko-KR" altLang="en-US" dirty="0"/>
              <a:t>유일성</a:t>
            </a:r>
            <a:r>
              <a:rPr lang="en-US" altLang="ko-KR" dirty="0"/>
              <a:t>, </a:t>
            </a:r>
            <a:r>
              <a:rPr lang="ko-KR" altLang="en-US" dirty="0"/>
              <a:t>업무지향성</a:t>
            </a:r>
            <a:r>
              <a:rPr lang="en-US" altLang="ko-KR" dirty="0"/>
              <a:t>)</a:t>
            </a:r>
            <a:r>
              <a:rPr lang="ko-KR" altLang="en-US" dirty="0"/>
              <a:t>과 관리 지침을 아래와 같이 제시함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3.7.2.3 </a:t>
            </a:r>
            <a:r>
              <a:rPr lang="ko-KR" altLang="en-US" sz="1800" spc="-150"/>
              <a:t>표준 도메인 </a:t>
            </a:r>
            <a:r>
              <a:rPr lang="en-US" altLang="ko-KR" sz="1800" spc="-150"/>
              <a:t>&gt; </a:t>
            </a:r>
            <a:r>
              <a:rPr lang="ko-KR" altLang="en-US" sz="1800" spc="-150"/>
              <a:t>도메인 </a:t>
            </a:r>
            <a:r>
              <a:rPr lang="ko-KR" altLang="en-US" sz="1800" spc="-150" smtClean="0"/>
              <a:t>관리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9"/>
          <p:cNvGrpSpPr/>
          <p:nvPr/>
        </p:nvGrpSpPr>
        <p:grpSpPr>
          <a:xfrm>
            <a:off x="344488" y="1592796"/>
            <a:ext cx="9217025" cy="4428492"/>
            <a:chOff x="200025" y="1592796"/>
            <a:chExt cx="9513386" cy="4428492"/>
          </a:xfrm>
        </p:grpSpPr>
        <p:sp>
          <p:nvSpPr>
            <p:cNvPr id="77" name="직사각형 76"/>
            <p:cNvSpPr/>
            <p:nvPr/>
          </p:nvSpPr>
          <p:spPr bwMode="auto">
            <a:xfrm>
              <a:off x="200025" y="1592840"/>
              <a:ext cx="2607950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표준 도메인의 정의</a:t>
              </a:r>
            </a:p>
          </p:txBody>
        </p:sp>
        <p:sp>
          <p:nvSpPr>
            <p:cNvPr id="78" name="직사각형 77"/>
            <p:cNvSpPr/>
            <p:nvPr/>
          </p:nvSpPr>
          <p:spPr bwMode="auto">
            <a:xfrm>
              <a:off x="3012994" y="1592796"/>
              <a:ext cx="4063981" cy="298005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관리 기준</a:t>
              </a:r>
            </a:p>
          </p:txBody>
        </p:sp>
        <p:sp>
          <p:nvSpPr>
            <p:cNvPr id="79" name="직사각형 78"/>
            <p:cNvSpPr/>
            <p:nvPr/>
          </p:nvSpPr>
          <p:spPr bwMode="auto">
            <a:xfrm>
              <a:off x="7221313" y="1592796"/>
              <a:ext cx="2484662" cy="298005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관리 지침</a:t>
              </a:r>
            </a:p>
          </p:txBody>
        </p:sp>
        <p:sp>
          <p:nvSpPr>
            <p:cNvPr id="80" name="Rectangle 79"/>
            <p:cNvSpPr>
              <a:spLocks noChangeArrowheads="1"/>
            </p:cNvSpPr>
            <p:nvPr/>
          </p:nvSpPr>
          <p:spPr bwMode="auto">
            <a:xfrm>
              <a:off x="4164682" y="2456892"/>
              <a:ext cx="2912293" cy="1116124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도메인은 전사 차원에서 공통적으로 사용하고 있는 속성을 대상으로 정의함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예를 들어 은행의 계좌번호는 은행 하위 업무나 상품에 따라 다르지 않으므로 표준 도메인을 정의하여 사용해야 함</a:t>
              </a:r>
            </a:p>
          </p:txBody>
        </p:sp>
        <p:sp>
          <p:nvSpPr>
            <p:cNvPr id="81" name="AutoShape 27"/>
            <p:cNvSpPr>
              <a:spLocks noChangeArrowheads="1"/>
            </p:cNvSpPr>
            <p:nvPr/>
          </p:nvSpPr>
          <p:spPr bwMode="auto">
            <a:xfrm>
              <a:off x="3260873" y="2456892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표준성</a:t>
              </a:r>
            </a:p>
          </p:txBody>
        </p:sp>
        <p:sp>
          <p:nvSpPr>
            <p:cNvPr id="82" name="AutoShape 27"/>
            <p:cNvSpPr>
              <a:spLocks noChangeArrowheads="1"/>
            </p:cNvSpPr>
            <p:nvPr/>
          </p:nvSpPr>
          <p:spPr bwMode="auto">
            <a:xfrm>
              <a:off x="3260873" y="3801105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유일성</a:t>
              </a:r>
            </a:p>
          </p:txBody>
        </p:sp>
        <p:sp>
          <p:nvSpPr>
            <p:cNvPr id="83" name="AutoShape 27"/>
            <p:cNvSpPr>
              <a:spLocks noChangeArrowheads="1"/>
            </p:cNvSpPr>
            <p:nvPr/>
          </p:nvSpPr>
          <p:spPr bwMode="auto">
            <a:xfrm>
              <a:off x="3260873" y="5022787"/>
              <a:ext cx="854918" cy="399338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업무지향성</a:t>
              </a:r>
            </a:p>
          </p:txBody>
        </p:sp>
        <p:sp>
          <p:nvSpPr>
            <p:cNvPr id="84" name="Rectangle 79"/>
            <p:cNvSpPr>
              <a:spLocks noChangeArrowheads="1"/>
            </p:cNvSpPr>
            <p:nvPr/>
          </p:nvSpPr>
          <p:spPr bwMode="auto">
            <a:xfrm>
              <a:off x="7221313" y="2456892"/>
              <a:ext cx="2492098" cy="3564396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전사적으로 관리하고 있는 모든 데이터 속성 혹은 대표 속성 가운데에 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DBMS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에 동일한 형태로 구현되는 속성들을 추출하여 그룹화하고 표준화된 도메인을 선언함</a:t>
              </a:r>
              <a:endPara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모든 속성은 임의의 도메인에 할당되어야 하나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한 개 이상의 도메인에 복수로 할당되어서는 안됨</a:t>
              </a:r>
              <a:endPara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도메인은 복수 개의 하위 도메인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복합 도메인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으로 구성되거나 하나의 도메인이 여러 개의 도메인에 중복적으로 사용될 수 있음</a:t>
              </a:r>
              <a:endPara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속성과 도메인은 상호 매핑하여 관리해야 하며 새로운 속성이 추가될 경우 해당 속성의 도메인을 선정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등록할 것을 권장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또한 도메인의 삭제는 해당 도메인을 사용하고 있는 속성이 없을 경우에만 가능하도록 해야 함</a:t>
              </a:r>
            </a:p>
          </p:txBody>
        </p:sp>
        <p:sp>
          <p:nvSpPr>
            <p:cNvPr id="85" name="Rectangle 79"/>
            <p:cNvSpPr>
              <a:spLocks noChangeArrowheads="1"/>
            </p:cNvSpPr>
            <p:nvPr/>
          </p:nvSpPr>
          <p:spPr bwMode="auto">
            <a:xfrm>
              <a:off x="4164682" y="3804020"/>
              <a:ext cx="2912293" cy="957128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동일한 내용의 중복 도메인이 서로 다른 이름으로 선언되지 않도록 관리해야 함</a:t>
              </a:r>
            </a:p>
          </p:txBody>
        </p:sp>
        <p:sp>
          <p:nvSpPr>
            <p:cNvPr id="86" name="Rectangle 79"/>
            <p:cNvSpPr>
              <a:spLocks noChangeArrowheads="1"/>
            </p:cNvSpPr>
            <p:nvPr/>
          </p:nvSpPr>
          <p:spPr bwMode="auto">
            <a:xfrm>
              <a:off x="4164682" y="5025702"/>
              <a:ext cx="2912293" cy="995586"/>
            </a:xfrm>
            <a:prstGeom prst="rect">
              <a:avLst/>
            </a:prstGeom>
            <a:noFill/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90488" indent="-90488" algn="l">
                <a:spcBef>
                  <a:spcPts val="600"/>
                </a:spcBef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도메인은 업무의 특성을 충분히 반영할 수 있도록 선언하여 관리함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예를 들어 은행 계좌번호의 도메인은 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-’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 없이 정의하는 것 보다 적절한 의미를 나타내도록 ‘</a:t>
              </a:r>
              <a:r>
                <a:rPr lang="en-US" altLang="ko-KR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-’</a:t>
              </a:r>
              <a:r>
                <a:rPr lang="ko-KR" altLang="en-US" sz="1000" b="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이용하여 표현함</a:t>
              </a:r>
            </a:p>
          </p:txBody>
        </p:sp>
        <p:cxnSp>
          <p:nvCxnSpPr>
            <p:cNvPr id="87" name="AutoShape 73"/>
            <p:cNvCxnSpPr>
              <a:cxnSpLocks noChangeShapeType="1"/>
              <a:stCxn id="91" idx="3"/>
              <a:endCxn id="81" idx="1"/>
            </p:cNvCxnSpPr>
            <p:nvPr/>
          </p:nvCxnSpPr>
          <p:spPr bwMode="auto">
            <a:xfrm flipV="1">
              <a:off x="2582520" y="2656561"/>
              <a:ext cx="678353" cy="1523748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8" name="AutoShape 73"/>
            <p:cNvCxnSpPr>
              <a:cxnSpLocks noChangeShapeType="1"/>
              <a:stCxn id="91" idx="3"/>
              <a:endCxn id="82" idx="1"/>
            </p:cNvCxnSpPr>
            <p:nvPr/>
          </p:nvCxnSpPr>
          <p:spPr bwMode="auto">
            <a:xfrm flipV="1">
              <a:off x="2582520" y="4000774"/>
              <a:ext cx="678353" cy="179535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AutoShape 73"/>
            <p:cNvCxnSpPr>
              <a:cxnSpLocks noChangeShapeType="1"/>
              <a:stCxn id="91" idx="3"/>
              <a:endCxn id="83" idx="1"/>
            </p:cNvCxnSpPr>
            <p:nvPr/>
          </p:nvCxnSpPr>
          <p:spPr bwMode="auto">
            <a:xfrm>
              <a:off x="2582520" y="4180309"/>
              <a:ext cx="678353" cy="1042147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0" name="AutoShape 27"/>
            <p:cNvSpPr>
              <a:spLocks noChangeArrowheads="1"/>
            </p:cNvSpPr>
            <p:nvPr/>
          </p:nvSpPr>
          <p:spPr bwMode="auto">
            <a:xfrm>
              <a:off x="485989" y="2708920"/>
              <a:ext cx="2096529" cy="399336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표준 도메인</a:t>
              </a:r>
            </a:p>
          </p:txBody>
        </p:sp>
        <p:sp>
          <p:nvSpPr>
            <p:cNvPr id="91" name="Rectangle 79"/>
            <p:cNvSpPr>
              <a:spLocks noChangeArrowheads="1"/>
            </p:cNvSpPr>
            <p:nvPr/>
          </p:nvSpPr>
          <p:spPr bwMode="auto">
            <a:xfrm>
              <a:off x="485990" y="3110484"/>
              <a:ext cx="2096530" cy="2139649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</a:ln>
            <a:extLst/>
          </p:spPr>
          <p:txBody>
            <a:bodyPr wrap="square" anchor="ctr">
              <a:noAutofit/>
            </a:bodyPr>
            <a:lstStyle/>
            <a:p>
              <a:pPr marL="90488" indent="-90488" fontAlgn="base">
                <a:spcBef>
                  <a:spcPts val="600"/>
                </a:spcBef>
                <a:spcAft>
                  <a:spcPct val="0"/>
                </a:spcAft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도메인</a:t>
              </a:r>
              <a:r>
                <a: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(domain)</a:t>
              </a: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이란 속성에 정의된 조건을 만족시키는 값의 범위를 의미</a:t>
              </a:r>
              <a:endPara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 fontAlgn="base">
                <a:spcBef>
                  <a:spcPts val="600"/>
                </a:spcBef>
                <a:spcAft>
                  <a:spcPct val="0"/>
                </a:spcAft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도메인은 전사적으로 사용되고 있는 데이터 가운데에 논리적</a:t>
              </a:r>
              <a:r>
                <a: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</a:t>
              </a: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물리적으로 유사한 유형의 데이터를 그룹화하여 해당 그룹에 속하는 데이터의 유형과 길이를 정의한 것을 말함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03148673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ko-KR" altLang="en-US" smtClean="0"/>
              <a:t>경영정보시스템 </a:t>
            </a:r>
            <a:r>
              <a:rPr lang="ko-KR" altLang="en-US" dirty="0"/>
              <a:t>데이터 도메인의 분류체계는 행정정보데이터베이스 표준화 지침에서 제공하는 데이터 </a:t>
            </a:r>
            <a:r>
              <a:rPr lang="ko-KR" altLang="en-US"/>
              <a:t>도메인 </a:t>
            </a:r>
            <a:r>
              <a:rPr lang="ko-KR" altLang="en-US" smtClean="0"/>
              <a:t>분류체계를 변형 없이 </a:t>
            </a:r>
            <a:r>
              <a:rPr lang="ko-KR" altLang="en-US" dirty="0"/>
              <a:t>따르며 표준 도메인은 도메인 분류체계와 </a:t>
            </a:r>
            <a:r>
              <a:rPr lang="ko-KR" altLang="en-US"/>
              <a:t>매핑하여 </a:t>
            </a:r>
            <a:r>
              <a:rPr lang="ko-KR" altLang="en-US" smtClean="0"/>
              <a:t>관리함</a:t>
            </a:r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ko-KR" altLang="en-US" spc="-150" smtClean="0"/>
              <a:t> 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3.7.2.3 </a:t>
            </a:r>
            <a:r>
              <a:rPr lang="ko-KR" altLang="en-US" sz="1800" spc="-150"/>
              <a:t>표준 도메인 </a:t>
            </a:r>
            <a:r>
              <a:rPr lang="en-US" altLang="ko-KR" sz="1800" spc="-150" smtClean="0"/>
              <a:t>&gt; </a:t>
            </a:r>
            <a:r>
              <a:rPr lang="ko-KR" altLang="en-US" sz="1800" spc="-150" smtClean="0"/>
              <a:t>도메인 </a:t>
            </a:r>
            <a:r>
              <a:rPr lang="ko-KR" altLang="en-US" sz="1800" spc="-150" dirty="0"/>
              <a:t>분류체계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3" name="그룹 25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27" name="직사각형 26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도메인 분류체계</a:t>
                </a:r>
              </a:p>
            </p:txBody>
          </p:sp>
          <p:sp>
            <p:nvSpPr>
              <p:cNvPr id="28" name="직사각형 27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29" name="Rectangle 79"/>
            <p:cNvSpPr>
              <a:spLocks noChangeArrowheads="1"/>
            </p:cNvSpPr>
            <p:nvPr/>
          </p:nvSpPr>
          <p:spPr bwMode="auto">
            <a:xfrm>
              <a:off x="4232920" y="2314149"/>
              <a:ext cx="3348372" cy="404845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업무로부터 직접 도출된 가장 기본적인 데이터 도메인</a:t>
              </a:r>
            </a:p>
          </p:txBody>
        </p:sp>
        <p:sp>
          <p:nvSpPr>
            <p:cNvPr id="30" name="AutoShape 27"/>
            <p:cNvSpPr>
              <a:spLocks noChangeArrowheads="1"/>
            </p:cNvSpPr>
            <p:nvPr/>
          </p:nvSpPr>
          <p:spPr bwMode="auto">
            <a:xfrm>
              <a:off x="3310623" y="2317943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기본형</a:t>
              </a:r>
            </a:p>
          </p:txBody>
        </p:sp>
        <p:sp>
          <p:nvSpPr>
            <p:cNvPr id="31" name="AutoShape 27"/>
            <p:cNvSpPr>
              <a:spLocks noChangeArrowheads="1"/>
            </p:cNvSpPr>
            <p:nvPr/>
          </p:nvSpPr>
          <p:spPr bwMode="auto">
            <a:xfrm>
              <a:off x="3310623" y="4000307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열거형</a:t>
              </a:r>
            </a:p>
          </p:txBody>
        </p:sp>
        <p:sp>
          <p:nvSpPr>
            <p:cNvPr id="32" name="AutoShape 27"/>
            <p:cNvSpPr>
              <a:spLocks noChangeArrowheads="1"/>
            </p:cNvSpPr>
            <p:nvPr/>
          </p:nvSpPr>
          <p:spPr bwMode="auto">
            <a:xfrm>
              <a:off x="3310623" y="5121883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외부값영역</a:t>
              </a:r>
            </a:p>
          </p:txBody>
        </p:sp>
        <p:cxnSp>
          <p:nvCxnSpPr>
            <p:cNvPr id="33" name="AutoShape 73"/>
            <p:cNvCxnSpPr>
              <a:cxnSpLocks noChangeShapeType="1"/>
              <a:stCxn id="43" idx="1"/>
              <a:endCxn id="30" idx="1"/>
            </p:cNvCxnSpPr>
            <p:nvPr/>
          </p:nvCxnSpPr>
          <p:spPr bwMode="auto">
            <a:xfrm rot="10800000">
              <a:off x="3310623" y="2463028"/>
              <a:ext cx="12700" cy="1121576"/>
            </a:xfrm>
            <a:prstGeom prst="bentConnector3">
              <a:avLst>
                <a:gd name="adj1" fmla="val 180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" name="AutoShape 73"/>
            <p:cNvCxnSpPr>
              <a:cxnSpLocks noChangeShapeType="1"/>
              <a:stCxn id="44" idx="1"/>
              <a:endCxn id="31" idx="1"/>
            </p:cNvCxnSpPr>
            <p:nvPr/>
          </p:nvCxnSpPr>
          <p:spPr bwMode="auto">
            <a:xfrm rot="10800000">
              <a:off x="3310623" y="4145392"/>
              <a:ext cx="12700" cy="560788"/>
            </a:xfrm>
            <a:prstGeom prst="bentConnector3">
              <a:avLst>
                <a:gd name="adj1" fmla="val 180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AutoShape 73"/>
            <p:cNvCxnSpPr>
              <a:cxnSpLocks noChangeShapeType="1"/>
              <a:stCxn id="45" idx="1"/>
              <a:endCxn id="32" idx="1"/>
            </p:cNvCxnSpPr>
            <p:nvPr/>
          </p:nvCxnSpPr>
          <p:spPr bwMode="auto">
            <a:xfrm rot="10800000">
              <a:off x="3310623" y="5266969"/>
              <a:ext cx="12700" cy="560787"/>
            </a:xfrm>
            <a:prstGeom prst="bentConnector3">
              <a:avLst>
                <a:gd name="adj1" fmla="val 180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" name="AutoShape 27"/>
            <p:cNvSpPr>
              <a:spLocks noChangeArrowheads="1"/>
            </p:cNvSpPr>
            <p:nvPr/>
          </p:nvSpPr>
          <p:spPr bwMode="auto">
            <a:xfrm>
              <a:off x="1676636" y="3782299"/>
              <a:ext cx="985915" cy="78718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도메인</a:t>
              </a:r>
            </a:p>
          </p:txBody>
        </p:sp>
        <p:sp>
          <p:nvSpPr>
            <p:cNvPr id="39" name="AutoShape 27"/>
            <p:cNvSpPr>
              <a:spLocks noChangeArrowheads="1"/>
            </p:cNvSpPr>
            <p:nvPr/>
          </p:nvSpPr>
          <p:spPr bwMode="auto">
            <a:xfrm>
              <a:off x="3310623" y="2878731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설계형</a:t>
              </a:r>
            </a:p>
          </p:txBody>
        </p:sp>
        <p:sp>
          <p:nvSpPr>
            <p:cNvPr id="43" name="AutoShape 27"/>
            <p:cNvSpPr>
              <a:spLocks noChangeArrowheads="1"/>
            </p:cNvSpPr>
            <p:nvPr/>
          </p:nvSpPr>
          <p:spPr bwMode="auto">
            <a:xfrm>
              <a:off x="3310623" y="3439519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유도형</a:t>
              </a:r>
            </a:p>
          </p:txBody>
        </p:sp>
        <p:sp>
          <p:nvSpPr>
            <p:cNvPr id="44" name="AutoShape 27"/>
            <p:cNvSpPr>
              <a:spLocks noChangeArrowheads="1"/>
            </p:cNvSpPr>
            <p:nvPr/>
          </p:nvSpPr>
          <p:spPr bwMode="auto">
            <a:xfrm>
              <a:off x="3310623" y="4561095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비열거형</a:t>
              </a:r>
            </a:p>
          </p:txBody>
        </p:sp>
        <p:sp>
          <p:nvSpPr>
            <p:cNvPr id="45" name="AutoShape 27"/>
            <p:cNvSpPr>
              <a:spLocks noChangeArrowheads="1"/>
            </p:cNvSpPr>
            <p:nvPr/>
          </p:nvSpPr>
          <p:spPr bwMode="auto">
            <a:xfrm>
              <a:off x="3310623" y="5682670"/>
              <a:ext cx="854918" cy="290169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일반값영역</a:t>
              </a:r>
            </a:p>
          </p:txBody>
        </p:sp>
        <p:cxnSp>
          <p:nvCxnSpPr>
            <p:cNvPr id="46" name="AutoShape 73"/>
            <p:cNvCxnSpPr>
              <a:cxnSpLocks noChangeShapeType="1"/>
              <a:stCxn id="38" idx="3"/>
              <a:endCxn id="39" idx="1"/>
            </p:cNvCxnSpPr>
            <p:nvPr/>
          </p:nvCxnSpPr>
          <p:spPr bwMode="auto">
            <a:xfrm flipV="1">
              <a:off x="2662551" y="3023816"/>
              <a:ext cx="648072" cy="1152073"/>
            </a:xfrm>
            <a:prstGeom prst="bentConnector3">
              <a:avLst>
                <a:gd name="adj1" fmla="val 33539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" name="AutoShape 73"/>
            <p:cNvCxnSpPr>
              <a:cxnSpLocks noChangeShapeType="1"/>
              <a:stCxn id="38" idx="3"/>
              <a:endCxn id="49" idx="1"/>
            </p:cNvCxnSpPr>
            <p:nvPr/>
          </p:nvCxnSpPr>
          <p:spPr bwMode="auto">
            <a:xfrm>
              <a:off x="2662551" y="4175889"/>
              <a:ext cx="432048" cy="246587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8" name="AutoShape 73"/>
            <p:cNvCxnSpPr>
              <a:cxnSpLocks noChangeShapeType="1"/>
              <a:stCxn id="38" idx="3"/>
              <a:endCxn id="50" idx="1"/>
            </p:cNvCxnSpPr>
            <p:nvPr/>
          </p:nvCxnSpPr>
          <p:spPr bwMode="auto">
            <a:xfrm>
              <a:off x="2662551" y="4175889"/>
              <a:ext cx="432048" cy="1370550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808080"/>
              </a:solidFill>
              <a:miter lim="800000"/>
              <a:headEnd/>
              <a:tailEnd type="none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9" name="AutoShape 27"/>
            <p:cNvSpPr>
              <a:spLocks noChangeArrowheads="1"/>
            </p:cNvSpPr>
            <p:nvPr/>
          </p:nvSpPr>
          <p:spPr bwMode="auto">
            <a:xfrm>
              <a:off x="3094599" y="4321468"/>
              <a:ext cx="216309" cy="202015"/>
            </a:xfrm>
            <a:prstGeom prst="rect">
              <a:avLst/>
            </a:prstGeom>
            <a:noFill/>
            <a:ln>
              <a:noFill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endParaRPr lang="ko-KR" altLang="en-US" sz="105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AutoShape 27"/>
            <p:cNvSpPr>
              <a:spLocks noChangeArrowheads="1"/>
            </p:cNvSpPr>
            <p:nvPr/>
          </p:nvSpPr>
          <p:spPr bwMode="auto">
            <a:xfrm>
              <a:off x="3094599" y="5445431"/>
              <a:ext cx="216309" cy="202015"/>
            </a:xfrm>
            <a:prstGeom prst="rect">
              <a:avLst/>
            </a:prstGeom>
            <a:noFill/>
            <a:ln>
              <a:noFill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endParaRPr kumimoji="1" lang="ko-KR" altLang="en-US" sz="105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270375" y="1857280"/>
              <a:ext cx="1993429" cy="28995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just">
                <a:lnSpc>
                  <a:spcPct val="166000"/>
                </a:lnSpc>
                <a:spcBef>
                  <a:spcPts val="300"/>
                </a:spcBef>
                <a:spcAft>
                  <a:spcPts val="300"/>
                </a:spcAft>
              </a:pPr>
              <a:r>
                <a:rPr lang="en-US" altLang="ko-KR" sz="900" kern="0" dirty="0">
                  <a:solidFill>
                    <a:srgbClr val="282828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kern="0" dirty="0">
                  <a:solidFill>
                    <a:srgbClr val="282828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900" kern="0" dirty="0">
                  <a:solidFill>
                    <a:srgbClr val="282828"/>
                  </a:solidFill>
                  <a:latin typeface="맑은 고딕" pitchFamily="50" charset="-127"/>
                  <a:ea typeface="맑은 고딕" pitchFamily="50" charset="-127"/>
                </a:rPr>
                <a:t>ISO/IEC 20943-3</a:t>
              </a:r>
              <a:r>
                <a:rPr lang="ko-KR" altLang="en-US" sz="900" kern="0" dirty="0">
                  <a:solidFill>
                    <a:srgbClr val="282828"/>
                  </a:solidFill>
                  <a:latin typeface="맑은 고딕" pitchFamily="50" charset="-127"/>
                  <a:ea typeface="맑은 고딕" pitchFamily="50" charset="-127"/>
                </a:rPr>
                <a:t>의 준용을 권고</a:t>
              </a:r>
              <a:r>
                <a:rPr lang="en-US" altLang="ko-KR" sz="900" kern="0" dirty="0">
                  <a:solidFill>
                    <a:srgbClr val="282828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endParaRPr lang="ko-KR" altLang="en-US" sz="100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2" name="Rectangle 79"/>
            <p:cNvSpPr>
              <a:spLocks noChangeArrowheads="1"/>
            </p:cNvSpPr>
            <p:nvPr/>
          </p:nvSpPr>
          <p:spPr bwMode="auto">
            <a:xfrm>
              <a:off x="4232920" y="2873143"/>
              <a:ext cx="3348372" cy="538638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lnSpc>
                  <a:spcPts val="1000"/>
                </a:lnSpc>
                <a:spcBef>
                  <a:spcPts val="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코드 또는 그 외 특정한 체계로 생성되도록 값을 고안할 필요가 있는 데이터 도메인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업무의 유형을 단순화 하거나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유일성을 보장하기 위한 방편으로 활용됨</a:t>
              </a:r>
            </a:p>
          </p:txBody>
        </p:sp>
        <p:sp>
          <p:nvSpPr>
            <p:cNvPr id="53" name="Rectangle 79"/>
            <p:cNvSpPr>
              <a:spLocks noChangeArrowheads="1"/>
            </p:cNvSpPr>
            <p:nvPr/>
          </p:nvSpPr>
          <p:spPr bwMode="auto">
            <a:xfrm>
              <a:off x="4232920" y="3439519"/>
              <a:ext cx="3348372" cy="404845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이미 존재하는 다른 도메인의 계산에 의해 생성되는 데이터 도메인으로 계산 공식 등의 파생 알고리즘이 존재</a:t>
              </a:r>
            </a:p>
          </p:txBody>
        </p:sp>
        <p:sp>
          <p:nvSpPr>
            <p:cNvPr id="54" name="Rectangle 79"/>
            <p:cNvSpPr>
              <a:spLocks noChangeArrowheads="1"/>
            </p:cNvSpPr>
            <p:nvPr/>
          </p:nvSpPr>
          <p:spPr bwMode="auto">
            <a:xfrm>
              <a:off x="4232920" y="4000307"/>
              <a:ext cx="3348372" cy="523176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구성하는 값의 원소를 모두 나열할 수 있는 데이터 도메인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예로는 코드집합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표준분류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분류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(categorizations)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등의 형태를 포함</a:t>
              </a:r>
            </a:p>
          </p:txBody>
        </p:sp>
        <p:sp>
          <p:nvSpPr>
            <p:cNvPr id="55" name="Rectangle 79"/>
            <p:cNvSpPr>
              <a:spLocks noChangeArrowheads="1"/>
            </p:cNvSpPr>
            <p:nvPr/>
          </p:nvSpPr>
          <p:spPr bwMode="auto">
            <a:xfrm>
              <a:off x="4232920" y="4569479"/>
              <a:ext cx="3348372" cy="523176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구성하는 값의 원소를 범위로서 규정하며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일일이 나열하는 것이 불가능한 데이터 도메인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예로는 수치의 간격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문자열의 특성</a:t>
              </a:r>
              <a:r>
                <a:rPr lang="en-US" altLang="ko-KR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비트맵 등의 형태가 있음</a:t>
              </a:r>
            </a:p>
          </p:txBody>
        </p:sp>
        <p:sp>
          <p:nvSpPr>
            <p:cNvPr id="56" name="Rectangle 79"/>
            <p:cNvSpPr>
              <a:spLocks noChangeArrowheads="1"/>
            </p:cNvSpPr>
            <p:nvPr/>
          </p:nvSpPr>
          <p:spPr bwMode="auto">
            <a:xfrm>
              <a:off x="4232920" y="5121210"/>
              <a:ext cx="3348372" cy="404845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국내외 타 기관이나 업체에서 정의한 값 영역을 변경하지 않고 그대로 차용한 경우를 의미</a:t>
              </a:r>
            </a:p>
          </p:txBody>
        </p:sp>
        <p:sp>
          <p:nvSpPr>
            <p:cNvPr id="57" name="Rectangle 79"/>
            <p:cNvSpPr>
              <a:spLocks noChangeArrowheads="1"/>
            </p:cNvSpPr>
            <p:nvPr/>
          </p:nvSpPr>
          <p:spPr bwMode="auto">
            <a:xfrm>
              <a:off x="4232920" y="5688451"/>
              <a:ext cx="3348372" cy="404845"/>
            </a:xfrm>
            <a:prstGeom prst="rect">
              <a:avLst/>
            </a:prstGeom>
            <a:noFill/>
            <a:ln w="6350" algn="ctr">
              <a:solidFill>
                <a:srgbClr val="808080"/>
              </a:solidFill>
              <a:prstDash val="sys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85725" indent="-85725" algn="l" latinLnBrk="0">
                <a:spcBef>
                  <a:spcPts val="600"/>
                </a:spcBef>
              </a:pPr>
              <a:r>
                <a: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외부 값 영역이 아닌 일반적인 경우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8603545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ko-KR" altLang="en-US" smtClean="0"/>
              <a:t>경영정보시스템의 </a:t>
            </a:r>
            <a:r>
              <a:rPr lang="en-US" altLang="ko-KR" smtClean="0"/>
              <a:t>DATABASE</a:t>
            </a:r>
            <a:r>
              <a:rPr lang="ko-KR" altLang="en-US" smtClean="0"/>
              <a:t> </a:t>
            </a:r>
            <a:r>
              <a:rPr lang="ko-KR" altLang="en-US" dirty="0"/>
              <a:t>설계와 개발을 지원하고</a:t>
            </a:r>
            <a:r>
              <a:rPr lang="en-US" altLang="ko-KR" dirty="0"/>
              <a:t>, </a:t>
            </a:r>
            <a:r>
              <a:rPr lang="ko-KR" altLang="en-US" dirty="0"/>
              <a:t>전사적인 데이터 표준의 사용 및 재사용을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통해 시스템 간 상호 운용성</a:t>
            </a:r>
            <a:r>
              <a:rPr lang="en-US" altLang="ko-KR" dirty="0"/>
              <a:t>, </a:t>
            </a:r>
            <a:r>
              <a:rPr lang="ko-KR" altLang="en-US" dirty="0"/>
              <a:t>데이터 공유</a:t>
            </a:r>
            <a:r>
              <a:rPr lang="en-US" altLang="ko-KR" dirty="0"/>
              <a:t>, </a:t>
            </a:r>
            <a:r>
              <a:rPr lang="ko-KR" altLang="en-US" dirty="0"/>
              <a:t>시스템 통합</a:t>
            </a:r>
            <a:r>
              <a:rPr lang="en-US" altLang="ko-KR" dirty="0"/>
              <a:t>, </a:t>
            </a:r>
            <a:r>
              <a:rPr lang="ko-KR" altLang="en-US" dirty="0"/>
              <a:t>비즈니스 프로세스 개선 등을 지원하도록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데이터 </a:t>
            </a:r>
            <a:r>
              <a:rPr lang="ko-KR" altLang="en-US"/>
              <a:t>표준을 </a:t>
            </a:r>
            <a:r>
              <a:rPr lang="ko-KR" altLang="en-US" smtClean="0"/>
              <a:t>수립함</a:t>
            </a:r>
            <a:r>
              <a:rPr lang="en-US" altLang="ko-KR" smtClean="0"/>
              <a:t>(*</a:t>
            </a:r>
            <a:r>
              <a:rPr lang="ko-KR" altLang="en-US" smtClean="0"/>
              <a:t>행정표준</a:t>
            </a:r>
            <a:r>
              <a:rPr lang="en-US" altLang="ko-KR" smtClean="0"/>
              <a:t> </a:t>
            </a:r>
            <a:r>
              <a:rPr lang="ko-KR" altLang="en-US" smtClean="0"/>
              <a:t>용어집 참조 권장</a:t>
            </a:r>
            <a:r>
              <a:rPr lang="en-US" altLang="ko-KR" smtClean="0"/>
              <a:t>)</a:t>
            </a:r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3.7.2.3 </a:t>
            </a:r>
            <a:r>
              <a:rPr lang="ko-KR" altLang="en-US" sz="1800" spc="-150"/>
              <a:t>표준 도메인 </a:t>
            </a:r>
            <a:r>
              <a:rPr lang="en-US" altLang="ko-KR" sz="1800" spc="-150"/>
              <a:t>&gt; </a:t>
            </a:r>
            <a:r>
              <a:rPr lang="ko-KR" altLang="en-US" sz="1800" spc="-150" smtClean="0"/>
              <a:t>정의된 구분자</a:t>
            </a:r>
            <a:r>
              <a:rPr lang="en-US" altLang="ko-KR" sz="1800" spc="-150" smtClean="0"/>
              <a:t>(</a:t>
            </a:r>
            <a:r>
              <a:rPr lang="en-US" altLang="ko-KR" sz="1800" spc="-150" dirty="0"/>
              <a:t>1/3)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57"/>
          <p:cNvGrpSpPr/>
          <p:nvPr/>
        </p:nvGrpSpPr>
        <p:grpSpPr>
          <a:xfrm>
            <a:off x="5137890" y="1612503"/>
            <a:ext cx="4423623" cy="4768825"/>
            <a:chOff x="4990004" y="1412776"/>
            <a:chExt cx="4715971" cy="4768825"/>
          </a:xfrm>
        </p:grpSpPr>
        <p:sp>
          <p:nvSpPr>
            <p:cNvPr id="59" name="직사각형 58"/>
            <p:cNvSpPr/>
            <p:nvPr/>
          </p:nvSpPr>
          <p:spPr bwMode="auto">
            <a:xfrm>
              <a:off x="4990575" y="1412776"/>
              <a:ext cx="4715400" cy="298005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정의된 구분자 중분류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(1/3)</a:t>
              </a:r>
              <a:endPara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0" name="직사각형 59"/>
            <p:cNvSpPr/>
            <p:nvPr/>
          </p:nvSpPr>
          <p:spPr bwMode="auto">
            <a:xfrm>
              <a:off x="4990004" y="1710781"/>
              <a:ext cx="4714020" cy="447082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" name="그룹 60"/>
          <p:cNvGrpSpPr/>
          <p:nvPr/>
        </p:nvGrpSpPr>
        <p:grpSpPr>
          <a:xfrm>
            <a:off x="347911" y="1612503"/>
            <a:ext cx="4391325" cy="4769205"/>
            <a:chOff x="200025" y="1412776"/>
            <a:chExt cx="4681538" cy="4769205"/>
          </a:xfrm>
        </p:grpSpPr>
        <p:sp>
          <p:nvSpPr>
            <p:cNvPr id="62" name="직사각형 61"/>
            <p:cNvSpPr/>
            <p:nvPr/>
          </p:nvSpPr>
          <p:spPr bwMode="auto">
            <a:xfrm>
              <a:off x="200025" y="1412776"/>
              <a:ext cx="4680967" cy="298005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정의된 구분자 대분류</a:t>
              </a:r>
            </a:p>
          </p:txBody>
        </p:sp>
        <p:sp>
          <p:nvSpPr>
            <p:cNvPr id="63" name="직사각형 62"/>
            <p:cNvSpPr/>
            <p:nvPr/>
          </p:nvSpPr>
          <p:spPr bwMode="auto">
            <a:xfrm>
              <a:off x="201528" y="1710781"/>
              <a:ext cx="4680035" cy="447120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64" name="표 63"/>
          <p:cNvGraphicFramePr>
            <a:graphicFrameLocks noGrp="1"/>
          </p:cNvGraphicFramePr>
          <p:nvPr>
            <p:extLst/>
          </p:nvPr>
        </p:nvGraphicFramePr>
        <p:xfrm>
          <a:off x="384886" y="1972543"/>
          <a:ext cx="4322345" cy="43200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163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658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25484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영문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금액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AMOUNT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금전적인 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48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ANGLE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두 선 혹은 두 면간의 회전 거리의 측정값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공통의 점 또는 선으로부터 분기하는 평면 사이의 회전 거리의 측정값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넓이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AREA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단위제곱으로 표현된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평면에 대한 이차원적 측정값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441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특정한 의미를 위해 대치되는 하나 이상의 문자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숫자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혹은 특수 기호의 조합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01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좌표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COORDINATE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지점의 위치를 식별하는 값의 집합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날짜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특정한 시간적 기간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차원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DIMENSION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일차원적으로 측정되는 선형 거리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548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식별자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IDENTIFIER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특정한 객체나 엔티티를 지정하기 위한 하나 이상의 문자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숫자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혹은 특수 기호의 조합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정의할 수 있는 의미는 없음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질량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MASS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물체의 관성에 대한 측정값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단어 혹은 구로 표현되는 객체나 엔티티의 지정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QUANTITY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비금전적인 수치 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비율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두 개의 측정 가능한 단위간의 수치 관계를 표현하는 정량적 표현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01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TEMPERATURE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객체의 열 측정값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518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텍스트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TEXT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비형식화된 문자 스트링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TIME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기간 중의 지정된 연대기 지점의 표시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VOLUME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삼차원 물체에 의해 점유된 공간의 측정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34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무게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175" marR="2175" marT="217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WEIGHT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>
                        <a:lnSpc>
                          <a:spcPts val="800"/>
                        </a:lnSpc>
                      </a:pP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중력에 의해 객체가 지구 중심으로 끌리는 힘</a:t>
                      </a:r>
                    </a:p>
                  </a:txBody>
                  <a:tcPr marL="2175" marR="2175" marT="217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</a:tbl>
          </a:graphicData>
        </a:graphic>
      </p:graphicFrame>
      <p:graphicFrame>
        <p:nvGraphicFramePr>
          <p:cNvPr id="65" name="표 64"/>
          <p:cNvGraphicFramePr>
            <a:graphicFrameLocks noGrp="1"/>
          </p:cNvGraphicFramePr>
          <p:nvPr>
            <p:extLst/>
          </p:nvPr>
        </p:nvGraphicFramePr>
        <p:xfrm>
          <a:off x="5174464" y="1972543"/>
          <a:ext cx="4356114" cy="43200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47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2250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546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5106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070457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1537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영문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약어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3911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금액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가격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PRICE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돈으로 나타낸 상품의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값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</a:t>
                      </a:r>
                      <a:r>
                        <a:rPr lang="en-US" altLang="ko-KR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비용</a:t>
                      </a:r>
                      <a:r>
                        <a:rPr lang="en-US" altLang="ko-KR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COST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무엇을 사거나 어떤 일을 하는 데 드는 돈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7750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액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AMOUNT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일부 한자어 뒤에 붙어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돈의 액수인 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'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금액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'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뜻을 나타냄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775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방위각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AZIMUTH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AZ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어떤 방향과 천정을 포함한 평면이 기준 방향과 이루는 각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391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영역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면적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AREA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한정된 평면이나 구면의 크기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넓이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7509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분류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CLASSIFICATION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구분을 지어 사물 또는 그 인식을 정돈하고 체계를 세우는 것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세분류 체계를 가질 수 있음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7750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유형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공통의 성질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특징이 있는 것끼리 묶은 하나의 틀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또는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그 틀에 속하는 것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1592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SECTION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동일한 성질을 가지는 사물 또는 개념을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어떤 기준에 의해 나누어 구분 하는 것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분류보다는 단순한 구별이며 인스턴스 값이 적고 명료함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7750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ALTERNATIVE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둘로 구분되는 속성을 가지는 사물 또는 개념을 구분하는 값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1592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좌표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LATITUDE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적도에서 남북으로 잰 각거리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적도를 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0°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하여 남북 각 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90°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이르며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북으로 잰 것이 북위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남으로 잰 것이 남위임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7750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LONGITUDE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LO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그리니치 자오선의 자오면과 다른 자오선의 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자오면이 이루는 각도로 나타냄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39112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날짜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YEAR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년월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YEAR AND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MONTH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월일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MONTHS AND DAYS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월일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MONTH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달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년월일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DATE AND TIME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년월일시분초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QUARTER OF A YEAR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 해를 석 달씩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넷으로 나눈 기간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39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HALF TERM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 해를 여섯 달씩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둘로 나눈 기간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934277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3.7.2.3 </a:t>
            </a:r>
            <a:r>
              <a:rPr lang="ko-KR" altLang="en-US" sz="1800" spc="-150"/>
              <a:t>표준 도메인 </a:t>
            </a:r>
            <a:r>
              <a:rPr lang="en-US" altLang="ko-KR" sz="1800" spc="-150"/>
              <a:t>&gt; </a:t>
            </a:r>
            <a:r>
              <a:rPr lang="ko-KR" altLang="en-US" sz="1800" spc="-150"/>
              <a:t>정의된 구분자</a:t>
            </a:r>
            <a:r>
              <a:rPr lang="en-US" altLang="ko-KR" sz="1800" spc="-150" smtClean="0"/>
              <a:t>(2/3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7"/>
          <p:cNvGrpSpPr/>
          <p:nvPr/>
        </p:nvGrpSpPr>
        <p:grpSpPr>
          <a:xfrm>
            <a:off x="330424" y="826388"/>
            <a:ext cx="9231089" cy="5552187"/>
            <a:chOff x="200025" y="1592840"/>
            <a:chExt cx="4680967" cy="5552187"/>
          </a:xfrm>
        </p:grpSpPr>
        <p:sp>
          <p:nvSpPr>
            <p:cNvPr id="19" name="직사각형 18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정의된 구분자 중분류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(2/3)</a:t>
              </a:r>
            </a:p>
          </p:txBody>
        </p:sp>
        <p:sp>
          <p:nvSpPr>
            <p:cNvPr id="20" name="직사각형 19"/>
            <p:cNvSpPr/>
            <p:nvPr/>
          </p:nvSpPr>
          <p:spPr bwMode="auto">
            <a:xfrm>
              <a:off x="200025" y="1916831"/>
              <a:ext cx="4680967" cy="522819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1" name="표 20"/>
          <p:cNvGraphicFramePr>
            <a:graphicFrameLocks noGrp="1"/>
          </p:cNvGraphicFramePr>
          <p:nvPr>
            <p:extLst/>
          </p:nvPr>
        </p:nvGraphicFramePr>
        <p:xfrm>
          <a:off x="5016201" y="1232756"/>
          <a:ext cx="4473873" cy="50399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915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4813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5794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39029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04961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2888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영문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약어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8919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DISPERSION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수학에서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평균을 중심으로 변량들이 흩어져 있는 정도를 알기 위하여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편차의 제곱의 합을 전체 도수로 나눈 값을 이르는 말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INDEX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IX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수의 상용로그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(log)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값의 정수 부분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0620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최빈수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수학에서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대표값의 한 가지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빈도수가 가장 많이 나타나는 변량의 수치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SUMMATION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계산해서 얻은 값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COUNT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셀 수 있는 사물의 많고 적음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QUANTITY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한자어 명사 뒤에 붙어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)‘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분량’이나 ‘수량’을 뜻함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53487">
                <a:tc rowSpan="1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비율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가속도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ACCELERATION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 시간 내에서 속도가 변화하는 비율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밀도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DENSITY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 단위의 체적 내에서의 일정한 물질의 질량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빈도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FREQUENCY 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FQ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일이 되풀이되어 일어나는 정도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습도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HUMIDITY 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공기 중에 수증기가 포함되어 있는 정도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강도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INTENSITY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강한 정도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크기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MAGNITUDE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MG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부피나 넓이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·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양 따위의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큰 정도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모멘트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MOMENT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물체를 회전시키는 힘의 크기를 나타내는 양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30620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퍼센트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PERCENT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분의 몇에 해당하는가를 나타내는 말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100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분의 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퍼센트임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30620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제곱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POWER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PW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길이의 단위 밑에 붙어서 그 길이를 한 변으로 하는 정사각형의 넓이를 나타내는 말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자승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30620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저항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RESISTANCE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힘의 작용에 대하여 그 방향과 반대 방향으로 작용하는 힘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30620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축척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SCALE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지도나 설계도 따위를 실물보다 축소하여 그릴 때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 축소한 비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속도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VELOCITY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움직이는 물체가 단위 시간에 이동한 거리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토크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TORQUE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TQ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회전축에 작용하는 중심축 주위의 짝 힘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534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점성도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VISCOSITY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유체 점성의 크기를 나타내는 물질 고유의 상수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45891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율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둘 이상의 수를 비교하여 나타낼 때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그 중 한 개의 수를 기준으로 하여 나타낸 다른 수의 비교 값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비율의 약어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534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TEMPERATURE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TP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덥고 찬 정도</a:t>
                      </a:r>
                      <a:r>
                        <a:rPr lang="en-US" altLang="ko-KR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spc="-150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그 도수</a:t>
                      </a:r>
                      <a:endParaRPr lang="ko-KR" altLang="en-US" sz="9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</a:tbl>
          </a:graphicData>
        </a:graphic>
      </p:graphicFrame>
      <p:graphicFrame>
        <p:nvGraphicFramePr>
          <p:cNvPr id="22" name="표 21"/>
          <p:cNvGraphicFramePr>
            <a:graphicFrameLocks noGrp="1"/>
          </p:cNvGraphicFramePr>
          <p:nvPr>
            <p:extLst/>
          </p:nvPr>
        </p:nvGraphicFramePr>
        <p:xfrm>
          <a:off x="365896" y="1232756"/>
          <a:ext cx="4545311" cy="50399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300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4086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30909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61969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16038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2866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중분류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영문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약어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3026"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날짜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YEAR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YY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312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년월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YEAR AND MONTH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YM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월일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MONTHS AND DAYS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월일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MONTH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달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DATE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년월일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DATE AND TIME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년월일시분초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QUARTER OF A YEAR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QU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 해를 석 달씩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넷으로 나눈 기간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반기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HALF TERM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 해를 여섯 달씩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둘로 나눈 기간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85334"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차원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표고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ALTITUDE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AL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바다의 수준면에서 지표의 어느 지점에 이르는 수직 거리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해발 고도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깊이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DEPTH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DP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겉에서 속까지의 길이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8533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DIAMETER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원이나 구 따위의 중심을 지나 그 둘레 위의 두 점을 직선으로 이은 선분의 길이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8533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해발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ELEVATION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EV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바다의 평균 수면을 기준으로 하여 잰 어느 지점의 높이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높이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HEIGHT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HG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높은 정도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5274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길이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LENGTH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어떤 물건의 한 끝에서 다른 한 끝까지의 거리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8533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반지름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RADIUS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RA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원이나 구의 중심에서 그 원주나 구면에 이르는 선분의 길이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8533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꼭짓점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VERTEX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VX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각을 이룬 두 직선이 만나는 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또는 다면체의 세 개 이상의 면이 만나는 점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lang="ko-KR" altLang="en-US" sz="900" u="none" strike="noStrike" kern="1200" spc="-15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5274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연장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EXTENSION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ET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여러 선의 길이를 연결했을 때의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그 전체의 길이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너비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BREADTH 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BT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도로 따위의 너비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위치</a:t>
                      </a:r>
                      <a:endParaRPr lang="ko-KR" altLang="en-US" sz="900" b="1" i="0" u="none" strike="noStrike" dirty="0">
                        <a:solidFill>
                          <a:srgbClr val="0000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LOCATION</a:t>
                      </a:r>
                      <a:endParaRPr 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LC</a:t>
                      </a:r>
                      <a:endParaRPr lang="en-US" sz="900" b="0" i="0" u="none" strike="noStrike" dirty="0">
                        <a:solidFill>
                          <a:srgbClr val="0000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공간상에 존재하는 객체의 위치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8533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식별자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ID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특정한 목적의 식별자로 사용되기 위해 설계된 숫자 또는 문자의 나열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순번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SERIAL NUMBER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발생 순서대로 부여된 일련번호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5274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NUMBER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NO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차례를 나타내거나 식별하기 위해 붙이는 숫자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85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질량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질량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MASS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MS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물체가 갖는 물질의 양</a:t>
                      </a:r>
                      <a:r>
                        <a:rPr lang="en-US" altLang="ko-KR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물체의 관성 및 무게의 본질이 되는 것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853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NM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다른 것과 구별 짓기 위하여 사물이나 단체에 붙이는 일컬음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14302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제목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SUBJECT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SJ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kern="1200" spc="-15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글의 내용을 보이거나 대표하는 이름</a:t>
                      </a: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2941541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3.7.2.3 </a:t>
            </a:r>
            <a:r>
              <a:rPr lang="ko-KR" altLang="en-US" sz="1800" spc="-150"/>
              <a:t>표준 도메인 </a:t>
            </a:r>
            <a:r>
              <a:rPr lang="en-US" altLang="ko-KR" sz="1800" spc="-150"/>
              <a:t>&gt; </a:t>
            </a:r>
            <a:r>
              <a:rPr lang="ko-KR" altLang="en-US" sz="1800" spc="-150"/>
              <a:t>정의된 구분자</a:t>
            </a:r>
            <a:r>
              <a:rPr lang="en-US" altLang="ko-KR" sz="1800" spc="-150" smtClean="0"/>
              <a:t>(3/3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3"/>
          <p:cNvGrpSpPr/>
          <p:nvPr/>
        </p:nvGrpSpPr>
        <p:grpSpPr>
          <a:xfrm>
            <a:off x="344488" y="826388"/>
            <a:ext cx="9217025" cy="5552187"/>
            <a:chOff x="200025" y="1592840"/>
            <a:chExt cx="4680967" cy="5552187"/>
          </a:xfrm>
        </p:grpSpPr>
        <p:sp>
          <p:nvSpPr>
            <p:cNvPr id="15" name="직사각형 14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정의된 구분자 중분류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(3/3)</a:t>
              </a:r>
              <a:endPara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" name="직사각형 15"/>
            <p:cNvSpPr/>
            <p:nvPr/>
          </p:nvSpPr>
          <p:spPr bwMode="auto">
            <a:xfrm>
              <a:off x="200025" y="1916831"/>
              <a:ext cx="4680967" cy="522819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7" name="표 16"/>
          <p:cNvGraphicFramePr>
            <a:graphicFrameLocks noGrp="1"/>
          </p:cNvGraphicFramePr>
          <p:nvPr>
            <p:extLst/>
          </p:nvPr>
        </p:nvGraphicFramePr>
        <p:xfrm>
          <a:off x="378954" y="1232756"/>
          <a:ext cx="4538386" cy="33721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43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401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3071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6157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215709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2036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대분류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중분류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영문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약어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정의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585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텍스트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주석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COMMENT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낱말이나 문장의 뜻을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알기 쉽게 풀이함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그 글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585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DESCRIPTION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DC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일의 내용이나 이유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의의 따위를 알기 쉽게 밝혀서 말함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6585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REMARK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RM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내용에 참고가 될 만한 사항을 덧붙여 적은 사항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6585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내용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CONTENTS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CN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사실 또는 사물에 대하여 세부적으로 기술한 사항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6585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PERIOD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PD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어떤 시각에서 다른 시각까지의 동안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그 길이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8338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TIME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TM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시분초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338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시분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HOURS AND MUNUITES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HM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83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체적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VOLUMN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VL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입체가 공간 속에서 차지하는 크기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8338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무게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무게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WEIGHT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WT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물건의 무거운 정도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중량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6585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92" marR="692" marT="692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하중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LOAD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dirty="0">
                          <a:effectLst/>
                          <a:latin typeface="+mn-ea"/>
                          <a:ea typeface="+mn-ea"/>
                        </a:rPr>
                        <a:t>LD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짐의 무게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구조물 따위에 작용하는 외력</a:t>
                      </a:r>
                      <a:r>
                        <a:rPr lang="en-US" altLang="ko-KR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9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구조물 따위가 받고 견딜 수 있는 무게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92" marR="692" marT="692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781111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경영정보시스템의 </a:t>
            </a:r>
            <a:r>
              <a:rPr lang="ko-KR" altLang="en-US" dirty="0"/>
              <a:t>표준 명명 규칙 대상은 데이터베이스 객체</a:t>
            </a:r>
            <a:r>
              <a:rPr lang="en-US" altLang="ko-KR" dirty="0"/>
              <a:t>, </a:t>
            </a:r>
            <a:r>
              <a:rPr lang="ko-KR" altLang="en-US" dirty="0"/>
              <a:t>논리모델</a:t>
            </a:r>
            <a:r>
              <a:rPr lang="en-US" altLang="ko-KR" dirty="0"/>
              <a:t>, </a:t>
            </a:r>
            <a:r>
              <a:rPr lang="ko-KR" altLang="en-US" dirty="0"/>
              <a:t>물리모델별로 각각의 요소에 대하여 명명규칙을 수립함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3.7.2.4 </a:t>
            </a:r>
            <a:r>
              <a:rPr lang="ko-KR" altLang="en-US" sz="1800" spc="-150" smtClean="0"/>
              <a:t>표준 </a:t>
            </a:r>
            <a:r>
              <a:rPr lang="ko-KR" altLang="en-US" sz="1800" spc="-150" dirty="0"/>
              <a:t>명명 규칙 </a:t>
            </a:r>
            <a:r>
              <a:rPr lang="en-US" altLang="ko-KR" sz="1800" spc="-150" dirty="0"/>
              <a:t>&gt; </a:t>
            </a:r>
            <a:r>
              <a:rPr lang="ko-KR" altLang="en-US" sz="1800" spc="-150" dirty="0"/>
              <a:t>표준 명명 규칙 대상 정의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8238"/>
            <a:ext cx="9217025" cy="4793964"/>
            <a:chOff x="201528" y="1598238"/>
            <a:chExt cx="9502497" cy="4793964"/>
          </a:xfrm>
        </p:grpSpPr>
        <p:grpSp>
          <p:nvGrpSpPr>
            <p:cNvPr id="6" name="그룹 17"/>
            <p:cNvGrpSpPr/>
            <p:nvPr/>
          </p:nvGrpSpPr>
          <p:grpSpPr>
            <a:xfrm>
              <a:off x="6028045" y="3289338"/>
              <a:ext cx="3675980" cy="3102864"/>
              <a:chOff x="200025" y="1592840"/>
              <a:chExt cx="4680967" cy="3102864"/>
            </a:xfrm>
          </p:grpSpPr>
          <p:sp>
            <p:nvSpPr>
              <p:cNvPr id="19" name="직사각형 18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명명 규칙 수립 절차</a:t>
                </a:r>
              </a:p>
            </p:txBody>
          </p:sp>
          <p:sp>
            <p:nvSpPr>
              <p:cNvPr id="20" name="직사각형 19"/>
              <p:cNvSpPr/>
              <p:nvPr/>
            </p:nvSpPr>
            <p:spPr bwMode="auto">
              <a:xfrm>
                <a:off x="200025" y="1916832"/>
                <a:ext cx="4680967" cy="277887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20"/>
            <p:cNvGrpSpPr/>
            <p:nvPr/>
          </p:nvGrpSpPr>
          <p:grpSpPr>
            <a:xfrm>
              <a:off x="6028045" y="1598238"/>
              <a:ext cx="3675980" cy="1582028"/>
              <a:chOff x="200025" y="1592840"/>
              <a:chExt cx="4680967" cy="1582028"/>
            </a:xfrm>
          </p:grpSpPr>
          <p:sp>
            <p:nvSpPr>
              <p:cNvPr id="22" name="직사각형 21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구성 방안</a:t>
                </a:r>
              </a:p>
            </p:txBody>
          </p:sp>
          <p:sp>
            <p:nvSpPr>
              <p:cNvPr id="23" name="직사각형 22"/>
              <p:cNvSpPr/>
              <p:nvPr/>
            </p:nvSpPr>
            <p:spPr bwMode="auto">
              <a:xfrm>
                <a:off x="200025" y="1916832"/>
                <a:ext cx="4680967" cy="12580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「행정정보데이터베이스 표준화 지침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(2008.11.25)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」의 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“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제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32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조 데이터 요소 등의 명명을 위한 일반 규칙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”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을 준수하며</a:t>
                </a:r>
                <a:r>
                  <a:rPr lang="en-US" altLang="ko-KR" sz="90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ko-KR" altLang="en-US" sz="900" smtClean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경영정보시스템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정보시스템의 예외적인 경우에 대해서는 일반규칙을 수립하여 사용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 객체는 </a:t>
                </a:r>
                <a:r>
                  <a:rPr lang="en-US" altLang="ko-KR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Oracle </a:t>
                </a: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데이터베이스의 객체를 대상으로 함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각각의 명명 규칙 대상에 대한 명명 규칙을 간결하고 일관된 방법으로 작성할 수 있도록 생성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9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명명규칙에 사용되는 용어는 표준 자료사전의 용어를 사용</a:t>
                </a:r>
                <a:endPara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8" name="그룹 23"/>
            <p:cNvGrpSpPr/>
            <p:nvPr/>
          </p:nvGrpSpPr>
          <p:grpSpPr>
            <a:xfrm>
              <a:off x="201528" y="1598238"/>
              <a:ext cx="5471409" cy="4780338"/>
              <a:chOff x="200025" y="1592840"/>
              <a:chExt cx="4680967" cy="4780338"/>
            </a:xfrm>
          </p:grpSpPr>
          <p:sp>
            <p:nvSpPr>
              <p:cNvPr id="25" name="직사각형 24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요소의 표준 명명 규칙 대상 정의</a:t>
                </a:r>
              </a:p>
            </p:txBody>
          </p:sp>
          <p:sp>
            <p:nvSpPr>
              <p:cNvPr id="26" name="직사각형 25"/>
              <p:cNvSpPr/>
              <p:nvPr/>
            </p:nvSpPr>
            <p:spPr bwMode="auto">
              <a:xfrm>
                <a:off x="200025" y="1916832"/>
                <a:ext cx="4680967" cy="445634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27" name="AutoShape 27"/>
            <p:cNvSpPr>
              <a:spLocks noChangeArrowheads="1"/>
            </p:cNvSpPr>
            <p:nvPr/>
          </p:nvSpPr>
          <p:spPr bwMode="auto">
            <a:xfrm>
              <a:off x="4003385" y="2074868"/>
              <a:ext cx="1561726" cy="39933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물리 모델</a:t>
              </a:r>
            </a:p>
          </p:txBody>
        </p:sp>
        <p:sp>
          <p:nvSpPr>
            <p:cNvPr id="28" name="AutoShape 27"/>
            <p:cNvSpPr>
              <a:spLocks noChangeArrowheads="1"/>
            </p:cNvSpPr>
            <p:nvPr/>
          </p:nvSpPr>
          <p:spPr bwMode="auto">
            <a:xfrm>
              <a:off x="323637" y="2074932"/>
              <a:ext cx="1561726" cy="39933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데이터베이스 객체</a:t>
              </a:r>
            </a:p>
          </p:txBody>
        </p:sp>
        <p:sp>
          <p:nvSpPr>
            <p:cNvPr id="29" name="AutoShape 27"/>
            <p:cNvSpPr>
              <a:spLocks noChangeArrowheads="1"/>
            </p:cNvSpPr>
            <p:nvPr/>
          </p:nvSpPr>
          <p:spPr bwMode="auto">
            <a:xfrm>
              <a:off x="2324708" y="2074868"/>
              <a:ext cx="1561726" cy="39933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논리 모델</a:t>
              </a:r>
            </a:p>
          </p:txBody>
        </p:sp>
        <p:sp>
          <p:nvSpPr>
            <p:cNvPr id="30" name="AutoShape 56"/>
            <p:cNvSpPr>
              <a:spLocks noChangeArrowheads="1"/>
            </p:cNvSpPr>
            <p:nvPr/>
          </p:nvSpPr>
          <p:spPr bwMode="auto">
            <a:xfrm rot="5400000" flipH="1">
              <a:off x="4516051" y="3879419"/>
              <a:ext cx="2711450" cy="154424"/>
            </a:xfrm>
            <a:prstGeom prst="triangle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8100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AutoShape 27"/>
            <p:cNvSpPr>
              <a:spLocks noChangeArrowheads="1"/>
            </p:cNvSpPr>
            <p:nvPr/>
          </p:nvSpPr>
          <p:spPr bwMode="auto">
            <a:xfrm>
              <a:off x="641781" y="2618931"/>
              <a:ext cx="1561726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데이터베이스 명</a:t>
              </a:r>
            </a:p>
          </p:txBody>
        </p:sp>
        <p:sp>
          <p:nvSpPr>
            <p:cNvPr id="32" name="AutoShape 27"/>
            <p:cNvSpPr>
              <a:spLocks noChangeArrowheads="1"/>
            </p:cNvSpPr>
            <p:nvPr/>
          </p:nvSpPr>
          <p:spPr bwMode="auto">
            <a:xfrm>
              <a:off x="641781" y="2976766"/>
              <a:ext cx="1561726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인스턴스명</a:t>
              </a:r>
            </a:p>
          </p:txBody>
        </p:sp>
        <p:sp>
          <p:nvSpPr>
            <p:cNvPr id="33" name="AutoShape 27"/>
            <p:cNvSpPr>
              <a:spLocks noChangeArrowheads="1"/>
            </p:cNvSpPr>
            <p:nvPr/>
          </p:nvSpPr>
          <p:spPr bwMode="auto">
            <a:xfrm>
              <a:off x="641781" y="3324797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테이블스페이스명</a:t>
              </a:r>
            </a:p>
          </p:txBody>
        </p:sp>
        <p:sp>
          <p:nvSpPr>
            <p:cNvPr id="34" name="AutoShape 27"/>
            <p:cNvSpPr>
              <a:spLocks noChangeArrowheads="1"/>
            </p:cNvSpPr>
            <p:nvPr/>
          </p:nvSpPr>
          <p:spPr bwMode="auto">
            <a:xfrm>
              <a:off x="641781" y="3672829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datafile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sp>
          <p:nvSpPr>
            <p:cNvPr id="35" name="AutoShape 27"/>
            <p:cNvSpPr>
              <a:spLocks noChangeArrowheads="1"/>
            </p:cNvSpPr>
            <p:nvPr/>
          </p:nvSpPr>
          <p:spPr bwMode="auto">
            <a:xfrm>
              <a:off x="641781" y="4021565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User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sp>
          <p:nvSpPr>
            <p:cNvPr id="38" name="AutoShape 27"/>
            <p:cNvSpPr>
              <a:spLocks noChangeArrowheads="1"/>
            </p:cNvSpPr>
            <p:nvPr/>
          </p:nvSpPr>
          <p:spPr bwMode="auto">
            <a:xfrm>
              <a:off x="2377185" y="4045917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인덱스용</a:t>
              </a:r>
            </a:p>
          </p:txBody>
        </p:sp>
        <p:sp>
          <p:nvSpPr>
            <p:cNvPr id="39" name="AutoShape 27"/>
            <p:cNvSpPr>
              <a:spLocks noChangeArrowheads="1"/>
            </p:cNvSpPr>
            <p:nvPr/>
          </p:nvSpPr>
          <p:spPr bwMode="auto">
            <a:xfrm>
              <a:off x="2377185" y="4350243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undo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</a:t>
              </a:r>
            </a:p>
          </p:txBody>
        </p:sp>
        <p:sp>
          <p:nvSpPr>
            <p:cNvPr id="43" name="AutoShape 27"/>
            <p:cNvSpPr>
              <a:spLocks noChangeArrowheads="1"/>
            </p:cNvSpPr>
            <p:nvPr/>
          </p:nvSpPr>
          <p:spPr bwMode="auto">
            <a:xfrm>
              <a:off x="2377185" y="4654569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Temporary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용</a:t>
              </a:r>
            </a:p>
          </p:txBody>
        </p:sp>
        <p:sp>
          <p:nvSpPr>
            <p:cNvPr id="44" name="AutoShape 27"/>
            <p:cNvSpPr>
              <a:spLocks noChangeArrowheads="1"/>
            </p:cNvSpPr>
            <p:nvPr/>
          </p:nvSpPr>
          <p:spPr bwMode="auto">
            <a:xfrm>
              <a:off x="2377185" y="4958895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임시백업용</a:t>
              </a:r>
            </a:p>
          </p:txBody>
        </p:sp>
        <p:sp>
          <p:nvSpPr>
            <p:cNvPr id="45" name="AutoShape 27"/>
            <p:cNvSpPr>
              <a:spLocks noChangeArrowheads="1"/>
            </p:cNvSpPr>
            <p:nvPr/>
          </p:nvSpPr>
          <p:spPr bwMode="auto">
            <a:xfrm>
              <a:off x="2294794" y="5355291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데이터용</a:t>
              </a:r>
            </a:p>
          </p:txBody>
        </p:sp>
        <p:sp>
          <p:nvSpPr>
            <p:cNvPr id="46" name="AutoShape 27"/>
            <p:cNvSpPr>
              <a:spLocks noChangeArrowheads="1"/>
            </p:cNvSpPr>
            <p:nvPr/>
          </p:nvSpPr>
          <p:spPr bwMode="auto">
            <a:xfrm>
              <a:off x="2294794" y="5669947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인덱스용</a:t>
              </a:r>
            </a:p>
          </p:txBody>
        </p:sp>
        <p:cxnSp>
          <p:nvCxnSpPr>
            <p:cNvPr id="47" name="꺾인 연결선 46"/>
            <p:cNvCxnSpPr>
              <a:stCxn id="48" idx="2"/>
              <a:endCxn id="31" idx="1"/>
            </p:cNvCxnSpPr>
            <p:nvPr/>
          </p:nvCxnSpPr>
          <p:spPr bwMode="auto">
            <a:xfrm rot="16200000" flipH="1">
              <a:off x="391432" y="2497255"/>
              <a:ext cx="284675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" name="직사각형 47"/>
            <p:cNvSpPr/>
            <p:nvPr/>
          </p:nvSpPr>
          <p:spPr bwMode="auto">
            <a:xfrm>
              <a:off x="317745" y="2326682"/>
              <a:ext cx="216024" cy="136248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>
                <a:spcBef>
                  <a:spcPts val="600"/>
                </a:spcBef>
                <a:buClr>
                  <a:srgbClr val="000000"/>
                </a:buClr>
                <a:buSzPct val="90000"/>
              </a:pPr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49" name="꺾인 연결선 48"/>
            <p:cNvCxnSpPr>
              <a:stCxn id="48" idx="2"/>
              <a:endCxn id="32" idx="1"/>
            </p:cNvCxnSpPr>
            <p:nvPr/>
          </p:nvCxnSpPr>
          <p:spPr bwMode="auto">
            <a:xfrm rot="16200000" flipH="1">
              <a:off x="212514" y="2676173"/>
              <a:ext cx="642510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" name="꺾인 연결선 49"/>
            <p:cNvCxnSpPr>
              <a:stCxn id="48" idx="2"/>
              <a:endCxn id="33" idx="1"/>
            </p:cNvCxnSpPr>
            <p:nvPr/>
          </p:nvCxnSpPr>
          <p:spPr bwMode="auto">
            <a:xfrm rot="16200000" flipH="1">
              <a:off x="38498" y="2850189"/>
              <a:ext cx="990542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1" name="꺾인 연결선 50"/>
            <p:cNvCxnSpPr>
              <a:stCxn id="48" idx="2"/>
              <a:endCxn id="34" idx="1"/>
            </p:cNvCxnSpPr>
            <p:nvPr/>
          </p:nvCxnSpPr>
          <p:spPr bwMode="auto">
            <a:xfrm rot="16200000" flipH="1">
              <a:off x="-135518" y="3024205"/>
              <a:ext cx="1338574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2" name="꺾인 연결선 51"/>
            <p:cNvCxnSpPr>
              <a:stCxn id="48" idx="2"/>
              <a:endCxn id="35" idx="1"/>
            </p:cNvCxnSpPr>
            <p:nvPr/>
          </p:nvCxnSpPr>
          <p:spPr bwMode="auto">
            <a:xfrm rot="16200000" flipH="1">
              <a:off x="-309886" y="3198573"/>
              <a:ext cx="1687310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3" name="AutoShape 27"/>
            <p:cNvSpPr>
              <a:spLocks noChangeArrowheads="1"/>
            </p:cNvSpPr>
            <p:nvPr/>
          </p:nvSpPr>
          <p:spPr bwMode="auto">
            <a:xfrm>
              <a:off x="641781" y="4361305"/>
              <a:ext cx="1561726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Function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sp>
          <p:nvSpPr>
            <p:cNvPr id="54" name="AutoShape 27"/>
            <p:cNvSpPr>
              <a:spLocks noChangeArrowheads="1"/>
            </p:cNvSpPr>
            <p:nvPr/>
          </p:nvSpPr>
          <p:spPr bwMode="auto">
            <a:xfrm>
              <a:off x="641781" y="4719140"/>
              <a:ext cx="1561726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Package, procedure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sp>
          <p:nvSpPr>
            <p:cNvPr id="55" name="AutoShape 27"/>
            <p:cNvSpPr>
              <a:spLocks noChangeArrowheads="1"/>
            </p:cNvSpPr>
            <p:nvPr/>
          </p:nvSpPr>
          <p:spPr bwMode="auto">
            <a:xfrm>
              <a:off x="641781" y="5067171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트리거 명</a:t>
              </a:r>
            </a:p>
          </p:txBody>
        </p:sp>
        <p:sp>
          <p:nvSpPr>
            <p:cNvPr id="56" name="AutoShape 27"/>
            <p:cNvSpPr>
              <a:spLocks noChangeArrowheads="1"/>
            </p:cNvSpPr>
            <p:nvPr/>
          </p:nvSpPr>
          <p:spPr bwMode="auto">
            <a:xfrm>
              <a:off x="641781" y="5415203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Sequence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sp>
          <p:nvSpPr>
            <p:cNvPr id="57" name="AutoShape 27"/>
            <p:cNvSpPr>
              <a:spLocks noChangeArrowheads="1"/>
            </p:cNvSpPr>
            <p:nvPr/>
          </p:nvSpPr>
          <p:spPr bwMode="auto">
            <a:xfrm>
              <a:off x="641781" y="5763939"/>
              <a:ext cx="1561726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Dblink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cxnSp>
          <p:nvCxnSpPr>
            <p:cNvPr id="58" name="꺾인 연결선 57"/>
            <p:cNvCxnSpPr>
              <a:stCxn id="48" idx="2"/>
              <a:endCxn id="53" idx="1"/>
            </p:cNvCxnSpPr>
            <p:nvPr/>
          </p:nvCxnSpPr>
          <p:spPr bwMode="auto">
            <a:xfrm rot="16200000" flipH="1">
              <a:off x="-479755" y="3368442"/>
              <a:ext cx="2027049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9" name="꺾인 연결선 58"/>
            <p:cNvCxnSpPr>
              <a:stCxn id="48" idx="2"/>
              <a:endCxn id="54" idx="1"/>
            </p:cNvCxnSpPr>
            <p:nvPr/>
          </p:nvCxnSpPr>
          <p:spPr bwMode="auto">
            <a:xfrm rot="16200000" flipH="1">
              <a:off x="-658673" y="3547360"/>
              <a:ext cx="2384884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0" name="꺾인 연결선 59"/>
            <p:cNvCxnSpPr>
              <a:stCxn id="48" idx="2"/>
              <a:endCxn id="55" idx="1"/>
            </p:cNvCxnSpPr>
            <p:nvPr/>
          </p:nvCxnSpPr>
          <p:spPr bwMode="auto">
            <a:xfrm rot="16200000" flipH="1">
              <a:off x="-832689" y="3721376"/>
              <a:ext cx="2732916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1" name="꺾인 연결선 60"/>
            <p:cNvCxnSpPr>
              <a:stCxn id="48" idx="2"/>
              <a:endCxn id="56" idx="1"/>
            </p:cNvCxnSpPr>
            <p:nvPr/>
          </p:nvCxnSpPr>
          <p:spPr bwMode="auto">
            <a:xfrm rot="16200000" flipH="1">
              <a:off x="-1006705" y="3895392"/>
              <a:ext cx="3080948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" name="꺾인 연결선 61"/>
            <p:cNvCxnSpPr>
              <a:stCxn id="48" idx="2"/>
              <a:endCxn id="57" idx="1"/>
            </p:cNvCxnSpPr>
            <p:nvPr/>
          </p:nvCxnSpPr>
          <p:spPr bwMode="auto">
            <a:xfrm rot="16200000" flipH="1">
              <a:off x="-1181073" y="4069760"/>
              <a:ext cx="3429684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" name="꺾인 연결선 62"/>
            <p:cNvCxnSpPr>
              <a:stCxn id="33" idx="3"/>
              <a:endCxn id="90" idx="1"/>
            </p:cNvCxnSpPr>
            <p:nvPr/>
          </p:nvCxnSpPr>
          <p:spPr bwMode="auto">
            <a:xfrm>
              <a:off x="2203507" y="3453472"/>
              <a:ext cx="173678" cy="41679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" name="꺾인 연결선 63"/>
            <p:cNvCxnSpPr>
              <a:stCxn id="33" idx="3"/>
              <a:endCxn id="38" idx="1"/>
            </p:cNvCxnSpPr>
            <p:nvPr/>
          </p:nvCxnSpPr>
          <p:spPr bwMode="auto">
            <a:xfrm>
              <a:off x="2203507" y="3453472"/>
              <a:ext cx="173678" cy="72112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" name="꺾인 연결선 64"/>
            <p:cNvCxnSpPr>
              <a:stCxn id="33" idx="3"/>
              <a:endCxn id="39" idx="1"/>
            </p:cNvCxnSpPr>
            <p:nvPr/>
          </p:nvCxnSpPr>
          <p:spPr bwMode="auto">
            <a:xfrm>
              <a:off x="2203507" y="3453472"/>
              <a:ext cx="173678" cy="1025446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6" name="꺾인 연결선 65"/>
            <p:cNvCxnSpPr>
              <a:stCxn id="33" idx="3"/>
              <a:endCxn id="43" idx="1"/>
            </p:cNvCxnSpPr>
            <p:nvPr/>
          </p:nvCxnSpPr>
          <p:spPr bwMode="auto">
            <a:xfrm>
              <a:off x="2203507" y="3453472"/>
              <a:ext cx="173678" cy="1329772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7" name="꺾인 연결선 66"/>
            <p:cNvCxnSpPr>
              <a:stCxn id="33" idx="3"/>
              <a:endCxn id="44" idx="1"/>
            </p:cNvCxnSpPr>
            <p:nvPr/>
          </p:nvCxnSpPr>
          <p:spPr bwMode="auto">
            <a:xfrm>
              <a:off x="2203507" y="3453472"/>
              <a:ext cx="173678" cy="1634098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8" name="꺾인 연결선 67"/>
            <p:cNvCxnSpPr>
              <a:stCxn id="34" idx="3"/>
              <a:endCxn id="45" idx="1"/>
            </p:cNvCxnSpPr>
            <p:nvPr/>
          </p:nvCxnSpPr>
          <p:spPr bwMode="auto">
            <a:xfrm>
              <a:off x="2203507" y="3801504"/>
              <a:ext cx="91287" cy="1682462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꺾인 연결선 68"/>
            <p:cNvCxnSpPr>
              <a:stCxn id="34" idx="3"/>
              <a:endCxn id="46" idx="1"/>
            </p:cNvCxnSpPr>
            <p:nvPr/>
          </p:nvCxnSpPr>
          <p:spPr bwMode="auto">
            <a:xfrm>
              <a:off x="2203507" y="3801504"/>
              <a:ext cx="91287" cy="1997118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0" name="AutoShape 27"/>
            <p:cNvSpPr>
              <a:spLocks noChangeArrowheads="1"/>
            </p:cNvSpPr>
            <p:nvPr/>
          </p:nvSpPr>
          <p:spPr bwMode="auto">
            <a:xfrm>
              <a:off x="2653235" y="2618931"/>
              <a:ext cx="1233199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주제영역 명</a:t>
              </a:r>
            </a:p>
          </p:txBody>
        </p:sp>
        <p:sp>
          <p:nvSpPr>
            <p:cNvPr id="71" name="AutoShape 27"/>
            <p:cNvSpPr>
              <a:spLocks noChangeArrowheads="1"/>
            </p:cNvSpPr>
            <p:nvPr/>
          </p:nvSpPr>
          <p:spPr bwMode="auto">
            <a:xfrm>
              <a:off x="2653235" y="2976766"/>
              <a:ext cx="1233199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 명</a:t>
              </a:r>
            </a:p>
          </p:txBody>
        </p:sp>
        <p:sp>
          <p:nvSpPr>
            <p:cNvPr id="72" name="AutoShape 27"/>
            <p:cNvSpPr>
              <a:spLocks noChangeArrowheads="1"/>
            </p:cNvSpPr>
            <p:nvPr/>
          </p:nvSpPr>
          <p:spPr bwMode="auto">
            <a:xfrm>
              <a:off x="2653235" y="3324797"/>
              <a:ext cx="1233199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속성명</a:t>
              </a:r>
            </a:p>
          </p:txBody>
        </p:sp>
        <p:cxnSp>
          <p:nvCxnSpPr>
            <p:cNvPr id="73" name="꺾인 연결선 72"/>
            <p:cNvCxnSpPr>
              <a:stCxn id="74" idx="2"/>
              <a:endCxn id="70" idx="1"/>
            </p:cNvCxnSpPr>
            <p:nvPr/>
          </p:nvCxnSpPr>
          <p:spPr bwMode="auto">
            <a:xfrm rot="16200000" flipH="1">
              <a:off x="2402886" y="2497255"/>
              <a:ext cx="284675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" name="직사각형 73"/>
            <p:cNvSpPr/>
            <p:nvPr/>
          </p:nvSpPr>
          <p:spPr bwMode="auto">
            <a:xfrm>
              <a:off x="2329199" y="2326682"/>
              <a:ext cx="216024" cy="136248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>
                <a:spcBef>
                  <a:spcPts val="600"/>
                </a:spcBef>
                <a:buClr>
                  <a:srgbClr val="000000"/>
                </a:buClr>
                <a:buSzPct val="90000"/>
              </a:pPr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75" name="꺾인 연결선 74"/>
            <p:cNvCxnSpPr>
              <a:stCxn id="74" idx="2"/>
              <a:endCxn id="71" idx="1"/>
            </p:cNvCxnSpPr>
            <p:nvPr/>
          </p:nvCxnSpPr>
          <p:spPr bwMode="auto">
            <a:xfrm rot="16200000" flipH="1">
              <a:off x="2223968" y="2676173"/>
              <a:ext cx="642510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" name="꺾인 연결선 75"/>
            <p:cNvCxnSpPr>
              <a:stCxn id="74" idx="2"/>
              <a:endCxn id="72" idx="1"/>
            </p:cNvCxnSpPr>
            <p:nvPr/>
          </p:nvCxnSpPr>
          <p:spPr bwMode="auto">
            <a:xfrm rot="16200000" flipH="1">
              <a:off x="2049952" y="2850189"/>
              <a:ext cx="990542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" name="AutoShape 27"/>
            <p:cNvSpPr>
              <a:spLocks noChangeArrowheads="1"/>
            </p:cNvSpPr>
            <p:nvPr/>
          </p:nvSpPr>
          <p:spPr bwMode="auto">
            <a:xfrm>
              <a:off x="4331912" y="2618931"/>
              <a:ext cx="1233199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테이블 명</a:t>
              </a:r>
            </a:p>
          </p:txBody>
        </p:sp>
        <p:sp>
          <p:nvSpPr>
            <p:cNvPr id="78" name="AutoShape 27"/>
            <p:cNvSpPr>
              <a:spLocks noChangeArrowheads="1"/>
            </p:cNvSpPr>
            <p:nvPr/>
          </p:nvSpPr>
          <p:spPr bwMode="auto">
            <a:xfrm>
              <a:off x="4331912" y="2976766"/>
              <a:ext cx="1233199" cy="25734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속성 명</a:t>
              </a:r>
            </a:p>
          </p:txBody>
        </p:sp>
        <p:sp>
          <p:nvSpPr>
            <p:cNvPr id="79" name="AutoShape 27"/>
            <p:cNvSpPr>
              <a:spLocks noChangeArrowheads="1"/>
            </p:cNvSpPr>
            <p:nvPr/>
          </p:nvSpPr>
          <p:spPr bwMode="auto">
            <a:xfrm>
              <a:off x="4331912" y="3324797"/>
              <a:ext cx="1233199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인덱스 명</a:t>
              </a:r>
            </a:p>
          </p:txBody>
        </p:sp>
        <p:cxnSp>
          <p:nvCxnSpPr>
            <p:cNvPr id="80" name="꺾인 연결선 79"/>
            <p:cNvCxnSpPr>
              <a:stCxn id="81" idx="2"/>
              <a:endCxn id="77" idx="1"/>
            </p:cNvCxnSpPr>
            <p:nvPr/>
          </p:nvCxnSpPr>
          <p:spPr bwMode="auto">
            <a:xfrm rot="16200000" flipH="1">
              <a:off x="4081563" y="2497255"/>
              <a:ext cx="284675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" name="직사각형 80"/>
            <p:cNvSpPr/>
            <p:nvPr/>
          </p:nvSpPr>
          <p:spPr bwMode="auto">
            <a:xfrm>
              <a:off x="4007876" y="2326682"/>
              <a:ext cx="216024" cy="136248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>
                <a:spcBef>
                  <a:spcPts val="600"/>
                </a:spcBef>
                <a:buClr>
                  <a:srgbClr val="000000"/>
                </a:buClr>
                <a:buSzPct val="90000"/>
              </a:pPr>
              <a:endParaRPr lang="ko-KR" altLang="en-US" sz="14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82" name="꺾인 연결선 81"/>
            <p:cNvCxnSpPr>
              <a:stCxn id="81" idx="2"/>
              <a:endCxn id="78" idx="1"/>
            </p:cNvCxnSpPr>
            <p:nvPr/>
          </p:nvCxnSpPr>
          <p:spPr bwMode="auto">
            <a:xfrm rot="16200000" flipH="1">
              <a:off x="3902645" y="2676173"/>
              <a:ext cx="642510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" name="꺾인 연결선 82"/>
            <p:cNvCxnSpPr>
              <a:stCxn id="81" idx="2"/>
              <a:endCxn id="79" idx="1"/>
            </p:cNvCxnSpPr>
            <p:nvPr/>
          </p:nvCxnSpPr>
          <p:spPr bwMode="auto">
            <a:xfrm rot="16200000" flipH="1">
              <a:off x="3728629" y="2850189"/>
              <a:ext cx="990542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4" name="AutoShape 27"/>
            <p:cNvSpPr>
              <a:spLocks noChangeArrowheads="1"/>
            </p:cNvSpPr>
            <p:nvPr/>
          </p:nvSpPr>
          <p:spPr bwMode="auto">
            <a:xfrm>
              <a:off x="4331912" y="3694516"/>
              <a:ext cx="1233199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뷰 명</a:t>
              </a:r>
            </a:p>
          </p:txBody>
        </p:sp>
        <p:sp>
          <p:nvSpPr>
            <p:cNvPr id="85" name="AutoShape 27"/>
            <p:cNvSpPr>
              <a:spLocks noChangeArrowheads="1"/>
            </p:cNvSpPr>
            <p:nvPr/>
          </p:nvSpPr>
          <p:spPr bwMode="auto">
            <a:xfrm>
              <a:off x="4331912" y="4062783"/>
              <a:ext cx="1233199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lnSpc>
                  <a:spcPts val="900"/>
                </a:lnSpc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Constraint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(PK, FK)</a:t>
              </a:r>
              <a:endParaRPr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AutoShape 27"/>
            <p:cNvSpPr>
              <a:spLocks noChangeArrowheads="1"/>
            </p:cNvSpPr>
            <p:nvPr/>
          </p:nvSpPr>
          <p:spPr bwMode="auto">
            <a:xfrm>
              <a:off x="4331912" y="4437158"/>
              <a:ext cx="1233199" cy="25734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lnSpc>
                  <a:spcPts val="900"/>
                </a:lnSpc>
                <a:defRPr/>
              </a:pP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Synonym </a:t>
              </a: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</a:t>
              </a:r>
            </a:p>
          </p:txBody>
        </p:sp>
        <p:cxnSp>
          <p:nvCxnSpPr>
            <p:cNvPr id="87" name="꺾인 연결선 86"/>
            <p:cNvCxnSpPr>
              <a:stCxn id="81" idx="2"/>
              <a:endCxn id="84" idx="1"/>
            </p:cNvCxnSpPr>
            <p:nvPr/>
          </p:nvCxnSpPr>
          <p:spPr bwMode="auto">
            <a:xfrm rot="16200000" flipH="1">
              <a:off x="3543770" y="3035048"/>
              <a:ext cx="1360261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8" name="꺾인 연결선 87"/>
            <p:cNvCxnSpPr>
              <a:stCxn id="81" idx="2"/>
              <a:endCxn id="85" idx="1"/>
            </p:cNvCxnSpPr>
            <p:nvPr/>
          </p:nvCxnSpPr>
          <p:spPr bwMode="auto">
            <a:xfrm rot="16200000" flipH="1">
              <a:off x="3359636" y="3219182"/>
              <a:ext cx="1728528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9" name="꺾인 연결선 88"/>
            <p:cNvCxnSpPr>
              <a:stCxn id="81" idx="2"/>
              <a:endCxn id="86" idx="1"/>
            </p:cNvCxnSpPr>
            <p:nvPr/>
          </p:nvCxnSpPr>
          <p:spPr bwMode="auto">
            <a:xfrm rot="16200000" flipH="1">
              <a:off x="3172449" y="3406369"/>
              <a:ext cx="2102903" cy="216024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0" name="AutoShape 27"/>
            <p:cNvSpPr>
              <a:spLocks noChangeArrowheads="1"/>
            </p:cNvSpPr>
            <p:nvPr/>
          </p:nvSpPr>
          <p:spPr bwMode="auto">
            <a:xfrm>
              <a:off x="2377185" y="3741591"/>
              <a:ext cx="964896" cy="257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  <a:prstDash val="sysDash"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데이터용</a:t>
              </a:r>
            </a:p>
          </p:txBody>
        </p:sp>
        <p:sp>
          <p:nvSpPr>
            <p:cNvPr id="91" name="AutoShape 27"/>
            <p:cNvSpPr>
              <a:spLocks noChangeArrowheads="1"/>
            </p:cNvSpPr>
            <p:nvPr/>
          </p:nvSpPr>
          <p:spPr bwMode="auto">
            <a:xfrm>
              <a:off x="6151981" y="5517264"/>
              <a:ext cx="3382764" cy="288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명명 규칙 문서화</a:t>
              </a:r>
            </a:p>
          </p:txBody>
        </p:sp>
        <p:sp>
          <p:nvSpPr>
            <p:cNvPr id="92" name="AutoShape 27"/>
            <p:cNvSpPr>
              <a:spLocks noChangeArrowheads="1"/>
            </p:cNvSpPr>
            <p:nvPr/>
          </p:nvSpPr>
          <p:spPr bwMode="auto">
            <a:xfrm>
              <a:off x="6151981" y="4250593"/>
              <a:ext cx="3382764" cy="288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현행 명명 규칙 문서 참조</a:t>
              </a:r>
            </a:p>
          </p:txBody>
        </p:sp>
        <p:sp>
          <p:nvSpPr>
            <p:cNvPr id="93" name="AutoShape 27"/>
            <p:cNvSpPr>
              <a:spLocks noChangeArrowheads="1"/>
            </p:cNvSpPr>
            <p:nvPr/>
          </p:nvSpPr>
          <p:spPr bwMode="auto">
            <a:xfrm>
              <a:off x="6151981" y="4672816"/>
              <a:ext cx="3382764" cy="288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요소 별 명명 규칙 작성</a:t>
              </a:r>
            </a:p>
          </p:txBody>
        </p:sp>
        <p:sp>
          <p:nvSpPr>
            <p:cNvPr id="94" name="AutoShape 27"/>
            <p:cNvSpPr>
              <a:spLocks noChangeArrowheads="1"/>
            </p:cNvSpPr>
            <p:nvPr/>
          </p:nvSpPr>
          <p:spPr bwMode="auto">
            <a:xfrm>
              <a:off x="6151981" y="5095039"/>
              <a:ext cx="3382764" cy="28800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타당성 검토</a:t>
              </a:r>
            </a:p>
          </p:txBody>
        </p:sp>
        <p:cxnSp>
          <p:nvCxnSpPr>
            <p:cNvPr id="95" name="직선 연결선 94"/>
            <p:cNvCxnSpPr>
              <a:stCxn id="92" idx="2"/>
              <a:endCxn id="93" idx="0"/>
            </p:cNvCxnSpPr>
            <p:nvPr/>
          </p:nvCxnSpPr>
          <p:spPr bwMode="auto">
            <a:xfrm>
              <a:off x="7843363" y="4538593"/>
              <a:ext cx="0" cy="134223"/>
            </a:xfrm>
            <a:prstGeom prst="line">
              <a:avLst/>
            </a:prstGeom>
            <a:solidFill>
              <a:srgbClr val="FBB779"/>
            </a:solidFill>
            <a:ln w="2857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96" name="직선 연결선 95"/>
            <p:cNvCxnSpPr>
              <a:stCxn id="93" idx="2"/>
              <a:endCxn id="94" idx="0"/>
            </p:cNvCxnSpPr>
            <p:nvPr/>
          </p:nvCxnSpPr>
          <p:spPr bwMode="auto">
            <a:xfrm>
              <a:off x="7843363" y="4960816"/>
              <a:ext cx="0" cy="134223"/>
            </a:xfrm>
            <a:prstGeom prst="line">
              <a:avLst/>
            </a:prstGeom>
            <a:solidFill>
              <a:srgbClr val="FBB779"/>
            </a:solidFill>
            <a:ln w="2857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97" name="직선 연결선 96"/>
            <p:cNvCxnSpPr>
              <a:stCxn id="94" idx="2"/>
              <a:endCxn id="91" idx="0"/>
            </p:cNvCxnSpPr>
            <p:nvPr/>
          </p:nvCxnSpPr>
          <p:spPr bwMode="auto">
            <a:xfrm>
              <a:off x="7843363" y="5383039"/>
              <a:ext cx="0" cy="134225"/>
            </a:xfrm>
            <a:prstGeom prst="line">
              <a:avLst/>
            </a:prstGeom>
            <a:solidFill>
              <a:srgbClr val="FBB779"/>
            </a:solidFill>
            <a:ln w="2857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sp>
          <p:nvSpPr>
            <p:cNvPr id="98" name="원통 97"/>
            <p:cNvSpPr/>
            <p:nvPr/>
          </p:nvSpPr>
          <p:spPr>
            <a:xfrm>
              <a:off x="6933220" y="5914418"/>
              <a:ext cx="1816940" cy="401595"/>
            </a:xfrm>
            <a:prstGeom prst="can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0800000" scaled="1"/>
              <a:tileRect/>
            </a:gra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10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메타데이터</a:t>
              </a:r>
              <a:r>
                <a:rPr lang="en-US" altLang="ko-KR" sz="10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리파지토리 저장</a:t>
              </a:r>
            </a:p>
          </p:txBody>
        </p:sp>
        <p:cxnSp>
          <p:nvCxnSpPr>
            <p:cNvPr id="99" name="직선 연결선 98"/>
            <p:cNvCxnSpPr>
              <a:stCxn id="91" idx="2"/>
              <a:endCxn id="98" idx="1"/>
            </p:cNvCxnSpPr>
            <p:nvPr/>
          </p:nvCxnSpPr>
          <p:spPr bwMode="auto">
            <a:xfrm flipH="1">
              <a:off x="7841690" y="5805264"/>
              <a:ext cx="1673" cy="109154"/>
            </a:xfrm>
            <a:prstGeom prst="line">
              <a:avLst/>
            </a:prstGeom>
            <a:solidFill>
              <a:srgbClr val="FBB779"/>
            </a:solidFill>
            <a:ln w="2857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sp>
          <p:nvSpPr>
            <p:cNvPr id="100" name="AutoShape 27"/>
            <p:cNvSpPr>
              <a:spLocks noChangeArrowheads="1"/>
            </p:cNvSpPr>
            <p:nvPr/>
          </p:nvSpPr>
          <p:spPr bwMode="auto">
            <a:xfrm>
              <a:off x="6151981" y="3717032"/>
              <a:ext cx="3382764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행정정보데이터베이스 표준화지침의 </a:t>
              </a:r>
              <a: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 참조</a:t>
              </a:r>
            </a:p>
          </p:txBody>
        </p:sp>
        <p:cxnSp>
          <p:nvCxnSpPr>
            <p:cNvPr id="101" name="직선 연결선 100"/>
            <p:cNvCxnSpPr>
              <a:stCxn id="100" idx="2"/>
              <a:endCxn id="92" idx="0"/>
            </p:cNvCxnSpPr>
            <p:nvPr/>
          </p:nvCxnSpPr>
          <p:spPr bwMode="auto">
            <a:xfrm>
              <a:off x="7843363" y="4116370"/>
              <a:ext cx="0" cy="134223"/>
            </a:xfrm>
            <a:prstGeom prst="line">
              <a:avLst/>
            </a:prstGeom>
            <a:solidFill>
              <a:srgbClr val="FBB779"/>
            </a:solidFill>
            <a:ln w="2857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150072793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요소의 이름 지정</a:t>
            </a:r>
            <a:r>
              <a:rPr lang="en-US" altLang="ko-KR" dirty="0"/>
              <a:t>, </a:t>
            </a:r>
            <a:r>
              <a:rPr lang="ko-KR" altLang="en-US" dirty="0"/>
              <a:t>신규 용어의 등록</a:t>
            </a:r>
            <a:r>
              <a:rPr lang="en-US" altLang="ko-KR" dirty="0"/>
              <a:t>, </a:t>
            </a:r>
            <a:r>
              <a:rPr lang="ko-KR" altLang="en-US" dirty="0"/>
              <a:t>데이터 요소의 설명 시에 일반적으로 적용해야 하는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데이터 요소 명명 일반 규칙을 아래와 같이 정의함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 smtClean="0"/>
              <a:t>데이터 </a:t>
            </a:r>
            <a:r>
              <a:rPr lang="ko-KR" altLang="en-US" sz="1800" spc="-150" dirty="0"/>
              <a:t>요소 명명 일반 규칙 </a:t>
            </a:r>
            <a:r>
              <a:rPr lang="en-US" altLang="ko-KR" sz="1800" spc="-150"/>
              <a:t>(</a:t>
            </a:r>
            <a:r>
              <a:rPr lang="en-US" altLang="ko-KR" sz="1800" spc="-150" smtClean="0"/>
              <a:t>1/10)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>
          <a:xfrm>
            <a:off x="6825208" y="0"/>
            <a:ext cx="2690700" cy="782680"/>
          </a:xfrm>
        </p:spPr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6" name="그룹 101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103" name="직사각형 102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요소 명명 일반 규칙</a:t>
                </a:r>
              </a:p>
            </p:txBody>
          </p:sp>
          <p:sp>
            <p:nvSpPr>
              <p:cNvPr id="104" name="직사각형 103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104"/>
            <p:cNvGrpSpPr/>
            <p:nvPr/>
          </p:nvGrpSpPr>
          <p:grpSpPr>
            <a:xfrm>
              <a:off x="288585" y="1967240"/>
              <a:ext cx="9328831" cy="4363200"/>
              <a:chOff x="380492" y="1756233"/>
              <a:chExt cx="9145016" cy="4517084"/>
            </a:xfrm>
          </p:grpSpPr>
          <p:sp>
            <p:nvSpPr>
              <p:cNvPr id="106" name="AutoShape 27"/>
              <p:cNvSpPr>
                <a:spLocks noChangeArrowheads="1"/>
              </p:cNvSpPr>
              <p:nvPr/>
            </p:nvSpPr>
            <p:spPr bwMode="auto">
              <a:xfrm>
                <a:off x="380492" y="1756233"/>
                <a:ext cx="1233199" cy="773707"/>
              </a:xfrm>
              <a:prstGeom prst="rect">
                <a:avLst/>
              </a:prstGeom>
              <a:solidFill>
                <a:schemeClr val="accent3"/>
              </a:solidFill>
              <a:ln>
                <a:solidFill>
                  <a:schemeClr val="bg1">
                    <a:lumMod val="50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 요소 명명 </a:t>
                </a:r>
                <a: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일반 규칙</a:t>
                </a:r>
              </a:p>
            </p:txBody>
          </p:sp>
          <p:sp>
            <p:nvSpPr>
              <p:cNvPr id="107" name="Rectangle 79"/>
              <p:cNvSpPr>
                <a:spLocks noChangeArrowheads="1"/>
              </p:cNvSpPr>
              <p:nvPr/>
            </p:nvSpPr>
            <p:spPr bwMode="auto">
              <a:xfrm>
                <a:off x="1676636" y="1756233"/>
                <a:ext cx="7848872" cy="773707"/>
              </a:xfrm>
              <a:prstGeom prst="rect">
                <a:avLst/>
              </a:prstGeom>
              <a:noFill/>
              <a:ln w="9525" algn="ctr">
                <a:solidFill>
                  <a:srgbClr val="80808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8EB4D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tIns="180000" bIns="180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메타데이터관리시스템에서 제공하는 표준 자료사전에 등재된 표준용어만을 사용하여 작성한다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명명하고자 하는 용어가 표준 자료 사전에서 제공하지 아니하는 경우 데이터표준관리 프로세스에 따라 신규등록 신청을 하여야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데이터요소의 이름이 표준 자료사전의 조합에 상응하는 의미를 가지는 경우 표준용어를 언더스코어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(‘_’)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로 연결하여 사용한다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데이터요소의 이름이 표준 자료사전의 조합에 상응하는 의미 이외 새로운 의미를 가지는 경우 신규 표준 자료사전으로 등록할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이때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작성하는 표준용어는 언더스코어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(‘_’)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연결 없이 사용한다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  <a:endPara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8" name="AutoShape 27"/>
              <p:cNvSpPr>
                <a:spLocks noChangeArrowheads="1"/>
              </p:cNvSpPr>
              <p:nvPr/>
            </p:nvSpPr>
            <p:spPr bwMode="auto">
              <a:xfrm>
                <a:off x="380492" y="2600740"/>
                <a:ext cx="1233199" cy="2655548"/>
              </a:xfrm>
              <a:prstGeom prst="rect">
                <a:avLst/>
              </a:prstGeom>
              <a:solidFill>
                <a:schemeClr val="accent3"/>
              </a:solidFill>
              <a:ln>
                <a:solidFill>
                  <a:schemeClr val="bg1">
                    <a:lumMod val="50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신규 표준 용어 </a:t>
                </a:r>
                <a: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등록 시</a:t>
                </a:r>
                <a: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일반 규칙</a:t>
                </a:r>
              </a:p>
            </p:txBody>
          </p:sp>
          <p:sp>
            <p:nvSpPr>
              <p:cNvPr id="109" name="Rectangle 79"/>
              <p:cNvSpPr>
                <a:spLocks noChangeArrowheads="1"/>
              </p:cNvSpPr>
              <p:nvPr/>
            </p:nvSpPr>
            <p:spPr bwMode="auto">
              <a:xfrm>
                <a:off x="1676636" y="2600740"/>
                <a:ext cx="7848872" cy="2664464"/>
              </a:xfrm>
              <a:prstGeom prst="rect">
                <a:avLst/>
              </a:prstGeom>
              <a:noFill/>
              <a:ln w="9525" algn="ctr">
                <a:solidFill>
                  <a:srgbClr val="80808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8EB4D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tIns="180000" bIns="180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메타데이터관리시스템을 이용하여 사용하고자 하는 용어를 표준용어로 등록신청을 하여야 하고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사용승인을 받은 후 사용할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용어의 개념을 표현하기 위해서 가장 명확하고 함축성 있으며 익숙한 업무용어를 사용해야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용어는 한글사용을 원칙으로 하나 우리말이 국어사전에 없거나 업무상 관용적으로 사용하는 경우에는 영문 또는 영문약어를 사용할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 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용어가 데이터베이스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테이블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컬럼의 이름인 경우 영문을 사용한다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용어에는 아라비아 숫자의 사용이 가능하나 이름의 선두에 올 수 없으며 사용을 최소화해야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용어에는 언더스코어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(_)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이외의 특수문자와 공백은 허용하지 않는다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용어는 전체 주제영역에서 일관되게 사용되어야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용어의 주제영역은 메타데이터관리시스템에서 제공하는 데이터 분류 체계와 매핑된 주제영역을 사용한다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 용어와 동일한 의미를 가지면서 다르게 표현된 이음동의어들 중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타 용어와 자연스러운 결합이 용이하거나 혹은 널리 사용되는 용어를 표준용어로 정하고 그 이외의 용어는 동의어로 정의한다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조직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조직체계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규정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양식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화면 혹은 보고서의 이름은 일반명사 또는 고유명사화 된 경우에 표준 행정표준용어로 신청 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신청하고자 하는 행정표준용어의 영문약어 길이는 최대 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6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자가 넘지 않도록 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단 표준담당부서의 승인이 있는 경우 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6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자를 넘는 영문약어명을 사용할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데이터요소 명명을 위한 정의된 구분자가 별도로 필요한 경우 사업담당자 또는 업무담당자는 데이터 도메인 정의서에 따라 작성하여 표준담당부서에 신청한다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행정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DB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의 구축 또는 개선사업 수행단계에서 작성한 모든 데이터요소의 이름을 관리시스템에 등록한 경우 데이터사전 정의서의 작성은 생략할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  <a:endPara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10" name="AutoShape 27"/>
              <p:cNvSpPr>
                <a:spLocks noChangeArrowheads="1"/>
              </p:cNvSpPr>
              <p:nvPr/>
            </p:nvSpPr>
            <p:spPr bwMode="auto">
              <a:xfrm>
                <a:off x="380492" y="5337211"/>
                <a:ext cx="1233199" cy="936105"/>
              </a:xfrm>
              <a:prstGeom prst="rect">
                <a:avLst/>
              </a:prstGeom>
              <a:solidFill>
                <a:schemeClr val="accent3"/>
              </a:solidFill>
              <a:ln>
                <a:solidFill>
                  <a:schemeClr val="bg1">
                    <a:lumMod val="50000"/>
                  </a:schemeClr>
                </a:solidFill>
                <a:prstDash val="solid"/>
                <a:headEnd/>
                <a:tailEnd/>
              </a:ln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 요소 설명 </a:t>
                </a:r>
                <a: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10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일반 규칙</a:t>
                </a:r>
              </a:p>
            </p:txBody>
          </p:sp>
          <p:sp>
            <p:nvSpPr>
              <p:cNvPr id="111" name="Rectangle 79"/>
              <p:cNvSpPr>
                <a:spLocks noChangeArrowheads="1"/>
              </p:cNvSpPr>
              <p:nvPr/>
            </p:nvSpPr>
            <p:spPr bwMode="auto">
              <a:xfrm>
                <a:off x="1676636" y="5337213"/>
                <a:ext cx="7848872" cy="936104"/>
              </a:xfrm>
              <a:prstGeom prst="rect">
                <a:avLst/>
              </a:prstGeom>
              <a:noFill/>
              <a:ln w="9525" algn="ctr">
                <a:solidFill>
                  <a:srgbClr val="80808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8EB4D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tIns="180000" bIns="180000" anchor="ctr"/>
              <a:lstStyle>
                <a:defPPr>
                  <a:defRPr lang="ko-KR"/>
                </a:defPPr>
                <a:lvl1pPr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1pPr>
                <a:lvl2pPr marL="4572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2pPr>
                <a:lvl3pPr marL="9144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3pPr>
                <a:lvl4pPr marL="13716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4pPr>
                <a:lvl5pPr marL="1828800" algn="ctr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b="1" kern="1200">
                    <a:solidFill>
                      <a:schemeClr val="tx1"/>
                    </a:solidFill>
                    <a:latin typeface="HY중고딕" pitchFamily="18" charset="-127"/>
                    <a:ea typeface="HY중고딕" pitchFamily="18" charset="-127"/>
                    <a:cs typeface="+mn-cs"/>
                  </a:defRPr>
                </a:lvl9pPr>
              </a:lstStyle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한글 사용을 원칙으로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다만 명확한 의미전달을 위하여 영문이 일부 포함될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해당 주제영역에서 다른 설명과 구별될 수 있게 유일하게 작성되어야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데이터 요소의 설명에 표현된 개념은 단수로 표현되어야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 </a:t>
                </a: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다만 개념 자체가 복수인 것은 예외로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서술적 구 또는 서술적 문장으로 표현해야 하며 문법적으로 정확해야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모호함을 피하기 위해서 약어가 아닌 전체 단어를 사용하여 설명하여야 한다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</a:p>
              <a:p>
                <a:pPr marL="171450" indent="-171450" algn="l" latinLnBrk="0">
                  <a:lnSpc>
                    <a:spcPts val="1100"/>
                  </a:lnSpc>
                  <a:spcBef>
                    <a:spcPts val="0"/>
                  </a:spcBef>
                  <a:buFont typeface="Arial" panose="020B0604020202020204" pitchFamily="34" charset="0"/>
                  <a:buChar char="•"/>
                </a:pPr>
                <a:r>
                  <a:rPr lang="ko-KR" altLang="en-US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이해의 편의성을 위하여 예시만으로 데이터 요소의 설명을 작성 할 수 있다</a:t>
                </a:r>
                <a:r>
                  <a:rPr lang="en-US" altLang="ko-KR" sz="900" b="0" dirty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  <a:endParaRPr lang="ko-KR" altLang="en-US" sz="9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6399525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엔티티 명명 일반규칙</a:t>
            </a:r>
            <a:r>
              <a:rPr lang="en-US" altLang="ko-KR" dirty="0"/>
              <a:t>, </a:t>
            </a:r>
            <a:r>
              <a:rPr lang="ko-KR" altLang="en-US" dirty="0"/>
              <a:t>속성 명명 일반규칙</a:t>
            </a:r>
            <a:r>
              <a:rPr lang="en-US" altLang="ko-KR" dirty="0"/>
              <a:t>, </a:t>
            </a:r>
            <a:r>
              <a:rPr lang="ko-KR" altLang="en-US" dirty="0"/>
              <a:t>릴레이션십 명명 일반규칙</a:t>
            </a:r>
            <a:r>
              <a:rPr lang="en-US" altLang="ko-KR" dirty="0"/>
              <a:t>, </a:t>
            </a:r>
            <a:r>
              <a:rPr lang="ko-KR" altLang="en-US" dirty="0"/>
              <a:t>릴레이션십 명명 상세규칙을 아래와 같이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(2/10)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52153" y="1592840"/>
            <a:ext cx="9209360" cy="4785734"/>
            <a:chOff x="201528" y="1592840"/>
            <a:chExt cx="9502496" cy="4785734"/>
          </a:xfrm>
        </p:grpSpPr>
        <p:grpSp>
          <p:nvGrpSpPr>
            <p:cNvPr id="6" name="그룹 20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22" name="직사각형 21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요소 명명 규칙 </a:t>
                </a:r>
                <a:r>
                  <a:rPr lang="en-US" altLang="ko-KR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&gt; </a:t>
                </a: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논리 모델링</a:t>
                </a:r>
              </a:p>
            </p:txBody>
          </p:sp>
          <p:sp>
            <p:nvSpPr>
              <p:cNvPr id="23" name="직사각형 22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24" name="AutoShape 27"/>
            <p:cNvSpPr>
              <a:spLocks noChangeArrowheads="1"/>
            </p:cNvSpPr>
            <p:nvPr/>
          </p:nvSpPr>
          <p:spPr bwMode="auto">
            <a:xfrm>
              <a:off x="380492" y="1998796"/>
              <a:ext cx="1233199" cy="80752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 명명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</a:t>
              </a:r>
            </a:p>
          </p:txBody>
        </p:sp>
        <p:sp>
          <p:nvSpPr>
            <p:cNvPr id="25" name="Rectangle 79"/>
            <p:cNvSpPr>
              <a:spLocks noChangeArrowheads="1"/>
            </p:cNvSpPr>
            <p:nvPr/>
          </p:nvSpPr>
          <p:spPr bwMode="auto">
            <a:xfrm>
              <a:off x="1676636" y="1998796"/>
              <a:ext cx="7848872" cy="81600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요소 명명 일반규칙을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엔티티의 모든 인스턴스에 적합하고 일반적으로 수용되는 업무용어를 사용한다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엔티티의 이름은 포함된 주제영역에서 고유하게 부여한다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엔티티에 속하는 애트리뷰트의 값을 표현하기 위한 영역과 엔티티의 이름이 동일해서는 아니 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다만 값을 표현하기 위한 영역이 엔티티인 경우나 특별한 사유로 사용이 승인된 경우에는 동일한 이름을 사용할 수 있다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6" name="AutoShape 27"/>
            <p:cNvSpPr>
              <a:spLocks noChangeArrowheads="1"/>
            </p:cNvSpPr>
            <p:nvPr/>
          </p:nvSpPr>
          <p:spPr bwMode="auto">
            <a:xfrm>
              <a:off x="380492" y="2948059"/>
              <a:ext cx="1233199" cy="547197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속성 명명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</a:t>
              </a:r>
            </a:p>
          </p:txBody>
        </p:sp>
        <p:sp>
          <p:nvSpPr>
            <p:cNvPr id="27" name="Rectangle 79"/>
            <p:cNvSpPr>
              <a:spLocks noChangeArrowheads="1"/>
            </p:cNvSpPr>
            <p:nvPr/>
          </p:nvSpPr>
          <p:spPr bwMode="auto">
            <a:xfrm>
              <a:off x="1676636" y="2948059"/>
              <a:ext cx="7848872" cy="55294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요소 명명 일반규칙을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</p:txBody>
        </p:sp>
        <p:sp>
          <p:nvSpPr>
            <p:cNvPr id="28" name="AutoShape 27"/>
            <p:cNvSpPr>
              <a:spLocks noChangeArrowheads="1"/>
            </p:cNvSpPr>
            <p:nvPr/>
          </p:nvSpPr>
          <p:spPr bwMode="auto">
            <a:xfrm>
              <a:off x="380492" y="3634262"/>
              <a:ext cx="1233199" cy="1081514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릴레이션십 명명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</a:t>
              </a:r>
            </a:p>
          </p:txBody>
        </p:sp>
        <p:sp>
          <p:nvSpPr>
            <p:cNvPr id="29" name="Rectangle 79"/>
            <p:cNvSpPr>
              <a:spLocks noChangeArrowheads="1"/>
            </p:cNvSpPr>
            <p:nvPr/>
          </p:nvSpPr>
          <p:spPr bwMode="auto">
            <a:xfrm>
              <a:off x="1676636" y="3634262"/>
              <a:ext cx="7848872" cy="109288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한 엔티티의 관점에서 상대 엔티티의 관계를 정의한 이름을 사용한다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데이터사전에 등록된 업무용어로서 두 엔티티간의 업무적 연관성을 나타낼 수 있는 구체적인 역할명을 사용한다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업무적으로 자명한 릴레이션십이라 하더라도 두 엔티티의 연결 관계를 표현하기 위하여 이름을 부여해야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이러한 경우에는 릴레이션십 명명 상세 규칙에 의하여 정해진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의 이름을 릴레이션십의 이름의 일부로  사용할 수 있다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객체지향방법론 등을 사용하는 경우 관행적으로 릴레이션십 이름을 표현하지 않더라도 엔티티의 연결 관계를 표현하기 위한 이름을 부여하여 정의서를 작성해야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</p:txBody>
        </p:sp>
        <p:sp>
          <p:nvSpPr>
            <p:cNvPr id="30" name="AutoShape 27"/>
            <p:cNvSpPr>
              <a:spLocks noChangeArrowheads="1"/>
            </p:cNvSpPr>
            <p:nvPr/>
          </p:nvSpPr>
          <p:spPr bwMode="auto">
            <a:xfrm>
              <a:off x="380492" y="4869160"/>
              <a:ext cx="1233199" cy="1406711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릴레이션십 명명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상세규칙</a:t>
              </a:r>
            </a:p>
          </p:txBody>
        </p:sp>
        <p:sp>
          <p:nvSpPr>
            <p:cNvPr id="31" name="Rectangle 79"/>
            <p:cNvSpPr>
              <a:spLocks noChangeArrowheads="1"/>
            </p:cNvSpPr>
            <p:nvPr/>
          </p:nvSpPr>
          <p:spPr bwMode="auto">
            <a:xfrm>
              <a:off x="1676636" y="4869160"/>
              <a:ext cx="7848872" cy="142149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두 엔티티사이의 릴레이션십 정의를 위하여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을 정하고자 하는 경우 아래 각 호의 규칙을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두 엔티티가 부모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자식 관계에 있는 경우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부모엔티티를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하고 자식 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두 엔티티간의 기수성이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0:1, 0:M,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1:M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 경우 기수성의 값이 적은 쪽을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하고 많은 쪽을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두 엔티티간의 기수성이 동일한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0:0, 1:1,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M:M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인 경우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보다 독립적인 특성을 지닌 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하고 나머지 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순환관계를 갖는 엔티티의 경우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기술해야 하며 동조 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항의 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호 내지 제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3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호의 규정에 따라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를 결정한다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 algn="l" latinLnBrk="0">
                <a:spcBef>
                  <a:spcPts val="0"/>
                </a:spcBef>
                <a:buFont typeface="Arial" panose="020B0604020202020204" pitchFamily="34" charset="0"/>
                <a:buChar char="•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기타 관계의 경우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중요도가 높거나 포괄적인 의미를 가진 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하고 나머지 엔티티를 엔티티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3055078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논리모델링의 데이터 도메인 명명 일반규칙</a:t>
            </a:r>
            <a:r>
              <a:rPr lang="en-US" altLang="ko-KR" dirty="0"/>
              <a:t>, </a:t>
            </a:r>
            <a:r>
              <a:rPr lang="ko-KR" altLang="en-US" dirty="0"/>
              <a:t>데이터베이스 도메인 표현 일반규칙을 아래와 같이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(3/10)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85734"/>
            <a:chOff x="201528" y="1592840"/>
            <a:chExt cx="9502496" cy="4785734"/>
          </a:xfrm>
        </p:grpSpPr>
        <p:grpSp>
          <p:nvGrpSpPr>
            <p:cNvPr id="6" name="그룹 27"/>
            <p:cNvGrpSpPr/>
            <p:nvPr/>
          </p:nvGrpSpPr>
          <p:grpSpPr>
            <a:xfrm>
              <a:off x="201528" y="1592840"/>
              <a:ext cx="9502496" cy="4785734"/>
              <a:chOff x="200025" y="1592840"/>
              <a:chExt cx="4680967" cy="4785734"/>
            </a:xfrm>
          </p:grpSpPr>
          <p:sp>
            <p:nvSpPr>
              <p:cNvPr id="29" name="직사각형 28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요소 명명 규칙 </a:t>
                </a:r>
                <a:r>
                  <a:rPr lang="en-US" altLang="ko-KR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&gt; </a:t>
                </a: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논리모델링</a:t>
                </a:r>
              </a:p>
            </p:txBody>
          </p:sp>
          <p:sp>
            <p:nvSpPr>
              <p:cNvPr id="30" name="직사각형 29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31" name="AutoShape 27"/>
            <p:cNvSpPr>
              <a:spLocks noChangeArrowheads="1"/>
            </p:cNvSpPr>
            <p:nvPr/>
          </p:nvSpPr>
          <p:spPr bwMode="auto">
            <a:xfrm>
              <a:off x="380492" y="2034800"/>
              <a:ext cx="1233199" cy="113029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도메인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명명</a:t>
              </a:r>
              <a:endParaRPr lang="en-US" altLang="ko-KR" sz="11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</a:t>
              </a:r>
            </a:p>
          </p:txBody>
        </p:sp>
        <p:sp>
          <p:nvSpPr>
            <p:cNvPr id="44" name="Rectangle 79"/>
            <p:cNvSpPr>
              <a:spLocks noChangeArrowheads="1"/>
            </p:cNvSpPr>
            <p:nvPr/>
          </p:nvSpPr>
          <p:spPr bwMode="auto">
            <a:xfrm>
              <a:off x="1676636" y="2034800"/>
              <a:ext cx="7848872" cy="113029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 latinLnBrk="0">
                <a:spcBef>
                  <a:spcPts val="300"/>
                </a:spcBef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도메인의 명명은 데이터 요소 명명 규칙을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데이터요소가 허용 가능한 모든 값을 대표할 수 있는 일반적으로 수용되는 용어를 사용한다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데이터도메인이 속한 주제영역에서 고유하게 부여한 이름이다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너무 길지 않고 이해하기 쉬운 용어로 명명한다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7" name="AutoShape 27"/>
            <p:cNvSpPr>
              <a:spLocks noChangeArrowheads="1"/>
            </p:cNvSpPr>
            <p:nvPr/>
          </p:nvSpPr>
          <p:spPr bwMode="auto">
            <a:xfrm>
              <a:off x="380492" y="3258968"/>
              <a:ext cx="1233199" cy="1735351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도메인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표현</a:t>
              </a: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일반규칙</a:t>
              </a:r>
            </a:p>
          </p:txBody>
        </p:sp>
        <p:sp>
          <p:nvSpPr>
            <p:cNvPr id="48" name="Rectangle 79"/>
            <p:cNvSpPr>
              <a:spLocks noChangeArrowheads="1"/>
            </p:cNvSpPr>
            <p:nvPr/>
          </p:nvSpPr>
          <p:spPr bwMode="auto">
            <a:xfrm>
              <a:off x="1676636" y="3258968"/>
              <a:ext cx="7848872" cy="173535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tIns="180000" bIns="180000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자료형은 「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KS X ISO/IEC 14957:2003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정보기술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데이터요소 값에 대한 포맷표기법」과「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KS X ISO 8601:2003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데이터요소 및 교환포맷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정보교환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-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날짜 및 시각의 표기」를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단위의 표현은「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KS X ISO 1000:2002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국제단위계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(SI)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및 그 사용법」을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algn="l" latinLnBrk="0">
                <a:spcBef>
                  <a:spcPts val="300"/>
                </a:spcBef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날짜와 시간을 나타내는 데이터도메인은 우선적으로 다음 각 호를 따른다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 1.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년은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"YYYY"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표기한다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 2.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년월은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"YYYY­MM"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으로 표기한다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 3.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연월일은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"YYYY­MM­DD"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표기한다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algn="l" latinLnBrk="0">
                <a:spcBef>
                  <a:spcPts val="300"/>
                </a:spcBef>
                <a:buFont typeface="+mj-ea"/>
                <a:buAutoNum type="circleNumDbPlain"/>
              </a:pP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 4. 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시간은 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"HH"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로 표기하며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, 24</a:t>
              </a:r>
              <a:r>
                <a:rPr lang="ko-KR" altLang="en-US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시간 단위를 사용한다</a:t>
              </a:r>
              <a:r>
                <a:rPr lang="en-US" altLang="ko-KR" sz="10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38924830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ko-KR" altLang="en-US" dirty="0"/>
              <a:t>물리 객체</a:t>
            </a:r>
            <a:r>
              <a:rPr lang="en-US" altLang="ko-KR" dirty="0"/>
              <a:t>(</a:t>
            </a:r>
            <a:r>
              <a:rPr lang="ko-KR" altLang="en-US" dirty="0"/>
              <a:t>테이블</a:t>
            </a:r>
            <a:r>
              <a:rPr lang="en-US" altLang="ko-KR" dirty="0"/>
              <a:t>, </a:t>
            </a:r>
            <a:r>
              <a:rPr lang="ko-KR" altLang="en-US" dirty="0"/>
              <a:t>뷰 등</a:t>
            </a:r>
            <a:r>
              <a:rPr lang="en-US" altLang="ko-KR" dirty="0"/>
              <a:t>) </a:t>
            </a:r>
            <a:r>
              <a:rPr lang="ko-KR" altLang="en-US" dirty="0"/>
              <a:t>명명 시 적용할 데이터 객체 구분자를 </a:t>
            </a:r>
            <a:r>
              <a:rPr lang="en-US" altLang="ko-KR" dirty="0"/>
              <a:t>Table</a:t>
            </a:r>
            <a:r>
              <a:rPr lang="ko-KR" altLang="en-US" dirty="0"/>
              <a:t>은 </a:t>
            </a:r>
            <a:r>
              <a:rPr lang="en-US" altLang="ko-KR" dirty="0"/>
              <a:t>‘T’, View</a:t>
            </a:r>
            <a:r>
              <a:rPr lang="ko-KR" altLang="en-US" dirty="0"/>
              <a:t>는 </a:t>
            </a:r>
            <a:r>
              <a:rPr lang="en-US" altLang="ko-KR" dirty="0"/>
              <a:t>‘V’, Procedure</a:t>
            </a:r>
            <a:r>
              <a:rPr lang="ko-KR" altLang="en-US" dirty="0"/>
              <a:t>는 </a:t>
            </a:r>
            <a:r>
              <a:rPr lang="en-US" altLang="ko-KR" dirty="0"/>
              <a:t>‘P’, Function</a:t>
            </a:r>
            <a:r>
              <a:rPr lang="ko-KR" altLang="en-US" dirty="0"/>
              <a:t>은 </a:t>
            </a:r>
            <a:r>
              <a:rPr lang="en-US" altLang="ko-KR" dirty="0"/>
              <a:t>‘F’, Package</a:t>
            </a:r>
            <a:r>
              <a:rPr lang="ko-KR" altLang="en-US" dirty="0"/>
              <a:t>는 </a:t>
            </a:r>
            <a:r>
              <a:rPr lang="en-US" altLang="ko-KR" dirty="0"/>
              <a:t>‘PKG’</a:t>
            </a:r>
            <a:r>
              <a:rPr lang="ko-KR" altLang="en-US" dirty="0"/>
              <a:t>로 정의함</a:t>
            </a:r>
            <a:endParaRPr lang="en-US" altLang="ko-KR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(4/10)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>
          <a:xfrm>
            <a:off x="6825208" y="0"/>
            <a:ext cx="2690700" cy="782680"/>
          </a:xfrm>
        </p:spPr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8" name="직사각형 17"/>
          <p:cNvSpPr/>
          <p:nvPr/>
        </p:nvSpPr>
        <p:spPr>
          <a:xfrm>
            <a:off x="446949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객체 구분자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5925" y="2276871"/>
            <a:ext cx="9074150" cy="39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객체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뷰 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명명 시 적용할 데이터 객체 구분자를 아래와 같이 정의함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2648075" y="3140968"/>
          <a:ext cx="4392488" cy="14900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9624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9624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7257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객체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구분자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998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Table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989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View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V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7257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Procedure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P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7257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Function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F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7257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Package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u="none" strike="noStrike" dirty="0">
                          <a:effectLst/>
                          <a:latin typeface="맑은 고딕" pitchFamily="50" charset="-127"/>
                        </a:rPr>
                        <a:t>PKG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3935210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Naming Convention</a:t>
            </a:r>
            <a:r>
              <a:rPr lang="ko-KR" altLang="en-US" dirty="0"/>
              <a:t>을 이용하여 </a:t>
            </a:r>
            <a:r>
              <a:rPr lang="en-US" altLang="ko-KR" dirty="0"/>
              <a:t>Naming </a:t>
            </a:r>
            <a:r>
              <a:rPr lang="ko-KR" altLang="en-US" dirty="0"/>
              <a:t>하되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Detail </a:t>
            </a:r>
            <a:r>
              <a:rPr lang="ko-KR" altLang="en-US" dirty="0"/>
              <a:t>부분을 의미 있게 </a:t>
            </a:r>
            <a:r>
              <a:rPr lang="en-US" altLang="ko-KR" dirty="0"/>
              <a:t>Naming</a:t>
            </a:r>
            <a:r>
              <a:rPr lang="ko-KR" altLang="en-US" dirty="0"/>
              <a:t>하여 클래스와의 추적성을 판단하기 용이함</a:t>
            </a:r>
            <a:endParaRPr lang="en-US" altLang="ko-KR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(5/10)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6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8" name="직사각형 17"/>
          <p:cNvSpPr/>
          <p:nvPr/>
        </p:nvSpPr>
        <p:spPr>
          <a:xfrm>
            <a:off x="446949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Table </a:t>
            </a:r>
            <a:r>
              <a:rPr lang="ko-KR" altLang="en-US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명명 규칙</a:t>
            </a:r>
            <a:endParaRPr lang="en-US" altLang="ko-KR" sz="12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5925" y="2276871"/>
            <a:ext cx="9074150" cy="39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기본규칙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아래 기본규칙 참조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endParaRPr lang="ko-KR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추가규칙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[Table</a:t>
            </a: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고유명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]</a:t>
            </a: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’ 부문의 작명은 반드시 자료사전의 영문원어를 참조하여 만든다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물리모델에서 추가되는 테이블에 대해서도 논리 모델 시와 마찬가지로 정의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(Definition)</a:t>
            </a: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부분을 빠짐없이 기재한다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물리모델에서 추가된 테이블에 대해서는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DEFINITION </a:t>
            </a: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부분에 용도를 명시하도록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endParaRPr lang="ko-KR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타 업무에 있는 테이블을 참조하고 있는 테이블이 존재할 경우에는 타 업무시스템의 엔티티관계도를 참조하여 항상 최종본을 반영하도록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19"/>
          <p:cNvGrpSpPr/>
          <p:nvPr/>
        </p:nvGrpSpPr>
        <p:grpSpPr>
          <a:xfrm>
            <a:off x="459760" y="3140968"/>
            <a:ext cx="8957736" cy="3060826"/>
            <a:chOff x="3196634" y="2570359"/>
            <a:chExt cx="8957736" cy="719997"/>
          </a:xfrm>
        </p:grpSpPr>
        <p:sp>
          <p:nvSpPr>
            <p:cNvPr id="21" name="Rectangle 11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blackWhite">
            <a:xfrm>
              <a:off x="3196634" y="2570359"/>
              <a:ext cx="442324" cy="719997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2">
                  <a:lumMod val="75000"/>
                </a:schemeClr>
              </a:solidFill>
              <a:headEnd/>
              <a:tailEnd/>
            </a:ln>
            <a:effectLst/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horz"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기본</a:t>
              </a:r>
              <a:r>
                <a:rPr kumimoji="1" lang="en-US" altLang="ko-KR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규칙</a:t>
              </a:r>
              <a:endParaRPr kumimoji="1"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Rectangle 11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blackWhite">
            <a:xfrm>
              <a:off x="3638958" y="2570359"/>
              <a:ext cx="8515412" cy="719997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2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tIns="72000" rIns="144000" bIns="72000" numCol="2" anchor="t"/>
            <a:lstStyle/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테이블의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Name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은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ERD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의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Physical Model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에서 정의할 엔터티의 명칭이다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이때 다음과 같은 규칙을 적용하여 설계한다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다음의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Naming Convention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이용하여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Naming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하되 ③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Detail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부분을 의미 있게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Naming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하여 클래스와의 추적성을 판단하기 용이하도록 한다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이때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자료사전에 있지 않은 신조약어가 발생되면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자료사전에 등록하고 개발자들이 공유할 수 있도록 한다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ko-KR" altLang="en-US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① 객체구분자</a:t>
              </a:r>
              <a:endParaRPr lang="en-US" altLang="ko-KR" sz="8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테이블을 구분하기 위해 ‘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T’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를 명시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THA_MINWON_I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en-US" altLang="ko-KR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② </a:t>
              </a:r>
              <a:r>
                <a:rPr lang="ko-KR" altLang="en-US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업무구분자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업무구분자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(2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자리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=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업무구분코드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(1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자리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+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세부업무구분코드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(1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자리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③ </a:t>
              </a:r>
              <a:r>
                <a:rPr lang="ko-KR" altLang="en-US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 역할 설명</a:t>
              </a:r>
            </a:p>
            <a:p>
              <a:pPr marL="176212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테이블을 구분하는 단어를 지정한다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자료사전을 근거로 하여 명명하며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자료사전의 두 단어까지 지정할 수 있다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Object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와 구분 항목을 포함하여 테이블 명이 최대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20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자를 넘지 않도록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내용 항목은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13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 이내로 지정한다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90488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en-US" altLang="ko-KR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④ </a:t>
              </a:r>
              <a:r>
                <a:rPr lang="ko-KR" altLang="en-US" sz="8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특성구분 접미사</a:t>
              </a:r>
            </a:p>
            <a:p>
              <a:pPr marL="176212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테이블의 성격을 나타내는 영자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자리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M: Master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변경이 없는 마스터 데이터를 갖는 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D: Detail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마스터 테이블의 상세 내역 데이터를 갖는 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I: Information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트랜잭션 내용을 담는 테이블로서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insert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와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update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 동시에 일어나는 경우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H: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이력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(update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는 없고 이력의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insert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만 있는 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L : Log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이력 테이블과 달리 변경과정이 의미 없음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S: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통계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(STATISTICS)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통계 내용을 담는 테이블로서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insert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만 있는 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T: Temporary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생성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변환 등을 위해 임시적으로 만드는 테이블로서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응용프로그램에서 직접적으로 사용하지 않는 테이블인 경우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아래의 경우에는 테이블의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Naming Rule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을 적용하지 않을 수 있다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상용 소프트웨어에 의존적인 테이블</a:t>
              </a:r>
            </a:p>
            <a:p>
              <a:pPr marL="266700" indent="-90488">
                <a:lnSpc>
                  <a:spcPts val="1000"/>
                </a:lnSpc>
                <a:spcBef>
                  <a:spcPts val="3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외부기관과의 데이터 연계 관련 테이블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" name="직사각형 6"/>
          <p:cNvSpPr/>
          <p:nvPr/>
        </p:nvSpPr>
        <p:spPr>
          <a:xfrm>
            <a:off x="963722" y="3933056"/>
            <a:ext cx="3971022" cy="593047"/>
          </a:xfrm>
          <a:prstGeom prst="rect">
            <a:avLst/>
          </a:prstGeom>
          <a:solidFill>
            <a:srgbClr val="2377F7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2168183" y="4025939"/>
          <a:ext cx="1562100" cy="407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510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5510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7636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44406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50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33796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T</a:t>
                      </a:r>
                      <a:endParaRPr 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**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***</a:t>
                      </a:r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…*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36000" marB="3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③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④</a:t>
                      </a:r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377F7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435487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논리 속성이름을 기준으로 가능한 한글 워드 어순대로 ‘자료사전’의 영문원어 사용하여 변환하고</a:t>
            </a:r>
            <a:r>
              <a:rPr lang="en-US" altLang="ko-KR" dirty="0"/>
              <a:t>, </a:t>
            </a:r>
            <a:r>
              <a:rPr lang="ko-KR" altLang="en-US" dirty="0"/>
              <a:t>물리 </a:t>
            </a:r>
            <a:r>
              <a:rPr lang="en-US" altLang="ko-KR" dirty="0"/>
              <a:t>(</a:t>
            </a:r>
            <a:r>
              <a:rPr lang="ko-KR" altLang="en-US" dirty="0"/>
              <a:t>영문</a:t>
            </a:r>
            <a:r>
              <a:rPr lang="en-US" altLang="ko-KR" dirty="0"/>
              <a:t>) </a:t>
            </a:r>
            <a:r>
              <a:rPr lang="ko-KR" altLang="en-US" dirty="0"/>
              <a:t>칼럼 명명규칙은 자료영문약어 형태로 구성하며</a:t>
            </a:r>
            <a:r>
              <a:rPr lang="en-US" altLang="ko-KR" dirty="0"/>
              <a:t>, </a:t>
            </a:r>
            <a:r>
              <a:rPr lang="ko-KR" altLang="en-US" dirty="0"/>
              <a:t>‘자료사전’에 등록되어 있지 않는 단어는 자료사전에 먼저 등록하고 사용함</a:t>
            </a:r>
            <a:endParaRPr lang="en-US" altLang="ko-KR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/>
              <a:t>3.7.2 </a:t>
            </a:r>
            <a:r>
              <a:rPr lang="ko-KR" altLang="en-US" spc="-150"/>
              <a:t>데이터 표준화 설계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(6/10)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4" name="직사각형 23"/>
          <p:cNvSpPr/>
          <p:nvPr/>
        </p:nvSpPr>
        <p:spPr>
          <a:xfrm>
            <a:off x="446502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Column</a:t>
            </a:r>
          </a:p>
        </p:txBody>
      </p:sp>
      <p:sp>
        <p:nvSpPr>
          <p:cNvPr id="25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5478" y="2276871"/>
            <a:ext cx="9074597" cy="3996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2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논리 속성이름을 기준으로 가능한 한글 워드 어순대로 ‘자료사전’의 영문원어 사용하여 변환한다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영문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 명명규칙은 자료영문약어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[+ ‘_’ +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자료영문약어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]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형태로 구성 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‘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자료사전’에 등록되어 있지 않는 단어는 자료사전에 먼저 등록하고 사용한다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생략해도 의미의 전달에 이상이 없거나 영문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18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 초과시 단어를 축약 가능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축약 시는 마지막 단어는 가능한 사용하고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중간의 단어들 생략하거나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축약 대상 단어들의 첫 자만을 결합하여 하나의 워드로 사용한다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그럴 경우 워드사전에는 없는 단어가 나오게 됨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모든 칼럼에 대해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NULL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을 허용할 수 있으며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아래와 같은 경우에는 반드시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NOT NULL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을 설정하도록 한다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Primary Key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Identifying FK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여부로 잡히는 모든 칼럼의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 경우에는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DEFAULT VALUE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설정할 것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변경 이력 칼럼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⑤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Non-Identifying FK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이면서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Mandatory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그러나 데이터 입력 당시에 값을 지정할 수 없는 경우라면 반드시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DEFAULT VALUE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지정하도록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⑥ GROUP BY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절에서 사용되는 칼럼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칼럼에 입력되는 값 중에서 여부 또는 구분 등을 나타내는 경우에는 입력되는 데이터 범주를 정의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(Definition)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부분에 빠짐없이 기재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칼럼의 속성이름이 일자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일시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시간 등을 나타내는 경우에는 아래와 같이 적용한다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 추가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가 필요한 테이블에 대해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low level AUDIT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기능을 위한 칼럼을 추가하는 것을 원칙으로 하며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모든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기능을 위해 아래와 같은 칼럼을 추가하도록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속성에 대한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CONSTRAINT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는 부여하지 않는다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아래의 정의된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 외의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칼럼이 필요 시 추가하여 사용할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해당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Audit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칼럼 중 원천적으로 값이 고정된 칼럼에 대해서는 예외적으로 제외 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/>
          </p:nvPr>
        </p:nvGraphicFramePr>
        <p:xfrm>
          <a:off x="540891" y="5013176"/>
          <a:ext cx="4412109" cy="51816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9797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15555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6060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9797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42358"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속성이름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Naming</a:t>
                      </a:r>
                      <a:endParaRPr lang="ko-KR" sz="10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타입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길이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886"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일자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_DT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DATE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 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3886"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일시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_DTM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DATE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 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3886"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시간</a:t>
                      </a: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_TM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CHAR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spcBef>
                          <a:spcPts val="100"/>
                        </a:spcBef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/>
          </p:nvPr>
        </p:nvGraphicFramePr>
        <p:xfrm>
          <a:off x="5041901" y="2709655"/>
          <a:ext cx="4375595" cy="88392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971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14598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5017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8971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속성명</a:t>
                      </a: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Naming</a:t>
                      </a:r>
                      <a:endParaRPr lang="ko-KR" sz="10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데이터 타입</a:t>
                      </a: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10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데이터 길이</a:t>
                      </a: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입력자 </a:t>
                      </a: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ID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REG_ID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VARCHAR2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20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입력일시</a:t>
                      </a: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REG_DTM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DATE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 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입력자</a:t>
                      </a: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 IP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REG_IP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VARCAHR2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19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수정자 </a:t>
                      </a: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ID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UPDT_ID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VARCHAR2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20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수정일시</a:t>
                      </a: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UPDT_DTM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DATE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 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ko-KR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수정자</a:t>
                      </a: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 IP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UPDT_IP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ct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VARCAHR2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81305" indent="-228600" algn="r" latinLnBrk="1">
                        <a:spcBef>
                          <a:spcPts val="100"/>
                        </a:spcBef>
                        <a:spcAft>
                          <a:spcPts val="100"/>
                        </a:spcAft>
                        <a:tabLst>
                          <a:tab pos="281305" algn="l"/>
                          <a:tab pos="508000" algn="l"/>
                        </a:tabLst>
                      </a:pPr>
                      <a:r>
                        <a:rPr lang="en-US" sz="800" b="0" kern="100" dirty="0"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anose="02020603050405020304" pitchFamily="18" charset="0"/>
                        </a:rPr>
                        <a:t>19</a:t>
                      </a:r>
                      <a:endParaRPr lang="ko-KR" sz="800" b="0" kern="100" dirty="0"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809068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Primary Key/Foreign Key/Unique Key</a:t>
            </a:r>
            <a:r>
              <a:rPr lang="ko-KR" altLang="en-US" dirty="0"/>
              <a:t>에 대한 명명 규칙</a:t>
            </a:r>
            <a:r>
              <a:rPr lang="en-US" altLang="ko-KR" dirty="0"/>
              <a:t>, Tablespace</a:t>
            </a:r>
            <a:r>
              <a:rPr lang="ko-KR" altLang="en-US" dirty="0"/>
              <a:t>에 대한 명명 규칙</a:t>
            </a:r>
            <a:r>
              <a:rPr lang="en-US" altLang="ko-KR" dirty="0"/>
              <a:t>, Index</a:t>
            </a:r>
            <a:r>
              <a:rPr lang="ko-KR" altLang="en-US" dirty="0"/>
              <a:t>에 대한 명명 규칙을 아래와 같이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(7/10)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5" name="직사각형 34"/>
          <p:cNvSpPr/>
          <p:nvPr/>
        </p:nvSpPr>
        <p:spPr>
          <a:xfrm>
            <a:off x="5036705" y="1916832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Tablespace</a:t>
            </a:r>
          </a:p>
        </p:txBody>
      </p:sp>
      <p:sp>
        <p:nvSpPr>
          <p:cNvPr id="38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5024323" y="2221800"/>
            <a:ext cx="4464000" cy="1548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데이터객체구분자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'TS'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형상구분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 구분자로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특성구분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테이블스페이스의 오브젝트를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오브젝트의 구분은 다음과 같다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.( D : Data / I : Index )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39" name="표 38"/>
          <p:cNvGraphicFramePr>
            <a:graphicFrameLocks noGrp="1"/>
          </p:cNvGraphicFramePr>
          <p:nvPr>
            <p:extLst/>
          </p:nvPr>
        </p:nvGraphicFramePr>
        <p:xfrm>
          <a:off x="5397817" y="2257804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TS _ </a:t>
                      </a:r>
                      <a:r>
                        <a:rPr lang="en-US" sz="1050" b="1" u="sng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</a:t>
                      </a:r>
                      <a:r>
                        <a:rPr lang="ko-KR" sz="1050" b="1" u="sng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…</a:t>
                      </a:r>
                      <a:r>
                        <a:rPr lang="en-US" sz="1050" b="1" u="sng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*</a:t>
                      </a: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_ </a:t>
                      </a:r>
                      <a:r>
                        <a:rPr lang="en-US" sz="1050" b="1" u="sng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#</a:t>
                      </a:r>
                      <a:endParaRPr lang="ko-KR" sz="1050" b="1" kern="100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</a:t>
                      </a:r>
                      <a:r>
                        <a:rPr lang="ko-KR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r>
                        <a:rPr lang="ko-KR" sz="60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lang="ko-KR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③</a:t>
                      </a: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endParaRPr lang="ko-KR" sz="1050" b="1" kern="100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3" name="직사각형 42"/>
          <p:cNvSpPr/>
          <p:nvPr/>
        </p:nvSpPr>
        <p:spPr>
          <a:xfrm>
            <a:off x="5036705" y="3805976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Index</a:t>
            </a:r>
          </a:p>
        </p:txBody>
      </p:sp>
      <p:sp>
        <p:nvSpPr>
          <p:cNvPr id="44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5024323" y="4110944"/>
            <a:ext cx="4464000" cy="2107784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데이터객체구분자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인덱스를 구분하기 위해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IDX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명시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THA_MINOWN_I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Index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==&gt; ‘IDX_THA_MINOWN’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인덱스를 생성할 테이블의 이름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이름이 긴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특징을 설명 할 수 있는 테이블 명에 사용된 특정단어를 사용하거나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성격을 나타내는 구분 명을 생략할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일련번호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인덱스간 식별성을 높이기 위해 순차적으로 번호를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('1','2'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5" name="표 44"/>
          <p:cNvGraphicFramePr>
            <a:graphicFrameLocks noGrp="1"/>
          </p:cNvGraphicFramePr>
          <p:nvPr>
            <p:extLst/>
          </p:nvPr>
        </p:nvGraphicFramePr>
        <p:xfrm>
          <a:off x="5397817" y="4146948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IDX   *…* _ #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②    ③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" name="직사각형 54"/>
          <p:cNvSpPr/>
          <p:nvPr/>
        </p:nvSpPr>
        <p:spPr>
          <a:xfrm>
            <a:off x="434168" y="1883073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Primary Key</a:t>
            </a:r>
          </a:p>
        </p:txBody>
      </p:sp>
      <p:sp>
        <p:nvSpPr>
          <p:cNvPr id="56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434168" y="2179414"/>
            <a:ext cx="4464000" cy="1008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데이터객체구분자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Primary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'PK'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'TPT_BLOG_I'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Primary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==&gt; 'PK_TPT_BLOG_I'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7" name="표 56"/>
          <p:cNvGraphicFramePr>
            <a:graphicFrameLocks noGrp="1"/>
          </p:cNvGraphicFramePr>
          <p:nvPr>
            <p:extLst/>
          </p:nvPr>
        </p:nvGraphicFramePr>
        <p:xfrm>
          <a:off x="866725" y="2215419"/>
          <a:ext cx="3720465" cy="360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PK _ *…* 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 ②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8" name="직사각형 57"/>
          <p:cNvSpPr/>
          <p:nvPr/>
        </p:nvSpPr>
        <p:spPr>
          <a:xfrm>
            <a:off x="434168" y="3167276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Foreign Key</a:t>
            </a:r>
          </a:p>
        </p:txBody>
      </p:sp>
      <p:sp>
        <p:nvSpPr>
          <p:cNvPr id="59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434168" y="3472243"/>
            <a:ext cx="4464000" cy="1620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데이터객체구분자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Foreign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'FK'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'TPT_BLOG_I'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Foreign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==&gt; 'FK_TPT_BLOG_I'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Foreign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생성할 테이블의 이름 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이름이 긴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특징을 설명 할 수 있는 테이블 명에 사용된 특정단어를 사용하거나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성격을 나타내는 구분 명을 생략할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일련번호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식별성을 높이기 위해 순차적으로 번호를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('1','2'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</a:p>
        </p:txBody>
      </p:sp>
      <p:graphicFrame>
        <p:nvGraphicFramePr>
          <p:cNvPr id="60" name="표 59"/>
          <p:cNvGraphicFramePr>
            <a:graphicFrameLocks noGrp="1"/>
          </p:cNvGraphicFramePr>
          <p:nvPr>
            <p:extLst/>
          </p:nvPr>
        </p:nvGraphicFramePr>
        <p:xfrm>
          <a:off x="866725" y="3508248"/>
          <a:ext cx="3720465" cy="360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FK _ *…* ##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②  ③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1" name="직사각형 60"/>
          <p:cNvSpPr/>
          <p:nvPr/>
        </p:nvSpPr>
        <p:spPr>
          <a:xfrm>
            <a:off x="434168" y="5065362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Unique Key</a:t>
            </a:r>
          </a:p>
        </p:txBody>
      </p:sp>
      <p:sp>
        <p:nvSpPr>
          <p:cNvPr id="62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434168" y="5370329"/>
            <a:ext cx="4464000" cy="1008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데이터객체구분자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Unique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‘UK'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'TPT_BLOG_I'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Unique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==&gt; ‘UK_TPT_BLOG_I'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3" name="표 62"/>
          <p:cNvGraphicFramePr>
            <a:graphicFrameLocks noGrp="1"/>
          </p:cNvGraphicFramePr>
          <p:nvPr>
            <p:extLst/>
          </p:nvPr>
        </p:nvGraphicFramePr>
        <p:xfrm>
          <a:off x="866725" y="5406334"/>
          <a:ext cx="3720465" cy="360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UK _ *…* 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 ②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809953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Check</a:t>
            </a:r>
            <a:r>
              <a:rPr lang="ko-KR" altLang="en-US" dirty="0"/>
              <a:t>에</a:t>
            </a:r>
            <a:r>
              <a:rPr lang="en-US" altLang="ko-KR" dirty="0"/>
              <a:t> </a:t>
            </a:r>
            <a:r>
              <a:rPr lang="ko-KR" altLang="en-US" dirty="0"/>
              <a:t>대한 명명 규칙</a:t>
            </a:r>
            <a:r>
              <a:rPr lang="en-US" altLang="ko-KR" dirty="0"/>
              <a:t>, View</a:t>
            </a:r>
            <a:r>
              <a:rPr lang="ko-KR" altLang="en-US" dirty="0"/>
              <a:t>에 대한 명명 규칙</a:t>
            </a:r>
            <a:r>
              <a:rPr lang="en-US" altLang="ko-KR" dirty="0"/>
              <a:t>, Trigger</a:t>
            </a:r>
            <a:r>
              <a:rPr lang="ko-KR" altLang="en-US" dirty="0"/>
              <a:t>에 대한 명명 규칙</a:t>
            </a:r>
            <a:r>
              <a:rPr lang="en-US" altLang="ko-KR" dirty="0"/>
              <a:t>, Procedure</a:t>
            </a:r>
            <a:r>
              <a:rPr lang="ko-KR" altLang="en-US" dirty="0"/>
              <a:t>에 대한 명명  규칙을 아래와 같이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(8/10)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8" name="직사각형 27"/>
          <p:cNvSpPr/>
          <p:nvPr/>
        </p:nvSpPr>
        <p:spPr>
          <a:xfrm>
            <a:off x="415592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Check</a:t>
            </a:r>
          </a:p>
        </p:txBody>
      </p:sp>
      <p:sp>
        <p:nvSpPr>
          <p:cNvPr id="29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5592" y="2276871"/>
            <a:ext cx="4500000" cy="1773042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check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'CK’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'TPT_BLOG_I'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Unique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인 경우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==&gt; 'CK_TPT_BLOG_I'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Check Key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생성할 테이블의 이름 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이름이 긴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특징을 설명 할 수 있는 테이블 명에 사용된 특정단어를 사용하거나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성격을 나타내는 구분 명을 생략할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일련번호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식별성을 높이기 위해 순차적으로 번호를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('1','2'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sp>
        <p:nvSpPr>
          <p:cNvPr id="30" name="직사각형 29"/>
          <p:cNvSpPr/>
          <p:nvPr/>
        </p:nvSpPr>
        <p:spPr>
          <a:xfrm>
            <a:off x="5037390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Trigger</a:t>
            </a:r>
          </a:p>
        </p:txBody>
      </p:sp>
      <p:sp>
        <p:nvSpPr>
          <p:cNvPr id="31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5025008" y="2276872"/>
            <a:ext cx="4464000" cy="17635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Trigger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'TR'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Event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Before: B, After: A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구분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Trigger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유형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Insert: I, Update : U, Delete : D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세가지 약어의 조합으로 표현한다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트리거를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fire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하는 테이블의 명칭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TPT_BLOG_I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테이블에 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insert, update 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된 후 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fire</a:t>
            </a: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되는 트리거인 경우</a:t>
            </a:r>
            <a:r>
              <a: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: ‘TR_AIU_TPT_BLOG_I’</a:t>
            </a:r>
          </a:p>
        </p:txBody>
      </p:sp>
      <p:graphicFrame>
        <p:nvGraphicFramePr>
          <p:cNvPr id="46" name="표 45"/>
          <p:cNvGraphicFramePr>
            <a:graphicFrameLocks noGrp="1"/>
          </p:cNvGraphicFramePr>
          <p:nvPr>
            <p:extLst/>
          </p:nvPr>
        </p:nvGraphicFramePr>
        <p:xfrm>
          <a:off x="5398502" y="2312876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TR _ * *…* _ *…*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②  ③     ④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7" name="직사각형 46"/>
          <p:cNvSpPr/>
          <p:nvPr/>
        </p:nvSpPr>
        <p:spPr>
          <a:xfrm>
            <a:off x="5037390" y="401801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Procedure</a:t>
            </a:r>
          </a:p>
        </p:txBody>
      </p:sp>
      <p:sp>
        <p:nvSpPr>
          <p:cNvPr id="48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5025008" y="4284922"/>
            <a:ext cx="4464000" cy="197796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endParaRPr lang="en-US" altLang="ko-KR" sz="8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Procedure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'P'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업무구분코드로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업무명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Procedure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가 주요하게 작업하는 테이블의 이름 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이름이 긴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특징을 설명 할 수 있는 테이블 명에 사용된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특정단어를 사용하거나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성격을 나타내는 구분 명을 생략할 수 있다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유형구분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현황관련자료 생성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Procedure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경우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‘STATUS’, ‘S’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등의 유형구분으로 식별성을 높인다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/>
          </p:nvPr>
        </p:nvGraphicFramePr>
        <p:xfrm>
          <a:off x="5398502" y="4339733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 *…* _ *…* _ *…*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②     ③     ④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0" name="표 49"/>
          <p:cNvGraphicFramePr>
            <a:graphicFrameLocks noGrp="1"/>
          </p:cNvGraphicFramePr>
          <p:nvPr>
            <p:extLst/>
          </p:nvPr>
        </p:nvGraphicFramePr>
        <p:xfrm>
          <a:off x="848149" y="2312876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CK _ *…*  ##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①   ②   ③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>
          <a:xfrm>
            <a:off x="415592" y="4216371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View</a:t>
            </a:r>
          </a:p>
        </p:txBody>
      </p:sp>
      <p:sp>
        <p:nvSpPr>
          <p:cNvPr id="52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415592" y="4521338"/>
            <a:ext cx="4500000" cy="174726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View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'V'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(2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자리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-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업무구분코드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(1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자리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+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세부업무구분코드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(1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자리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업무항목 중분류 구분코드로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내용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View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내용을 나타낼 수 있는 의미 있는 단어로 정의하며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자료사전에 등록되어 있는 명칭이어야 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권장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단어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특성구분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테이블의 성격을 나타내는 영자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자리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(I, M, H, T)</a:t>
            </a:r>
          </a:p>
        </p:txBody>
      </p:sp>
      <p:graphicFrame>
        <p:nvGraphicFramePr>
          <p:cNvPr id="53" name="표 52"/>
          <p:cNvGraphicFramePr>
            <a:graphicFrameLocks noGrp="1"/>
          </p:cNvGraphicFramePr>
          <p:nvPr>
            <p:extLst/>
          </p:nvPr>
        </p:nvGraphicFramePr>
        <p:xfrm>
          <a:off x="848149" y="4557343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 *…* _ *…* _ * 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②    ③    ④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7157409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Function</a:t>
            </a:r>
            <a:r>
              <a:rPr lang="ko-KR" altLang="en-US" dirty="0"/>
              <a:t>에 대한 명명 규칙</a:t>
            </a:r>
            <a:r>
              <a:rPr lang="en-US" altLang="ko-KR" dirty="0"/>
              <a:t>, Package</a:t>
            </a:r>
            <a:r>
              <a:rPr lang="ko-KR" altLang="en-US" dirty="0"/>
              <a:t>에 대한 명명 규칙</a:t>
            </a:r>
            <a:r>
              <a:rPr lang="en-US" altLang="ko-KR" dirty="0"/>
              <a:t>, Sequence</a:t>
            </a:r>
            <a:r>
              <a:rPr lang="ko-KR" altLang="en-US" dirty="0"/>
              <a:t>에 대한 명명 규칙을 아래와 같이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(9/10)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물리모델링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5" name="직사각형 24"/>
          <p:cNvSpPr/>
          <p:nvPr/>
        </p:nvSpPr>
        <p:spPr>
          <a:xfrm>
            <a:off x="416496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Function</a:t>
            </a:r>
          </a:p>
        </p:txBody>
      </p:sp>
      <p:sp>
        <p:nvSpPr>
          <p:cNvPr id="26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6496" y="2276870"/>
            <a:ext cx="4500000" cy="162018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Function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'F'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으로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 구분코드로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내용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Function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을 지정하는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수행하는 기능을 식별하기 쉽도록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27" name="직사각형 26"/>
          <p:cNvSpPr/>
          <p:nvPr/>
        </p:nvSpPr>
        <p:spPr>
          <a:xfrm>
            <a:off x="5037390" y="1971904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Sequence</a:t>
            </a:r>
          </a:p>
        </p:txBody>
      </p:sp>
      <p:sp>
        <p:nvSpPr>
          <p:cNvPr id="35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5025008" y="2276872"/>
            <a:ext cx="4464000" cy="1800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Sequence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'SEQ'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으로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 구분코드로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내용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Sequence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지정하는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수행하는 기능을 식별하기 쉽도록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일련번호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식별성을 높이기 위해 순차적으로 번호를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('1','2'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</a:p>
        </p:txBody>
      </p:sp>
      <p:graphicFrame>
        <p:nvGraphicFramePr>
          <p:cNvPr id="38" name="표 37"/>
          <p:cNvGraphicFramePr>
            <a:graphicFrameLocks noGrp="1"/>
          </p:cNvGraphicFramePr>
          <p:nvPr>
            <p:extLst/>
          </p:nvPr>
        </p:nvGraphicFramePr>
        <p:xfrm>
          <a:off x="5398502" y="2312876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SEQ *…* _ *…* ##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 ②     ③  ④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9" name="표 38"/>
          <p:cNvGraphicFramePr>
            <a:graphicFrameLocks noGrp="1"/>
          </p:cNvGraphicFramePr>
          <p:nvPr>
            <p:extLst/>
          </p:nvPr>
        </p:nvGraphicFramePr>
        <p:xfrm>
          <a:off x="849053" y="2312876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 *…* _ *…* 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②      ③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3" name="직사각형 42"/>
          <p:cNvSpPr/>
          <p:nvPr/>
        </p:nvSpPr>
        <p:spPr>
          <a:xfrm>
            <a:off x="416496" y="4216371"/>
            <a:ext cx="4103927" cy="2893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en-US" altLang="ko-KR" sz="12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Package</a:t>
            </a:r>
          </a:p>
        </p:txBody>
      </p:sp>
      <p:sp>
        <p:nvSpPr>
          <p:cNvPr id="44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416496" y="4521338"/>
            <a:ext cx="4500000" cy="1747261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numCol="1" anchor="t"/>
          <a:lstStyle/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Constant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Package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줄임말로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'PKG'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으로 정의한다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업무구분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 구분코드로 구분한다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>
              <a:lnSpc>
                <a:spcPts val="1000"/>
              </a:lnSpc>
              <a:buClr>
                <a:prstClr val="black"/>
              </a:buClr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③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내용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Package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를 지정하는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0488" indent="-90488">
              <a:lnSpc>
                <a:spcPts val="1000"/>
              </a:lnSpc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수행하는 기능을 식별하기 쉽도록 이름을 지정한다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graphicFrame>
        <p:nvGraphicFramePr>
          <p:cNvPr id="45" name="표 44"/>
          <p:cNvGraphicFramePr>
            <a:graphicFrameLocks noGrp="1"/>
          </p:cNvGraphicFramePr>
          <p:nvPr>
            <p:extLst/>
          </p:nvPr>
        </p:nvGraphicFramePr>
        <p:xfrm>
          <a:off x="849053" y="4557343"/>
          <a:ext cx="3720465" cy="4680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2046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68052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PKG *…* _ *…* </a:t>
                      </a: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1050" b="1" kern="100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     ②     ③</a:t>
                      </a:r>
                    </a:p>
                  </a:txBody>
                  <a:tcPr marL="62865" marR="62865" marT="0" marB="0" anchor="ctr">
                    <a:solidFill>
                      <a:schemeClr val="accent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4362373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객체의 올바른 생성을 위한 </a:t>
            </a:r>
            <a:r>
              <a:rPr lang="en-US" altLang="ko-KR" dirty="0"/>
              <a:t>6</a:t>
            </a:r>
            <a:r>
              <a:rPr lang="ko-KR" altLang="en-US" dirty="0"/>
              <a:t>개 방향성</a:t>
            </a:r>
            <a:r>
              <a:rPr lang="en-US" altLang="ko-KR" dirty="0"/>
              <a:t>(</a:t>
            </a:r>
            <a:r>
              <a:rPr lang="ko-KR" altLang="en-US" dirty="0"/>
              <a:t>표준화를 준수한 설계</a:t>
            </a:r>
            <a:r>
              <a:rPr lang="en-US" altLang="ko-KR" dirty="0"/>
              <a:t>, </a:t>
            </a:r>
            <a:r>
              <a:rPr lang="ko-KR" altLang="en-US" dirty="0"/>
              <a:t>데이터품질을 고려한 설계</a:t>
            </a:r>
            <a:r>
              <a:rPr lang="en-US" altLang="ko-KR" dirty="0"/>
              <a:t>, </a:t>
            </a:r>
            <a:r>
              <a:rPr lang="ko-KR" altLang="en-US" dirty="0"/>
              <a:t>성능을 고려한 설계</a:t>
            </a:r>
            <a:r>
              <a:rPr lang="en-US" altLang="ko-KR" dirty="0"/>
              <a:t>, </a:t>
            </a:r>
            <a:r>
              <a:rPr lang="ko-KR" altLang="en-US" dirty="0"/>
              <a:t>생산성을 고려한 설계</a:t>
            </a:r>
            <a:r>
              <a:rPr lang="en-US" altLang="ko-KR" dirty="0"/>
              <a:t>, </a:t>
            </a:r>
            <a:r>
              <a:rPr lang="ko-KR" altLang="en-US" dirty="0"/>
              <a:t>데이터모델과의 일치</a:t>
            </a:r>
            <a:r>
              <a:rPr lang="en-US" altLang="ko-KR" dirty="0"/>
              <a:t>, </a:t>
            </a:r>
            <a:r>
              <a:rPr lang="ko-KR" altLang="en-US" dirty="0"/>
              <a:t>산출물의 관리</a:t>
            </a:r>
            <a:r>
              <a:rPr lang="en-US" altLang="ko-KR" dirty="0"/>
              <a:t>)</a:t>
            </a:r>
            <a:r>
              <a:rPr lang="ko-KR" altLang="en-US" dirty="0"/>
              <a:t>을 수립하고 데이터 물리 설계 방안을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3.7.2.4 </a:t>
            </a:r>
            <a:r>
              <a:rPr lang="ko-KR" altLang="en-US" sz="1800" spc="-150"/>
              <a:t>표준 명명 규칙 </a:t>
            </a:r>
            <a:r>
              <a:rPr lang="en-US" altLang="ko-KR" sz="1800" spc="-150"/>
              <a:t>&gt; </a:t>
            </a:r>
            <a:r>
              <a:rPr lang="ko-KR" altLang="en-US" sz="1800" spc="-150"/>
              <a:t>데이터 요소 명명 일반 규칙 </a:t>
            </a:r>
            <a:r>
              <a:rPr lang="en-US" altLang="ko-KR" sz="1800" spc="-150" smtClean="0"/>
              <a:t>(10/10)</a:t>
            </a:r>
            <a:endParaRPr lang="ko-KR" altLang="en-US" sz="16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31"/>
          <p:cNvGrpSpPr/>
          <p:nvPr/>
        </p:nvGrpSpPr>
        <p:grpSpPr>
          <a:xfrm>
            <a:off x="341859" y="1592840"/>
            <a:ext cx="9219654" cy="4785734"/>
            <a:chOff x="200025" y="1592840"/>
            <a:chExt cx="4680967" cy="4785734"/>
          </a:xfrm>
        </p:grpSpPr>
        <p:sp>
          <p:nvSpPr>
            <p:cNvPr id="33" name="직사각형 32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요소 명명 규칙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&gt;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물리 설계 방안</a:t>
              </a: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9" name="AutoShape 6"/>
          <p:cNvSpPr>
            <a:spLocks noChangeArrowheads="1"/>
          </p:cNvSpPr>
          <p:nvPr/>
        </p:nvSpPr>
        <p:spPr bwMode="auto">
          <a:xfrm>
            <a:off x="552134" y="2016012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표준화를 준수한 설계</a:t>
            </a:r>
          </a:p>
        </p:txBody>
      </p:sp>
      <p:sp>
        <p:nvSpPr>
          <p:cNvPr id="60" name="AutoShape 6"/>
          <p:cNvSpPr>
            <a:spLocks noChangeArrowheads="1"/>
          </p:cNvSpPr>
          <p:nvPr/>
        </p:nvSpPr>
        <p:spPr bwMode="auto">
          <a:xfrm>
            <a:off x="552134" y="2737712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데이터품질을 고려한 설계</a:t>
            </a:r>
          </a:p>
        </p:txBody>
      </p:sp>
      <p:sp>
        <p:nvSpPr>
          <p:cNvPr id="61" name="AutoShape 6"/>
          <p:cNvSpPr>
            <a:spLocks noChangeArrowheads="1"/>
          </p:cNvSpPr>
          <p:nvPr/>
        </p:nvSpPr>
        <p:spPr bwMode="auto">
          <a:xfrm>
            <a:off x="552134" y="4902812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데이터모델과의 일치</a:t>
            </a:r>
          </a:p>
        </p:txBody>
      </p:sp>
      <p:sp>
        <p:nvSpPr>
          <p:cNvPr id="62" name="직사각형 61"/>
          <p:cNvSpPr/>
          <p:nvPr/>
        </p:nvSpPr>
        <p:spPr bwMode="auto">
          <a:xfrm>
            <a:off x="2540732" y="2740980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모든 테이블에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PK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생성을 통한 테이블 행의 유일성 보장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관계 컬럼 간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Foreign Key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생성을 통한 데이터의 무결성 보장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컬럼에 대한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Null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여부 지정</a:t>
            </a:r>
          </a:p>
        </p:txBody>
      </p:sp>
      <p:sp>
        <p:nvSpPr>
          <p:cNvPr id="63" name="직사각형 62"/>
          <p:cNvSpPr/>
          <p:nvPr/>
        </p:nvSpPr>
        <p:spPr bwMode="auto">
          <a:xfrm>
            <a:off x="2540732" y="2020097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「행정정보데이터베이스 표준화 지침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(2008.11.25)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」의 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“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32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 데이터 요소 등의 명명을 위한 일반 규칙</a:t>
            </a:r>
            <a:r>
              <a: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” </a:t>
            </a:r>
            <a:r>
              <a:rPr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준수</a:t>
            </a:r>
            <a:endParaRPr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경영정보시스템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품질관리체계의 표준을 준수하여 설계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객체 명명 규칙과 메타데이터관리시스템에 등록된 표준 자료사전의 단어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용어를 적용한 객체 명명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메타데이터관리시스템에 등록된 도메인을 적용한 데이터 타입의 지정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4" name="직사각형 63"/>
          <p:cNvSpPr/>
          <p:nvPr/>
        </p:nvSpPr>
        <p:spPr bwMode="auto">
          <a:xfrm>
            <a:off x="2540732" y="4903629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구조관리프로세스에 따른 개념모델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–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논리모델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물리모델 간의 일치성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모델과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객체 간의 일치성</a:t>
            </a:r>
          </a:p>
        </p:txBody>
      </p:sp>
      <p:sp>
        <p:nvSpPr>
          <p:cNvPr id="65" name="AutoShape 6"/>
          <p:cNvSpPr>
            <a:spLocks noChangeArrowheads="1"/>
          </p:cNvSpPr>
          <p:nvPr/>
        </p:nvSpPr>
        <p:spPr bwMode="auto">
          <a:xfrm>
            <a:off x="552134" y="5624513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산출물의 관리</a:t>
            </a:r>
          </a:p>
        </p:txBody>
      </p:sp>
      <p:sp>
        <p:nvSpPr>
          <p:cNvPr id="66" name="AutoShape 6"/>
          <p:cNvSpPr>
            <a:spLocks noChangeArrowheads="1"/>
          </p:cNvSpPr>
          <p:nvPr/>
        </p:nvSpPr>
        <p:spPr bwMode="auto">
          <a:xfrm>
            <a:off x="552134" y="3459412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성능을 고려한 설계</a:t>
            </a:r>
          </a:p>
        </p:txBody>
      </p:sp>
      <p:sp>
        <p:nvSpPr>
          <p:cNvPr id="67" name="직사각형 66"/>
          <p:cNvSpPr/>
          <p:nvPr/>
        </p:nvSpPr>
        <p:spPr bwMode="auto">
          <a:xfrm>
            <a:off x="2540732" y="3461863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논리모델은 반드시 제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정규형으로 모델링하고 빈번하게 사용되는 컬럼에 대한 비정규화 고려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Access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가 빈번한 컬럼에 대한 인덱스 생성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(SQL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튜닝 작업 후 인덱스 재조정 고려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 생성시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PCT_FREE, PCT_USED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 데이터 갱신 패턴을 고려한 옵션 값의 설정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데이터의 물리적 활용 형태에 따른 최적의 저장 구조 선택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(Index Organized Table,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클러스터링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등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2540732" y="5624513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데이터모델 산출물의 작성 및 검토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데이터베이스 정의서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ERD,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테이블정의서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컬럼정의서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작성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업무규칙정의서 작성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 데이터모델 산출물 메타데이터관리시스템에 등록하여 관리</a:t>
            </a:r>
          </a:p>
        </p:txBody>
      </p:sp>
      <p:sp>
        <p:nvSpPr>
          <p:cNvPr id="69" name="AutoShape 6"/>
          <p:cNvSpPr>
            <a:spLocks noChangeArrowheads="1"/>
          </p:cNvSpPr>
          <p:nvPr/>
        </p:nvSpPr>
        <p:spPr bwMode="auto">
          <a:xfrm>
            <a:off x="552134" y="4181112"/>
            <a:ext cx="1880586" cy="648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lIns="108000" tIns="0" rIns="108000" bIns="0" anchor="ctr"/>
          <a:lstStyle/>
          <a:p>
            <a:pPr algn="ctr" defTabSz="1025315"/>
            <a:r>
              <a:rPr kumimoji="1" lang="ko-KR" altLang="en-US" sz="11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생산성을 고려한 설계</a:t>
            </a:r>
          </a:p>
        </p:txBody>
      </p:sp>
      <p:sp>
        <p:nvSpPr>
          <p:cNvPr id="70" name="직사각형 69"/>
          <p:cNvSpPr/>
          <p:nvPr/>
        </p:nvSpPr>
        <p:spPr bwMode="auto">
          <a:xfrm>
            <a:off x="2540732" y="4182746"/>
            <a:ext cx="6804756" cy="6480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빈번한 조인 및 활용이 일어나는 테이블에  대한 뷰 생성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보안성 강화를 위해 특정 사용자에게 전체  또는 일부 속성의 조회만 가능하도록 할 경우를 위한 뷰 생성</a:t>
            </a:r>
            <a:endParaRPr lang="en-US" altLang="ko-KR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buClr>
                <a:prstClr val="black"/>
              </a:buClr>
              <a:buSzPct val="90000"/>
              <a:buFont typeface="Arial" panose="020B0604020202020204" pitchFamily="34" charset="0"/>
              <a:buChar char="•"/>
            </a:pP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복잡한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구조를 단순화 시키기 위한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function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생성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대량 데이터 조회 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function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을 사용할 경우 성능 문제가 발생할 수 있으므로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function 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내에 사용되는 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은 반드시 튜닝을 하고 사용 시 유의하여 사용</a:t>
            </a:r>
            <a:r>
              <a:rPr lang="en-US" altLang="ko-KR" sz="10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0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타원 70"/>
          <p:cNvSpPr/>
          <p:nvPr/>
        </p:nvSpPr>
        <p:spPr bwMode="auto">
          <a:xfrm>
            <a:off x="433493" y="2251717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타원 71"/>
          <p:cNvSpPr/>
          <p:nvPr/>
        </p:nvSpPr>
        <p:spPr bwMode="auto">
          <a:xfrm>
            <a:off x="433493" y="2973192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타원 72"/>
          <p:cNvSpPr/>
          <p:nvPr/>
        </p:nvSpPr>
        <p:spPr bwMode="auto">
          <a:xfrm>
            <a:off x="433493" y="3694667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타원 73"/>
          <p:cNvSpPr/>
          <p:nvPr/>
        </p:nvSpPr>
        <p:spPr bwMode="auto">
          <a:xfrm>
            <a:off x="433493" y="4416142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타원 74"/>
          <p:cNvSpPr/>
          <p:nvPr/>
        </p:nvSpPr>
        <p:spPr bwMode="auto">
          <a:xfrm>
            <a:off x="433493" y="5137617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타원 75"/>
          <p:cNvSpPr/>
          <p:nvPr/>
        </p:nvSpPr>
        <p:spPr bwMode="auto">
          <a:xfrm>
            <a:off x="433493" y="5859094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99324144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kern="0" dirty="0"/>
              <a:t>데이터 관리 도구 표준화를 위해서 데이터 관리 업무 분야와 작업자 유형을 분류하고 해당 작업자에 적합한 데이터 도구를 선정함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3.7.2.5 </a:t>
            </a:r>
            <a:r>
              <a:rPr lang="ko-KR" altLang="en-US" sz="1800" smtClean="0"/>
              <a:t>표준 </a:t>
            </a:r>
            <a:r>
              <a:rPr lang="ko-KR" altLang="en-US" sz="1800" dirty="0"/>
              <a:t>데이터 도구 </a:t>
            </a:r>
            <a:r>
              <a:rPr lang="en-US" altLang="ko-KR" sz="1800" dirty="0"/>
              <a:t>&gt; </a:t>
            </a:r>
            <a:r>
              <a:rPr lang="ko-KR" altLang="en-US" sz="1800" dirty="0"/>
              <a:t>관리 기준과 지침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6"/>
          <p:cNvGrpSpPr/>
          <p:nvPr/>
        </p:nvGrpSpPr>
        <p:grpSpPr>
          <a:xfrm>
            <a:off x="344488" y="1592840"/>
            <a:ext cx="9217025" cy="4785734"/>
            <a:chOff x="201528" y="1592840"/>
            <a:chExt cx="9504447" cy="4785734"/>
          </a:xfrm>
        </p:grpSpPr>
        <p:grpSp>
          <p:nvGrpSpPr>
            <p:cNvPr id="6" name="그룹 62"/>
            <p:cNvGrpSpPr/>
            <p:nvPr/>
          </p:nvGrpSpPr>
          <p:grpSpPr>
            <a:xfrm>
              <a:off x="7448550" y="1592840"/>
              <a:ext cx="2257425" cy="4785734"/>
              <a:chOff x="200025" y="1592840"/>
              <a:chExt cx="4680967" cy="4785734"/>
            </a:xfrm>
          </p:grpSpPr>
          <p:sp>
            <p:nvSpPr>
              <p:cNvPr id="64" name="직사각형 63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2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 데이터도구 선정 절차</a:t>
                </a:r>
              </a:p>
            </p:txBody>
          </p:sp>
          <p:sp>
            <p:nvSpPr>
              <p:cNvPr id="65" name="직사각형 64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66" name="직사각형 65"/>
            <p:cNvSpPr/>
            <p:nvPr/>
          </p:nvSpPr>
          <p:spPr bwMode="auto">
            <a:xfrm>
              <a:off x="201528" y="1592840"/>
              <a:ext cx="716244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업무 분야별 데이터 도구 유형 매핑</a:t>
              </a:r>
            </a:p>
          </p:txBody>
        </p:sp>
        <p:sp>
          <p:nvSpPr>
            <p:cNvPr id="67" name="직사각형 66"/>
            <p:cNvSpPr/>
            <p:nvPr/>
          </p:nvSpPr>
          <p:spPr bwMode="auto">
            <a:xfrm>
              <a:off x="201528" y="1916831"/>
              <a:ext cx="7162443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AutoShape 27"/>
            <p:cNvSpPr>
              <a:spLocks noChangeArrowheads="1"/>
            </p:cNvSpPr>
            <p:nvPr/>
          </p:nvSpPr>
          <p:spPr bwMode="auto">
            <a:xfrm>
              <a:off x="865102" y="4376334"/>
              <a:ext cx="1279586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데이터베이스 보안</a:t>
              </a:r>
            </a:p>
          </p:txBody>
        </p:sp>
        <p:sp>
          <p:nvSpPr>
            <p:cNvPr id="69" name="AutoShape 27"/>
            <p:cNvSpPr>
              <a:spLocks noChangeArrowheads="1"/>
            </p:cNvSpPr>
            <p:nvPr/>
          </p:nvSpPr>
          <p:spPr bwMode="auto">
            <a:xfrm>
              <a:off x="865102" y="4864644"/>
              <a:ext cx="1279586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시스템 유지보수</a:t>
              </a:r>
            </a:p>
          </p:txBody>
        </p:sp>
        <p:sp>
          <p:nvSpPr>
            <p:cNvPr id="70" name="AutoShape 27"/>
            <p:cNvSpPr>
              <a:spLocks noChangeArrowheads="1"/>
            </p:cNvSpPr>
            <p:nvPr/>
          </p:nvSpPr>
          <p:spPr bwMode="auto">
            <a:xfrm>
              <a:off x="865102" y="2423093"/>
              <a:ext cx="1279586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 분석</a:t>
              </a:r>
            </a:p>
          </p:txBody>
        </p:sp>
        <p:sp>
          <p:nvSpPr>
            <p:cNvPr id="71" name="AutoShape 27"/>
            <p:cNvSpPr>
              <a:spLocks noChangeArrowheads="1"/>
            </p:cNvSpPr>
            <p:nvPr/>
          </p:nvSpPr>
          <p:spPr bwMode="auto">
            <a:xfrm>
              <a:off x="865102" y="2911403"/>
              <a:ext cx="1279586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설계</a:t>
              </a:r>
            </a:p>
          </p:txBody>
        </p:sp>
        <p:sp>
          <p:nvSpPr>
            <p:cNvPr id="72" name="AutoShape 27"/>
            <p:cNvSpPr>
              <a:spLocks noChangeArrowheads="1"/>
            </p:cNvSpPr>
            <p:nvPr/>
          </p:nvSpPr>
          <p:spPr bwMode="auto">
            <a:xfrm>
              <a:off x="865102" y="3399713"/>
              <a:ext cx="1279586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구현</a:t>
              </a:r>
            </a:p>
          </p:txBody>
        </p:sp>
        <p:sp>
          <p:nvSpPr>
            <p:cNvPr id="73" name="AutoShape 27"/>
            <p:cNvSpPr>
              <a:spLocks noChangeArrowheads="1"/>
            </p:cNvSpPr>
            <p:nvPr/>
          </p:nvSpPr>
          <p:spPr bwMode="auto">
            <a:xfrm>
              <a:off x="865102" y="3888024"/>
              <a:ext cx="1279586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데이터베이스 운영</a:t>
              </a:r>
            </a:p>
          </p:txBody>
        </p:sp>
        <p:sp>
          <p:nvSpPr>
            <p:cNvPr id="74" name="직사각형 73"/>
            <p:cNvSpPr/>
            <p:nvPr/>
          </p:nvSpPr>
          <p:spPr bwMode="auto">
            <a:xfrm>
              <a:off x="380492" y="1988840"/>
              <a:ext cx="1764196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업무 분야</a:t>
              </a:r>
            </a:p>
          </p:txBody>
        </p:sp>
        <p:sp>
          <p:nvSpPr>
            <p:cNvPr id="75" name="AutoShape 27"/>
            <p:cNvSpPr>
              <a:spLocks noChangeArrowheads="1"/>
            </p:cNvSpPr>
            <p:nvPr/>
          </p:nvSpPr>
          <p:spPr bwMode="auto">
            <a:xfrm>
              <a:off x="2834656" y="4701875"/>
              <a:ext cx="1830312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분석 도구</a:t>
              </a:r>
            </a:p>
          </p:txBody>
        </p:sp>
        <p:sp>
          <p:nvSpPr>
            <p:cNvPr id="76" name="AutoShape 27"/>
            <p:cNvSpPr>
              <a:spLocks noChangeArrowheads="1"/>
            </p:cNvSpPr>
            <p:nvPr/>
          </p:nvSpPr>
          <p:spPr bwMode="auto">
            <a:xfrm>
              <a:off x="2834656" y="5271571"/>
              <a:ext cx="1830312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메타데이터 관리 시스템</a:t>
              </a:r>
            </a:p>
          </p:txBody>
        </p:sp>
        <p:sp>
          <p:nvSpPr>
            <p:cNvPr id="77" name="AutoShape 27"/>
            <p:cNvSpPr>
              <a:spLocks noChangeArrowheads="1"/>
            </p:cNvSpPr>
            <p:nvPr/>
          </p:nvSpPr>
          <p:spPr bwMode="auto">
            <a:xfrm>
              <a:off x="2834656" y="2423093"/>
              <a:ext cx="1830312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모델링 도구</a:t>
              </a:r>
            </a:p>
          </p:txBody>
        </p:sp>
        <p:sp>
          <p:nvSpPr>
            <p:cNvPr id="78" name="AutoShape 27"/>
            <p:cNvSpPr>
              <a:spLocks noChangeArrowheads="1"/>
            </p:cNvSpPr>
            <p:nvPr/>
          </p:nvSpPr>
          <p:spPr bwMode="auto">
            <a:xfrm>
              <a:off x="2834656" y="2992788"/>
              <a:ext cx="1830312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SQL, Procedure </a:t>
              </a: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작성 도구</a:t>
              </a:r>
            </a:p>
          </p:txBody>
        </p:sp>
        <p:sp>
          <p:nvSpPr>
            <p:cNvPr id="79" name="AutoShape 27"/>
            <p:cNvSpPr>
              <a:spLocks noChangeArrowheads="1"/>
            </p:cNvSpPr>
            <p:nvPr/>
          </p:nvSpPr>
          <p:spPr bwMode="auto">
            <a:xfrm>
              <a:off x="2834656" y="3562484"/>
              <a:ext cx="1830312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데이터베이스 관리 도구</a:t>
              </a:r>
            </a:p>
          </p:txBody>
        </p:sp>
        <p:sp>
          <p:nvSpPr>
            <p:cNvPr id="80" name="직사각형 79"/>
            <p:cNvSpPr/>
            <p:nvPr/>
          </p:nvSpPr>
          <p:spPr bwMode="auto">
            <a:xfrm>
              <a:off x="2828764" y="1988840"/>
              <a:ext cx="1836204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도구 유형</a:t>
              </a:r>
            </a:p>
          </p:txBody>
        </p:sp>
        <p:cxnSp>
          <p:nvCxnSpPr>
            <p:cNvPr id="81" name="직선 연결선 80"/>
            <p:cNvCxnSpPr>
              <a:stCxn id="70" idx="3"/>
              <a:endCxn id="77" idx="1"/>
            </p:cNvCxnSpPr>
            <p:nvPr/>
          </p:nvCxnSpPr>
          <p:spPr bwMode="auto">
            <a:xfrm>
              <a:off x="2144688" y="2622762"/>
              <a:ext cx="689968" cy="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82" name="직선 연결선 81"/>
            <p:cNvCxnSpPr>
              <a:stCxn id="71" idx="3"/>
              <a:endCxn id="77" idx="1"/>
            </p:cNvCxnSpPr>
            <p:nvPr/>
          </p:nvCxnSpPr>
          <p:spPr bwMode="auto">
            <a:xfrm flipV="1">
              <a:off x="2144688" y="2622762"/>
              <a:ext cx="689968" cy="48831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83" name="직선 연결선 82"/>
            <p:cNvCxnSpPr>
              <a:stCxn id="72" idx="3"/>
              <a:endCxn id="78" idx="1"/>
            </p:cNvCxnSpPr>
            <p:nvPr/>
          </p:nvCxnSpPr>
          <p:spPr bwMode="auto">
            <a:xfrm flipV="1">
              <a:off x="2144688" y="3192458"/>
              <a:ext cx="689968" cy="406925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84" name="직선 연결선 83"/>
            <p:cNvCxnSpPr>
              <a:stCxn id="73" idx="3"/>
              <a:endCxn id="79" idx="1"/>
            </p:cNvCxnSpPr>
            <p:nvPr/>
          </p:nvCxnSpPr>
          <p:spPr bwMode="auto">
            <a:xfrm flipV="1">
              <a:off x="2144688" y="3762153"/>
              <a:ext cx="689968" cy="32554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85" name="직선 연결선 84"/>
            <p:cNvCxnSpPr>
              <a:stCxn id="68" idx="3"/>
              <a:endCxn id="93" idx="1"/>
            </p:cNvCxnSpPr>
            <p:nvPr/>
          </p:nvCxnSpPr>
          <p:spPr bwMode="auto">
            <a:xfrm flipV="1">
              <a:off x="2144688" y="4331848"/>
              <a:ext cx="689968" cy="244155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86" name="직선 연결선 85"/>
            <p:cNvCxnSpPr>
              <a:stCxn id="69" idx="3"/>
              <a:endCxn id="76" idx="1"/>
            </p:cNvCxnSpPr>
            <p:nvPr/>
          </p:nvCxnSpPr>
          <p:spPr bwMode="auto">
            <a:xfrm>
              <a:off x="2144688" y="5064314"/>
              <a:ext cx="689968" cy="40692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87" name="AutoShape 27"/>
            <p:cNvSpPr>
              <a:spLocks noChangeArrowheads="1"/>
            </p:cNvSpPr>
            <p:nvPr/>
          </p:nvSpPr>
          <p:spPr bwMode="auto">
            <a:xfrm>
              <a:off x="865102" y="5352955"/>
              <a:ext cx="1279586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관리</a:t>
              </a:r>
            </a:p>
          </p:txBody>
        </p:sp>
        <p:sp>
          <p:nvSpPr>
            <p:cNvPr id="88" name="AutoShape 27"/>
            <p:cNvSpPr>
              <a:spLocks noChangeArrowheads="1"/>
            </p:cNvSpPr>
            <p:nvPr/>
          </p:nvSpPr>
          <p:spPr bwMode="auto">
            <a:xfrm>
              <a:off x="865102" y="5841268"/>
              <a:ext cx="1279586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분석</a:t>
              </a:r>
            </a:p>
          </p:txBody>
        </p:sp>
        <p:sp>
          <p:nvSpPr>
            <p:cNvPr id="89" name="AutoShape 27"/>
            <p:cNvSpPr>
              <a:spLocks noChangeArrowheads="1"/>
            </p:cNvSpPr>
            <p:nvPr/>
          </p:nvSpPr>
          <p:spPr bwMode="auto">
            <a:xfrm>
              <a:off x="380492" y="2423092"/>
              <a:ext cx="416992" cy="1375957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시스템 구축</a:t>
              </a:r>
            </a:p>
          </p:txBody>
        </p:sp>
        <p:sp>
          <p:nvSpPr>
            <p:cNvPr id="90" name="AutoShape 27"/>
            <p:cNvSpPr>
              <a:spLocks noChangeArrowheads="1"/>
            </p:cNvSpPr>
            <p:nvPr/>
          </p:nvSpPr>
          <p:spPr bwMode="auto">
            <a:xfrm>
              <a:off x="380492" y="3889482"/>
              <a:ext cx="416992" cy="1862812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시스템 운영</a:t>
              </a:r>
            </a:p>
          </p:txBody>
        </p:sp>
        <p:sp>
          <p:nvSpPr>
            <p:cNvPr id="91" name="AutoShape 27"/>
            <p:cNvSpPr>
              <a:spLocks noChangeArrowheads="1"/>
            </p:cNvSpPr>
            <p:nvPr/>
          </p:nvSpPr>
          <p:spPr bwMode="auto">
            <a:xfrm>
              <a:off x="380492" y="5841268"/>
              <a:ext cx="416992" cy="39787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활용</a:t>
              </a:r>
            </a:p>
          </p:txBody>
        </p:sp>
        <p:cxnSp>
          <p:nvCxnSpPr>
            <p:cNvPr id="92" name="직선 연결선 91"/>
            <p:cNvCxnSpPr>
              <a:stCxn id="72" idx="3"/>
              <a:endCxn id="77" idx="1"/>
            </p:cNvCxnSpPr>
            <p:nvPr/>
          </p:nvCxnSpPr>
          <p:spPr bwMode="auto">
            <a:xfrm flipV="1">
              <a:off x="2144688" y="2622762"/>
              <a:ext cx="689968" cy="976621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93" name="AutoShape 27"/>
            <p:cNvSpPr>
              <a:spLocks noChangeArrowheads="1"/>
            </p:cNvSpPr>
            <p:nvPr/>
          </p:nvSpPr>
          <p:spPr bwMode="auto">
            <a:xfrm>
              <a:off x="2834656" y="4132179"/>
              <a:ext cx="1830312" cy="399338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보안 지원 도구</a:t>
              </a:r>
            </a:p>
          </p:txBody>
        </p:sp>
        <p:cxnSp>
          <p:nvCxnSpPr>
            <p:cNvPr id="94" name="직선 연결선 93"/>
            <p:cNvCxnSpPr>
              <a:stCxn id="73" idx="3"/>
              <a:endCxn id="93" idx="1"/>
            </p:cNvCxnSpPr>
            <p:nvPr/>
          </p:nvCxnSpPr>
          <p:spPr bwMode="auto">
            <a:xfrm>
              <a:off x="2144688" y="4087693"/>
              <a:ext cx="689968" cy="244155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95" name="직선 연결선 94"/>
            <p:cNvCxnSpPr>
              <a:stCxn id="87" idx="3"/>
              <a:endCxn id="77" idx="1"/>
            </p:cNvCxnSpPr>
            <p:nvPr/>
          </p:nvCxnSpPr>
          <p:spPr bwMode="auto">
            <a:xfrm flipV="1">
              <a:off x="2144688" y="2622762"/>
              <a:ext cx="689968" cy="2929863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96" name="직선 연결선 95"/>
            <p:cNvCxnSpPr>
              <a:stCxn id="87" idx="3"/>
              <a:endCxn id="78" idx="1"/>
            </p:cNvCxnSpPr>
            <p:nvPr/>
          </p:nvCxnSpPr>
          <p:spPr bwMode="auto">
            <a:xfrm flipV="1">
              <a:off x="2144688" y="3192458"/>
              <a:ext cx="689968" cy="236016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97" name="직선 연결선 96"/>
            <p:cNvCxnSpPr>
              <a:stCxn id="87" idx="3"/>
              <a:endCxn id="75" idx="1"/>
            </p:cNvCxnSpPr>
            <p:nvPr/>
          </p:nvCxnSpPr>
          <p:spPr bwMode="auto">
            <a:xfrm flipV="1">
              <a:off x="2144688" y="4901544"/>
              <a:ext cx="689968" cy="651081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98" name="직선 연결선 97"/>
            <p:cNvCxnSpPr>
              <a:stCxn id="88" idx="3"/>
              <a:endCxn id="75" idx="1"/>
            </p:cNvCxnSpPr>
            <p:nvPr/>
          </p:nvCxnSpPr>
          <p:spPr bwMode="auto">
            <a:xfrm flipV="1">
              <a:off x="2144688" y="4901544"/>
              <a:ext cx="689968" cy="1139394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99" name="직사각형 98"/>
            <p:cNvSpPr/>
            <p:nvPr/>
          </p:nvSpPr>
          <p:spPr bwMode="auto">
            <a:xfrm>
              <a:off x="5313040" y="1988840"/>
              <a:ext cx="1944216" cy="29800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kumimoji="1"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작업자 유형</a:t>
              </a:r>
            </a:p>
          </p:txBody>
        </p:sp>
        <p:sp>
          <p:nvSpPr>
            <p:cNvPr id="100" name="AutoShape 27"/>
            <p:cNvSpPr>
              <a:spLocks noChangeArrowheads="1"/>
            </p:cNvSpPr>
            <p:nvPr/>
          </p:nvSpPr>
          <p:spPr bwMode="auto">
            <a:xfrm>
              <a:off x="5695530" y="2425304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 분석가</a:t>
              </a:r>
            </a:p>
          </p:txBody>
        </p:sp>
        <p:sp>
          <p:nvSpPr>
            <p:cNvPr id="101" name="AutoShape 27"/>
            <p:cNvSpPr>
              <a:spLocks noChangeArrowheads="1"/>
            </p:cNvSpPr>
            <p:nvPr/>
          </p:nvSpPr>
          <p:spPr bwMode="auto">
            <a:xfrm>
              <a:off x="5695530" y="2994631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DA, </a:t>
              </a: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모델러</a:t>
              </a:r>
            </a:p>
          </p:txBody>
        </p:sp>
        <p:sp>
          <p:nvSpPr>
            <p:cNvPr id="102" name="AutoShape 27"/>
            <p:cNvSpPr>
              <a:spLocks noChangeArrowheads="1"/>
            </p:cNvSpPr>
            <p:nvPr/>
          </p:nvSpPr>
          <p:spPr bwMode="auto">
            <a:xfrm>
              <a:off x="5695530" y="5841268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현업 실무 담당자</a:t>
              </a:r>
            </a:p>
          </p:txBody>
        </p:sp>
        <p:sp>
          <p:nvSpPr>
            <p:cNvPr id="103" name="AutoShape 27"/>
            <p:cNvSpPr>
              <a:spLocks noChangeArrowheads="1"/>
            </p:cNvSpPr>
            <p:nvPr/>
          </p:nvSpPr>
          <p:spPr bwMode="auto">
            <a:xfrm>
              <a:off x="5695530" y="4133285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DBA</a:t>
              </a:r>
              <a:endParaRPr lang="ko-KR" altLang="en-US" sz="10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4" name="AutoShape 27"/>
            <p:cNvSpPr>
              <a:spLocks noChangeArrowheads="1"/>
            </p:cNvSpPr>
            <p:nvPr/>
          </p:nvSpPr>
          <p:spPr bwMode="auto">
            <a:xfrm>
              <a:off x="5695530" y="3563958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en-US" altLang="ko-KR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AA, </a:t>
              </a: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응용 프로그래머</a:t>
              </a:r>
            </a:p>
          </p:txBody>
        </p:sp>
        <p:sp>
          <p:nvSpPr>
            <p:cNvPr id="105" name="AutoShape 27"/>
            <p:cNvSpPr>
              <a:spLocks noChangeArrowheads="1"/>
            </p:cNvSpPr>
            <p:nvPr/>
          </p:nvSpPr>
          <p:spPr bwMode="auto">
            <a:xfrm>
              <a:off x="5695530" y="5271939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품질관리 담당자</a:t>
              </a:r>
            </a:p>
          </p:txBody>
        </p:sp>
        <p:sp>
          <p:nvSpPr>
            <p:cNvPr id="106" name="AutoShape 27"/>
            <p:cNvSpPr>
              <a:spLocks noChangeArrowheads="1"/>
            </p:cNvSpPr>
            <p:nvPr/>
          </p:nvSpPr>
          <p:spPr bwMode="auto">
            <a:xfrm>
              <a:off x="5695530" y="4702612"/>
              <a:ext cx="1561726" cy="399338"/>
            </a:xfrm>
            <a:prstGeom prst="rect">
              <a:avLst/>
            </a:prstGeom>
            <a:noFill/>
            <a:ln>
              <a:noFill/>
              <a:headEnd/>
              <a:tailEnd/>
            </a:ln>
            <a:effec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 algn="l">
                <a:defRPr/>
              </a:pPr>
              <a:r>
                <a:rPr lang="ko-KR" altLang="en-US" sz="10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보안 담당자</a:t>
              </a:r>
            </a:p>
          </p:txBody>
        </p:sp>
        <p:cxnSp>
          <p:nvCxnSpPr>
            <p:cNvPr id="107" name="직선 연결선 106"/>
            <p:cNvCxnSpPr>
              <a:endCxn id="77" idx="3"/>
            </p:cNvCxnSpPr>
            <p:nvPr/>
          </p:nvCxnSpPr>
          <p:spPr bwMode="auto">
            <a:xfrm flipH="1" flipV="1">
              <a:off x="4664968" y="2622762"/>
              <a:ext cx="670522" cy="281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08" name="직선 연결선 107"/>
            <p:cNvCxnSpPr>
              <a:endCxn id="76" idx="3"/>
            </p:cNvCxnSpPr>
            <p:nvPr/>
          </p:nvCxnSpPr>
          <p:spPr bwMode="auto">
            <a:xfrm flipH="1">
              <a:off x="4664968" y="2625581"/>
              <a:ext cx="670522" cy="284566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09" name="직선 연결선 108"/>
            <p:cNvCxnSpPr>
              <a:endCxn id="77" idx="3"/>
            </p:cNvCxnSpPr>
            <p:nvPr/>
          </p:nvCxnSpPr>
          <p:spPr bwMode="auto">
            <a:xfrm flipH="1" flipV="1">
              <a:off x="4664968" y="2622762"/>
              <a:ext cx="670522" cy="572146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0" name="직선 연결선 109"/>
            <p:cNvCxnSpPr>
              <a:endCxn id="75" idx="3"/>
            </p:cNvCxnSpPr>
            <p:nvPr/>
          </p:nvCxnSpPr>
          <p:spPr bwMode="auto">
            <a:xfrm flipH="1" flipV="1">
              <a:off x="4664968" y="4901544"/>
              <a:ext cx="670522" cy="1140001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1" name="직선 연결선 110"/>
            <p:cNvCxnSpPr>
              <a:endCxn id="76" idx="3"/>
            </p:cNvCxnSpPr>
            <p:nvPr/>
          </p:nvCxnSpPr>
          <p:spPr bwMode="auto">
            <a:xfrm flipH="1" flipV="1">
              <a:off x="4664968" y="5471241"/>
              <a:ext cx="670522" cy="570304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2" name="직선 연결선 111"/>
            <p:cNvCxnSpPr>
              <a:endCxn id="79" idx="3"/>
            </p:cNvCxnSpPr>
            <p:nvPr/>
          </p:nvCxnSpPr>
          <p:spPr bwMode="auto">
            <a:xfrm flipH="1" flipV="1">
              <a:off x="4664968" y="3762153"/>
              <a:ext cx="670522" cy="57140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3" name="직선 연결선 112"/>
            <p:cNvCxnSpPr>
              <a:endCxn id="76" idx="3"/>
            </p:cNvCxnSpPr>
            <p:nvPr/>
          </p:nvCxnSpPr>
          <p:spPr bwMode="auto">
            <a:xfrm flipH="1">
              <a:off x="4664968" y="4333562"/>
              <a:ext cx="670522" cy="113767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4" name="직선 연결선 113"/>
            <p:cNvCxnSpPr>
              <a:endCxn id="77" idx="3"/>
            </p:cNvCxnSpPr>
            <p:nvPr/>
          </p:nvCxnSpPr>
          <p:spPr bwMode="auto">
            <a:xfrm flipH="1" flipV="1">
              <a:off x="4664968" y="2622762"/>
              <a:ext cx="670522" cy="1141473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5" name="직선 연결선 114"/>
            <p:cNvCxnSpPr>
              <a:endCxn id="78" idx="3"/>
            </p:cNvCxnSpPr>
            <p:nvPr/>
          </p:nvCxnSpPr>
          <p:spPr bwMode="auto">
            <a:xfrm flipH="1" flipV="1">
              <a:off x="4664968" y="3192458"/>
              <a:ext cx="670522" cy="57177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6" name="직선 연결선 115"/>
            <p:cNvCxnSpPr>
              <a:endCxn id="76" idx="3"/>
            </p:cNvCxnSpPr>
            <p:nvPr/>
          </p:nvCxnSpPr>
          <p:spPr bwMode="auto">
            <a:xfrm flipH="1">
              <a:off x="4664968" y="3764235"/>
              <a:ext cx="670522" cy="1707006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7" name="직선 연결선 116"/>
            <p:cNvCxnSpPr>
              <a:endCxn id="76" idx="3"/>
            </p:cNvCxnSpPr>
            <p:nvPr/>
          </p:nvCxnSpPr>
          <p:spPr bwMode="auto">
            <a:xfrm flipH="1" flipV="1">
              <a:off x="4664968" y="5471241"/>
              <a:ext cx="670522" cy="975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18" name="직선 연결선 117"/>
            <p:cNvCxnSpPr>
              <a:endCxn id="93" idx="3"/>
            </p:cNvCxnSpPr>
            <p:nvPr/>
          </p:nvCxnSpPr>
          <p:spPr bwMode="auto">
            <a:xfrm flipH="1" flipV="1">
              <a:off x="4664968" y="4331848"/>
              <a:ext cx="670522" cy="571041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19" name="AutoShape 27"/>
            <p:cNvSpPr>
              <a:spLocks noChangeArrowheads="1"/>
            </p:cNvSpPr>
            <p:nvPr/>
          </p:nvSpPr>
          <p:spPr bwMode="auto">
            <a:xfrm>
              <a:off x="7523219" y="3986787"/>
              <a:ext cx="2069703" cy="39933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데이터 관리도구 </a:t>
              </a:r>
              <a: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선정기준 수립</a:t>
              </a:r>
            </a:p>
          </p:txBody>
        </p:sp>
        <p:sp>
          <p:nvSpPr>
            <p:cNvPr id="120" name="AutoShape 27"/>
            <p:cNvSpPr>
              <a:spLocks noChangeArrowheads="1"/>
            </p:cNvSpPr>
            <p:nvPr/>
          </p:nvSpPr>
          <p:spPr bwMode="auto">
            <a:xfrm>
              <a:off x="7523219" y="2132888"/>
              <a:ext cx="2069703" cy="39933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업무분야 분류</a:t>
              </a:r>
            </a:p>
          </p:txBody>
        </p:sp>
        <p:sp>
          <p:nvSpPr>
            <p:cNvPr id="121" name="AutoShape 27"/>
            <p:cNvSpPr>
              <a:spLocks noChangeArrowheads="1"/>
            </p:cNvSpPr>
            <p:nvPr/>
          </p:nvSpPr>
          <p:spPr bwMode="auto">
            <a:xfrm>
              <a:off x="7523219" y="2750854"/>
              <a:ext cx="2069703" cy="39933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작업자 유형 식별</a:t>
              </a:r>
            </a:p>
          </p:txBody>
        </p:sp>
        <p:sp>
          <p:nvSpPr>
            <p:cNvPr id="122" name="AutoShape 27"/>
            <p:cNvSpPr>
              <a:spLocks noChangeArrowheads="1"/>
            </p:cNvSpPr>
            <p:nvPr/>
          </p:nvSpPr>
          <p:spPr bwMode="auto">
            <a:xfrm>
              <a:off x="7523219" y="3368820"/>
              <a:ext cx="2069703" cy="399339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현행 데이터 관리도구 </a:t>
              </a:r>
              <a: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현황 분석</a:t>
              </a:r>
            </a:p>
          </p:txBody>
        </p:sp>
        <p:cxnSp>
          <p:nvCxnSpPr>
            <p:cNvPr id="123" name="직선 연결선 122"/>
            <p:cNvCxnSpPr>
              <a:stCxn id="120" idx="2"/>
              <a:endCxn id="121" idx="0"/>
            </p:cNvCxnSpPr>
            <p:nvPr/>
          </p:nvCxnSpPr>
          <p:spPr bwMode="auto">
            <a:xfrm>
              <a:off x="8558071" y="2532226"/>
              <a:ext cx="0" cy="218628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124" name="직선 연결선 123"/>
            <p:cNvCxnSpPr>
              <a:stCxn id="121" idx="2"/>
              <a:endCxn id="122" idx="0"/>
            </p:cNvCxnSpPr>
            <p:nvPr/>
          </p:nvCxnSpPr>
          <p:spPr bwMode="auto">
            <a:xfrm>
              <a:off x="8558071" y="3150192"/>
              <a:ext cx="0" cy="218628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125" name="직선 연결선 124"/>
            <p:cNvCxnSpPr>
              <a:stCxn id="122" idx="2"/>
              <a:endCxn id="119" idx="0"/>
            </p:cNvCxnSpPr>
            <p:nvPr/>
          </p:nvCxnSpPr>
          <p:spPr bwMode="auto">
            <a:xfrm>
              <a:off x="8558071" y="3768159"/>
              <a:ext cx="0" cy="218628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sp>
          <p:nvSpPr>
            <p:cNvPr id="126" name="원통 125"/>
            <p:cNvSpPr/>
            <p:nvPr/>
          </p:nvSpPr>
          <p:spPr>
            <a:xfrm>
              <a:off x="8078860" y="5779957"/>
              <a:ext cx="972108" cy="401595"/>
            </a:xfrm>
            <a:prstGeom prst="can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0800000" scaled="1"/>
              <a:tileRect/>
            </a:gra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메타데이터</a:t>
              </a:r>
              <a:r>
                <a:rPr lang="en-US" altLang="ko-KR" sz="9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리파지토리</a:t>
              </a:r>
            </a:p>
          </p:txBody>
        </p:sp>
        <p:sp>
          <p:nvSpPr>
            <p:cNvPr id="127" name="AutoShape 27"/>
            <p:cNvSpPr>
              <a:spLocks noChangeArrowheads="1"/>
            </p:cNvSpPr>
            <p:nvPr/>
          </p:nvSpPr>
          <p:spPr bwMode="auto">
            <a:xfrm>
              <a:off x="7523219" y="4604753"/>
              <a:ext cx="2069703" cy="39933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데이터 관리도구 </a:t>
              </a:r>
              <a: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후보 식별</a:t>
              </a:r>
            </a:p>
          </p:txBody>
        </p:sp>
        <p:sp>
          <p:nvSpPr>
            <p:cNvPr id="128" name="AutoShape 27"/>
            <p:cNvSpPr>
              <a:spLocks noChangeArrowheads="1"/>
            </p:cNvSpPr>
            <p:nvPr/>
          </p:nvSpPr>
          <p:spPr bwMode="auto">
            <a:xfrm>
              <a:off x="7523219" y="5222719"/>
              <a:ext cx="2069703" cy="39933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>
                  <a:lumMod val="50000"/>
                </a:schemeClr>
              </a:solidFill>
              <a:prstDash val="solid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표준 데이터 관리도구 </a:t>
              </a:r>
              <a: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50" b="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후보 선정</a:t>
              </a:r>
            </a:p>
          </p:txBody>
        </p:sp>
        <p:cxnSp>
          <p:nvCxnSpPr>
            <p:cNvPr id="129" name="직선 연결선 128"/>
            <p:cNvCxnSpPr>
              <a:stCxn id="119" idx="2"/>
              <a:endCxn id="127" idx="0"/>
            </p:cNvCxnSpPr>
            <p:nvPr/>
          </p:nvCxnSpPr>
          <p:spPr bwMode="auto">
            <a:xfrm>
              <a:off x="8558071" y="4386125"/>
              <a:ext cx="0" cy="218628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cxnSp>
          <p:nvCxnSpPr>
            <p:cNvPr id="130" name="직선 연결선 129"/>
            <p:cNvCxnSpPr>
              <a:stCxn id="127" idx="2"/>
              <a:endCxn id="128" idx="0"/>
            </p:cNvCxnSpPr>
            <p:nvPr/>
          </p:nvCxnSpPr>
          <p:spPr bwMode="auto">
            <a:xfrm>
              <a:off x="8558071" y="5004091"/>
              <a:ext cx="0" cy="218628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sp>
          <p:nvSpPr>
            <p:cNvPr id="131" name="AutoShape 27"/>
            <p:cNvSpPr>
              <a:spLocks noChangeArrowheads="1"/>
            </p:cNvSpPr>
            <p:nvPr/>
          </p:nvSpPr>
          <p:spPr bwMode="auto">
            <a:xfrm>
              <a:off x="2834656" y="5844152"/>
              <a:ext cx="1830312" cy="39933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>
                  <a:lumMod val="50000"/>
                </a:schemeClr>
              </a:solidFill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데이터 품질관리 시스템</a:t>
              </a:r>
            </a:p>
          </p:txBody>
        </p:sp>
        <p:cxnSp>
          <p:nvCxnSpPr>
            <p:cNvPr id="132" name="직선 연결선 131"/>
            <p:cNvCxnSpPr>
              <a:stCxn id="70" idx="3"/>
              <a:endCxn id="76" idx="1"/>
            </p:cNvCxnSpPr>
            <p:nvPr/>
          </p:nvCxnSpPr>
          <p:spPr bwMode="auto">
            <a:xfrm>
              <a:off x="2144688" y="2622762"/>
              <a:ext cx="689968" cy="284847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3" name="직선 연결선 132"/>
            <p:cNvCxnSpPr>
              <a:stCxn id="70" idx="3"/>
              <a:endCxn id="131" idx="1"/>
            </p:cNvCxnSpPr>
            <p:nvPr/>
          </p:nvCxnSpPr>
          <p:spPr bwMode="auto">
            <a:xfrm>
              <a:off x="2144688" y="2622762"/>
              <a:ext cx="689968" cy="342106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4" name="직선 연결선 133"/>
            <p:cNvCxnSpPr>
              <a:stCxn id="71" idx="3"/>
              <a:endCxn id="76" idx="1"/>
            </p:cNvCxnSpPr>
            <p:nvPr/>
          </p:nvCxnSpPr>
          <p:spPr bwMode="auto">
            <a:xfrm>
              <a:off x="2144688" y="3111072"/>
              <a:ext cx="689968" cy="236016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5" name="직선 연결선 134"/>
            <p:cNvCxnSpPr>
              <a:stCxn id="71" idx="3"/>
              <a:endCxn id="131" idx="1"/>
            </p:cNvCxnSpPr>
            <p:nvPr/>
          </p:nvCxnSpPr>
          <p:spPr bwMode="auto">
            <a:xfrm>
              <a:off x="2144688" y="3111072"/>
              <a:ext cx="689968" cy="293275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6" name="직선 연결선 135"/>
            <p:cNvCxnSpPr>
              <a:stCxn id="73" idx="3"/>
              <a:endCxn id="76" idx="1"/>
            </p:cNvCxnSpPr>
            <p:nvPr/>
          </p:nvCxnSpPr>
          <p:spPr bwMode="auto">
            <a:xfrm>
              <a:off x="2144688" y="4087693"/>
              <a:ext cx="689968" cy="1383548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7" name="직선 연결선 136"/>
            <p:cNvCxnSpPr>
              <a:stCxn id="73" idx="3"/>
              <a:endCxn id="131" idx="1"/>
            </p:cNvCxnSpPr>
            <p:nvPr/>
          </p:nvCxnSpPr>
          <p:spPr bwMode="auto">
            <a:xfrm>
              <a:off x="2144688" y="4087693"/>
              <a:ext cx="689968" cy="1956129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8" name="직선 연결선 137"/>
            <p:cNvCxnSpPr>
              <a:stCxn id="69" idx="3"/>
              <a:endCxn id="131" idx="1"/>
            </p:cNvCxnSpPr>
            <p:nvPr/>
          </p:nvCxnSpPr>
          <p:spPr bwMode="auto">
            <a:xfrm>
              <a:off x="2144688" y="5064314"/>
              <a:ext cx="689968" cy="979508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39" name="직선 연결선 138"/>
            <p:cNvCxnSpPr>
              <a:stCxn id="87" idx="3"/>
              <a:endCxn id="76" idx="1"/>
            </p:cNvCxnSpPr>
            <p:nvPr/>
          </p:nvCxnSpPr>
          <p:spPr bwMode="auto">
            <a:xfrm flipV="1">
              <a:off x="2144688" y="5471241"/>
              <a:ext cx="689968" cy="81384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0" name="직선 연결선 139"/>
            <p:cNvCxnSpPr>
              <a:stCxn id="87" idx="3"/>
              <a:endCxn id="131" idx="1"/>
            </p:cNvCxnSpPr>
            <p:nvPr/>
          </p:nvCxnSpPr>
          <p:spPr bwMode="auto">
            <a:xfrm>
              <a:off x="2144688" y="5552625"/>
              <a:ext cx="689968" cy="49119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1" name="직선 연결선 140"/>
            <p:cNvCxnSpPr>
              <a:stCxn id="88" idx="3"/>
              <a:endCxn id="76" idx="1"/>
            </p:cNvCxnSpPr>
            <p:nvPr/>
          </p:nvCxnSpPr>
          <p:spPr bwMode="auto">
            <a:xfrm flipV="1">
              <a:off x="2144688" y="5471241"/>
              <a:ext cx="689968" cy="56969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2" name="직선 연결선 141"/>
            <p:cNvCxnSpPr>
              <a:endCxn id="131" idx="3"/>
            </p:cNvCxnSpPr>
            <p:nvPr/>
          </p:nvCxnSpPr>
          <p:spPr bwMode="auto">
            <a:xfrm flipH="1">
              <a:off x="4664968" y="3194908"/>
              <a:ext cx="670522" cy="2848914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3" name="직선 연결선 142"/>
            <p:cNvCxnSpPr>
              <a:endCxn id="131" idx="3"/>
            </p:cNvCxnSpPr>
            <p:nvPr/>
          </p:nvCxnSpPr>
          <p:spPr bwMode="auto">
            <a:xfrm flipH="1">
              <a:off x="4664968" y="3764235"/>
              <a:ext cx="670522" cy="227958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4" name="직선 연결선 143"/>
            <p:cNvCxnSpPr>
              <a:endCxn id="131" idx="3"/>
            </p:cNvCxnSpPr>
            <p:nvPr/>
          </p:nvCxnSpPr>
          <p:spPr bwMode="auto">
            <a:xfrm flipH="1">
              <a:off x="4664968" y="4333562"/>
              <a:ext cx="670522" cy="1710260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5" name="직선 연결선 144"/>
            <p:cNvCxnSpPr>
              <a:endCxn id="131" idx="3"/>
            </p:cNvCxnSpPr>
            <p:nvPr/>
          </p:nvCxnSpPr>
          <p:spPr bwMode="auto">
            <a:xfrm flipH="1">
              <a:off x="4664968" y="6041545"/>
              <a:ext cx="670522" cy="2277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6" name="직선 연결선 145"/>
            <p:cNvCxnSpPr>
              <a:endCxn id="131" idx="3"/>
            </p:cNvCxnSpPr>
            <p:nvPr/>
          </p:nvCxnSpPr>
          <p:spPr bwMode="auto">
            <a:xfrm flipH="1">
              <a:off x="4664968" y="5472216"/>
              <a:ext cx="670522" cy="571606"/>
            </a:xfrm>
            <a:prstGeom prst="line">
              <a:avLst/>
            </a:prstGeom>
            <a:solidFill>
              <a:srgbClr val="FBB779"/>
            </a:solidFill>
            <a:ln w="12700" cap="rnd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</p:spPr>
        </p:cxnSp>
        <p:cxnSp>
          <p:nvCxnSpPr>
            <p:cNvPr id="147" name="직선 연결선 146"/>
            <p:cNvCxnSpPr>
              <a:stCxn id="128" idx="2"/>
            </p:cNvCxnSpPr>
            <p:nvPr/>
          </p:nvCxnSpPr>
          <p:spPr bwMode="auto">
            <a:xfrm flipH="1">
              <a:off x="8558070" y="5622057"/>
              <a:ext cx="1" cy="157900"/>
            </a:xfrm>
            <a:prstGeom prst="line">
              <a:avLst/>
            </a:prstGeom>
            <a:solidFill>
              <a:srgbClr val="FBB779"/>
            </a:solidFill>
            <a:ln w="22225" cap="rnd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triangle" w="lg" len="med"/>
            </a:ln>
            <a:effectLst/>
          </p:spPr>
        </p:cxnSp>
        <p:pic>
          <p:nvPicPr>
            <p:cNvPr id="148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2390513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2965281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3540049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4114817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4689585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5264353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50" descr="D:\모스트비주얼\아이콘 작업\왜가리\2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451617" y="5839120"/>
              <a:ext cx="243913" cy="431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8196542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표준 코드 수립은 재사용성</a:t>
            </a:r>
            <a:r>
              <a:rPr lang="en-US" altLang="ko-KR" dirty="0"/>
              <a:t>, </a:t>
            </a:r>
            <a:r>
              <a:rPr lang="ko-KR" altLang="en-US" dirty="0"/>
              <a:t>일관성</a:t>
            </a:r>
            <a:r>
              <a:rPr lang="en-US" altLang="ko-KR" dirty="0"/>
              <a:t>, </a:t>
            </a:r>
            <a:r>
              <a:rPr lang="ko-KR" altLang="en-US" dirty="0"/>
              <a:t>정보분석성의 </a:t>
            </a:r>
            <a:r>
              <a:rPr lang="en-US" altLang="ko-KR" dirty="0"/>
              <a:t>3</a:t>
            </a:r>
            <a:r>
              <a:rPr lang="ko-KR" altLang="en-US" dirty="0"/>
              <a:t>가지 관리 기준에 맞게 코드 표준화를 진행하며</a:t>
            </a:r>
            <a:r>
              <a:rPr lang="en-US" altLang="ko-KR" dirty="0"/>
              <a:t>, </a:t>
            </a:r>
            <a:r>
              <a:rPr lang="ko-KR" altLang="en-US" dirty="0"/>
              <a:t>관리지침 및 절차는 다음과 같음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pc="-150" smtClean="0"/>
              <a:t>3.7.2 </a:t>
            </a:r>
            <a:r>
              <a:rPr lang="ko-KR" altLang="en-US" spc="-150" smtClean="0"/>
              <a:t>데이터 표준화 설계  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3.7.2.6 </a:t>
            </a:r>
            <a:r>
              <a:rPr lang="ko-KR" altLang="en-US" sz="1800" smtClean="0"/>
              <a:t>표준 </a:t>
            </a:r>
            <a:r>
              <a:rPr lang="ko-KR" altLang="en-US" sz="1800" dirty="0"/>
              <a:t>코드 </a:t>
            </a:r>
            <a:r>
              <a:rPr lang="en-US" altLang="ko-KR" sz="1800" dirty="0"/>
              <a:t>&gt; </a:t>
            </a:r>
            <a:r>
              <a:rPr lang="ko-KR" altLang="en-US" sz="1800" dirty="0"/>
              <a:t>관리 기준과 지침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sp>
        <p:nvSpPr>
          <p:cNvPr id="18" name="직사각형 17"/>
          <p:cNvSpPr/>
          <p:nvPr/>
        </p:nvSpPr>
        <p:spPr bwMode="auto">
          <a:xfrm>
            <a:off x="5260925" y="1592263"/>
            <a:ext cx="1893275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관리 지침</a:t>
            </a:r>
          </a:p>
        </p:txBody>
      </p:sp>
      <p:sp>
        <p:nvSpPr>
          <p:cNvPr id="19" name="직사각형 18"/>
          <p:cNvSpPr/>
          <p:nvPr/>
        </p:nvSpPr>
        <p:spPr bwMode="auto">
          <a:xfrm>
            <a:off x="5260926" y="1890801"/>
            <a:ext cx="1893275" cy="449094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dist="25400" dir="2700000" algn="tl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square" lIns="108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7313" indent="-87313" fontAlgn="base">
              <a:lnSpc>
                <a:spcPts val="1000"/>
              </a:lnSpc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0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경영정보시스템에서 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 생성 필요 시 해당 코드가 법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제도적으로 부여된 코드와 동일한지를 확인하고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동일한 값을 가지는 코드를 통합하여 단일화 작업을 수행한다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pPr marL="87313" indent="-87313" fontAlgn="base">
              <a:lnSpc>
                <a:spcPts val="1000"/>
              </a:lnSpc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코드는 데이터 표준관리자가 엄격한 기준에 따라 관리해야 하며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사용자 임의대로 코드 체계를 생성하거나 수정해서는 안 됨</a:t>
            </a:r>
            <a:endParaRPr kumimoji="1"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base">
              <a:lnSpc>
                <a:spcPts val="1000"/>
              </a:lnSpc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코드는 도메인과 밀접하게 연관되어 관리해야 하나 도메인에 값의 범위가 명확히 정의되어 있는 경우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예를 들어‘여부’는‘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Y/N’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으로 표기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에는 특별히 코드화하여 관리하지 않아도 됨</a:t>
            </a:r>
            <a:endParaRPr kumimoji="1" lang="en-US" altLang="ko-KR" sz="10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base">
              <a:lnSpc>
                <a:spcPts val="1000"/>
              </a:lnSpc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 코드는 특별한 사유가 없는 한 국제표준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-&gt;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국내표준</a:t>
            </a:r>
            <a:r>
              <a:rPr kumimoji="1"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-&gt;</a:t>
            </a:r>
            <a:r>
              <a:rPr kumimoji="1" lang="ko-KR" altLang="en-US" sz="10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행정표준</a:t>
            </a:r>
            <a:r>
              <a:rPr kumimoji="1" lang="en-US" altLang="ko-KR" sz="10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-&gt;</a:t>
            </a:r>
            <a:r>
              <a:rPr kumimoji="1" lang="ko-KR" altLang="en-US" sz="10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코레일테크표준 </a:t>
            </a:r>
            <a:r>
              <a:rPr kumimoji="1" lang="ko-KR" altLang="en-US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순으로 표준 코드를 선정하여야 함</a:t>
            </a:r>
          </a:p>
        </p:txBody>
      </p:sp>
      <p:sp>
        <p:nvSpPr>
          <p:cNvPr id="20" name="직사각형 19"/>
          <p:cNvSpPr/>
          <p:nvPr/>
        </p:nvSpPr>
        <p:spPr bwMode="auto">
          <a:xfrm>
            <a:off x="7308956" y="1592263"/>
            <a:ext cx="2216044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코드 표준화 절차</a:t>
            </a:r>
          </a:p>
        </p:txBody>
      </p:sp>
      <p:grpSp>
        <p:nvGrpSpPr>
          <p:cNvPr id="6" name="그룹 20"/>
          <p:cNvGrpSpPr/>
          <p:nvPr/>
        </p:nvGrpSpPr>
        <p:grpSpPr>
          <a:xfrm>
            <a:off x="341487" y="1986744"/>
            <a:ext cx="1402648" cy="2911964"/>
            <a:chOff x="2072680" y="3724632"/>
            <a:chExt cx="1309080" cy="2911964"/>
          </a:xfrm>
        </p:grpSpPr>
        <p:sp>
          <p:nvSpPr>
            <p:cNvPr id="22" name="AutoShape 27"/>
            <p:cNvSpPr>
              <a:spLocks noChangeArrowheads="1"/>
            </p:cNvSpPr>
            <p:nvPr/>
          </p:nvSpPr>
          <p:spPr bwMode="auto">
            <a:xfrm>
              <a:off x="2072680" y="3724632"/>
              <a:ext cx="1309080" cy="399338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>
              <a:defPPr>
                <a:defRPr lang="ko-KR"/>
              </a:defPPr>
              <a:lvl1pPr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1pPr>
              <a:lvl2pPr marL="4572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2pPr>
              <a:lvl3pPr marL="9144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3pPr>
              <a:lvl4pPr marL="13716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4pPr>
              <a:lvl5pPr marL="1828800" algn="ctr" rtl="0" fontAlgn="base" latinLnBrk="1">
                <a:spcBef>
                  <a:spcPct val="0"/>
                </a:spcBef>
                <a:spcAft>
                  <a:spcPct val="0"/>
                </a:spcAft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b="1" kern="1200">
                  <a:solidFill>
                    <a:schemeClr val="tx1"/>
                  </a:solidFill>
                  <a:latin typeface="HY중고딕" pitchFamily="18" charset="-127"/>
                  <a:ea typeface="HY중고딕" pitchFamily="18" charset="-127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표준 코드</a:t>
              </a: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2072680" y="4151542"/>
              <a:ext cx="1309080" cy="248505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</a:ln>
          </p:spPr>
          <p:txBody>
            <a:bodyPr wrap="square" anchor="ctr">
              <a:noAutofit/>
            </a:bodyPr>
            <a:lstStyle/>
            <a:p>
              <a:pPr marL="171450" indent="-171450">
                <a:spcBef>
                  <a:spcPts val="600"/>
                </a:spcBef>
              </a:pP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 </a:t>
              </a:r>
              <a:r>
                <a:rPr lang="ko-KR" altLang="en-US" sz="10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코드는 </a:t>
              </a:r>
              <a:r>
                <a:rPr lang="ko-KR" altLang="en-US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코레일테크의 </a:t>
              </a:r>
              <a:r>
                <a:rPr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모든 정보화 시스템에서 공통적으로 사용하도록 지정된 코드 데이터임</a:t>
              </a:r>
              <a:endParaRPr lang="en-US" altLang="ko-KR" sz="10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>
                <a:spcBef>
                  <a:spcPts val="600"/>
                </a:spcBef>
              </a:pP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표준코드는 국제표준</a:t>
              </a:r>
              <a:r>
                <a: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국내표준</a:t>
              </a:r>
              <a:r>
                <a:rPr kumimoji="1"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행정표준</a:t>
              </a:r>
              <a:r>
                <a:rPr kumimoji="1" lang="en-US" altLang="ko-KR" sz="10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kumimoji="1" lang="ko-KR" altLang="en-US" sz="10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코레일테크표준으로 </a:t>
              </a:r>
              <a:r>
                <a:rPr kumimoji="1" lang="ko-KR" altLang="en-US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분류됨</a:t>
              </a:r>
            </a:p>
          </p:txBody>
        </p:sp>
      </p:grpSp>
      <p:sp>
        <p:nvSpPr>
          <p:cNvPr id="24" name="직사각형 23"/>
          <p:cNvSpPr/>
          <p:nvPr/>
        </p:nvSpPr>
        <p:spPr bwMode="auto">
          <a:xfrm>
            <a:off x="341510" y="1592263"/>
            <a:ext cx="1387831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표준 코드 구성 </a:t>
            </a:r>
          </a:p>
        </p:txBody>
      </p:sp>
      <p:sp>
        <p:nvSpPr>
          <p:cNvPr id="30" name="직사각형 29"/>
          <p:cNvSpPr/>
          <p:nvPr/>
        </p:nvSpPr>
        <p:spPr bwMode="auto">
          <a:xfrm>
            <a:off x="1955006" y="1592263"/>
            <a:ext cx="3151164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rPr>
              <a:t>관리 기준</a:t>
            </a:r>
          </a:p>
        </p:txBody>
      </p:sp>
      <p:sp>
        <p:nvSpPr>
          <p:cNvPr id="31" name="Rectangle 79"/>
          <p:cNvSpPr>
            <a:spLocks noChangeArrowheads="1"/>
          </p:cNvSpPr>
          <p:nvPr/>
        </p:nvSpPr>
        <p:spPr bwMode="auto">
          <a:xfrm>
            <a:off x="2835371" y="1988840"/>
            <a:ext cx="2270798" cy="1373675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80000" bIns="18000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87313" indent="-87313" algn="l">
              <a:lnSpc>
                <a:spcPts val="1000"/>
              </a:lnSpc>
              <a:spcBef>
                <a:spcPts val="0"/>
              </a:spcBef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표준 코드는 자체적으로 정의하여 사용하는 것보다 표준화 기구나 정부</a:t>
            </a:r>
            <a:r>
              <a: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공공 기관에서 정의한 코드를 재사용하면 코드 관리를 용이하게 하는 데 더 효과적임</a:t>
            </a:r>
          </a:p>
        </p:txBody>
      </p:sp>
      <p:sp>
        <p:nvSpPr>
          <p:cNvPr id="32" name="AutoShape 27"/>
          <p:cNvSpPr>
            <a:spLocks noChangeArrowheads="1"/>
          </p:cNvSpPr>
          <p:nvPr/>
        </p:nvSpPr>
        <p:spPr bwMode="auto">
          <a:xfrm>
            <a:off x="1955006" y="1988840"/>
            <a:ext cx="832742" cy="399338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1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재사용성</a:t>
            </a:r>
          </a:p>
        </p:txBody>
      </p:sp>
      <p:sp>
        <p:nvSpPr>
          <p:cNvPr id="33" name="AutoShape 27"/>
          <p:cNvSpPr>
            <a:spLocks noChangeArrowheads="1"/>
          </p:cNvSpPr>
          <p:nvPr/>
        </p:nvSpPr>
        <p:spPr bwMode="auto">
          <a:xfrm>
            <a:off x="1955006" y="3480138"/>
            <a:ext cx="832742" cy="399338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1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일관성</a:t>
            </a:r>
          </a:p>
        </p:txBody>
      </p:sp>
      <p:sp>
        <p:nvSpPr>
          <p:cNvPr id="38" name="AutoShape 27"/>
          <p:cNvSpPr>
            <a:spLocks noChangeArrowheads="1"/>
          </p:cNvSpPr>
          <p:nvPr/>
        </p:nvSpPr>
        <p:spPr bwMode="auto">
          <a:xfrm>
            <a:off x="1955006" y="4857901"/>
            <a:ext cx="832742" cy="399338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solidFill>
              <a:schemeClr val="accent1">
                <a:lumMod val="75000"/>
              </a:schemeClr>
            </a:solidFill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1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정보 분석성</a:t>
            </a:r>
          </a:p>
        </p:txBody>
      </p:sp>
      <p:sp>
        <p:nvSpPr>
          <p:cNvPr id="39" name="Rectangle 79"/>
          <p:cNvSpPr>
            <a:spLocks noChangeArrowheads="1"/>
          </p:cNvSpPr>
          <p:nvPr/>
        </p:nvSpPr>
        <p:spPr bwMode="auto">
          <a:xfrm>
            <a:off x="2835371" y="3483053"/>
            <a:ext cx="2270798" cy="1257225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80000" bIns="18000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87313" indent="-87313" algn="l">
              <a:lnSpc>
                <a:spcPts val="1000"/>
              </a:lnSpc>
              <a:spcBef>
                <a:spcPts val="0"/>
              </a:spcBef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코드는 업무 범위 내에서 가능한 한 유일하게 정의해야 함</a:t>
            </a:r>
            <a:r>
              <a: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동일한 내용의 코드를 사용 형태나 업무 범위에 따라 중복 정의하여 사용할 경우 전사 차원의 코드 데이터의 중복은 물론 코드 데이터의 불일치 </a:t>
            </a:r>
            <a:r>
              <a: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(Inconsistency)</a:t>
            </a: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라는 보다 심각한 문제를 야기할 수 있음</a:t>
            </a:r>
          </a:p>
        </p:txBody>
      </p:sp>
      <p:sp>
        <p:nvSpPr>
          <p:cNvPr id="43" name="Rectangle 79"/>
          <p:cNvSpPr>
            <a:spLocks noChangeArrowheads="1"/>
          </p:cNvSpPr>
          <p:nvPr/>
        </p:nvSpPr>
        <p:spPr bwMode="auto">
          <a:xfrm>
            <a:off x="2835371" y="4860816"/>
            <a:ext cx="2270798" cy="1464060"/>
          </a:xfrm>
          <a:prstGeom prst="rect">
            <a:avLst/>
          </a:prstGeom>
          <a:noFill/>
          <a:ln w="952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8EB4DA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80000" bIns="18000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 marL="87313" indent="-87313" algn="l">
              <a:lnSpc>
                <a:spcPts val="1000"/>
              </a:lnSpc>
              <a:spcBef>
                <a:spcPts val="0"/>
              </a:spcBef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가능한 범위의 데이터는 모두 </a:t>
            </a:r>
            <a:r>
              <a:rPr lang="ko-KR" altLang="en-US" sz="1000" b="0" dirty="0" err="1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코드화하여</a:t>
            </a: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관리함</a:t>
            </a:r>
            <a:r>
              <a:rPr lang="en-US" altLang="ko-KR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b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즉 사용자가 텍스트로 직접 입력하는 값을 최소화하고 정의된 범위 안에서 선택하도록 함으로써 정보 분석 시에 데이터는 있으나 분석 가치가 없는 데이터가 양산되지 않도록 함</a:t>
            </a:r>
          </a:p>
        </p:txBody>
      </p:sp>
      <p:cxnSp>
        <p:nvCxnSpPr>
          <p:cNvPr id="44" name="AutoShape 73"/>
          <p:cNvCxnSpPr>
            <a:cxnSpLocks noChangeShapeType="1"/>
            <a:stCxn id="22" idx="3"/>
            <a:endCxn id="32" idx="1"/>
          </p:cNvCxnSpPr>
          <p:nvPr/>
        </p:nvCxnSpPr>
        <p:spPr bwMode="auto">
          <a:xfrm>
            <a:off x="1744135" y="2186413"/>
            <a:ext cx="210871" cy="209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" name="AutoShape 73"/>
          <p:cNvCxnSpPr>
            <a:cxnSpLocks noChangeShapeType="1"/>
            <a:stCxn id="22" idx="3"/>
            <a:endCxn id="33" idx="1"/>
          </p:cNvCxnSpPr>
          <p:nvPr/>
        </p:nvCxnSpPr>
        <p:spPr bwMode="auto">
          <a:xfrm>
            <a:off x="1744135" y="2186413"/>
            <a:ext cx="210871" cy="1493394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" name="AutoShape 73"/>
          <p:cNvCxnSpPr>
            <a:cxnSpLocks noChangeShapeType="1"/>
            <a:stCxn id="22" idx="3"/>
            <a:endCxn id="38" idx="1"/>
          </p:cNvCxnSpPr>
          <p:nvPr/>
        </p:nvCxnSpPr>
        <p:spPr bwMode="auto">
          <a:xfrm>
            <a:off x="1744135" y="2186413"/>
            <a:ext cx="210871" cy="287115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8080"/>
            </a:solidFill>
            <a:miter lim="800000"/>
            <a:headEnd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7" name="직사각형 46"/>
          <p:cNvSpPr/>
          <p:nvPr/>
        </p:nvSpPr>
        <p:spPr bwMode="auto">
          <a:xfrm>
            <a:off x="7308956" y="1890801"/>
            <a:ext cx="2216044" cy="4490949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dist="25400" dir="2700000" algn="tl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square" lIns="108000" tIns="36000" rIns="72000" bIns="36000" numCol="1" rtlCol="0" anchor="t" anchorCtr="0" compatLnSpc="1">
            <a:prstTxWarp prst="textNoShape">
              <a:avLst/>
            </a:prstTxWarp>
          </a:bodyPr>
          <a:lstStyle/>
          <a:p>
            <a:pPr marL="182563" indent="-182563">
              <a:spcBef>
                <a:spcPts val="1200"/>
              </a:spcBef>
              <a:buClr>
                <a:prstClr val="black"/>
              </a:buClr>
              <a:buFont typeface="Wingdings" pitchFamily="2" charset="2"/>
              <a:buChar char="q"/>
            </a:pPr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AutoShape 27"/>
          <p:cNvSpPr>
            <a:spLocks noChangeArrowheads="1"/>
          </p:cNvSpPr>
          <p:nvPr/>
        </p:nvSpPr>
        <p:spPr bwMode="auto">
          <a:xfrm>
            <a:off x="7392366" y="5337212"/>
            <a:ext cx="2068022" cy="32733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표준 코드 문서화</a:t>
            </a:r>
          </a:p>
        </p:txBody>
      </p:sp>
      <p:sp>
        <p:nvSpPr>
          <p:cNvPr id="49" name="AutoShape 27"/>
          <p:cNvSpPr>
            <a:spLocks noChangeArrowheads="1"/>
          </p:cNvSpPr>
          <p:nvPr/>
        </p:nvSpPr>
        <p:spPr bwMode="auto">
          <a:xfrm>
            <a:off x="7392366" y="2024844"/>
            <a:ext cx="2068022" cy="32733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현행 코드 테이블 식별</a:t>
            </a:r>
            <a:r>
              <a:rPr lang="en-US" altLang="ko-KR" sz="1000" b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b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000" b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b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코레일테크 </a:t>
            </a: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표준코드집 포함</a:t>
            </a:r>
            <a:r>
              <a:rPr lang="en-US" altLang="ko-KR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0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" name="AutoShape 27"/>
          <p:cNvSpPr>
            <a:spLocks noChangeArrowheads="1"/>
          </p:cNvSpPr>
          <p:nvPr/>
        </p:nvSpPr>
        <p:spPr bwMode="auto">
          <a:xfrm>
            <a:off x="7392366" y="2576905"/>
            <a:ext cx="2068022" cy="32733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중복 구조를 가진 테이블 통합</a:t>
            </a:r>
          </a:p>
        </p:txBody>
      </p:sp>
      <p:sp>
        <p:nvSpPr>
          <p:cNvPr id="51" name="AutoShape 27"/>
          <p:cNvSpPr>
            <a:spLocks noChangeArrowheads="1"/>
          </p:cNvSpPr>
          <p:nvPr/>
        </p:nvSpPr>
        <p:spPr bwMode="auto">
          <a:xfrm>
            <a:off x="7392366" y="3128966"/>
            <a:ext cx="2068022" cy="327331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국제표준코드 대체 가능성 검토</a:t>
            </a:r>
          </a:p>
        </p:txBody>
      </p:sp>
      <p:cxnSp>
        <p:nvCxnSpPr>
          <p:cNvPr id="52" name="직선 연결선 51"/>
          <p:cNvCxnSpPr>
            <a:stCxn id="49" idx="2"/>
            <a:endCxn id="50" idx="0"/>
          </p:cNvCxnSpPr>
          <p:nvPr/>
        </p:nvCxnSpPr>
        <p:spPr bwMode="auto">
          <a:xfrm>
            <a:off x="8426378" y="2352174"/>
            <a:ext cx="0" cy="224731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cxnSp>
        <p:nvCxnSpPr>
          <p:cNvPr id="53" name="직선 연결선 52"/>
          <p:cNvCxnSpPr>
            <a:stCxn id="50" idx="2"/>
            <a:endCxn id="51" idx="0"/>
          </p:cNvCxnSpPr>
          <p:nvPr/>
        </p:nvCxnSpPr>
        <p:spPr bwMode="auto">
          <a:xfrm>
            <a:off x="8426378" y="2904235"/>
            <a:ext cx="0" cy="224731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cxnSp>
        <p:nvCxnSpPr>
          <p:cNvPr id="54" name="직선 연결선 53"/>
          <p:cNvCxnSpPr>
            <a:stCxn id="51" idx="2"/>
            <a:endCxn id="57" idx="0"/>
          </p:cNvCxnSpPr>
          <p:nvPr/>
        </p:nvCxnSpPr>
        <p:spPr bwMode="auto">
          <a:xfrm>
            <a:off x="8426378" y="3456297"/>
            <a:ext cx="0" cy="224731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sp>
        <p:nvSpPr>
          <p:cNvPr id="55" name="원통 54"/>
          <p:cNvSpPr/>
          <p:nvPr/>
        </p:nvSpPr>
        <p:spPr>
          <a:xfrm>
            <a:off x="7911777" y="5871721"/>
            <a:ext cx="1068451" cy="401595"/>
          </a:xfrm>
          <a:prstGeom prst="can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10800000" scaled="1"/>
            <a:tileRect/>
          </a:gra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 pitchFamily="50" charset="-127"/>
                <a:ea typeface="맑은 고딕" pitchFamily="50" charset="-127"/>
              </a:rPr>
              <a:t>메타데이터</a:t>
            </a:r>
            <a:r>
              <a:rPr lang="en-US" altLang="ko-KR" sz="10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 pitchFamily="50" charset="-127"/>
                <a:ea typeface="맑은 고딕" pitchFamily="50" charset="-127"/>
              </a:rPr>
              <a:t>리파지토리</a:t>
            </a:r>
          </a:p>
        </p:txBody>
      </p:sp>
      <p:cxnSp>
        <p:nvCxnSpPr>
          <p:cNvPr id="56" name="직선 연결선 55"/>
          <p:cNvCxnSpPr>
            <a:stCxn id="48" idx="2"/>
            <a:endCxn id="55" idx="1"/>
          </p:cNvCxnSpPr>
          <p:nvPr/>
        </p:nvCxnSpPr>
        <p:spPr bwMode="auto">
          <a:xfrm>
            <a:off x="8426378" y="5664542"/>
            <a:ext cx="19624" cy="207179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sp>
        <p:nvSpPr>
          <p:cNvPr id="57" name="AutoShape 27"/>
          <p:cNvSpPr>
            <a:spLocks noChangeArrowheads="1"/>
          </p:cNvSpPr>
          <p:nvPr/>
        </p:nvSpPr>
        <p:spPr bwMode="auto">
          <a:xfrm>
            <a:off x="7392366" y="3681028"/>
            <a:ext cx="2068022" cy="327331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국내표준코드 대체 가능성 검토</a:t>
            </a:r>
          </a:p>
        </p:txBody>
      </p:sp>
      <p:sp>
        <p:nvSpPr>
          <p:cNvPr id="58" name="AutoShape 27"/>
          <p:cNvSpPr>
            <a:spLocks noChangeArrowheads="1"/>
          </p:cNvSpPr>
          <p:nvPr/>
        </p:nvSpPr>
        <p:spPr bwMode="auto">
          <a:xfrm>
            <a:off x="7392366" y="4233090"/>
            <a:ext cx="2068022" cy="327331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행정표준코드 대체 가능성 검토</a:t>
            </a:r>
          </a:p>
        </p:txBody>
      </p:sp>
      <p:cxnSp>
        <p:nvCxnSpPr>
          <p:cNvPr id="59" name="직선 연결선 58"/>
          <p:cNvCxnSpPr>
            <a:stCxn id="57" idx="2"/>
            <a:endCxn id="58" idx="0"/>
          </p:cNvCxnSpPr>
          <p:nvPr/>
        </p:nvCxnSpPr>
        <p:spPr bwMode="auto">
          <a:xfrm>
            <a:off x="8426378" y="4008359"/>
            <a:ext cx="0" cy="224731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cxnSp>
        <p:nvCxnSpPr>
          <p:cNvPr id="60" name="직선 연결선 59"/>
          <p:cNvCxnSpPr>
            <a:stCxn id="58" idx="2"/>
            <a:endCxn id="61" idx="0"/>
          </p:cNvCxnSpPr>
          <p:nvPr/>
        </p:nvCxnSpPr>
        <p:spPr bwMode="auto">
          <a:xfrm>
            <a:off x="8426378" y="4560421"/>
            <a:ext cx="0" cy="224731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  <p:sp>
        <p:nvSpPr>
          <p:cNvPr id="61" name="AutoShape 27"/>
          <p:cNvSpPr>
            <a:spLocks noChangeArrowheads="1"/>
          </p:cNvSpPr>
          <p:nvPr/>
        </p:nvSpPr>
        <p:spPr bwMode="auto">
          <a:xfrm>
            <a:off x="7392366" y="4785152"/>
            <a:ext cx="2068022" cy="32733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solidFill>
              <a:schemeClr val="bg1">
                <a:lumMod val="50000"/>
              </a:schemeClr>
            </a:solidFill>
            <a:prstDash val="solid"/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b="1" kern="1200">
                <a:solidFill>
                  <a:schemeClr val="tx1"/>
                </a:solidFill>
                <a:latin typeface="HY중고딕" pitchFamily="18" charset="-127"/>
                <a:ea typeface="HY중고딕" pitchFamily="18" charset="-127"/>
                <a:cs typeface="+mn-cs"/>
              </a:defRPr>
            </a:lvl9pPr>
          </a:lstStyle>
          <a:p>
            <a:pPr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코드테이블 정제</a:t>
            </a:r>
          </a:p>
        </p:txBody>
      </p:sp>
      <p:cxnSp>
        <p:nvCxnSpPr>
          <p:cNvPr id="62" name="직선 연결선 61"/>
          <p:cNvCxnSpPr>
            <a:stCxn id="61" idx="2"/>
            <a:endCxn id="48" idx="0"/>
          </p:cNvCxnSpPr>
          <p:nvPr/>
        </p:nvCxnSpPr>
        <p:spPr bwMode="auto">
          <a:xfrm>
            <a:off x="8426378" y="5112482"/>
            <a:ext cx="0" cy="224730"/>
          </a:xfrm>
          <a:prstGeom prst="line">
            <a:avLst/>
          </a:prstGeom>
          <a:solidFill>
            <a:srgbClr val="FBB779"/>
          </a:solidFill>
          <a:ln w="28575" cap="rnd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triangle" w="lg" len="lg"/>
          </a:ln>
          <a:effectLst/>
        </p:spPr>
      </p:cxnSp>
    </p:spTree>
    <p:extLst>
      <p:ext uri="{BB962C8B-B14F-4D97-AF65-F5344CB8AC3E}">
        <p14:creationId xmlns:p14="http://schemas.microsoft.com/office/powerpoint/2010/main" val="2200764134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품질관리 프로세스는 데이터 관리요소 전체를 커버하는 </a:t>
            </a:r>
            <a:r>
              <a:rPr lang="en-US" altLang="ko-KR" dirty="0"/>
              <a:t>6</a:t>
            </a:r>
            <a:r>
              <a:rPr lang="ko-KR" altLang="en-US" dirty="0"/>
              <a:t>개의 표준 프로세스영역</a:t>
            </a:r>
            <a:r>
              <a:rPr lang="en-US" altLang="ko-KR" dirty="0"/>
              <a:t>(</a:t>
            </a:r>
            <a:r>
              <a:rPr lang="ko-KR" altLang="en-US" dirty="0"/>
              <a:t>데이터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표준관리</a:t>
            </a:r>
            <a:r>
              <a:rPr lang="en-US" altLang="ko-KR" dirty="0"/>
              <a:t>, </a:t>
            </a:r>
            <a:r>
              <a:rPr lang="ko-KR" altLang="en-US" dirty="0"/>
              <a:t>데이터 구조관리</a:t>
            </a:r>
            <a:r>
              <a:rPr lang="en-US" altLang="ko-KR" dirty="0"/>
              <a:t>, </a:t>
            </a:r>
            <a:r>
              <a:rPr lang="ko-KR" altLang="en-US" dirty="0"/>
              <a:t>데이터 연계관리</a:t>
            </a:r>
            <a:r>
              <a:rPr lang="en-US" altLang="ko-KR" dirty="0"/>
              <a:t>, </a:t>
            </a:r>
            <a:r>
              <a:rPr lang="ko-KR" altLang="en-US" dirty="0"/>
              <a:t>데이터 품질관리</a:t>
            </a:r>
            <a:r>
              <a:rPr lang="en-US" altLang="ko-KR" dirty="0"/>
              <a:t>, </a:t>
            </a:r>
            <a:r>
              <a:rPr lang="ko-KR" altLang="en-US" dirty="0"/>
              <a:t>데이터베이스 관리</a:t>
            </a:r>
            <a:r>
              <a:rPr lang="en-US" altLang="ko-KR" dirty="0"/>
              <a:t>, </a:t>
            </a:r>
            <a:r>
              <a:rPr lang="ko-KR" altLang="en-US" dirty="0"/>
              <a:t>데이터 보안관리</a:t>
            </a:r>
            <a:r>
              <a:rPr lang="en-US" altLang="ko-KR" dirty="0"/>
              <a:t>)</a:t>
            </a:r>
            <a:r>
              <a:rPr lang="ko-KR" altLang="en-US" dirty="0"/>
              <a:t>에</a:t>
            </a:r>
            <a:r>
              <a:rPr lang="en-US" altLang="ko-KR" dirty="0"/>
              <a:t> </a:t>
            </a:r>
            <a:r>
              <a:rPr lang="ko-KR" altLang="en-US" dirty="0"/>
              <a:t>대한 관리 절차를 수립함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 smtClean="0"/>
              <a:t>3.7.3 </a:t>
            </a:r>
            <a:r>
              <a:rPr lang="ko-KR" altLang="en-US" spc="-150" dirty="0"/>
              <a:t>데이터 </a:t>
            </a:r>
            <a:r>
              <a:rPr lang="ko-KR" altLang="en-US" spc="-150"/>
              <a:t>품질관리체계 </a:t>
            </a:r>
            <a:r>
              <a:rPr lang="ko-KR" altLang="en-US" spc="-150" smtClean="0"/>
              <a:t>수립</a:t>
            </a:r>
            <a:r>
              <a:rPr lang="en-US" altLang="ko-KR" spc="-150" smtClean="0"/>
              <a:t/>
            </a:r>
            <a:br>
              <a:rPr lang="en-US" altLang="ko-KR" spc="-150" smtClean="0"/>
            </a:br>
            <a:r>
              <a:rPr lang="en-US" altLang="ko-KR" sz="1800" spc="-150" smtClean="0"/>
              <a:t>3.7.3.1 </a:t>
            </a:r>
            <a:r>
              <a:rPr lang="ko-KR" altLang="en-US" sz="1800" spc="-150" dirty="0"/>
              <a:t>데이터 </a:t>
            </a:r>
            <a:r>
              <a:rPr lang="ko-KR" altLang="en-US" sz="1800" spc="-150"/>
              <a:t>품질관리 </a:t>
            </a:r>
            <a:r>
              <a:rPr lang="ko-KR" altLang="en-US" sz="1800" spc="-150" smtClean="0"/>
              <a:t>개요</a:t>
            </a:r>
            <a:r>
              <a:rPr lang="en-US" altLang="ko-KR" sz="1800" spc="-150" smtClean="0"/>
              <a:t> 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39130" y="1592840"/>
            <a:ext cx="9222383" cy="4785734"/>
            <a:chOff x="201528" y="1592840"/>
            <a:chExt cx="9487624" cy="4785734"/>
          </a:xfrm>
        </p:grpSpPr>
        <p:grpSp>
          <p:nvGrpSpPr>
            <p:cNvPr id="6" name="그룹 56"/>
            <p:cNvGrpSpPr/>
            <p:nvPr/>
          </p:nvGrpSpPr>
          <p:grpSpPr>
            <a:xfrm>
              <a:off x="7616099" y="1592840"/>
              <a:ext cx="2073053" cy="4785734"/>
              <a:chOff x="200025" y="1592840"/>
              <a:chExt cx="4680967" cy="4785734"/>
            </a:xfrm>
          </p:grpSpPr>
          <p:sp>
            <p:nvSpPr>
              <p:cNvPr id="58" name="직사각형 57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구성 방안</a:t>
                </a:r>
              </a:p>
            </p:txBody>
          </p:sp>
          <p:sp>
            <p:nvSpPr>
              <p:cNvPr id="59" name="직사각형 58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프로세스는 </a:t>
                </a:r>
                <a:r>
                  <a:rPr lang="en-US" altLang="ko-KR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6</a:t>
                </a: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개의  프로세스 영역 별로 작성되며 데이터 품질관리 프로세스는 각 프로세스 영역을 통합한 통합 프로세스 문서로 작성됨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현행 각 기관의 업무 처리 방식 중 효율적인 업무 절차를 반영하여 작성함</a:t>
                </a: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프로세스 수립 시 고려 사항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관리 요소의 기능 정의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프로세스 정의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프로세스 수행을 위한 시작조건</a:t>
                </a:r>
                <a:r>
                  <a:rPr lang="en-US" altLang="ko-KR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, </a:t>
                </a: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출력조건 관련 시스템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프로세스 수행 조건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프로세스 수행 주체자의 책임과 역할</a:t>
                </a:r>
                <a:r>
                  <a:rPr lang="en-US" altLang="ko-KR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 </a:t>
                </a:r>
                <a:endParaRPr lang="en-US" altLang="ko-KR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90488" indent="-90488">
                  <a:buClr>
                    <a:srgbClr val="000000"/>
                  </a:buClr>
                  <a:buFont typeface="Wingdings" panose="05000000000000000000" pitchFamily="2" charset="2"/>
                  <a:buChar char="§"/>
                </a:pPr>
                <a:r>
                  <a:rPr lang="ko-KR" altLang="en-US" sz="105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프로세스 목차</a:t>
                </a: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목적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책임과 역할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시작 조건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작업 절차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확인 검증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종료 조건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측정 분석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marL="271463" lvl="1" indent="-171450">
                  <a:lnSpc>
                    <a:spcPts val="1000"/>
                  </a:lnSpc>
                  <a:buClr>
                    <a:srgbClr val="000000"/>
                  </a:buClr>
                  <a:buFont typeface="Wingdings" panose="05000000000000000000" pitchFamily="2" charset="2"/>
                  <a:buChar char="ü"/>
                </a:pPr>
                <a:r>
                  <a:rPr lang="ko-KR" altLang="en-US" sz="10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관련 문서</a:t>
                </a:r>
                <a:endParaRPr lang="en-US" altLang="ko-KR" sz="10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59"/>
            <p:cNvGrpSpPr/>
            <p:nvPr/>
          </p:nvGrpSpPr>
          <p:grpSpPr>
            <a:xfrm>
              <a:off x="201528" y="1592840"/>
              <a:ext cx="7271690" cy="4785734"/>
              <a:chOff x="200025" y="1592840"/>
              <a:chExt cx="4680967" cy="4785734"/>
            </a:xfrm>
          </p:grpSpPr>
          <p:sp>
            <p:nvSpPr>
              <p:cNvPr id="61" name="직사각형 60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smtClean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경영정보시스템 </a:t>
                </a: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표준 </a:t>
                </a:r>
                <a:r>
                  <a:rPr lang="en-US" altLang="ko-KR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『</a:t>
                </a: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품질관리 프로세스</a:t>
                </a:r>
                <a:r>
                  <a:rPr lang="en-US" altLang="ko-KR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』 </a:t>
                </a: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구성</a:t>
                </a:r>
              </a:p>
            </p:txBody>
          </p:sp>
          <p:sp>
            <p:nvSpPr>
              <p:cNvPr id="62" name="직사각형 61"/>
              <p:cNvSpPr/>
              <p:nvPr/>
            </p:nvSpPr>
            <p:spPr bwMode="auto">
              <a:xfrm>
                <a:off x="200025" y="1916831"/>
                <a:ext cx="4680967" cy="4461743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63" name="Rectangle 15"/>
            <p:cNvSpPr>
              <a:spLocks noChangeArrowheads="1"/>
            </p:cNvSpPr>
            <p:nvPr/>
          </p:nvSpPr>
          <p:spPr bwMode="auto">
            <a:xfrm>
              <a:off x="2417463" y="5437759"/>
              <a:ext cx="4962645" cy="871560"/>
            </a:xfrm>
            <a:prstGeom prst="rect">
              <a:avLst/>
            </a:prstGeom>
            <a:noFill/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4" name="Rectangle 32"/>
            <p:cNvSpPr>
              <a:spLocks noChangeArrowheads="1"/>
            </p:cNvSpPr>
            <p:nvPr/>
          </p:nvSpPr>
          <p:spPr bwMode="auto">
            <a:xfrm>
              <a:off x="2417463" y="5439176"/>
              <a:ext cx="4962645" cy="26582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ETVX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모델</a:t>
              </a:r>
            </a:p>
          </p:txBody>
        </p:sp>
        <p:sp>
          <p:nvSpPr>
            <p:cNvPr id="65" name="직사각형 64"/>
            <p:cNvSpPr/>
            <p:nvPr/>
          </p:nvSpPr>
          <p:spPr>
            <a:xfrm>
              <a:off x="5560178" y="5458566"/>
              <a:ext cx="182589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i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(Entry, Task, Verification, eXit)</a:t>
              </a:r>
              <a:endParaRPr lang="ko-KR" altLang="en-US" sz="900" i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6" name="Rectangle 19"/>
            <p:cNvSpPr>
              <a:spLocks noChangeArrowheads="1"/>
            </p:cNvSpPr>
            <p:nvPr/>
          </p:nvSpPr>
          <p:spPr bwMode="auto">
            <a:xfrm>
              <a:off x="3430974" y="5805263"/>
              <a:ext cx="542010" cy="39765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시작 조건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(Entry)</a:t>
              </a:r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7" name="AutoShape 56"/>
            <p:cNvSpPr>
              <a:spLocks noChangeArrowheads="1"/>
            </p:cNvSpPr>
            <p:nvPr/>
          </p:nvSpPr>
          <p:spPr bwMode="auto">
            <a:xfrm flipH="1">
              <a:off x="3116795" y="5058962"/>
              <a:ext cx="3852583" cy="243860"/>
            </a:xfrm>
            <a:prstGeom prst="triangle">
              <a:avLst>
                <a:gd name="adj" fmla="val 49530"/>
              </a:avLst>
            </a:prstGeom>
            <a:solidFill>
              <a:schemeClr val="bg1">
                <a:lumMod val="85000"/>
              </a:schemeClr>
            </a:solidFill>
            <a:ln w="38100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400" kern="1200">
                  <a:solidFill>
                    <a:srgbClr val="FFFFFF"/>
                  </a:solidFill>
                  <a:latin typeface="Arial Narrow" pitchFamily="34" charset="0"/>
                  <a:ea typeface="돋움" pitchFamily="50" charset="-127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4082020" y="5085184"/>
              <a:ext cx="193143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ETVX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모델 구조로 프로세스 작성</a:t>
              </a:r>
            </a:p>
          </p:txBody>
        </p:sp>
        <p:sp>
          <p:nvSpPr>
            <p:cNvPr id="69" name="Rectangle 19"/>
            <p:cNvSpPr>
              <a:spLocks noChangeArrowheads="1"/>
            </p:cNvSpPr>
            <p:nvPr/>
          </p:nvSpPr>
          <p:spPr bwMode="auto">
            <a:xfrm>
              <a:off x="4108352" y="5805263"/>
              <a:ext cx="542010" cy="39765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작업 절차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(Task)</a:t>
              </a:r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Rectangle 19"/>
            <p:cNvSpPr>
              <a:spLocks noChangeArrowheads="1"/>
            </p:cNvSpPr>
            <p:nvPr/>
          </p:nvSpPr>
          <p:spPr bwMode="auto">
            <a:xfrm>
              <a:off x="4785730" y="5805263"/>
              <a:ext cx="628358" cy="39765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확인 검증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(Verification)</a:t>
              </a:r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1" name="Rectangle 19"/>
            <p:cNvSpPr>
              <a:spLocks noChangeArrowheads="1"/>
            </p:cNvSpPr>
            <p:nvPr/>
          </p:nvSpPr>
          <p:spPr bwMode="auto">
            <a:xfrm>
              <a:off x="5549456" y="5805263"/>
              <a:ext cx="628358" cy="39765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종료 조건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(eXit)</a:t>
              </a:r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14" name="직선 화살표 연결선 113"/>
            <p:cNvCxnSpPr>
              <a:stCxn id="66" idx="3"/>
              <a:endCxn id="69" idx="1"/>
            </p:cNvCxnSpPr>
            <p:nvPr/>
          </p:nvCxnSpPr>
          <p:spPr bwMode="auto">
            <a:xfrm>
              <a:off x="3972984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15" name="직선 화살표 연결선 114"/>
            <p:cNvCxnSpPr>
              <a:stCxn id="69" idx="3"/>
              <a:endCxn id="70" idx="1"/>
            </p:cNvCxnSpPr>
            <p:nvPr/>
          </p:nvCxnSpPr>
          <p:spPr bwMode="auto">
            <a:xfrm>
              <a:off x="4650362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16" name="직선 화살표 연결선 115"/>
            <p:cNvCxnSpPr>
              <a:stCxn id="70" idx="3"/>
              <a:endCxn id="71" idx="1"/>
            </p:cNvCxnSpPr>
            <p:nvPr/>
          </p:nvCxnSpPr>
          <p:spPr bwMode="auto">
            <a:xfrm>
              <a:off x="5414088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17" name="Rectangle 19"/>
            <p:cNvSpPr>
              <a:spLocks noChangeArrowheads="1"/>
            </p:cNvSpPr>
            <p:nvPr/>
          </p:nvSpPr>
          <p:spPr bwMode="auto">
            <a:xfrm>
              <a:off x="2458372" y="5805263"/>
              <a:ext cx="380495" cy="39765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목적</a:t>
              </a:r>
            </a:p>
          </p:txBody>
        </p:sp>
        <p:sp>
          <p:nvSpPr>
            <p:cNvPr id="118" name="Rectangle 19"/>
            <p:cNvSpPr>
              <a:spLocks noChangeArrowheads="1"/>
            </p:cNvSpPr>
            <p:nvPr/>
          </p:nvSpPr>
          <p:spPr bwMode="auto">
            <a:xfrm>
              <a:off x="2974235" y="5805263"/>
              <a:ext cx="321371" cy="39765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책임과</a:t>
              </a: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역할</a:t>
              </a:r>
            </a:p>
          </p:txBody>
        </p:sp>
        <p:sp>
          <p:nvSpPr>
            <p:cNvPr id="119" name="Rectangle 19"/>
            <p:cNvSpPr>
              <a:spLocks noChangeArrowheads="1"/>
            </p:cNvSpPr>
            <p:nvPr/>
          </p:nvSpPr>
          <p:spPr bwMode="auto">
            <a:xfrm>
              <a:off x="6313182" y="5805263"/>
              <a:ext cx="438883" cy="39765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측정분석</a:t>
              </a:r>
            </a:p>
          </p:txBody>
        </p:sp>
        <p:cxnSp>
          <p:nvCxnSpPr>
            <p:cNvPr id="120" name="직선 화살표 연결선 119"/>
            <p:cNvCxnSpPr>
              <a:stCxn id="117" idx="3"/>
              <a:endCxn id="118" idx="1"/>
            </p:cNvCxnSpPr>
            <p:nvPr/>
          </p:nvCxnSpPr>
          <p:spPr bwMode="auto">
            <a:xfrm>
              <a:off x="2838867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21" name="직선 화살표 연결선 120"/>
            <p:cNvCxnSpPr>
              <a:stCxn id="118" idx="3"/>
            </p:cNvCxnSpPr>
            <p:nvPr/>
          </p:nvCxnSpPr>
          <p:spPr bwMode="auto">
            <a:xfrm>
              <a:off x="3295606" y="6004092"/>
              <a:ext cx="107569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22" name="직선 화살표 연결선 121"/>
            <p:cNvCxnSpPr>
              <a:stCxn id="71" idx="3"/>
              <a:endCxn id="119" idx="1"/>
            </p:cNvCxnSpPr>
            <p:nvPr/>
          </p:nvCxnSpPr>
          <p:spPr bwMode="auto">
            <a:xfrm>
              <a:off x="6177814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23" name="Rectangle 19"/>
            <p:cNvSpPr>
              <a:spLocks noChangeArrowheads="1"/>
            </p:cNvSpPr>
            <p:nvPr/>
          </p:nvSpPr>
          <p:spPr bwMode="auto">
            <a:xfrm>
              <a:off x="6887433" y="5805263"/>
              <a:ext cx="438883" cy="397658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관련문서</a:t>
              </a:r>
            </a:p>
          </p:txBody>
        </p:sp>
        <p:cxnSp>
          <p:nvCxnSpPr>
            <p:cNvPr id="124" name="직선 화살표 연결선 123"/>
            <p:cNvCxnSpPr>
              <a:stCxn id="119" idx="3"/>
              <a:endCxn id="123" idx="1"/>
            </p:cNvCxnSpPr>
            <p:nvPr/>
          </p:nvCxnSpPr>
          <p:spPr bwMode="auto">
            <a:xfrm>
              <a:off x="6752065" y="6004092"/>
              <a:ext cx="135368" cy="0"/>
            </a:xfrm>
            <a:prstGeom prst="straightConnector1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25" name="Rectangle 21"/>
            <p:cNvSpPr>
              <a:spLocks noChangeArrowheads="1"/>
            </p:cNvSpPr>
            <p:nvPr/>
          </p:nvSpPr>
          <p:spPr bwMode="auto">
            <a:xfrm>
              <a:off x="1784648" y="5437758"/>
              <a:ext cx="587218" cy="871561"/>
            </a:xfrm>
            <a:prstGeom prst="homePlate">
              <a:avLst>
                <a:gd name="adj" fmla="val 28170"/>
              </a:avLst>
            </a:prstGeom>
            <a:solidFill>
              <a:schemeClr val="bg1">
                <a:lumMod val="75000"/>
              </a:schemeClr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모델</a:t>
              </a:r>
            </a:p>
          </p:txBody>
        </p:sp>
        <p:sp>
          <p:nvSpPr>
            <p:cNvPr id="126" name="Rectangle 15"/>
            <p:cNvSpPr>
              <a:spLocks noChangeArrowheads="1"/>
            </p:cNvSpPr>
            <p:nvPr/>
          </p:nvSpPr>
          <p:spPr bwMode="auto">
            <a:xfrm>
              <a:off x="3306254" y="1988840"/>
              <a:ext cx="3996445" cy="3020708"/>
            </a:xfrm>
            <a:prstGeom prst="rect">
              <a:avLst/>
            </a:prstGeom>
            <a:solidFill>
              <a:schemeClr val="accent3"/>
            </a:solidFill>
            <a:ln w="19050">
              <a:solidFill>
                <a:schemeClr val="accent2">
                  <a:lumMod val="50000"/>
                </a:schemeClr>
              </a:solidFill>
            </a:ln>
            <a:extLst/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ko-KR" altLang="en-US" sz="90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Rectangle 15"/>
            <p:cNvSpPr>
              <a:spLocks noChangeArrowheads="1"/>
            </p:cNvSpPr>
            <p:nvPr/>
          </p:nvSpPr>
          <p:spPr bwMode="auto">
            <a:xfrm>
              <a:off x="2683033" y="2453262"/>
              <a:ext cx="587218" cy="672110"/>
            </a:xfrm>
            <a:prstGeom prst="homePlate">
              <a:avLst>
                <a:gd name="adj" fmla="val 13731"/>
              </a:avLst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영역</a:t>
              </a:r>
            </a:p>
          </p:txBody>
        </p:sp>
        <p:sp>
          <p:nvSpPr>
            <p:cNvPr id="128" name="Rectangle 40"/>
            <p:cNvSpPr>
              <a:spLocks noChangeArrowheads="1"/>
            </p:cNvSpPr>
            <p:nvPr/>
          </p:nvSpPr>
          <p:spPr bwMode="auto">
            <a:xfrm>
              <a:off x="6134185" y="3821416"/>
              <a:ext cx="1006890" cy="718949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sp>
          <p:nvSpPr>
            <p:cNvPr id="129" name="Rectangle 46"/>
            <p:cNvSpPr>
              <a:spLocks noChangeArrowheads="1"/>
            </p:cNvSpPr>
            <p:nvPr/>
          </p:nvSpPr>
          <p:spPr bwMode="auto">
            <a:xfrm>
              <a:off x="6135295" y="4569129"/>
              <a:ext cx="1006890" cy="32951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보안관리</a:t>
              </a:r>
            </a:p>
          </p:txBody>
        </p:sp>
        <p:sp>
          <p:nvSpPr>
            <p:cNvPr id="130" name="Rectangle 81"/>
            <p:cNvSpPr>
              <a:spLocks noChangeArrowheads="1"/>
            </p:cNvSpPr>
            <p:nvPr/>
          </p:nvSpPr>
          <p:spPr bwMode="auto">
            <a:xfrm>
              <a:off x="6258520" y="3821416"/>
              <a:ext cx="200934" cy="28694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1" name="Rectangle 84"/>
            <p:cNvSpPr>
              <a:spLocks noChangeArrowheads="1"/>
            </p:cNvSpPr>
            <p:nvPr/>
          </p:nvSpPr>
          <p:spPr bwMode="auto">
            <a:xfrm>
              <a:off x="6409498" y="3821416"/>
              <a:ext cx="200934" cy="28694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2" name="Rectangle 101"/>
            <p:cNvSpPr>
              <a:spLocks noChangeArrowheads="1"/>
            </p:cNvSpPr>
            <p:nvPr/>
          </p:nvSpPr>
          <p:spPr bwMode="auto">
            <a:xfrm>
              <a:off x="6800264" y="3830876"/>
              <a:ext cx="337480" cy="14189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3" name="Rectangle 24"/>
            <p:cNvSpPr>
              <a:spLocks noChangeArrowheads="1"/>
            </p:cNvSpPr>
            <p:nvPr/>
          </p:nvSpPr>
          <p:spPr bwMode="auto">
            <a:xfrm>
              <a:off x="6134185" y="2453261"/>
              <a:ext cx="1008000" cy="720725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교환</a:t>
              </a:r>
            </a:p>
          </p:txBody>
        </p:sp>
        <p:sp>
          <p:nvSpPr>
            <p:cNvPr id="134" name="Rectangle 31"/>
            <p:cNvSpPr>
              <a:spLocks noChangeArrowheads="1"/>
            </p:cNvSpPr>
            <p:nvPr/>
          </p:nvSpPr>
          <p:spPr bwMode="auto">
            <a:xfrm>
              <a:off x="6134185" y="3204152"/>
              <a:ext cx="1008000" cy="33178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데이터연계관리</a:t>
              </a:r>
            </a:p>
          </p:txBody>
        </p:sp>
        <p:sp>
          <p:nvSpPr>
            <p:cNvPr id="135" name="Rectangle 20"/>
            <p:cNvSpPr>
              <a:spLocks noChangeArrowheads="1"/>
            </p:cNvSpPr>
            <p:nvPr/>
          </p:nvSpPr>
          <p:spPr bwMode="auto">
            <a:xfrm>
              <a:off x="4826709" y="2453261"/>
              <a:ext cx="1007998" cy="719471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구조</a:t>
              </a:r>
            </a:p>
          </p:txBody>
        </p:sp>
        <p:sp>
          <p:nvSpPr>
            <p:cNvPr id="136" name="Rectangle 30"/>
            <p:cNvSpPr>
              <a:spLocks noChangeArrowheads="1"/>
            </p:cNvSpPr>
            <p:nvPr/>
          </p:nvSpPr>
          <p:spPr bwMode="auto">
            <a:xfrm>
              <a:off x="4826709" y="3204152"/>
              <a:ext cx="1007998" cy="31993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데이터구조관리</a:t>
              </a:r>
            </a:p>
          </p:txBody>
        </p:sp>
        <p:sp>
          <p:nvSpPr>
            <p:cNvPr id="137" name="Rectangle 85"/>
            <p:cNvSpPr>
              <a:spLocks noChangeArrowheads="1"/>
            </p:cNvSpPr>
            <p:nvPr/>
          </p:nvSpPr>
          <p:spPr bwMode="auto">
            <a:xfrm>
              <a:off x="5543532" y="3241682"/>
              <a:ext cx="201155" cy="27860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8" name="Rectangle 26"/>
            <p:cNvSpPr>
              <a:spLocks noChangeArrowheads="1"/>
            </p:cNvSpPr>
            <p:nvPr/>
          </p:nvSpPr>
          <p:spPr bwMode="auto">
            <a:xfrm>
              <a:off x="4827458" y="3821416"/>
              <a:ext cx="1007260" cy="723900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베이스</a:t>
              </a:r>
            </a:p>
          </p:txBody>
        </p:sp>
        <p:sp>
          <p:nvSpPr>
            <p:cNvPr id="139" name="Rectangle 33"/>
            <p:cNvSpPr>
              <a:spLocks noChangeArrowheads="1"/>
            </p:cNvSpPr>
            <p:nvPr/>
          </p:nvSpPr>
          <p:spPr bwMode="auto">
            <a:xfrm>
              <a:off x="4826718" y="4569129"/>
              <a:ext cx="1007260" cy="33178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데이터베이스관리</a:t>
              </a:r>
            </a:p>
          </p:txBody>
        </p:sp>
        <p:sp>
          <p:nvSpPr>
            <p:cNvPr id="140" name="Rectangle 19"/>
            <p:cNvSpPr>
              <a:spLocks noChangeArrowheads="1"/>
            </p:cNvSpPr>
            <p:nvPr/>
          </p:nvSpPr>
          <p:spPr bwMode="auto">
            <a:xfrm>
              <a:off x="3522104" y="2453261"/>
              <a:ext cx="1007998" cy="719471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표준</a:t>
              </a:r>
            </a:p>
          </p:txBody>
        </p:sp>
        <p:sp>
          <p:nvSpPr>
            <p:cNvPr id="141" name="Rectangle 29"/>
            <p:cNvSpPr>
              <a:spLocks noChangeArrowheads="1"/>
            </p:cNvSpPr>
            <p:nvPr/>
          </p:nvSpPr>
          <p:spPr bwMode="auto">
            <a:xfrm>
              <a:off x="3522104" y="3204152"/>
              <a:ext cx="1007998" cy="319935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데이터표준관리</a:t>
              </a:r>
            </a:p>
          </p:txBody>
        </p:sp>
        <p:sp>
          <p:nvSpPr>
            <p:cNvPr id="142" name="Rectangle 89"/>
            <p:cNvSpPr>
              <a:spLocks noChangeArrowheads="1"/>
            </p:cNvSpPr>
            <p:nvPr/>
          </p:nvSpPr>
          <p:spPr bwMode="auto">
            <a:xfrm>
              <a:off x="3565447" y="3242468"/>
              <a:ext cx="201155" cy="27860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3" name="Rectangle 25"/>
            <p:cNvSpPr>
              <a:spLocks noChangeArrowheads="1"/>
            </p:cNvSpPr>
            <p:nvPr/>
          </p:nvSpPr>
          <p:spPr bwMode="auto">
            <a:xfrm>
              <a:off x="3519542" y="3821416"/>
              <a:ext cx="1008000" cy="718949"/>
            </a:xfrm>
            <a:prstGeom prst="flowChartOffpageConnector">
              <a:avLst/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품질</a:t>
              </a:r>
            </a:p>
          </p:txBody>
        </p:sp>
        <p:sp>
          <p:nvSpPr>
            <p:cNvPr id="144" name="Rectangle 32"/>
            <p:cNvSpPr>
              <a:spLocks noChangeArrowheads="1"/>
            </p:cNvSpPr>
            <p:nvPr/>
          </p:nvSpPr>
          <p:spPr bwMode="auto">
            <a:xfrm>
              <a:off x="3519542" y="4569129"/>
              <a:ext cx="1008000" cy="32951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144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데이터품질관리</a:t>
              </a:r>
            </a:p>
          </p:txBody>
        </p:sp>
        <p:sp>
          <p:nvSpPr>
            <p:cNvPr id="145" name="Rectangle 79"/>
            <p:cNvSpPr>
              <a:spLocks noChangeArrowheads="1"/>
            </p:cNvSpPr>
            <p:nvPr/>
          </p:nvSpPr>
          <p:spPr bwMode="auto">
            <a:xfrm>
              <a:off x="3813211" y="3821416"/>
              <a:ext cx="179575" cy="28694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6" name="Rectangle 86"/>
            <p:cNvSpPr>
              <a:spLocks noChangeArrowheads="1"/>
            </p:cNvSpPr>
            <p:nvPr/>
          </p:nvSpPr>
          <p:spPr bwMode="auto">
            <a:xfrm>
              <a:off x="4069180" y="3829353"/>
              <a:ext cx="179575" cy="28694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7" name="Rectangle 87"/>
            <p:cNvSpPr>
              <a:spLocks noChangeArrowheads="1"/>
            </p:cNvSpPr>
            <p:nvPr/>
          </p:nvSpPr>
          <p:spPr bwMode="auto">
            <a:xfrm>
              <a:off x="4249747" y="3826972"/>
              <a:ext cx="179575" cy="28694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8" name="Rectangle 21"/>
            <p:cNvSpPr>
              <a:spLocks noChangeArrowheads="1"/>
            </p:cNvSpPr>
            <p:nvPr/>
          </p:nvSpPr>
          <p:spPr bwMode="auto">
            <a:xfrm>
              <a:off x="2683033" y="3197802"/>
              <a:ext cx="587218" cy="331787"/>
            </a:xfrm>
            <a:prstGeom prst="homePlate">
              <a:avLst>
                <a:gd name="adj" fmla="val 28170"/>
              </a:avLst>
            </a:prstGeom>
            <a:solidFill>
              <a:schemeClr val="bg1">
                <a:lumMod val="75000"/>
              </a:schemeClr>
            </a:solidFill>
            <a:ln w="19050" algn="ctr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서브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</a:p>
          </p:txBody>
        </p:sp>
        <p:cxnSp>
          <p:nvCxnSpPr>
            <p:cNvPr id="149" name="AutoShape 62"/>
            <p:cNvCxnSpPr>
              <a:cxnSpLocks noChangeShapeType="1"/>
              <a:stCxn id="146" idx="0"/>
              <a:endCxn id="136" idx="2"/>
            </p:cNvCxnSpPr>
            <p:nvPr/>
          </p:nvCxnSpPr>
          <p:spPr bwMode="auto">
            <a:xfrm rot="5400000" flipH="1" flipV="1">
              <a:off x="4592205" y="3090850"/>
              <a:ext cx="305266" cy="1171740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bg1">
                  <a:lumMod val="50000"/>
                </a:schemeClr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0" name="AutoShape 64"/>
            <p:cNvCxnSpPr>
              <a:cxnSpLocks noChangeShapeType="1"/>
              <a:stCxn id="147" idx="0"/>
              <a:endCxn id="134" idx="2"/>
            </p:cNvCxnSpPr>
            <p:nvPr/>
          </p:nvCxnSpPr>
          <p:spPr bwMode="auto">
            <a:xfrm rot="5400000" flipH="1" flipV="1">
              <a:off x="5343344" y="2532131"/>
              <a:ext cx="291032" cy="2298650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bg1">
                  <a:lumMod val="50000"/>
                </a:schemeClr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1" name="AutoShape 68"/>
            <p:cNvCxnSpPr>
              <a:cxnSpLocks noChangeShapeType="1"/>
              <a:stCxn id="137" idx="2"/>
              <a:endCxn id="131" idx="0"/>
            </p:cNvCxnSpPr>
            <p:nvPr/>
          </p:nvCxnSpPr>
          <p:spPr bwMode="auto">
            <a:xfrm rot="16200000" flipH="1">
              <a:off x="5926472" y="3237923"/>
              <a:ext cx="301130" cy="865855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bg1">
                  <a:lumMod val="50000"/>
                </a:schemeClr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2" name="AutoShape 88"/>
            <p:cNvCxnSpPr>
              <a:cxnSpLocks noChangeShapeType="1"/>
              <a:stCxn id="143" idx="0"/>
              <a:endCxn id="141" idx="2"/>
            </p:cNvCxnSpPr>
            <p:nvPr/>
          </p:nvCxnSpPr>
          <p:spPr bwMode="auto">
            <a:xfrm flipV="1">
              <a:off x="4023542" y="3524087"/>
              <a:ext cx="2561" cy="297329"/>
            </a:xfrm>
            <a:prstGeom prst="straightConnector1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  <a:round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3" name="AutoShape 64"/>
            <p:cNvCxnSpPr>
              <a:cxnSpLocks noChangeShapeType="1"/>
              <a:stCxn id="142" idx="2"/>
              <a:endCxn id="132" idx="0"/>
            </p:cNvCxnSpPr>
            <p:nvPr/>
          </p:nvCxnSpPr>
          <p:spPr bwMode="auto">
            <a:xfrm rot="16200000" flipH="1">
              <a:off x="5162612" y="2024484"/>
              <a:ext cx="309804" cy="3302979"/>
            </a:xfrm>
            <a:prstGeom prst="bentConnector3">
              <a:avLst>
                <a:gd name="adj1" fmla="val 50000"/>
              </a:avLst>
            </a:prstGeom>
            <a:noFill/>
            <a:ln w="3175">
              <a:solidFill>
                <a:schemeClr val="bg1">
                  <a:lumMod val="50000"/>
                </a:schemeClr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4" name="AutoShape 65"/>
            <p:cNvCxnSpPr>
              <a:cxnSpLocks noChangeShapeType="1"/>
              <a:stCxn id="138" idx="3"/>
              <a:endCxn id="128" idx="1"/>
            </p:cNvCxnSpPr>
            <p:nvPr/>
          </p:nvCxnSpPr>
          <p:spPr bwMode="auto">
            <a:xfrm flipV="1">
              <a:off x="5834718" y="4180891"/>
              <a:ext cx="299467" cy="2475"/>
            </a:xfrm>
            <a:prstGeom prst="straightConnector1">
              <a:avLst/>
            </a:prstGeom>
            <a:noFill/>
            <a:ln w="3175">
              <a:solidFill>
                <a:schemeClr val="bg1">
                  <a:lumMod val="50000"/>
                </a:schemeClr>
              </a:solidFill>
              <a:round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5" name="AutoShape 58"/>
            <p:cNvCxnSpPr>
              <a:cxnSpLocks noChangeShapeType="1"/>
              <a:stCxn id="140" idx="3"/>
              <a:endCxn id="135" idx="1"/>
            </p:cNvCxnSpPr>
            <p:nvPr/>
          </p:nvCxnSpPr>
          <p:spPr bwMode="auto">
            <a:xfrm>
              <a:off x="4530102" y="2812997"/>
              <a:ext cx="296607" cy="0"/>
            </a:xfrm>
            <a:prstGeom prst="straightConnector1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  <a:round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6" name="AutoShape 59"/>
            <p:cNvCxnSpPr>
              <a:cxnSpLocks noChangeShapeType="1"/>
              <a:stCxn id="135" idx="3"/>
              <a:endCxn id="133" idx="1"/>
            </p:cNvCxnSpPr>
            <p:nvPr/>
          </p:nvCxnSpPr>
          <p:spPr bwMode="auto">
            <a:xfrm>
              <a:off x="5834707" y="2812997"/>
              <a:ext cx="299478" cy="627"/>
            </a:xfrm>
            <a:prstGeom prst="straightConnector1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  <a:round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7" name="Rectangle 15"/>
            <p:cNvSpPr>
              <a:spLocks noChangeArrowheads="1"/>
            </p:cNvSpPr>
            <p:nvPr/>
          </p:nvSpPr>
          <p:spPr bwMode="auto">
            <a:xfrm>
              <a:off x="2683033" y="3829354"/>
              <a:ext cx="587218" cy="672107"/>
            </a:xfrm>
            <a:prstGeom prst="homePlate">
              <a:avLst>
                <a:gd name="adj" fmla="val 13731"/>
              </a:avLst>
            </a:prstGeom>
            <a:solidFill>
              <a:schemeClr val="bg1"/>
            </a:solidFill>
            <a:ln w="3175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영역</a:t>
              </a:r>
            </a:p>
          </p:txBody>
        </p:sp>
        <p:sp>
          <p:nvSpPr>
            <p:cNvPr id="158" name="Rectangle 21"/>
            <p:cNvSpPr>
              <a:spLocks noChangeArrowheads="1"/>
            </p:cNvSpPr>
            <p:nvPr/>
          </p:nvSpPr>
          <p:spPr bwMode="auto">
            <a:xfrm>
              <a:off x="2683033" y="4573892"/>
              <a:ext cx="587218" cy="331787"/>
            </a:xfrm>
            <a:prstGeom prst="homePlate">
              <a:avLst>
                <a:gd name="adj" fmla="val 28170"/>
              </a:avLst>
            </a:prstGeom>
            <a:solidFill>
              <a:schemeClr val="bg1">
                <a:lumMod val="75000"/>
              </a:schemeClr>
            </a:solidFill>
            <a:ln w="19050" algn="ctr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서브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프로세스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9" name="타원 158"/>
            <p:cNvSpPr/>
            <p:nvPr/>
          </p:nvSpPr>
          <p:spPr bwMode="auto">
            <a:xfrm>
              <a:off x="3404678" y="3254871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P1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0" name="타원 159"/>
            <p:cNvSpPr/>
            <p:nvPr/>
          </p:nvSpPr>
          <p:spPr bwMode="auto">
            <a:xfrm>
              <a:off x="4708362" y="3254871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P2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1" name="타원 160"/>
            <p:cNvSpPr/>
            <p:nvPr/>
          </p:nvSpPr>
          <p:spPr bwMode="auto">
            <a:xfrm>
              <a:off x="6021344" y="3254871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P3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2" name="타원 161"/>
            <p:cNvSpPr/>
            <p:nvPr/>
          </p:nvSpPr>
          <p:spPr bwMode="auto">
            <a:xfrm>
              <a:off x="3404678" y="4630666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P4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3" name="타원 162"/>
            <p:cNvSpPr/>
            <p:nvPr/>
          </p:nvSpPr>
          <p:spPr bwMode="auto">
            <a:xfrm>
              <a:off x="4666881" y="4630666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P5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4" name="타원 163"/>
            <p:cNvSpPr/>
            <p:nvPr/>
          </p:nvSpPr>
          <p:spPr bwMode="auto">
            <a:xfrm>
              <a:off x="6015727" y="4630666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P6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5" name="Rectangle 19"/>
            <p:cNvSpPr>
              <a:spLocks noChangeArrowheads="1"/>
            </p:cNvSpPr>
            <p:nvPr/>
          </p:nvSpPr>
          <p:spPr bwMode="auto">
            <a:xfrm>
              <a:off x="3522104" y="2046560"/>
              <a:ext cx="3615640" cy="333108"/>
            </a:xfrm>
            <a:prstGeom prst="rect">
              <a:avLst/>
            </a:prstGeom>
            <a:solidFill>
              <a:srgbClr val="508CD2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5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endParaRPr lang="en-US" altLang="ko-KR" sz="105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05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표준 데이터 품질관리 프로세스</a:t>
              </a:r>
            </a:p>
          </p:txBody>
        </p:sp>
        <p:grpSp>
          <p:nvGrpSpPr>
            <p:cNvPr id="8" name="그룹 165"/>
            <p:cNvGrpSpPr/>
            <p:nvPr/>
          </p:nvGrpSpPr>
          <p:grpSpPr>
            <a:xfrm>
              <a:off x="354484" y="2469644"/>
              <a:ext cx="1970224" cy="2399516"/>
              <a:chOff x="242017" y="2500530"/>
              <a:chExt cx="3186840" cy="3881220"/>
            </a:xfrm>
          </p:grpSpPr>
          <p:sp>
            <p:nvSpPr>
              <p:cNvPr id="167" name="직사각형 166"/>
              <p:cNvSpPr/>
              <p:nvPr/>
            </p:nvSpPr>
            <p:spPr>
              <a:xfrm>
                <a:off x="242017" y="2500530"/>
                <a:ext cx="3186840" cy="3881220"/>
              </a:xfrm>
              <a:prstGeom prst="rect">
                <a:avLst/>
              </a:prstGeom>
              <a:solidFill>
                <a:schemeClr val="accent3"/>
              </a:solidFill>
              <a:ln w="19050"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ko-KR" altLang="en-US" sz="700" dirty="0">
                  <a:ln w="28575">
                    <a:solidFill>
                      <a:srgbClr val="000000"/>
                    </a:solidFill>
                  </a:ln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8" name="오각형 167"/>
              <p:cNvSpPr/>
              <p:nvPr/>
            </p:nvSpPr>
            <p:spPr>
              <a:xfrm rot="16200000">
                <a:off x="1677850" y="1337699"/>
                <a:ext cx="331432" cy="3001868"/>
              </a:xfrm>
              <a:prstGeom prst="homePlate">
                <a:avLst/>
              </a:prstGeom>
              <a:solidFill>
                <a:srgbClr val="508CD2"/>
              </a:solidFill>
              <a:ln w="6350" cap="flat" cmpd="sng" algn="ctr">
                <a:solidFill>
                  <a:srgbClr val="2377F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eaVert" wrap="non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>
                  <a:buClr>
                    <a:prstClr val="black"/>
                  </a:buClr>
                  <a:buSzPct val="90000"/>
                </a:pPr>
                <a:r>
                  <a:rPr kumimoji="1" lang="ko-KR" altLang="en-US" sz="8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체계</a:t>
                </a:r>
              </a:p>
            </p:txBody>
          </p:sp>
          <p:sp>
            <p:nvSpPr>
              <p:cNvPr id="169" name="직사각형 168"/>
              <p:cNvSpPr/>
              <p:nvPr/>
            </p:nvSpPr>
            <p:spPr>
              <a:xfrm>
                <a:off x="342632" y="3049384"/>
                <a:ext cx="2584934" cy="30415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 방침</a:t>
                </a:r>
              </a:p>
            </p:txBody>
          </p:sp>
          <p:sp>
            <p:nvSpPr>
              <p:cNvPr id="170" name="직사각형 169"/>
              <p:cNvSpPr/>
              <p:nvPr/>
            </p:nvSpPr>
            <p:spPr>
              <a:xfrm>
                <a:off x="342632" y="3396123"/>
                <a:ext cx="2584934" cy="30415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관리 조직</a:t>
                </a:r>
              </a:p>
            </p:txBody>
          </p:sp>
          <p:sp>
            <p:nvSpPr>
              <p:cNvPr id="171" name="직사각형 170"/>
              <p:cNvSpPr/>
              <p:nvPr/>
            </p:nvSpPr>
            <p:spPr>
              <a:xfrm>
                <a:off x="342632" y="5140958"/>
                <a:ext cx="2584934" cy="3041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9050">
                <a:solidFill>
                  <a:srgbClr val="C00000"/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srgbClr val="C00000"/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프로세스</a:t>
                </a:r>
              </a:p>
            </p:txBody>
          </p:sp>
          <p:sp>
            <p:nvSpPr>
              <p:cNvPr id="172" name="직사각형 171"/>
              <p:cNvSpPr/>
              <p:nvPr/>
            </p:nvSpPr>
            <p:spPr>
              <a:xfrm>
                <a:off x="342632" y="5487698"/>
                <a:ext cx="2584934" cy="30415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관리 인프라</a:t>
                </a:r>
              </a:p>
            </p:txBody>
          </p:sp>
          <p:sp>
            <p:nvSpPr>
              <p:cNvPr id="173" name="직사각형 172"/>
              <p:cNvSpPr/>
              <p:nvPr/>
            </p:nvSpPr>
            <p:spPr>
              <a:xfrm>
                <a:off x="342632" y="5836430"/>
                <a:ext cx="3001868" cy="304151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 법</a:t>
                </a:r>
                <a:r>
                  <a:rPr lang="en-US" altLang="ko-KR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.</a:t>
                </a:r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제도</a:t>
                </a:r>
              </a:p>
            </p:txBody>
          </p:sp>
          <p:sp>
            <p:nvSpPr>
              <p:cNvPr id="174" name="직사각형 173"/>
              <p:cNvSpPr/>
              <p:nvPr/>
            </p:nvSpPr>
            <p:spPr>
              <a:xfrm>
                <a:off x="342632" y="3739483"/>
                <a:ext cx="2584934" cy="135689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b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보안</a:t>
                </a: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551835" y="3812135"/>
                <a:ext cx="1117654" cy="51605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표준</a:t>
                </a:r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551835" y="4325794"/>
                <a:ext cx="1117654" cy="51605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품질</a:t>
                </a:r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1668019" y="3812135"/>
                <a:ext cx="1117654" cy="51605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구조</a:t>
                </a:r>
              </a:p>
            </p:txBody>
          </p:sp>
          <p:sp>
            <p:nvSpPr>
              <p:cNvPr id="178" name="직사각형 177"/>
              <p:cNvSpPr/>
              <p:nvPr/>
            </p:nvSpPr>
            <p:spPr>
              <a:xfrm>
                <a:off x="1668019" y="4325794"/>
                <a:ext cx="1117654" cy="51605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교환</a:t>
                </a: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2962300" y="3049384"/>
                <a:ext cx="382200" cy="2742465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정보</a:t>
                </a:r>
                <a:b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공유</a:t>
                </a:r>
                <a:b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lang="en-US" altLang="ko-KR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· </a:t>
                </a:r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공개 </a:t>
                </a:r>
                <a:r>
                  <a:rPr lang="en-US" altLang="ko-KR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· </a:t>
                </a:r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개방</a:t>
                </a:r>
              </a:p>
            </p:txBody>
          </p:sp>
          <p:sp>
            <p:nvSpPr>
              <p:cNvPr id="180" name="모서리가 둥근 직사각형 179"/>
              <p:cNvSpPr/>
              <p:nvPr/>
            </p:nvSpPr>
            <p:spPr>
              <a:xfrm>
                <a:off x="1289739" y="3942464"/>
                <a:ext cx="769700" cy="769701"/>
              </a:xfrm>
              <a:prstGeom prst="roundRect">
                <a:avLst>
                  <a:gd name="adj" fmla="val 21178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36000" rIns="0" bIns="3600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</a:t>
                </a:r>
                <a:endParaRPr lang="en-US" altLang="ko-KR" sz="7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en-US" altLang="ko-KR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endParaRPr lang="en-US" altLang="ko-KR" sz="7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  <a:p>
                <a:pPr algn="ctr"/>
                <a:r>
                  <a:rPr lang="ko-KR" altLang="en-US" sz="7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분류체계</a:t>
                </a:r>
              </a:p>
            </p:txBody>
          </p:sp>
          <p:sp>
            <p:nvSpPr>
              <p:cNvPr id="181" name="타원 180"/>
              <p:cNvSpPr/>
              <p:nvPr/>
            </p:nvSpPr>
            <p:spPr>
              <a:xfrm>
                <a:off x="1455145" y="4111090"/>
                <a:ext cx="422925" cy="42292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 altLang="ko-KR" sz="500" dirty="0">
                    <a:solidFill>
                      <a:srgbClr val="FFFFFF"/>
                    </a:solidFill>
                    <a:latin typeface="맑은 고딕" pitchFamily="50" charset="-127"/>
                    <a:ea typeface="맑은 고딕" pitchFamily="50" charset="-127"/>
                  </a:rPr>
                  <a:t>DATA</a:t>
                </a:r>
                <a:endParaRPr lang="ko-KR" altLang="en-US" sz="5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82" name="AutoShape 68"/>
            <p:cNvCxnSpPr>
              <a:cxnSpLocks noChangeShapeType="1"/>
              <a:stCxn id="171" idx="3"/>
              <a:endCxn id="165" idx="1"/>
            </p:cNvCxnSpPr>
            <p:nvPr/>
          </p:nvCxnSpPr>
          <p:spPr bwMode="auto">
            <a:xfrm flipV="1">
              <a:off x="2014791" y="2213114"/>
              <a:ext cx="1507313" cy="1982961"/>
            </a:xfrm>
            <a:prstGeom prst="bentConnector3">
              <a:avLst>
                <a:gd name="adj1" fmla="val 29779"/>
              </a:avLst>
            </a:prstGeom>
            <a:noFill/>
            <a:ln w="28575">
              <a:solidFill>
                <a:srgbClr val="C00000"/>
              </a:solidFill>
              <a:miter lim="800000"/>
              <a:headEnd type="oval" w="med" len="med"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4215097718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표준관리 프로세스는 </a:t>
            </a:r>
            <a:r>
              <a:rPr lang="en-US" altLang="ko-KR" dirty="0"/>
              <a:t>3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데이터 표준 정의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변경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평가 프로세스</a:t>
            </a:r>
            <a:r>
              <a:rPr lang="en-US" altLang="ko-KR" dirty="0"/>
              <a:t>)</a:t>
            </a:r>
            <a:r>
              <a:rPr lang="ko-KR" altLang="en-US" dirty="0"/>
              <a:t>와 </a:t>
            </a:r>
            <a:r>
              <a:rPr lang="en-US" altLang="ko-KR" dirty="0"/>
              <a:t>22</a:t>
            </a:r>
            <a:r>
              <a:rPr lang="ko-KR" altLang="en-US" dirty="0"/>
              <a:t>개의 태스크로 구성되었음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 smtClean="0"/>
              <a:t>3.7.3.2 </a:t>
            </a:r>
            <a:r>
              <a:rPr lang="ko-KR" altLang="en-US" sz="1800" spc="-150" smtClean="0"/>
              <a:t>품질관리</a:t>
            </a:r>
            <a:r>
              <a:rPr lang="en-US" altLang="ko-KR" sz="1800" spc="-150" smtClean="0"/>
              <a:t> </a:t>
            </a:r>
            <a:r>
              <a:rPr lang="ko-KR" altLang="en-US" sz="1800" spc="-150" smtClean="0"/>
              <a:t>프로세스 </a:t>
            </a:r>
            <a:r>
              <a:rPr lang="en-US" altLang="ko-KR" sz="1800" spc="-150" smtClean="0"/>
              <a:t>TASK</a:t>
            </a:r>
            <a:r>
              <a:rPr lang="ko-KR" altLang="en-US" sz="1800" spc="-150" smtClean="0"/>
              <a:t> </a:t>
            </a:r>
            <a:r>
              <a:rPr lang="ko-KR" altLang="en-US" sz="1800" spc="-150" dirty="0"/>
              <a:t>정의 </a:t>
            </a:r>
            <a:r>
              <a:rPr lang="en-US" altLang="ko-KR" sz="1800" spc="-150" dirty="0"/>
              <a:t>(1/7)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94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96" name="직사각형 9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표준관리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</a:p>
          </p:txBody>
        </p:sp>
        <p:sp>
          <p:nvSpPr>
            <p:cNvPr id="97" name="직사각형 9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98" name="표 97"/>
          <p:cNvGraphicFramePr>
            <a:graphicFrameLocks noGrp="1"/>
          </p:cNvGraphicFramePr>
          <p:nvPr>
            <p:extLst/>
          </p:nvPr>
        </p:nvGraphicFramePr>
        <p:xfrm>
          <a:off x="379498" y="1984324"/>
          <a:ext cx="9149602" cy="43249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42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5212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6739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8907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55147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01645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9141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3118">
                <a:tc rowSpan="22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P1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P1.1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정의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요구사항 수집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원칙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단어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용어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도메인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명명 규칙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코드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데이터 도구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(9)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검토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메타데이터관리시스템 등록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공표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P1.2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변경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요구사항 검토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추가 및 변경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변경 영향도 평가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메타데이터관리시스템 등록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P1.3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평가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 매핑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-DB 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준수 체크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영향도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표준 미준수 원인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적용범위 결정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83118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정제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</a:tbl>
          </a:graphicData>
        </a:graphic>
      </p:graphicFrame>
      <p:sp>
        <p:nvSpPr>
          <p:cNvPr id="99" name="타원 98"/>
          <p:cNvSpPr/>
          <p:nvPr/>
        </p:nvSpPr>
        <p:spPr bwMode="auto">
          <a:xfrm>
            <a:off x="3080792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P1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16190342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구조관리 프로세스는 </a:t>
            </a:r>
            <a:r>
              <a:rPr lang="en-US" altLang="ko-KR" dirty="0"/>
              <a:t>3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데이터 모델 정의 프로세스</a:t>
            </a:r>
            <a:r>
              <a:rPr lang="en-US" altLang="ko-KR" dirty="0"/>
              <a:t>, </a:t>
            </a:r>
            <a:r>
              <a:rPr lang="ko-KR" altLang="en-US" dirty="0"/>
              <a:t>데이터 모델 변경 프로세스</a:t>
            </a:r>
            <a:r>
              <a:rPr lang="en-US" altLang="ko-KR" dirty="0"/>
              <a:t>, </a:t>
            </a:r>
            <a:r>
              <a:rPr lang="ko-KR" altLang="en-US" dirty="0"/>
              <a:t>데이터 모델 평가 프로세스</a:t>
            </a:r>
            <a:r>
              <a:rPr lang="en-US" altLang="ko-KR" dirty="0"/>
              <a:t>)</a:t>
            </a:r>
            <a:r>
              <a:rPr lang="ko-KR" altLang="en-US" dirty="0"/>
              <a:t>와 </a:t>
            </a:r>
            <a:r>
              <a:rPr lang="en-US" altLang="ko-KR" dirty="0"/>
              <a:t>15</a:t>
            </a:r>
            <a:r>
              <a:rPr lang="ko-KR" altLang="en-US" dirty="0"/>
              <a:t>개의 태스크로 구성되었음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z="1800" spc="-150"/>
              <a:t/>
            </a:r>
            <a:br>
              <a:rPr lang="en-US" altLang="ko-KR" sz="1800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(2/7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14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16" name="직사각형 1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구조관리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379498" y="1988840"/>
          <a:ext cx="9149604" cy="43248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14194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91508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8566">
                <a:tc rowSpan="15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P2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5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구조관리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P2.1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 정의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개념 데이터 모델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 데이터 모델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 데이터 모델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참조 모델 정의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P2.2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 변경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규모 평가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개념 데이터 모델 변경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 데이터 모델 변경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 데이터 모델 변경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P2.3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모델 평가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개념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 모델 매핑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 모델 매핑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물리모델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-DB 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개념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 정렬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 정렬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-DB 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정렬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68566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영향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19" name="타원 18"/>
          <p:cNvSpPr/>
          <p:nvPr/>
        </p:nvSpPr>
        <p:spPr bwMode="auto">
          <a:xfrm>
            <a:off x="3080792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P2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419734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연계관리 프로세스는 </a:t>
            </a:r>
            <a:r>
              <a:rPr lang="en-US" altLang="ko-KR" dirty="0"/>
              <a:t>2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데이터 연계 개발 프로세스</a:t>
            </a:r>
            <a:r>
              <a:rPr lang="en-US" altLang="ko-KR" dirty="0"/>
              <a:t>, </a:t>
            </a:r>
            <a:r>
              <a:rPr lang="ko-KR" altLang="en-US" dirty="0"/>
              <a:t>데이터 연계 평가 프로세스</a:t>
            </a:r>
            <a:r>
              <a:rPr lang="en-US" altLang="ko-KR" dirty="0"/>
              <a:t>)</a:t>
            </a:r>
            <a:r>
              <a:rPr lang="ko-KR" altLang="en-US" dirty="0"/>
              <a:t>와 </a:t>
            </a:r>
            <a:r>
              <a:rPr lang="en-US" altLang="ko-KR" dirty="0"/>
              <a:t>17</a:t>
            </a:r>
            <a:r>
              <a:rPr lang="ko-KR" altLang="en-US" dirty="0"/>
              <a:t>개의 태스크로 구성되었음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(3/7</a:t>
            </a:r>
            <a:r>
              <a:rPr lang="en-US" altLang="ko-KR" sz="1800" spc="-150"/>
              <a:t>)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19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21" name="직사각형 20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연계관리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</a:p>
          </p:txBody>
        </p:sp>
        <p:sp>
          <p:nvSpPr>
            <p:cNvPr id="22" name="직사각형 21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3" name="표 22"/>
          <p:cNvGraphicFramePr>
            <a:graphicFrameLocks noGrp="1"/>
          </p:cNvGraphicFramePr>
          <p:nvPr>
            <p:extLst/>
          </p:nvPr>
        </p:nvGraphicFramePr>
        <p:xfrm>
          <a:off x="379498" y="1988841"/>
          <a:ext cx="9149605" cy="43248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14194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9150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6970">
                <a:tc rowSpan="17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P3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7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연계관리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l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P3.1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연계 개발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연계 요구사항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방식 결정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연계 방식 여부 확인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연계 방식 연계 기술 참조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구현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정보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방식 검토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승인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기술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9">
                  <a:txBody>
                    <a:bodyPr/>
                    <a:lstStyle/>
                    <a:p>
                      <a:pPr algn="l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P3.2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9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연계  평가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정보 검색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연계 방식 여부 확인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표준 준수 여부 확인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기술 구현 타당성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성능 테스트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보안성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정보 타당성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재 구현 요구사항 요청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697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(9)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연계정보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24" name="타원 23"/>
          <p:cNvSpPr/>
          <p:nvPr/>
        </p:nvSpPr>
        <p:spPr bwMode="auto">
          <a:xfrm>
            <a:off x="3080792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P3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9938542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품질관리 프로세스는 </a:t>
            </a:r>
            <a:r>
              <a:rPr lang="en-US" altLang="ko-KR" dirty="0"/>
              <a:t>5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계획단계 데이터 품질관리 프로세스</a:t>
            </a:r>
            <a:r>
              <a:rPr lang="en-US" altLang="ko-KR" dirty="0"/>
              <a:t>, </a:t>
            </a:r>
            <a:r>
              <a:rPr lang="ko-KR" altLang="en-US" dirty="0"/>
              <a:t>구축단계 데이터 품질관리 프로세스</a:t>
            </a:r>
            <a:r>
              <a:rPr lang="en-US" altLang="ko-KR" dirty="0"/>
              <a:t>, </a:t>
            </a:r>
            <a:r>
              <a:rPr lang="ko-KR" altLang="en-US" dirty="0"/>
              <a:t>운영단계 데이터 품질관리 프로세스</a:t>
            </a:r>
            <a:r>
              <a:rPr lang="en-US" altLang="ko-KR" dirty="0"/>
              <a:t>, </a:t>
            </a:r>
            <a:r>
              <a:rPr lang="ko-KR" altLang="en-US" dirty="0"/>
              <a:t>활용단계 데이터 품질관리 프로세스</a:t>
            </a:r>
            <a:r>
              <a:rPr lang="en-US" altLang="ko-KR" dirty="0"/>
              <a:t>, </a:t>
            </a:r>
            <a:r>
              <a:rPr lang="ko-KR" altLang="en-US" dirty="0"/>
              <a:t>데이터 품질 인프라 관리 프로세스</a:t>
            </a:r>
            <a:r>
              <a:rPr lang="en-US" altLang="ko-KR" dirty="0">
                <a:solidFill>
                  <a:srgbClr val="000000"/>
                </a:solidFill>
              </a:rPr>
              <a:t>)</a:t>
            </a:r>
            <a:r>
              <a:rPr lang="ko-KR" altLang="en-US" dirty="0"/>
              <a:t>와 </a:t>
            </a:r>
            <a:r>
              <a:rPr lang="en-US" altLang="ko-KR" dirty="0"/>
              <a:t>35</a:t>
            </a:r>
            <a:r>
              <a:rPr lang="ko-KR" altLang="en-US" dirty="0"/>
              <a:t>개의 태스크로 구성되었음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(4/7</a:t>
            </a:r>
            <a:r>
              <a:rPr lang="en-US" altLang="ko-KR" sz="1800" spc="-150"/>
              <a:t>)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14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16" name="직사각형 1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데이터 품질관리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(1/2)</a:t>
              </a: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379498" y="1988831"/>
          <a:ext cx="9149606" cy="43200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305472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240457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1846761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2984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54631">
                <a:tc rowSpan="28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8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P4.1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계획단계 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 정책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 지침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 조직 구성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목표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중점 품질관리 대상 데이터베이스 선정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품질진단 및 개선계획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적용계획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데이터 품질 확보 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(9)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산출물 점검계획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품질관리 인프라 구축 운영계획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P4.2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구축단계 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프로젝트 수행계획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품질관리계획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관리 조직 구성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적용 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데이터 품질 확보 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산출물 관리 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5463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산출물 작성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P4.3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운영단계 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진단 및 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진단 대상 정의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진단 실시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③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진단결과 분석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④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개선계획 수립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개선 수행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⑥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통제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산출물 점검 및 조치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산출물 점검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점검 결과 조치 및 통지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데이터 품질 점검 및 조치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 데이터 품질 점검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점검 결과 조치 및 통지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  <a:tr h="12394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적용 여부 점검 및 조치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①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표준화 적용 여부 점검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7"/>
                  </a:ext>
                </a:extLst>
              </a:tr>
              <a:tr h="18411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②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점검 결과 조치 및 통지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8"/>
                  </a:ext>
                </a:extLst>
              </a:tr>
            </a:tbl>
          </a:graphicData>
        </a:graphic>
      </p:graphicFrame>
      <p:sp>
        <p:nvSpPr>
          <p:cNvPr id="19" name="타원 18"/>
          <p:cNvSpPr/>
          <p:nvPr/>
        </p:nvSpPr>
        <p:spPr bwMode="auto">
          <a:xfrm>
            <a:off x="2936776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P4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739460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(5/7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19"/>
          <p:cNvGrpSpPr/>
          <p:nvPr/>
        </p:nvGrpSpPr>
        <p:grpSpPr>
          <a:xfrm>
            <a:off x="344488" y="839157"/>
            <a:ext cx="9217025" cy="5539418"/>
            <a:chOff x="200025" y="1592840"/>
            <a:chExt cx="4680967" cy="5539418"/>
          </a:xfrm>
        </p:grpSpPr>
        <p:sp>
          <p:nvSpPr>
            <p:cNvPr id="21" name="직사각형 20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품질관리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(2/2)</a:t>
              </a:r>
            </a:p>
          </p:txBody>
        </p:sp>
        <p:sp>
          <p:nvSpPr>
            <p:cNvPr id="22" name="직사각형 21"/>
            <p:cNvSpPr/>
            <p:nvPr/>
          </p:nvSpPr>
          <p:spPr bwMode="auto">
            <a:xfrm>
              <a:off x="200025" y="1916831"/>
              <a:ext cx="4680967" cy="521542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3" name="표 22"/>
          <p:cNvGraphicFramePr>
            <a:graphicFrameLocks noGrp="1"/>
          </p:cNvGraphicFramePr>
          <p:nvPr>
            <p:extLst/>
          </p:nvPr>
        </p:nvGraphicFramePr>
        <p:xfrm>
          <a:off x="379498" y="1269169"/>
          <a:ext cx="9149605" cy="24467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141943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0"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P4.4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활용단계 데이터 품질관리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오류 신고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오류 신고 접수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접수 내용 검토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품질 오류 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결과 통보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활용 성과 평가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en-US" sz="1000" b="1" u="none" strike="noStrike" dirty="0">
                          <a:effectLst/>
                          <a:latin typeface="+mn-ea"/>
                          <a:ea typeface="+mn-ea"/>
                        </a:rPr>
                        <a:t>P4.5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인프라 관리 프로세스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요구사항 수집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활용 설문조사 실시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이용 만족도 조사 실시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오류 보고 접수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활용 성과 분석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인프라 개선 계획 수립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인프라 구축</a:t>
                      </a:r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vert="eaVert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194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품질 인프라 사용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194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24" name="타원 23"/>
          <p:cNvSpPr/>
          <p:nvPr/>
        </p:nvSpPr>
        <p:spPr bwMode="auto">
          <a:xfrm>
            <a:off x="2864768" y="899219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P4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9450581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데이터베이스 관리 프로세스는 </a:t>
            </a:r>
            <a:r>
              <a:rPr lang="en-US" altLang="ko-KR" dirty="0"/>
              <a:t>2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데이터베이스 생성</a:t>
            </a:r>
            <a:r>
              <a:rPr lang="en-US" altLang="ko-KR" dirty="0"/>
              <a:t>, </a:t>
            </a:r>
            <a:r>
              <a:rPr lang="ko-KR" altLang="en-US" dirty="0"/>
              <a:t>데이터베이스 운영</a:t>
            </a:r>
            <a:r>
              <a:rPr lang="en-US" altLang="ko-KR" dirty="0"/>
              <a:t>)</a:t>
            </a:r>
            <a:r>
              <a:rPr lang="ko-KR" altLang="en-US" dirty="0"/>
              <a:t>와 </a:t>
            </a:r>
            <a:r>
              <a:rPr lang="en-US" altLang="ko-KR" dirty="0"/>
              <a:t>18</a:t>
            </a:r>
            <a:r>
              <a:rPr lang="ko-KR" altLang="en-US" dirty="0"/>
              <a:t>개의 태스크로 구성되었음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(6/7</a:t>
            </a:r>
            <a:r>
              <a:rPr lang="en-US" altLang="ko-KR" sz="1800" spc="-150"/>
              <a:t>)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14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16" name="직사각형 15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데이터베이스 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8" name="표 17"/>
          <p:cNvGraphicFramePr>
            <a:graphicFrameLocks noGrp="1"/>
          </p:cNvGraphicFramePr>
          <p:nvPr>
            <p:extLst/>
          </p:nvPr>
        </p:nvGraphicFramePr>
        <p:xfrm>
          <a:off x="379498" y="2006759"/>
          <a:ext cx="9149604" cy="43238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14194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9258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9327"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P5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관리</a:t>
                      </a:r>
                    </a:p>
                  </a:txBody>
                  <a:tcPr marL="9525" marR="9525" marT="9525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P5.1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생성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생성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객체 생성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정보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복구 계획 수립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증설계획 수립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엔진 튜닝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점검계획 수립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계획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P5.2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운영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백업 수행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복구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스토리지 용량 점검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용량 증설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성능 점검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튜닝실시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보안 점검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보안 개선 활동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(9)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비상복구훈련 실시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1988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결과 등록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19" name="타원 18"/>
          <p:cNvSpPr/>
          <p:nvPr/>
        </p:nvSpPr>
        <p:spPr bwMode="auto">
          <a:xfrm>
            <a:off x="3008784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P5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9455505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보안관리 프로세스는 </a:t>
            </a:r>
            <a:r>
              <a:rPr lang="en-US" altLang="ko-KR" dirty="0"/>
              <a:t>2</a:t>
            </a:r>
            <a:r>
              <a:rPr lang="ko-KR" altLang="en-US" dirty="0"/>
              <a:t>개의 서브프로세스</a:t>
            </a:r>
            <a:r>
              <a:rPr lang="en-US" altLang="ko-KR" dirty="0"/>
              <a:t>(</a:t>
            </a:r>
            <a:r>
              <a:rPr lang="ko-KR" altLang="en-US" dirty="0"/>
              <a:t>데이터 보안 구성 프로세스</a:t>
            </a:r>
            <a:r>
              <a:rPr lang="en-US" altLang="ko-KR" dirty="0"/>
              <a:t>, </a:t>
            </a:r>
            <a:r>
              <a:rPr lang="ko-KR" altLang="en-US" dirty="0"/>
              <a:t>데이터 보안 점검 프로세스</a:t>
            </a:r>
            <a:r>
              <a:rPr lang="en-US" altLang="ko-KR" dirty="0"/>
              <a:t>)</a:t>
            </a:r>
            <a:r>
              <a:rPr lang="ko-KR" altLang="en-US" dirty="0"/>
              <a:t>와 </a:t>
            </a:r>
            <a:r>
              <a:rPr lang="en-US" altLang="ko-KR" dirty="0"/>
              <a:t>17</a:t>
            </a:r>
            <a:r>
              <a:rPr lang="ko-KR" altLang="en-US" dirty="0"/>
              <a:t>개의 태스크로 구성되었음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3.7.3.2 </a:t>
            </a:r>
            <a:r>
              <a:rPr lang="ko-KR" altLang="en-US" sz="1800" spc="-150"/>
              <a:t>품질관리</a:t>
            </a:r>
            <a:r>
              <a:rPr lang="en-US" altLang="ko-KR" sz="1800" spc="-150"/>
              <a:t> </a:t>
            </a:r>
            <a:r>
              <a:rPr lang="ko-KR" altLang="en-US" sz="1800" spc="-150"/>
              <a:t>프로세스 </a:t>
            </a:r>
            <a:r>
              <a:rPr lang="en-US" altLang="ko-KR" sz="1800" spc="-150"/>
              <a:t>TASK</a:t>
            </a:r>
            <a:r>
              <a:rPr lang="ko-KR" altLang="en-US" sz="1800" spc="-150"/>
              <a:t> 정의 </a:t>
            </a:r>
            <a:r>
              <a:rPr lang="en-US" altLang="ko-KR" sz="1800" spc="-150" smtClean="0"/>
              <a:t>(7/7</a:t>
            </a:r>
            <a:r>
              <a:rPr lang="en-US" altLang="ko-KR" sz="1800" spc="-150"/>
              <a:t>)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5"/>
          <p:cNvGrpSpPr/>
          <p:nvPr/>
        </p:nvGrpSpPr>
        <p:grpSpPr>
          <a:xfrm>
            <a:off x="344488" y="1592840"/>
            <a:ext cx="9217025" cy="4785734"/>
            <a:chOff x="200025" y="1592840"/>
            <a:chExt cx="4680967" cy="4785734"/>
          </a:xfrm>
        </p:grpSpPr>
        <p:sp>
          <p:nvSpPr>
            <p:cNvPr id="27" name="직사각형 26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보안관리 프로세스 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- 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태스크 목록</a:t>
              </a:r>
            </a:p>
          </p:txBody>
        </p:sp>
        <p:sp>
          <p:nvSpPr>
            <p:cNvPr id="28" name="직사각형 27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379498" y="2006758"/>
          <a:ext cx="9149604" cy="43225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1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3232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562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41349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34436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141942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29385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서브프로세스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solidFill>
                            <a:srgbClr val="FFFFFF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태스크</a:t>
                      </a:r>
                      <a:endParaRPr lang="ko-KR" altLang="en-US" sz="1000" b="1" i="0" u="none" strike="noStrike" dirty="0"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194" marR="1194" marT="72000" marB="7200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94" marR="1194" marT="11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6832">
                <a:tc rowSpan="17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P6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5" marB="0" anchor="ctr">
                    <a:lnL w="0" cap="flat" cmpd="sng" algn="ctr">
                      <a:solidFill>
                        <a:srgbClr val="00336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7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보안관리</a:t>
                      </a:r>
                    </a:p>
                  </a:txBody>
                  <a:tcPr marL="9525" marR="9525" marT="9525" marB="0" vert="eaVert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P6.1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11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 구성 프로세스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 정책 수립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 정책 검토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패스워드 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 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접근 수준 및 권한 부여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접근제어 설정 갱신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(7)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접근제어 메카니즘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암호화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(9)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 대상 선정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(10)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 적용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 교육 실시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P6.2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보안 점검 프로세스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보안사고 접수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보안사고 등록 및 대응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(3)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사고이력 관리 및 보고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(4)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보안사고 사례 교육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로깅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683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(6)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0" cap="flat" cmpd="sng" algn="ctr">
                      <a:solidFill>
                        <a:schemeClr val="bg1">
                          <a:lumMod val="50000"/>
                          <a:alpha val="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6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30" name="타원 29"/>
          <p:cNvSpPr/>
          <p:nvPr/>
        </p:nvSpPr>
        <p:spPr bwMode="auto">
          <a:xfrm>
            <a:off x="3087282" y="1652180"/>
            <a:ext cx="20953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non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P6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9802391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표준관리 프로세스는 자료사전</a:t>
            </a:r>
            <a:r>
              <a:rPr lang="en-US" altLang="ko-KR" dirty="0"/>
              <a:t>, </a:t>
            </a:r>
            <a:r>
              <a:rPr lang="ko-KR" altLang="en-US" dirty="0"/>
              <a:t>도메인</a:t>
            </a:r>
            <a:r>
              <a:rPr lang="en-US" altLang="ko-KR" dirty="0"/>
              <a:t>, </a:t>
            </a:r>
            <a:r>
              <a:rPr lang="ko-KR" altLang="en-US" dirty="0"/>
              <a:t>명명 규칙</a:t>
            </a:r>
            <a:r>
              <a:rPr lang="en-US" altLang="ko-KR" dirty="0"/>
              <a:t>, </a:t>
            </a:r>
            <a:r>
              <a:rPr lang="ko-KR" altLang="en-US" dirty="0"/>
              <a:t>표준코드</a:t>
            </a:r>
            <a:r>
              <a:rPr lang="en-US" altLang="ko-KR" dirty="0"/>
              <a:t>, </a:t>
            </a:r>
            <a:r>
              <a:rPr lang="ko-KR" altLang="en-US" dirty="0"/>
              <a:t>표준 데이터 도구를 대상으로 하며</a:t>
            </a:r>
            <a:r>
              <a:rPr lang="en-US" altLang="ko-KR" dirty="0"/>
              <a:t>, 3</a:t>
            </a:r>
            <a:r>
              <a:rPr lang="ko-KR" altLang="en-US" dirty="0"/>
              <a:t>개의 서브 프로세스</a:t>
            </a:r>
            <a:r>
              <a:rPr lang="en-US" altLang="ko-KR" dirty="0"/>
              <a:t>(</a:t>
            </a:r>
            <a:r>
              <a:rPr lang="ko-KR" altLang="en-US" dirty="0"/>
              <a:t>데이터 표준 정의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변경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평가 프로세스</a:t>
            </a:r>
            <a:r>
              <a:rPr lang="en-US" altLang="ko-KR" dirty="0"/>
              <a:t>)</a:t>
            </a:r>
            <a:r>
              <a:rPr lang="ko-KR" altLang="en-US" dirty="0"/>
              <a:t>로 구성됨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>
          <a:xfrm>
            <a:off x="344488" y="0"/>
            <a:ext cx="6336704" cy="781320"/>
          </a:xfrm>
        </p:spPr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3.7.3.3 </a:t>
            </a:r>
            <a:r>
              <a:rPr lang="ko-KR" altLang="en-US" sz="1800" spc="-150" smtClean="0"/>
              <a:t>데이터 </a:t>
            </a:r>
            <a:r>
              <a:rPr lang="ko-KR" altLang="en-US" sz="1800" spc="-150" dirty="0"/>
              <a:t>표준관리 </a:t>
            </a:r>
            <a:r>
              <a:rPr lang="ko-KR" altLang="en-US" sz="1800" spc="-150"/>
              <a:t>프로세스 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79836"/>
            <a:chOff x="201528" y="1592840"/>
            <a:chExt cx="9502496" cy="4779836"/>
          </a:xfrm>
        </p:grpSpPr>
        <p:grpSp>
          <p:nvGrpSpPr>
            <p:cNvPr id="6" name="그룹 14"/>
            <p:cNvGrpSpPr/>
            <p:nvPr/>
          </p:nvGrpSpPr>
          <p:grpSpPr>
            <a:xfrm>
              <a:off x="201528" y="4068686"/>
              <a:ext cx="9502496" cy="2303990"/>
              <a:chOff x="200025" y="1592840"/>
              <a:chExt cx="4680967" cy="2303990"/>
            </a:xfrm>
          </p:grpSpPr>
          <p:sp>
            <p:nvSpPr>
              <p:cNvPr id="16" name="직사각형 15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표준관리 프로세스</a:t>
                </a:r>
              </a:p>
            </p:txBody>
          </p:sp>
          <p:sp>
            <p:nvSpPr>
              <p:cNvPr id="17" name="직사각형 16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17"/>
            <p:cNvGrpSpPr/>
            <p:nvPr/>
          </p:nvGrpSpPr>
          <p:grpSpPr>
            <a:xfrm>
              <a:off x="201528" y="1592840"/>
              <a:ext cx="9502496" cy="2303990"/>
              <a:chOff x="200025" y="1592840"/>
              <a:chExt cx="4680967" cy="2303990"/>
            </a:xfrm>
          </p:grpSpPr>
          <p:sp>
            <p:nvSpPr>
              <p:cNvPr id="19" name="직사각형 18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표준관리 프로세스의 관리 대상</a:t>
                </a:r>
              </a:p>
            </p:txBody>
          </p:sp>
          <p:sp>
            <p:nvSpPr>
              <p:cNvPr id="20" name="직사각형 19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8" name="그룹 20"/>
            <p:cNvGrpSpPr/>
            <p:nvPr/>
          </p:nvGrpSpPr>
          <p:grpSpPr>
            <a:xfrm>
              <a:off x="1226523" y="2168050"/>
              <a:ext cx="7452953" cy="1440970"/>
              <a:chOff x="1138030" y="2229047"/>
              <a:chExt cx="4792867" cy="1440970"/>
            </a:xfrm>
          </p:grpSpPr>
          <p:sp>
            <p:nvSpPr>
              <p:cNvPr id="22" name="Rectangle 89"/>
              <p:cNvSpPr>
                <a:spLocks noChangeArrowheads="1"/>
              </p:cNvSpPr>
              <p:nvPr/>
            </p:nvSpPr>
            <p:spPr bwMode="auto">
              <a:xfrm>
                <a:off x="1138030" y="2854598"/>
                <a:ext cx="271190" cy="28892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8EB4D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 anchor="ctr"/>
              <a:lstStyle/>
              <a:p>
                <a:pPr algn="ctr"/>
                <a:endParaRPr lang="ko-KR" altLang="en-US" sz="11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3" name="Rectangle 19"/>
              <p:cNvSpPr>
                <a:spLocks noChangeArrowheads="1"/>
              </p:cNvSpPr>
              <p:nvPr/>
            </p:nvSpPr>
            <p:spPr bwMode="auto">
              <a:xfrm>
                <a:off x="1243839" y="3206005"/>
                <a:ext cx="811403" cy="464012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자료 사전</a:t>
                </a:r>
              </a:p>
            </p:txBody>
          </p:sp>
          <p:sp>
            <p:nvSpPr>
              <p:cNvPr id="24" name="Rectangle 19"/>
              <p:cNvSpPr>
                <a:spLocks noChangeArrowheads="1"/>
              </p:cNvSpPr>
              <p:nvPr/>
            </p:nvSpPr>
            <p:spPr bwMode="auto">
              <a:xfrm>
                <a:off x="2212753" y="3206005"/>
                <a:ext cx="811403" cy="464012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도메인</a:t>
                </a:r>
              </a:p>
            </p:txBody>
          </p:sp>
          <p:sp>
            <p:nvSpPr>
              <p:cNvPr id="25" name="Rectangle 19"/>
              <p:cNvSpPr>
                <a:spLocks noChangeArrowheads="1"/>
              </p:cNvSpPr>
              <p:nvPr/>
            </p:nvSpPr>
            <p:spPr bwMode="auto">
              <a:xfrm>
                <a:off x="3181667" y="3206005"/>
                <a:ext cx="811403" cy="464012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명명 규칙</a:t>
                </a:r>
              </a:p>
            </p:txBody>
          </p:sp>
          <p:sp>
            <p:nvSpPr>
              <p:cNvPr id="31" name="Rectangle 19"/>
              <p:cNvSpPr>
                <a:spLocks noChangeArrowheads="1"/>
              </p:cNvSpPr>
              <p:nvPr/>
            </p:nvSpPr>
            <p:spPr bwMode="auto">
              <a:xfrm>
                <a:off x="4150581" y="3206005"/>
                <a:ext cx="811403" cy="464012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코드</a:t>
                </a:r>
              </a:p>
            </p:txBody>
          </p:sp>
          <p:sp>
            <p:nvSpPr>
              <p:cNvPr id="32" name="Rectangle 19"/>
              <p:cNvSpPr>
                <a:spLocks noChangeArrowheads="1"/>
              </p:cNvSpPr>
              <p:nvPr/>
            </p:nvSpPr>
            <p:spPr bwMode="auto">
              <a:xfrm>
                <a:off x="5119494" y="3206005"/>
                <a:ext cx="811403" cy="464012"/>
              </a:xfrm>
              <a:prstGeom prst="rect">
                <a:avLst/>
              </a:prstGeom>
              <a:solidFill>
                <a:schemeClr val="accent2">
                  <a:lumMod val="9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표준 </a:t>
                </a:r>
                <a:r>
                  <a:rPr kumimoji="1" lang="en-US" altLang="ko-KR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kumimoji="1" lang="en-US" altLang="ko-KR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</a:br>
                <a:r>
                  <a:rPr kumimoji="1" lang="ko-KR" altLang="en-US" sz="1100" dirty="0">
                    <a:solidFill>
                      <a:prstClr val="black"/>
                    </a:solidFill>
                    <a:latin typeface="맑은 고딕" pitchFamily="50" charset="-127"/>
                    <a:ea typeface="맑은 고딕" pitchFamily="50" charset="-127"/>
                  </a:rPr>
                  <a:t>데이터 도구</a:t>
                </a: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818881" y="2229047"/>
                <a:ext cx="1539954" cy="468862"/>
              </a:xfrm>
              <a:prstGeom prst="rect">
                <a:avLst/>
              </a:prstGeom>
              <a:solidFill>
                <a:srgbClr val="508CD2"/>
              </a:solidFill>
              <a:ln w="19050">
                <a:solidFill>
                  <a:schemeClr val="accent1">
                    <a:lumMod val="75000"/>
                  </a:schemeClr>
                </a:solidFill>
                <a:miter lim="800000"/>
                <a:headEnd/>
                <a:tailEnd/>
              </a:ln>
              <a:extLst/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none" anchor="ctr"/>
              <a:lstStyle/>
              <a:p>
                <a:pPr algn="ctr">
                  <a:spcBef>
                    <a:spcPct val="0"/>
                  </a:spcBef>
                </a:pPr>
                <a:r>
                  <a:rPr kumimoji="1" lang="ko-KR" altLang="en-US" sz="1100" dirty="0">
                    <a:solidFill>
                      <a:prstClr val="white"/>
                    </a:solidFill>
                    <a:latin typeface="맑은 고딕" pitchFamily="50" charset="-127"/>
                    <a:ea typeface="맑은 고딕" pitchFamily="50" charset="-127"/>
                  </a:rPr>
                  <a:t>데이터 표준관리 대상</a:t>
                </a:r>
              </a:p>
            </p:txBody>
          </p:sp>
          <p:cxnSp>
            <p:nvCxnSpPr>
              <p:cNvPr id="34" name="꺾인 연결선 33"/>
              <p:cNvCxnSpPr>
                <a:stCxn id="23" idx="0"/>
                <a:endCxn id="33" idx="2"/>
              </p:cNvCxnSpPr>
              <p:nvPr/>
            </p:nvCxnSpPr>
            <p:spPr bwMode="auto">
              <a:xfrm rot="5400000" flipH="1" flipV="1">
                <a:off x="2365151" y="1982299"/>
                <a:ext cx="508096" cy="1939318"/>
              </a:xfrm>
              <a:prstGeom prst="bentConnector3">
                <a:avLst>
                  <a:gd name="adj1" fmla="val 50000"/>
                </a:avLst>
              </a:prstGeom>
              <a:solidFill>
                <a:srgbClr val="FBB779"/>
              </a:solidFill>
              <a:ln w="9525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" name="꺾인 연결선 34"/>
              <p:cNvCxnSpPr>
                <a:stCxn id="24" idx="0"/>
                <a:endCxn id="33" idx="2"/>
              </p:cNvCxnSpPr>
              <p:nvPr/>
            </p:nvCxnSpPr>
            <p:spPr bwMode="auto">
              <a:xfrm rot="5400000" flipH="1" flipV="1">
                <a:off x="2849608" y="2466756"/>
                <a:ext cx="508096" cy="970404"/>
              </a:xfrm>
              <a:prstGeom prst="bentConnector3">
                <a:avLst>
                  <a:gd name="adj1" fmla="val 50000"/>
                </a:avLst>
              </a:prstGeom>
              <a:solidFill>
                <a:srgbClr val="FBB779"/>
              </a:solidFill>
              <a:ln w="9525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" name="꺾인 연결선 37"/>
              <p:cNvCxnSpPr>
                <a:stCxn id="25" idx="0"/>
                <a:endCxn id="33" idx="2"/>
              </p:cNvCxnSpPr>
              <p:nvPr/>
            </p:nvCxnSpPr>
            <p:spPr bwMode="auto">
              <a:xfrm rot="5400000" flipH="1" flipV="1">
                <a:off x="3334066" y="2951212"/>
                <a:ext cx="508096" cy="1489"/>
              </a:xfrm>
              <a:prstGeom prst="bentConnector3">
                <a:avLst>
                  <a:gd name="adj1" fmla="val 50000"/>
                </a:avLst>
              </a:prstGeom>
              <a:solidFill>
                <a:srgbClr val="FBB779"/>
              </a:solidFill>
              <a:ln w="9525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" name="꺾인 연결선 38"/>
              <p:cNvCxnSpPr>
                <a:stCxn id="31" idx="0"/>
                <a:endCxn id="33" idx="2"/>
              </p:cNvCxnSpPr>
              <p:nvPr/>
            </p:nvCxnSpPr>
            <p:spPr bwMode="auto">
              <a:xfrm rot="16200000" flipV="1">
                <a:off x="3818523" y="2468245"/>
                <a:ext cx="508096" cy="967424"/>
              </a:xfrm>
              <a:prstGeom prst="bentConnector3">
                <a:avLst>
                  <a:gd name="adj1" fmla="val 50000"/>
                </a:avLst>
              </a:prstGeom>
              <a:solidFill>
                <a:srgbClr val="FBB779"/>
              </a:solidFill>
              <a:ln w="9525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3" name="꺾인 연결선 42"/>
              <p:cNvCxnSpPr>
                <a:stCxn id="32" idx="0"/>
                <a:endCxn id="33" idx="2"/>
              </p:cNvCxnSpPr>
              <p:nvPr/>
            </p:nvCxnSpPr>
            <p:spPr bwMode="auto">
              <a:xfrm rot="16200000" flipV="1">
                <a:off x="4302979" y="1983788"/>
                <a:ext cx="508096" cy="1936338"/>
              </a:xfrm>
              <a:prstGeom prst="bentConnector3">
                <a:avLst>
                  <a:gd name="adj1" fmla="val 50000"/>
                </a:avLst>
              </a:prstGeom>
              <a:solidFill>
                <a:srgbClr val="FBB779"/>
              </a:solidFill>
              <a:ln w="9525" cap="flat" cmpd="sng" algn="ctr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44" name="Rectangle 89"/>
            <p:cNvSpPr>
              <a:spLocks noChangeArrowheads="1"/>
            </p:cNvSpPr>
            <p:nvPr/>
          </p:nvSpPr>
          <p:spPr bwMode="auto">
            <a:xfrm>
              <a:off x="2688430" y="5435550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9" name="그룹 44"/>
            <p:cNvGrpSpPr/>
            <p:nvPr/>
          </p:nvGrpSpPr>
          <p:grpSpPr>
            <a:xfrm>
              <a:off x="2166435" y="5169110"/>
              <a:ext cx="2088232" cy="402024"/>
              <a:chOff x="1719254" y="3672911"/>
              <a:chExt cx="972000" cy="402024"/>
            </a:xfrm>
          </p:grpSpPr>
          <p:sp>
            <p:nvSpPr>
              <p:cNvPr id="46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P1.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표준관리 프로세스</a:t>
                </a:r>
              </a:p>
            </p:txBody>
          </p:sp>
          <p:sp>
            <p:nvSpPr>
              <p:cNvPr id="47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0" name="그룹 47"/>
            <p:cNvGrpSpPr/>
            <p:nvPr/>
          </p:nvGrpSpPr>
          <p:grpSpPr>
            <a:xfrm>
              <a:off x="4902739" y="5772263"/>
              <a:ext cx="2088232" cy="396000"/>
              <a:chOff x="1719254" y="3897918"/>
              <a:chExt cx="972000" cy="396000"/>
            </a:xfrm>
          </p:grpSpPr>
          <p:sp>
            <p:nvSpPr>
              <p:cNvPr id="49" name="Rectangle 19"/>
              <p:cNvSpPr>
                <a:spLocks noChangeArrowheads="1"/>
              </p:cNvSpPr>
              <p:nvPr/>
            </p:nvSpPr>
            <p:spPr bwMode="auto">
              <a:xfrm>
                <a:off x="1719254" y="3897918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P1.3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표준 평가 프로세스</a:t>
                </a:r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1" name="그룹 50"/>
            <p:cNvGrpSpPr/>
            <p:nvPr/>
          </p:nvGrpSpPr>
          <p:grpSpPr>
            <a:xfrm>
              <a:off x="4902739" y="4549167"/>
              <a:ext cx="2088232" cy="402024"/>
              <a:chOff x="1719254" y="3672911"/>
              <a:chExt cx="972000" cy="402024"/>
            </a:xfrm>
          </p:grpSpPr>
          <p:sp>
            <p:nvSpPr>
              <p:cNvPr id="52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P1.1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표준 정의 프로세스</a:t>
                </a:r>
              </a:p>
            </p:txBody>
          </p:sp>
          <p:sp>
            <p:nvSpPr>
              <p:cNvPr id="53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54" name="꺾인 연결선 53"/>
            <p:cNvCxnSpPr>
              <a:stCxn id="46" idx="3"/>
              <a:endCxn id="52" idx="1"/>
            </p:cNvCxnSpPr>
            <p:nvPr/>
          </p:nvCxnSpPr>
          <p:spPr bwMode="auto">
            <a:xfrm flipV="1">
              <a:off x="4254667" y="4747167"/>
              <a:ext cx="648072" cy="619943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55" name="꺾인 연결선 54"/>
            <p:cNvCxnSpPr>
              <a:stCxn id="46" idx="3"/>
              <a:endCxn id="49" idx="1"/>
            </p:cNvCxnSpPr>
            <p:nvPr/>
          </p:nvCxnSpPr>
          <p:spPr bwMode="auto">
            <a:xfrm>
              <a:off x="4254667" y="5367110"/>
              <a:ext cx="648072" cy="603153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grpSp>
          <p:nvGrpSpPr>
            <p:cNvPr id="12" name="그룹 55"/>
            <p:cNvGrpSpPr/>
            <p:nvPr/>
          </p:nvGrpSpPr>
          <p:grpSpPr>
            <a:xfrm>
              <a:off x="4902739" y="5160715"/>
              <a:ext cx="2088232" cy="402024"/>
              <a:chOff x="1719254" y="3672911"/>
              <a:chExt cx="972000" cy="402024"/>
            </a:xfrm>
          </p:grpSpPr>
          <p:sp>
            <p:nvSpPr>
              <p:cNvPr id="57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P1.2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표준 변경 프로세스</a:t>
                </a:r>
              </a:p>
            </p:txBody>
          </p:sp>
          <p:sp>
            <p:nvSpPr>
              <p:cNvPr id="58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59" name="꺾인 연결선 58"/>
            <p:cNvCxnSpPr>
              <a:stCxn id="46" idx="3"/>
              <a:endCxn id="57" idx="1"/>
            </p:cNvCxnSpPr>
            <p:nvPr/>
          </p:nvCxnSpPr>
          <p:spPr bwMode="auto">
            <a:xfrm flipV="1">
              <a:off x="4254667" y="5358715"/>
              <a:ext cx="648072" cy="8395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60" name="타원 59"/>
            <p:cNvSpPr/>
            <p:nvPr/>
          </p:nvSpPr>
          <p:spPr bwMode="auto">
            <a:xfrm>
              <a:off x="3548940" y="4122345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P1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2491802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ko-KR" altLang="en-US" dirty="0"/>
              <a:t>데이터 표준관리 프로세스는 자료사전</a:t>
            </a:r>
            <a:r>
              <a:rPr lang="en-US" altLang="ko-KR" dirty="0"/>
              <a:t>, </a:t>
            </a:r>
            <a:r>
              <a:rPr lang="ko-KR" altLang="en-US" dirty="0"/>
              <a:t>도메인</a:t>
            </a:r>
            <a:r>
              <a:rPr lang="en-US" altLang="ko-KR" dirty="0"/>
              <a:t>, </a:t>
            </a:r>
            <a:r>
              <a:rPr lang="ko-KR" altLang="en-US" dirty="0"/>
              <a:t>명명 규칙</a:t>
            </a:r>
            <a:r>
              <a:rPr lang="en-US" altLang="ko-KR" dirty="0"/>
              <a:t>, </a:t>
            </a:r>
            <a:r>
              <a:rPr lang="ko-KR" altLang="en-US" dirty="0"/>
              <a:t>표준코드</a:t>
            </a:r>
            <a:r>
              <a:rPr lang="en-US" altLang="ko-KR" dirty="0"/>
              <a:t>, </a:t>
            </a:r>
            <a:r>
              <a:rPr lang="ko-KR" altLang="en-US" dirty="0"/>
              <a:t>표준 데이터 도구를 대상으로 하며</a:t>
            </a:r>
            <a:r>
              <a:rPr lang="en-US" altLang="ko-KR" dirty="0"/>
              <a:t>, 3</a:t>
            </a:r>
            <a:r>
              <a:rPr lang="ko-KR" altLang="en-US" dirty="0"/>
              <a:t>개의 서브 프로세스</a:t>
            </a:r>
            <a:r>
              <a:rPr lang="en-US" altLang="ko-KR" dirty="0"/>
              <a:t>(</a:t>
            </a:r>
            <a:r>
              <a:rPr lang="ko-KR" altLang="en-US" dirty="0"/>
              <a:t>데이터 표준 정의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변경 프로세스</a:t>
            </a:r>
            <a:r>
              <a:rPr lang="en-US" altLang="ko-KR" dirty="0"/>
              <a:t>, </a:t>
            </a:r>
            <a:r>
              <a:rPr lang="ko-KR" altLang="en-US" dirty="0"/>
              <a:t>데이터 표준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평가 프로세스</a:t>
            </a:r>
            <a:r>
              <a:rPr lang="en-US" altLang="ko-KR" dirty="0"/>
              <a:t>)</a:t>
            </a:r>
            <a:r>
              <a:rPr lang="ko-KR" altLang="en-US" dirty="0"/>
              <a:t>로 구성됨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3.7.3.4 </a:t>
            </a:r>
            <a:r>
              <a:rPr lang="ko-KR" altLang="en-US" sz="1800" spc="-150" smtClean="0"/>
              <a:t>데이터 </a:t>
            </a:r>
            <a:r>
              <a:rPr lang="ko-KR" altLang="en-US" sz="1800" spc="-150" dirty="0"/>
              <a:t>구조관리 </a:t>
            </a:r>
            <a:r>
              <a:rPr lang="ko-KR" altLang="en-US" sz="1800" spc="-150"/>
              <a:t>프로세스 </a:t>
            </a:r>
            <a:r>
              <a:rPr lang="en-US" altLang="ko-KR" sz="1800" spc="-150" smtClean="0"/>
              <a:t> 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79836"/>
            <a:chOff x="201528" y="1592840"/>
            <a:chExt cx="9502496" cy="4779836"/>
          </a:xfrm>
        </p:grpSpPr>
        <p:grpSp>
          <p:nvGrpSpPr>
            <p:cNvPr id="6" name="그룹 95"/>
            <p:cNvGrpSpPr/>
            <p:nvPr/>
          </p:nvGrpSpPr>
          <p:grpSpPr>
            <a:xfrm>
              <a:off x="201528" y="4068686"/>
              <a:ext cx="9502496" cy="2303990"/>
              <a:chOff x="200025" y="1592840"/>
              <a:chExt cx="4680967" cy="2303990"/>
            </a:xfrm>
          </p:grpSpPr>
          <p:sp>
            <p:nvSpPr>
              <p:cNvPr id="97" name="직사각형 96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구조관리 프로세스</a:t>
                </a:r>
              </a:p>
            </p:txBody>
          </p:sp>
          <p:sp>
            <p:nvSpPr>
              <p:cNvPr id="98" name="직사각형 97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98"/>
            <p:cNvGrpSpPr/>
            <p:nvPr/>
          </p:nvGrpSpPr>
          <p:grpSpPr>
            <a:xfrm>
              <a:off x="201528" y="1592840"/>
              <a:ext cx="9502496" cy="2303990"/>
              <a:chOff x="200025" y="1592840"/>
              <a:chExt cx="4680967" cy="2303990"/>
            </a:xfrm>
          </p:grpSpPr>
          <p:sp>
            <p:nvSpPr>
              <p:cNvPr id="100" name="직사각형 99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구조관리 프로세스의 관리 대상</a:t>
                </a:r>
              </a:p>
            </p:txBody>
          </p:sp>
          <p:sp>
            <p:nvSpPr>
              <p:cNvPr id="101" name="직사각형 100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02" name="Rectangle 19"/>
            <p:cNvSpPr>
              <a:spLocks noChangeArrowheads="1"/>
            </p:cNvSpPr>
            <p:nvPr/>
          </p:nvSpPr>
          <p:spPr bwMode="auto">
            <a:xfrm>
              <a:off x="1538976" y="3145008"/>
              <a:ext cx="1747565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개념 모델</a:t>
              </a:r>
            </a:p>
          </p:txBody>
        </p:sp>
        <p:sp>
          <p:nvSpPr>
            <p:cNvPr id="103" name="Rectangle 19"/>
            <p:cNvSpPr>
              <a:spLocks noChangeArrowheads="1"/>
            </p:cNvSpPr>
            <p:nvPr/>
          </p:nvSpPr>
          <p:spPr bwMode="auto">
            <a:xfrm>
              <a:off x="4161483" y="3145008"/>
              <a:ext cx="1747565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논리 모델</a:t>
              </a:r>
            </a:p>
          </p:txBody>
        </p:sp>
        <p:sp>
          <p:nvSpPr>
            <p:cNvPr id="104" name="Rectangle 19"/>
            <p:cNvSpPr>
              <a:spLocks noChangeArrowheads="1"/>
            </p:cNvSpPr>
            <p:nvPr/>
          </p:nvSpPr>
          <p:spPr bwMode="auto">
            <a:xfrm>
              <a:off x="6783990" y="3145008"/>
              <a:ext cx="1747565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물리 모델</a:t>
              </a:r>
            </a:p>
          </p:txBody>
        </p:sp>
        <p:sp>
          <p:nvSpPr>
            <p:cNvPr id="105" name="Rectangle 19"/>
            <p:cNvSpPr>
              <a:spLocks noChangeArrowheads="1"/>
            </p:cNvSpPr>
            <p:nvPr/>
          </p:nvSpPr>
          <p:spPr bwMode="auto">
            <a:xfrm>
              <a:off x="3840262" y="2168050"/>
              <a:ext cx="2394643" cy="468862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구조관리 대상</a:t>
              </a:r>
            </a:p>
          </p:txBody>
        </p:sp>
        <p:cxnSp>
          <p:nvCxnSpPr>
            <p:cNvPr id="106" name="꺾인 연결선 105"/>
            <p:cNvCxnSpPr>
              <a:stCxn id="102" idx="0"/>
              <a:endCxn id="105" idx="2"/>
            </p:cNvCxnSpPr>
            <p:nvPr/>
          </p:nvCxnSpPr>
          <p:spPr bwMode="auto">
            <a:xfrm rot="5400000" flipH="1" flipV="1">
              <a:off x="3471123" y="1578548"/>
              <a:ext cx="508096" cy="2624825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7" name="꺾인 연결선 106"/>
            <p:cNvCxnSpPr>
              <a:stCxn id="103" idx="0"/>
              <a:endCxn id="105" idx="2"/>
            </p:cNvCxnSpPr>
            <p:nvPr/>
          </p:nvCxnSpPr>
          <p:spPr bwMode="auto">
            <a:xfrm rot="5400000" flipH="1" flipV="1">
              <a:off x="4782377" y="2889801"/>
              <a:ext cx="508096" cy="231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8" name="꺾인 연결선 107"/>
            <p:cNvCxnSpPr>
              <a:stCxn id="104" idx="0"/>
              <a:endCxn id="105" idx="2"/>
            </p:cNvCxnSpPr>
            <p:nvPr/>
          </p:nvCxnSpPr>
          <p:spPr bwMode="auto">
            <a:xfrm rot="16200000" flipV="1">
              <a:off x="6093631" y="1580865"/>
              <a:ext cx="508096" cy="262018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9" name="Rectangle 89"/>
            <p:cNvSpPr>
              <a:spLocks noChangeArrowheads="1"/>
            </p:cNvSpPr>
            <p:nvPr/>
          </p:nvSpPr>
          <p:spPr bwMode="auto">
            <a:xfrm>
              <a:off x="2688430" y="5435550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" name="그룹 109"/>
            <p:cNvGrpSpPr/>
            <p:nvPr/>
          </p:nvGrpSpPr>
          <p:grpSpPr>
            <a:xfrm>
              <a:off x="2166435" y="5183183"/>
              <a:ext cx="2088232" cy="402024"/>
              <a:chOff x="1719254" y="3672911"/>
              <a:chExt cx="972000" cy="402024"/>
            </a:xfrm>
          </p:grpSpPr>
          <p:sp>
            <p:nvSpPr>
              <p:cNvPr id="111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P2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모델 정의 프로세스</a:t>
                </a:r>
              </a:p>
            </p:txBody>
          </p:sp>
          <p:sp>
            <p:nvSpPr>
              <p:cNvPr id="112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9" name="그룹 112"/>
            <p:cNvGrpSpPr/>
            <p:nvPr/>
          </p:nvGrpSpPr>
          <p:grpSpPr>
            <a:xfrm>
              <a:off x="4902739" y="5785694"/>
              <a:ext cx="2088232" cy="402024"/>
              <a:chOff x="1719254" y="3672911"/>
              <a:chExt cx="972000" cy="402024"/>
            </a:xfrm>
          </p:grpSpPr>
          <p:sp>
            <p:nvSpPr>
              <p:cNvPr id="114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P2.3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모델 평가 프로세스</a:t>
                </a:r>
              </a:p>
            </p:txBody>
          </p:sp>
          <p:sp>
            <p:nvSpPr>
              <p:cNvPr id="115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0" name="그룹 115"/>
            <p:cNvGrpSpPr/>
            <p:nvPr/>
          </p:nvGrpSpPr>
          <p:grpSpPr>
            <a:xfrm>
              <a:off x="4902739" y="5188291"/>
              <a:ext cx="2088232" cy="402024"/>
              <a:chOff x="1719254" y="3672911"/>
              <a:chExt cx="972000" cy="402024"/>
            </a:xfrm>
          </p:grpSpPr>
          <p:sp>
            <p:nvSpPr>
              <p:cNvPr id="117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P2.2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모델 변경 프로세스</a:t>
                </a:r>
              </a:p>
            </p:txBody>
          </p:sp>
          <p:sp>
            <p:nvSpPr>
              <p:cNvPr id="118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19" name="꺾인 연결선 118"/>
            <p:cNvCxnSpPr>
              <a:stCxn id="111" idx="3"/>
              <a:endCxn id="117" idx="1"/>
            </p:cNvCxnSpPr>
            <p:nvPr/>
          </p:nvCxnSpPr>
          <p:spPr bwMode="auto">
            <a:xfrm>
              <a:off x="4254667" y="5381183"/>
              <a:ext cx="648072" cy="5108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20" name="꺾인 연결선 119"/>
            <p:cNvCxnSpPr>
              <a:stCxn id="111" idx="3"/>
              <a:endCxn id="114" idx="1"/>
            </p:cNvCxnSpPr>
            <p:nvPr/>
          </p:nvCxnSpPr>
          <p:spPr bwMode="auto">
            <a:xfrm>
              <a:off x="4254667" y="5381183"/>
              <a:ext cx="648072" cy="602511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grpSp>
          <p:nvGrpSpPr>
            <p:cNvPr id="11" name="그룹 120"/>
            <p:cNvGrpSpPr/>
            <p:nvPr/>
          </p:nvGrpSpPr>
          <p:grpSpPr>
            <a:xfrm>
              <a:off x="4902739" y="4590887"/>
              <a:ext cx="2088232" cy="402024"/>
              <a:chOff x="1719254" y="3672911"/>
              <a:chExt cx="972000" cy="402024"/>
            </a:xfrm>
          </p:grpSpPr>
          <p:sp>
            <p:nvSpPr>
              <p:cNvPr id="122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P2.1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모델 정의 프로세스</a:t>
                </a:r>
              </a:p>
            </p:txBody>
          </p:sp>
          <p:sp>
            <p:nvSpPr>
              <p:cNvPr id="123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24" name="꺾인 연결선 123"/>
            <p:cNvCxnSpPr>
              <a:stCxn id="111" idx="3"/>
              <a:endCxn id="122" idx="1"/>
            </p:cNvCxnSpPr>
            <p:nvPr/>
          </p:nvCxnSpPr>
          <p:spPr bwMode="auto">
            <a:xfrm flipV="1">
              <a:off x="4254667" y="4788887"/>
              <a:ext cx="648072" cy="592296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25" name="타원 124"/>
            <p:cNvSpPr/>
            <p:nvPr/>
          </p:nvSpPr>
          <p:spPr bwMode="auto">
            <a:xfrm>
              <a:off x="3623178" y="4122345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P2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101435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연계관리 프로세스는 연계시스템</a:t>
            </a:r>
            <a:r>
              <a:rPr lang="en-US" altLang="ko-KR" dirty="0"/>
              <a:t>, </a:t>
            </a:r>
            <a:r>
              <a:rPr lang="ko-KR" altLang="en-US" dirty="0"/>
              <a:t>연계정보</a:t>
            </a:r>
            <a:r>
              <a:rPr lang="en-US" altLang="ko-KR" dirty="0"/>
              <a:t>, </a:t>
            </a:r>
            <a:r>
              <a:rPr lang="ko-KR" altLang="en-US" dirty="0"/>
              <a:t>연계기술 관리를 대상으로 하며</a:t>
            </a:r>
            <a:r>
              <a:rPr lang="en-US" altLang="ko-KR" dirty="0"/>
              <a:t>, 2</a:t>
            </a:r>
            <a:r>
              <a:rPr lang="ko-KR" altLang="en-US" dirty="0"/>
              <a:t>개의 서브 프로세스</a:t>
            </a:r>
            <a:r>
              <a:rPr lang="en-US" altLang="ko-KR" dirty="0"/>
              <a:t>(</a:t>
            </a:r>
            <a:r>
              <a:rPr lang="ko-KR" altLang="en-US" dirty="0"/>
              <a:t>데이터 연계 개발 프로세스</a:t>
            </a:r>
            <a:r>
              <a:rPr lang="en-US" altLang="ko-KR" dirty="0"/>
              <a:t>,  </a:t>
            </a:r>
            <a:r>
              <a:rPr lang="ko-KR" altLang="en-US" dirty="0"/>
              <a:t>데이터 연계 평가 프로세스</a:t>
            </a:r>
            <a:r>
              <a:rPr lang="en-US" altLang="ko-KR" dirty="0"/>
              <a:t>)</a:t>
            </a:r>
            <a:r>
              <a:rPr lang="ko-KR" altLang="en-US" dirty="0"/>
              <a:t>로 구성됨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3.7.3.5 </a:t>
            </a:r>
            <a:r>
              <a:rPr lang="ko-KR" altLang="en-US" sz="1800" spc="-150" smtClean="0"/>
              <a:t>데이터 </a:t>
            </a:r>
            <a:r>
              <a:rPr lang="ko-KR" altLang="en-US" sz="1800" spc="-150"/>
              <a:t>연계관리 </a:t>
            </a:r>
            <a:r>
              <a:rPr lang="ko-KR" altLang="en-US" sz="1800" spc="-150" smtClean="0"/>
              <a:t>프로세스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2"/>
          <p:cNvGrpSpPr/>
          <p:nvPr/>
        </p:nvGrpSpPr>
        <p:grpSpPr>
          <a:xfrm>
            <a:off x="344488" y="1592840"/>
            <a:ext cx="9217025" cy="4779836"/>
            <a:chOff x="201528" y="1592840"/>
            <a:chExt cx="9502496" cy="4779836"/>
          </a:xfrm>
        </p:grpSpPr>
        <p:grpSp>
          <p:nvGrpSpPr>
            <p:cNvPr id="6" name="그룹 95"/>
            <p:cNvGrpSpPr/>
            <p:nvPr/>
          </p:nvGrpSpPr>
          <p:grpSpPr>
            <a:xfrm>
              <a:off x="201528" y="4068686"/>
              <a:ext cx="9502496" cy="2303990"/>
              <a:chOff x="200025" y="1592840"/>
              <a:chExt cx="4680967" cy="2303990"/>
            </a:xfrm>
          </p:grpSpPr>
          <p:sp>
            <p:nvSpPr>
              <p:cNvPr id="97" name="직사각형 96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연계관리 프로세스</a:t>
                </a:r>
              </a:p>
            </p:txBody>
          </p:sp>
          <p:sp>
            <p:nvSpPr>
              <p:cNvPr id="98" name="직사각형 97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98"/>
            <p:cNvGrpSpPr/>
            <p:nvPr/>
          </p:nvGrpSpPr>
          <p:grpSpPr>
            <a:xfrm>
              <a:off x="201528" y="1592840"/>
              <a:ext cx="9502496" cy="2303990"/>
              <a:chOff x="200025" y="1592840"/>
              <a:chExt cx="4680967" cy="2303990"/>
            </a:xfrm>
          </p:grpSpPr>
          <p:sp>
            <p:nvSpPr>
              <p:cNvPr id="100" name="직사각형 99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연계관리 프로세스의 관리 대상</a:t>
                </a:r>
              </a:p>
            </p:txBody>
          </p:sp>
          <p:sp>
            <p:nvSpPr>
              <p:cNvPr id="101" name="직사각형 100"/>
              <p:cNvSpPr/>
              <p:nvPr/>
            </p:nvSpPr>
            <p:spPr bwMode="auto">
              <a:xfrm>
                <a:off x="200025" y="1916830"/>
                <a:ext cx="4680967" cy="198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02" name="Rectangle 19"/>
            <p:cNvSpPr>
              <a:spLocks noChangeArrowheads="1"/>
            </p:cNvSpPr>
            <p:nvPr/>
          </p:nvSpPr>
          <p:spPr bwMode="auto">
            <a:xfrm>
              <a:off x="1848743" y="3145008"/>
              <a:ext cx="1679374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시스템</a:t>
              </a:r>
            </a:p>
          </p:txBody>
        </p:sp>
        <p:sp>
          <p:nvSpPr>
            <p:cNvPr id="103" name="Rectangle 19"/>
            <p:cNvSpPr>
              <a:spLocks noChangeArrowheads="1"/>
            </p:cNvSpPr>
            <p:nvPr/>
          </p:nvSpPr>
          <p:spPr bwMode="auto">
            <a:xfrm>
              <a:off x="4195580" y="3145008"/>
              <a:ext cx="1679374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정보</a:t>
              </a:r>
            </a:p>
          </p:txBody>
        </p:sp>
        <p:sp>
          <p:nvSpPr>
            <p:cNvPr id="104" name="Rectangle 19"/>
            <p:cNvSpPr>
              <a:spLocks noChangeArrowheads="1"/>
            </p:cNvSpPr>
            <p:nvPr/>
          </p:nvSpPr>
          <p:spPr bwMode="auto">
            <a:xfrm>
              <a:off x="6510211" y="3145008"/>
              <a:ext cx="1679374" cy="464012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기술</a:t>
              </a:r>
            </a:p>
          </p:txBody>
        </p:sp>
        <p:sp>
          <p:nvSpPr>
            <p:cNvPr id="105" name="Rectangle 19"/>
            <p:cNvSpPr>
              <a:spLocks noChangeArrowheads="1"/>
            </p:cNvSpPr>
            <p:nvPr/>
          </p:nvSpPr>
          <p:spPr bwMode="auto">
            <a:xfrm>
              <a:off x="3840262" y="2168050"/>
              <a:ext cx="2394643" cy="468862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연계관리 대상</a:t>
              </a:r>
            </a:p>
          </p:txBody>
        </p:sp>
        <p:cxnSp>
          <p:nvCxnSpPr>
            <p:cNvPr id="106" name="꺾인 연결선 105"/>
            <p:cNvCxnSpPr>
              <a:stCxn id="102" idx="0"/>
              <a:endCxn id="105" idx="2"/>
            </p:cNvCxnSpPr>
            <p:nvPr/>
          </p:nvCxnSpPr>
          <p:spPr bwMode="auto">
            <a:xfrm rot="5400000" flipH="1" flipV="1">
              <a:off x="3608959" y="1716383"/>
              <a:ext cx="508096" cy="234915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7" name="꺾인 연결선 106"/>
            <p:cNvCxnSpPr>
              <a:stCxn id="103" idx="0"/>
              <a:endCxn id="105" idx="2"/>
            </p:cNvCxnSpPr>
            <p:nvPr/>
          </p:nvCxnSpPr>
          <p:spPr bwMode="auto">
            <a:xfrm rot="5400000" flipH="1" flipV="1">
              <a:off x="4782377" y="2889802"/>
              <a:ext cx="508096" cy="231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8" name="꺾인 연결선 107"/>
            <p:cNvCxnSpPr>
              <a:stCxn id="104" idx="0"/>
              <a:endCxn id="105" idx="2"/>
            </p:cNvCxnSpPr>
            <p:nvPr/>
          </p:nvCxnSpPr>
          <p:spPr bwMode="auto">
            <a:xfrm rot="16200000" flipV="1">
              <a:off x="5939693" y="1734803"/>
              <a:ext cx="508096" cy="231231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9" name="Rectangle 89"/>
            <p:cNvSpPr>
              <a:spLocks noChangeArrowheads="1"/>
            </p:cNvSpPr>
            <p:nvPr/>
          </p:nvSpPr>
          <p:spPr bwMode="auto">
            <a:xfrm>
              <a:off x="2688430" y="5435550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" name="그룹 109"/>
            <p:cNvGrpSpPr/>
            <p:nvPr/>
          </p:nvGrpSpPr>
          <p:grpSpPr>
            <a:xfrm>
              <a:off x="2166435" y="5187424"/>
              <a:ext cx="2088232" cy="402024"/>
              <a:chOff x="1719254" y="3672911"/>
              <a:chExt cx="972000" cy="402024"/>
            </a:xfrm>
          </p:grpSpPr>
          <p:sp>
            <p:nvSpPr>
              <p:cNvPr id="111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P3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연계관리 프로세스</a:t>
                </a:r>
              </a:p>
            </p:txBody>
          </p:sp>
          <p:sp>
            <p:nvSpPr>
              <p:cNvPr id="112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9" name="그룹 112"/>
            <p:cNvGrpSpPr/>
            <p:nvPr/>
          </p:nvGrpSpPr>
          <p:grpSpPr>
            <a:xfrm>
              <a:off x="4902739" y="5625244"/>
              <a:ext cx="2088232" cy="396000"/>
              <a:chOff x="1719254" y="3745656"/>
              <a:chExt cx="972000" cy="396000"/>
            </a:xfrm>
          </p:grpSpPr>
          <p:sp>
            <p:nvSpPr>
              <p:cNvPr id="114" name="Rectangle 19"/>
              <p:cNvSpPr>
                <a:spLocks noChangeArrowheads="1"/>
              </p:cNvSpPr>
              <p:nvPr/>
            </p:nvSpPr>
            <p:spPr bwMode="auto">
              <a:xfrm>
                <a:off x="1719254" y="3745656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P3.3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연계 평가 프로세스</a:t>
                </a:r>
              </a:p>
            </p:txBody>
          </p:sp>
          <p:sp>
            <p:nvSpPr>
              <p:cNvPr id="115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0" name="그룹 115"/>
            <p:cNvGrpSpPr/>
            <p:nvPr/>
          </p:nvGrpSpPr>
          <p:grpSpPr>
            <a:xfrm>
              <a:off x="4902739" y="4755168"/>
              <a:ext cx="2088232" cy="402024"/>
              <a:chOff x="1719254" y="3672911"/>
              <a:chExt cx="972000" cy="402024"/>
            </a:xfrm>
          </p:grpSpPr>
          <p:sp>
            <p:nvSpPr>
              <p:cNvPr id="117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P3.1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연계 개발 프로세스</a:t>
                </a:r>
              </a:p>
            </p:txBody>
          </p:sp>
          <p:sp>
            <p:nvSpPr>
              <p:cNvPr id="118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19" name="꺾인 연결선 118"/>
            <p:cNvCxnSpPr>
              <a:stCxn id="111" idx="3"/>
              <a:endCxn id="117" idx="1"/>
            </p:cNvCxnSpPr>
            <p:nvPr/>
          </p:nvCxnSpPr>
          <p:spPr bwMode="auto">
            <a:xfrm flipV="1">
              <a:off x="4254667" y="4953168"/>
              <a:ext cx="648072" cy="432256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20" name="꺾인 연결선 119"/>
            <p:cNvCxnSpPr>
              <a:stCxn id="111" idx="3"/>
              <a:endCxn id="114" idx="1"/>
            </p:cNvCxnSpPr>
            <p:nvPr/>
          </p:nvCxnSpPr>
          <p:spPr bwMode="auto">
            <a:xfrm>
              <a:off x="4254667" y="5385424"/>
              <a:ext cx="648072" cy="43782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21" name="타원 120"/>
            <p:cNvSpPr/>
            <p:nvPr/>
          </p:nvSpPr>
          <p:spPr bwMode="auto">
            <a:xfrm>
              <a:off x="3542249" y="4122345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P3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70018335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품질관리 프로세스는 </a:t>
            </a:r>
            <a:r>
              <a:rPr lang="en-US" altLang="ko-KR" dirty="0"/>
              <a:t>7</a:t>
            </a:r>
            <a:r>
              <a:rPr lang="ko-KR" altLang="en-US" dirty="0"/>
              <a:t>개 데이터 품질 지표에</a:t>
            </a:r>
            <a:r>
              <a:rPr lang="en-US" altLang="ko-KR" dirty="0"/>
              <a:t> </a:t>
            </a:r>
            <a:r>
              <a:rPr lang="ko-KR" altLang="en-US" dirty="0"/>
              <a:t>대한 관리와 개선을 목적으로 하며</a:t>
            </a:r>
            <a:r>
              <a:rPr lang="en-US" altLang="ko-KR" dirty="0"/>
              <a:t>, 5</a:t>
            </a:r>
            <a:r>
              <a:rPr lang="ko-KR" altLang="en-US" dirty="0"/>
              <a:t>개의 서브 프로세스</a:t>
            </a:r>
            <a:r>
              <a:rPr lang="en-US" altLang="ko-KR" dirty="0"/>
              <a:t>(</a:t>
            </a:r>
            <a:r>
              <a:rPr lang="ko-KR" altLang="en-US" dirty="0"/>
              <a:t>계획단계 품질관리</a:t>
            </a:r>
            <a:r>
              <a:rPr lang="en-US" altLang="ko-KR" dirty="0"/>
              <a:t>,</a:t>
            </a:r>
            <a:r>
              <a:rPr lang="ko-KR" altLang="en-US" dirty="0"/>
              <a:t> 구축단계 품질관리</a:t>
            </a:r>
            <a:r>
              <a:rPr lang="en-US" altLang="ko-KR" dirty="0"/>
              <a:t>, </a:t>
            </a:r>
            <a:r>
              <a:rPr lang="ko-KR" altLang="en-US" dirty="0"/>
              <a:t>운영단계 품질관리</a:t>
            </a:r>
            <a:r>
              <a:rPr lang="en-US" altLang="ko-KR" dirty="0"/>
              <a:t>, </a:t>
            </a:r>
            <a:r>
              <a:rPr lang="ko-KR" altLang="en-US" dirty="0"/>
              <a:t>활용단계 품질관리</a:t>
            </a:r>
            <a:r>
              <a:rPr lang="en-US" altLang="ko-KR" dirty="0"/>
              <a:t>, </a:t>
            </a:r>
            <a:r>
              <a:rPr lang="ko-KR" altLang="en-US" dirty="0"/>
              <a:t>품질 인프라 관리 프로세스</a:t>
            </a:r>
            <a:r>
              <a:rPr lang="en-US" altLang="ko-KR" dirty="0"/>
              <a:t>)</a:t>
            </a:r>
            <a:r>
              <a:rPr lang="ko-KR" altLang="en-US" dirty="0"/>
              <a:t>로 구성됨</a:t>
            </a: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 smtClean="0"/>
              <a:t>3.7.3.6 </a:t>
            </a:r>
            <a:r>
              <a:rPr lang="ko-KR" altLang="en-US" sz="1800" spc="-150" smtClean="0"/>
              <a:t>데이터 </a:t>
            </a:r>
            <a:r>
              <a:rPr lang="ko-KR" altLang="en-US" sz="1800" spc="-150"/>
              <a:t>품질관리 </a:t>
            </a:r>
            <a:r>
              <a:rPr lang="ko-KR" altLang="en-US" sz="1800" spc="-150" smtClean="0"/>
              <a:t>프로세스</a:t>
            </a:r>
            <a:r>
              <a:rPr lang="en-US" altLang="ko-KR" sz="1800" spc="-150" smtClean="0"/>
              <a:t> </a:t>
            </a:r>
            <a:endParaRPr lang="ko-KR" altLang="en-US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3" name="그룹 5"/>
          <p:cNvGrpSpPr/>
          <p:nvPr/>
        </p:nvGrpSpPr>
        <p:grpSpPr>
          <a:xfrm>
            <a:off x="344488" y="1592840"/>
            <a:ext cx="9217025" cy="4785735"/>
            <a:chOff x="201528" y="1592840"/>
            <a:chExt cx="9502496" cy="4785735"/>
          </a:xfrm>
        </p:grpSpPr>
        <p:grpSp>
          <p:nvGrpSpPr>
            <p:cNvPr id="6" name="그룹 121"/>
            <p:cNvGrpSpPr/>
            <p:nvPr/>
          </p:nvGrpSpPr>
          <p:grpSpPr>
            <a:xfrm>
              <a:off x="201528" y="4568694"/>
              <a:ext cx="9502496" cy="1809881"/>
              <a:chOff x="200025" y="1592840"/>
              <a:chExt cx="4680967" cy="1809881"/>
            </a:xfrm>
          </p:grpSpPr>
          <p:sp>
            <p:nvSpPr>
              <p:cNvPr id="123" name="직사각형 122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품질관리 프로세스</a:t>
                </a:r>
              </a:p>
            </p:txBody>
          </p:sp>
          <p:sp>
            <p:nvSpPr>
              <p:cNvPr id="124" name="직사각형 123"/>
              <p:cNvSpPr/>
              <p:nvPr/>
            </p:nvSpPr>
            <p:spPr bwMode="auto">
              <a:xfrm>
                <a:off x="200025" y="1916830"/>
                <a:ext cx="4680967" cy="1485891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184"/>
            <p:cNvGrpSpPr/>
            <p:nvPr/>
          </p:nvGrpSpPr>
          <p:grpSpPr>
            <a:xfrm>
              <a:off x="201528" y="1592840"/>
              <a:ext cx="9502496" cy="2879990"/>
              <a:chOff x="200025" y="1592840"/>
              <a:chExt cx="4680967" cy="2879990"/>
            </a:xfrm>
          </p:grpSpPr>
          <p:sp>
            <p:nvSpPr>
              <p:cNvPr id="186" name="직사각형 185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품질관리 프로세스의 관리 대상</a:t>
                </a:r>
              </a:p>
            </p:txBody>
          </p:sp>
          <p:sp>
            <p:nvSpPr>
              <p:cNvPr id="187" name="직사각형 186"/>
              <p:cNvSpPr/>
              <p:nvPr/>
            </p:nvSpPr>
            <p:spPr bwMode="auto">
              <a:xfrm>
                <a:off x="200025" y="1916830"/>
                <a:ext cx="4680967" cy="2556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88" name="Rectangle 19"/>
            <p:cNvSpPr>
              <a:spLocks noChangeArrowheads="1"/>
            </p:cNvSpPr>
            <p:nvPr/>
          </p:nvSpPr>
          <p:spPr bwMode="auto">
            <a:xfrm>
              <a:off x="544521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9" name="Rectangle 19"/>
            <p:cNvSpPr>
              <a:spLocks noChangeArrowheads="1"/>
            </p:cNvSpPr>
            <p:nvPr/>
          </p:nvSpPr>
          <p:spPr bwMode="auto">
            <a:xfrm>
              <a:off x="1803480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0" name="Rectangle 19"/>
            <p:cNvSpPr>
              <a:spLocks noChangeArrowheads="1"/>
            </p:cNvSpPr>
            <p:nvPr/>
          </p:nvSpPr>
          <p:spPr bwMode="auto">
            <a:xfrm>
              <a:off x="3062439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1" name="Rectangle 19"/>
            <p:cNvSpPr>
              <a:spLocks noChangeArrowheads="1"/>
            </p:cNvSpPr>
            <p:nvPr/>
          </p:nvSpPr>
          <p:spPr bwMode="auto">
            <a:xfrm>
              <a:off x="5580863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2" name="Rectangle 19"/>
            <p:cNvSpPr>
              <a:spLocks noChangeArrowheads="1"/>
            </p:cNvSpPr>
            <p:nvPr/>
          </p:nvSpPr>
          <p:spPr bwMode="auto">
            <a:xfrm>
              <a:off x="6839333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3" name="Rectangle 19"/>
            <p:cNvSpPr>
              <a:spLocks noChangeArrowheads="1"/>
            </p:cNvSpPr>
            <p:nvPr/>
          </p:nvSpPr>
          <p:spPr bwMode="auto">
            <a:xfrm>
              <a:off x="8098781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4" name="Rectangle 19"/>
            <p:cNvSpPr>
              <a:spLocks noChangeArrowheads="1"/>
            </p:cNvSpPr>
            <p:nvPr/>
          </p:nvSpPr>
          <p:spPr bwMode="auto">
            <a:xfrm>
              <a:off x="4327116" y="2603506"/>
              <a:ext cx="238595" cy="255905"/>
            </a:xfrm>
            <a:prstGeom prst="rect">
              <a:avLst/>
            </a:prstGeom>
            <a:solidFill>
              <a:schemeClr val="bg1"/>
            </a:solidFill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5" name="Rectangle 19"/>
            <p:cNvSpPr>
              <a:spLocks noChangeArrowheads="1"/>
            </p:cNvSpPr>
            <p:nvPr/>
          </p:nvSpPr>
          <p:spPr bwMode="auto">
            <a:xfrm>
              <a:off x="202397" y="5117159"/>
              <a:ext cx="461422" cy="255905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6" name="Rectangle 89"/>
            <p:cNvSpPr>
              <a:spLocks noChangeArrowheads="1"/>
            </p:cNvSpPr>
            <p:nvPr/>
          </p:nvSpPr>
          <p:spPr bwMode="auto">
            <a:xfrm>
              <a:off x="1226523" y="2472973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7" name="Rectangle 19"/>
            <p:cNvSpPr>
              <a:spLocks noChangeArrowheads="1"/>
            </p:cNvSpPr>
            <p:nvPr/>
          </p:nvSpPr>
          <p:spPr bwMode="auto">
            <a:xfrm>
              <a:off x="3710485" y="1988840"/>
              <a:ext cx="2394643" cy="309342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품질 지표</a:t>
              </a:r>
            </a:p>
          </p:txBody>
        </p:sp>
        <p:cxnSp>
          <p:nvCxnSpPr>
            <p:cNvPr id="198" name="꺾인 연결선 197"/>
            <p:cNvCxnSpPr>
              <a:stCxn id="264" idx="0"/>
              <a:endCxn id="197" idx="2"/>
            </p:cNvCxnSpPr>
            <p:nvPr/>
          </p:nvCxnSpPr>
          <p:spPr bwMode="auto">
            <a:xfrm rot="5400000" flipH="1" flipV="1">
              <a:off x="2883787" y="543483"/>
              <a:ext cx="269320" cy="377871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9" name="꺾인 연결선 198"/>
            <p:cNvCxnSpPr>
              <a:stCxn id="265" idx="0"/>
              <a:endCxn id="197" idx="2"/>
            </p:cNvCxnSpPr>
            <p:nvPr/>
          </p:nvCxnSpPr>
          <p:spPr bwMode="auto">
            <a:xfrm rot="5400000" flipH="1" flipV="1">
              <a:off x="4142746" y="1802442"/>
              <a:ext cx="269320" cy="1260801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0" name="꺾인 연결선 199"/>
            <p:cNvCxnSpPr>
              <a:stCxn id="280" idx="0"/>
              <a:endCxn id="197" idx="2"/>
            </p:cNvCxnSpPr>
            <p:nvPr/>
          </p:nvCxnSpPr>
          <p:spPr bwMode="auto">
            <a:xfrm rot="5400000" flipH="1" flipV="1">
              <a:off x="4772226" y="2431921"/>
              <a:ext cx="269320" cy="1842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1" name="Rectangle 89"/>
            <p:cNvSpPr>
              <a:spLocks noChangeArrowheads="1"/>
            </p:cNvSpPr>
            <p:nvPr/>
          </p:nvSpPr>
          <p:spPr bwMode="auto">
            <a:xfrm>
              <a:off x="844946" y="5707015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" name="그룹 201"/>
            <p:cNvGrpSpPr/>
            <p:nvPr/>
          </p:nvGrpSpPr>
          <p:grpSpPr>
            <a:xfrm>
              <a:off x="308484" y="4969276"/>
              <a:ext cx="2088232" cy="402024"/>
              <a:chOff x="1719254" y="3672911"/>
              <a:chExt cx="972000" cy="402024"/>
            </a:xfrm>
          </p:grpSpPr>
          <p:sp>
            <p:nvSpPr>
              <p:cNvPr id="203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P4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품질관리 프로세스</a:t>
                </a:r>
              </a:p>
            </p:txBody>
          </p:sp>
          <p:sp>
            <p:nvSpPr>
              <p:cNvPr id="204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9" name="그룹 204"/>
            <p:cNvGrpSpPr/>
            <p:nvPr/>
          </p:nvGrpSpPr>
          <p:grpSpPr>
            <a:xfrm>
              <a:off x="2924775" y="5428657"/>
              <a:ext cx="2160000" cy="402024"/>
              <a:chOff x="1719254" y="3672911"/>
              <a:chExt cx="972000" cy="402024"/>
            </a:xfrm>
          </p:grpSpPr>
          <p:sp>
            <p:nvSpPr>
              <p:cNvPr id="206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P4.2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구축단계 데이터 품질관리 프로세스</a:t>
                </a:r>
              </a:p>
            </p:txBody>
          </p:sp>
          <p:sp>
            <p:nvSpPr>
              <p:cNvPr id="207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10" name="그룹 207"/>
            <p:cNvGrpSpPr/>
            <p:nvPr/>
          </p:nvGrpSpPr>
          <p:grpSpPr>
            <a:xfrm>
              <a:off x="668524" y="5428657"/>
              <a:ext cx="2160000" cy="402024"/>
              <a:chOff x="1719254" y="3672911"/>
              <a:chExt cx="972000" cy="402024"/>
            </a:xfrm>
          </p:grpSpPr>
          <p:sp>
            <p:nvSpPr>
              <p:cNvPr id="209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P4.1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계획단계 데이터 품질관리 프로세스</a:t>
                </a:r>
              </a:p>
            </p:txBody>
          </p:sp>
          <p:sp>
            <p:nvSpPr>
              <p:cNvPr id="210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211" name="꺾인 연결선 210"/>
            <p:cNvCxnSpPr>
              <a:stCxn id="195" idx="2"/>
              <a:endCxn id="209" idx="1"/>
            </p:cNvCxnSpPr>
            <p:nvPr/>
          </p:nvCxnSpPr>
          <p:spPr bwMode="auto">
            <a:xfrm rot="16200000" flipH="1">
              <a:off x="424020" y="5382152"/>
              <a:ext cx="253593" cy="235416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12" name="꺾인 연결선 211"/>
            <p:cNvCxnSpPr>
              <a:stCxn id="209" idx="3"/>
              <a:endCxn id="206" idx="1"/>
            </p:cNvCxnSpPr>
            <p:nvPr/>
          </p:nvCxnSpPr>
          <p:spPr bwMode="auto">
            <a:xfrm>
              <a:off x="2828524" y="5626657"/>
              <a:ext cx="96251" cy="1270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13" name="꺾인 연결선 212"/>
            <p:cNvCxnSpPr>
              <a:stCxn id="266" idx="0"/>
              <a:endCxn id="197" idx="2"/>
            </p:cNvCxnSpPr>
            <p:nvPr/>
          </p:nvCxnSpPr>
          <p:spPr bwMode="auto">
            <a:xfrm rot="16200000" flipV="1">
              <a:off x="5401706" y="1804283"/>
              <a:ext cx="269320" cy="125711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4" name="꺾인 연결선 213"/>
            <p:cNvCxnSpPr>
              <a:stCxn id="267" idx="0"/>
              <a:endCxn id="197" idx="2"/>
            </p:cNvCxnSpPr>
            <p:nvPr/>
          </p:nvCxnSpPr>
          <p:spPr bwMode="auto">
            <a:xfrm rot="16200000" flipV="1">
              <a:off x="6031185" y="1174804"/>
              <a:ext cx="269320" cy="2516076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5" name="꺾인 연결선 214"/>
            <p:cNvCxnSpPr>
              <a:stCxn id="268" idx="0"/>
              <a:endCxn id="197" idx="2"/>
            </p:cNvCxnSpPr>
            <p:nvPr/>
          </p:nvCxnSpPr>
          <p:spPr bwMode="auto">
            <a:xfrm rot="16200000" flipV="1">
              <a:off x="6660664" y="545325"/>
              <a:ext cx="269320" cy="377503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16" name="Rectangle 19"/>
            <p:cNvSpPr>
              <a:spLocks noChangeArrowheads="1"/>
            </p:cNvSpPr>
            <p:nvPr/>
          </p:nvSpPr>
          <p:spPr bwMode="auto">
            <a:xfrm>
              <a:off x="754472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관리요소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7" name="Rectangle 19"/>
            <p:cNvSpPr>
              <a:spLocks noChangeArrowheads="1"/>
            </p:cNvSpPr>
            <p:nvPr/>
          </p:nvSpPr>
          <p:spPr bwMode="auto">
            <a:xfrm>
              <a:off x="754472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내용충실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8" name="Rectangle 19"/>
            <p:cNvSpPr>
              <a:spLocks noChangeArrowheads="1"/>
            </p:cNvSpPr>
            <p:nvPr/>
          </p:nvSpPr>
          <p:spPr bwMode="auto">
            <a:xfrm>
              <a:off x="2013431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논리모델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9" name="Rectangle 19"/>
            <p:cNvSpPr>
              <a:spLocks noChangeArrowheads="1"/>
            </p:cNvSpPr>
            <p:nvPr/>
          </p:nvSpPr>
          <p:spPr bwMode="auto">
            <a:xfrm>
              <a:off x="2013431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식별자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0" name="Rectangle 19"/>
            <p:cNvSpPr>
              <a:spLocks noChangeArrowheads="1"/>
            </p:cNvSpPr>
            <p:nvPr/>
          </p:nvSpPr>
          <p:spPr bwMode="auto">
            <a:xfrm>
              <a:off x="3269164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속성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1" name="Rectangle 19"/>
            <p:cNvSpPr>
              <a:spLocks noChangeArrowheads="1"/>
            </p:cNvSpPr>
            <p:nvPr/>
          </p:nvSpPr>
          <p:spPr bwMode="auto">
            <a:xfrm>
              <a:off x="3269164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표준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2" name="Rectangle 19"/>
            <p:cNvSpPr>
              <a:spLocks noChangeArrowheads="1"/>
            </p:cNvSpPr>
            <p:nvPr/>
          </p:nvSpPr>
          <p:spPr bwMode="auto">
            <a:xfrm>
              <a:off x="4528123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입력값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3" name="Rectangle 19"/>
            <p:cNvSpPr>
              <a:spLocks noChangeArrowheads="1"/>
            </p:cNvSpPr>
            <p:nvPr/>
          </p:nvSpPr>
          <p:spPr bwMode="auto">
            <a:xfrm>
              <a:off x="4528123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업무규칙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4" name="Rectangle 19"/>
            <p:cNvSpPr>
              <a:spLocks noChangeArrowheads="1"/>
            </p:cNvSpPr>
            <p:nvPr/>
          </p:nvSpPr>
          <p:spPr bwMode="auto">
            <a:xfrm>
              <a:off x="5790309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오너십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5" name="Rectangle 19"/>
            <p:cNvSpPr>
              <a:spLocks noChangeArrowheads="1"/>
            </p:cNvSpPr>
            <p:nvPr/>
          </p:nvSpPr>
          <p:spPr bwMode="auto">
            <a:xfrm>
              <a:off x="5790309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접근제한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6" name="Rectangle 19"/>
            <p:cNvSpPr>
              <a:spLocks noChangeArrowheads="1"/>
            </p:cNvSpPr>
            <p:nvPr/>
          </p:nvSpPr>
          <p:spPr bwMode="auto">
            <a:xfrm>
              <a:off x="7049268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응답시간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7" name="Rectangle 19"/>
            <p:cNvSpPr>
              <a:spLocks noChangeArrowheads="1"/>
            </p:cNvSpPr>
            <p:nvPr/>
          </p:nvSpPr>
          <p:spPr bwMode="auto">
            <a:xfrm>
              <a:off x="7049268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데이터제공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8" name="Rectangle 19"/>
            <p:cNvSpPr>
              <a:spLocks noChangeArrowheads="1"/>
            </p:cNvSpPr>
            <p:nvPr/>
          </p:nvSpPr>
          <p:spPr bwMode="auto">
            <a:xfrm>
              <a:off x="8308225" y="2959669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충분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9" name="Rectangle 19"/>
            <p:cNvSpPr>
              <a:spLocks noChangeArrowheads="1"/>
            </p:cNvSpPr>
            <p:nvPr/>
          </p:nvSpPr>
          <p:spPr bwMode="auto">
            <a:xfrm>
              <a:off x="8308225" y="325283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접근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0" name="Rectangle 19"/>
            <p:cNvSpPr>
              <a:spLocks noChangeArrowheads="1"/>
            </p:cNvSpPr>
            <p:nvPr/>
          </p:nvSpPr>
          <p:spPr bwMode="auto">
            <a:xfrm>
              <a:off x="2013431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물리구조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1" name="Rectangle 19"/>
            <p:cNvSpPr>
              <a:spLocks noChangeArrowheads="1"/>
            </p:cNvSpPr>
            <p:nvPr/>
          </p:nvSpPr>
          <p:spPr bwMode="auto">
            <a:xfrm>
              <a:off x="2013431" y="3843167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속성의미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2" name="Rectangle 19"/>
            <p:cNvSpPr>
              <a:spLocks noChangeArrowheads="1"/>
            </p:cNvSpPr>
            <p:nvPr/>
          </p:nvSpPr>
          <p:spPr bwMode="auto">
            <a:xfrm>
              <a:off x="3269164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중복값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3" name="Rectangle 19"/>
            <p:cNvSpPr>
              <a:spLocks noChangeArrowheads="1"/>
            </p:cNvSpPr>
            <p:nvPr/>
          </p:nvSpPr>
          <p:spPr bwMode="auto">
            <a:xfrm>
              <a:off x="3269164" y="3843167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연계값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4" name="Rectangle 19"/>
            <p:cNvSpPr>
              <a:spLocks noChangeArrowheads="1"/>
            </p:cNvSpPr>
            <p:nvPr/>
          </p:nvSpPr>
          <p:spPr bwMode="auto">
            <a:xfrm>
              <a:off x="4524897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범위 </a:t>
              </a: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형식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5" name="Rectangle 19"/>
            <p:cNvSpPr>
              <a:spLocks noChangeArrowheads="1"/>
            </p:cNvSpPr>
            <p:nvPr/>
          </p:nvSpPr>
          <p:spPr bwMode="auto">
            <a:xfrm>
              <a:off x="4524897" y="3843167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참조관계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6" name="Rectangle 19"/>
            <p:cNvSpPr>
              <a:spLocks noChangeArrowheads="1"/>
            </p:cNvSpPr>
            <p:nvPr/>
          </p:nvSpPr>
          <p:spPr bwMode="auto">
            <a:xfrm>
              <a:off x="4524897" y="415167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계산식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7" name="Rectangle 19"/>
            <p:cNvSpPr>
              <a:spLocks noChangeArrowheads="1"/>
            </p:cNvSpPr>
            <p:nvPr/>
          </p:nvSpPr>
          <p:spPr bwMode="auto">
            <a:xfrm>
              <a:off x="5790309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DB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보호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8" name="Rectangle 19"/>
            <p:cNvSpPr>
              <a:spLocks noChangeArrowheads="1"/>
            </p:cNvSpPr>
            <p:nvPr/>
          </p:nvSpPr>
          <p:spPr bwMode="auto">
            <a:xfrm>
              <a:off x="7049268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최신값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9" name="Rectangle 19"/>
            <p:cNvSpPr>
              <a:spLocks noChangeArrowheads="1"/>
            </p:cNvSpPr>
            <p:nvPr/>
          </p:nvSpPr>
          <p:spPr bwMode="auto">
            <a:xfrm>
              <a:off x="8308224" y="3549998"/>
              <a:ext cx="1037263" cy="255905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활용</a:t>
              </a:r>
              <a:endParaRPr lang="en-US" altLang="ko-KR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240" name="꺾인 연결선 239"/>
            <p:cNvCxnSpPr>
              <a:stCxn id="188" idx="2"/>
              <a:endCxn id="216" idx="1"/>
            </p:cNvCxnSpPr>
            <p:nvPr/>
          </p:nvCxnSpPr>
          <p:spPr bwMode="auto">
            <a:xfrm rot="16200000" flipH="1">
              <a:off x="595040" y="2928189"/>
              <a:ext cx="228211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1" name="꺾인 연결선 240"/>
            <p:cNvCxnSpPr>
              <a:stCxn id="269" idx="0"/>
              <a:endCxn id="197" idx="2"/>
            </p:cNvCxnSpPr>
            <p:nvPr/>
          </p:nvCxnSpPr>
          <p:spPr bwMode="auto">
            <a:xfrm rot="5400000" flipH="1" flipV="1">
              <a:off x="3513267" y="1172962"/>
              <a:ext cx="269320" cy="251976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2" name="꺾인 연결선 241"/>
            <p:cNvCxnSpPr>
              <a:stCxn id="188" idx="2"/>
              <a:endCxn id="217" idx="1"/>
            </p:cNvCxnSpPr>
            <p:nvPr/>
          </p:nvCxnSpPr>
          <p:spPr bwMode="auto">
            <a:xfrm rot="16200000" flipH="1">
              <a:off x="448455" y="3074774"/>
              <a:ext cx="521380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3" name="꺾인 연결선 242"/>
            <p:cNvCxnSpPr>
              <a:stCxn id="189" idx="2"/>
              <a:endCxn id="218" idx="1"/>
            </p:cNvCxnSpPr>
            <p:nvPr/>
          </p:nvCxnSpPr>
          <p:spPr bwMode="auto">
            <a:xfrm rot="16200000" flipH="1">
              <a:off x="1853999" y="2928189"/>
              <a:ext cx="228211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4" name="꺾인 연결선 243"/>
            <p:cNvCxnSpPr>
              <a:stCxn id="189" idx="2"/>
              <a:endCxn id="219" idx="1"/>
            </p:cNvCxnSpPr>
            <p:nvPr/>
          </p:nvCxnSpPr>
          <p:spPr bwMode="auto">
            <a:xfrm rot="16200000" flipH="1">
              <a:off x="1707414" y="3074774"/>
              <a:ext cx="521380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5" name="꺾인 연결선 244"/>
            <p:cNvCxnSpPr>
              <a:stCxn id="189" idx="2"/>
              <a:endCxn id="230" idx="1"/>
            </p:cNvCxnSpPr>
            <p:nvPr/>
          </p:nvCxnSpPr>
          <p:spPr bwMode="auto">
            <a:xfrm rot="16200000" flipH="1">
              <a:off x="1558834" y="3223354"/>
              <a:ext cx="818540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6" name="꺾인 연결선 245"/>
            <p:cNvCxnSpPr>
              <a:stCxn id="189" idx="2"/>
              <a:endCxn id="231" idx="1"/>
            </p:cNvCxnSpPr>
            <p:nvPr/>
          </p:nvCxnSpPr>
          <p:spPr bwMode="auto">
            <a:xfrm rot="16200000" flipH="1">
              <a:off x="1412250" y="3369938"/>
              <a:ext cx="1111709" cy="9065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7" name="꺾인 연결선 246"/>
            <p:cNvCxnSpPr>
              <a:stCxn id="190" idx="2"/>
              <a:endCxn id="220" idx="1"/>
            </p:cNvCxnSpPr>
            <p:nvPr/>
          </p:nvCxnSpPr>
          <p:spPr bwMode="auto">
            <a:xfrm rot="16200000" flipH="1">
              <a:off x="3111345" y="2929802"/>
              <a:ext cx="228211" cy="8742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8" name="꺾인 연결선 247"/>
            <p:cNvCxnSpPr>
              <a:stCxn id="190" idx="2"/>
              <a:endCxn id="221" idx="1"/>
            </p:cNvCxnSpPr>
            <p:nvPr/>
          </p:nvCxnSpPr>
          <p:spPr bwMode="auto">
            <a:xfrm rot="16200000" flipH="1">
              <a:off x="2964760" y="3076387"/>
              <a:ext cx="521380" cy="8742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9" name="꺾인 연결선 248"/>
            <p:cNvCxnSpPr>
              <a:stCxn id="190" idx="2"/>
              <a:endCxn id="232" idx="1"/>
            </p:cNvCxnSpPr>
            <p:nvPr/>
          </p:nvCxnSpPr>
          <p:spPr bwMode="auto">
            <a:xfrm rot="16200000" flipH="1">
              <a:off x="2816180" y="3224967"/>
              <a:ext cx="818540" cy="8742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0" name="꺾인 연결선 249"/>
            <p:cNvCxnSpPr>
              <a:stCxn id="190" idx="2"/>
              <a:endCxn id="233" idx="1"/>
            </p:cNvCxnSpPr>
            <p:nvPr/>
          </p:nvCxnSpPr>
          <p:spPr bwMode="auto">
            <a:xfrm rot="16200000" flipH="1">
              <a:off x="2669596" y="3371551"/>
              <a:ext cx="1111709" cy="8742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1" name="꺾인 연결선 250"/>
            <p:cNvCxnSpPr>
              <a:stCxn id="194" idx="2"/>
              <a:endCxn id="222" idx="1"/>
            </p:cNvCxnSpPr>
            <p:nvPr/>
          </p:nvCxnSpPr>
          <p:spPr bwMode="auto">
            <a:xfrm rot="16200000" flipH="1">
              <a:off x="4373163" y="2932661"/>
              <a:ext cx="228211" cy="81709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2" name="꺾인 연결선 251"/>
            <p:cNvCxnSpPr>
              <a:stCxn id="194" idx="2"/>
              <a:endCxn id="223" idx="1"/>
            </p:cNvCxnSpPr>
            <p:nvPr/>
          </p:nvCxnSpPr>
          <p:spPr bwMode="auto">
            <a:xfrm rot="16200000" flipH="1">
              <a:off x="4226578" y="3079246"/>
              <a:ext cx="521380" cy="81709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3" name="꺾인 연결선 252"/>
            <p:cNvCxnSpPr>
              <a:stCxn id="194" idx="2"/>
              <a:endCxn id="234" idx="1"/>
            </p:cNvCxnSpPr>
            <p:nvPr/>
          </p:nvCxnSpPr>
          <p:spPr bwMode="auto">
            <a:xfrm rot="16200000" flipH="1">
              <a:off x="4076385" y="3229439"/>
              <a:ext cx="818540" cy="7848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4" name="꺾인 연결선 253"/>
            <p:cNvCxnSpPr>
              <a:stCxn id="194" idx="2"/>
              <a:endCxn id="235" idx="1"/>
            </p:cNvCxnSpPr>
            <p:nvPr/>
          </p:nvCxnSpPr>
          <p:spPr bwMode="auto">
            <a:xfrm rot="16200000" flipH="1">
              <a:off x="3929801" y="3376023"/>
              <a:ext cx="1111709" cy="7848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5" name="꺾인 연결선 254"/>
            <p:cNvCxnSpPr>
              <a:stCxn id="191" idx="2"/>
              <a:endCxn id="224" idx="1"/>
            </p:cNvCxnSpPr>
            <p:nvPr/>
          </p:nvCxnSpPr>
          <p:spPr bwMode="auto">
            <a:xfrm rot="16200000" flipH="1">
              <a:off x="5631130" y="2928442"/>
              <a:ext cx="228211" cy="90148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6" name="꺾인 연결선 255"/>
            <p:cNvCxnSpPr>
              <a:stCxn id="191" idx="2"/>
              <a:endCxn id="225" idx="1"/>
            </p:cNvCxnSpPr>
            <p:nvPr/>
          </p:nvCxnSpPr>
          <p:spPr bwMode="auto">
            <a:xfrm rot="16200000" flipH="1">
              <a:off x="5484545" y="3075027"/>
              <a:ext cx="521380" cy="90148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7" name="꺾인 연결선 256"/>
            <p:cNvCxnSpPr>
              <a:stCxn id="191" idx="2"/>
              <a:endCxn id="237" idx="1"/>
            </p:cNvCxnSpPr>
            <p:nvPr/>
          </p:nvCxnSpPr>
          <p:spPr bwMode="auto">
            <a:xfrm rot="16200000" flipH="1">
              <a:off x="5335965" y="3223607"/>
              <a:ext cx="818540" cy="90148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8" name="꺾인 연결선 257"/>
            <p:cNvCxnSpPr>
              <a:stCxn id="192" idx="2"/>
              <a:endCxn id="226" idx="1"/>
            </p:cNvCxnSpPr>
            <p:nvPr/>
          </p:nvCxnSpPr>
          <p:spPr bwMode="auto">
            <a:xfrm rot="16200000" flipH="1">
              <a:off x="6889844" y="2928197"/>
              <a:ext cx="228211" cy="9063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9" name="꺾인 연결선 258"/>
            <p:cNvCxnSpPr>
              <a:stCxn id="192" idx="2"/>
              <a:endCxn id="227" idx="1"/>
            </p:cNvCxnSpPr>
            <p:nvPr/>
          </p:nvCxnSpPr>
          <p:spPr bwMode="auto">
            <a:xfrm rot="16200000" flipH="1">
              <a:off x="6743259" y="3074782"/>
              <a:ext cx="521380" cy="9063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0" name="꺾인 연결선 259"/>
            <p:cNvCxnSpPr>
              <a:stCxn id="192" idx="2"/>
              <a:endCxn id="238" idx="1"/>
            </p:cNvCxnSpPr>
            <p:nvPr/>
          </p:nvCxnSpPr>
          <p:spPr bwMode="auto">
            <a:xfrm rot="16200000" flipH="1">
              <a:off x="6594679" y="3223362"/>
              <a:ext cx="818540" cy="90637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1" name="꺾인 연결선 260"/>
            <p:cNvCxnSpPr>
              <a:stCxn id="193" idx="2"/>
              <a:endCxn id="228" idx="1"/>
            </p:cNvCxnSpPr>
            <p:nvPr/>
          </p:nvCxnSpPr>
          <p:spPr bwMode="auto">
            <a:xfrm rot="16200000" flipH="1">
              <a:off x="8149047" y="2928443"/>
              <a:ext cx="228211" cy="90146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2" name="꺾인 연결선 261"/>
            <p:cNvCxnSpPr>
              <a:stCxn id="193" idx="2"/>
              <a:endCxn id="229" idx="1"/>
            </p:cNvCxnSpPr>
            <p:nvPr/>
          </p:nvCxnSpPr>
          <p:spPr bwMode="auto">
            <a:xfrm rot="16200000" flipH="1">
              <a:off x="8002462" y="3075028"/>
              <a:ext cx="521380" cy="90146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3" name="꺾인 연결선 262"/>
            <p:cNvCxnSpPr>
              <a:stCxn id="193" idx="2"/>
              <a:endCxn id="239" idx="1"/>
            </p:cNvCxnSpPr>
            <p:nvPr/>
          </p:nvCxnSpPr>
          <p:spPr bwMode="auto">
            <a:xfrm rot="16200000" flipH="1">
              <a:off x="7853881" y="3223608"/>
              <a:ext cx="818540" cy="90145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64" name="Rectangle 19"/>
            <p:cNvSpPr>
              <a:spLocks noChangeArrowheads="1"/>
            </p:cNvSpPr>
            <p:nvPr/>
          </p:nvSpPr>
          <p:spPr bwMode="auto">
            <a:xfrm>
              <a:off x="610456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준비성</a:t>
              </a:r>
            </a:p>
          </p:txBody>
        </p:sp>
        <p:sp>
          <p:nvSpPr>
            <p:cNvPr id="265" name="Rectangle 19"/>
            <p:cNvSpPr>
              <a:spLocks noChangeArrowheads="1"/>
            </p:cNvSpPr>
            <p:nvPr/>
          </p:nvSpPr>
          <p:spPr bwMode="auto">
            <a:xfrm>
              <a:off x="3128374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일관성</a:t>
              </a:r>
            </a:p>
          </p:txBody>
        </p:sp>
        <p:sp>
          <p:nvSpPr>
            <p:cNvPr id="266" name="Rectangle 19"/>
            <p:cNvSpPr>
              <a:spLocks noChangeArrowheads="1"/>
            </p:cNvSpPr>
            <p:nvPr/>
          </p:nvSpPr>
          <p:spPr bwMode="auto">
            <a:xfrm>
              <a:off x="5646292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보안성</a:t>
              </a:r>
            </a:p>
          </p:txBody>
        </p:sp>
        <p:sp>
          <p:nvSpPr>
            <p:cNvPr id="267" name="Rectangle 19"/>
            <p:cNvSpPr>
              <a:spLocks noChangeArrowheads="1"/>
            </p:cNvSpPr>
            <p:nvPr/>
          </p:nvSpPr>
          <p:spPr bwMode="auto">
            <a:xfrm>
              <a:off x="6905251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적시성</a:t>
              </a:r>
            </a:p>
          </p:txBody>
        </p:sp>
        <p:sp>
          <p:nvSpPr>
            <p:cNvPr id="268" name="Rectangle 19"/>
            <p:cNvSpPr>
              <a:spLocks noChangeArrowheads="1"/>
            </p:cNvSpPr>
            <p:nvPr/>
          </p:nvSpPr>
          <p:spPr bwMode="auto">
            <a:xfrm>
              <a:off x="8164209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유용성</a:t>
              </a:r>
            </a:p>
          </p:txBody>
        </p:sp>
        <p:sp>
          <p:nvSpPr>
            <p:cNvPr id="269" name="Rectangle 19"/>
            <p:cNvSpPr>
              <a:spLocks noChangeArrowheads="1"/>
            </p:cNvSpPr>
            <p:nvPr/>
          </p:nvSpPr>
          <p:spPr bwMode="auto">
            <a:xfrm>
              <a:off x="1869415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완전성</a:t>
              </a:r>
            </a:p>
          </p:txBody>
        </p:sp>
        <p:sp>
          <p:nvSpPr>
            <p:cNvPr id="270" name="Rectangle 19"/>
            <p:cNvSpPr>
              <a:spLocks noChangeArrowheads="1"/>
            </p:cNvSpPr>
            <p:nvPr/>
          </p:nvSpPr>
          <p:spPr bwMode="auto">
            <a:xfrm>
              <a:off x="7437276" y="5428657"/>
              <a:ext cx="2160000" cy="396000"/>
            </a:xfrm>
            <a:prstGeom prst="homePlate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P4.4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활용단계데이터  품질관리 프로세스</a:t>
              </a:r>
            </a:p>
          </p:txBody>
        </p:sp>
        <p:sp>
          <p:nvSpPr>
            <p:cNvPr id="271" name="Rectangle 19"/>
            <p:cNvSpPr>
              <a:spLocks noChangeArrowheads="1"/>
            </p:cNvSpPr>
            <p:nvPr/>
          </p:nvSpPr>
          <p:spPr bwMode="auto">
            <a:xfrm>
              <a:off x="7680839" y="5544280"/>
              <a:ext cx="232026" cy="108000"/>
            </a:xfrm>
            <a:prstGeom prst="rect">
              <a:avLst/>
            </a:prstGeom>
            <a:noFill/>
            <a:ln w="38100" algn="ctr">
              <a:noFill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endParaRPr lang="ko-KR" altLang="en-US" sz="9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72" name="Rectangle 19"/>
            <p:cNvSpPr>
              <a:spLocks noChangeArrowheads="1"/>
            </p:cNvSpPr>
            <p:nvPr/>
          </p:nvSpPr>
          <p:spPr bwMode="auto">
            <a:xfrm>
              <a:off x="668524" y="5896709"/>
              <a:ext cx="2160000" cy="396000"/>
            </a:xfrm>
            <a:prstGeom prst="homePlate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P4.5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품질 인프라 관리 프로세스</a:t>
              </a:r>
            </a:p>
          </p:txBody>
        </p:sp>
        <p:grpSp>
          <p:nvGrpSpPr>
            <p:cNvPr id="11" name="그룹 272"/>
            <p:cNvGrpSpPr/>
            <p:nvPr/>
          </p:nvGrpSpPr>
          <p:grpSpPr>
            <a:xfrm>
              <a:off x="5181026" y="5428657"/>
              <a:ext cx="2160000" cy="402024"/>
              <a:chOff x="1719254" y="3672911"/>
              <a:chExt cx="972000" cy="402024"/>
            </a:xfrm>
          </p:grpSpPr>
          <p:sp>
            <p:nvSpPr>
              <p:cNvPr id="274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P4.3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운영단계 데이터 품질관리 프로세스</a:t>
                </a:r>
              </a:p>
            </p:txBody>
          </p:sp>
          <p:sp>
            <p:nvSpPr>
              <p:cNvPr id="275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276" name="꺾인 연결선 275"/>
            <p:cNvCxnSpPr>
              <a:stCxn id="195" idx="2"/>
              <a:endCxn id="272" idx="1"/>
            </p:cNvCxnSpPr>
            <p:nvPr/>
          </p:nvCxnSpPr>
          <p:spPr bwMode="auto">
            <a:xfrm rot="16200000" flipH="1">
              <a:off x="189994" y="5616178"/>
              <a:ext cx="721645" cy="235416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77" name="꺾인 연결선 276"/>
            <p:cNvCxnSpPr>
              <a:stCxn id="206" idx="3"/>
              <a:endCxn id="274" idx="1"/>
            </p:cNvCxnSpPr>
            <p:nvPr/>
          </p:nvCxnSpPr>
          <p:spPr bwMode="auto">
            <a:xfrm>
              <a:off x="5084775" y="5626657"/>
              <a:ext cx="96251" cy="1270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78" name="꺾인 연결선 277"/>
            <p:cNvCxnSpPr>
              <a:stCxn id="274" idx="3"/>
              <a:endCxn id="270" idx="1"/>
            </p:cNvCxnSpPr>
            <p:nvPr/>
          </p:nvCxnSpPr>
          <p:spPr bwMode="auto">
            <a:xfrm>
              <a:off x="7341026" y="5626657"/>
              <a:ext cx="96250" cy="1270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79" name="꺾인 연결선 278"/>
            <p:cNvCxnSpPr>
              <a:stCxn id="194" idx="2"/>
              <a:endCxn id="236" idx="1"/>
            </p:cNvCxnSpPr>
            <p:nvPr/>
          </p:nvCxnSpPr>
          <p:spPr bwMode="auto">
            <a:xfrm rot="16200000" flipH="1">
              <a:off x="3775545" y="3530279"/>
              <a:ext cx="1420220" cy="78483"/>
            </a:xfrm>
            <a:prstGeom prst="bentConnector2">
              <a:avLst/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80" name="Rectangle 19"/>
            <p:cNvSpPr>
              <a:spLocks noChangeArrowheads="1"/>
            </p:cNvSpPr>
            <p:nvPr/>
          </p:nvSpPr>
          <p:spPr bwMode="auto">
            <a:xfrm>
              <a:off x="4387333" y="2567502"/>
              <a:ext cx="1037263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정확성</a:t>
              </a:r>
            </a:p>
          </p:txBody>
        </p:sp>
        <p:sp>
          <p:nvSpPr>
            <p:cNvPr id="281" name="Rectangle 19"/>
            <p:cNvSpPr>
              <a:spLocks noChangeArrowheads="1"/>
            </p:cNvSpPr>
            <p:nvPr/>
          </p:nvSpPr>
          <p:spPr bwMode="auto">
            <a:xfrm>
              <a:off x="8481392" y="4151678"/>
              <a:ext cx="1080120" cy="216493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700" i="1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세부 데이터 품질 지표</a:t>
              </a:r>
              <a:endParaRPr lang="en-US" altLang="ko-KR" sz="700" i="1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82" name="타원 281"/>
            <p:cNvSpPr/>
            <p:nvPr/>
          </p:nvSpPr>
          <p:spPr bwMode="auto">
            <a:xfrm>
              <a:off x="3623178" y="4617156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P4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8405379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데이터베이스</a:t>
            </a:r>
            <a:r>
              <a:rPr lang="en-US" altLang="ko-KR" dirty="0"/>
              <a:t> </a:t>
            </a:r>
            <a:r>
              <a:rPr lang="ko-KR" altLang="en-US" dirty="0"/>
              <a:t>보안 관리 프로세스는 데이터베이스 보안 관리의 기준을 제시함으로써 내외부인의 불법적이고 비인가된 위협으로부터 데이터의 기밀성</a:t>
            </a:r>
            <a:r>
              <a:rPr lang="en-US" altLang="ko-KR" dirty="0"/>
              <a:t>, </a:t>
            </a:r>
            <a:r>
              <a:rPr lang="ko-KR" altLang="en-US" dirty="0"/>
              <a:t>무결성 및 가용성 확보를 목적으로 구성됨</a:t>
            </a:r>
          </a:p>
          <a:p>
            <a:endParaRPr lang="ko-KR" altLang="en-US" dirty="0"/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pc="-150"/>
              <a:t>3.7.3 </a:t>
            </a:r>
            <a:r>
              <a:rPr lang="ko-KR" altLang="en-US" spc="-150"/>
              <a:t>데이터 품질관리체계 수립</a:t>
            </a:r>
            <a:r>
              <a:rPr lang="en-US" altLang="ko-KR" spc="-150"/>
              <a:t/>
            </a:r>
            <a:br>
              <a:rPr lang="en-US" altLang="ko-KR" spc="-150"/>
            </a:br>
            <a:r>
              <a:rPr lang="en-US" altLang="ko-KR" sz="1800" spc="-150"/>
              <a:t>3.7.3.7 </a:t>
            </a:r>
            <a:r>
              <a:rPr lang="ko-KR" altLang="en-US" sz="1800" spc="-150" smtClean="0"/>
              <a:t>데이터 </a:t>
            </a:r>
            <a:r>
              <a:rPr lang="ko-KR" altLang="en-US" sz="1800" spc="-150"/>
              <a:t>보안관리 </a:t>
            </a:r>
            <a:r>
              <a:rPr lang="ko-KR" altLang="en-US" sz="1800" spc="-150" smtClean="0"/>
              <a:t>프로세스</a:t>
            </a:r>
            <a:r>
              <a:rPr lang="en-US" altLang="ko-KR" sz="1800" spc="-150" smtClean="0"/>
              <a:t> </a:t>
            </a:r>
            <a:endParaRPr lang="ko-KR" altLang="en-US" sz="1800" spc="-15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3.7 </a:t>
            </a:r>
            <a:r>
              <a:rPr lang="en-US" altLang="ko-KR" spc="-150" smtClean="0"/>
              <a:t>DATABASE </a:t>
            </a:r>
            <a:r>
              <a:rPr lang="ko-KR" altLang="en-US" spc="-150" smtClean="0"/>
              <a:t>표준화 방안</a:t>
            </a:r>
            <a:endParaRPr lang="en-US" altLang="ko-KR" dirty="0"/>
          </a:p>
        </p:txBody>
      </p:sp>
      <p:grpSp>
        <p:nvGrpSpPr>
          <p:cNvPr id="2" name="그룹 6"/>
          <p:cNvGrpSpPr/>
          <p:nvPr/>
        </p:nvGrpSpPr>
        <p:grpSpPr>
          <a:xfrm>
            <a:off x="344538" y="1592840"/>
            <a:ext cx="9216975" cy="4785735"/>
            <a:chOff x="201528" y="1592840"/>
            <a:chExt cx="9502496" cy="4785735"/>
          </a:xfrm>
        </p:grpSpPr>
        <p:grpSp>
          <p:nvGrpSpPr>
            <p:cNvPr id="6" name="그룹 94"/>
            <p:cNvGrpSpPr/>
            <p:nvPr/>
          </p:nvGrpSpPr>
          <p:grpSpPr>
            <a:xfrm>
              <a:off x="201528" y="4581559"/>
              <a:ext cx="9502496" cy="1797016"/>
              <a:chOff x="200025" y="1592840"/>
              <a:chExt cx="4680967" cy="1797016"/>
            </a:xfrm>
          </p:grpSpPr>
          <p:sp>
            <p:nvSpPr>
              <p:cNvPr id="96" name="직사각형 95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보안관리 프로세스</a:t>
                </a:r>
              </a:p>
            </p:txBody>
          </p:sp>
          <p:sp>
            <p:nvSpPr>
              <p:cNvPr id="97" name="직사각형 96"/>
              <p:cNvSpPr/>
              <p:nvPr/>
            </p:nvSpPr>
            <p:spPr bwMode="auto">
              <a:xfrm>
                <a:off x="200025" y="1916830"/>
                <a:ext cx="4680967" cy="147302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그룹 97"/>
            <p:cNvGrpSpPr/>
            <p:nvPr/>
          </p:nvGrpSpPr>
          <p:grpSpPr>
            <a:xfrm>
              <a:off x="201528" y="1592840"/>
              <a:ext cx="9502496" cy="2843989"/>
              <a:chOff x="200025" y="1592840"/>
              <a:chExt cx="4680967" cy="2843989"/>
            </a:xfrm>
          </p:grpSpPr>
          <p:sp>
            <p:nvSpPr>
              <p:cNvPr id="99" name="직사각형 98"/>
              <p:cNvSpPr/>
              <p:nvPr/>
            </p:nvSpPr>
            <p:spPr bwMode="auto">
              <a:xfrm>
                <a:off x="200025" y="1592840"/>
                <a:ext cx="4680967" cy="324000"/>
              </a:xfrm>
              <a:prstGeom prst="rect">
                <a:avLst/>
              </a:prstGeom>
              <a:solidFill>
                <a:srgbClr val="233C5A"/>
              </a:solidFill>
              <a:ln w="12699">
                <a:solidFill>
                  <a:srgbClr val="000000">
                    <a:lumMod val="50000"/>
                    <a:lumOff val="50000"/>
                  </a:srgbClr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lIns="72000" tIns="72000" rIns="72000" bIns="72000" anchor="ctr"/>
              <a:lstStyle/>
              <a:p>
                <a:pPr algn="ctr" latinLnBrk="0">
                  <a:defRPr/>
                </a:pPr>
                <a:r>
                  <a:rPr lang="ko-KR" altLang="en-US" sz="1400" b="1" kern="0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맑은 고딕" pitchFamily="50" charset="-127"/>
                    <a:ea typeface="맑은 고딕" pitchFamily="50" charset="-127"/>
                  </a:rPr>
                  <a:t>데이터 보안관리 프로세스의 관리 대상</a:t>
                </a:r>
              </a:p>
            </p:txBody>
          </p:sp>
          <p:sp>
            <p:nvSpPr>
              <p:cNvPr id="100" name="직사각형 99"/>
              <p:cNvSpPr/>
              <p:nvPr/>
            </p:nvSpPr>
            <p:spPr bwMode="auto">
              <a:xfrm>
                <a:off x="200025" y="1916829"/>
                <a:ext cx="4680967" cy="252000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med" len="med"/>
                <a:tailEnd type="none" w="sm" len="sm"/>
              </a:ln>
              <a:effectLst>
                <a:outerShdw dist="25400" dir="2700000" algn="tl" rotWithShape="0">
                  <a:schemeClr val="bg1">
                    <a:lumMod val="50000"/>
                    <a:alpha val="40000"/>
                  </a:schemeClr>
                </a:outerShdw>
              </a:effectLst>
            </p:spPr>
            <p:txBody>
              <a:bodyPr vert="horz" wrap="square" lIns="108000" tIns="36000" rIns="72000" bIns="3600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182563" indent="-182563">
                  <a:spcBef>
                    <a:spcPts val="1200"/>
                  </a:spcBef>
                  <a:buClr>
                    <a:prstClr val="black"/>
                  </a:buClr>
                  <a:buFont typeface="Wingdings" pitchFamily="2" charset="2"/>
                  <a:buChar char="q"/>
                </a:pPr>
                <a:endParaRPr lang="en-US" altLang="ko-KR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01" name="Rectangle 19"/>
            <p:cNvSpPr>
              <a:spLocks noChangeArrowheads="1"/>
            </p:cNvSpPr>
            <p:nvPr/>
          </p:nvSpPr>
          <p:spPr bwMode="auto">
            <a:xfrm>
              <a:off x="3764595" y="2051850"/>
              <a:ext cx="2394643" cy="309342"/>
            </a:xfrm>
            <a:prstGeom prst="rect">
              <a:avLst/>
            </a:prstGeom>
            <a:solidFill>
              <a:srgbClr val="508CD2"/>
            </a:solidFill>
            <a:ln w="19050">
              <a:solidFill>
                <a:schemeClr val="accent1">
                  <a:lumMod val="75000"/>
                </a:schemeClr>
              </a:solidFill>
              <a:miter lim="800000"/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보안</a:t>
              </a:r>
            </a:p>
          </p:txBody>
        </p:sp>
        <p:cxnSp>
          <p:nvCxnSpPr>
            <p:cNvPr id="102" name="꺾인 연결선 101"/>
            <p:cNvCxnSpPr>
              <a:stCxn id="106" idx="0"/>
              <a:endCxn id="101" idx="2"/>
            </p:cNvCxnSpPr>
            <p:nvPr/>
          </p:nvCxnSpPr>
          <p:spPr bwMode="auto">
            <a:xfrm rot="5400000" flipH="1" flipV="1">
              <a:off x="3090898" y="831502"/>
              <a:ext cx="341328" cy="340070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3" name="꺾인 연결선 102"/>
            <p:cNvCxnSpPr>
              <a:stCxn id="107" idx="0"/>
              <a:endCxn id="101" idx="2"/>
            </p:cNvCxnSpPr>
            <p:nvPr/>
          </p:nvCxnSpPr>
          <p:spPr bwMode="auto">
            <a:xfrm rot="16200000" flipV="1">
              <a:off x="5363177" y="1959932"/>
              <a:ext cx="341328" cy="114384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4" name="꺾인 연결선 103"/>
            <p:cNvCxnSpPr>
              <a:stCxn id="109" idx="0"/>
              <a:endCxn id="101" idx="2"/>
            </p:cNvCxnSpPr>
            <p:nvPr/>
          </p:nvCxnSpPr>
          <p:spPr bwMode="auto">
            <a:xfrm rot="16200000" flipV="1">
              <a:off x="6499315" y="823794"/>
              <a:ext cx="341328" cy="341612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" name="꺾인 연결선 104"/>
            <p:cNvCxnSpPr>
              <a:stCxn id="108" idx="0"/>
              <a:endCxn id="101" idx="2"/>
            </p:cNvCxnSpPr>
            <p:nvPr/>
          </p:nvCxnSpPr>
          <p:spPr bwMode="auto">
            <a:xfrm rot="5400000" flipH="1" flipV="1">
              <a:off x="4227037" y="1967641"/>
              <a:ext cx="341328" cy="1128431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6" name="Rectangle 19"/>
            <p:cNvSpPr>
              <a:spLocks noChangeArrowheads="1"/>
            </p:cNvSpPr>
            <p:nvPr/>
          </p:nvSpPr>
          <p:spPr bwMode="auto">
            <a:xfrm>
              <a:off x="864006" y="2702520"/>
              <a:ext cx="1394404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인적 보안</a:t>
              </a:r>
            </a:p>
          </p:txBody>
        </p:sp>
        <p:sp>
          <p:nvSpPr>
            <p:cNvPr id="107" name="Rectangle 19"/>
            <p:cNvSpPr>
              <a:spLocks noChangeArrowheads="1"/>
            </p:cNvSpPr>
            <p:nvPr/>
          </p:nvSpPr>
          <p:spPr bwMode="auto">
            <a:xfrm>
              <a:off x="5408562" y="2702520"/>
              <a:ext cx="1394404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물리적 보안</a:t>
              </a:r>
            </a:p>
          </p:txBody>
        </p:sp>
        <p:sp>
          <p:nvSpPr>
            <p:cNvPr id="108" name="Rectangle 19"/>
            <p:cNvSpPr>
              <a:spLocks noChangeArrowheads="1"/>
            </p:cNvSpPr>
            <p:nvPr/>
          </p:nvSpPr>
          <p:spPr bwMode="auto">
            <a:xfrm>
              <a:off x="3136284" y="2702520"/>
              <a:ext cx="1394404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정책적 보안</a:t>
              </a:r>
            </a:p>
          </p:txBody>
        </p:sp>
        <p:sp>
          <p:nvSpPr>
            <p:cNvPr id="109" name="Rectangle 19"/>
            <p:cNvSpPr>
              <a:spLocks noChangeArrowheads="1"/>
            </p:cNvSpPr>
            <p:nvPr/>
          </p:nvSpPr>
          <p:spPr bwMode="auto">
            <a:xfrm>
              <a:off x="7680839" y="2702520"/>
              <a:ext cx="1394404" cy="330436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논리적 보안</a:t>
              </a:r>
            </a:p>
          </p:txBody>
        </p:sp>
        <p:sp>
          <p:nvSpPr>
            <p:cNvPr id="110" name="Rectangle 19"/>
            <p:cNvSpPr>
              <a:spLocks noChangeArrowheads="1"/>
            </p:cNvSpPr>
            <p:nvPr/>
          </p:nvSpPr>
          <p:spPr bwMode="auto">
            <a:xfrm>
              <a:off x="1973905" y="3962660"/>
              <a:ext cx="1394404" cy="330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1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기밀성</a:t>
              </a:r>
            </a:p>
          </p:txBody>
        </p:sp>
        <p:sp>
          <p:nvSpPr>
            <p:cNvPr id="111" name="Rectangle 19"/>
            <p:cNvSpPr>
              <a:spLocks noChangeArrowheads="1"/>
            </p:cNvSpPr>
            <p:nvPr/>
          </p:nvSpPr>
          <p:spPr bwMode="auto">
            <a:xfrm>
              <a:off x="6518461" y="3962660"/>
              <a:ext cx="1394404" cy="330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1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가용성</a:t>
              </a:r>
            </a:p>
          </p:txBody>
        </p:sp>
        <p:sp>
          <p:nvSpPr>
            <p:cNvPr id="112" name="Rectangle 19"/>
            <p:cNvSpPr>
              <a:spLocks noChangeArrowheads="1"/>
            </p:cNvSpPr>
            <p:nvPr/>
          </p:nvSpPr>
          <p:spPr bwMode="auto">
            <a:xfrm>
              <a:off x="4246183" y="3962660"/>
              <a:ext cx="1394404" cy="330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11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무결성</a:t>
              </a:r>
            </a:p>
          </p:txBody>
        </p:sp>
        <p:cxnSp>
          <p:nvCxnSpPr>
            <p:cNvPr id="113" name="꺾인 연결선 112"/>
            <p:cNvCxnSpPr>
              <a:stCxn id="110" idx="0"/>
              <a:endCxn id="106" idx="2"/>
            </p:cNvCxnSpPr>
            <p:nvPr/>
          </p:nvCxnSpPr>
          <p:spPr bwMode="auto">
            <a:xfrm rot="16200000" flipV="1">
              <a:off x="1651306" y="2942858"/>
              <a:ext cx="929704" cy="110989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cxnSp>
          <p:nvCxnSpPr>
            <p:cNvPr id="114" name="꺾인 연결선 113"/>
            <p:cNvCxnSpPr>
              <a:stCxn id="112" idx="0"/>
              <a:endCxn id="108" idx="2"/>
            </p:cNvCxnSpPr>
            <p:nvPr/>
          </p:nvCxnSpPr>
          <p:spPr bwMode="auto">
            <a:xfrm rot="16200000" flipV="1">
              <a:off x="3923584" y="2942858"/>
              <a:ext cx="929704" cy="110989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cxnSp>
          <p:nvCxnSpPr>
            <p:cNvPr id="163" name="꺾인 연결선 162"/>
            <p:cNvCxnSpPr>
              <a:stCxn id="111" idx="0"/>
              <a:endCxn id="107" idx="2"/>
            </p:cNvCxnSpPr>
            <p:nvPr/>
          </p:nvCxnSpPr>
          <p:spPr bwMode="auto">
            <a:xfrm rot="16200000" flipV="1">
              <a:off x="6195862" y="2942858"/>
              <a:ext cx="929704" cy="110989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cxnSp>
          <p:nvCxnSpPr>
            <p:cNvPr id="164" name="꺾인 연결선 163"/>
            <p:cNvCxnSpPr>
              <a:stCxn id="111" idx="0"/>
              <a:endCxn id="109" idx="2"/>
            </p:cNvCxnSpPr>
            <p:nvPr/>
          </p:nvCxnSpPr>
          <p:spPr bwMode="auto">
            <a:xfrm rot="5400000" flipH="1" flipV="1">
              <a:off x="7332000" y="2916619"/>
              <a:ext cx="929704" cy="1162378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cxnSp>
          <p:nvCxnSpPr>
            <p:cNvPr id="165" name="꺾인 연결선 164"/>
            <p:cNvCxnSpPr>
              <a:stCxn id="112" idx="0"/>
              <a:endCxn id="109" idx="2"/>
            </p:cNvCxnSpPr>
            <p:nvPr/>
          </p:nvCxnSpPr>
          <p:spPr bwMode="auto">
            <a:xfrm rot="5400000" flipH="1" flipV="1">
              <a:off x="6195861" y="1780480"/>
              <a:ext cx="929704" cy="3434656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cxnSp>
          <p:nvCxnSpPr>
            <p:cNvPr id="166" name="꺾인 연결선 165"/>
            <p:cNvCxnSpPr>
              <a:stCxn id="110" idx="0"/>
              <a:endCxn id="109" idx="2"/>
            </p:cNvCxnSpPr>
            <p:nvPr/>
          </p:nvCxnSpPr>
          <p:spPr bwMode="auto">
            <a:xfrm rot="5400000" flipH="1" flipV="1">
              <a:off x="5059722" y="644341"/>
              <a:ext cx="929704" cy="570693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lg" len="lg"/>
              <a:tailEnd type="none" w="med" len="med"/>
            </a:ln>
            <a:effectLst/>
          </p:spPr>
        </p:cxnSp>
        <p:sp>
          <p:nvSpPr>
            <p:cNvPr id="167" name="Rectangle 89"/>
            <p:cNvSpPr>
              <a:spLocks noChangeArrowheads="1"/>
            </p:cNvSpPr>
            <p:nvPr/>
          </p:nvSpPr>
          <p:spPr bwMode="auto">
            <a:xfrm>
              <a:off x="2626000" y="5596168"/>
              <a:ext cx="421703" cy="2889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8EB4D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 algn="ctr"/>
              <a:endParaRPr lang="ko-KR" altLang="en-US" sz="1100" dirty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8" name="Rectangle 19"/>
            <p:cNvSpPr>
              <a:spLocks noChangeArrowheads="1"/>
            </p:cNvSpPr>
            <p:nvPr/>
          </p:nvSpPr>
          <p:spPr bwMode="auto">
            <a:xfrm>
              <a:off x="5358420" y="5031200"/>
              <a:ext cx="2088232" cy="396000"/>
            </a:xfrm>
            <a:prstGeom prst="homePlate">
              <a:avLst/>
            </a:prstGeom>
            <a:solidFill>
              <a:schemeClr val="bg1">
                <a:lumMod val="95000"/>
              </a:schemeClr>
            </a:solidFill>
            <a:ln w="1270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900"/>
                </a:lnSpc>
              </a:pPr>
              <a:r>
                <a:rPr lang="en-US" altLang="ko-KR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P6.1 </a:t>
              </a:r>
              <a:r>
                <a: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rPr>
                <a:t>데이터 보안 구성 프로세스</a:t>
              </a:r>
            </a:p>
          </p:txBody>
        </p:sp>
        <p:grpSp>
          <p:nvGrpSpPr>
            <p:cNvPr id="8" name="그룹 168"/>
            <p:cNvGrpSpPr/>
            <p:nvPr/>
          </p:nvGrpSpPr>
          <p:grpSpPr>
            <a:xfrm>
              <a:off x="2449578" y="5344969"/>
              <a:ext cx="2088232" cy="402024"/>
              <a:chOff x="1719254" y="3672911"/>
              <a:chExt cx="972000" cy="402024"/>
            </a:xfrm>
          </p:grpSpPr>
          <p:sp>
            <p:nvSpPr>
              <p:cNvPr id="170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P6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보안관리 프로세스</a:t>
                </a:r>
              </a:p>
            </p:txBody>
          </p:sp>
          <p:sp>
            <p:nvSpPr>
              <p:cNvPr id="171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72" name="꺾인 연결선 171"/>
            <p:cNvCxnSpPr>
              <a:stCxn id="170" idx="3"/>
              <a:endCxn id="168" idx="1"/>
            </p:cNvCxnSpPr>
            <p:nvPr/>
          </p:nvCxnSpPr>
          <p:spPr bwMode="auto">
            <a:xfrm flipV="1">
              <a:off x="4537810" y="5229200"/>
              <a:ext cx="820610" cy="313769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grpSp>
          <p:nvGrpSpPr>
            <p:cNvPr id="9" name="그룹 172"/>
            <p:cNvGrpSpPr/>
            <p:nvPr/>
          </p:nvGrpSpPr>
          <p:grpSpPr>
            <a:xfrm>
              <a:off x="5358420" y="5583260"/>
              <a:ext cx="2088232" cy="402024"/>
              <a:chOff x="1719254" y="3672911"/>
              <a:chExt cx="972000" cy="402024"/>
            </a:xfrm>
          </p:grpSpPr>
          <p:sp>
            <p:nvSpPr>
              <p:cNvPr id="174" name="Rectangle 19"/>
              <p:cNvSpPr>
                <a:spLocks noChangeArrowheads="1"/>
              </p:cNvSpPr>
              <p:nvPr/>
            </p:nvSpPr>
            <p:spPr bwMode="auto">
              <a:xfrm>
                <a:off x="1719254" y="3672911"/>
                <a:ext cx="972000" cy="396000"/>
              </a:xfrm>
              <a:prstGeom prst="homePlate">
                <a:avLst/>
              </a:prstGeom>
              <a:solidFill>
                <a:schemeClr val="bg1">
                  <a:lumMod val="95000"/>
                </a:schemeClr>
              </a:solidFill>
              <a:ln w="12700" algn="ctr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ko-KR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P6.2 </a:t>
                </a:r>
                <a:r>
                  <a:rPr lang="ko-KR" altLang="en-US" sz="900" dirty="0">
                    <a:solidFill>
                      <a:srgbClr val="000000">
                        <a:lumMod val="95000"/>
                        <a:lumOff val="5000"/>
                      </a:srgbClr>
                    </a:solidFill>
                    <a:latin typeface="맑은 고딕" pitchFamily="50" charset="-127"/>
                    <a:ea typeface="맑은 고딕" pitchFamily="50" charset="-127"/>
                  </a:rPr>
                  <a:t>데이터 보안 점검 프로세스</a:t>
                </a:r>
              </a:p>
            </p:txBody>
          </p:sp>
          <p:sp>
            <p:nvSpPr>
              <p:cNvPr id="175" name="Rectangle 19"/>
              <p:cNvSpPr>
                <a:spLocks noChangeArrowheads="1"/>
              </p:cNvSpPr>
              <p:nvPr/>
            </p:nvSpPr>
            <p:spPr bwMode="auto">
              <a:xfrm>
                <a:off x="1752882" y="3966935"/>
                <a:ext cx="108000" cy="108000"/>
              </a:xfrm>
              <a:prstGeom prst="rect">
                <a:avLst/>
              </a:prstGeom>
              <a:noFill/>
              <a:ln w="38100" algn="ctr">
                <a:noFill/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algn="ctr">
                  <a:lnSpc>
                    <a:spcPts val="900"/>
                  </a:lnSpc>
                </a:pPr>
                <a:endParaRPr lang="ko-KR" altLang="en-US" sz="90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176" name="꺾인 연결선 175"/>
            <p:cNvCxnSpPr>
              <a:stCxn id="170" idx="3"/>
              <a:endCxn id="174" idx="1"/>
            </p:cNvCxnSpPr>
            <p:nvPr/>
          </p:nvCxnSpPr>
          <p:spPr bwMode="auto">
            <a:xfrm>
              <a:off x="4537810" y="5542969"/>
              <a:ext cx="820610" cy="238291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177" name="타원 176"/>
            <p:cNvSpPr/>
            <p:nvPr/>
          </p:nvSpPr>
          <p:spPr bwMode="auto">
            <a:xfrm>
              <a:off x="3623146" y="4643635"/>
              <a:ext cx="216024" cy="2160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9050"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non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spcBef>
                  <a:spcPts val="600"/>
                </a:spcBef>
                <a:buClr>
                  <a:srgbClr val="000000"/>
                </a:buClr>
                <a:buSzPct val="90000"/>
              </a:pPr>
              <a:r>
                <a:rPr lang="en-US" altLang="ko-KR" sz="1100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P6</a:t>
              </a:r>
              <a:endParaRPr lang="ko-KR" altLang="en-US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592507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mtClean="0"/>
              <a:t>분산 운영되고 있는 시스템을 통합하기 가장 먼제 </a:t>
            </a:r>
            <a:r>
              <a:rPr lang="en-US" altLang="ko-KR" smtClean="0"/>
              <a:t>DATABASE</a:t>
            </a:r>
            <a:r>
              <a:rPr lang="ko-KR" altLang="en-US" smtClean="0"/>
              <a:t>를 표준화하여 통합하고</a:t>
            </a:r>
            <a:r>
              <a:rPr lang="en-US" altLang="ko-KR" smtClean="0"/>
              <a:t>, </a:t>
            </a:r>
            <a:r>
              <a:rPr lang="ko-KR" altLang="en-US" smtClean="0"/>
              <a:t>현재 분산되어 있는 데이터를 목표시스템에 부합하도록 마이그레이션을 수행하여 목표시스템이 요구하는 데이터의 품질을 충족하여야 한다</a:t>
            </a:r>
            <a:r>
              <a:rPr lang="en-US" altLang="ko-KR" smtClean="0"/>
              <a:t>. </a:t>
            </a:r>
            <a:endParaRPr lang="ko-KR" altLang="en-US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 smtClean="0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 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 smtClean="0"/>
              <a:t>3.8 </a:t>
            </a:r>
            <a:r>
              <a:rPr lang="ko-KR" altLang="en-US" smtClean="0"/>
              <a:t>데이터 마이그레이션 </a:t>
            </a:r>
            <a:r>
              <a:rPr lang="ko-KR" altLang="en-US"/>
              <a:t>방안</a:t>
            </a:r>
            <a:endParaRPr lang="en-US" altLang="ko-KR" dirty="0"/>
          </a:p>
        </p:txBody>
      </p:sp>
      <p:grpSp>
        <p:nvGrpSpPr>
          <p:cNvPr id="60" name="그룹 93"/>
          <p:cNvGrpSpPr/>
          <p:nvPr/>
        </p:nvGrpSpPr>
        <p:grpSpPr>
          <a:xfrm>
            <a:off x="344488" y="1700808"/>
            <a:ext cx="9217025" cy="4677766"/>
            <a:chOff x="200025" y="1592840"/>
            <a:chExt cx="4680967" cy="4785734"/>
          </a:xfrm>
        </p:grpSpPr>
        <p:sp>
          <p:nvSpPr>
            <p:cNvPr id="109" name="직사각형 108"/>
            <p:cNvSpPr/>
            <p:nvPr/>
          </p:nvSpPr>
          <p:spPr bwMode="auto">
            <a:xfrm>
              <a:off x="200025" y="1592840"/>
              <a:ext cx="4680967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smtClea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마이그레이션 대상</a:t>
              </a:r>
              <a:endPara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직사각형 109"/>
            <p:cNvSpPr/>
            <p:nvPr/>
          </p:nvSpPr>
          <p:spPr bwMode="auto">
            <a:xfrm>
              <a:off x="200025" y="1916831"/>
              <a:ext cx="4680967" cy="446174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dist="25400" dir="2700000" algn="tl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square" lIns="108000" tIns="36000" rIns="7200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82563" indent="-182563">
                <a:spcBef>
                  <a:spcPts val="1200"/>
                </a:spcBef>
                <a:buClr>
                  <a:prstClr val="black"/>
                </a:buClr>
                <a:buFont typeface="Wingdings" pitchFamily="2" charset="2"/>
                <a:buChar char="q"/>
              </a:pPr>
              <a:endParaRPr lang="en-US" altLang="ko-KR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08" name="Rectangle 19"/>
          <p:cNvSpPr>
            <a:spLocks noChangeArrowheads="1"/>
          </p:cNvSpPr>
          <p:nvPr/>
        </p:nvSpPr>
        <p:spPr bwMode="auto">
          <a:xfrm>
            <a:off x="1896841" y="2246860"/>
            <a:ext cx="878119" cy="108000"/>
          </a:xfrm>
          <a:prstGeom prst="rect">
            <a:avLst/>
          </a:prstGeom>
          <a:noFill/>
          <a:ln w="381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</a:pPr>
            <a:endParaRPr lang="ko-KR" altLang="en-US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19"/>
          <p:cNvSpPr>
            <a:spLocks noChangeArrowheads="1"/>
          </p:cNvSpPr>
          <p:nvPr/>
        </p:nvSpPr>
        <p:spPr bwMode="auto">
          <a:xfrm>
            <a:off x="1360546" y="2488627"/>
            <a:ext cx="943812" cy="825715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</a:pPr>
            <a:r>
              <a:rPr lang="ko-KR" altLang="en-US" sz="900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자산 목록</a:t>
            </a:r>
            <a:endParaRPr lang="en-US" altLang="ko-KR" sz="900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90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90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ko-KR" altLang="en-US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Rectangle 19"/>
          <p:cNvSpPr>
            <a:spLocks noChangeArrowheads="1"/>
          </p:cNvSpPr>
          <p:nvPr/>
        </p:nvSpPr>
        <p:spPr bwMode="auto">
          <a:xfrm>
            <a:off x="1780075" y="2892509"/>
            <a:ext cx="104755" cy="108000"/>
          </a:xfrm>
          <a:prstGeom prst="rect">
            <a:avLst/>
          </a:prstGeom>
          <a:noFill/>
          <a:ln w="38100" algn="ctr">
            <a:noFill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900"/>
              </a:lnSpc>
            </a:pPr>
            <a:endParaRPr lang="ko-KR" altLang="en-US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5" name="꺾인 연결선 84"/>
          <p:cNvCxnSpPr>
            <a:stCxn id="111" idx="4"/>
          </p:cNvCxnSpPr>
          <p:nvPr/>
        </p:nvCxnSpPr>
        <p:spPr bwMode="auto">
          <a:xfrm>
            <a:off x="2277197" y="4303515"/>
            <a:ext cx="5314257" cy="12895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triangle"/>
          </a:ln>
          <a:effectLst/>
        </p:spPr>
      </p:cxnSp>
      <p:sp>
        <p:nvSpPr>
          <p:cNvPr id="111" name="Rectangle 19"/>
          <p:cNvSpPr>
            <a:spLocks noChangeArrowheads="1"/>
          </p:cNvSpPr>
          <p:nvPr/>
        </p:nvSpPr>
        <p:spPr bwMode="auto">
          <a:xfrm>
            <a:off x="1387708" y="3891593"/>
            <a:ext cx="889489" cy="823844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square" anchor="ctr"/>
          <a:lstStyle/>
          <a:p>
            <a:pPr algn="ctr">
              <a:lnSpc>
                <a:spcPts val="900"/>
              </a:lnSpc>
            </a:pPr>
            <a:r>
              <a:rPr lang="ko-KR" altLang="en-US" sz="900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회계 전표</a:t>
            </a:r>
            <a:endParaRPr lang="ko-KR" altLang="en-US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12" name="Picture 81" descr="database_ico_Bmp2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0052" y="2943486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" name="Rectangle 19"/>
          <p:cNvSpPr>
            <a:spLocks noChangeArrowheads="1"/>
          </p:cNvSpPr>
          <p:nvPr/>
        </p:nvSpPr>
        <p:spPr bwMode="auto">
          <a:xfrm>
            <a:off x="1387708" y="5292689"/>
            <a:ext cx="889489" cy="823844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square" anchor="ctr"/>
          <a:lstStyle/>
          <a:p>
            <a:pPr algn="ctr">
              <a:lnSpc>
                <a:spcPts val="900"/>
              </a:lnSpc>
            </a:pPr>
            <a:r>
              <a:rPr lang="ko-KR" altLang="en-US" sz="900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사업 실적</a:t>
            </a:r>
            <a:endParaRPr lang="ko-KR" altLang="en-US" sz="900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17" name="꺾인 연결선 116"/>
          <p:cNvCxnSpPr>
            <a:stCxn id="71" idx="3"/>
          </p:cNvCxnSpPr>
          <p:nvPr/>
        </p:nvCxnSpPr>
        <p:spPr bwMode="auto">
          <a:xfrm>
            <a:off x="2304358" y="2901485"/>
            <a:ext cx="5287096" cy="15601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triangle"/>
          </a:ln>
          <a:effectLst/>
        </p:spPr>
      </p:cxnSp>
      <p:cxnSp>
        <p:nvCxnSpPr>
          <p:cNvPr id="118" name="꺾인 연결선 117"/>
          <p:cNvCxnSpPr>
            <a:stCxn id="114" idx="4"/>
          </p:cNvCxnSpPr>
          <p:nvPr/>
        </p:nvCxnSpPr>
        <p:spPr bwMode="auto">
          <a:xfrm>
            <a:off x="2277197" y="5704611"/>
            <a:ext cx="5314257" cy="15678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triangle"/>
          </a:ln>
          <a:effectLst/>
        </p:spPr>
      </p:cxnSp>
      <p:sp>
        <p:nvSpPr>
          <p:cNvPr id="72" name="Rectangle 19"/>
          <p:cNvSpPr>
            <a:spLocks noChangeArrowheads="1"/>
          </p:cNvSpPr>
          <p:nvPr/>
        </p:nvSpPr>
        <p:spPr bwMode="auto">
          <a:xfrm>
            <a:off x="4467210" y="2348880"/>
            <a:ext cx="1277878" cy="3690744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270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/>
          <a:extLst/>
        </p:spPr>
        <p:txBody>
          <a:bodyPr wrap="square" anchor="ctr"/>
          <a:lstStyle/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r>
              <a:rPr lang="ko-KR" altLang="en-US" sz="1200" b="1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데이터베이스</a:t>
            </a: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r>
              <a:rPr lang="ko-KR" altLang="en-US" sz="1200" b="1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r>
              <a:rPr lang="en-US" altLang="ko-KR" sz="1200" b="1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+</a:t>
            </a: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r>
              <a:rPr lang="ko-KR" altLang="en-US" sz="1200" b="1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r>
              <a:rPr lang="ko-KR" altLang="en-US" sz="1200" b="1" smtClean="0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  <a:ea typeface="맑은 고딕" pitchFamily="50" charset="-127"/>
              </a:rPr>
              <a:t>요구사양</a:t>
            </a: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en-US" altLang="ko-KR" sz="1200" b="1" smtClean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lnSpc>
                <a:spcPts val="900"/>
              </a:lnSpc>
            </a:pPr>
            <a:endParaRPr lang="ko-KR" altLang="en-US" sz="1200" b="1" dirty="0">
              <a:solidFill>
                <a:srgbClr val="000000">
                  <a:lumMod val="95000"/>
                  <a:lumOff val="5000"/>
                </a:srgb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순서도: 판단 39"/>
          <p:cNvSpPr/>
          <p:nvPr/>
        </p:nvSpPr>
        <p:spPr>
          <a:xfrm>
            <a:off x="2996381" y="2726433"/>
            <a:ext cx="648072" cy="342294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비교</a:t>
            </a:r>
          </a:p>
        </p:txBody>
      </p:sp>
      <p:sp>
        <p:nvSpPr>
          <p:cNvPr id="119" name="순서도: 판단 118"/>
          <p:cNvSpPr/>
          <p:nvPr/>
        </p:nvSpPr>
        <p:spPr>
          <a:xfrm>
            <a:off x="2996381" y="4132368"/>
            <a:ext cx="648072" cy="342294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비교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120" name="순서도: 판단 119"/>
          <p:cNvSpPr/>
          <p:nvPr/>
        </p:nvSpPr>
        <p:spPr>
          <a:xfrm>
            <a:off x="2996381" y="5521350"/>
            <a:ext cx="648072" cy="342294"/>
          </a:xfrm>
          <a:prstGeom prst="flowChartDecision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비교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41" name="순서도: 종속 처리 40"/>
          <p:cNvSpPr/>
          <p:nvPr/>
        </p:nvSpPr>
        <p:spPr>
          <a:xfrm>
            <a:off x="6443397" y="2886355"/>
            <a:ext cx="576064" cy="342294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변환</a:t>
            </a:r>
          </a:p>
        </p:txBody>
      </p:sp>
      <p:sp>
        <p:nvSpPr>
          <p:cNvPr id="121" name="순서도: 종속 처리 120"/>
          <p:cNvSpPr/>
          <p:nvPr/>
        </p:nvSpPr>
        <p:spPr>
          <a:xfrm>
            <a:off x="6443397" y="4261321"/>
            <a:ext cx="576064" cy="342294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변환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122" name="순서도: 종속 처리 121"/>
          <p:cNvSpPr/>
          <p:nvPr/>
        </p:nvSpPr>
        <p:spPr>
          <a:xfrm>
            <a:off x="6443397" y="5687499"/>
            <a:ext cx="576064" cy="342294"/>
          </a:xfrm>
          <a:prstGeom prst="flowChartPredefinedProcess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900" smtClean="0">
                <a:solidFill>
                  <a:schemeClr val="tx1"/>
                </a:solidFill>
              </a:rPr>
              <a:t>변환</a:t>
            </a:r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4637092" y="2380530"/>
            <a:ext cx="110799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smtClean="0">
                <a:solidFill>
                  <a:srgbClr val="0000CC"/>
                </a:solidFill>
              </a:rPr>
              <a:t>마이그레이션</a:t>
            </a:r>
            <a:endParaRPr lang="en-US" altLang="ko-KR" sz="1200" b="1" smtClean="0">
              <a:solidFill>
                <a:srgbClr val="0000CC"/>
              </a:solidFill>
            </a:endParaRPr>
          </a:p>
          <a:p>
            <a:pPr algn="ctr"/>
            <a:r>
              <a:rPr lang="ko-KR" altLang="en-US" sz="1200" b="1" smtClean="0">
                <a:solidFill>
                  <a:srgbClr val="0000CC"/>
                </a:solidFill>
              </a:rPr>
              <a:t>프로그램</a:t>
            </a:r>
            <a:endParaRPr lang="ko-KR" altLang="en-US" sz="1200" b="1" dirty="0" err="1" smtClean="0">
              <a:solidFill>
                <a:srgbClr val="0000CC"/>
              </a:solidFill>
            </a:endParaRPr>
          </a:p>
        </p:txBody>
      </p:sp>
      <p:grpSp>
        <p:nvGrpSpPr>
          <p:cNvPr id="45" name="그룹 44"/>
          <p:cNvGrpSpPr/>
          <p:nvPr/>
        </p:nvGrpSpPr>
        <p:grpSpPr>
          <a:xfrm>
            <a:off x="7564872" y="2701778"/>
            <a:ext cx="1087118" cy="753269"/>
            <a:chOff x="8625408" y="2247239"/>
            <a:chExt cx="1087118" cy="753269"/>
          </a:xfrm>
        </p:grpSpPr>
        <p:pic>
          <p:nvPicPr>
            <p:cNvPr id="174" name="Picture 30" descr="db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25408" y="2247239"/>
              <a:ext cx="1087118" cy="753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" name="TextBox 42"/>
            <p:cNvSpPr txBox="1"/>
            <p:nvPr/>
          </p:nvSpPr>
          <p:spPr>
            <a:xfrm>
              <a:off x="8774072" y="2546947"/>
              <a:ext cx="8002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smtClean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</a:rPr>
                <a:t>자산관리</a:t>
              </a:r>
              <a:endParaRPr lang="ko-KR" altLang="en-US" sz="1200" b="1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</a:endParaRPr>
            </a:p>
          </p:txBody>
        </p:sp>
      </p:grpSp>
      <p:grpSp>
        <p:nvGrpSpPr>
          <p:cNvPr id="175" name="그룹 174"/>
          <p:cNvGrpSpPr/>
          <p:nvPr/>
        </p:nvGrpSpPr>
        <p:grpSpPr>
          <a:xfrm>
            <a:off x="7564872" y="4002846"/>
            <a:ext cx="1087118" cy="753269"/>
            <a:chOff x="8625408" y="2247239"/>
            <a:chExt cx="1087118" cy="753269"/>
          </a:xfrm>
        </p:grpSpPr>
        <p:pic>
          <p:nvPicPr>
            <p:cNvPr id="176" name="Picture 30" descr="db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25408" y="2247239"/>
              <a:ext cx="1087118" cy="753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" name="TextBox 176"/>
            <p:cNvSpPr txBox="1"/>
            <p:nvPr/>
          </p:nvSpPr>
          <p:spPr>
            <a:xfrm>
              <a:off x="8774072" y="2546947"/>
              <a:ext cx="8002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smtClean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</a:rPr>
                <a:t>회계관리</a:t>
              </a:r>
              <a:endParaRPr lang="ko-KR" altLang="en-US" sz="1200" b="1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</a:endParaRPr>
            </a:p>
          </p:txBody>
        </p:sp>
      </p:grpSp>
      <p:grpSp>
        <p:nvGrpSpPr>
          <p:cNvPr id="178" name="그룹 177"/>
          <p:cNvGrpSpPr/>
          <p:nvPr/>
        </p:nvGrpSpPr>
        <p:grpSpPr>
          <a:xfrm>
            <a:off x="7564872" y="5484019"/>
            <a:ext cx="1087118" cy="753269"/>
            <a:chOff x="8625408" y="2247239"/>
            <a:chExt cx="1087118" cy="753269"/>
          </a:xfrm>
        </p:grpSpPr>
        <p:pic>
          <p:nvPicPr>
            <p:cNvPr id="179" name="Picture 30" descr="db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25408" y="2247239"/>
              <a:ext cx="1087118" cy="753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" name="TextBox 179"/>
            <p:cNvSpPr txBox="1"/>
            <p:nvPr/>
          </p:nvSpPr>
          <p:spPr>
            <a:xfrm>
              <a:off x="8774072" y="2546947"/>
              <a:ext cx="8002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smtClean="0">
                  <a:solidFill>
                    <a:srgbClr val="000000">
                      <a:lumMod val="95000"/>
                      <a:lumOff val="5000"/>
                    </a:srgbClr>
                  </a:solidFill>
                  <a:latin typeface="맑은 고딕" pitchFamily="50" charset="-127"/>
                </a:rPr>
                <a:t>사업관리</a:t>
              </a:r>
              <a:endParaRPr lang="ko-KR" altLang="en-US" sz="1200" b="1">
                <a:solidFill>
                  <a:srgbClr val="000000">
                    <a:lumMod val="95000"/>
                    <a:lumOff val="5000"/>
                  </a:srgbClr>
                </a:solidFill>
                <a:latin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4059525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데이터 마이그레이션 추진을 위한 체계를 개발그룹</a:t>
            </a:r>
            <a:r>
              <a:rPr lang="en-US" altLang="ko-KR" dirty="0"/>
              <a:t>, </a:t>
            </a:r>
            <a:r>
              <a:rPr lang="ko-KR" altLang="en-US" dirty="0"/>
              <a:t>지원그룹</a:t>
            </a:r>
            <a:r>
              <a:rPr lang="en-US" altLang="ko-KR" dirty="0"/>
              <a:t>, </a:t>
            </a:r>
            <a:r>
              <a:rPr lang="ko-KR" altLang="en-US" dirty="0"/>
              <a:t>품질그룹으로 분류하고 마이그레이션 수행 </a:t>
            </a:r>
            <a:r>
              <a:rPr lang="ko-KR" altLang="en-US"/>
              <a:t>업체와 </a:t>
            </a:r>
            <a:r>
              <a:rPr lang="ko-KR" altLang="en-US" smtClean="0"/>
              <a:t>코레일테크가 </a:t>
            </a:r>
            <a:r>
              <a:rPr lang="ko-KR" altLang="en-US" dirty="0"/>
              <a:t>수행할 주요 업무 </a:t>
            </a:r>
            <a:r>
              <a:rPr lang="en-US" altLang="ko-KR" dirty="0"/>
              <a:t>R&amp;R</a:t>
            </a:r>
            <a:r>
              <a:rPr lang="ko-KR" altLang="en-US" dirty="0"/>
              <a:t>을 지정함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 smtClean="0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3.8.1 </a:t>
            </a:r>
            <a:r>
              <a:rPr lang="ko-KR" altLang="en-US" sz="1800" dirty="0"/>
              <a:t>데이터 마이그레이션 추진 체계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 smtClean="0"/>
              <a:t>3.8 </a:t>
            </a:r>
            <a:r>
              <a:rPr lang="ko-KR" altLang="en-US" smtClean="0"/>
              <a:t>데이터 마이그레이션 </a:t>
            </a:r>
            <a:r>
              <a:rPr lang="ko-KR" altLang="en-US"/>
              <a:t>방안</a:t>
            </a:r>
            <a:endParaRPr lang="en-US" altLang="ko-KR" dirty="0"/>
          </a:p>
        </p:txBody>
      </p:sp>
      <p:grpSp>
        <p:nvGrpSpPr>
          <p:cNvPr id="5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마이그레이션 추진 체계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3" name="직사각형 12"/>
          <p:cNvSpPr/>
          <p:nvPr/>
        </p:nvSpPr>
        <p:spPr>
          <a:xfrm>
            <a:off x="422804" y="2034457"/>
            <a:ext cx="9067007" cy="1732707"/>
          </a:xfrm>
          <a:prstGeom prst="rect">
            <a:avLst/>
          </a:prstGeom>
          <a:solidFill>
            <a:schemeClr val="accent3">
              <a:alpha val="50000"/>
            </a:schemeClr>
          </a:solidFill>
          <a:ln w="19050">
            <a:solidFill>
              <a:schemeClr val="accent1">
                <a:lumMod val="7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430337" y="2034457"/>
            <a:ext cx="432000" cy="1732707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algn="ctr"/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주관부서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439850" y="4293096"/>
            <a:ext cx="9050226" cy="1612722"/>
          </a:xfrm>
          <a:prstGeom prst="rect">
            <a:avLst/>
          </a:prstGeom>
          <a:solidFill>
            <a:schemeClr val="accent3">
              <a:alpha val="50000"/>
            </a:schemeClr>
          </a:solidFill>
          <a:ln w="19050">
            <a:solidFill>
              <a:schemeClr val="accent1">
                <a:lumMod val="75000"/>
              </a:schemeClr>
            </a:solidFill>
            <a:prstDash val="solid"/>
            <a:miter lim="800000"/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439850" y="4293096"/>
            <a:ext cx="432000" cy="1612722"/>
          </a:xfrm>
          <a:prstGeom prst="rect">
            <a:avLst/>
          </a:prstGeom>
          <a:solidFill>
            <a:srgbClr val="508CD2"/>
          </a:solidFill>
          <a:ln w="19050">
            <a:solidFill>
              <a:schemeClr val="accent1">
                <a:lumMod val="75000"/>
              </a:schemeClr>
            </a:solidFill>
            <a:miter lim="800000"/>
          </a:ln>
        </p:spPr>
        <p:txBody>
          <a:bodyPr vert="eaVert" wrap="square" lIns="0" tIns="0" rIns="0" bIns="0" anchor="ctr">
            <a:noAutofit/>
          </a:bodyPr>
          <a:lstStyle/>
          <a:p>
            <a:pPr algn="ctr"/>
            <a:r>
              <a:rPr lang="ko-KR" altLang="en-US" sz="10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추진 그룹</a:t>
            </a:r>
          </a:p>
        </p:txBody>
      </p:sp>
      <p:grpSp>
        <p:nvGrpSpPr>
          <p:cNvPr id="6" name="그룹 16"/>
          <p:cNvGrpSpPr/>
          <p:nvPr/>
        </p:nvGrpSpPr>
        <p:grpSpPr>
          <a:xfrm>
            <a:off x="7464654" y="5971479"/>
            <a:ext cx="2032894" cy="265833"/>
            <a:chOff x="2789017" y="6043487"/>
            <a:chExt cx="2032894" cy="265833"/>
          </a:xfrm>
        </p:grpSpPr>
        <p:sp>
          <p:nvSpPr>
            <p:cNvPr id="18" name="Rectangle 11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blackWhite">
            <a:xfrm>
              <a:off x="3931744" y="6093502"/>
              <a:ext cx="837800" cy="17339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/>
              <a:r>
                <a:rPr lang="ko-KR" altLang="en-US" sz="80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코레일테크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2970147" y="6043487"/>
              <a:ext cx="1851764" cy="265833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789017" y="6043487"/>
              <a:ext cx="183763" cy="2658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범례</a:t>
              </a:r>
            </a:p>
          </p:txBody>
        </p:sp>
        <p:sp>
          <p:nvSpPr>
            <p:cNvPr id="21" name="Rectangle 11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blackWhite">
            <a:xfrm>
              <a:off x="3046464" y="6093502"/>
              <a:ext cx="837800" cy="17339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마이그레이션업체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22" name="AutoShape 117"/>
          <p:cNvCxnSpPr>
            <a:cxnSpLocks noChangeShapeType="1"/>
            <a:stCxn id="24" idx="2"/>
            <a:endCxn id="30" idx="0"/>
          </p:cNvCxnSpPr>
          <p:nvPr/>
        </p:nvCxnSpPr>
        <p:spPr bwMode="auto">
          <a:xfrm flipV="1">
            <a:off x="4952415" y="2788979"/>
            <a:ext cx="1" cy="875501"/>
          </a:xfrm>
          <a:prstGeom prst="straightConnector1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grpSp>
        <p:nvGrpSpPr>
          <p:cNvPr id="7" name="그룹 22"/>
          <p:cNvGrpSpPr/>
          <p:nvPr/>
        </p:nvGrpSpPr>
        <p:grpSpPr>
          <a:xfrm>
            <a:off x="3825764" y="2122579"/>
            <a:ext cx="2253302" cy="1541901"/>
            <a:chOff x="2428353" y="2055453"/>
            <a:chExt cx="1539035" cy="1541901"/>
          </a:xfrm>
        </p:grpSpPr>
        <p:sp>
          <p:nvSpPr>
            <p:cNvPr id="24" name="Rectangle 11"/>
            <p:cNvSpPr>
              <a:spLocks noChangeArrowheads="1"/>
            </p:cNvSpPr>
            <p:nvPr>
              <p:custDataLst>
                <p:tags r:id="rId18"/>
              </p:custDataLst>
            </p:nvPr>
          </p:nvSpPr>
          <p:spPr bwMode="blackWhite">
            <a:xfrm>
              <a:off x="2428353" y="2055453"/>
              <a:ext cx="1539035" cy="1541901"/>
            </a:xfrm>
            <a:prstGeom prst="rect">
              <a:avLst/>
            </a:prstGeom>
            <a:solidFill>
              <a:schemeClr val="bg1"/>
            </a:solidFill>
            <a:ln w="19050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lnSpc>
                  <a:spcPts val="1000"/>
                </a:lnSpc>
              </a:pP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26" name="직선 연결선 25"/>
            <p:cNvCxnSpPr/>
            <p:nvPr/>
          </p:nvCxnSpPr>
          <p:spPr bwMode="auto">
            <a:xfrm>
              <a:off x="2428353" y="2462706"/>
              <a:ext cx="1539035" cy="0"/>
            </a:xfrm>
            <a:prstGeom prst="line">
              <a:avLst/>
            </a:prstGeom>
            <a:solidFill>
              <a:srgbClr val="FBB779"/>
            </a:solidFill>
            <a:ln w="6350" cap="flat" cmpd="sng" algn="ctr">
              <a:solidFill>
                <a:schemeClr val="accent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7" name="직사각형 26"/>
            <p:cNvSpPr/>
            <p:nvPr/>
          </p:nvSpPr>
          <p:spPr>
            <a:xfrm>
              <a:off x="2750839" y="2437842"/>
              <a:ext cx="1069282" cy="195085"/>
            </a:xfrm>
            <a:prstGeom prst="rect">
              <a:avLst/>
            </a:prstGeom>
          </p:spPr>
          <p:txBody>
            <a:bodyPr wrap="square">
              <a:noAutofit/>
            </a:bodyPr>
            <a:lstStyle/>
            <a:p>
              <a:pPr algn="ctr"/>
              <a:r>
                <a:rPr lang="ko-KR" altLang="en-US" sz="1050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정보시스템 관리부서</a:t>
              </a:r>
              <a:endPara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0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182898" y="2788979"/>
            <a:ext cx="1539035" cy="252000"/>
          </a:xfrm>
          <a:prstGeom prst="rect">
            <a:avLst/>
          </a:prstGeom>
          <a:solidFill>
            <a:schemeClr val="bg1"/>
          </a:solidFill>
          <a:ln w="3175" algn="ctr">
            <a:solidFill>
              <a:srgbClr val="2377F7"/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사업 총괄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2" name="AutoShape 117"/>
          <p:cNvCxnSpPr>
            <a:cxnSpLocks noChangeShapeType="1"/>
            <a:stCxn id="24" idx="2"/>
            <a:endCxn id="34" idx="0"/>
          </p:cNvCxnSpPr>
          <p:nvPr/>
        </p:nvCxnSpPr>
        <p:spPr bwMode="auto">
          <a:xfrm rot="5400000">
            <a:off x="3518519" y="3050848"/>
            <a:ext cx="820264" cy="2047529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33" name="AutoShape 117"/>
          <p:cNvCxnSpPr>
            <a:cxnSpLocks noChangeShapeType="1"/>
            <a:stCxn id="24" idx="2"/>
            <a:endCxn id="59" idx="0"/>
          </p:cNvCxnSpPr>
          <p:nvPr/>
        </p:nvCxnSpPr>
        <p:spPr bwMode="auto">
          <a:xfrm rot="16200000" flipH="1">
            <a:off x="6105185" y="2511709"/>
            <a:ext cx="820264" cy="3125805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34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2304661" y="4484744"/>
            <a:ext cx="1200449" cy="252000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rgbClr val="2377F7"/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lIns="36000" rIns="36000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개발 그룹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8" name="그룹 34"/>
          <p:cNvGrpSpPr/>
          <p:nvPr/>
        </p:nvGrpSpPr>
        <p:grpSpPr>
          <a:xfrm>
            <a:off x="979699" y="4875897"/>
            <a:ext cx="1203433" cy="940995"/>
            <a:chOff x="830136" y="4317994"/>
            <a:chExt cx="1046595" cy="940995"/>
          </a:xfrm>
        </p:grpSpPr>
        <p:sp>
          <p:nvSpPr>
            <p:cNvPr id="38" name="Rectangle 11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blackWhite">
            <a:xfrm>
              <a:off x="830136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관리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9" name="Rectangle 11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blackWhite">
            <a:xfrm>
              <a:off x="830136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계획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수립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비상복구계획 수립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프로젝트 관리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9" name="그룹 42"/>
          <p:cNvGrpSpPr/>
          <p:nvPr/>
        </p:nvGrpSpPr>
        <p:grpSpPr>
          <a:xfrm>
            <a:off x="2301341" y="4875897"/>
            <a:ext cx="1203433" cy="940995"/>
            <a:chOff x="1992597" y="4317994"/>
            <a:chExt cx="1046595" cy="940995"/>
          </a:xfrm>
        </p:grpSpPr>
        <p:sp>
          <p:nvSpPr>
            <p:cNvPr id="44" name="Rectangle 11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blackWhite">
            <a:xfrm>
              <a:off x="1992597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설계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8" name="Rectangle 1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blackWhite">
            <a:xfrm>
              <a:off x="1992597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None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유형 정의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None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매핑 설계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49" name="AutoShape 117"/>
          <p:cNvCxnSpPr>
            <a:cxnSpLocks noChangeShapeType="1"/>
            <a:stCxn id="34" idx="2"/>
            <a:endCxn id="38" idx="0"/>
          </p:cNvCxnSpPr>
          <p:nvPr/>
        </p:nvCxnSpPr>
        <p:spPr bwMode="auto">
          <a:xfrm rot="5400000">
            <a:off x="2173575" y="4144585"/>
            <a:ext cx="139153" cy="1323470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50" name="AutoShape 117"/>
          <p:cNvCxnSpPr>
            <a:cxnSpLocks noChangeShapeType="1"/>
            <a:stCxn id="34" idx="2"/>
            <a:endCxn id="44" idx="0"/>
          </p:cNvCxnSpPr>
          <p:nvPr/>
        </p:nvCxnSpPr>
        <p:spPr bwMode="auto">
          <a:xfrm rot="5400000">
            <a:off x="2834396" y="4805406"/>
            <a:ext cx="139153" cy="1828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grpSp>
        <p:nvGrpSpPr>
          <p:cNvPr id="10" name="그룹 50"/>
          <p:cNvGrpSpPr/>
          <p:nvPr/>
        </p:nvGrpSpPr>
        <p:grpSpPr>
          <a:xfrm>
            <a:off x="3624811" y="4875897"/>
            <a:ext cx="1203433" cy="940995"/>
            <a:chOff x="830136" y="4317994"/>
            <a:chExt cx="1046595" cy="940995"/>
          </a:xfrm>
        </p:grpSpPr>
        <p:sp>
          <p:nvSpPr>
            <p:cNvPr id="52" name="Rectangle 11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blackWhite">
            <a:xfrm>
              <a:off x="830136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응용 개발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3" name="Rectangle 11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blackWhite">
            <a:xfrm>
              <a:off x="830136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솔루션 선정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응용 개발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추출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이행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검증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</p:grpSp>
      <p:cxnSp>
        <p:nvCxnSpPr>
          <p:cNvPr id="54" name="AutoShape 117"/>
          <p:cNvCxnSpPr>
            <a:cxnSpLocks noChangeShapeType="1"/>
            <a:stCxn id="34" idx="2"/>
            <a:endCxn id="52" idx="0"/>
          </p:cNvCxnSpPr>
          <p:nvPr/>
        </p:nvCxnSpPr>
        <p:spPr bwMode="auto">
          <a:xfrm rot="16200000" flipH="1">
            <a:off x="3496131" y="4145499"/>
            <a:ext cx="139153" cy="1321642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55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5263227" y="4484744"/>
            <a:ext cx="1200449" cy="252000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rgbClr val="2377F7"/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lIns="36000" rIns="36000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지원 그룹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" name="그룹 55"/>
          <p:cNvGrpSpPr/>
          <p:nvPr/>
        </p:nvGrpSpPr>
        <p:grpSpPr>
          <a:xfrm>
            <a:off x="5261735" y="4875897"/>
            <a:ext cx="1203433" cy="940995"/>
            <a:chOff x="830136" y="4317994"/>
            <a:chExt cx="1046595" cy="940995"/>
          </a:xfrm>
        </p:grpSpPr>
        <p:sp>
          <p:nvSpPr>
            <p:cNvPr id="57" name="Rectangle 11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blackWhite">
            <a:xfrm>
              <a:off x="830136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인프라 구성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Rectangle 11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blackWhite">
            <a:xfrm>
              <a:off x="830136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전환개발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 </a:t>
              </a: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운영 환경 구축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솔루션 설치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9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7477995" y="4484744"/>
            <a:ext cx="1200449" cy="252000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rgbClr val="2377F7"/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none" lIns="36000" rIns="36000" anchor="ctr"/>
          <a:lstStyle/>
          <a:p>
            <a:pPr algn="ctr">
              <a:lnSpc>
                <a:spcPts val="1000"/>
              </a:lnSpc>
            </a:pP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품질 그룹</a:t>
            </a:r>
            <a:endParaRPr lang="en-US" altLang="ko-KR" sz="10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59"/>
          <p:cNvGrpSpPr/>
          <p:nvPr/>
        </p:nvGrpSpPr>
        <p:grpSpPr>
          <a:xfrm>
            <a:off x="8150382" y="4875897"/>
            <a:ext cx="1203433" cy="940995"/>
            <a:chOff x="830136" y="4317994"/>
            <a:chExt cx="1046595" cy="940995"/>
          </a:xfrm>
        </p:grpSpPr>
        <p:sp>
          <p:nvSpPr>
            <p:cNvPr id="61" name="Rectangle 11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blackWhite">
            <a:xfrm>
              <a:off x="830136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검수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2" name="Rectangle 11"/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blackWhite">
            <a:xfrm>
              <a:off x="830136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결과 </a:t>
              </a:r>
              <a: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검수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부적합 보고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7" name="그룹 62"/>
          <p:cNvGrpSpPr/>
          <p:nvPr/>
        </p:nvGrpSpPr>
        <p:grpSpPr>
          <a:xfrm>
            <a:off x="6753200" y="4875897"/>
            <a:ext cx="1277359" cy="940995"/>
            <a:chOff x="830136" y="4317994"/>
            <a:chExt cx="1046595" cy="940995"/>
          </a:xfrm>
        </p:grpSpPr>
        <p:sp>
          <p:nvSpPr>
            <p:cNvPr id="64" name="Rectangle 11"/>
            <p:cNvSpPr>
              <a:spLocks noChangeArrowheads="1"/>
            </p:cNvSpPr>
            <p:nvPr>
              <p:custDataLst>
                <p:tags r:id="rId6"/>
              </p:custDataLst>
            </p:nvPr>
          </p:nvSpPr>
          <p:spPr bwMode="blackWhite">
            <a:xfrm>
              <a:off x="830136" y="4317994"/>
              <a:ext cx="1046595" cy="252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36000" rIns="36000" anchor="ctr"/>
            <a:lstStyle/>
            <a:p>
              <a:pPr algn="ctr">
                <a:lnSpc>
                  <a:spcPts val="1000"/>
                </a:lnSpc>
              </a:pPr>
              <a:r>
                <a:rPr lang="ko-KR" altLang="en-US" sz="10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 시험</a:t>
              </a:r>
              <a:endParaRPr lang="en-US" altLang="ko-KR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5" name="Rectangle 11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blackWhite">
            <a:xfrm>
              <a:off x="830136" y="4569155"/>
              <a:ext cx="1046595" cy="689834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 계획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7313" indent="-87313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 실시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66" name="AutoShape 117"/>
          <p:cNvCxnSpPr>
            <a:cxnSpLocks noChangeShapeType="1"/>
            <a:stCxn id="55" idx="2"/>
            <a:endCxn id="57" idx="0"/>
          </p:cNvCxnSpPr>
          <p:nvPr/>
        </p:nvCxnSpPr>
        <p:spPr bwMode="auto">
          <a:xfrm>
            <a:off x="5863452" y="4736744"/>
            <a:ext cx="0" cy="139153"/>
          </a:xfrm>
          <a:prstGeom prst="straightConnector1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67" name="AutoShape 117"/>
          <p:cNvCxnSpPr>
            <a:cxnSpLocks noChangeShapeType="1"/>
            <a:stCxn id="59" idx="2"/>
            <a:endCxn id="64" idx="0"/>
          </p:cNvCxnSpPr>
          <p:nvPr/>
        </p:nvCxnSpPr>
        <p:spPr bwMode="auto">
          <a:xfrm rot="5400000">
            <a:off x="7665474" y="4463150"/>
            <a:ext cx="139153" cy="686340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68" name="AutoShape 117"/>
          <p:cNvCxnSpPr>
            <a:cxnSpLocks noChangeShapeType="1"/>
            <a:stCxn id="59" idx="2"/>
            <a:endCxn id="61" idx="0"/>
          </p:cNvCxnSpPr>
          <p:nvPr/>
        </p:nvCxnSpPr>
        <p:spPr bwMode="auto">
          <a:xfrm rot="16200000" flipH="1">
            <a:off x="8345583" y="4469380"/>
            <a:ext cx="139153" cy="673879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cxnSp>
        <p:nvCxnSpPr>
          <p:cNvPr id="69" name="AutoShape 117"/>
          <p:cNvCxnSpPr>
            <a:cxnSpLocks noChangeShapeType="1"/>
            <a:stCxn id="24" idx="2"/>
            <a:endCxn id="55" idx="0"/>
          </p:cNvCxnSpPr>
          <p:nvPr/>
        </p:nvCxnSpPr>
        <p:spPr bwMode="auto">
          <a:xfrm rot="16200000" flipH="1">
            <a:off x="4997801" y="3619093"/>
            <a:ext cx="820264" cy="911037"/>
          </a:xfrm>
          <a:prstGeom prst="bentConnector3">
            <a:avLst>
              <a:gd name="adj1" fmla="val 50000"/>
            </a:avLst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bg2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cxnSp>
      <p:sp>
        <p:nvSpPr>
          <p:cNvPr id="70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4182898" y="3040888"/>
            <a:ext cx="1539035" cy="468000"/>
          </a:xfrm>
          <a:prstGeom prst="rect">
            <a:avLst/>
          </a:prstGeom>
          <a:solidFill>
            <a:schemeClr val="bg1"/>
          </a:solidFill>
          <a:ln w="3175" algn="ctr">
            <a:solidFill>
              <a:srgbClr val="2377F7"/>
            </a:solidFill>
            <a:prstDash val="dash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marL="87313" indent="-87313">
              <a:lnSpc>
                <a:spcPts val="1000"/>
              </a:lnSpc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마이그레이션 요구사항</a:t>
            </a:r>
            <a:endParaRPr lang="en-US" altLang="ko-KR" sz="8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>
              <a:lnSpc>
                <a:spcPts val="1000"/>
              </a:lnSpc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마이그레이션 계획 승인</a:t>
            </a:r>
            <a:endParaRPr lang="en-US" altLang="ko-KR" sz="8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>
              <a:lnSpc>
                <a:spcPts val="1000"/>
              </a:lnSpc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마이그레이션 결과 검수</a:t>
            </a:r>
            <a:endParaRPr lang="en-US" altLang="ko-KR" sz="8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453826" y="2195756"/>
            <a:ext cx="9541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smtClean="0"/>
              <a:t>코레일테크</a:t>
            </a:r>
            <a:endParaRPr lang="ko-KR" altLang="en-US" sz="1200" dirty="0" err="1" smtClean="0"/>
          </a:p>
        </p:txBody>
      </p:sp>
    </p:spTree>
    <p:extLst>
      <p:ext uri="{BB962C8B-B14F-4D97-AF65-F5344CB8AC3E}">
        <p14:creationId xmlns:p14="http://schemas.microsoft.com/office/powerpoint/2010/main" val="93381742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데이터 마이그레이션의 체계적인 수행을 위한 계획</a:t>
            </a:r>
            <a:r>
              <a:rPr lang="en-US" altLang="ko-KR" dirty="0"/>
              <a:t>, </a:t>
            </a:r>
            <a:r>
              <a:rPr lang="ko-KR" altLang="en-US" dirty="0"/>
              <a:t>분석</a:t>
            </a:r>
            <a:r>
              <a:rPr lang="en-US" altLang="ko-KR" dirty="0"/>
              <a:t>, </a:t>
            </a:r>
            <a:r>
              <a:rPr lang="ko-KR" altLang="en-US" dirty="0"/>
              <a:t>설계</a:t>
            </a:r>
            <a:r>
              <a:rPr lang="en-US" altLang="ko-KR" dirty="0"/>
              <a:t>, </a:t>
            </a:r>
            <a:r>
              <a:rPr lang="ko-KR" altLang="en-US" dirty="0"/>
              <a:t>개발</a:t>
            </a:r>
            <a:r>
              <a:rPr lang="en-US" altLang="ko-KR" dirty="0"/>
              <a:t>, </a:t>
            </a:r>
            <a:r>
              <a:rPr lang="ko-KR" altLang="en-US" dirty="0"/>
              <a:t>시험</a:t>
            </a:r>
            <a:r>
              <a:rPr lang="en-US" altLang="ko-KR" dirty="0"/>
              <a:t>, </a:t>
            </a:r>
            <a:r>
              <a:rPr lang="ko-KR" altLang="en-US" dirty="0"/>
              <a:t>전환의 </a:t>
            </a:r>
            <a:r>
              <a:rPr lang="en-US" altLang="ko-KR" dirty="0"/>
              <a:t>6</a:t>
            </a:r>
            <a:r>
              <a:rPr lang="ko-KR" altLang="en-US" dirty="0"/>
              <a:t>단계 절차를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수립하고 총</a:t>
            </a:r>
            <a:r>
              <a:rPr lang="en-US" altLang="ko-KR" dirty="0"/>
              <a:t> 16</a:t>
            </a:r>
            <a:r>
              <a:rPr lang="ko-KR" altLang="en-US" dirty="0"/>
              <a:t>개의 활동을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3.8.2 </a:t>
            </a:r>
            <a:r>
              <a:rPr lang="ko-KR" altLang="en-US" sz="1800" smtClean="0"/>
              <a:t>마이그레이션 절차</a:t>
            </a:r>
            <a:r>
              <a:rPr lang="en-US" altLang="ko-KR" sz="1800" smtClean="0"/>
              <a:t>(</a:t>
            </a:r>
            <a:r>
              <a:rPr lang="en-US" altLang="ko-KR" sz="1800" dirty="0"/>
              <a:t>1/4)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 smtClean="0"/>
              <a:t> </a:t>
            </a:r>
            <a:endParaRPr lang="en-US" altLang="ko-KR" dirty="0"/>
          </a:p>
        </p:txBody>
      </p:sp>
      <p:grpSp>
        <p:nvGrpSpPr>
          <p:cNvPr id="5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마이그레이션 절차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2" name="직사각형 71"/>
          <p:cNvSpPr/>
          <p:nvPr/>
        </p:nvSpPr>
        <p:spPr>
          <a:xfrm>
            <a:off x="6752080" y="1628800"/>
            <a:ext cx="183763" cy="2658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범례</a:t>
            </a:r>
          </a:p>
        </p:txBody>
      </p:sp>
      <p:grpSp>
        <p:nvGrpSpPr>
          <p:cNvPr id="6" name="그룹 72"/>
          <p:cNvGrpSpPr/>
          <p:nvPr/>
        </p:nvGrpSpPr>
        <p:grpSpPr>
          <a:xfrm>
            <a:off x="6933210" y="1628800"/>
            <a:ext cx="2556294" cy="265833"/>
            <a:chOff x="7745750" y="1648308"/>
            <a:chExt cx="1851764" cy="265833"/>
          </a:xfrm>
        </p:grpSpPr>
        <p:sp>
          <p:nvSpPr>
            <p:cNvPr id="74" name="직사각형 73"/>
            <p:cNvSpPr/>
            <p:nvPr/>
          </p:nvSpPr>
          <p:spPr>
            <a:xfrm>
              <a:off x="7745750" y="1648308"/>
              <a:ext cx="1851764" cy="26583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/>
              <a:endParaRPr lang="ko-KR" altLang="en-US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5" name="Rectangle 11"/>
            <p:cNvSpPr>
              <a:spLocks noChangeArrowheads="1"/>
            </p:cNvSpPr>
            <p:nvPr>
              <p:custDataLst>
                <p:tags r:id="rId33"/>
              </p:custDataLst>
            </p:nvPr>
          </p:nvSpPr>
          <p:spPr bwMode="blackWhite">
            <a:xfrm>
              <a:off x="7822067" y="1698323"/>
              <a:ext cx="837800" cy="17339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none" lIns="0" rIns="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마이그레이션업체 업무</a:t>
              </a: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Rectangle 11"/>
            <p:cNvSpPr>
              <a:spLocks noChangeArrowheads="1"/>
            </p:cNvSpPr>
            <p:nvPr>
              <p:custDataLst>
                <p:tags r:id="rId34"/>
              </p:custDataLst>
            </p:nvPr>
          </p:nvSpPr>
          <p:spPr bwMode="blackWhite">
            <a:xfrm>
              <a:off x="8707347" y="1698323"/>
              <a:ext cx="837800" cy="173395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rgbClr val="2377F7"/>
              </a:solidFill>
              <a:prstDash val="dash"/>
              <a:miter lim="800000"/>
              <a:headEnd/>
              <a:tailEnd/>
            </a:ln>
            <a:effectLst/>
            <a:extLst/>
          </p:spPr>
          <p:txBody>
            <a:bodyPr wrap="none" lIns="0" rIns="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800" u="sng" smtClean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코레일테크 </a:t>
              </a:r>
              <a:r>
                <a:rPr lang="ko-KR" altLang="en-US" sz="8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업무</a:t>
              </a:r>
              <a:endParaRPr lang="en-US" altLang="ko-KR" sz="8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" name="그룹 4"/>
          <p:cNvGrpSpPr/>
          <p:nvPr/>
        </p:nvGrpSpPr>
        <p:grpSpPr>
          <a:xfrm>
            <a:off x="409045" y="1998878"/>
            <a:ext cx="9097045" cy="4184523"/>
            <a:chOff x="317620" y="2034457"/>
            <a:chExt cx="9279895" cy="4268632"/>
          </a:xfrm>
        </p:grpSpPr>
        <p:sp>
          <p:nvSpPr>
            <p:cNvPr id="77" name="자유형 76"/>
            <p:cNvSpPr/>
            <p:nvPr/>
          </p:nvSpPr>
          <p:spPr>
            <a:xfrm>
              <a:off x="317620" y="2034457"/>
              <a:ext cx="1702260" cy="535509"/>
            </a:xfrm>
            <a:custGeom>
              <a:avLst/>
              <a:gdLst>
                <a:gd name="connsiteX0" fmla="*/ 0 w 1656000"/>
                <a:gd name="connsiteY0" fmla="*/ 0 h 535509"/>
                <a:gd name="connsiteX1" fmla="*/ 746947 w 1656000"/>
                <a:gd name="connsiteY1" fmla="*/ 0 h 535509"/>
                <a:gd name="connsiteX2" fmla="*/ 1388246 w 1656000"/>
                <a:gd name="connsiteY2" fmla="*/ 0 h 535509"/>
                <a:gd name="connsiteX3" fmla="*/ 1656000 w 1656000"/>
                <a:gd name="connsiteY3" fmla="*/ 267755 h 535509"/>
                <a:gd name="connsiteX4" fmla="*/ 1388246 w 1656000"/>
                <a:gd name="connsiteY4" fmla="*/ 535509 h 535509"/>
                <a:gd name="connsiteX5" fmla="*/ 746947 w 1656000"/>
                <a:gd name="connsiteY5" fmla="*/ 535509 h 535509"/>
                <a:gd name="connsiteX6" fmla="*/ 0 w 1656000"/>
                <a:gd name="connsiteY6" fmla="*/ 535509 h 535509"/>
                <a:gd name="connsiteX7" fmla="*/ 0 w 1656000"/>
                <a:gd name="connsiteY7" fmla="*/ 267755 h 53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000" h="535509">
                  <a:moveTo>
                    <a:pt x="0" y="0"/>
                  </a:moveTo>
                  <a:lnTo>
                    <a:pt x="746947" y="0"/>
                  </a:lnTo>
                  <a:lnTo>
                    <a:pt x="1388246" y="0"/>
                  </a:lnTo>
                  <a:lnTo>
                    <a:pt x="1656000" y="267755"/>
                  </a:lnTo>
                  <a:lnTo>
                    <a:pt x="1388246" y="535509"/>
                  </a:lnTo>
                  <a:lnTo>
                    <a:pt x="746947" y="535509"/>
                  </a:lnTo>
                  <a:lnTo>
                    <a:pt x="0" y="535509"/>
                  </a:lnTo>
                  <a:lnTo>
                    <a:pt x="0" y="267755"/>
                  </a:lnTo>
                  <a:close/>
                </a:path>
              </a:pathLst>
            </a:cu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계획 단계</a:t>
              </a:r>
            </a:p>
          </p:txBody>
        </p:sp>
        <p:sp>
          <p:nvSpPr>
            <p:cNvPr id="78" name="갈매기형 수장 77"/>
            <p:cNvSpPr/>
            <p:nvPr/>
          </p:nvSpPr>
          <p:spPr>
            <a:xfrm>
              <a:off x="1884955" y="2034457"/>
              <a:ext cx="1702260" cy="535509"/>
            </a:xfrm>
            <a:prstGeom prst="chevron">
              <a:avLst/>
            </a:pr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분석 단계</a:t>
              </a:r>
            </a:p>
          </p:txBody>
        </p:sp>
        <p:sp>
          <p:nvSpPr>
            <p:cNvPr id="79" name="갈매기형 수장 78"/>
            <p:cNvSpPr/>
            <p:nvPr/>
          </p:nvSpPr>
          <p:spPr>
            <a:xfrm>
              <a:off x="3452290" y="2034457"/>
              <a:ext cx="1702260" cy="535509"/>
            </a:xfrm>
            <a:prstGeom prst="chevron">
              <a:avLst/>
            </a:pr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설계 단계</a:t>
              </a:r>
            </a:p>
          </p:txBody>
        </p:sp>
        <p:sp>
          <p:nvSpPr>
            <p:cNvPr id="80" name="갈매기형 수장 79"/>
            <p:cNvSpPr/>
            <p:nvPr/>
          </p:nvSpPr>
          <p:spPr>
            <a:xfrm>
              <a:off x="6586960" y="2034457"/>
              <a:ext cx="1702260" cy="535509"/>
            </a:xfrm>
            <a:prstGeom prst="chevron">
              <a:avLst/>
            </a:pr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시험 단계</a:t>
              </a:r>
            </a:p>
          </p:txBody>
        </p:sp>
        <p:sp>
          <p:nvSpPr>
            <p:cNvPr id="81" name="갈매기형 수장 80"/>
            <p:cNvSpPr/>
            <p:nvPr/>
          </p:nvSpPr>
          <p:spPr>
            <a:xfrm>
              <a:off x="5019625" y="2034457"/>
              <a:ext cx="1702260" cy="535509"/>
            </a:xfrm>
            <a:prstGeom prst="chevron">
              <a:avLst/>
            </a:pr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개발 단계</a:t>
              </a:r>
            </a:p>
          </p:txBody>
        </p:sp>
        <p:sp>
          <p:nvSpPr>
            <p:cNvPr id="82" name="자유형 81"/>
            <p:cNvSpPr/>
            <p:nvPr/>
          </p:nvSpPr>
          <p:spPr bwMode="auto">
            <a:xfrm>
              <a:off x="8154294" y="2034457"/>
              <a:ext cx="1443220" cy="535509"/>
            </a:xfrm>
            <a:custGeom>
              <a:avLst/>
              <a:gdLst>
                <a:gd name="connsiteX0" fmla="*/ 0 w 1404000"/>
                <a:gd name="connsiteY0" fmla="*/ 0 h 535509"/>
                <a:gd name="connsiteX1" fmla="*/ 909053 w 1404000"/>
                <a:gd name="connsiteY1" fmla="*/ 0 h 535509"/>
                <a:gd name="connsiteX2" fmla="*/ 1388246 w 1404000"/>
                <a:gd name="connsiteY2" fmla="*/ 0 h 535509"/>
                <a:gd name="connsiteX3" fmla="*/ 1404000 w 1404000"/>
                <a:gd name="connsiteY3" fmla="*/ 0 h 535509"/>
                <a:gd name="connsiteX4" fmla="*/ 1404000 w 1404000"/>
                <a:gd name="connsiteY4" fmla="*/ 535509 h 535509"/>
                <a:gd name="connsiteX5" fmla="*/ 1388246 w 1404000"/>
                <a:gd name="connsiteY5" fmla="*/ 535509 h 535509"/>
                <a:gd name="connsiteX6" fmla="*/ 909053 w 1404000"/>
                <a:gd name="connsiteY6" fmla="*/ 535509 h 535509"/>
                <a:gd name="connsiteX7" fmla="*/ 0 w 1404000"/>
                <a:gd name="connsiteY7" fmla="*/ 535509 h 535509"/>
                <a:gd name="connsiteX8" fmla="*/ 267755 w 1404000"/>
                <a:gd name="connsiteY8" fmla="*/ 267755 h 535509"/>
                <a:gd name="connsiteX9" fmla="*/ 0 w 1404000"/>
                <a:gd name="connsiteY9" fmla="*/ 0 h 53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000" h="535509">
                  <a:moveTo>
                    <a:pt x="0" y="0"/>
                  </a:moveTo>
                  <a:lnTo>
                    <a:pt x="909053" y="0"/>
                  </a:lnTo>
                  <a:lnTo>
                    <a:pt x="1388246" y="0"/>
                  </a:lnTo>
                  <a:lnTo>
                    <a:pt x="1404000" y="0"/>
                  </a:lnTo>
                  <a:lnTo>
                    <a:pt x="1404000" y="535509"/>
                  </a:lnTo>
                  <a:lnTo>
                    <a:pt x="1388246" y="535509"/>
                  </a:lnTo>
                  <a:lnTo>
                    <a:pt x="909053" y="535509"/>
                  </a:lnTo>
                  <a:lnTo>
                    <a:pt x="0" y="535509"/>
                  </a:lnTo>
                  <a:lnTo>
                    <a:pt x="267755" y="2677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8CD2"/>
            </a:solidFill>
            <a:ln w="19050">
              <a:solidFill>
                <a:schemeClr val="accent2">
                  <a:lumMod val="25000"/>
                </a:schemeClr>
              </a:solidFill>
              <a:miter lim="800000"/>
            </a:ln>
          </p:spPr>
          <p:txBody>
            <a:bodyPr vert="horz" wrap="square" lIns="0" tIns="0" rIns="0" bIns="0" anchor="ctr">
              <a:noAutofit/>
            </a:bodyPr>
            <a:lstStyle/>
            <a:p>
              <a:pPr algn="ctr"/>
              <a:r>
                <a:rPr lang="ko-KR" altLang="en-US" sz="1200" b="1" dirty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전환 단계</a:t>
              </a:r>
            </a:p>
          </p:txBody>
        </p:sp>
        <p:sp>
          <p:nvSpPr>
            <p:cNvPr id="83" name="Rectangle 11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blackWhite">
            <a:xfrm>
              <a:off x="317620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계획 수립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4" name="Rectangle 11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blackWhite">
            <a:xfrm>
              <a:off x="317620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범위 정의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일정 수립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비상복구 계획 수립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마이그레이션  계획 승인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5" name="Rectangle 11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blackWhite">
            <a:xfrm>
              <a:off x="1884955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요구분석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Rectangle 11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blackWhite">
            <a:xfrm>
              <a:off x="1884955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전환 요구사항 제공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요구사항 인터뷰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AS-IS VS. TO-BE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 분석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7" name="Rectangle 11"/>
            <p:cNvSpPr>
              <a:spLocks noChangeArrowheads="1"/>
            </p:cNvSpPr>
            <p:nvPr>
              <p:custDataLst>
                <p:tags r:id="rId5"/>
              </p:custDataLst>
            </p:nvPr>
          </p:nvSpPr>
          <p:spPr bwMode="blackWhite">
            <a:xfrm>
              <a:off x="3452290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정비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Rectangle 11"/>
            <p:cNvSpPr>
              <a:spLocks noChangeArrowheads="1"/>
            </p:cNvSpPr>
            <p:nvPr>
              <p:custDataLst>
                <p:tags r:id="rId6"/>
              </p:custDataLst>
            </p:nvPr>
          </p:nvSpPr>
          <p:spPr bwMode="blackWhite">
            <a:xfrm>
              <a:off x="3452290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정제 기준 수립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정제 프로그램 개발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정제 실시 및 검증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Rectangle 11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blackWhite">
            <a:xfrm>
              <a:off x="5019625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ETL</a:t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프로그램 개발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0" name="Rectangle 11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blackWhite">
            <a:xfrm>
              <a:off x="5019625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ETL(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추출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적재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검증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프로그램 개발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프로그램 튜닝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1" name="Rectangle 11"/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blackWhite">
            <a:xfrm>
              <a:off x="6586960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2" name="Rectangle 11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blackWhite">
            <a:xfrm>
              <a:off x="6586960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 실시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(N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회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93" name="Rectangle 11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blackWhite">
            <a:xfrm>
              <a:off x="8154295" y="2672040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최종 전환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사전 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Wingdings" panose="05000000000000000000" pitchFamily="2" charset="2"/>
                </a:rPr>
                <a:t>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본 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  <a:sym typeface="Wingdings" panose="05000000000000000000" pitchFamily="2" charset="2"/>
                </a:rPr>
                <a:t>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사후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94" name="Rectangle 11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blackWhite">
            <a:xfrm>
              <a:off x="8154295" y="306904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AS-IS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백업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사전 전환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본 전환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사후 전환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5" name="Rectangle 11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blackWhite">
            <a:xfrm>
              <a:off x="1884955" y="519189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환경 구축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(HW, SW, NW)</a:t>
              </a:r>
            </a:p>
          </p:txBody>
        </p:sp>
        <p:sp>
          <p:nvSpPr>
            <p:cNvPr id="96" name="Rectangle 11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blackWhite">
            <a:xfrm>
              <a:off x="1884955" y="558170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전환환경 정의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전환환경 설치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(HW, SW, NW)</a:t>
              </a:r>
            </a:p>
          </p:txBody>
        </p:sp>
        <p:sp>
          <p:nvSpPr>
            <p:cNvPr id="97" name="Rectangle 1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blackWhite">
            <a:xfrm>
              <a:off x="5019625" y="519189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시험 계획 수립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8" name="Rectangle 11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blackWhite">
            <a:xfrm>
              <a:off x="5019625" y="558170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 계획 작성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시험 케이스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시나리오 작성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시험계획 승인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9" name="Rectangle 11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blackWhite">
            <a:xfrm>
              <a:off x="8154295" y="519189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안정화 운영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0" name="Rectangle 11"/>
            <p:cNvSpPr>
              <a:spLocks noChangeArrowheads="1"/>
            </p:cNvSpPr>
            <p:nvPr>
              <p:custDataLst>
                <p:tags r:id="rId18"/>
              </p:custDataLst>
            </p:nvPr>
          </p:nvSpPr>
          <p:spPr bwMode="blackWhite">
            <a:xfrm>
              <a:off x="8154295" y="558170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TO-BE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시스템 집중 모니터링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모니터링 결과 문제점 보완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안정화 운영 결과 검증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1" name="Rectangle 11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blackWhite">
            <a:xfrm>
              <a:off x="317620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팀 구성 및 업무 배정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2" name="Rectangle 11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blackWhite">
            <a:xfrm>
              <a:off x="317620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팀 구성 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팀별 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R&amp;R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정의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팀원 업무 할당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3" name="Rectangle 11"/>
            <p:cNvSpPr>
              <a:spLocks noChangeArrowheads="1"/>
            </p:cNvSpPr>
            <p:nvPr>
              <p:custDataLst>
                <p:tags r:id="rId21"/>
              </p:custDataLst>
            </p:nvPr>
          </p:nvSpPr>
          <p:spPr bwMode="blackWhite">
            <a:xfrm>
              <a:off x="3452290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설계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4" name="Rectangle 11"/>
            <p:cNvSpPr>
              <a:spLocks noChangeArrowheads="1"/>
            </p:cNvSpPr>
            <p:nvPr>
              <p:custDataLst>
                <p:tags r:id="rId22"/>
              </p:custDataLst>
            </p:nvPr>
          </p:nvSpPr>
          <p:spPr bwMode="blackWhite">
            <a:xfrm>
              <a:off x="3452290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AS-IS VS. TO-BE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매핑룰 정의 및 매핑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순서 정의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프로그램 설계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분석</a:t>
              </a:r>
              <a:r>
                <a:rPr lang="en-US" altLang="ko-KR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설계 검증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5" name="Rectangle 11"/>
            <p:cNvSpPr>
              <a:spLocks noChangeArrowheads="1"/>
            </p:cNvSpPr>
            <p:nvPr>
              <p:custDataLst>
                <p:tags r:id="rId23"/>
              </p:custDataLst>
            </p:nvPr>
          </p:nvSpPr>
          <p:spPr bwMode="blackWhite">
            <a:xfrm>
              <a:off x="5019625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단위 시험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6" name="Rectangle 11"/>
            <p:cNvSpPr>
              <a:spLocks noChangeArrowheads="1"/>
            </p:cNvSpPr>
            <p:nvPr>
              <p:custDataLst>
                <p:tags r:id="rId24"/>
              </p:custDataLst>
            </p:nvPr>
          </p:nvSpPr>
          <p:spPr bwMode="blackWhite">
            <a:xfrm>
              <a:off x="5019625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ETL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프로그램 단위 시험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단위시험 결과 검증 및 보완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7" name="Rectangle 11"/>
            <p:cNvSpPr>
              <a:spLocks noChangeArrowheads="1"/>
            </p:cNvSpPr>
            <p:nvPr>
              <p:custDataLst>
                <p:tags r:id="rId25"/>
              </p:custDataLst>
            </p:nvPr>
          </p:nvSpPr>
          <p:spPr bwMode="blackWhite">
            <a:xfrm>
              <a:off x="6586960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검증 실시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8" name="Rectangle 11"/>
            <p:cNvSpPr>
              <a:spLocks noChangeArrowheads="1"/>
            </p:cNvSpPr>
            <p:nvPr>
              <p:custDataLst>
                <p:tags r:id="rId26"/>
              </p:custDataLst>
            </p:nvPr>
          </p:nvSpPr>
          <p:spPr bwMode="blackWhite">
            <a:xfrm>
              <a:off x="6586960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마이그레이션 시험 결과 검증</a:t>
              </a:r>
              <a:r>
                <a:rPr lang="en-US" altLang="ko-KR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완전성</a:t>
              </a:r>
              <a:r>
                <a:rPr lang="en-US" altLang="ko-KR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정합성</a:t>
              </a:r>
              <a:r>
                <a:rPr lang="en-US" altLang="ko-KR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  <p:sp>
          <p:nvSpPr>
            <p:cNvPr id="109" name="Rectangle 11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blackWhite">
            <a:xfrm>
              <a:off x="8154295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smtClean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lang="en-US" altLang="ko-KR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가동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" name="Rectangle 11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blackWhite">
            <a:xfrm>
              <a:off x="8154295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대상 시스템 가동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문제발생 시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비상복구 실시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시스템 가동 결과 검증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1" name="Rectangle 11"/>
            <p:cNvSpPr>
              <a:spLocks noChangeArrowheads="1"/>
            </p:cNvSpPr>
            <p:nvPr>
              <p:custDataLst>
                <p:tags r:id="rId29"/>
              </p:custDataLst>
            </p:nvPr>
          </p:nvSpPr>
          <p:spPr bwMode="blackWhite">
            <a:xfrm>
              <a:off x="1884955" y="3935719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검증 기준 수립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" name="Rectangle 11"/>
            <p:cNvSpPr>
              <a:spLocks noChangeArrowheads="1"/>
            </p:cNvSpPr>
            <p:nvPr>
              <p:custDataLst>
                <p:tags r:id="rId30"/>
              </p:custDataLst>
            </p:nvPr>
          </p:nvSpPr>
          <p:spPr bwMode="blackWhite">
            <a:xfrm>
              <a:off x="1884955" y="4325220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검증 기준 수립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u="sng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전환 검증 기준 승인</a:t>
              </a:r>
              <a:endParaRPr lang="en-US" altLang="ko-KR" sz="900" u="sng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None/>
              </a:pP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13" name="직선 화살표 연결선 112"/>
            <p:cNvCxnSpPr>
              <a:stCxn id="84" idx="2"/>
              <a:endCxn id="101" idx="0"/>
            </p:cNvCxnSpPr>
            <p:nvPr/>
          </p:nvCxnSpPr>
          <p:spPr bwMode="auto">
            <a:xfrm>
              <a:off x="1039230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4" name="직선 화살표 연결선 164"/>
            <p:cNvCxnSpPr>
              <a:stCxn id="102" idx="3"/>
              <a:endCxn id="86" idx="1"/>
            </p:cNvCxnSpPr>
            <p:nvPr/>
          </p:nvCxnSpPr>
          <p:spPr bwMode="auto">
            <a:xfrm flipV="1">
              <a:off x="1760840" y="3429040"/>
              <a:ext cx="124115" cy="125618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5" name="직선 화살표 연결선 114"/>
            <p:cNvCxnSpPr>
              <a:stCxn id="86" idx="2"/>
              <a:endCxn id="111" idx="0"/>
            </p:cNvCxnSpPr>
            <p:nvPr/>
          </p:nvCxnSpPr>
          <p:spPr bwMode="auto">
            <a:xfrm>
              <a:off x="2606565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6" name="직선 화살표 연결선 115"/>
            <p:cNvCxnSpPr>
              <a:stCxn id="112" idx="2"/>
              <a:endCxn id="95" idx="0"/>
            </p:cNvCxnSpPr>
            <p:nvPr/>
          </p:nvCxnSpPr>
          <p:spPr bwMode="auto">
            <a:xfrm>
              <a:off x="2606565" y="504522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7" name="직선 화살표 연결선 164"/>
            <p:cNvCxnSpPr>
              <a:stCxn id="96" idx="3"/>
              <a:endCxn id="88" idx="1"/>
            </p:cNvCxnSpPr>
            <p:nvPr/>
          </p:nvCxnSpPr>
          <p:spPr bwMode="auto">
            <a:xfrm flipV="1">
              <a:off x="3328175" y="3429040"/>
              <a:ext cx="124115" cy="251266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8" name="직선 화살표 연결선 117"/>
            <p:cNvCxnSpPr>
              <a:stCxn id="88" idx="2"/>
              <a:endCxn id="103" idx="0"/>
            </p:cNvCxnSpPr>
            <p:nvPr/>
          </p:nvCxnSpPr>
          <p:spPr bwMode="auto">
            <a:xfrm>
              <a:off x="4173900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19" name="직선 화살표 연결선 118"/>
            <p:cNvCxnSpPr>
              <a:stCxn id="90" idx="2"/>
              <a:endCxn id="105" idx="0"/>
            </p:cNvCxnSpPr>
            <p:nvPr/>
          </p:nvCxnSpPr>
          <p:spPr bwMode="auto">
            <a:xfrm>
              <a:off x="5741235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0" name="직선 화살표 연결선 164"/>
            <p:cNvCxnSpPr>
              <a:stCxn id="104" idx="3"/>
              <a:endCxn id="90" idx="1"/>
            </p:cNvCxnSpPr>
            <p:nvPr/>
          </p:nvCxnSpPr>
          <p:spPr bwMode="auto">
            <a:xfrm flipV="1">
              <a:off x="4895510" y="3429040"/>
              <a:ext cx="124115" cy="125618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1" name="직선 화살표 연결선 120"/>
            <p:cNvCxnSpPr>
              <a:stCxn id="106" idx="2"/>
              <a:endCxn id="97" idx="0"/>
            </p:cNvCxnSpPr>
            <p:nvPr/>
          </p:nvCxnSpPr>
          <p:spPr bwMode="auto">
            <a:xfrm>
              <a:off x="5741235" y="504522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2" name="직선 화살표 연결선 164"/>
            <p:cNvCxnSpPr>
              <a:stCxn id="98" idx="3"/>
              <a:endCxn id="92" idx="1"/>
            </p:cNvCxnSpPr>
            <p:nvPr/>
          </p:nvCxnSpPr>
          <p:spPr bwMode="auto">
            <a:xfrm flipV="1">
              <a:off x="6462845" y="3429040"/>
              <a:ext cx="124115" cy="251266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3" name="직선 화살표 연결선 122"/>
            <p:cNvCxnSpPr>
              <a:stCxn id="92" idx="2"/>
              <a:endCxn id="107" idx="0"/>
            </p:cNvCxnSpPr>
            <p:nvPr/>
          </p:nvCxnSpPr>
          <p:spPr bwMode="auto">
            <a:xfrm>
              <a:off x="7308570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4" name="직선 화살표 연결선 123"/>
            <p:cNvCxnSpPr>
              <a:stCxn id="94" idx="2"/>
              <a:endCxn id="109" idx="0"/>
            </p:cNvCxnSpPr>
            <p:nvPr/>
          </p:nvCxnSpPr>
          <p:spPr bwMode="auto">
            <a:xfrm>
              <a:off x="8875905" y="3789040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25" name="직선 화살표 연결선 164"/>
            <p:cNvCxnSpPr>
              <a:stCxn id="108" idx="3"/>
              <a:endCxn id="94" idx="1"/>
            </p:cNvCxnSpPr>
            <p:nvPr/>
          </p:nvCxnSpPr>
          <p:spPr bwMode="auto">
            <a:xfrm flipV="1">
              <a:off x="8030180" y="3429040"/>
              <a:ext cx="124115" cy="1256180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sp>
          <p:nvSpPr>
            <p:cNvPr id="126" name="직사각형 125"/>
            <p:cNvSpPr/>
            <p:nvPr/>
          </p:nvSpPr>
          <p:spPr bwMode="auto">
            <a:xfrm>
              <a:off x="602886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1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7" name="직사각형 126"/>
            <p:cNvSpPr/>
            <p:nvPr/>
          </p:nvSpPr>
          <p:spPr bwMode="auto">
            <a:xfrm>
              <a:off x="2143996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2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8" name="직사각형 127"/>
            <p:cNvSpPr/>
            <p:nvPr/>
          </p:nvSpPr>
          <p:spPr bwMode="auto">
            <a:xfrm>
              <a:off x="3711331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3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9" name="직사각형 128"/>
            <p:cNvSpPr/>
            <p:nvPr/>
          </p:nvSpPr>
          <p:spPr bwMode="auto">
            <a:xfrm>
              <a:off x="5275355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4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0" name="직사각형 129"/>
            <p:cNvSpPr/>
            <p:nvPr/>
          </p:nvSpPr>
          <p:spPr bwMode="auto">
            <a:xfrm>
              <a:off x="6872225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5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1" name="직사각형 130"/>
            <p:cNvSpPr/>
            <p:nvPr/>
          </p:nvSpPr>
          <p:spPr bwMode="auto">
            <a:xfrm>
              <a:off x="8394634" y="2034457"/>
              <a:ext cx="180000" cy="18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105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6</a:t>
              </a:r>
              <a:endParaRPr lang="ko-KR" altLang="en-US" sz="105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2" name="직사각형 131"/>
            <p:cNvSpPr/>
            <p:nvPr/>
          </p:nvSpPr>
          <p:spPr bwMode="auto">
            <a:xfrm>
              <a:off x="317620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1-1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3" name="직사각형 132"/>
            <p:cNvSpPr/>
            <p:nvPr/>
          </p:nvSpPr>
          <p:spPr bwMode="auto">
            <a:xfrm>
              <a:off x="1884955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2-1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 bwMode="auto">
            <a:xfrm>
              <a:off x="3452290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3-1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5" name="직사각형 134"/>
            <p:cNvSpPr/>
            <p:nvPr/>
          </p:nvSpPr>
          <p:spPr bwMode="auto">
            <a:xfrm>
              <a:off x="5019625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4-1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6" name="직사각형 135"/>
            <p:cNvSpPr/>
            <p:nvPr/>
          </p:nvSpPr>
          <p:spPr bwMode="auto">
            <a:xfrm>
              <a:off x="6586960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5-1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7" name="직사각형 136"/>
            <p:cNvSpPr/>
            <p:nvPr/>
          </p:nvSpPr>
          <p:spPr bwMode="auto">
            <a:xfrm>
              <a:off x="8154295" y="2672040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6-1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8" name="직사각형 137"/>
            <p:cNvSpPr/>
            <p:nvPr/>
          </p:nvSpPr>
          <p:spPr bwMode="auto">
            <a:xfrm>
              <a:off x="317620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1-2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9" name="직사각형 138"/>
            <p:cNvSpPr/>
            <p:nvPr/>
          </p:nvSpPr>
          <p:spPr bwMode="auto">
            <a:xfrm>
              <a:off x="1884955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2-2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0" name="직사각형 139"/>
            <p:cNvSpPr/>
            <p:nvPr/>
          </p:nvSpPr>
          <p:spPr bwMode="auto">
            <a:xfrm>
              <a:off x="3452290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3-2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1" name="직사각형 140"/>
            <p:cNvSpPr/>
            <p:nvPr/>
          </p:nvSpPr>
          <p:spPr bwMode="auto">
            <a:xfrm>
              <a:off x="5019625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4-2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2" name="직사각형 141"/>
            <p:cNvSpPr/>
            <p:nvPr/>
          </p:nvSpPr>
          <p:spPr bwMode="auto">
            <a:xfrm>
              <a:off x="6586960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5-2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3" name="직사각형 142"/>
            <p:cNvSpPr/>
            <p:nvPr/>
          </p:nvSpPr>
          <p:spPr bwMode="auto">
            <a:xfrm>
              <a:off x="8154295" y="393571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6-2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44" name="직선 화살표 연결선 143"/>
            <p:cNvCxnSpPr/>
            <p:nvPr/>
          </p:nvCxnSpPr>
          <p:spPr bwMode="auto">
            <a:xfrm>
              <a:off x="2606565" y="5045193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cxnSp>
          <p:nvCxnSpPr>
            <p:cNvPr id="145" name="직선 화살표 연결선 144"/>
            <p:cNvCxnSpPr/>
            <p:nvPr/>
          </p:nvCxnSpPr>
          <p:spPr bwMode="auto">
            <a:xfrm>
              <a:off x="5741235" y="5045193"/>
              <a:ext cx="0" cy="146679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triangle" w="sm" len="sm"/>
            </a:ln>
            <a:effectLst/>
          </p:spPr>
        </p:cxnSp>
        <p:sp>
          <p:nvSpPr>
            <p:cNvPr id="146" name="직사각형 145"/>
            <p:cNvSpPr/>
            <p:nvPr/>
          </p:nvSpPr>
          <p:spPr bwMode="auto">
            <a:xfrm>
              <a:off x="1884955" y="519189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2-3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7" name="직사각형 146"/>
            <p:cNvSpPr/>
            <p:nvPr/>
          </p:nvSpPr>
          <p:spPr bwMode="auto">
            <a:xfrm>
              <a:off x="5019625" y="519189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4-3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8" name="직사각형 147"/>
            <p:cNvSpPr/>
            <p:nvPr/>
          </p:nvSpPr>
          <p:spPr bwMode="auto">
            <a:xfrm>
              <a:off x="8154295" y="5191899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6-3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9" name="Rectangle 11"/>
            <p:cNvSpPr>
              <a:spLocks noChangeArrowheads="1"/>
            </p:cNvSpPr>
            <p:nvPr>
              <p:custDataLst>
                <p:tags r:id="rId31"/>
              </p:custDataLst>
            </p:nvPr>
          </p:nvSpPr>
          <p:spPr bwMode="blackWhite">
            <a:xfrm>
              <a:off x="6586960" y="5193588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9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최종 전환 준비</a:t>
              </a:r>
              <a:endParaRPr lang="en-US" altLang="ko-KR" sz="9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0" name="Rectangle 11"/>
            <p:cNvSpPr>
              <a:spLocks noChangeArrowheads="1"/>
            </p:cNvSpPr>
            <p:nvPr>
              <p:custDataLst>
                <p:tags r:id="rId32"/>
              </p:custDataLst>
            </p:nvPr>
          </p:nvSpPr>
          <p:spPr bwMode="blackWhite">
            <a:xfrm>
              <a:off x="6586960" y="5583089"/>
              <a:ext cx="1443220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최종 이행 시나리오 작성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85725" indent="-85725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최종 전환 환경 구축</a:t>
              </a:r>
              <a:endPara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1" name="직사각형 150"/>
            <p:cNvSpPr/>
            <p:nvPr/>
          </p:nvSpPr>
          <p:spPr bwMode="auto">
            <a:xfrm>
              <a:off x="6586960" y="5193588"/>
              <a:ext cx="180000" cy="111765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 w="3175" cap="flat" cmpd="sng" algn="ctr">
              <a:solidFill>
                <a:schemeClr val="accent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marL="85725" indent="-85725" algn="ctr">
                <a:buClr>
                  <a:prstClr val="black"/>
                </a:buClr>
                <a:buSzPct val="90000"/>
              </a:pPr>
              <a:r>
                <a:rPr lang="en-US" altLang="ko-KR" sz="700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5-3</a:t>
              </a:r>
              <a:endParaRPr lang="ko-KR" altLang="en-US" sz="7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0737682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마이그레이션 계획단계</a:t>
            </a:r>
            <a:r>
              <a:rPr lang="en-US" altLang="ko-KR" dirty="0"/>
              <a:t>,</a:t>
            </a:r>
            <a:r>
              <a:rPr lang="ko-KR" altLang="en-US" dirty="0"/>
              <a:t> 분석단계 상세 절차를 아래와 같이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3.8.2 </a:t>
            </a:r>
            <a:r>
              <a:rPr lang="ko-KR" altLang="en-US" sz="1800"/>
              <a:t>마이그레이션 절차</a:t>
            </a:r>
            <a:r>
              <a:rPr lang="en-US" altLang="ko-KR" sz="1800" smtClean="0"/>
              <a:t>(2/4</a:t>
            </a:r>
            <a:r>
              <a:rPr lang="en-US" altLang="ko-KR" sz="180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endParaRPr lang="en-US" altLang="ko-KR" dirty="0"/>
          </a:p>
        </p:txBody>
      </p:sp>
      <p:grpSp>
        <p:nvGrpSpPr>
          <p:cNvPr id="5" name="그룹 44"/>
          <p:cNvGrpSpPr/>
          <p:nvPr/>
        </p:nvGrpSpPr>
        <p:grpSpPr>
          <a:xfrm>
            <a:off x="344489" y="1341869"/>
            <a:ext cx="9217024" cy="4966856"/>
            <a:chOff x="354519" y="1592796"/>
            <a:chExt cx="6594107" cy="4966856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마이그레이션 상세 절차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(1/3)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64282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13" name="표 12"/>
          <p:cNvGraphicFramePr>
            <a:graphicFrameLocks noGrp="1"/>
          </p:cNvGraphicFramePr>
          <p:nvPr>
            <p:extLst/>
          </p:nvPr>
        </p:nvGraphicFramePr>
        <p:xfrm>
          <a:off x="415925" y="1761192"/>
          <a:ext cx="9073579" cy="44761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5608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9275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08012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54461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11282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액티비티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 주체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상세 업무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9219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계획단계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050" b="1" u="none" strike="noStrike" dirty="0"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계획 수립</a:t>
                      </a:r>
                      <a:endParaRPr lang="en-US" sz="900" b="1" i="0" u="none" strike="noStrike" dirty="0">
                        <a:solidFill>
                          <a:schemeClr val="tx2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범위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정의 및 마이그레이션 우선순위 결정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과업 전체 태스크를 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WBS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작성하고 일정 수립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마이그레이션을 추진할 추진 체계 수립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전환단계 일정은 시간단위 일정 수립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태스크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수행자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시간 일정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))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비상 상황에 대비한 비상복구계획 수립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984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코레일테크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계획에 대한 검토 및 승인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762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522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팀 구성 및 업무 배정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추진 조직 </a:t>
                      </a:r>
                      <a:r>
                        <a:rPr lang="ko-KR" altLang="en-US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구성</a:t>
                      </a:r>
                      <a:r>
                        <a:rPr lang="en-US" altLang="ko-KR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r>
                        <a:rPr lang="en-US" altLang="ko-KR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전체의 추진조직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R&amp;R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명확하게 정의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조직별 실제 수행 인원 배정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8471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분석단계</a:t>
                      </a: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요구분석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코레일테크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요구사항 제공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(RFP,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제안서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ISP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사업 수행 보고서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시스템기반부 의견 등 참조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ko-KR" altLang="en-US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567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요구사항 분석 인터뷰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데이터 정의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lvl="1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대상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DB,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테이블 및 데이터 형식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이미지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첨부파일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최대 건수 등 전환 데이터에 대한 식별 및 전환 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ID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부여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lvl="1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 오류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정합성 오류 등 일치성 기준 등 데이터 정비 기준 정의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lvl="1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AS-IS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모델과 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TO-BE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모델을 통한 변환 방안 수립</a:t>
                      </a:r>
                      <a:endParaRPr lang="en-US" altLang="ko-KR" sz="900" u="none" strike="noStrike" kern="1200" baseline="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567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 기준 수립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데이터 검증 기준 수립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완전성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정합성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 측면의 검증 기준을 수립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 구성 인자 도출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ID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부여된 전환 데이터별 검증 기준 수립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 기준을 체크리스트로 문서화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984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코레일테크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데이터 검증 기준 검토 및 승인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4859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환경 구축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(HW,SW,NW)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환경 정의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목표 성능 정의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가용 시스템 정의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요구사항 정의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HW, SW, NW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목록 및 상세 사양 문서화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설치 시 발생 가능한 문제점 도출 분석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(HW, SW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구성 검증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 체계 검증 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환경 설치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HW, SW, NW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설치 및 구성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목표 서버 및 개발 서버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265112" marR="0" lvl="1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어플리케이션 구동 환경 설정</a:t>
                      </a:r>
                    </a:p>
                  </a:txBody>
                  <a:tcPr marL="36000" marR="36000" marT="18000" marB="18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직사각형 13"/>
          <p:cNvSpPr/>
          <p:nvPr/>
        </p:nvSpPr>
        <p:spPr bwMode="auto">
          <a:xfrm>
            <a:off x="434466" y="2562259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직사각형 14"/>
          <p:cNvSpPr/>
          <p:nvPr/>
        </p:nvSpPr>
        <p:spPr bwMode="auto">
          <a:xfrm>
            <a:off x="1207995" y="2313977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직사각형 15"/>
          <p:cNvSpPr/>
          <p:nvPr/>
        </p:nvSpPr>
        <p:spPr bwMode="auto">
          <a:xfrm>
            <a:off x="1207995" y="2856651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1-2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직사각형 16"/>
          <p:cNvSpPr/>
          <p:nvPr/>
        </p:nvSpPr>
        <p:spPr bwMode="auto">
          <a:xfrm>
            <a:off x="434466" y="4704814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직사각형 17"/>
          <p:cNvSpPr/>
          <p:nvPr/>
        </p:nvSpPr>
        <p:spPr bwMode="auto">
          <a:xfrm>
            <a:off x="1207995" y="3735804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1207995" y="4740916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2-2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직사각형 19"/>
          <p:cNvSpPr/>
          <p:nvPr/>
        </p:nvSpPr>
        <p:spPr bwMode="auto">
          <a:xfrm>
            <a:off x="1207995" y="5625264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2-3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154995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마이그레이션 설계단계</a:t>
            </a:r>
            <a:r>
              <a:rPr lang="en-US" altLang="ko-KR" dirty="0"/>
              <a:t>,</a:t>
            </a:r>
            <a:r>
              <a:rPr lang="ko-KR" altLang="en-US" dirty="0"/>
              <a:t> 개발단계 상세 절차를 아래와 같이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3.8.2 </a:t>
            </a:r>
            <a:r>
              <a:rPr lang="ko-KR" altLang="en-US" sz="1800"/>
              <a:t>마이그레이션 절차</a:t>
            </a:r>
            <a:r>
              <a:rPr lang="en-US" altLang="ko-KR" sz="1800" smtClean="0"/>
              <a:t>(3/4</a:t>
            </a:r>
            <a:r>
              <a:rPr lang="en-US" altLang="ko-KR" sz="180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</a:t>
            </a:r>
            <a:r>
              <a:rPr lang="ko-KR" altLang="en-US" smtClean="0"/>
              <a:t>방안</a:t>
            </a:r>
            <a:r>
              <a:rPr lang="ko-KR" altLang="en-US" spc="-150" smtClean="0"/>
              <a:t> </a:t>
            </a:r>
            <a:endParaRPr lang="en-US" altLang="ko-KR" dirty="0"/>
          </a:p>
        </p:txBody>
      </p:sp>
      <p:grpSp>
        <p:nvGrpSpPr>
          <p:cNvPr id="5" name="그룹 44"/>
          <p:cNvGrpSpPr/>
          <p:nvPr/>
        </p:nvGrpSpPr>
        <p:grpSpPr>
          <a:xfrm>
            <a:off x="344489" y="1341869"/>
            <a:ext cx="9217024" cy="4966856"/>
            <a:chOff x="354519" y="1592796"/>
            <a:chExt cx="6594107" cy="4966856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마이그레이션 상세 절차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(2/3)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64282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1" name="표 20"/>
          <p:cNvGraphicFramePr>
            <a:graphicFrameLocks noGrp="1"/>
          </p:cNvGraphicFramePr>
          <p:nvPr>
            <p:extLst/>
          </p:nvPr>
        </p:nvGraphicFramePr>
        <p:xfrm>
          <a:off x="430340" y="1772816"/>
          <a:ext cx="9059164" cy="4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5608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2236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659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1474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2376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액티비티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 주체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상세 업무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6928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설계단계</a:t>
                      </a: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정비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 검증 기준 수립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 프로그램 개발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 실시 및 검증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107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 결과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591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설계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흐름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설계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변호나 및 적재 흐름도 설계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AS-IS VS. TO-BE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-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 매핑 정의서 작성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 변환 테이블 작성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프로그램 설계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소스 데이터의 추출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변환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가공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적재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및 업무 비즈니스 흐름을 반영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895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indent="-87313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설계 산출물에 대한 검토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6928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개발단계</a:t>
                      </a: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sz="1050" b="1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ETL </a:t>
                      </a: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프로그램 개발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ETL(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추출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적재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프로그램 개발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전환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Flow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및 스케줄 및 프로그램 목록 작성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속도 개선을 </a:t>
                      </a:r>
                      <a:r>
                        <a:rPr lang="ko-KR" altLang="en-US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위한 </a:t>
                      </a: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ETL</a:t>
                      </a:r>
                      <a:r>
                        <a:rPr lang="ko-KR" altLang="en-US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프로그램 튜닝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794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단위 시험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ETL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프로그램 단위 시험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단위시험 결과 검증 및 프로그램 보완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4794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시험계획 수립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 계획 수립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 케이스 및 시나리오 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895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시험 계획 검토 및 승인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2" name="직사각형 21"/>
          <p:cNvSpPr/>
          <p:nvPr/>
        </p:nvSpPr>
        <p:spPr bwMode="auto">
          <a:xfrm>
            <a:off x="453872" y="2996563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직사각형 22"/>
          <p:cNvSpPr/>
          <p:nvPr/>
        </p:nvSpPr>
        <p:spPr bwMode="auto">
          <a:xfrm>
            <a:off x="1231935" y="2409627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453872" y="5016376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" name="직사각형 24"/>
          <p:cNvSpPr/>
          <p:nvPr/>
        </p:nvSpPr>
        <p:spPr bwMode="auto">
          <a:xfrm>
            <a:off x="1231935" y="3477729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3-2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/>
          <p:cNvSpPr/>
          <p:nvPr/>
        </p:nvSpPr>
        <p:spPr bwMode="auto">
          <a:xfrm>
            <a:off x="1231935" y="4377638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1231935" y="4963418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4-2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직사각형 27"/>
          <p:cNvSpPr/>
          <p:nvPr/>
        </p:nvSpPr>
        <p:spPr bwMode="auto">
          <a:xfrm>
            <a:off x="1231935" y="5594702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4-3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5836483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마이그레이션 시험단계</a:t>
            </a:r>
            <a:r>
              <a:rPr lang="en-US" altLang="ko-KR" dirty="0"/>
              <a:t>,</a:t>
            </a:r>
            <a:r>
              <a:rPr lang="ko-KR" altLang="en-US" dirty="0"/>
              <a:t> 전환단계 상세 절차를 아래와 같이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3.8.2 </a:t>
            </a:r>
            <a:r>
              <a:rPr lang="ko-KR" altLang="en-US" sz="1800"/>
              <a:t>마이그레이션 절차</a:t>
            </a:r>
            <a:r>
              <a:rPr lang="en-US" altLang="ko-KR" sz="1800" smtClean="0"/>
              <a:t>(4/4</a:t>
            </a:r>
            <a:r>
              <a:rPr lang="en-US" altLang="ko-KR" sz="180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44"/>
          <p:cNvGrpSpPr/>
          <p:nvPr/>
        </p:nvGrpSpPr>
        <p:grpSpPr>
          <a:xfrm>
            <a:off x="344489" y="1341869"/>
            <a:ext cx="9217024" cy="4966856"/>
            <a:chOff x="354519" y="1592796"/>
            <a:chExt cx="6594107" cy="4966856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마이그레이션 상세 절차</a:t>
              </a:r>
              <a:r>
                <a:rPr lang="en-US" altLang="ko-KR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(3/3)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64282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415533" y="1772816"/>
          <a:ext cx="9073971" cy="4320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5608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7220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1612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2955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2413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단계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액티비티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 주체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상세 업무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399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시험단계</a:t>
                      </a: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en-US" altLang="ko-KR" sz="900" u="none" strike="noStrike" kern="1200" baseline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 실시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(N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회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시험 결과서 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868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</a:t>
                      </a:r>
                      <a:r>
                        <a:rPr lang="en-US" altLang="ko-KR" sz="1050" b="1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050" b="1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실시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시험 결과 검증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완전성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정합성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건수 검증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합 검증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샘플링 검증 등 대상별 적합한 검증 방법으로 검증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이행 테스트 결과 보완 및 성능 튜닝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39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 전환 준비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 이행 시나리오 작성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 전환 환경 구축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3996"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전환 단계</a:t>
                      </a:r>
                    </a:p>
                  </a:txBody>
                  <a:tcPr marL="144000" marR="6522" marT="6522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 전환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사전 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Wingdings" panose="05000000000000000000" pitchFamily="2" charset="2"/>
                        </a:rPr>
                        <a:t>본 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Wingdings" panose="05000000000000000000" pitchFamily="2" charset="2"/>
                        </a:rPr>
                        <a:t>사후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en-US" altLang="ko-KR" sz="900" u="none" strike="noStrike" kern="1200" baseline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AS-IS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백업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39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en-US" altLang="ko-KR" sz="900" u="none" strike="noStrike" kern="1200" baseline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사전 전환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결과 검증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221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en-US" altLang="ko-KR" sz="900" u="none" strike="noStrike" kern="1200" baseline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본 전환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결과 검증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39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900" u="none" strike="noStrike" kern="120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lang="en-US" altLang="ko-KR" sz="900" u="none" strike="noStrike" kern="1200" baseline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u="none" strike="noStrike" kern="1200" baseline="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사후 전환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전환 결과 검증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399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가동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대상 시스템 가동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문제 발생 시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비상복구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258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252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가동 결과 검증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73996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6522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50" b="1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경영정보시스템</a:t>
                      </a:r>
                      <a: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ko-KR" altLang="en-US" sz="105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안정화 운영</a:t>
                      </a:r>
                      <a:endParaRPr lang="en-US" sz="1050" b="1" u="none" strike="noStrike" kern="1200" dirty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216000" marR="6522" marT="6522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TO-BE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 운영상태 집중 모니터링 실시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모니터링 결과 문제점 보완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2587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smtClean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코레일테크</a:t>
                      </a:r>
                      <a:endParaRPr lang="ko-KR" altLang="en-US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안정화 운영 결과 검증 및 확인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최종 승인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ko-KR" altLang="en-US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30" name="직사각형 29"/>
          <p:cNvSpPr/>
          <p:nvPr/>
        </p:nvSpPr>
        <p:spPr bwMode="auto">
          <a:xfrm>
            <a:off x="432487" y="2554798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/>
          <p:cNvSpPr/>
          <p:nvPr/>
        </p:nvSpPr>
        <p:spPr bwMode="auto">
          <a:xfrm>
            <a:off x="1198078" y="2551381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5-3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/>
          <p:cNvSpPr/>
          <p:nvPr/>
        </p:nvSpPr>
        <p:spPr bwMode="auto">
          <a:xfrm>
            <a:off x="432487" y="4594446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/>
          <p:cNvSpPr/>
          <p:nvPr/>
        </p:nvSpPr>
        <p:spPr bwMode="auto">
          <a:xfrm>
            <a:off x="1198078" y="2133579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/>
          <p:cNvSpPr/>
          <p:nvPr/>
        </p:nvSpPr>
        <p:spPr bwMode="auto">
          <a:xfrm>
            <a:off x="1198078" y="2986846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5-3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1198078" y="3917735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6-1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1198078" y="5045762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6-2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1198078" y="5652622"/>
            <a:ext cx="180000" cy="180000"/>
          </a:xfrm>
          <a:prstGeom prst="rect">
            <a:avLst/>
          </a:prstGeom>
          <a:solidFill>
            <a:schemeClr val="accent2">
              <a:lumMod val="50000"/>
            </a:schemeClr>
          </a:solidFill>
          <a:ln w="3175" cap="flat" cmpd="sng" algn="ctr">
            <a:solidFill>
              <a:schemeClr val="accent2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en-US" altLang="ko-KR" sz="800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rPr>
              <a:t>6-3</a:t>
            </a:r>
            <a:endParaRPr lang="ko-KR" altLang="en-US" sz="800" spc="-50" dirty="0">
              <a:solidFill>
                <a:prstClr val="white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1743372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ko-KR" altLang="en-US" dirty="0"/>
              <a:t>사전 전환 시 변경 가능성이 작은 데이터</a:t>
            </a:r>
            <a:r>
              <a:rPr lang="en-US" altLang="ko-KR" dirty="0"/>
              <a:t>, </a:t>
            </a:r>
            <a:r>
              <a:rPr lang="ko-KR" altLang="en-US" dirty="0"/>
              <a:t>본 전환 시 변경 가능성이 높은 데이터</a:t>
            </a:r>
            <a:r>
              <a:rPr lang="en-US" altLang="ko-KR" dirty="0"/>
              <a:t>, </a:t>
            </a:r>
            <a:r>
              <a:rPr lang="ko-KR" altLang="en-US" dirty="0"/>
              <a:t>사후 전환 시 업무 영향이 낮은 데이터 순으로 단계별 전환을 실시하여 본 전환 시 최소한의 데이터만 짧은 시간에 전환할 수 있도록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3.8.3 </a:t>
            </a:r>
            <a:r>
              <a:rPr lang="ko-KR" altLang="en-US" sz="1800" smtClean="0"/>
              <a:t>데이터 </a:t>
            </a:r>
            <a:r>
              <a:rPr lang="ko-KR" altLang="en-US" sz="1800" dirty="0"/>
              <a:t>전환 우선순위 선정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4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46" name="직사각형 45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전환 우선순위 선정</a:t>
              </a:r>
            </a:p>
          </p:txBody>
        </p:sp>
        <p:sp>
          <p:nvSpPr>
            <p:cNvPr id="47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01" name="오른쪽 화살표 100"/>
          <p:cNvSpPr/>
          <p:nvPr/>
        </p:nvSpPr>
        <p:spPr bwMode="auto">
          <a:xfrm>
            <a:off x="2381119" y="3762561"/>
            <a:ext cx="7092000" cy="121840"/>
          </a:xfrm>
          <a:prstGeom prst="rightArrow">
            <a:avLst/>
          </a:prstGeom>
          <a:solidFill>
            <a:schemeClr val="accent2">
              <a:lumMod val="9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" name="직사각형 101"/>
          <p:cNvSpPr/>
          <p:nvPr/>
        </p:nvSpPr>
        <p:spPr bwMode="auto">
          <a:xfrm>
            <a:off x="403282" y="3501008"/>
            <a:ext cx="9086793" cy="2772792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직사각형 102"/>
          <p:cNvSpPr/>
          <p:nvPr/>
        </p:nvSpPr>
        <p:spPr bwMode="auto">
          <a:xfrm>
            <a:off x="403282" y="2254209"/>
            <a:ext cx="9086793" cy="91440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직사각형 103"/>
          <p:cNvSpPr/>
          <p:nvPr/>
        </p:nvSpPr>
        <p:spPr bwMode="auto">
          <a:xfrm>
            <a:off x="1015063" y="2632782"/>
            <a:ext cx="2265709" cy="49111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본 전환 시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AS-IS DB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다운 타임을 최소화하여 </a:t>
            </a:r>
            <a:r>
              <a:rPr lang="ko-KR" altLang="en-US" sz="9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현업 업무 중단 시간 최소화</a:t>
            </a:r>
          </a:p>
        </p:txBody>
      </p:sp>
      <p:sp>
        <p:nvSpPr>
          <p:cNvPr id="105" name="직사각형 104"/>
          <p:cNvSpPr/>
          <p:nvPr/>
        </p:nvSpPr>
        <p:spPr bwMode="auto">
          <a:xfrm>
            <a:off x="3933930" y="2632782"/>
            <a:ext cx="2265709" cy="49111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단계별 전환과 단계별 전환데이터 검증으로  충분한 데이터 검증시간을 확보하고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검증 기준에 부합하는 검증 실시</a:t>
            </a:r>
          </a:p>
        </p:txBody>
      </p:sp>
      <p:sp>
        <p:nvSpPr>
          <p:cNvPr id="106" name="직사각형 105"/>
          <p:cNvSpPr/>
          <p:nvPr/>
        </p:nvSpPr>
        <p:spPr bwMode="auto">
          <a:xfrm>
            <a:off x="6814250" y="2632782"/>
            <a:ext cx="2265709" cy="491113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전환범위 전체 데이터를 우선순위에 따라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분리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단계적 전환으로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b="1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누락 없는 완전한 전환 실시</a:t>
            </a:r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1015063" y="2312876"/>
            <a:ext cx="2265709" cy="28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9050">
            <a:solidFill>
              <a:schemeClr val="accent2">
                <a:lumMod val="90000"/>
              </a:schemeClr>
            </a:solidFill>
            <a:miter lim="800000"/>
          </a:ln>
        </p:spPr>
        <p:txBody>
          <a:bodyPr vert="horz" wrap="square" lIns="0" tIns="0" rIns="0" bIns="0" anchor="ctr">
            <a:noAutofit/>
          </a:bodyPr>
          <a:lstStyle/>
          <a:p>
            <a:pPr algn="ctr"/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다운타임 최소화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933930" y="2312876"/>
            <a:ext cx="2265709" cy="28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9050">
            <a:solidFill>
              <a:schemeClr val="accent2">
                <a:lumMod val="90000"/>
              </a:schemeClr>
            </a:solidFill>
            <a:miter lim="800000"/>
          </a:ln>
        </p:spPr>
        <p:txBody>
          <a:bodyPr vert="horz" wrap="square" lIns="0" tIns="0" rIns="0" bIns="0" anchor="ctr">
            <a:noAutofit/>
          </a:bodyPr>
          <a:lstStyle/>
          <a:p>
            <a:pPr algn="ctr"/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충분한 품질검증 시간 확보</a:t>
            </a: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814250" y="2312876"/>
            <a:ext cx="2265709" cy="28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9050">
            <a:solidFill>
              <a:schemeClr val="accent2">
                <a:lumMod val="90000"/>
              </a:schemeClr>
            </a:solidFill>
            <a:miter lim="800000"/>
          </a:ln>
        </p:spPr>
        <p:txBody>
          <a:bodyPr vert="horz" wrap="square" lIns="0" tIns="0" rIns="0" bIns="0" anchor="ctr">
            <a:noAutofit/>
          </a:bodyPr>
          <a:lstStyle/>
          <a:p>
            <a:pPr algn="ctr"/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데이터의 완전한 전환</a:t>
            </a:r>
          </a:p>
        </p:txBody>
      </p:sp>
      <p:cxnSp>
        <p:nvCxnSpPr>
          <p:cNvPr id="110" name="직선 연결선 109"/>
          <p:cNvCxnSpPr>
            <a:stCxn id="107" idx="3"/>
            <a:endCxn id="108" idx="1"/>
          </p:cNvCxnSpPr>
          <p:nvPr/>
        </p:nvCxnSpPr>
        <p:spPr bwMode="auto">
          <a:xfrm>
            <a:off x="3280772" y="2456876"/>
            <a:ext cx="653158" cy="0"/>
          </a:xfrm>
          <a:prstGeom prst="line">
            <a:avLst/>
          </a:prstGeom>
          <a:solidFill>
            <a:schemeClr val="accent3"/>
          </a:solidFill>
          <a:ln w="190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cxnSp>
        <p:nvCxnSpPr>
          <p:cNvPr id="111" name="직선 연결선 110"/>
          <p:cNvCxnSpPr>
            <a:stCxn id="108" idx="3"/>
            <a:endCxn id="109" idx="1"/>
          </p:cNvCxnSpPr>
          <p:nvPr/>
        </p:nvCxnSpPr>
        <p:spPr bwMode="auto">
          <a:xfrm>
            <a:off x="6199639" y="2456876"/>
            <a:ext cx="614611" cy="0"/>
          </a:xfrm>
          <a:prstGeom prst="line">
            <a:avLst/>
          </a:prstGeom>
          <a:solidFill>
            <a:schemeClr val="accent3"/>
          </a:solidFill>
          <a:ln w="190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</p:spPr>
      </p:cxnSp>
      <p:sp>
        <p:nvSpPr>
          <p:cNvPr id="112" name="직사각형 111"/>
          <p:cNvSpPr/>
          <p:nvPr/>
        </p:nvSpPr>
        <p:spPr>
          <a:xfrm>
            <a:off x="433509" y="1971904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전환 우선순위 선정 원칙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3" name="직사각형 112"/>
          <p:cNvSpPr/>
          <p:nvPr/>
        </p:nvSpPr>
        <p:spPr>
          <a:xfrm>
            <a:off x="433509" y="3190667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유형 별 전환 우선순위 선정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5" name="갈매기형 수장 114"/>
          <p:cNvSpPr/>
          <p:nvPr/>
        </p:nvSpPr>
        <p:spPr bwMode="auto">
          <a:xfrm>
            <a:off x="6334597" y="3592189"/>
            <a:ext cx="2389604" cy="446008"/>
          </a:xfrm>
          <a:prstGeom prst="chevron">
            <a:avLst>
              <a:gd name="adj" fmla="val 38667"/>
            </a:avLst>
          </a:prstGeom>
          <a:solidFill>
            <a:schemeClr val="accent1"/>
          </a:solidFill>
          <a:ln w="6350">
            <a:noFill/>
            <a:miter lim="800000"/>
            <a:headEnd/>
            <a:tailEnd/>
          </a:ln>
          <a:effectLst>
            <a:outerShdw blurRad="25400" dist="12700" dir="2700000" algn="tl" rotWithShape="0">
              <a:prstClr val="black">
                <a:alpha val="51000"/>
              </a:prstClr>
            </a:outerShdw>
          </a:effectLst>
        </p:spPr>
        <p:txBody>
          <a:bodyPr wrap="none" lIns="0" tIns="0" rIns="0" bIns="0" anchor="ctr"/>
          <a:lstStyle/>
          <a:p>
            <a:pPr algn="ctr" defTabSz="990929">
              <a:lnSpc>
                <a:spcPct val="110000"/>
              </a:lnSpc>
              <a:buClr>
                <a:srgbClr val="3271AA"/>
              </a:buClr>
              <a:buSzPct val="140000"/>
              <a:tabLst>
                <a:tab pos="739103" algn="l"/>
              </a:tabLst>
              <a:defRPr/>
            </a:pPr>
            <a:r>
              <a:rPr lang="ko-KR" altLang="en-US" sz="14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sym typeface="Monotype Sorts"/>
              </a:rPr>
              <a:t>사후 전환</a:t>
            </a:r>
          </a:p>
        </p:txBody>
      </p:sp>
      <p:grpSp>
        <p:nvGrpSpPr>
          <p:cNvPr id="6" name="그룹 115"/>
          <p:cNvGrpSpPr/>
          <p:nvPr/>
        </p:nvGrpSpPr>
        <p:grpSpPr>
          <a:xfrm>
            <a:off x="6392695" y="4722634"/>
            <a:ext cx="2331505" cy="170038"/>
            <a:chOff x="7022835" y="4417884"/>
            <a:chExt cx="2331505" cy="170038"/>
          </a:xfrm>
        </p:grpSpPr>
        <p:cxnSp>
          <p:nvCxnSpPr>
            <p:cNvPr id="123" name="직선 연결선 122"/>
            <p:cNvCxnSpPr/>
            <p:nvPr/>
          </p:nvCxnSpPr>
          <p:spPr bwMode="auto">
            <a:xfrm rot="5400000">
              <a:off x="8114979" y="4513050"/>
              <a:ext cx="149744" cy="0"/>
            </a:xfrm>
            <a:prstGeom prst="line">
              <a:avLst/>
            </a:prstGeom>
            <a:ln w="158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 bwMode="auto">
            <a:xfrm>
              <a:off x="7022835" y="4442497"/>
              <a:ext cx="2331505" cy="0"/>
            </a:xfrm>
            <a:prstGeom prst="line">
              <a:avLst/>
            </a:prstGeom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타원 124"/>
            <p:cNvSpPr/>
            <p:nvPr/>
          </p:nvSpPr>
          <p:spPr bwMode="auto">
            <a:xfrm rot="5400000">
              <a:off x="8153212" y="4417884"/>
              <a:ext cx="72000" cy="7200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bg1">
                  <a:lumMod val="65000"/>
                </a:schemeClr>
              </a:solidFill>
              <a:miter lim="800000"/>
              <a:headEnd/>
              <a:tailE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1633" dirty="0">
                <a:solidFill>
                  <a:srgbClr val="777777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17" name="직사각형 116"/>
          <p:cNvSpPr/>
          <p:nvPr/>
        </p:nvSpPr>
        <p:spPr bwMode="auto">
          <a:xfrm>
            <a:off x="6613753" y="4401404"/>
            <a:ext cx="1902025" cy="287736"/>
          </a:xfrm>
          <a:prstGeom prst="rect">
            <a:avLst/>
          </a:prstGeom>
          <a:solidFill>
            <a:schemeClr val="accent1"/>
          </a:solidFill>
          <a:ln w="6350">
            <a:noFill/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 defTabSz="945990">
              <a:lnSpc>
                <a:spcPct val="110000"/>
              </a:lnSpc>
              <a:buClr>
                <a:srgbClr val="3271AA"/>
              </a:buClr>
              <a:buSzPct val="140000"/>
              <a:tabLst>
                <a:tab pos="5123031" algn="l"/>
              </a:tabLst>
              <a:defRPr/>
            </a:pPr>
            <a:r>
              <a:rPr lang="ko-KR" altLang="en-US" sz="11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대량</a:t>
            </a:r>
            <a:r>
              <a:rPr lang="ko-KR" altLang="en-US" sz="10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 전환</a:t>
            </a:r>
          </a:p>
        </p:txBody>
      </p:sp>
      <p:sp>
        <p:nvSpPr>
          <p:cNvPr id="118" name="직사각형 117"/>
          <p:cNvSpPr/>
          <p:nvPr/>
        </p:nvSpPr>
        <p:spPr bwMode="auto">
          <a:xfrm>
            <a:off x="6613753" y="4101543"/>
            <a:ext cx="1902025" cy="26157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업무 영향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낮은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</a:t>
            </a:r>
          </a:p>
        </p:txBody>
      </p:sp>
      <p:sp>
        <p:nvSpPr>
          <p:cNvPr id="119" name="Rectangle 60"/>
          <p:cNvSpPr>
            <a:spLocks noChangeArrowheads="1"/>
          </p:cNvSpPr>
          <p:nvPr/>
        </p:nvSpPr>
        <p:spPr bwMode="auto">
          <a:xfrm>
            <a:off x="6387642" y="4841529"/>
            <a:ext cx="2339083" cy="13944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prstDash val="sysDot"/>
            <a:miter lim="800000"/>
            <a:headEnd/>
            <a:tailEnd/>
          </a:ln>
        </p:spPr>
        <p:txBody>
          <a:bodyPr wrap="none"/>
          <a:lstStyle/>
          <a:p>
            <a:pPr marL="171450" indent="-171450" defTabSz="945990">
              <a:lnSpc>
                <a:spcPct val="110000"/>
              </a:lnSpc>
              <a:buClr>
                <a:srgbClr val="000000"/>
              </a:buClr>
              <a:buSzPct val="140000"/>
              <a:tabLst>
                <a:tab pos="5123031" algn="l"/>
              </a:tabLst>
            </a:pPr>
            <a:endParaRPr lang="en-US" altLang="ko-KR" sz="907" dirty="0">
              <a:solidFill>
                <a:prstClr val="black">
                  <a:lumMod val="85000"/>
                  <a:lumOff val="15000"/>
                </a:prstClr>
              </a:solidFill>
              <a:latin typeface="맑은 고딕" pitchFamily="50" charset="-127"/>
              <a:ea typeface="맑은 고딕" pitchFamily="50" charset="-127"/>
              <a:cs typeface="Arial" panose="020B0604020202020204" pitchFamily="34" charset="0"/>
              <a:sym typeface="Monotype Sorts"/>
            </a:endParaRPr>
          </a:p>
        </p:txBody>
      </p:sp>
      <p:grpSp>
        <p:nvGrpSpPr>
          <p:cNvPr id="7" name="그룹 119"/>
          <p:cNvGrpSpPr/>
          <p:nvPr/>
        </p:nvGrpSpPr>
        <p:grpSpPr>
          <a:xfrm>
            <a:off x="6460389" y="4904553"/>
            <a:ext cx="2203234" cy="1260723"/>
            <a:chOff x="6938363" y="4904553"/>
            <a:chExt cx="2247519" cy="540643"/>
          </a:xfrm>
        </p:grpSpPr>
        <p:sp>
          <p:nvSpPr>
            <p:cNvPr id="121" name="직사각형 120"/>
            <p:cNvSpPr/>
            <p:nvPr/>
          </p:nvSpPr>
          <p:spPr bwMode="auto">
            <a:xfrm>
              <a:off x="6938363" y="4904553"/>
              <a:ext cx="2247519" cy="252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백업 데이터</a:t>
              </a:r>
            </a:p>
          </p:txBody>
        </p:sp>
        <p:sp>
          <p:nvSpPr>
            <p:cNvPr id="122" name="직사각형 121"/>
            <p:cNvSpPr/>
            <p:nvPr/>
          </p:nvSpPr>
          <p:spPr bwMode="auto">
            <a:xfrm>
              <a:off x="6938363" y="5193196"/>
              <a:ext cx="2247519" cy="252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로그 데이터</a:t>
              </a:r>
            </a:p>
          </p:txBody>
        </p:sp>
      </p:grpSp>
      <p:sp>
        <p:nvSpPr>
          <p:cNvPr id="127" name="갈매기형 수장 126"/>
          <p:cNvSpPr/>
          <p:nvPr/>
        </p:nvSpPr>
        <p:spPr bwMode="auto">
          <a:xfrm>
            <a:off x="477581" y="3592189"/>
            <a:ext cx="2329522" cy="446008"/>
          </a:xfrm>
          <a:prstGeom prst="chevron">
            <a:avLst>
              <a:gd name="adj" fmla="val 38667"/>
            </a:avLst>
          </a:prstGeom>
          <a:solidFill>
            <a:srgbClr val="D2DFEE"/>
          </a:solidFill>
          <a:ln w="6350">
            <a:solidFill>
              <a:srgbClr val="B4CBDE"/>
            </a:solidFill>
            <a:miter lim="800000"/>
            <a:headEnd/>
            <a:tailEnd/>
          </a:ln>
          <a:effectLst>
            <a:outerShdw blurRad="25400" dist="12700" dir="2700000" algn="tl" rotWithShape="0">
              <a:prstClr val="black">
                <a:alpha val="37000"/>
              </a:prstClr>
            </a:outerShdw>
          </a:effectLst>
        </p:spPr>
        <p:txBody>
          <a:bodyPr wrap="none" lIns="0" tIns="0" rIns="0" bIns="0" anchor="ctr"/>
          <a:lstStyle/>
          <a:p>
            <a:pPr algn="ctr" defTabSz="990929" eaLnBrk="0" latinLnBrk="0" hangingPunct="0">
              <a:lnSpc>
                <a:spcPct val="110000"/>
              </a:lnSpc>
              <a:buClr>
                <a:srgbClr val="3271AA"/>
              </a:buClr>
              <a:buSzPct val="140000"/>
              <a:tabLst>
                <a:tab pos="739103" algn="l"/>
              </a:tabLst>
              <a:defRPr/>
            </a:pPr>
            <a:r>
              <a:rPr lang="ko-KR" altLang="en-US" sz="14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sym typeface="Monotype Sorts"/>
              </a:rPr>
              <a:t>사전 전환</a:t>
            </a:r>
          </a:p>
        </p:txBody>
      </p:sp>
      <p:grpSp>
        <p:nvGrpSpPr>
          <p:cNvPr id="8" name="그룹 127"/>
          <p:cNvGrpSpPr/>
          <p:nvPr/>
        </p:nvGrpSpPr>
        <p:grpSpPr>
          <a:xfrm>
            <a:off x="477580" y="4716435"/>
            <a:ext cx="2329522" cy="176242"/>
            <a:chOff x="311293" y="4411685"/>
            <a:chExt cx="2329522" cy="176242"/>
          </a:xfrm>
        </p:grpSpPr>
        <p:cxnSp>
          <p:nvCxnSpPr>
            <p:cNvPr id="139" name="직선 연결선 138"/>
            <p:cNvCxnSpPr/>
            <p:nvPr/>
          </p:nvCxnSpPr>
          <p:spPr bwMode="auto">
            <a:xfrm rot="5400000">
              <a:off x="1399921" y="4513055"/>
              <a:ext cx="149744" cy="0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 bwMode="auto">
            <a:xfrm>
              <a:off x="311293" y="4442502"/>
              <a:ext cx="2329522" cy="0"/>
            </a:xfrm>
            <a:prstGeom prst="line">
              <a:avLst/>
            </a:prstGeom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타원 140"/>
            <p:cNvSpPr/>
            <p:nvPr/>
          </p:nvSpPr>
          <p:spPr bwMode="auto">
            <a:xfrm rot="5400000">
              <a:off x="1435039" y="4411401"/>
              <a:ext cx="71431" cy="7200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1633" dirty="0">
                <a:solidFill>
                  <a:srgbClr val="777777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29" name="직사각형 128"/>
          <p:cNvSpPr/>
          <p:nvPr/>
        </p:nvSpPr>
        <p:spPr bwMode="auto">
          <a:xfrm>
            <a:off x="687580" y="4401404"/>
            <a:ext cx="1902025" cy="287736"/>
          </a:xfrm>
          <a:prstGeom prst="rect">
            <a:avLst/>
          </a:prstGeom>
          <a:solidFill>
            <a:srgbClr val="D2DFEE"/>
          </a:solidFill>
          <a:ln w="6350">
            <a:solidFill>
              <a:srgbClr val="B4CBDE"/>
            </a:solidFill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 defTabSz="990929">
              <a:lnSpc>
                <a:spcPct val="110000"/>
              </a:lnSpc>
              <a:buClr>
                <a:srgbClr val="3271AA"/>
              </a:buClr>
              <a:buSzPct val="140000"/>
              <a:tabLst>
                <a:tab pos="739103" algn="l"/>
              </a:tabLst>
            </a:pPr>
            <a:r>
              <a:rPr lang="ko-KR" altLang="en-US" sz="11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대량</a:t>
            </a:r>
            <a:r>
              <a:rPr lang="ko-KR" altLang="en-US" sz="105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 전환</a:t>
            </a:r>
          </a:p>
        </p:txBody>
      </p:sp>
      <p:sp>
        <p:nvSpPr>
          <p:cNvPr id="130" name="직사각형 129"/>
          <p:cNvSpPr/>
          <p:nvPr/>
        </p:nvSpPr>
        <p:spPr bwMode="auto">
          <a:xfrm>
            <a:off x="687580" y="4101543"/>
            <a:ext cx="1902025" cy="26157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변경 가능성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작은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</a:t>
            </a:r>
          </a:p>
        </p:txBody>
      </p:sp>
      <p:sp>
        <p:nvSpPr>
          <p:cNvPr id="131" name="Rectangle 60"/>
          <p:cNvSpPr>
            <a:spLocks noChangeArrowheads="1"/>
          </p:cNvSpPr>
          <p:nvPr/>
        </p:nvSpPr>
        <p:spPr bwMode="auto">
          <a:xfrm>
            <a:off x="475059" y="4841534"/>
            <a:ext cx="2334569" cy="13944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prstDash val="sysDot"/>
            <a:miter lim="800000"/>
            <a:headEnd/>
            <a:tailEnd/>
          </a:ln>
        </p:spPr>
        <p:txBody>
          <a:bodyPr wrap="none"/>
          <a:lstStyle/>
          <a:p>
            <a:pPr marL="171450" indent="-171450" defTabSz="945990">
              <a:lnSpc>
                <a:spcPct val="110000"/>
              </a:lnSpc>
              <a:buClr>
                <a:srgbClr val="000000"/>
              </a:buClr>
              <a:buSzPct val="140000"/>
              <a:tabLst>
                <a:tab pos="5123031" algn="l"/>
              </a:tabLst>
              <a:defRPr/>
            </a:pPr>
            <a:endParaRPr lang="en-US" altLang="ko-KR" sz="907" dirty="0">
              <a:solidFill>
                <a:prstClr val="black">
                  <a:lumMod val="85000"/>
                  <a:lumOff val="15000"/>
                </a:prstClr>
              </a:solidFill>
              <a:latin typeface="맑은 고딕" pitchFamily="50" charset="-127"/>
              <a:ea typeface="맑은 고딕" pitchFamily="50" charset="-127"/>
              <a:cs typeface="Arial" panose="020B0604020202020204" pitchFamily="34" charset="0"/>
              <a:sym typeface="Monotype Sorts"/>
            </a:endParaRPr>
          </a:p>
        </p:txBody>
      </p:sp>
      <p:sp>
        <p:nvSpPr>
          <p:cNvPr id="132" name="직사각형 131"/>
          <p:cNvSpPr/>
          <p:nvPr/>
        </p:nvSpPr>
        <p:spPr bwMode="auto">
          <a:xfrm>
            <a:off x="536331" y="4908045"/>
            <a:ext cx="792000" cy="288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none" lIns="72000" tIns="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마스터 데이터</a:t>
            </a:r>
          </a:p>
        </p:txBody>
      </p:sp>
      <p:sp>
        <p:nvSpPr>
          <p:cNvPr id="133" name="직사각형 132"/>
          <p:cNvSpPr/>
          <p:nvPr/>
        </p:nvSpPr>
        <p:spPr bwMode="auto">
          <a:xfrm>
            <a:off x="1362683" y="4908045"/>
            <a:ext cx="684000" cy="288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none" lIns="72000" tIns="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코드 데이터</a:t>
            </a:r>
          </a:p>
        </p:txBody>
      </p:sp>
      <p:sp>
        <p:nvSpPr>
          <p:cNvPr id="134" name="직사각형 133"/>
          <p:cNvSpPr/>
          <p:nvPr/>
        </p:nvSpPr>
        <p:spPr bwMode="auto">
          <a:xfrm>
            <a:off x="2081035" y="4908045"/>
            <a:ext cx="684000" cy="288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none" lIns="72000" tIns="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이력 데이터</a:t>
            </a:r>
          </a:p>
        </p:txBody>
      </p:sp>
      <p:sp>
        <p:nvSpPr>
          <p:cNvPr id="135" name="직사각형 134"/>
          <p:cNvSpPr/>
          <p:nvPr/>
        </p:nvSpPr>
        <p:spPr bwMode="auto">
          <a:xfrm>
            <a:off x="536331" y="5239077"/>
            <a:ext cx="738000" cy="360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통계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· 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집계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</a:t>
            </a:r>
          </a:p>
        </p:txBody>
      </p:sp>
      <p:sp>
        <p:nvSpPr>
          <p:cNvPr id="136" name="직사각형 135"/>
          <p:cNvSpPr/>
          <p:nvPr/>
        </p:nvSpPr>
        <p:spPr bwMode="auto">
          <a:xfrm>
            <a:off x="1308683" y="5239077"/>
            <a:ext cx="1456352" cy="360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none" lIns="72000" tIns="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트랜잭션 데이터</a:t>
            </a:r>
          </a:p>
        </p:txBody>
      </p:sp>
      <p:sp>
        <p:nvSpPr>
          <p:cNvPr id="137" name="직사각형 136"/>
          <p:cNvSpPr/>
          <p:nvPr/>
        </p:nvSpPr>
        <p:spPr bwMode="auto">
          <a:xfrm>
            <a:off x="1370756" y="5402608"/>
            <a:ext cx="1339858" cy="15819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업무처리 단위 완료 데이터</a:t>
            </a:r>
          </a:p>
        </p:txBody>
      </p:sp>
      <p:sp>
        <p:nvSpPr>
          <p:cNvPr id="138" name="직사각형 137"/>
          <p:cNvSpPr/>
          <p:nvPr/>
        </p:nvSpPr>
        <p:spPr bwMode="auto">
          <a:xfrm>
            <a:off x="536331" y="5644999"/>
            <a:ext cx="2228704" cy="252000"/>
          </a:xfrm>
          <a:prstGeom prst="rect">
            <a:avLst/>
          </a:prstGeom>
          <a:solidFill>
            <a:schemeClr val="accent3"/>
          </a:solidFill>
          <a:ln w="6350" cap="flat" cmpd="sng" algn="ctr">
            <a:solidFill>
              <a:schemeClr val="accent2">
                <a:lumMod val="9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별도 보관 처리용 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구</a:t>
            </a:r>
            <a:r>
              <a:rPr lang="en-US" altLang="ko-KR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</a:t>
            </a:r>
          </a:p>
        </p:txBody>
      </p:sp>
      <p:sp>
        <p:nvSpPr>
          <p:cNvPr id="143" name="갈매기형 수장 142"/>
          <p:cNvSpPr/>
          <p:nvPr/>
        </p:nvSpPr>
        <p:spPr bwMode="auto">
          <a:xfrm>
            <a:off x="3382269" y="3592189"/>
            <a:ext cx="2357278" cy="446008"/>
          </a:xfrm>
          <a:prstGeom prst="chevron">
            <a:avLst>
              <a:gd name="adj" fmla="val 38667"/>
            </a:avLst>
          </a:prstGeom>
          <a:solidFill>
            <a:srgbClr val="ADC5E1"/>
          </a:solidFill>
          <a:ln w="6350">
            <a:solidFill>
              <a:srgbClr val="97B7D1"/>
            </a:solidFill>
            <a:miter lim="800000"/>
            <a:headEnd/>
            <a:tailEnd/>
          </a:ln>
          <a:effectLst>
            <a:outerShdw blurRad="25400" dist="12700" dir="2700000" algn="tl" rotWithShape="0">
              <a:prstClr val="black">
                <a:alpha val="37000"/>
              </a:prstClr>
            </a:outerShdw>
          </a:effectLst>
        </p:spPr>
        <p:txBody>
          <a:bodyPr wrap="none" lIns="0" tIns="0" rIns="0" bIns="0" anchor="ctr"/>
          <a:lstStyle/>
          <a:p>
            <a:pPr algn="ctr" defTabSz="990929" eaLnBrk="0" latinLnBrk="0" hangingPunct="0">
              <a:lnSpc>
                <a:spcPct val="110000"/>
              </a:lnSpc>
              <a:buClr>
                <a:srgbClr val="3271AA"/>
              </a:buClr>
              <a:buSzPct val="140000"/>
              <a:tabLst>
                <a:tab pos="739103" algn="l"/>
              </a:tabLst>
              <a:defRPr/>
            </a:pPr>
            <a:r>
              <a:rPr lang="ko-KR" altLang="en-US" sz="14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  <a:sym typeface="Monotype Sorts"/>
              </a:rPr>
              <a:t>본 전환</a:t>
            </a:r>
          </a:p>
        </p:txBody>
      </p:sp>
      <p:grpSp>
        <p:nvGrpSpPr>
          <p:cNvPr id="9" name="그룹 143"/>
          <p:cNvGrpSpPr/>
          <p:nvPr/>
        </p:nvGrpSpPr>
        <p:grpSpPr>
          <a:xfrm>
            <a:off x="3410030" y="4722634"/>
            <a:ext cx="2329517" cy="170043"/>
            <a:chOff x="3734575" y="4417884"/>
            <a:chExt cx="2329517" cy="170043"/>
          </a:xfrm>
        </p:grpSpPr>
        <p:cxnSp>
          <p:nvCxnSpPr>
            <p:cNvPr id="154" name="직선 연결선 153"/>
            <p:cNvCxnSpPr/>
            <p:nvPr/>
          </p:nvCxnSpPr>
          <p:spPr bwMode="auto">
            <a:xfrm rot="5400000">
              <a:off x="4825723" y="4513055"/>
              <a:ext cx="149745" cy="0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 bwMode="auto">
            <a:xfrm>
              <a:off x="3734575" y="4442503"/>
              <a:ext cx="2329517" cy="0"/>
            </a:xfrm>
            <a:prstGeom prst="line">
              <a:avLst/>
            </a:prstGeom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타원 155"/>
            <p:cNvSpPr/>
            <p:nvPr/>
          </p:nvSpPr>
          <p:spPr bwMode="auto">
            <a:xfrm rot="5400000">
              <a:off x="4863168" y="4417884"/>
              <a:ext cx="72000" cy="72000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1633" dirty="0">
                <a:solidFill>
                  <a:srgbClr val="777777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45" name="직사각형 144"/>
          <p:cNvSpPr/>
          <p:nvPr/>
        </p:nvSpPr>
        <p:spPr bwMode="auto">
          <a:xfrm>
            <a:off x="3637809" y="4401404"/>
            <a:ext cx="1902025" cy="287736"/>
          </a:xfrm>
          <a:prstGeom prst="rect">
            <a:avLst/>
          </a:prstGeom>
          <a:solidFill>
            <a:srgbClr val="ADC5E1"/>
          </a:solidFill>
          <a:ln w="6350">
            <a:solidFill>
              <a:srgbClr val="97B7D1"/>
            </a:solidFill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 defTabSz="990929">
              <a:lnSpc>
                <a:spcPct val="110000"/>
              </a:lnSpc>
              <a:buClr>
                <a:srgbClr val="3271AA"/>
              </a:buClr>
              <a:buSzPct val="140000"/>
              <a:tabLst>
                <a:tab pos="739103" algn="l"/>
              </a:tabLst>
            </a:pPr>
            <a:r>
              <a:rPr lang="ko-KR" altLang="en-US" sz="1100" b="1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소량</a:t>
            </a:r>
            <a:r>
              <a:rPr lang="ko-KR" altLang="en-US" sz="1050" kern="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 전환</a:t>
            </a:r>
          </a:p>
        </p:txBody>
      </p:sp>
      <p:sp>
        <p:nvSpPr>
          <p:cNvPr id="146" name="직사각형 145"/>
          <p:cNvSpPr/>
          <p:nvPr/>
        </p:nvSpPr>
        <p:spPr bwMode="auto">
          <a:xfrm>
            <a:off x="3637809" y="4101543"/>
            <a:ext cx="1902025" cy="26157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변경 가능성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sz="1100" spc="-50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높은</a:t>
            </a:r>
            <a:r>
              <a:rPr lang="ko-KR" altLang="en-US" sz="9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데이터</a:t>
            </a:r>
          </a:p>
        </p:txBody>
      </p:sp>
      <p:sp>
        <p:nvSpPr>
          <p:cNvPr id="147" name="Rectangle 60"/>
          <p:cNvSpPr>
            <a:spLocks noChangeArrowheads="1"/>
          </p:cNvSpPr>
          <p:nvPr/>
        </p:nvSpPr>
        <p:spPr bwMode="auto">
          <a:xfrm>
            <a:off x="3407505" y="4841534"/>
            <a:ext cx="2334567" cy="13944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 algn="ctr">
            <a:solidFill>
              <a:schemeClr val="tx1">
                <a:lumMod val="50000"/>
                <a:lumOff val="50000"/>
              </a:schemeClr>
            </a:solidFill>
            <a:prstDash val="sysDot"/>
            <a:miter lim="800000"/>
            <a:headEnd/>
            <a:tailEnd/>
          </a:ln>
        </p:spPr>
        <p:txBody>
          <a:bodyPr wrap="none"/>
          <a:lstStyle/>
          <a:p>
            <a:pPr algn="ctr" defTabSz="945990" eaLnBrk="0" hangingPunct="0">
              <a:lnSpc>
                <a:spcPct val="110000"/>
              </a:lnSpc>
              <a:buClr>
                <a:srgbClr val="000000"/>
              </a:buClr>
              <a:buSzPct val="140000"/>
              <a:tabLst>
                <a:tab pos="5123031" algn="l"/>
              </a:tabLst>
              <a:defRPr/>
            </a:pPr>
            <a:endParaRPr lang="en-US" altLang="ko-KR" sz="907" dirty="0">
              <a:solidFill>
                <a:srgbClr val="777777"/>
              </a:solidFill>
              <a:latin typeface="맑은 고딕" pitchFamily="50" charset="-127"/>
              <a:ea typeface="맑은 고딕" pitchFamily="50" charset="-127"/>
              <a:cs typeface="Arial" panose="020B0604020202020204" pitchFamily="34" charset="0"/>
              <a:sym typeface="Monotype Sorts"/>
            </a:endParaRPr>
          </a:p>
        </p:txBody>
      </p:sp>
      <p:grpSp>
        <p:nvGrpSpPr>
          <p:cNvPr id="10" name="그룹 147"/>
          <p:cNvGrpSpPr/>
          <p:nvPr/>
        </p:nvGrpSpPr>
        <p:grpSpPr>
          <a:xfrm>
            <a:off x="3467042" y="4904553"/>
            <a:ext cx="2225266" cy="1260723"/>
            <a:chOff x="3715564" y="4904553"/>
            <a:chExt cx="2117265" cy="1260723"/>
          </a:xfrm>
        </p:grpSpPr>
        <p:sp>
          <p:nvSpPr>
            <p:cNvPr id="149" name="직사각형 148"/>
            <p:cNvSpPr/>
            <p:nvPr/>
          </p:nvSpPr>
          <p:spPr bwMode="auto">
            <a:xfrm>
              <a:off x="3715564" y="4904553"/>
              <a:ext cx="2117265" cy="360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72000" tIns="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트랜잭션 데이터</a:t>
              </a:r>
            </a:p>
          </p:txBody>
        </p:sp>
        <p:sp>
          <p:nvSpPr>
            <p:cNvPr id="150" name="직사각형 149"/>
            <p:cNvSpPr/>
            <p:nvPr/>
          </p:nvSpPr>
          <p:spPr bwMode="auto">
            <a:xfrm>
              <a:off x="3715564" y="5301236"/>
              <a:ext cx="2117265" cy="252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실시간</a:t>
              </a:r>
              <a:r>
                <a:rPr lang="en-US" altLang="ko-KR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짧은 주기</a:t>
              </a:r>
              <a:r>
                <a:rPr lang="en-US" altLang="ko-KR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연계 데이터</a:t>
              </a:r>
            </a:p>
          </p:txBody>
        </p:sp>
        <p:sp>
          <p:nvSpPr>
            <p:cNvPr id="151" name="직사각형 150"/>
            <p:cNvSpPr/>
            <p:nvPr/>
          </p:nvSpPr>
          <p:spPr bwMode="auto">
            <a:xfrm>
              <a:off x="3715564" y="5589025"/>
              <a:ext cx="2117265" cy="252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실시간</a:t>
              </a:r>
              <a:r>
                <a:rPr lang="en-US" altLang="ko-KR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짧은 주기</a:t>
              </a:r>
              <a:r>
                <a:rPr lang="en-US" altLang="ko-KR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통계 </a:t>
              </a:r>
              <a:r>
                <a:rPr lang="en-US" altLang="ko-KR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· </a:t>
              </a: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집계 데이터</a:t>
              </a:r>
            </a:p>
          </p:txBody>
        </p:sp>
        <p:sp>
          <p:nvSpPr>
            <p:cNvPr id="152" name="직사각형 151"/>
            <p:cNvSpPr/>
            <p:nvPr/>
          </p:nvSpPr>
          <p:spPr bwMode="auto">
            <a:xfrm>
              <a:off x="3715564" y="5913276"/>
              <a:ext cx="2117265" cy="252000"/>
            </a:xfrm>
            <a:prstGeom prst="rect">
              <a:avLst/>
            </a:prstGeom>
            <a:solidFill>
              <a:schemeClr val="accent3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사전 전환 데이터 중 변경된 데이터</a:t>
              </a:r>
            </a:p>
          </p:txBody>
        </p:sp>
        <p:sp>
          <p:nvSpPr>
            <p:cNvPr id="153" name="직사각형 152"/>
            <p:cNvSpPr/>
            <p:nvPr/>
          </p:nvSpPr>
          <p:spPr bwMode="auto">
            <a:xfrm>
              <a:off x="3794747" y="5059824"/>
              <a:ext cx="1981303" cy="15819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accent2">
                  <a:lumMod val="9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90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업무처리 단위 진행 데이터</a:t>
              </a:r>
            </a:p>
          </p:txBody>
        </p:sp>
      </p:grpSp>
      <p:sp>
        <p:nvSpPr>
          <p:cNvPr id="157" name="타원 156"/>
          <p:cNvSpPr/>
          <p:nvPr/>
        </p:nvSpPr>
        <p:spPr bwMode="auto">
          <a:xfrm>
            <a:off x="2864768" y="3577347"/>
            <a:ext cx="504000" cy="504000"/>
          </a:xfrm>
          <a:prstGeom prst="ellipse">
            <a:avLst/>
          </a:prstGeom>
          <a:ln>
            <a:solidFill>
              <a:schemeClr val="accent2">
                <a:lumMod val="9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사전 전환</a:t>
            </a:r>
            <a: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검증</a:t>
            </a:r>
            <a:endParaRPr lang="ko-KR" altLang="en-US" sz="5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8" name="타원 157"/>
          <p:cNvSpPr/>
          <p:nvPr/>
        </p:nvSpPr>
        <p:spPr bwMode="auto">
          <a:xfrm>
            <a:off x="5830541" y="3577347"/>
            <a:ext cx="504000" cy="504000"/>
          </a:xfrm>
          <a:prstGeom prst="ellipse">
            <a:avLst/>
          </a:prstGeom>
          <a:ln>
            <a:solidFill>
              <a:schemeClr val="accent2">
                <a:lumMod val="9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본 전환</a:t>
            </a:r>
            <a: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검증</a:t>
            </a:r>
            <a:endParaRPr lang="ko-KR" altLang="en-US" sz="5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9" name="타원 158"/>
          <p:cNvSpPr/>
          <p:nvPr/>
        </p:nvSpPr>
        <p:spPr bwMode="auto">
          <a:xfrm>
            <a:off x="8835827" y="3577347"/>
            <a:ext cx="504000" cy="504000"/>
          </a:xfrm>
          <a:prstGeom prst="ellipse">
            <a:avLst/>
          </a:prstGeom>
          <a:ln>
            <a:solidFill>
              <a:schemeClr val="accent2">
                <a:lumMod val="90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="horz" wrap="non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prstClr val="black"/>
              </a:buClr>
              <a:buSzPct val="90000"/>
            </a:pP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사후 전환</a:t>
            </a:r>
            <a: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검증</a:t>
            </a:r>
            <a:endParaRPr lang="ko-KR" altLang="en-US" sz="50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0649547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ko-KR" altLang="en-US" dirty="0"/>
              <a:t>기존 데이터 모델을 신규 데이터로 전환하기 위한 데이터 전환 매핑 설계 방안을 ①데이터 전환 흐름 설계 및 ②소스</a:t>
            </a:r>
            <a:r>
              <a:rPr lang="en-US" altLang="ko-KR" dirty="0"/>
              <a:t>/</a:t>
            </a:r>
            <a:r>
              <a:rPr lang="ko-KR" altLang="en-US" dirty="0"/>
              <a:t>타겟 데이터 매핑관계 기술 방안을 아래와 같이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3.8.4 </a:t>
            </a:r>
            <a:r>
              <a:rPr lang="ko-KR" altLang="en-US" sz="1800" smtClean="0"/>
              <a:t>모델 </a:t>
            </a:r>
            <a:r>
              <a:rPr lang="ko-KR" altLang="en-US" sz="1800" dirty="0"/>
              <a:t>전환 방안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67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69" name="직사각형 68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전환 매핑 설계 방안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3" name="AutoShape 12"/>
          <p:cNvSpPr>
            <a:spLocks noChangeArrowheads="1"/>
          </p:cNvSpPr>
          <p:nvPr/>
        </p:nvSpPr>
        <p:spPr bwMode="auto">
          <a:xfrm rot="16200000">
            <a:off x="4128196" y="5286252"/>
            <a:ext cx="2216843" cy="189332"/>
          </a:xfrm>
          <a:prstGeom prst="triangle">
            <a:avLst>
              <a:gd name="adj" fmla="val 50000"/>
            </a:avLst>
          </a:prstGeom>
          <a:gradFill rotWithShape="1">
            <a:gsLst>
              <a:gs pos="0">
                <a:schemeClr val="accent1"/>
              </a:gs>
              <a:gs pos="100000">
                <a:srgbClr val="FFFFFF"/>
              </a:gs>
            </a:gsLst>
            <a:lin ang="5400000" scaled="1"/>
          </a:gradFill>
          <a:ln w="6350" algn="ctr">
            <a:noFill/>
            <a:miter lim="800000"/>
            <a:headEnd/>
            <a:tailEnd type="none" w="sm" len="sm"/>
          </a:ln>
          <a:effectLst/>
        </p:spPr>
        <p:txBody>
          <a:bodyPr wrap="none" lIns="0" tIns="0" rIns="0" bIns="0" anchor="ctr"/>
          <a:lstStyle/>
          <a:p>
            <a:endParaRPr lang="ko-KR" altLang="en-US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4" name="직사각형 73"/>
          <p:cNvSpPr/>
          <p:nvPr/>
        </p:nvSpPr>
        <p:spPr>
          <a:xfrm>
            <a:off x="465762" y="1971904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전환 흐름 설계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5" name="표 74"/>
          <p:cNvGraphicFramePr>
            <a:graphicFrameLocks noGrp="1"/>
          </p:cNvGraphicFramePr>
          <p:nvPr>
            <p:extLst/>
          </p:nvPr>
        </p:nvGraphicFramePr>
        <p:xfrm>
          <a:off x="434119" y="4496919"/>
          <a:ext cx="1766551" cy="17768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701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9246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706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2293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매핑 항목</a:t>
                      </a: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Source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Target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 타입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PK</a:t>
                      </a:r>
                      <a:r>
                        <a:rPr lang="en-US" altLang="ko-KR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9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 길이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포맷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2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매핑 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○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" name="그룹 75"/>
          <p:cNvGrpSpPr/>
          <p:nvPr/>
        </p:nvGrpSpPr>
        <p:grpSpPr>
          <a:xfrm>
            <a:off x="434737" y="2320709"/>
            <a:ext cx="4573589" cy="1864291"/>
            <a:chOff x="3080792" y="3674763"/>
            <a:chExt cx="1443220" cy="1864291"/>
          </a:xfrm>
        </p:grpSpPr>
        <p:sp>
          <p:nvSpPr>
            <p:cNvPr id="77" name="Rectangle 11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blackWhite">
            <a:xfrm>
              <a:off x="3080792" y="3674763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① 데이터 전환 흐름 설계</a:t>
              </a:r>
              <a:endPara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8" name="Rectangle 11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blackWhite">
            <a:xfrm>
              <a:off x="3080792" y="4063054"/>
              <a:ext cx="1443220" cy="1476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rIns="72000" anchor="ctr"/>
            <a:lstStyle/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 마이그레이션 분석 단계가 완료되면 데이터 마이그레이션 수행을 위한 흐름을 설계해야 함</a:t>
              </a:r>
              <a:endParaRPr lang="en-US" altLang="ko-KR" sz="8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전환 흐름 설계는 구 정보시스템의 데이터가 신 정보시스템의 데이터로 변환되어 적재되어지는 과정을 흐름도로 설계하는 것임</a:t>
              </a:r>
              <a:endParaRPr lang="en-US" altLang="ko-KR" sz="8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일반적인 테이블 대 테이블 마이그레이션은 단순히 코드 변환의 과정만 설계하지만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실제 신 정보시스템의 구축 목적이 단순 테이블 코드 값의 변경 차원을 벗어나 업무 비즈니스의 변경 흐름까지도 반영되어야 함</a:t>
              </a:r>
              <a:endParaRPr lang="en-US" altLang="ko-KR" sz="8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전환 흐름도에는 목표 데이터를 기준으로 하여 필요 소스 데이터의 추출 및 변환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가공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적재의 로직과 업무에 따른 비즈니스의 변경 흐름까지도 반영</a:t>
              </a:r>
              <a:endParaRPr lang="en-US" altLang="ko-KR" sz="8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79" name="꺾인 연결선 78"/>
          <p:cNvCxnSpPr>
            <a:stCxn id="80" idx="3"/>
            <a:endCxn id="81" idx="1"/>
          </p:cNvCxnSpPr>
          <p:nvPr/>
        </p:nvCxnSpPr>
        <p:spPr bwMode="auto">
          <a:xfrm flipV="1">
            <a:off x="2191623" y="5511373"/>
            <a:ext cx="257182" cy="66671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 w="lg" len="med"/>
          </a:ln>
          <a:effectLst/>
        </p:spPr>
      </p:cxnSp>
      <p:sp>
        <p:nvSpPr>
          <p:cNvPr id="80" name="직사각형 79"/>
          <p:cNvSpPr/>
          <p:nvPr/>
        </p:nvSpPr>
        <p:spPr bwMode="auto">
          <a:xfrm>
            <a:off x="1975599" y="6070076"/>
            <a:ext cx="216024" cy="216024"/>
          </a:xfrm>
          <a:prstGeom prst="rect">
            <a:avLst/>
          </a:prstGeom>
          <a:solidFill>
            <a:srgbClr val="C00000">
              <a:alpha val="0"/>
            </a:srgb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1" name="왼쪽 중괄호 80"/>
          <p:cNvSpPr/>
          <p:nvPr/>
        </p:nvSpPr>
        <p:spPr bwMode="auto">
          <a:xfrm>
            <a:off x="2448805" y="4748946"/>
            <a:ext cx="216024" cy="1524854"/>
          </a:xfrm>
          <a:prstGeom prst="leftBrace">
            <a:avLst>
              <a:gd name="adj1" fmla="val 40583"/>
              <a:gd name="adj2" fmla="val 50000"/>
            </a:avLst>
          </a:prstGeom>
          <a:noFill/>
          <a:ln w="6350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/>
          <a:p>
            <a:pPr algn="ctr"/>
            <a:endParaRPr lang="ko-KR" altLang="en-US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460038" y="4178519"/>
            <a:ext cx="2056986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전환 매핑 항목 정의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3" name="꺾인 연결선 82"/>
          <p:cNvCxnSpPr/>
          <p:nvPr/>
        </p:nvCxnSpPr>
        <p:spPr bwMode="auto">
          <a:xfrm>
            <a:off x="5115830" y="2518709"/>
            <a:ext cx="142875" cy="1270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graphicFrame>
        <p:nvGraphicFramePr>
          <p:cNvPr id="84" name="표 83"/>
          <p:cNvGraphicFramePr>
            <a:graphicFrameLocks noGrp="1"/>
          </p:cNvGraphicFramePr>
          <p:nvPr>
            <p:extLst/>
          </p:nvPr>
        </p:nvGraphicFramePr>
        <p:xfrm>
          <a:off x="2631491" y="4496917"/>
          <a:ext cx="2376835" cy="17786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012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77670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26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매핑 방법</a:t>
                      </a: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표현 방법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48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단순 이동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Arial" panose="020B0604020202020204" pitchFamily="34" charset="0"/>
                        <a:buNone/>
                      </a:pPr>
                      <a:r>
                        <a:rPr lang="ko-KR" altLang="en-US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이동</a:t>
                      </a:r>
                      <a:endParaRPr lang="en-US" altLang="ko-KR" sz="9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8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 변환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소스코드와 목표 코드의 변환 정의</a:t>
                      </a:r>
                      <a:endParaRPr lang="en-US" altLang="ko-KR" sz="9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6215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코드 정의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범위를 이용한 목표 값으로의 변환 쿼리 표현식으로 기술</a:t>
                      </a:r>
                      <a:endParaRPr lang="en-US" altLang="ko-KR" sz="9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(if ~ else ~ then </a:t>
                      </a:r>
                      <a:b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 case when ~ then else ~ end)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810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산술 계산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계산식 표현</a:t>
                      </a:r>
                      <a:r>
                        <a:rPr lang="en-US" altLang="ko-KR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(+, -, *, /)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1335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집합</a:t>
                      </a: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쿼리 표현식으로 기술</a:t>
                      </a:r>
                      <a:r>
                        <a:rPr lang="en-US" altLang="ko-KR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9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(count, sum, max, min, avg </a:t>
                      </a:r>
                      <a:r>
                        <a:rPr lang="ko-KR" altLang="en-US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 </a:t>
                      </a: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SQL </a:t>
                      </a:r>
                      <a:r>
                        <a:rPr lang="ko-KR" altLang="en-US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집합함수로 표현</a:t>
                      </a:r>
                      <a:r>
                        <a:rPr lang="en-US" altLang="ko-KR" sz="8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5" name="직사각형 84"/>
          <p:cNvSpPr/>
          <p:nvPr/>
        </p:nvSpPr>
        <p:spPr>
          <a:xfrm>
            <a:off x="2635493" y="4178519"/>
            <a:ext cx="2056986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매핑 룰 정의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7" name="그룹 85"/>
          <p:cNvGrpSpPr/>
          <p:nvPr/>
        </p:nvGrpSpPr>
        <p:grpSpPr>
          <a:xfrm>
            <a:off x="5131942" y="2320709"/>
            <a:ext cx="4358134" cy="3953091"/>
            <a:chOff x="3080792" y="3674763"/>
            <a:chExt cx="1443220" cy="3953091"/>
          </a:xfrm>
        </p:grpSpPr>
        <p:sp>
          <p:nvSpPr>
            <p:cNvPr id="87" name="Rectangle 11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blackWhite">
            <a:xfrm>
              <a:off x="3080792" y="3674763"/>
              <a:ext cx="1443220" cy="396000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36000" rIns="36000" anchor="ctr"/>
            <a:lstStyle/>
            <a:p>
              <a:pPr algn="ctr">
                <a:lnSpc>
                  <a:spcPts val="1000"/>
                </a:lnSpc>
                <a:buClr>
                  <a:srgbClr val="7DAFFA">
                    <a:lumMod val="50000"/>
                  </a:srgbClr>
                </a:buClr>
              </a:pP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② 소스 </a:t>
              </a:r>
              <a:r>
                <a:rPr lang="en-US" altLang="ko-KR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– </a:t>
              </a: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타겟 데이터 매핑 관계 기술</a:t>
              </a:r>
              <a:endPara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Rectangle 11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blackWhite">
            <a:xfrm>
              <a:off x="3080792" y="4063054"/>
              <a:ext cx="1443220" cy="35648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1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rIns="72000" anchor="ctr"/>
            <a:lstStyle/>
            <a:p>
              <a:pPr marL="180975" indent="-180975">
                <a:buClr>
                  <a:srgbClr val="7DAFFA">
                    <a:lumMod val="50000"/>
                  </a:srgbClr>
                </a:buClr>
                <a:buFont typeface="+mj-lt"/>
                <a:buAutoNum type="arabicParenR"/>
              </a:pP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 데이터 정의</a:t>
              </a:r>
              <a:endPara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소스데이터는 구 시스템의 정형 데이터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테이블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와 비정형 데이터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파일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이미지 등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 등 소스 원천을 정의한다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 데이터와 목적 테이블과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1:1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또는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M:1, 1:M, N:M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관계를 가질 수 있다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대상 컬럼 정의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176213" indent="-79375">
                <a:buClr>
                  <a:prstClr val="black"/>
                </a:buClr>
                <a:buSzPct val="90000"/>
              </a:pPr>
              <a:endParaRPr lang="en-US" altLang="ko-KR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180975">
                <a:buClr>
                  <a:srgbClr val="7DAFFA">
                    <a:lumMod val="50000"/>
                  </a:srgbClr>
                </a:buClr>
                <a:buFont typeface="+mj-lt"/>
                <a:buAutoNum type="arabicParenR" startAt="2"/>
              </a:pP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타겟 데이터 정의</a:t>
              </a:r>
              <a:endPara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목적 테이블 데이터와의 관계에 대하여 기술한다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마이그레이션에 대부분의 데이터의 관계는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1:1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의 단순 이동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(Move)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으로 표현되어 질 수도 있으나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표준화 변경에 의한 코드 변환 및 데이터 변경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파일 전송 등이 발생할 수 도 있다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이러한 신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구 데이터들의 관계를 데이터 마이그레이션 작업 이전에 정확히 명시하여야 효율적인 데이터 마이그레이션을 보장할 수 있다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b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endParaRPr lang="en-US" altLang="ko-KR" sz="85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180975">
                <a:buClr>
                  <a:srgbClr val="7DAFFA">
                    <a:lumMod val="50000"/>
                  </a:srgbClr>
                </a:buClr>
                <a:buFont typeface="+mj-lt"/>
                <a:buAutoNum type="arabicParenR" startAt="3"/>
              </a:pPr>
              <a:r>
                <a:rPr lang="ko-KR" altLang="en-US" sz="10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매핑 관계 기술</a:t>
              </a:r>
              <a:endPara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또한 형태가 다른 데이터 타입 간의 스키마 매핑이 존재하는지 분석이 되어야 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 데이터의 형태는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PDF, XLS, HTML, DB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등 다양한 형태로 존재할 수 있고 목표 데이터의 형태도 동일하게 여러 가지가 될 수도 있다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원천 소스의 구분은 소스 항목에 기술하며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매핑 방법은 목표 항목에 기술한다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만약 소스데이터가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Flat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파일 또는 스프레드시트와 같은 파일로 관리되어진다면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해당 파일의 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FFD(Flat Format Description)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가 먼저 정의되어야 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마이그레이션에서는 새로운 시스템에 맞게 코드 데이터가 변경되어지며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 변환을 표현할 시에는 사용 코드의 데이터 관리지침을 표현해 주어야 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 데이터의 변환 관리란 현행 시스템에서 사용하는 코드와 신 시스템에서 변환된 코드의 매핑 정보이며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 매핑 데이터는 데이터 표준화에 의해 관리되어 진다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코드 변환 데이터들은 데이터 마이그레이션의 효율성을 위하여 별도의 테이블에서 관리해야 하며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매핑 관계 시 해당 관리 지침을 표현해 주어야 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80975" indent="-85725">
                <a:buClr>
                  <a:prstClr val="black"/>
                </a:buClr>
                <a:buSzPct val="90000"/>
                <a:buFont typeface="Arial" panose="020B0604020202020204" pitchFamily="34" charset="0"/>
                <a:buChar char="•"/>
              </a:pPr>
              <a:r>
                <a:rPr lang="ko-KR" altLang="en-US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비정형 데이터의 경우 별도의 비정형 데이터 정보 관리 테이블을 구성하여 데이터를 마이그레이션 하여야 한다</a:t>
              </a:r>
              <a:r>
                <a:rPr lang="en-US" altLang="ko-KR" sz="850" spc="-5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5130485" y="1971904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소스 </a:t>
            </a:r>
            <a:r>
              <a:rPr lang="en-US" altLang="ko-KR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– </a:t>
            </a: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타겟 데이터 매핑 관계 기술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59187428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ko-KR" altLang="en-US" dirty="0"/>
              <a:t>전환데이터의 품질 제고를 위하여 검증을 위한 </a:t>
            </a:r>
            <a:r>
              <a:rPr lang="en-US" altLang="ko-KR" dirty="0"/>
              <a:t>3</a:t>
            </a:r>
            <a:r>
              <a:rPr lang="ko-KR" altLang="en-US" dirty="0"/>
              <a:t>가지 검증 기준을 수립하고 검증 기준별 검증 방안을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3.8.5 </a:t>
            </a:r>
            <a:r>
              <a:rPr lang="ko-KR" altLang="en-US" sz="1800" smtClean="0"/>
              <a:t>전환 </a:t>
            </a:r>
            <a:r>
              <a:rPr lang="ko-KR" altLang="en-US" sz="1800" dirty="0"/>
              <a:t>데이터 </a:t>
            </a:r>
            <a:r>
              <a:rPr lang="ko-KR" altLang="en-US" sz="1800"/>
              <a:t>검증 </a:t>
            </a:r>
            <a:r>
              <a:rPr lang="ko-KR" altLang="en-US" sz="1800" smtClean="0"/>
              <a:t>방안</a:t>
            </a:r>
            <a:r>
              <a:rPr lang="en-US" altLang="ko-KR" sz="1800" smtClean="0"/>
              <a:t>(</a:t>
            </a:r>
            <a:r>
              <a:rPr lang="en-US" altLang="ko-KR" sz="1800" dirty="0"/>
              <a:t>1/2)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67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69" name="직사각형 68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전환 데이터 검증 방안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6" name="그룹 4"/>
          <p:cNvGrpSpPr/>
          <p:nvPr/>
        </p:nvGrpSpPr>
        <p:grpSpPr>
          <a:xfrm>
            <a:off x="397911" y="1971904"/>
            <a:ext cx="5580000" cy="4301304"/>
            <a:chOff x="397910" y="1971904"/>
            <a:chExt cx="5806921" cy="4301304"/>
          </a:xfrm>
        </p:grpSpPr>
        <p:sp>
          <p:nvSpPr>
            <p:cNvPr id="30" name="Rectangle 11"/>
            <p:cNvSpPr>
              <a:spLocks noChangeArrowheads="1"/>
            </p:cNvSpPr>
            <p:nvPr>
              <p:custDataLst>
                <p:tags r:id="rId5"/>
              </p:custDataLst>
            </p:nvPr>
          </p:nvSpPr>
          <p:spPr bwMode="blackWhite">
            <a:xfrm>
              <a:off x="397910" y="3366511"/>
              <a:ext cx="278979" cy="149383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2">
                  <a:lumMod val="75000"/>
                </a:schemeClr>
              </a:solidFill>
              <a:headEnd/>
              <a:tailEnd/>
            </a:ln>
            <a:effectLst/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eaVert"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검증 기준</a:t>
              </a:r>
              <a:endParaRPr kumimoji="1" lang="en-US" altLang="ko-KR" sz="11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Rectangle 11"/>
            <p:cNvSpPr>
              <a:spLocks noChangeArrowheads="1"/>
            </p:cNvSpPr>
            <p:nvPr>
              <p:custDataLst>
                <p:tags r:id="rId6"/>
              </p:custDataLst>
            </p:nvPr>
          </p:nvSpPr>
          <p:spPr bwMode="blackWhite">
            <a:xfrm>
              <a:off x="840234" y="3366511"/>
              <a:ext cx="2196084" cy="440893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완전성</a:t>
              </a:r>
              <a: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(migration’s exhaustiveness)</a:t>
              </a:r>
              <a:endParaRPr kumimoji="1" lang="ko-KR" altLang="en-US" sz="11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Rectangle 11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blackWhite">
            <a:xfrm>
              <a:off x="3129101" y="3366510"/>
              <a:ext cx="3075729" cy="648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2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tIns="72000" rIns="72000" bIns="72000" anchor="ctr"/>
            <a:lstStyle/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대상이 되는 소스 데이터베이스의 모든 데이터들은 남김 없이 목표 데이터베이스로 이동되어야 하며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오직 목표 데이터베이스에만 존재해야 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Rectangle 11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blackWhite">
            <a:xfrm>
              <a:off x="1596318" y="4104042"/>
              <a:ext cx="1440000" cy="440893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정합성</a:t>
              </a:r>
              <a:endParaRPr kumimoji="1" lang="en-US" altLang="ko-KR" sz="11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spcBef>
                  <a:spcPct val="0"/>
                </a:spcBef>
              </a:pPr>
              <a:r>
                <a:rPr kumimoji="1"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(migration’s consistency)</a:t>
              </a:r>
              <a:endParaRPr kumimoji="1"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4" name="Rectangle 11"/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blackWhite">
            <a:xfrm>
              <a:off x="1596318" y="5301208"/>
              <a:ext cx="1440000" cy="440893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관계 정합성</a:t>
              </a:r>
              <a:r>
                <a:rPr kumimoji="1" lang="en-US" altLang="ko-KR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1" lang="en-US" altLang="ko-KR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1"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(migration’s coherence)</a:t>
              </a:r>
              <a:endParaRPr kumimoji="1"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5" name="Rectangle 11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blackWhite">
            <a:xfrm>
              <a:off x="3129101" y="5301208"/>
              <a:ext cx="3075729" cy="972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2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tIns="72000" rIns="72000" bIns="72000" anchor="ctr"/>
            <a:lstStyle/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 데이터베이스의 데이터 간 관계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(dependencies)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는 보전되어 목표 데이터베이스로 이전되어야 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소스 데이터베이스에 존재하던 고객 주문과 고객 간의 관계는 목표 데이터베이스에서도 동일하게 적용되어야 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38" name="꺾인 연결선 37"/>
            <p:cNvCxnSpPr>
              <a:stCxn id="30" idx="3"/>
              <a:endCxn id="31" idx="1"/>
            </p:cNvCxnSpPr>
            <p:nvPr/>
          </p:nvCxnSpPr>
          <p:spPr bwMode="auto">
            <a:xfrm flipV="1">
              <a:off x="676889" y="3586958"/>
              <a:ext cx="163345" cy="526468"/>
            </a:xfrm>
            <a:prstGeom prst="bentConnector3">
              <a:avLst/>
            </a:prstGeom>
            <a:solidFill>
              <a:srgbClr val="FBB779"/>
            </a:solidFill>
            <a:ln w="9525" cap="flat" cmpd="sng" algn="ctr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9" name="꺾인 연결선 38"/>
            <p:cNvCxnSpPr>
              <a:stCxn id="44" idx="3"/>
              <a:endCxn id="33" idx="1"/>
            </p:cNvCxnSpPr>
            <p:nvPr/>
          </p:nvCxnSpPr>
          <p:spPr bwMode="auto">
            <a:xfrm flipV="1">
              <a:off x="1488235" y="4324489"/>
              <a:ext cx="108083" cy="263234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" name="꺾인 연결선 42"/>
            <p:cNvCxnSpPr>
              <a:stCxn id="44" idx="3"/>
              <a:endCxn id="34" idx="1"/>
            </p:cNvCxnSpPr>
            <p:nvPr/>
          </p:nvCxnSpPr>
          <p:spPr bwMode="auto">
            <a:xfrm>
              <a:off x="1488235" y="4587723"/>
              <a:ext cx="108083" cy="933932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" name="Rectangle 11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blackWhite">
            <a:xfrm>
              <a:off x="840235" y="4104042"/>
              <a:ext cx="648000" cy="967361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1">
                  <a:lumMod val="75000"/>
                </a:schemeClr>
              </a:solidFill>
              <a:headEnd/>
              <a:tailEnd/>
            </a:ln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정합성</a:t>
              </a:r>
              <a:endParaRPr kumimoji="1" lang="en-US" altLang="ko-KR" sz="11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ctr">
                <a:spcBef>
                  <a:spcPct val="0"/>
                </a:spcBef>
              </a:pPr>
              <a:r>
                <a:rPr kumimoji="1" lang="en-US" altLang="ko-KR" sz="8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(consistency)</a:t>
              </a:r>
              <a:endParaRPr kumimoji="1" lang="ko-KR" altLang="en-US" sz="8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45" name="꺾인 연결선 44"/>
            <p:cNvCxnSpPr>
              <a:stCxn id="30" idx="3"/>
              <a:endCxn id="44" idx="1"/>
            </p:cNvCxnSpPr>
            <p:nvPr/>
          </p:nvCxnSpPr>
          <p:spPr bwMode="auto">
            <a:xfrm>
              <a:off x="676889" y="4113426"/>
              <a:ext cx="163346" cy="47429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9525" cap="flat" cmpd="sng" algn="ctr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" name="직사각형 45"/>
            <p:cNvSpPr/>
            <p:nvPr/>
          </p:nvSpPr>
          <p:spPr>
            <a:xfrm>
              <a:off x="428424" y="1971904"/>
              <a:ext cx="4103927" cy="29501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marL="177800" indent="-177800">
                <a:lnSpc>
                  <a:spcPts val="1700"/>
                </a:lnSpc>
                <a:spcBef>
                  <a:spcPts val="600"/>
                </a:spcBef>
                <a:buClr>
                  <a:sysClr val="windowText" lastClr="000000"/>
                </a:buClr>
                <a:buFont typeface="Wingdings" pitchFamily="2" charset="2"/>
                <a:buChar char="q"/>
              </a:pPr>
              <a:r>
                <a:rPr lang="ko-KR" altLang="en-US" sz="1400" b="1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전환데이터 검증 정의</a:t>
              </a:r>
              <a:endParaRPr lang="en-US" altLang="ko-KR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7" name="Rectangle 11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blackWhite">
            <a:xfrm>
              <a:off x="397910" y="2295209"/>
              <a:ext cx="442324" cy="720000"/>
            </a:xfrm>
            <a:prstGeom prst="rect">
              <a:avLst/>
            </a:prstGeom>
            <a:solidFill>
              <a:schemeClr val="accent2">
                <a:lumMod val="90000"/>
              </a:schemeClr>
            </a:solidFill>
            <a:ln>
              <a:solidFill>
                <a:schemeClr val="accent2">
                  <a:lumMod val="75000"/>
                </a:schemeClr>
              </a:solidFill>
              <a:headEnd/>
              <a:tailEnd/>
            </a:ln>
            <a:effectLst/>
            <a:extLst/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vert="horz" wrap="none" anchor="ctr"/>
            <a:lstStyle/>
            <a:p>
              <a:pPr algn="ctr">
                <a:spcBef>
                  <a:spcPct val="0"/>
                </a:spcBef>
              </a:pPr>
              <a:r>
                <a:rPr kumimoji="1" lang="ko-KR" altLang="en-US" sz="1100" b="1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정의</a:t>
              </a:r>
              <a:endParaRPr kumimoji="1" lang="en-US" altLang="ko-KR" sz="11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8" name="Rectangle 11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blackWhite">
            <a:xfrm>
              <a:off x="945686" y="2295209"/>
              <a:ext cx="5259145" cy="720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2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tIns="72000" rIns="72000" bIns="72000" anchor="ctr"/>
            <a:lstStyle/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전환 데이터 검증은 데이터 마이그레이션의 품질을 측정하는 방식이며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애플리케이션을 통해 제공되는 결과물이 데이터 마이그레이션 전과 후 동일한 모습대로 보여지도록 보장한다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성공적인 데이터 마이그레이션은 완전성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데이터 정합성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관계 정합성의 세가지 기준을 충족 시킨다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9" name="Rectangle 11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blackWhite">
            <a:xfrm>
              <a:off x="3129101" y="4103761"/>
              <a:ext cx="3075729" cy="1116000"/>
            </a:xfrm>
            <a:prstGeom prst="rect">
              <a:avLst/>
            </a:prstGeom>
            <a:solidFill>
              <a:schemeClr val="bg1"/>
            </a:solidFill>
            <a:ln w="3175" algn="ctr">
              <a:solidFill>
                <a:schemeClr val="accent2">
                  <a:lumMod val="75000"/>
                </a:schemeClr>
              </a:solidFill>
              <a:prstDash val="solid"/>
              <a:miter lim="800000"/>
              <a:headEnd/>
              <a:tailEnd/>
            </a:ln>
            <a:effectLst/>
            <a:extLst/>
          </p:spPr>
          <p:txBody>
            <a:bodyPr wrap="square" lIns="72000" tIns="72000" rIns="72000" bIns="72000" anchor="ctr"/>
            <a:lstStyle/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마이그레이션 된 데이터들은 목표 데이터베이스에 존재하는 요구사항과 제약조건을 충족시켜야 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 </a:t>
              </a:r>
            </a:p>
            <a:p>
              <a:pPr marL="171450" indent="-171450">
                <a:lnSpc>
                  <a:spcPts val="1000"/>
                </a:lnSpc>
                <a:spcBef>
                  <a:spcPts val="6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</a:pP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예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) ‘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성별’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(sex)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이란 속성이 있다고 가정할 때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‘U’(unknown)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라는 속성값이 소스 데이터베이스에서는 허용되지만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목표 데이터베이스에서는 허용되지 않는다면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U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값이 가지는 모호성 문제를 해결하거나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목표 데이터베이스가 이 값을 허용하도록 조정해야 한다</a:t>
              </a:r>
              <a:r>
                <a:rPr lang="en-US" altLang="ko-KR" sz="900" dirty="0">
                  <a:solidFill>
                    <a:prstClr val="black"/>
                  </a:solidFill>
                  <a:latin typeface="맑은 고딕" pitchFamily="50" charset="-127"/>
                  <a:ea typeface="맑은 고딕" pitchFamily="50" charset="-127"/>
                </a:rPr>
                <a:t>.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428424" y="3046651"/>
              <a:ext cx="4103927" cy="29501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marL="177800" indent="-177800">
                <a:lnSpc>
                  <a:spcPts val="1700"/>
                </a:lnSpc>
                <a:spcBef>
                  <a:spcPts val="600"/>
                </a:spcBef>
                <a:buClr>
                  <a:sysClr val="windowText" lastClr="000000"/>
                </a:buClr>
                <a:buFont typeface="Wingdings" pitchFamily="2" charset="2"/>
                <a:buChar char="q"/>
              </a:pPr>
              <a:r>
                <a:rPr lang="ko-KR" altLang="en-US" sz="1400" b="1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전환데이터 검증 기준</a:t>
              </a:r>
              <a:endParaRPr lang="en-US" altLang="ko-KR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1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6158550" y="3366510"/>
            <a:ext cx="3276000" cy="648000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ctr"/>
          <a:lstStyle/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전체 데이터건수와 목표 데이터베이스에 마이그레이션 된 건수 비교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프로젝트 일정 상 전수 비교가 어려울 경우 중요도가 낮은 데이터에 대하여 샘플링 비교 가능</a:t>
            </a:r>
          </a:p>
        </p:txBody>
      </p:sp>
      <p:sp>
        <p:nvSpPr>
          <p:cNvPr id="52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6158550" y="4103760"/>
            <a:ext cx="3276000" cy="1125439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ctr"/>
          <a:lstStyle/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데이터값의 일관성 조건을 충족시키기 위해서는 소스 데이터베이스의 주요 필드의 값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수치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 목표 데이터베이스의 해당 필드로 정확하게 전송되었는지 합계값을 비교하여 확인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중요한 데이터의 경우 필요할 경우 업무 규칙을 검증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의 제약조건을 생성하여 데이터 입력 시 실시간 오류 파악 및 오류 데이터 미입력하도록 조치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(Not Null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조건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, Data Type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불일치에 의한 입력 제한 등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6158550" y="5301208"/>
            <a:ext cx="3276000" cy="972592"/>
          </a:xfrm>
          <a:prstGeom prst="rect">
            <a:avLst/>
          </a:prstGeom>
          <a:solidFill>
            <a:schemeClr val="bg1"/>
          </a:solidFill>
          <a:ln w="3175" algn="ctr">
            <a:solidFill>
              <a:schemeClr val="accent2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ctr"/>
          <a:lstStyle/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목표 데이터베이스의 구조 설계 시에 충분히 고려하고 데이터 모델의 관계를 확인</a:t>
            </a:r>
            <a:endParaRPr lang="en-US" altLang="ko-KR" sz="9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물리설계 시 </a:t>
            </a:r>
            <a:r>
              <a:rPr lang="en-US" altLang="ko-KR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Foreign Key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생성에 의한 무결성 오류 데이터 실시간 파악 및 미입력하도록 조치</a:t>
            </a:r>
          </a:p>
        </p:txBody>
      </p:sp>
      <p:grpSp>
        <p:nvGrpSpPr>
          <p:cNvPr id="7" name="그룹 53"/>
          <p:cNvGrpSpPr/>
          <p:nvPr/>
        </p:nvGrpSpPr>
        <p:grpSpPr>
          <a:xfrm>
            <a:off x="6086542" y="2020566"/>
            <a:ext cx="3402962" cy="4294004"/>
            <a:chOff x="2324708" y="394145"/>
            <a:chExt cx="3186842" cy="4294004"/>
          </a:xfrm>
        </p:grpSpPr>
        <p:sp>
          <p:nvSpPr>
            <p:cNvPr id="55" name="직사각형 54"/>
            <p:cNvSpPr/>
            <p:nvPr/>
          </p:nvSpPr>
          <p:spPr>
            <a:xfrm>
              <a:off x="2324709" y="692149"/>
              <a:ext cx="3186840" cy="3996000"/>
            </a:xfrm>
            <a:prstGeom prst="rect">
              <a:avLst/>
            </a:prstGeom>
            <a:noFill/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endParaRPr lang="ko-KR" altLang="en-US" sz="800" spc="-5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6" name="직사각형 55"/>
            <p:cNvSpPr/>
            <p:nvPr/>
          </p:nvSpPr>
          <p:spPr bwMode="auto">
            <a:xfrm>
              <a:off x="2324708" y="394145"/>
              <a:ext cx="3186842" cy="544338"/>
            </a:xfrm>
            <a:prstGeom prst="rect">
              <a:avLst/>
            </a:prstGeom>
            <a:solidFill>
              <a:srgbClr val="2377F7"/>
            </a:solidFill>
            <a:ln w="6350" cap="flat" cmpd="sng" algn="ctr">
              <a:solidFill>
                <a:srgbClr val="2377F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72000" tIns="0" rIns="7200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>
                <a:buClr>
                  <a:prstClr val="black"/>
                </a:buClr>
                <a:buSzPct val="90000"/>
              </a:pPr>
              <a:r>
                <a:rPr lang="ko-KR" altLang="en-US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경영정보시스템</a:t>
              </a:r>
              <a:r>
                <a:rPr lang="en-US" altLang="ko-KR" sz="1200" b="1" spc="-50" smtClean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데이터 마이그레이션 시 </a:t>
              </a:r>
              <a:br>
                <a:rPr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200" b="1" spc="-50" dirty="0">
                  <a:solidFill>
                    <a:prstClr val="white"/>
                  </a:solidFill>
                  <a:latin typeface="맑은 고딕" pitchFamily="50" charset="-127"/>
                  <a:ea typeface="맑은 고딕" pitchFamily="50" charset="-127"/>
                </a:rPr>
                <a:t>검증 방안</a:t>
              </a:r>
              <a:endParaRPr lang="en-US" altLang="ko-KR" sz="1200" b="1" spc="-50" dirty="0">
                <a:solidFill>
                  <a:prstClr val="white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7" name="오른쪽 화살표 56"/>
          <p:cNvSpPr/>
          <p:nvPr/>
        </p:nvSpPr>
        <p:spPr bwMode="auto">
          <a:xfrm>
            <a:off x="5997002" y="3537012"/>
            <a:ext cx="180020" cy="324036"/>
          </a:xfrm>
          <a:prstGeom prst="rightArrow">
            <a:avLst/>
          </a:prstGeom>
          <a:solidFill>
            <a:schemeClr val="accent3">
              <a:lumMod val="9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오른쪽 화살표 57"/>
          <p:cNvSpPr/>
          <p:nvPr/>
        </p:nvSpPr>
        <p:spPr bwMode="auto">
          <a:xfrm>
            <a:off x="5997002" y="4473116"/>
            <a:ext cx="180020" cy="324036"/>
          </a:xfrm>
          <a:prstGeom prst="rightArrow">
            <a:avLst/>
          </a:prstGeom>
          <a:solidFill>
            <a:schemeClr val="accent3">
              <a:lumMod val="9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오른쪽 화살표 58"/>
          <p:cNvSpPr/>
          <p:nvPr/>
        </p:nvSpPr>
        <p:spPr bwMode="auto">
          <a:xfrm>
            <a:off x="5997002" y="5624513"/>
            <a:ext cx="180020" cy="324036"/>
          </a:xfrm>
          <a:prstGeom prst="rightArrow">
            <a:avLst/>
          </a:prstGeom>
          <a:solidFill>
            <a:schemeClr val="accent3">
              <a:lumMod val="90000"/>
            </a:schemeClr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buClr>
                <a:prstClr val="black"/>
              </a:buClr>
              <a:buSzPct val="90000"/>
            </a:pPr>
            <a:endParaRPr lang="ko-KR" altLang="en-US" sz="1050" spc="-5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6158550" y="2637852"/>
            <a:ext cx="3276000" cy="648000"/>
          </a:xfrm>
          <a:prstGeom prst="roundRect">
            <a:avLst/>
          </a:prstGeom>
          <a:solidFill>
            <a:schemeClr val="accent3"/>
          </a:solidFill>
          <a:ln w="3175" algn="ctr">
            <a:solidFill>
              <a:schemeClr val="accent2">
                <a:lumMod val="75000"/>
              </a:schemeClr>
            </a:solidFill>
            <a:prstDash val="sysDash"/>
            <a:miter lim="800000"/>
            <a:headEnd/>
            <a:tailEnd/>
          </a:ln>
          <a:effectLst/>
          <a:extLst/>
        </p:spPr>
        <p:txBody>
          <a:bodyPr wrap="square" lIns="72000" tIns="72000" rIns="72000" bIns="72000" anchor="ctr"/>
          <a:lstStyle/>
          <a:p>
            <a:pPr marL="171450" indent="-171450">
              <a:lnSpc>
                <a:spcPts val="1000"/>
              </a:lnSpc>
              <a:spcBef>
                <a:spcPts val="3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9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코레일테크에서는 </a:t>
            </a:r>
            <a:r>
              <a:rPr lang="ko-KR" altLang="en-US" sz="9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분석단계 말에 마이그레이션 검증 기준 검토 시 업체에서 수립한 검증 기준이 전환데이터 검증 기준에 비추어 충분히 수립되었는지 검토하여야 함</a:t>
            </a:r>
          </a:p>
        </p:txBody>
      </p:sp>
    </p:spTree>
    <p:extLst>
      <p:ext uri="{BB962C8B-B14F-4D97-AF65-F5344CB8AC3E}">
        <p14:creationId xmlns:p14="http://schemas.microsoft.com/office/powerpoint/2010/main" val="1943720491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ko-KR" altLang="en-US" dirty="0"/>
              <a:t>데이터 마이그레이션 실패 시 신속한 비상사태의 결정과 비상 복구를 통한 기존 시스템의 재가동을 위한 체계적인 비상복구 계획 수립 방안을 아래와 같이 제시함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/>
              <a:t>3.8.5 </a:t>
            </a:r>
            <a:r>
              <a:rPr lang="ko-KR" altLang="en-US" sz="1800"/>
              <a:t>전환 데이터 검증 방안</a:t>
            </a:r>
            <a:r>
              <a:rPr lang="en-US" altLang="ko-KR" sz="1800" smtClean="0"/>
              <a:t>(2/2</a:t>
            </a:r>
            <a:r>
              <a:rPr lang="en-US" altLang="ko-KR" sz="1800"/>
              <a:t>)</a:t>
            </a:r>
            <a:endParaRPr lang="ko-KR" altLang="en-US" sz="1800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67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69" name="직사각형 68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비상복구계획 수립 방안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61" name="표 60"/>
          <p:cNvGraphicFramePr>
            <a:graphicFrameLocks noGrp="1"/>
          </p:cNvGraphicFramePr>
          <p:nvPr>
            <p:extLst/>
          </p:nvPr>
        </p:nvGraphicFramePr>
        <p:xfrm>
          <a:off x="412271" y="1958490"/>
          <a:ext cx="9077233" cy="42851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5273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02449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917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절차</a:t>
                      </a: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주요 내용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19892"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시스템을 설치를 하는 과정에서의 비상 사태 기준을 정하는 것으로써 사용자의 업무에 중대한 영향을 끼칠 우려가 있는 상황을 말한다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비상 대책 수립은 기존의 재해 복구 방법을 이용하면 편리하게 작업할 수 있다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pPr marL="271463" indent="-171450" algn="l" defTabSz="914400" rtl="0" eaLnBrk="1" fontAlgn="ctr" latinLnBrk="1" hangingPunct="1">
                        <a:lnSpc>
                          <a:spcPts val="800"/>
                        </a:lnSpc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설치하고자 하는 업무에 대하여 중대한 영향을 받을 수 있는 상황 기준을 정한다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lnSpc>
                          <a:spcPts val="800"/>
                        </a:lnSpc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설치하는 시스템에서 중대한 영향을 파생시킬 수 있는 상황 기준이 발생할 가능성을 나열한다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lnSpc>
                          <a:spcPts val="800"/>
                        </a:lnSpc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사용자와 개발자간에 협의를 하여 정하고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비상사태가 발생하지 않도록 준비를 철저히 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필요하면 사전에 사용자와 함께 모의 테스트를 할 수 있다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lnSpc>
                          <a:spcPts val="800"/>
                        </a:lnSpc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비상사태 결정을 내릴 결정권자를 정한다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19892"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endParaRPr lang="ko-KR" altLang="en-US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 시스템의 설치 및 데이터 마이그레이션이 실패했을 경우 기존 시스템으로 복구되어 계속 사용자가 시스템을 사용할 수 있도록 기존 시스템 운영에 필수적인 화일 목록과 변수를 작성하고 기존 환경의 모든 요소도 시스템 설치가 성공할 때까지 보존한다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 시스템에 필수적으로 대응되는 기존 시스템의 최소화 운영 방안 설정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시스템의 시스템 문서 보관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 복구 시 운영할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H/W, S/W, N/W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지정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대체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도 지정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시스템의 화일 목록과 프로그램 목록 작성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시스템의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S/W(O/S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및 어플리케이션 등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화일 백업 및 보관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8341"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 시스템 설치 및 데이터 마이그레이션이 실패할 경우를 대비해 기존 시스템을 복구하기 위해 설치되었거나 설치되고 있는 신규 시스템에 대한 철수 절차를 작성한다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제거하여야 할 신규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목록을 작성한다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제거하여야 할 신규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기존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대체시키는 절차를 작성한다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설치한 신규 어플리케이션을 제거하는 절차를 작성한다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908070"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 환경 및 시스템을 재설치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또는 재가동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하는 절차를 작성하며 이에 소요되는 시간도 측정한다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재복구할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Job Control Language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작성한다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최소 한도로 운영시킬 수 있는 기존 시스템을 확인한다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시스템의 백업된 화일을 재복구한다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시스템을 점검한다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기존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고장 시 대체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H/W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기존 시스템을 운영한다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재복구 작업을 기존 시스템에서 수행하여 보고 재복구 시간을 측정한다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수작업 방안도 강구한다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16790"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신규 시스템의 설치 지연이나 실패 등과 같은 비상사태에 대해 사용자와 설치팀이 만족할 수 있는 비상 대책 방안이 되도록 검토 및 합의한다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사용자와 함께 사용자 운영 업무에 어려움이 없도록 하되 부득이한 경우에는 최소의 영향이 미치도록 방안을 검토한다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2" name="Rectangle 11"/>
          <p:cNvSpPr>
            <a:spLocks noChangeArrowheads="1"/>
          </p:cNvSpPr>
          <p:nvPr>
            <p:custDataLst>
              <p:tags r:id="rId1"/>
            </p:custDataLst>
          </p:nvPr>
        </p:nvSpPr>
        <p:spPr bwMode="blackWhite">
          <a:xfrm>
            <a:off x="563720" y="2332916"/>
            <a:ext cx="1829520" cy="579784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  <a:buClr>
                <a:srgbClr val="7DAFFA">
                  <a:lumMod val="50000"/>
                </a:srgbClr>
              </a:buClr>
            </a:pP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비상 사태 정의</a:t>
            </a:r>
            <a:endParaRPr lang="en-US" altLang="ko-KR" sz="10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3" name="Rectangle 11"/>
          <p:cNvSpPr>
            <a:spLocks noChangeArrowheads="1"/>
          </p:cNvSpPr>
          <p:nvPr>
            <p:custDataLst>
              <p:tags r:id="rId2"/>
            </p:custDataLst>
          </p:nvPr>
        </p:nvSpPr>
        <p:spPr bwMode="blackWhite">
          <a:xfrm>
            <a:off x="563720" y="3243569"/>
            <a:ext cx="1829520" cy="579784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  <a:buClr>
                <a:srgbClr val="7DAFFA">
                  <a:lumMod val="50000"/>
                </a:srgbClr>
              </a:buClr>
            </a:pP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기존 시스템 필수 목록 작성</a:t>
            </a:r>
            <a:endParaRPr lang="en-US" altLang="ko-KR" sz="10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64" name="꺾인 연결선 14"/>
          <p:cNvCxnSpPr>
            <a:stCxn id="62" idx="2"/>
            <a:endCxn id="63" idx="0"/>
          </p:cNvCxnSpPr>
          <p:nvPr/>
        </p:nvCxnSpPr>
        <p:spPr bwMode="auto">
          <a:xfrm>
            <a:off x="1478480" y="2912700"/>
            <a:ext cx="0" cy="33086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5" name="Rectangle 11"/>
          <p:cNvSpPr>
            <a:spLocks noChangeArrowheads="1"/>
          </p:cNvSpPr>
          <p:nvPr>
            <p:custDataLst>
              <p:tags r:id="rId3"/>
            </p:custDataLst>
          </p:nvPr>
        </p:nvSpPr>
        <p:spPr bwMode="blackWhite">
          <a:xfrm>
            <a:off x="563720" y="4111048"/>
            <a:ext cx="1829520" cy="479160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  <a:buClr>
                <a:srgbClr val="7DAFFA">
                  <a:lumMod val="50000"/>
                </a:srgbClr>
              </a:buClr>
            </a:pP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신규 시스템 철수 절차 작성</a:t>
            </a:r>
            <a:endParaRPr lang="en-US" altLang="ko-KR" sz="10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6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blackWhite">
          <a:xfrm>
            <a:off x="563720" y="4964634"/>
            <a:ext cx="1829520" cy="579784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  <a:buClr>
                <a:srgbClr val="7DAFFA">
                  <a:lumMod val="50000"/>
                </a:srgbClr>
              </a:buClr>
            </a:pP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기존 시스템 재설치</a:t>
            </a:r>
            <a:r>
              <a: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또는 재가동</a:t>
            </a:r>
            <a:r>
              <a:rPr lang="en-US" altLang="ko-KR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절차 작성</a:t>
            </a:r>
            <a:endParaRPr lang="en-US" altLang="ko-KR" sz="10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7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blackWhite">
          <a:xfrm>
            <a:off x="563720" y="5868114"/>
            <a:ext cx="1829520" cy="270474"/>
          </a:xfrm>
          <a:prstGeom prst="rect">
            <a:avLst/>
          </a:prstGeom>
          <a:solidFill>
            <a:schemeClr val="accent3">
              <a:lumMod val="90000"/>
            </a:schemeClr>
          </a:solidFill>
          <a:ln w="3175" algn="ctr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/>
          <a:extLst/>
        </p:spPr>
        <p:txBody>
          <a:bodyPr wrap="square" lIns="36000" rIns="36000" anchor="ctr"/>
          <a:lstStyle/>
          <a:p>
            <a:pPr algn="ctr">
              <a:lnSpc>
                <a:spcPts val="1000"/>
              </a:lnSpc>
              <a:buClr>
                <a:srgbClr val="7DAFFA">
                  <a:lumMod val="50000"/>
                </a:srgbClr>
              </a:buClr>
            </a:pPr>
            <a:r>
              <a:rPr lang="ko-KR" altLang="en-US" sz="1000" b="1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사용자와 비상대책 방안 검토</a:t>
            </a:r>
            <a:endParaRPr lang="en-US" altLang="ko-KR" sz="1000" b="1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1" name="꺾인 연결선 26"/>
          <p:cNvCxnSpPr>
            <a:stCxn id="63" idx="2"/>
            <a:endCxn id="65" idx="0"/>
          </p:cNvCxnSpPr>
          <p:nvPr/>
        </p:nvCxnSpPr>
        <p:spPr bwMode="auto">
          <a:xfrm>
            <a:off x="1478480" y="3823353"/>
            <a:ext cx="0" cy="28769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72" name="꺾인 연결선 29"/>
          <p:cNvCxnSpPr>
            <a:stCxn id="65" idx="2"/>
            <a:endCxn id="66" idx="0"/>
          </p:cNvCxnSpPr>
          <p:nvPr/>
        </p:nvCxnSpPr>
        <p:spPr bwMode="auto">
          <a:xfrm>
            <a:off x="1478480" y="4590208"/>
            <a:ext cx="0" cy="37442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73" name="꺾인 연결선 33"/>
          <p:cNvCxnSpPr>
            <a:stCxn id="66" idx="2"/>
            <a:endCxn id="67" idx="0"/>
          </p:cNvCxnSpPr>
          <p:nvPr/>
        </p:nvCxnSpPr>
        <p:spPr bwMode="auto">
          <a:xfrm>
            <a:off x="1478480" y="5544418"/>
            <a:ext cx="0" cy="32369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74" name="타원 73"/>
          <p:cNvSpPr/>
          <p:nvPr/>
        </p:nvSpPr>
        <p:spPr bwMode="auto">
          <a:xfrm>
            <a:off x="448785" y="2514808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5" name="타원 74"/>
          <p:cNvSpPr/>
          <p:nvPr/>
        </p:nvSpPr>
        <p:spPr bwMode="auto">
          <a:xfrm>
            <a:off x="448785" y="3425461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타원 75"/>
          <p:cNvSpPr/>
          <p:nvPr/>
        </p:nvSpPr>
        <p:spPr bwMode="auto">
          <a:xfrm>
            <a:off x="448785" y="4242628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타원 76"/>
          <p:cNvSpPr/>
          <p:nvPr/>
        </p:nvSpPr>
        <p:spPr bwMode="auto">
          <a:xfrm>
            <a:off x="448785" y="5146526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타원 77"/>
          <p:cNvSpPr/>
          <p:nvPr/>
        </p:nvSpPr>
        <p:spPr bwMode="auto">
          <a:xfrm>
            <a:off x="448785" y="5895351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b="1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lang="ko-KR" altLang="en-US" sz="1100" b="1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8264590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lIns="0" tIns="0" rIns="0" bIns="0" anchor="t" anchorCtr="0">
            <a:noAutofit/>
          </a:bodyPr>
          <a:lstStyle/>
          <a:p>
            <a:pPr algn="just"/>
            <a:r>
              <a:rPr lang="en-US" altLang="ko-KR" dirty="0"/>
              <a:t>AS-IS </a:t>
            </a:r>
            <a:r>
              <a:rPr lang="ko-KR" altLang="en-US" dirty="0"/>
              <a:t>데이터의 성공적인 데이터 전환을 위해 데이터 클린징 절차를 정의하고 데이터 클린징 유형을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3.8.6 </a:t>
            </a:r>
            <a:r>
              <a:rPr lang="ko-KR" altLang="en-US" sz="1800" smtClean="0"/>
              <a:t>데이터 </a:t>
            </a:r>
            <a:r>
              <a:rPr lang="ko-KR" altLang="en-US" sz="1800" dirty="0"/>
              <a:t>클린징 방안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5" name="그룹 67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69" name="직사각형 68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클린징 방안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aphicFrame>
        <p:nvGraphicFramePr>
          <p:cNvPr id="28" name="표 27"/>
          <p:cNvGraphicFramePr>
            <a:graphicFrameLocks noGrp="1"/>
          </p:cNvGraphicFramePr>
          <p:nvPr>
            <p:extLst/>
          </p:nvPr>
        </p:nvGraphicFramePr>
        <p:xfrm>
          <a:off x="451543" y="2312876"/>
          <a:ext cx="4875060" cy="392441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109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6139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115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클린징 절차</a:t>
                      </a: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주요 내용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68353">
                <a:tc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정제 데이터 선정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마이그레이션 대상 데이터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중 데이터 클린징을 수행할 데이터 항목을 정의한다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전체 데이터에 대한 클린징을 권장함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시간 및 비용에 따른 부분적인 데이터 클린징 시 마스터데이터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코드데이터 및 업무 트랜잭션 데이터를 중심으로 중요 데이터를 선정한다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클린징 대상에 대한 </a:t>
                      </a:r>
                      <a:r>
                        <a:rPr lang="ko-KR" altLang="en-US" sz="8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클린징 유형을 식별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클린징을  수행할 데이터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목록을 문서화한다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.(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건수 등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20425">
                <a:tc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표준화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 클린징을 위한 기준이 되는 데이터 항목에 대한 표준화를 수행한다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 도메인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표준 코드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규칙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81825">
                <a:tc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정제 데이터 추출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정제 대상 데이터를 추출하여 작업 영역에 로드한다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클린징을 위한 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차 변환 실시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(Lookup,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data update, Mapping </a:t>
                      </a:r>
                      <a:r>
                        <a:rPr lang="ko-KR" altLang="en-US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등에  의한 변경 등</a:t>
                      </a:r>
                      <a:r>
                        <a:rPr lang="en-US" altLang="ko-KR" sz="9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42221">
                <a:tc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 정제를 실시한다</a:t>
                      </a:r>
                      <a:r>
                        <a:rPr lang="en-US" altLang="ko-KR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정제된  데이터를 갱신한다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9" name="표 28"/>
          <p:cNvGraphicFramePr>
            <a:graphicFrameLocks noGrp="1"/>
          </p:cNvGraphicFramePr>
          <p:nvPr>
            <p:extLst/>
          </p:nvPr>
        </p:nvGraphicFramePr>
        <p:xfrm>
          <a:off x="5745617" y="2312877"/>
          <a:ext cx="3743887" cy="39312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881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36487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00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224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유형</a:t>
                      </a:r>
                    </a:p>
                  </a:txBody>
                  <a:tcPr marL="6522" marR="6522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정제 측정 항목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6522" marR="6522" marT="36000" marB="36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39857">
                <a:tc rowSpan="3"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완전성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Null Value Check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Null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값을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가지는 컬럼별 측정치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Space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Space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값을 가지는 컬럼별 측정치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Default Value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기본 값을 가지는 컬럼별 측정치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857">
                <a:tc rowSpan="4"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유효성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Format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 Format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유효성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Range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범위를 벗어나는 데이터 유효성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 데이터 불일치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코드 값 유효성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정규화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정규화 위배 체크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857">
                <a:tc rowSpan="2"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무결성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Key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PK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유일성 체크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0512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Foreign</a:t>
                      </a:r>
                      <a:r>
                        <a:rPr lang="en-US" altLang="ko-KR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Key / </a:t>
                      </a:r>
                      <a:r>
                        <a:rPr lang="ko-KR" altLang="en-US" sz="800" u="none" strike="noStrike" kern="1200" baseline="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참조무결성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참조 무결성 체크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40512">
                <a:tc rowSpan="4"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정합성</a:t>
                      </a:r>
                    </a:p>
                  </a:txBody>
                  <a:tcPr marL="0" marR="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Value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간의 집합 개념의 일치성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두 가지 이상의 조합된 값 체크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405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71463" marR="0" lvl="0" indent="-17145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ü"/>
                        <a:tabLst/>
                        <a:defRPr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산술규칙에 의한 </a:t>
                      </a: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Value</a:t>
                      </a:r>
                      <a:endParaRPr lang="ko-KR" altLang="en-US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계산식에 위배된 값 체크</a:t>
                      </a: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en-US" altLang="ko-KR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Time </a:t>
                      </a: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종속 관계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시간과 관련된 값 체크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857">
                <a:tc vMerge="1">
                  <a:txBody>
                    <a:bodyPr/>
                    <a:lstStyle/>
                    <a:p>
                      <a:pPr marL="100013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조건 종속 관계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업무 규칙 위배 체크</a:t>
                      </a:r>
                      <a:endParaRPr lang="en-US" altLang="ko-KR" sz="9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857">
                <a:tc>
                  <a:txBody>
                    <a:bodyPr/>
                    <a:lstStyle/>
                    <a:p>
                      <a:pPr marL="0" indent="0" algn="ctr" defTabSz="914400" rtl="0" eaLnBrk="1" fontAlgn="ctr" latinLnBrk="1" hangingPunct="1">
                        <a:buFont typeface="Wingdings" panose="05000000000000000000" pitchFamily="2" charset="2"/>
                        <a:buNone/>
                      </a:pPr>
                      <a:r>
                        <a:rPr lang="ko-KR" altLang="en-US" sz="10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중복성</a:t>
                      </a:r>
                      <a:endParaRPr lang="en-US" altLang="ko-KR" sz="1000" b="1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0" marR="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71463" indent="-171450" algn="l" defTabSz="914400" rtl="0" eaLnBrk="1" fontAlgn="ctr" latinLnBrk="1" hangingPunct="1">
                        <a:buFont typeface="Wingdings" panose="05000000000000000000" pitchFamily="2" charset="2"/>
                        <a:buChar char="ü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중복 데이터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914400" rtl="0" eaLnBrk="1" fontAlgn="ctr" latinLnBrk="1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u="none" strike="noStrike" kern="1200" dirty="0">
                          <a:solidFill>
                            <a:schemeClr val="dk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 간 중복 데이터의 일치성</a:t>
                      </a:r>
                      <a:endParaRPr lang="en-US" altLang="ko-KR" sz="800" u="none" strike="noStrike" kern="1200" dirty="0">
                        <a:solidFill>
                          <a:schemeClr val="dk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72000" anchor="ctr">
                    <a:lnL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0" name="직사각형 29"/>
          <p:cNvSpPr/>
          <p:nvPr/>
        </p:nvSpPr>
        <p:spPr>
          <a:xfrm>
            <a:off x="5745617" y="1971904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클린징 유형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AutoShape 12"/>
          <p:cNvSpPr>
            <a:spLocks noChangeArrowheads="1"/>
          </p:cNvSpPr>
          <p:nvPr/>
        </p:nvSpPr>
        <p:spPr bwMode="auto">
          <a:xfrm rot="5400000">
            <a:off x="3729446" y="4273666"/>
            <a:ext cx="3570248" cy="277200"/>
          </a:xfrm>
          <a:prstGeom prst="triangle">
            <a:avLst>
              <a:gd name="adj" fmla="val 50000"/>
            </a:avLst>
          </a:prstGeom>
          <a:gradFill rotWithShape="1">
            <a:gsLst>
              <a:gs pos="0">
                <a:schemeClr val="accent1"/>
              </a:gs>
              <a:gs pos="100000">
                <a:srgbClr val="FFFFFF"/>
              </a:gs>
            </a:gsLst>
            <a:lin ang="5400000" scaled="1"/>
          </a:gradFill>
          <a:ln w="6350" algn="ctr">
            <a:noFill/>
            <a:miter lim="800000"/>
            <a:headEnd/>
            <a:tailEnd type="none" w="sm" len="sm"/>
          </a:ln>
          <a:effectLst/>
        </p:spPr>
        <p:txBody>
          <a:bodyPr wrap="none" lIns="0" tIns="0" rIns="0" bIns="0" anchor="ctr"/>
          <a:lstStyle/>
          <a:p>
            <a:endParaRPr lang="ko-KR" altLang="en-US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482567" y="1971904"/>
            <a:ext cx="4103927" cy="29501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177800" indent="-177800">
              <a:lnSpc>
                <a:spcPts val="1700"/>
              </a:lnSpc>
              <a:spcBef>
                <a:spcPts val="600"/>
              </a:spcBef>
              <a:buClr>
                <a:sysClr val="windowText" lastClr="000000"/>
              </a:buClr>
              <a:buFont typeface="Wingdings" pitchFamily="2" charset="2"/>
              <a:buChar char="q"/>
            </a:pPr>
            <a:r>
              <a:rPr lang="ko-KR" altLang="en-US" sz="14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데이터 클린징 절차 정의</a:t>
            </a:r>
            <a:endParaRPr lang="en-US" altLang="ko-KR" sz="14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타원 32"/>
          <p:cNvSpPr/>
          <p:nvPr/>
        </p:nvSpPr>
        <p:spPr bwMode="auto">
          <a:xfrm>
            <a:off x="374555" y="3104964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타원 33"/>
          <p:cNvSpPr/>
          <p:nvPr/>
        </p:nvSpPr>
        <p:spPr bwMode="auto">
          <a:xfrm>
            <a:off x="374555" y="4114410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타원 34"/>
          <p:cNvSpPr/>
          <p:nvPr/>
        </p:nvSpPr>
        <p:spPr bwMode="auto">
          <a:xfrm>
            <a:off x="374555" y="4994061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타원 37"/>
          <p:cNvSpPr/>
          <p:nvPr/>
        </p:nvSpPr>
        <p:spPr bwMode="auto">
          <a:xfrm>
            <a:off x="374555" y="5791839"/>
            <a:ext cx="216024" cy="2160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9050">
            <a:headEnd type="none" w="med" len="med"/>
            <a:tailEnd type="none" w="med" len="med"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5725" indent="-85725" algn="ctr">
              <a:spcBef>
                <a:spcPts val="600"/>
              </a:spcBef>
              <a:buClr>
                <a:srgbClr val="000000"/>
              </a:buClr>
              <a:buSzPct val="90000"/>
            </a:pPr>
            <a:r>
              <a:rPr lang="en-US" altLang="ko-KR" sz="110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lang="ko-KR" altLang="en-US" sz="1100" dirty="0">
              <a:solidFill>
                <a:srgbClr val="FFFFFF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20455131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향후 목표 경영정보</a:t>
            </a:r>
            <a:r>
              <a:rPr lang="en-US" altLang="ko-KR" dirty="0"/>
              <a:t>DB </a:t>
            </a:r>
            <a:r>
              <a:rPr lang="ko-KR" altLang="en-US" dirty="0"/>
              <a:t>구축에 따른 기존 통합재무정보시스템</a:t>
            </a:r>
            <a:r>
              <a:rPr lang="en-US" altLang="ko-KR" dirty="0"/>
              <a:t>, </a:t>
            </a:r>
            <a:r>
              <a:rPr lang="ko-KR" altLang="en-US" dirty="0"/>
              <a:t>인적자원관리시스템</a:t>
            </a:r>
            <a:r>
              <a:rPr lang="en-US" altLang="ko-KR" dirty="0"/>
              <a:t>, </a:t>
            </a:r>
            <a:r>
              <a:rPr lang="ko-KR" altLang="en-US" dirty="0"/>
              <a:t>계약관리시스템</a:t>
            </a:r>
            <a:r>
              <a:rPr lang="en-US" altLang="ko-KR" dirty="0"/>
              <a:t>, </a:t>
            </a:r>
            <a:r>
              <a:rPr lang="ko-KR" altLang="en-US" dirty="0"/>
              <a:t>기금지원시스템의 데이터 이관 대상 데이터로 설정하고</a:t>
            </a:r>
            <a:r>
              <a:rPr lang="en-US" altLang="ko-KR" dirty="0"/>
              <a:t>, </a:t>
            </a:r>
            <a:r>
              <a:rPr lang="ko-KR" altLang="en-US" dirty="0"/>
              <a:t>데이터 이관절차를 마련함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 smtClean="0"/>
              <a:t>3.8.7 </a:t>
            </a:r>
            <a:r>
              <a:rPr lang="ko-KR" altLang="en-US" sz="1800" smtClean="0"/>
              <a:t>데이터 </a:t>
            </a:r>
            <a:r>
              <a:rPr lang="ko-KR" altLang="en-US" sz="1800" dirty="0"/>
              <a:t>이관</a:t>
            </a:r>
            <a:r>
              <a:rPr lang="en-US" altLang="ko-KR" sz="1800" dirty="0"/>
              <a:t> </a:t>
            </a:r>
            <a:r>
              <a:rPr lang="ko-KR" altLang="en-US" sz="1800" dirty="0"/>
              <a:t>범위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7" name="그룹 67"/>
          <p:cNvGrpSpPr/>
          <p:nvPr/>
        </p:nvGrpSpPr>
        <p:grpSpPr>
          <a:xfrm>
            <a:off x="344489" y="1593850"/>
            <a:ext cx="9217024" cy="4714875"/>
            <a:chOff x="344489" y="1593850"/>
            <a:chExt cx="9217024" cy="4714875"/>
          </a:xfrm>
        </p:grpSpPr>
        <p:sp>
          <p:nvSpPr>
            <p:cNvPr id="8" name="직사각형 7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44489" y="1593850"/>
              <a:ext cx="9217023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데이터 이관 범위 및 개념도</a:t>
              </a:r>
            </a:p>
          </p:txBody>
        </p:sp>
        <p:sp>
          <p:nvSpPr>
            <p:cNvPr id="9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89" y="1917886"/>
              <a:ext cx="9217024" cy="4390839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36" name="직선 연결선 369"/>
          <p:cNvCxnSpPr>
            <a:cxnSpLocks noChangeShapeType="1"/>
          </p:cNvCxnSpPr>
          <p:nvPr/>
        </p:nvCxnSpPr>
        <p:spPr bwMode="auto">
          <a:xfrm flipH="1">
            <a:off x="6817822" y="4464404"/>
            <a:ext cx="390216" cy="0"/>
          </a:xfrm>
          <a:prstGeom prst="line">
            <a:avLst/>
          </a:prstGeom>
          <a:noFill/>
          <a:ln w="38100" algn="ctr">
            <a:solidFill>
              <a:srgbClr val="40404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직사각형 36"/>
          <p:cNvSpPr/>
          <p:nvPr/>
        </p:nvSpPr>
        <p:spPr bwMode="auto">
          <a:xfrm>
            <a:off x="6972453" y="2013484"/>
            <a:ext cx="356811" cy="4151820"/>
          </a:xfrm>
          <a:prstGeom prst="rect">
            <a:avLst/>
          </a:prstGeom>
          <a:solidFill>
            <a:srgbClr val="508CD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eaVert" anchor="ctr"/>
          <a:lstStyle/>
          <a:p>
            <a:pPr algn="ctr">
              <a:buNone/>
              <a:defRPr/>
            </a:pPr>
            <a:r>
              <a:rPr lang="ko-KR" altLang="en-US" sz="1400" b="1" kern="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동일 데이터 이관방식</a:t>
            </a:r>
            <a:endParaRPr lang="en-US" altLang="ko-KR" sz="1400" b="1" kern="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467304" y="2013484"/>
            <a:ext cx="6350321" cy="415182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buNone/>
              <a:defRPr/>
            </a:pPr>
            <a:endParaRPr lang="ko-KR" altLang="en-US" sz="1400" b="1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Rectangle 11"/>
          <p:cNvSpPr>
            <a:spLocks noChangeArrowheads="1"/>
          </p:cNvSpPr>
          <p:nvPr/>
        </p:nvSpPr>
        <p:spPr bwMode="auto">
          <a:xfrm>
            <a:off x="550857" y="2928622"/>
            <a:ext cx="6190320" cy="2484204"/>
          </a:xfrm>
          <a:prstGeom prst="rect">
            <a:avLst/>
          </a:prstGeom>
          <a:solidFill>
            <a:srgbClr val="82B4FA">
              <a:alpha val="49804"/>
            </a:srgbClr>
          </a:solidFill>
          <a:ln w="19050" algn="ctr">
            <a:solidFill>
              <a:srgbClr val="969696"/>
            </a:solidFill>
            <a:prstDash val="dash"/>
            <a:miter lim="800000"/>
            <a:headEnd/>
            <a:tailEnd/>
          </a:ln>
        </p:spPr>
        <p:txBody>
          <a:bodyPr lIns="90000" tIns="90000" rIns="90000" bIns="90000"/>
          <a:lstStyle/>
          <a:p>
            <a:pPr>
              <a:spcBef>
                <a:spcPct val="50000"/>
              </a:spcBef>
              <a:buNone/>
            </a:pPr>
            <a:endParaRPr lang="ko-KR" altLang="en-US" sz="1400">
              <a:solidFill>
                <a:schemeClr val="bg2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AutoShape 12"/>
          <p:cNvSpPr>
            <a:spLocks noChangeArrowheads="1"/>
          </p:cNvSpPr>
          <p:nvPr/>
        </p:nvSpPr>
        <p:spPr bwMode="auto">
          <a:xfrm>
            <a:off x="5729294" y="3284986"/>
            <a:ext cx="904920" cy="1800198"/>
          </a:xfrm>
          <a:prstGeom prst="can">
            <a:avLst>
              <a:gd name="adj" fmla="val 26609"/>
            </a:avLst>
          </a:prstGeom>
          <a:gradFill rotWithShape="0">
            <a:gsLst>
              <a:gs pos="0">
                <a:srgbClr val="9B9B9B"/>
              </a:gs>
              <a:gs pos="50000">
                <a:srgbClr val="EAEAEA"/>
              </a:gs>
              <a:gs pos="100000">
                <a:srgbClr val="9B9B9B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buNone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목표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algn="ctr">
              <a:buNone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경영정보</a:t>
            </a:r>
          </a:p>
        </p:txBody>
      </p:sp>
      <p:sp>
        <p:nvSpPr>
          <p:cNvPr id="41" name="Rectangle 13"/>
          <p:cNvSpPr>
            <a:spLocks noChangeArrowheads="1"/>
          </p:cNvSpPr>
          <p:nvPr/>
        </p:nvSpPr>
        <p:spPr bwMode="auto">
          <a:xfrm>
            <a:off x="2489304" y="2278091"/>
            <a:ext cx="2408586" cy="382449"/>
          </a:xfrm>
          <a:prstGeom prst="rect">
            <a:avLst/>
          </a:prstGeom>
          <a:solidFill>
            <a:srgbClr val="82B4FA"/>
          </a:solidFill>
          <a:ln w="9525">
            <a:solidFill>
              <a:srgbClr val="666699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latinLnBrk="1">
              <a:buNone/>
              <a:defRPr/>
            </a:pPr>
            <a:r>
              <a:rPr kumimoji="1" lang="ko-KR" altLang="en-US" sz="1400" dirty="0">
                <a:latin typeface="맑은 고딕" pitchFamily="50" charset="-127"/>
                <a:ea typeface="맑은 고딕" pitchFamily="50" charset="-127"/>
              </a:rPr>
              <a:t>데이터검증 프로그램</a:t>
            </a:r>
          </a:p>
        </p:txBody>
      </p:sp>
      <p:sp>
        <p:nvSpPr>
          <p:cNvPr id="42" name="Rectangle 14"/>
          <p:cNvSpPr>
            <a:spLocks noChangeArrowheads="1"/>
          </p:cNvSpPr>
          <p:nvPr/>
        </p:nvSpPr>
        <p:spPr bwMode="auto">
          <a:xfrm>
            <a:off x="2496107" y="5604055"/>
            <a:ext cx="2408586" cy="382449"/>
          </a:xfrm>
          <a:prstGeom prst="rect">
            <a:avLst/>
          </a:prstGeom>
          <a:solidFill>
            <a:srgbClr val="82B4FA"/>
          </a:solidFill>
          <a:ln w="9525">
            <a:solidFill>
              <a:srgbClr val="666699"/>
            </a:solidFill>
            <a:miter lim="800000"/>
            <a:headEnd/>
            <a:tailEnd/>
          </a:ln>
          <a:effectLst>
            <a:outerShdw dist="28398" dir="3806097" algn="ctr" rotWithShape="0">
              <a:schemeClr val="bg2"/>
            </a:outerShdw>
          </a:effectLst>
        </p:spPr>
        <p:txBody>
          <a:bodyPr wrap="none" anchor="ctr"/>
          <a:lstStyle/>
          <a:p>
            <a:pPr algn="ctr" latinLnBrk="1">
              <a:buNone/>
              <a:defRPr/>
            </a:pPr>
            <a:r>
              <a:rPr kumimoji="1" lang="ko-KR" altLang="en-US" sz="1400" dirty="0">
                <a:latin typeface="맑은 고딕" pitchFamily="50" charset="-127"/>
                <a:ea typeface="맑은 고딕" pitchFamily="50" charset="-127"/>
              </a:rPr>
              <a:t>데이터이관 프로그램</a:t>
            </a:r>
          </a:p>
        </p:txBody>
      </p:sp>
      <p:sp>
        <p:nvSpPr>
          <p:cNvPr id="44" name="AutoShape 19"/>
          <p:cNvSpPr>
            <a:spLocks noChangeArrowheads="1"/>
          </p:cNvSpPr>
          <p:nvPr/>
        </p:nvSpPr>
        <p:spPr bwMode="auto">
          <a:xfrm>
            <a:off x="5455811" y="2278091"/>
            <a:ext cx="904920" cy="566662"/>
          </a:xfrm>
          <a:prstGeom prst="flowChartDocument">
            <a:avLst/>
          </a:prstGeom>
          <a:solidFill>
            <a:srgbClr val="82B4FA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latinLnBrk="1">
              <a:buNone/>
            </a:pPr>
            <a:r>
              <a:rPr kumimoji="1" lang="ko-KR" altLang="en-US" sz="1400">
                <a:latin typeface="맑은 고딕" pitchFamily="50" charset="-127"/>
                <a:ea typeface="맑은 고딕" pitchFamily="50" charset="-127"/>
              </a:rPr>
              <a:t>검증결과</a:t>
            </a:r>
          </a:p>
          <a:p>
            <a:pPr algn="ctr" latinLnBrk="1">
              <a:buNone/>
            </a:pPr>
            <a:r>
              <a:rPr kumimoji="1" lang="en-US" altLang="ko-KR" sz="1400">
                <a:latin typeface="맑은 고딕" pitchFamily="50" charset="-127"/>
                <a:ea typeface="맑은 고딕" pitchFamily="50" charset="-127"/>
              </a:rPr>
              <a:t>Report</a:t>
            </a:r>
          </a:p>
        </p:txBody>
      </p:sp>
      <p:sp>
        <p:nvSpPr>
          <p:cNvPr id="45" name="Line 20"/>
          <p:cNvSpPr>
            <a:spLocks noChangeShapeType="1"/>
          </p:cNvSpPr>
          <p:nvPr/>
        </p:nvSpPr>
        <p:spPr bwMode="auto">
          <a:xfrm>
            <a:off x="4897890" y="2564794"/>
            <a:ext cx="526170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pPr>
              <a:buNone/>
            </a:pPr>
            <a:endParaRPr lang="ko-KR" altLang="en-US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Line 21"/>
          <p:cNvSpPr>
            <a:spLocks noChangeShapeType="1"/>
          </p:cNvSpPr>
          <p:nvPr/>
        </p:nvSpPr>
        <p:spPr bwMode="auto">
          <a:xfrm>
            <a:off x="2486094" y="4188433"/>
            <a:ext cx="3222787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pPr>
              <a:buNone/>
            </a:pPr>
            <a:endParaRPr lang="ko-KR" altLang="en-US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Rectangle 29"/>
          <p:cNvSpPr>
            <a:spLocks noChangeArrowheads="1"/>
          </p:cNvSpPr>
          <p:nvPr/>
        </p:nvSpPr>
        <p:spPr bwMode="auto">
          <a:xfrm>
            <a:off x="3490196" y="3246167"/>
            <a:ext cx="543739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latinLnBrk="1">
              <a:buNone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검사</a:t>
            </a:r>
          </a:p>
        </p:txBody>
      </p:sp>
      <p:sp>
        <p:nvSpPr>
          <p:cNvPr id="48" name="Rectangle 31"/>
          <p:cNvSpPr>
            <a:spLocks noChangeArrowheads="1"/>
          </p:cNvSpPr>
          <p:nvPr/>
        </p:nvSpPr>
        <p:spPr bwMode="auto">
          <a:xfrm>
            <a:off x="3457388" y="4893386"/>
            <a:ext cx="543739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latinLnBrk="1">
              <a:buNone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이행</a:t>
            </a:r>
          </a:p>
        </p:txBody>
      </p:sp>
      <p:cxnSp>
        <p:nvCxnSpPr>
          <p:cNvPr id="49" name="AutoShape 37"/>
          <p:cNvCxnSpPr>
            <a:cxnSpLocks noChangeShapeType="1"/>
            <a:stCxn id="41" idx="2"/>
            <a:endCxn id="64" idx="1"/>
          </p:cNvCxnSpPr>
          <p:nvPr/>
        </p:nvCxnSpPr>
        <p:spPr bwMode="auto">
          <a:xfrm rot="5400000">
            <a:off x="2558197" y="2149586"/>
            <a:ext cx="624447" cy="1646355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50" name="AutoShape 41"/>
          <p:cNvCxnSpPr>
            <a:cxnSpLocks noChangeShapeType="1"/>
            <a:stCxn id="42" idx="0"/>
            <a:endCxn id="60" idx="3"/>
          </p:cNvCxnSpPr>
          <p:nvPr/>
        </p:nvCxnSpPr>
        <p:spPr bwMode="auto">
          <a:xfrm rot="16200000" flipV="1">
            <a:off x="2160029" y="4063684"/>
            <a:ext cx="518871" cy="2561872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51" name="AutoShape 43"/>
          <p:cNvCxnSpPr>
            <a:cxnSpLocks noChangeShapeType="1"/>
            <a:stCxn id="42" idx="0"/>
            <a:endCxn id="40" idx="3"/>
          </p:cNvCxnSpPr>
          <p:nvPr/>
        </p:nvCxnSpPr>
        <p:spPr bwMode="auto">
          <a:xfrm rot="5400000" flipH="1" flipV="1">
            <a:off x="4681642" y="4103943"/>
            <a:ext cx="518871" cy="2481354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52" name="AutoShape 44"/>
          <p:cNvCxnSpPr>
            <a:cxnSpLocks noChangeShapeType="1"/>
            <a:stCxn id="41" idx="2"/>
            <a:endCxn id="40" idx="1"/>
          </p:cNvCxnSpPr>
          <p:nvPr/>
        </p:nvCxnSpPr>
        <p:spPr bwMode="auto">
          <a:xfrm rot="16200000" flipH="1">
            <a:off x="4625452" y="1728684"/>
            <a:ext cx="624446" cy="2488157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53" name="Rectangle 57"/>
          <p:cNvSpPr>
            <a:spLocks noChangeArrowheads="1"/>
          </p:cNvSpPr>
          <p:nvPr/>
        </p:nvSpPr>
        <p:spPr bwMode="auto">
          <a:xfrm>
            <a:off x="2676604" y="3871372"/>
            <a:ext cx="528436" cy="647613"/>
          </a:xfrm>
          <a:prstGeom prst="rect">
            <a:avLst/>
          </a:prstGeom>
          <a:solidFill>
            <a:srgbClr val="93FFFF">
              <a:alpha val="50195"/>
            </a:srgbClr>
          </a:solidFill>
          <a:ln w="28575">
            <a:solidFill>
              <a:srgbClr val="3366FF"/>
            </a:solidFill>
            <a:prstDash val="sysDot"/>
            <a:miter lim="800000"/>
            <a:headEnd/>
            <a:tailEnd/>
          </a:ln>
        </p:spPr>
        <p:txBody>
          <a:bodyPr wrap="none" lIns="90000" tIns="90000" rIns="90000" bIns="90000" anchor="ctr"/>
          <a:lstStyle/>
          <a:p>
            <a:pPr algn="ctr">
              <a:spcBef>
                <a:spcPct val="50000"/>
              </a:spcBef>
              <a:buNone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추출</a:t>
            </a:r>
          </a:p>
          <a:p>
            <a:pPr algn="ctr">
              <a:spcBef>
                <a:spcPct val="50000"/>
              </a:spcBef>
              <a:buNone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Rectangle 59"/>
          <p:cNvSpPr>
            <a:spLocks noChangeArrowheads="1"/>
          </p:cNvSpPr>
          <p:nvPr/>
        </p:nvSpPr>
        <p:spPr bwMode="auto">
          <a:xfrm>
            <a:off x="4885609" y="3871372"/>
            <a:ext cx="526170" cy="647613"/>
          </a:xfrm>
          <a:prstGeom prst="rect">
            <a:avLst/>
          </a:prstGeom>
          <a:solidFill>
            <a:srgbClr val="93FFFF">
              <a:alpha val="50195"/>
            </a:srgbClr>
          </a:solidFill>
          <a:ln w="28575">
            <a:solidFill>
              <a:srgbClr val="3366FF"/>
            </a:solidFill>
            <a:prstDash val="sysDot"/>
            <a:miter lim="800000"/>
            <a:headEnd/>
            <a:tailEnd/>
          </a:ln>
        </p:spPr>
        <p:txBody>
          <a:bodyPr wrap="none" lIns="90000" tIns="90000" rIns="90000" bIns="90000" anchor="ctr"/>
          <a:lstStyle/>
          <a:p>
            <a:pPr algn="ctr">
              <a:spcBef>
                <a:spcPct val="50000"/>
              </a:spcBef>
              <a:buNone/>
            </a:pPr>
            <a:r>
              <a:rPr lang="ko-KR" altLang="en-US" sz="1400" b="1">
                <a:latin typeface="맑은 고딕" pitchFamily="50" charset="-127"/>
                <a:ea typeface="맑은 고딕" pitchFamily="50" charset="-127"/>
              </a:rPr>
              <a:t>적재</a:t>
            </a:r>
          </a:p>
          <a:p>
            <a:pPr algn="ctr">
              <a:spcBef>
                <a:spcPct val="50000"/>
              </a:spcBef>
              <a:buNone/>
            </a:pP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Rectangle 60"/>
          <p:cNvSpPr>
            <a:spLocks noChangeArrowheads="1"/>
          </p:cNvSpPr>
          <p:nvPr/>
        </p:nvSpPr>
        <p:spPr bwMode="auto">
          <a:xfrm>
            <a:off x="3782239" y="3871372"/>
            <a:ext cx="526170" cy="647613"/>
          </a:xfrm>
          <a:prstGeom prst="rect">
            <a:avLst/>
          </a:prstGeom>
          <a:solidFill>
            <a:srgbClr val="93FFFF">
              <a:alpha val="50195"/>
            </a:srgbClr>
          </a:solidFill>
          <a:ln w="28575">
            <a:solidFill>
              <a:srgbClr val="3366FF"/>
            </a:solidFill>
            <a:prstDash val="sysDot"/>
            <a:miter lim="800000"/>
            <a:headEnd/>
            <a:tailEnd/>
          </a:ln>
        </p:spPr>
        <p:txBody>
          <a:bodyPr wrap="none" lIns="90000" tIns="90000" rIns="90000" bIns="90000" anchor="ctr"/>
          <a:lstStyle/>
          <a:p>
            <a:pPr algn="ctr">
              <a:spcBef>
                <a:spcPct val="50000"/>
              </a:spcBef>
              <a:buNone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정제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ctr">
              <a:spcBef>
                <a:spcPct val="50000"/>
              </a:spcBef>
              <a:buNone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변환</a:t>
            </a:r>
          </a:p>
        </p:txBody>
      </p:sp>
      <p:cxnSp>
        <p:nvCxnSpPr>
          <p:cNvPr id="57" name="AutoShape 37"/>
          <p:cNvCxnSpPr>
            <a:cxnSpLocks noChangeShapeType="1"/>
            <a:stCxn id="41" idx="2"/>
            <a:endCxn id="65" idx="1"/>
          </p:cNvCxnSpPr>
          <p:nvPr/>
        </p:nvCxnSpPr>
        <p:spPr bwMode="auto">
          <a:xfrm rot="5400000">
            <a:off x="2105736" y="1697125"/>
            <a:ext cx="624446" cy="2551277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58" name="AutoShape 41"/>
          <p:cNvCxnSpPr>
            <a:cxnSpLocks noChangeShapeType="1"/>
            <a:stCxn id="42" idx="0"/>
            <a:endCxn id="59" idx="3"/>
          </p:cNvCxnSpPr>
          <p:nvPr/>
        </p:nvCxnSpPr>
        <p:spPr bwMode="auto">
          <a:xfrm rot="16200000" flipV="1">
            <a:off x="2612490" y="4516145"/>
            <a:ext cx="518871" cy="1656950"/>
          </a:xfrm>
          <a:prstGeom prst="bentConnector3">
            <a:avLst>
              <a:gd name="adj1" fmla="val 50000"/>
            </a:avLst>
          </a:prstGeom>
          <a:noFill/>
          <a:ln w="31750">
            <a:solidFill>
              <a:schemeClr val="tx1"/>
            </a:solidFill>
            <a:miter lim="800000"/>
            <a:headEnd/>
            <a:tailEnd type="triangle" w="med" len="med"/>
          </a:ln>
        </p:spPr>
      </p:cxnSp>
      <p:grpSp>
        <p:nvGrpSpPr>
          <p:cNvPr id="66" name="그룹 65"/>
          <p:cNvGrpSpPr/>
          <p:nvPr/>
        </p:nvGrpSpPr>
        <p:grpSpPr>
          <a:xfrm>
            <a:off x="686067" y="3284986"/>
            <a:ext cx="1813635" cy="1800198"/>
            <a:chOff x="726408" y="3242133"/>
            <a:chExt cx="1813635" cy="2093959"/>
          </a:xfrm>
        </p:grpSpPr>
        <p:sp>
          <p:nvSpPr>
            <p:cNvPr id="59" name="AutoShape 18">
              <a:extLst>
                <a:ext uri="{FF2B5EF4-FFF2-40B4-BE49-F238E27FC236}">
                  <a16:creationId xmlns="" xmlns:a16="http://schemas.microsoft.com/office/drawing/2014/main" id="{632982ED-AFD0-4F2D-ACDA-65F519440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330" y="4508093"/>
              <a:ext cx="904921" cy="827999"/>
            </a:xfrm>
            <a:prstGeom prst="can">
              <a:avLst>
                <a:gd name="adj" fmla="val 30185"/>
              </a:avLst>
            </a:prstGeom>
            <a:gradFill rotWithShape="0">
              <a:gsLst>
                <a:gs pos="0">
                  <a:srgbClr val="9B9B9B"/>
                </a:gs>
                <a:gs pos="50000">
                  <a:srgbClr val="EAEAEA"/>
                </a:gs>
                <a:gs pos="100000">
                  <a:srgbClr val="9B9B9B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latinLnBrk="1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kumimoji="1" lang="ko-KR" altLang="en-US" sz="1400" smtClean="0">
                  <a:latin typeface="맑은 고딕" pitchFamily="50" charset="-127"/>
                  <a:ea typeface="맑은 고딕" pitchFamily="50" charset="-127"/>
                </a:rPr>
                <a:t>자산관리</a:t>
              </a:r>
              <a:endParaRPr kumimoji="1" lang="ko-KR" altLang="en-US" sz="14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0" name="AutoShape 18">
              <a:extLst>
                <a:ext uri="{FF2B5EF4-FFF2-40B4-BE49-F238E27FC236}">
                  <a16:creationId xmlns="" xmlns:a16="http://schemas.microsoft.com/office/drawing/2014/main" id="{4B0C4866-BB4A-4523-9BA7-A62689E39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408" y="4508093"/>
              <a:ext cx="904921" cy="827999"/>
            </a:xfrm>
            <a:prstGeom prst="can">
              <a:avLst>
                <a:gd name="adj" fmla="val 30185"/>
              </a:avLst>
            </a:prstGeom>
            <a:gradFill rotWithShape="0">
              <a:gsLst>
                <a:gs pos="0">
                  <a:srgbClr val="9B9B9B"/>
                </a:gs>
                <a:gs pos="50000">
                  <a:srgbClr val="EAEAEA"/>
                </a:gs>
                <a:gs pos="100000">
                  <a:srgbClr val="9B9B9B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latinLnBrk="1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kumimoji="1" lang="ko-KR" altLang="en-US" sz="1400" smtClean="0">
                  <a:latin typeface="맑은 고딕" pitchFamily="50" charset="-127"/>
                  <a:ea typeface="맑은 고딕" pitchFamily="50" charset="-127"/>
                </a:rPr>
                <a:t>구매관리</a:t>
              </a:r>
              <a:endParaRPr kumimoji="1" lang="ko-KR" altLang="en-US" sz="14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4" name="AutoShape 18"/>
            <p:cNvSpPr>
              <a:spLocks noChangeArrowheads="1"/>
            </p:cNvSpPr>
            <p:nvPr/>
          </p:nvSpPr>
          <p:spPr bwMode="auto">
            <a:xfrm>
              <a:off x="1635122" y="3242134"/>
              <a:ext cx="904921" cy="827999"/>
            </a:xfrm>
            <a:prstGeom prst="can">
              <a:avLst>
                <a:gd name="adj" fmla="val 30185"/>
              </a:avLst>
            </a:prstGeom>
            <a:gradFill rotWithShape="0">
              <a:gsLst>
                <a:gs pos="0">
                  <a:srgbClr val="9B9B9B"/>
                </a:gs>
                <a:gs pos="50000">
                  <a:srgbClr val="EAEAEA"/>
                </a:gs>
                <a:gs pos="100000">
                  <a:srgbClr val="9B9B9B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latinLnBrk="1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kumimoji="1" lang="ko-KR" altLang="en-US" sz="1400" smtClean="0">
                  <a:latin typeface="맑은 고딕" pitchFamily="50" charset="-127"/>
                  <a:ea typeface="맑은 고딕" pitchFamily="50" charset="-127"/>
                </a:rPr>
                <a:t>회계관리</a:t>
              </a:r>
              <a:endParaRPr kumimoji="1" lang="ko-KR" altLang="en-US" sz="14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5" name="AutoShape 18"/>
            <p:cNvSpPr>
              <a:spLocks noChangeArrowheads="1"/>
            </p:cNvSpPr>
            <p:nvPr/>
          </p:nvSpPr>
          <p:spPr bwMode="auto">
            <a:xfrm>
              <a:off x="730200" y="3242133"/>
              <a:ext cx="904921" cy="827999"/>
            </a:xfrm>
            <a:prstGeom prst="can">
              <a:avLst>
                <a:gd name="adj" fmla="val 30185"/>
              </a:avLst>
            </a:prstGeom>
            <a:gradFill rotWithShape="0">
              <a:gsLst>
                <a:gs pos="0">
                  <a:srgbClr val="9B9B9B"/>
                </a:gs>
                <a:gs pos="50000">
                  <a:srgbClr val="EAEAEA"/>
                </a:gs>
                <a:gs pos="100000">
                  <a:srgbClr val="9B9B9B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latinLnBrk="1">
                <a:lnSpc>
                  <a:spcPct val="100000"/>
                </a:lnSpc>
                <a:spcBef>
                  <a:spcPts val="0"/>
                </a:spcBef>
                <a:buNone/>
              </a:pPr>
              <a:r>
                <a:rPr lang="ko-KR" altLang="en-US" sz="1400" smtClean="0">
                  <a:latin typeface="맑은 고딕" pitchFamily="50" charset="-127"/>
                  <a:ea typeface="맑은 고딕" pitchFamily="50" charset="-127"/>
                </a:rPr>
                <a:t>예산관리</a:t>
              </a:r>
              <a:endParaRPr kumimoji="1" lang="ko-KR" altLang="en-US" sz="140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2" name="직사각형 71"/>
          <p:cNvSpPr/>
          <p:nvPr/>
        </p:nvSpPr>
        <p:spPr bwMode="auto">
          <a:xfrm>
            <a:off x="7524221" y="2041244"/>
            <a:ext cx="1893275" cy="4096301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dist="25400" dir="2700000" algn="tl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square" lIns="108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87313" indent="-87313" fontAlgn="base"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200" dirty="0" err="1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마이그레이션</a:t>
            </a:r>
            <a:r>
              <a:rPr kumimoji="1"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대상 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정형 데이터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예산관리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,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회계관리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,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자산관리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</a:rPr>
              <a:t>, 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구매관리 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</a:rPr>
              <a:t>사업관리 </a:t>
            </a:r>
            <a:endParaRPr kumimoji="1" lang="en-US" altLang="ko-KR" sz="1200" smtClean="0">
              <a:solidFill>
                <a:prstClr val="black"/>
              </a:solidFill>
              <a:latin typeface="맑은 고딕" pitchFamily="50" charset="-127"/>
            </a:endParaRPr>
          </a:p>
          <a:p>
            <a:pPr fontAlgn="base">
              <a:spcAft>
                <a:spcPct val="0"/>
              </a:spcAft>
              <a:buClr>
                <a:srgbClr val="7DAFFA">
                  <a:lumMod val="50000"/>
                </a:srgbClr>
              </a:buClr>
            </a:pP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정형 데이터</a:t>
            </a:r>
            <a:endParaRPr kumimoji="1" lang="en-US" altLang="ko-KR" sz="1200" smtClean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fontAlgn="base">
              <a:spcAft>
                <a:spcPct val="0"/>
              </a:spcAft>
              <a:buClr>
                <a:srgbClr val="7DAFFA">
                  <a:lumMod val="50000"/>
                </a:srgbClr>
              </a:buClr>
            </a:pP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이관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필요</a:t>
            </a:r>
            <a:endParaRPr kumimoji="1"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base"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endParaRPr kumimoji="1" lang="en-US" altLang="ko-KR" sz="1200" dirty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base">
              <a:spcAft>
                <a:spcPct val="0"/>
              </a:spcAft>
              <a:buClr>
                <a:srgbClr val="7DAFFA">
                  <a:lumMod val="50000"/>
                </a:srgbClr>
              </a:buClr>
              <a:buFont typeface="Arial" panose="020B0604020202020204" pitchFamily="34" charset="0"/>
              <a:buChar char="•"/>
            </a:pPr>
            <a:r>
              <a:rPr kumimoji="1" lang="ko-KR" altLang="en-US" sz="1200" dirty="0" err="1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마이그레이션</a:t>
            </a:r>
            <a:r>
              <a:rPr kumimoji="1"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대상 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비정형 데이터</a:t>
            </a:r>
            <a: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1" lang="en-US" altLang="ko-KR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예산관리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</a:rPr>
              <a:t>,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회계관리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</a:rPr>
              <a:t>,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자산관리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</a:rPr>
              <a:t>, 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구매관리 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</a:rPr>
              <a:t>,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</a:rPr>
              <a:t>사업관리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</a:rPr>
              <a:t>의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</a:rPr>
              <a:t> </a:t>
            </a: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/>
            </a:r>
            <a:b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</a:br>
            <a:r>
              <a:rPr kumimoji="1" lang="en-US" altLang="ko-KR" sz="1200">
                <a:solidFill>
                  <a:prstClr val="black"/>
                </a:solidFill>
                <a:latin typeface="맑은 고딕" pitchFamily="50" charset="-127"/>
              </a:rPr>
              <a:t>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비정형</a:t>
            </a: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20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데이터 </a:t>
            </a:r>
            <a:endParaRPr kumimoji="1" lang="en-US" altLang="ko-KR" sz="1200" smtClean="0">
              <a:solidFill>
                <a:prstClr val="black"/>
              </a:solidFill>
              <a:latin typeface="맑은 고딕" pitchFamily="50" charset="-127"/>
              <a:ea typeface="맑은 고딕" pitchFamily="50" charset="-127"/>
            </a:endParaRPr>
          </a:p>
          <a:p>
            <a:pPr fontAlgn="base">
              <a:spcAft>
                <a:spcPct val="0"/>
              </a:spcAft>
              <a:buClr>
                <a:srgbClr val="7DAFFA">
                  <a:lumMod val="50000"/>
                </a:srgbClr>
              </a:buClr>
            </a:pPr>
            <a:r>
              <a:rPr kumimoji="1" lang="en-US" altLang="ko-KR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kumimoji="1" lang="ko-KR" altLang="en-US" sz="1200" smtClean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이관 </a:t>
            </a:r>
            <a:r>
              <a:rPr kumimoji="1" lang="ko-KR" altLang="en-US" sz="1200" dirty="0">
                <a:solidFill>
                  <a:prstClr val="black"/>
                </a:solidFill>
                <a:latin typeface="맑은 고딕" pitchFamily="50" charset="-127"/>
                <a:ea typeface="맑은 고딕" pitchFamily="50" charset="-127"/>
              </a:rPr>
              <a:t>필요</a:t>
            </a:r>
          </a:p>
        </p:txBody>
      </p:sp>
      <p:sp>
        <p:nvSpPr>
          <p:cNvPr id="67" name="AutoShape 18"/>
          <p:cNvSpPr>
            <a:spLocks noChangeArrowheads="1"/>
          </p:cNvSpPr>
          <p:nvPr/>
        </p:nvSpPr>
        <p:spPr bwMode="auto">
          <a:xfrm>
            <a:off x="1096752" y="3839258"/>
            <a:ext cx="904921" cy="711839"/>
          </a:xfrm>
          <a:prstGeom prst="can">
            <a:avLst>
              <a:gd name="adj" fmla="val 30185"/>
            </a:avLst>
          </a:prstGeom>
          <a:gradFill rotWithShape="0">
            <a:gsLst>
              <a:gs pos="0">
                <a:srgbClr val="9B9B9B"/>
              </a:gs>
              <a:gs pos="50000">
                <a:srgbClr val="EAEAEA"/>
              </a:gs>
              <a:gs pos="100000">
                <a:srgbClr val="9B9B9B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 latinLnBrk="1">
              <a:lnSpc>
                <a:spcPct val="100000"/>
              </a:lnSpc>
              <a:spcBef>
                <a:spcPts val="0"/>
              </a:spcBef>
              <a:buNone/>
            </a:pPr>
            <a:r>
              <a:rPr lang="ko-KR" altLang="en-US" sz="1400" smtClean="0">
                <a:latin typeface="맑은 고딕" pitchFamily="50" charset="-127"/>
                <a:ea typeface="맑은 고딕" pitchFamily="50" charset="-127"/>
              </a:rPr>
              <a:t>사업관리</a:t>
            </a:r>
            <a:endParaRPr kumimoji="1"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8080715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이관데이터는 각 이행차수 별 이행 실행 시 이행검증</a:t>
            </a:r>
            <a:r>
              <a:rPr lang="en-US" altLang="ko-KR" dirty="0"/>
              <a:t>, </a:t>
            </a:r>
            <a:r>
              <a:rPr lang="ko-KR" altLang="en-US" dirty="0"/>
              <a:t>업무검증</a:t>
            </a:r>
            <a:r>
              <a:rPr lang="en-US" altLang="ko-KR" dirty="0"/>
              <a:t>, </a:t>
            </a:r>
            <a:r>
              <a:rPr lang="ko-KR" altLang="en-US" dirty="0"/>
              <a:t>사용자 검증의 </a:t>
            </a:r>
            <a:r>
              <a:rPr lang="en-US" altLang="ko-KR" dirty="0"/>
              <a:t>3</a:t>
            </a:r>
            <a:r>
              <a:rPr lang="ko-KR" altLang="en-US" dirty="0"/>
              <a:t>단계 검증을 통하여 정합성을 확보함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3.8.8 </a:t>
            </a:r>
            <a:r>
              <a:rPr lang="ko-KR" altLang="en-US" sz="1800" smtClean="0"/>
              <a:t>마이그레이션 </a:t>
            </a:r>
            <a:r>
              <a:rPr lang="ko-KR" altLang="en-US" sz="1800"/>
              <a:t>검증 </a:t>
            </a:r>
            <a:r>
              <a:rPr lang="ko-KR" altLang="en-US" sz="1800" smtClean="0"/>
              <a:t>방안</a:t>
            </a:r>
            <a:r>
              <a:rPr lang="en-US" altLang="ko-KR" sz="1800" smtClean="0"/>
              <a:t>(</a:t>
            </a:r>
            <a:r>
              <a:rPr lang="en-US" altLang="ko-KR" sz="1800" dirty="0"/>
              <a:t>1/4)</a:t>
            </a:r>
            <a:r>
              <a:rPr lang="ko-KR" altLang="en-US" sz="1800" dirty="0"/>
              <a:t> 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24" name="그룹 31"/>
          <p:cNvGrpSpPr>
            <a:grpSpLocks/>
          </p:cNvGrpSpPr>
          <p:nvPr/>
        </p:nvGrpSpPr>
        <p:grpSpPr bwMode="auto">
          <a:xfrm>
            <a:off x="344488" y="1484784"/>
            <a:ext cx="9217024" cy="556653"/>
            <a:chOff x="869504" y="2287042"/>
            <a:chExt cx="6264277" cy="314333"/>
          </a:xfrm>
        </p:grpSpPr>
        <p:grpSp>
          <p:nvGrpSpPr>
            <p:cNvPr id="25" name="그룹 134"/>
            <p:cNvGrpSpPr>
              <a:grpSpLocks/>
            </p:cNvGrpSpPr>
            <p:nvPr/>
          </p:nvGrpSpPr>
          <p:grpSpPr bwMode="auto">
            <a:xfrm>
              <a:off x="869504" y="2287042"/>
              <a:ext cx="1322684" cy="314325"/>
              <a:chOff x="322868" y="7368805"/>
              <a:chExt cx="1329124" cy="410392"/>
            </a:xfrm>
          </p:grpSpPr>
          <p:sp>
            <p:nvSpPr>
              <p:cNvPr id="37" name="오각형 36"/>
              <p:cNvSpPr/>
              <p:nvPr/>
            </p:nvSpPr>
            <p:spPr bwMode="auto">
              <a:xfrm>
                <a:off x="322868" y="7369815"/>
                <a:ext cx="1329124" cy="408011"/>
              </a:xfrm>
              <a:prstGeom prst="homePlate">
                <a:avLst>
                  <a:gd name="adj" fmla="val 42099"/>
                </a:avLst>
              </a:prstGeom>
              <a:solidFill>
                <a:sysClr val="window" lastClr="FFFFFF"/>
              </a:solidFill>
              <a:ln w="9525" algn="ctr">
                <a:gradFill flip="none" rotWithShape="1">
                  <a:gsLst>
                    <a:gs pos="48000">
                      <a:sysClr val="window" lastClr="FFFFFF">
                        <a:lumMod val="85000"/>
                      </a:sysClr>
                    </a:gs>
                    <a:gs pos="50000">
                      <a:sysClr val="window" lastClr="FFFFFF">
                        <a:lumMod val="75000"/>
                      </a:sysClr>
                    </a:gs>
                  </a:gsLst>
                  <a:lin ang="5400000" scaled="1"/>
                  <a:tileRect/>
                </a:gradFill>
                <a:miter lim="800000"/>
                <a:headEnd/>
                <a:tailEnd/>
              </a:ln>
              <a:effectLst>
                <a:outerShdw blurRad="50800" dist="38100" dir="2700000" algn="tl" rotWithShape="0">
                  <a:sysClr val="window" lastClr="FFFFFF">
                    <a:lumMod val="65000"/>
                    <a:alpha val="70000"/>
                  </a:sysClr>
                </a:outerShdw>
              </a:effectLst>
            </p:spPr>
            <p:txBody>
              <a:bodyPr wrap="none" anchor="ctr"/>
              <a:lstStyle/>
              <a:p>
                <a:pPr marL="0" marR="0" lvl="0" indent="0" defTabSz="1042988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95959"/>
                  </a:buClr>
                  <a:buSzPct val="140000"/>
                  <a:buFontTx/>
                  <a:buNone/>
                  <a:tabLst/>
                  <a:defRPr/>
                </a:pPr>
                <a:endPara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777777"/>
                  </a:solidFill>
                  <a:effectLst/>
                  <a:uLnTx/>
                  <a:uFillTx/>
                  <a:latin typeface="맑은 고딕"/>
                  <a:ea typeface="맑은 고딕"/>
                  <a:sym typeface="Monotype Sorts"/>
                </a:endParaRPr>
              </a:p>
            </p:txBody>
          </p:sp>
          <p:sp>
            <p:nvSpPr>
              <p:cNvPr id="38" name="TextBox 184"/>
              <p:cNvSpPr txBox="1">
                <a:spLocks noChangeArrowheads="1"/>
              </p:cNvSpPr>
              <p:nvPr/>
            </p:nvSpPr>
            <p:spPr bwMode="auto">
              <a:xfrm>
                <a:off x="484389" y="7368805"/>
                <a:ext cx="865617" cy="4103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추출검증</a:t>
                </a:r>
              </a:p>
            </p:txBody>
          </p:sp>
        </p:grpSp>
        <p:sp>
          <p:nvSpPr>
            <p:cNvPr id="26" name="갈매기형 수장 25"/>
            <p:cNvSpPr/>
            <p:nvPr/>
          </p:nvSpPr>
          <p:spPr bwMode="auto">
            <a:xfrm>
              <a:off x="2127114" y="2288629"/>
              <a:ext cx="1301756" cy="311155"/>
            </a:xfrm>
            <a:prstGeom prst="chevron">
              <a:avLst>
                <a:gd name="adj" fmla="val 38667"/>
              </a:avLst>
            </a:prstGeom>
            <a:solidFill>
              <a:srgbClr val="D2DFEE"/>
            </a:solidFill>
            <a:ln w="6350">
              <a:solidFill>
                <a:srgbClr val="B4CBDE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sysClr val="window" lastClr="FFFFFF">
                  <a:lumMod val="65000"/>
                  <a:alpha val="70000"/>
                </a:sysClr>
              </a:outerShdw>
            </a:effectLst>
          </p:spPr>
          <p:txBody>
            <a:bodyPr wrap="none" lIns="0" tIns="0" rIns="0" bIns="0" anchor="ctr"/>
            <a:lstStyle/>
            <a:p>
              <a:pPr marL="0" marR="0" lvl="0" indent="0" algn="ctr" defTabSz="1092535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814888" algn="l"/>
                </a:tabLst>
                <a:defRPr/>
              </a:pPr>
              <a:endPara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sym typeface="Monotype Sorts"/>
              </a:endParaRPr>
            </a:p>
          </p:txBody>
        </p:sp>
        <p:sp>
          <p:nvSpPr>
            <p:cNvPr id="27" name="TextBox 184"/>
            <p:cNvSpPr txBox="1">
              <a:spLocks noChangeArrowheads="1"/>
            </p:cNvSpPr>
            <p:nvPr/>
          </p:nvSpPr>
          <p:spPr bwMode="auto">
            <a:xfrm>
              <a:off x="2316151" y="2287042"/>
              <a:ext cx="861423" cy="314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/>
                  <a:ea typeface="맑은 고딕"/>
                  <a:cs typeface="Arial" pitchFamily="34" charset="0"/>
                  <a:sym typeface="Monotype Sorts" pitchFamily="2" charset="2"/>
                </a:rPr>
                <a:t>변환검증</a:t>
              </a:r>
            </a:p>
          </p:txBody>
        </p:sp>
        <p:grpSp>
          <p:nvGrpSpPr>
            <p:cNvPr id="28" name="그룹 243"/>
            <p:cNvGrpSpPr>
              <a:grpSpLocks/>
            </p:cNvGrpSpPr>
            <p:nvPr/>
          </p:nvGrpSpPr>
          <p:grpSpPr bwMode="auto">
            <a:xfrm>
              <a:off x="4596954" y="2287042"/>
              <a:ext cx="1301750" cy="314325"/>
              <a:chOff x="2757987" y="4146997"/>
              <a:chExt cx="1308215" cy="410262"/>
            </a:xfrm>
          </p:grpSpPr>
          <p:sp>
            <p:nvSpPr>
              <p:cNvPr id="35" name="갈매기형 수장 34"/>
              <p:cNvSpPr/>
              <p:nvPr/>
            </p:nvSpPr>
            <p:spPr bwMode="auto">
              <a:xfrm>
                <a:off x="2758087" y="4149068"/>
                <a:ext cx="1308221" cy="406124"/>
              </a:xfrm>
              <a:prstGeom prst="chevron">
                <a:avLst>
                  <a:gd name="adj" fmla="val 38667"/>
                </a:avLst>
              </a:prstGeom>
              <a:solidFill>
                <a:srgbClr val="ADC5E1"/>
              </a:solidFill>
              <a:ln w="6350">
                <a:solidFill>
                  <a:srgbClr val="97B7D1"/>
                </a:solidFill>
                <a:miter lim="800000"/>
                <a:headEnd/>
                <a:tailEnd/>
              </a:ln>
              <a:effectLst>
                <a:outerShdw blurRad="50800" dist="38100" dir="8100000" algn="tr" rotWithShape="0">
                  <a:sysClr val="window" lastClr="FFFFFF">
                    <a:lumMod val="65000"/>
                    <a:alpha val="70000"/>
                  </a:sysClr>
                </a:outerShdw>
              </a:effectLst>
            </p:spPr>
            <p:txBody>
              <a:bodyPr wrap="none" lIns="0" tIns="0" rIns="0" bIns="0" anchor="ctr"/>
              <a:lstStyle/>
              <a:p>
                <a:pPr marL="0" marR="0" lvl="0" indent="0" algn="ctr" defTabSz="1092535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814888" algn="l"/>
                  </a:tabLst>
                  <a:defRPr/>
                </a:pPr>
                <a:endPara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sym typeface="Monotype Sorts"/>
                </a:endParaRPr>
              </a:p>
            </p:txBody>
          </p:sp>
          <p:sp>
            <p:nvSpPr>
              <p:cNvPr id="36" name="TextBox 184"/>
              <p:cNvSpPr txBox="1">
                <a:spLocks noChangeArrowheads="1"/>
              </p:cNvSpPr>
              <p:nvPr/>
            </p:nvSpPr>
            <p:spPr bwMode="auto">
              <a:xfrm>
                <a:off x="2872983" y="4146997"/>
                <a:ext cx="1085254" cy="4102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화면조회결과</a:t>
                </a:r>
                <a:r>
                  <a:rPr kumimoji="0" lang="en-US" altLang="ko-KR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 </a:t>
                </a:r>
                <a:r>
                  <a:rPr kumimoji="0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검증</a:t>
                </a:r>
              </a:p>
            </p:txBody>
          </p:sp>
        </p:grpSp>
        <p:grpSp>
          <p:nvGrpSpPr>
            <p:cNvPr id="29" name="그룹 255"/>
            <p:cNvGrpSpPr>
              <a:grpSpLocks/>
            </p:cNvGrpSpPr>
            <p:nvPr/>
          </p:nvGrpSpPr>
          <p:grpSpPr bwMode="auto">
            <a:xfrm>
              <a:off x="5832025" y="2287057"/>
              <a:ext cx="1301756" cy="314318"/>
              <a:chOff x="4845915" y="4437295"/>
              <a:chExt cx="1627456" cy="410253"/>
            </a:xfrm>
          </p:grpSpPr>
          <p:sp>
            <p:nvSpPr>
              <p:cNvPr id="33" name="갈매기형 수장 32"/>
              <p:cNvSpPr/>
              <p:nvPr/>
            </p:nvSpPr>
            <p:spPr bwMode="auto">
              <a:xfrm>
                <a:off x="4845915" y="4439350"/>
                <a:ext cx="1627456" cy="408198"/>
              </a:xfrm>
              <a:prstGeom prst="chevron">
                <a:avLst>
                  <a:gd name="adj" fmla="val 38667"/>
                </a:avLst>
              </a:prstGeom>
              <a:gradFill>
                <a:gsLst>
                  <a:gs pos="100000">
                    <a:srgbClr val="97BEE1"/>
                  </a:gs>
                  <a:gs pos="51000">
                    <a:srgbClr val="6D97C9"/>
                  </a:gs>
                  <a:gs pos="100000">
                    <a:srgbClr val="ADC5E1">
                      <a:alpha val="0"/>
                    </a:srgbClr>
                  </a:gs>
                </a:gsLst>
                <a:lin ang="5400000" scaled="0"/>
              </a:gradFill>
              <a:ln w="19050" cap="flat" cmpd="sng" algn="ctr">
                <a:solidFill>
                  <a:srgbClr val="4B80AB"/>
                </a:solidFill>
                <a:prstDash val="sysDash"/>
                <a:tailEnd type="stealth" w="sm" len="med"/>
              </a:ln>
              <a:effectLst>
                <a:outerShdw blurRad="50800" dist="38100" dir="8100000" algn="tr" rotWithShape="0">
                  <a:sysClr val="window" lastClr="FFFFFF">
                    <a:lumMod val="65000"/>
                    <a:alpha val="70000"/>
                  </a:sysClr>
                </a:outerShdw>
              </a:effectLst>
            </p:spPr>
            <p:txBody>
              <a:bodyPr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endPara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  <a:sym typeface="Monotype Sorts"/>
                </a:endParaRPr>
              </a:p>
            </p:txBody>
          </p:sp>
          <p:sp>
            <p:nvSpPr>
              <p:cNvPr id="34" name="TextBox 184"/>
              <p:cNvSpPr txBox="1">
                <a:spLocks noChangeArrowheads="1"/>
              </p:cNvSpPr>
              <p:nvPr/>
            </p:nvSpPr>
            <p:spPr bwMode="auto">
              <a:xfrm>
                <a:off x="4905011" y="4437295"/>
                <a:ext cx="1461775" cy="4099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 defTabSz="1042988" eaLnBrk="0" hangingPunct="0"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1pPr>
                <a:lvl2pPr marL="742950" indent="-285750" defTabSz="1042988" eaLnBrk="0" hangingPunct="0"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2pPr>
                <a:lvl3pPr marL="1143000" indent="-228600" defTabSz="1042988" eaLnBrk="0" hangingPunct="0"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3pPr>
                <a:lvl4pPr marL="1600200" indent="-228600" defTabSz="1042988" eaLnBrk="0" hangingPunct="0"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4pPr>
                <a:lvl5pPr marL="2057400" indent="-228600" defTabSz="1042988" eaLnBrk="0" hangingPunct="0"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5pPr>
                <a:lvl6pPr marL="2514600" indent="-228600" defTabSz="1042988" eaLnBrk="0" fontAlgn="base" hangingPunct="0">
                  <a:spcBef>
                    <a:spcPct val="0"/>
                  </a:spcBef>
                  <a:spcAft>
                    <a:spcPct val="0"/>
                  </a:spcAft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6pPr>
                <a:lvl7pPr marL="2971800" indent="-228600" defTabSz="1042988" eaLnBrk="0" fontAlgn="base" hangingPunct="0">
                  <a:spcBef>
                    <a:spcPct val="0"/>
                  </a:spcBef>
                  <a:spcAft>
                    <a:spcPct val="0"/>
                  </a:spcAft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7pPr>
                <a:lvl8pPr marL="3429000" indent="-228600" defTabSz="1042988" eaLnBrk="0" fontAlgn="base" hangingPunct="0">
                  <a:spcBef>
                    <a:spcPct val="0"/>
                  </a:spcBef>
                  <a:spcAft>
                    <a:spcPct val="0"/>
                  </a:spcAft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8pPr>
                <a:lvl9pPr marL="3886200" indent="-228600" defTabSz="1042988" eaLnBrk="0" fontAlgn="base" hangingPunct="0">
                  <a:spcBef>
                    <a:spcPct val="0"/>
                  </a:spcBef>
                  <a:spcAft>
                    <a:spcPct val="0"/>
                  </a:spcAft>
                  <a:tabLst>
                    <a:tab pos="5648325" algn="l"/>
                  </a:tabLst>
                  <a:defRPr kumimoji="1" sz="10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marL="0" marR="0" lvl="0" indent="0" algn="ctr" defTabSz="1042988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1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보고서결과</a:t>
                </a:r>
                <a:r>
                  <a:rPr kumimoji="1" lang="en-US" altLang="ko-KR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 </a:t>
                </a:r>
                <a:r>
                  <a:rPr kumimoji="1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검증</a:t>
                </a:r>
              </a:p>
            </p:txBody>
          </p:sp>
        </p:grpSp>
        <p:grpSp>
          <p:nvGrpSpPr>
            <p:cNvPr id="30" name="그룹 243"/>
            <p:cNvGrpSpPr>
              <a:grpSpLocks/>
            </p:cNvGrpSpPr>
            <p:nvPr/>
          </p:nvGrpSpPr>
          <p:grpSpPr bwMode="auto">
            <a:xfrm>
              <a:off x="3360292" y="2287042"/>
              <a:ext cx="1303337" cy="314325"/>
              <a:chOff x="2757038" y="4146997"/>
              <a:chExt cx="1309810" cy="410262"/>
            </a:xfrm>
          </p:grpSpPr>
          <p:sp>
            <p:nvSpPr>
              <p:cNvPr id="31" name="갈매기형 수장 30"/>
              <p:cNvSpPr/>
              <p:nvPr/>
            </p:nvSpPr>
            <p:spPr bwMode="auto">
              <a:xfrm>
                <a:off x="2756563" y="4149068"/>
                <a:ext cx="1310496" cy="406124"/>
              </a:xfrm>
              <a:prstGeom prst="chevron">
                <a:avLst>
                  <a:gd name="adj" fmla="val 38667"/>
                </a:avLst>
              </a:prstGeom>
              <a:solidFill>
                <a:srgbClr val="ADC5E1"/>
              </a:solidFill>
              <a:ln w="6350">
                <a:solidFill>
                  <a:srgbClr val="97B7D1"/>
                </a:solidFill>
                <a:miter lim="800000"/>
                <a:headEnd/>
                <a:tailEnd/>
              </a:ln>
              <a:effectLst>
                <a:outerShdw blurRad="50800" dist="38100" dir="8100000" algn="tr" rotWithShape="0">
                  <a:sysClr val="window" lastClr="FFFFFF">
                    <a:lumMod val="65000"/>
                    <a:alpha val="70000"/>
                  </a:sysClr>
                </a:outerShdw>
              </a:effectLst>
            </p:spPr>
            <p:txBody>
              <a:bodyPr wrap="none" lIns="0" tIns="0" rIns="0" bIns="0" anchor="ctr"/>
              <a:lstStyle/>
              <a:p>
                <a:pPr marL="0" marR="0" lvl="0" indent="0" algn="ctr" defTabSz="1092535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814888" algn="l"/>
                  </a:tabLst>
                  <a:defRPr/>
                </a:pPr>
                <a:endPara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sym typeface="Monotype Sorts"/>
                </a:endParaRPr>
              </a:p>
            </p:txBody>
          </p:sp>
          <p:sp>
            <p:nvSpPr>
              <p:cNvPr id="32" name="TextBox 184"/>
              <p:cNvSpPr txBox="1">
                <a:spLocks noChangeArrowheads="1"/>
              </p:cNvSpPr>
              <p:nvPr/>
            </p:nvSpPr>
            <p:spPr bwMode="auto">
              <a:xfrm>
                <a:off x="2981804" y="4146997"/>
                <a:ext cx="866838" cy="4102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Arial" pitchFamily="34" charset="0"/>
                    <a:sym typeface="Monotype Sorts" pitchFamily="2" charset="2"/>
                  </a:rPr>
                  <a:t>적재검증</a:t>
                </a:r>
              </a:p>
            </p:txBody>
          </p:sp>
        </p:grpSp>
      </p:grpSp>
      <p:graphicFrame>
        <p:nvGraphicFramePr>
          <p:cNvPr id="40" name="Group 708"/>
          <p:cNvGraphicFramePr>
            <a:graphicFrameLocks noGrp="1"/>
          </p:cNvGraphicFramePr>
          <p:nvPr>
            <p:extLst/>
          </p:nvPr>
        </p:nvGraphicFramePr>
        <p:xfrm>
          <a:off x="344488" y="2223084"/>
          <a:ext cx="9180000" cy="4083664"/>
        </p:xfrm>
        <a:graphic>
          <a:graphicData uri="http://schemas.openxmlformats.org/drawingml/2006/table">
            <a:tbl>
              <a:tblPr/>
              <a:tblGrid>
                <a:gridCol w="81514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9130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95968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15931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485455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27616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ko-KR" altLang="en-US" sz="14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단계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en-US" altLang="ko-KR" sz="14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No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ko-KR" altLang="en-US" sz="14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구분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ko-KR" altLang="en-US" sz="14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검증 시점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ko-KR" altLang="en-US" sz="14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검증 방안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11252">
                <a:tc rowSpan="3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1</a:t>
                      </a:r>
                      <a:r>
                        <a:rPr kumimoji="0" lang="ko-KR" altLang="en-US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단계 </a:t>
                      </a:r>
                      <a: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/>
                      </a:r>
                      <a:b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</a:br>
                      <a:r>
                        <a:rPr kumimoji="0" lang="ko-KR" altLang="en-US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이행검증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2AFFA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1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추출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현행시스템에서 최초 원시 데이터에 대한 추출데이터 구성 후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이행 결과에 대한 정합성 판단의 기준이 됨</a:t>
                      </a:r>
                    </a:p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이행용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Storage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에 구성된 추출데이터의 검증결과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(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금액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건수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)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와 원시데이터 검증결과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(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금액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건수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코드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) 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를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112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2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변환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추출된 데이터를 적재데이터로 변환구성 후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데이터 변환 작업 후 구성된 적재파일의 검증 결과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(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금액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건수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)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를 추출검증결과와 비교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456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3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적재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Target Table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에 적재데이터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/>
                      </a:r>
                      <a:b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</a:b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적재 후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최종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Target Table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에 변환 데이터 적재 후 적재데이터 검증결과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(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금액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건수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) 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를 변환검증결과와 비교 검증</a:t>
                      </a:r>
                      <a:endParaRPr kumimoji="0" lang="en-US" altLang="ko-KR" sz="1100" kern="120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데이터 금액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,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건수 외에 코드 값을 포함한 데이터의 유효성검증을 수행하며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/>
                      </a:r>
                      <a:b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</a:b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사용자 입력오류가 많은 데이터는 </a:t>
                      </a:r>
                      <a:r>
                        <a:rPr kumimoji="0" lang="ko-KR" altLang="en-US" sz="1100" kern="120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역변환</a:t>
                      </a:r>
                      <a:r>
                        <a:rPr kumimoji="0" lang="ko-KR" altLang="en-US" sz="1100" kern="1200" baseline="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 후 변환전과 비교</a:t>
                      </a:r>
                      <a:endParaRPr kumimoji="0" lang="ko-KR" altLang="en-US" sz="1100" kern="120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11252">
                <a:tc rowSpan="2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2</a:t>
                      </a:r>
                      <a:r>
                        <a:rPr kumimoji="0" lang="ko-KR" altLang="en-US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단계 </a:t>
                      </a:r>
                      <a: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/>
                      </a:r>
                      <a:b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</a:br>
                      <a:r>
                        <a:rPr kumimoji="0" lang="ko-KR" altLang="en-US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업무검증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2AFFA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4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화면 조회</a:t>
                      </a:r>
                    </a:p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결과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최종 데이터 이행 후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각 업무별 주요 조회화면을 통해 업무적으로 데이터 비교 검증</a:t>
                      </a:r>
                    </a:p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현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Online 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조회 화면의 조회 결과와 동일한 </a:t>
                      </a:r>
                      <a:r>
                        <a:rPr kumimoji="0" lang="ko-KR" altLang="en-US" sz="1100" kern="1200" dirty="0" err="1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신시스템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 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Online 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조회화면의 조회 결과 데이터를 비교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1125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5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보고서</a:t>
                      </a:r>
                    </a:p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결과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최종 데이터 이행 후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각 업무별 주요 보고서를 통해 업무적으로 데이터 비교 검증</a:t>
                      </a:r>
                    </a:p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현 시스템 보고서의 출력 결과와 동일한 신 시스템 보고서의 출력 결과 데이터를 비교 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655931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40000"/>
                        <a:buFontTx/>
                        <a:buNone/>
                        <a:tabLst/>
                      </a:pPr>
                      <a:r>
                        <a:rPr kumimoji="0" lang="en-US" altLang="ko-KR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3</a:t>
                      </a:r>
                      <a:r>
                        <a:rPr kumimoji="0" lang="ko-KR" altLang="en-US" sz="11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단계 사용자검증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2AFFA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6</a:t>
                      </a:r>
                      <a:endParaRPr kumimoji="0" lang="ko-KR" altLang="ko-KR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rgbClr val="595959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시나리오 결과값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사전모의시험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(</a:t>
                      </a: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시험운영</a:t>
                      </a:r>
                      <a:r>
                        <a:rPr kumimoji="0" lang="en-US" altLang="ko-KR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)</a:t>
                      </a:r>
                      <a:endParaRPr kumimoji="0" lang="ko-KR" altLang="en-US" sz="1100" kern="120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실 사용자의 시스템 사용에 의한 검증</a:t>
                      </a:r>
                      <a:endParaRPr kumimoji="0" lang="en-US" altLang="ko-KR" sz="1100" kern="120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  <a:sym typeface="Monotype Sorts"/>
                      </a:endParaRPr>
                    </a:p>
                    <a:p>
                      <a:pPr marL="90488" marR="0" lvl="0" indent="-90488" algn="l" defTabSz="1042988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85000"/>
                            <a:lumOff val="15000"/>
                          </a:schemeClr>
                        </a:buClr>
                        <a:buSzPct val="80000"/>
                        <a:buFont typeface="Arial" pitchFamily="34" charset="0"/>
                        <a:buChar char="•"/>
                        <a:tabLst>
                          <a:tab pos="5648325" algn="l"/>
                        </a:tabLst>
                        <a:defRPr/>
                      </a:pPr>
                      <a:r>
                        <a:rPr kumimoji="0" lang="ko-KR" altLang="en-US" sz="1100" kern="1200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/>
                        </a:rPr>
                        <a:t>개발팀이 도출한 검증시나리오 적용</a:t>
                      </a:r>
                    </a:p>
                  </a:txBody>
                  <a:tcPr marL="45721" marR="45721" marT="18001" marB="18001" anchor="ctr" horzOverflow="overflow">
                    <a:lnL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5601763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이관데이터 정합성 검증을 위해 </a:t>
            </a:r>
            <a:r>
              <a:rPr lang="ko-KR" altLang="en-US" dirty="0" err="1"/>
              <a:t>코드별</a:t>
            </a:r>
            <a:r>
              <a:rPr lang="ko-KR" altLang="en-US" dirty="0"/>
              <a:t> 건수</a:t>
            </a:r>
            <a:r>
              <a:rPr lang="en-US" altLang="ko-KR" dirty="0"/>
              <a:t>, </a:t>
            </a:r>
            <a:r>
              <a:rPr lang="ko-KR" altLang="en-US" dirty="0" err="1"/>
              <a:t>통계장표</a:t>
            </a:r>
            <a:r>
              <a:rPr lang="ko-KR" altLang="en-US" dirty="0"/>
              <a:t> 및 보고서</a:t>
            </a:r>
            <a:r>
              <a:rPr lang="en-US" altLang="ko-KR" dirty="0"/>
              <a:t>, </a:t>
            </a:r>
            <a:r>
              <a:rPr lang="ko-KR" altLang="en-US" dirty="0"/>
              <a:t>데이터</a:t>
            </a:r>
            <a:r>
              <a:rPr lang="en-US" altLang="ko-KR" dirty="0"/>
              <a:t> </a:t>
            </a:r>
            <a:r>
              <a:rPr lang="ko-KR" altLang="en-US" dirty="0"/>
              <a:t>등을 검증하고 데이터 </a:t>
            </a:r>
            <a:r>
              <a:rPr lang="ko-KR" altLang="en-US" dirty="0" err="1"/>
              <a:t>매핑룰</a:t>
            </a:r>
            <a:r>
              <a:rPr lang="ko-KR" altLang="en-US" dirty="0"/>
              <a:t> 또는 </a:t>
            </a:r>
            <a:r>
              <a:rPr lang="ko-KR" altLang="en-US" dirty="0" err="1"/>
              <a:t>변환로직을</a:t>
            </a:r>
            <a:r>
              <a:rPr lang="ko-KR" altLang="en-US" dirty="0"/>
              <a:t> 변경함</a:t>
            </a:r>
            <a:r>
              <a:rPr lang="en-US" altLang="ko-KR" dirty="0"/>
              <a:t> 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3.8.9 </a:t>
            </a:r>
            <a:r>
              <a:rPr lang="ko-KR" altLang="en-US" sz="1800"/>
              <a:t>마이그레이션 검증 방안</a:t>
            </a:r>
            <a:r>
              <a:rPr lang="en-US" altLang="ko-KR" sz="1800"/>
              <a:t>(1/4)</a:t>
            </a:r>
            <a:r>
              <a:rPr lang="ko-KR" altLang="en-US" sz="1800"/>
              <a:t> </a:t>
            </a:r>
            <a:endParaRPr lang="ko-KR" altLang="en-US" sz="1800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pSp>
        <p:nvGrpSpPr>
          <p:cNvPr id="7" name="그룹 44"/>
          <p:cNvGrpSpPr/>
          <p:nvPr/>
        </p:nvGrpSpPr>
        <p:grpSpPr>
          <a:xfrm>
            <a:off x="344489" y="1592796"/>
            <a:ext cx="9217024" cy="4715929"/>
            <a:chOff x="354519" y="1592796"/>
            <a:chExt cx="6594107" cy="4715929"/>
          </a:xfrm>
        </p:grpSpPr>
        <p:sp>
          <p:nvSpPr>
            <p:cNvPr id="8" name="직사각형 7">
              <a:extLst>
                <a:ext uri="{FF2B5EF4-FFF2-40B4-BE49-F238E27FC236}">
                  <a16:creationId xmlns="" xmlns:a16="http://schemas.microsoft.com/office/drawing/2014/main" id="{F85AD92B-57B0-41A7-92B3-9A234F990FF5}"/>
                </a:ext>
              </a:extLst>
            </p:cNvPr>
            <p:cNvSpPr/>
            <p:nvPr/>
          </p:nvSpPr>
          <p:spPr bwMode="auto">
            <a:xfrm>
              <a:off x="354519" y="1592796"/>
              <a:ext cx="6594106" cy="324000"/>
            </a:xfrm>
            <a:prstGeom prst="rect">
              <a:avLst/>
            </a:prstGeom>
            <a:solidFill>
              <a:srgbClr val="233C5A"/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72000" tIns="72000" rIns="72000" bIns="72000" anchor="ctr"/>
            <a:lstStyle/>
            <a:p>
              <a:pPr algn="ctr" latinLnBrk="0"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이관데이터 </a:t>
              </a:r>
              <a:r>
                <a:rPr lang="ko-KR" altLang="en-US" sz="1400" b="1" kern="0" dirty="0" err="1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일치성</a:t>
              </a: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 검증방안</a:t>
              </a:r>
            </a:p>
          </p:txBody>
        </p:sp>
        <p:sp>
          <p:nvSpPr>
            <p:cNvPr id="9" name="Rectangle 4">
              <a:extLst>
                <a:ext uri="{FF2B5EF4-FFF2-40B4-BE49-F238E27FC236}">
                  <a16:creationId xmlns="" xmlns:a16="http://schemas.microsoft.com/office/drawing/2014/main" id="{92183456-9CC2-436B-B685-C002B7E7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19" y="1916832"/>
              <a:ext cx="6594107" cy="439189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53" name="그룹 152"/>
          <p:cNvGrpSpPr/>
          <p:nvPr/>
        </p:nvGrpSpPr>
        <p:grpSpPr>
          <a:xfrm>
            <a:off x="5411943" y="2115018"/>
            <a:ext cx="4077561" cy="3954806"/>
            <a:chOff x="5155996" y="2115018"/>
            <a:chExt cx="4077561" cy="3954806"/>
          </a:xfrm>
        </p:grpSpPr>
        <p:sp>
          <p:nvSpPr>
            <p:cNvPr id="76" name="모서리가 둥근 직사각형 75"/>
            <p:cNvSpPr/>
            <p:nvPr/>
          </p:nvSpPr>
          <p:spPr bwMode="auto">
            <a:xfrm>
              <a:off x="5155996" y="2125732"/>
              <a:ext cx="314507" cy="218125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1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 bwMode="auto">
            <a:xfrm>
              <a:off x="5155996" y="3031326"/>
              <a:ext cx="314507" cy="218125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2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 bwMode="auto">
            <a:xfrm>
              <a:off x="5155996" y="4133986"/>
              <a:ext cx="314507" cy="218124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3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79" name="모서리가 둥근 직사각형 78"/>
            <p:cNvSpPr/>
            <p:nvPr/>
          </p:nvSpPr>
          <p:spPr bwMode="auto">
            <a:xfrm>
              <a:off x="5155996" y="5428516"/>
              <a:ext cx="314507" cy="218124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4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grpSp>
          <p:nvGrpSpPr>
            <p:cNvPr id="152" name="그룹 151"/>
            <p:cNvGrpSpPr/>
            <p:nvPr/>
          </p:nvGrpSpPr>
          <p:grpSpPr>
            <a:xfrm>
              <a:off x="5173861" y="2115018"/>
              <a:ext cx="4059696" cy="3954806"/>
              <a:chOff x="4993340" y="2088124"/>
              <a:chExt cx="4157130" cy="3954806"/>
            </a:xfrm>
          </p:grpSpPr>
          <p:sp>
            <p:nvSpPr>
              <p:cNvPr id="72" name="직사각형 71"/>
              <p:cNvSpPr/>
              <p:nvPr/>
            </p:nvSpPr>
            <p:spPr bwMode="auto">
              <a:xfrm>
                <a:off x="5361171" y="2088124"/>
                <a:ext cx="3686401" cy="237681"/>
              </a:xfrm>
              <a:prstGeom prst="rect">
                <a:avLst/>
              </a:prstGeom>
              <a:solidFill>
                <a:srgbClr val="82AFFA"/>
              </a:solidFill>
              <a:ln w="6350">
                <a:solidFill>
                  <a:srgbClr val="A4CCD4"/>
                </a:solidFill>
                <a:miter lim="800000"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코드별</a:t>
                </a:r>
                <a:r>
                  <a:rPr kumimoji="0" lang="ko-KR" alt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건수</a:t>
                </a:r>
                <a:r>
                  <a:rPr kumimoji="0" lang="en-US" altLang="ko-KR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lang="ko-KR" altLang="en-US" sz="1100" b="1" kern="0" dirty="0">
                    <a:solidFill>
                      <a:sysClr val="windowText" lastClr="000000"/>
                    </a:solidFill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금액</a:t>
                </a:r>
                <a:r>
                  <a:rPr kumimoji="0" lang="ko-KR" alt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</a:t>
                </a:r>
                <a:r>
                  <a:rPr kumimoji="0" lang="ko-KR" altLang="en-US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컬럼항목</a:t>
                </a:r>
                <a:r>
                  <a:rPr kumimoji="0" lang="ko-KR" alt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검증</a:t>
                </a:r>
                <a:endParaRPr kumimoji="0" lang="en-US" altLang="ko-KR" sz="11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73" name="직사각형 72"/>
              <p:cNvSpPr/>
              <p:nvPr/>
            </p:nvSpPr>
            <p:spPr bwMode="auto">
              <a:xfrm>
                <a:off x="5361171" y="2965137"/>
                <a:ext cx="3686401" cy="248212"/>
              </a:xfrm>
              <a:prstGeom prst="rect">
                <a:avLst/>
              </a:prstGeom>
              <a:solidFill>
                <a:srgbClr val="82AFFA"/>
              </a:solidFill>
              <a:ln w="6350">
                <a:solidFill>
                  <a:srgbClr val="A4CCD4"/>
                </a:solidFill>
                <a:miter lim="800000"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통계장표를</a:t>
                </a:r>
                <a:r>
                  <a:rPr kumimoji="0" lang="ko-KR" alt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통한 검증</a:t>
                </a:r>
                <a:endParaRPr kumimoji="0" lang="en-US" altLang="ko-KR" sz="1100" b="1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74" name="직사각형 73"/>
              <p:cNvSpPr/>
              <p:nvPr/>
            </p:nvSpPr>
            <p:spPr bwMode="auto">
              <a:xfrm>
                <a:off x="5361171" y="4060274"/>
                <a:ext cx="3686401" cy="287324"/>
              </a:xfrm>
              <a:prstGeom prst="rect">
                <a:avLst/>
              </a:prstGeom>
              <a:solidFill>
                <a:srgbClr val="82AFFA"/>
              </a:solidFill>
              <a:ln w="6350">
                <a:solidFill>
                  <a:srgbClr val="A4CCD4"/>
                </a:solidFill>
                <a:miter lim="800000"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데이터 확인</a:t>
                </a:r>
                <a:endParaRPr kumimoji="0" lang="en-US" altLang="ko-KR" sz="11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75" name="직사각형 74"/>
              <p:cNvSpPr/>
              <p:nvPr/>
            </p:nvSpPr>
            <p:spPr bwMode="auto">
              <a:xfrm>
                <a:off x="5385636" y="5363831"/>
                <a:ext cx="3686401" cy="248212"/>
              </a:xfrm>
              <a:prstGeom prst="rect">
                <a:avLst/>
              </a:prstGeom>
              <a:solidFill>
                <a:srgbClr val="82AFFA"/>
              </a:solidFill>
              <a:ln w="6350">
                <a:solidFill>
                  <a:srgbClr val="A4CCD4"/>
                </a:solidFill>
                <a:miter lim="800000"/>
                <a:headEnd/>
                <a:tailEnd/>
              </a:ln>
            </p:spPr>
            <p:txBody>
              <a:bodyPr wrap="none" lIns="0" tIns="0" rIns="0" b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변환룰</a:t>
                </a:r>
                <a:r>
                  <a:rPr kumimoji="0" lang="en-US" altLang="ko-KR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/</a:t>
                </a:r>
                <a:r>
                  <a:rPr kumimoji="0" lang="ko-KR" altLang="en-US" sz="1100" b="1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로직 변경</a:t>
                </a:r>
                <a:endParaRPr kumimoji="0" lang="en-US" altLang="ko-KR" sz="1100" b="1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124" name="직사각형 123"/>
              <p:cNvSpPr/>
              <p:nvPr/>
            </p:nvSpPr>
            <p:spPr>
              <a:xfrm>
                <a:off x="4993340" y="2343077"/>
                <a:ext cx="4083394" cy="6001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446088" marR="0" lvl="0" indent="-84138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코드별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합산건수와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금액컬럼항목의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금액값을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신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/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구 비교하여 오류 검증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446088" marR="0" lvl="0" indent="-84138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코드값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건수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금액항목 검증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125" name="직사각형 124"/>
              <p:cNvSpPr/>
              <p:nvPr/>
            </p:nvSpPr>
            <p:spPr>
              <a:xfrm>
                <a:off x="4993340" y="3270376"/>
                <a:ext cx="4157130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360363" marR="0" lvl="0" indent="8572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기 개발된 구 시스템의 통계자료와 동일한 조건으로 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/>
                </a:r>
                <a:b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</a:b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출력된 통계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장표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및 보고서를 상호 비교 검증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360363" marR="0" lvl="0" indent="8572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주요 통계자료의 시점 및 기간별 최종 건수 및 금액 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/>
                </a:r>
                <a:b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</a:b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및 수량 비교 검증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5007763" y="4350496"/>
                <a:ext cx="4142707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366713" marR="0" lvl="0" indent="7937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데이터 적재 후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타겟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테이블을 조회하여 데이터가 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/>
                </a:r>
                <a:b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</a:b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정상적으로 적재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되었는지 확인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366713" marR="0" lvl="0" indent="7937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코드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일자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한글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(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성명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주소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),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금액 등  항목이 깨져 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/>
                </a:r>
                <a:b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</a:b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보이지 않는지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확인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366713" marR="0" lvl="0" indent="7937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/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비정상 데이터 발생 시 원인 규명 후 조치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  <p:sp>
            <p:nvSpPr>
              <p:cNvPr id="127" name="직사각형 126"/>
              <p:cNvSpPr/>
              <p:nvPr/>
            </p:nvSpPr>
            <p:spPr>
              <a:xfrm>
                <a:off x="5007763" y="5612043"/>
                <a:ext cx="4142707" cy="43088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360363" marR="0" lvl="0" indent="8572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>
                    <a:tab pos="361950" algn="l"/>
                  </a:tabLst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현업</a:t>
                </a:r>
                <a:r>
                  <a:rPr kumimoji="0" lang="en-US" altLang="ko-KR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검토 및 오류처리 방법 결정</a:t>
                </a:r>
                <a:endParaRPr kumimoji="0" lang="en-US" altLang="ko-KR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360363" marR="0" lvl="0" indent="85725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85000"/>
                      <a:lumOff val="15000"/>
                    </a:sysClr>
                  </a:buClr>
                  <a:buSzPct val="80000"/>
                  <a:buFont typeface="Arial" pitchFamily="34" charset="0"/>
                  <a:buChar char="•"/>
                  <a:tabLst>
                    <a:tab pos="361950" algn="l"/>
                  </a:tabLst>
                  <a:defRPr/>
                </a:pP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데이터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매핑룰</a:t>
                </a:r>
                <a:r>
                  <a:rPr kumimoji="0" lang="ko-KR" altLang="en-US" sz="110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 또는 변환 </a:t>
                </a:r>
                <a:r>
                  <a:rPr kumimoji="0" lang="ko-KR" altLang="en-US" sz="110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로직변경</a:t>
                </a:r>
                <a:endParaRPr kumimoji="0" lang="ko-KR" altLang="en-US" sz="110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</p:txBody>
          </p:sp>
        </p:grpSp>
      </p:grpSp>
      <p:grpSp>
        <p:nvGrpSpPr>
          <p:cNvPr id="161" name="그룹 160"/>
          <p:cNvGrpSpPr/>
          <p:nvPr/>
        </p:nvGrpSpPr>
        <p:grpSpPr>
          <a:xfrm>
            <a:off x="524071" y="1988840"/>
            <a:ext cx="4640180" cy="4162425"/>
            <a:chOff x="456836" y="1988840"/>
            <a:chExt cx="4640180" cy="4162425"/>
          </a:xfrm>
        </p:grpSpPr>
        <p:cxnSp>
          <p:nvCxnSpPr>
            <p:cNvPr id="80" name="AutoShape 125"/>
            <p:cNvCxnSpPr>
              <a:cxnSpLocks noChangeShapeType="1"/>
              <a:stCxn id="116" idx="2"/>
              <a:endCxn id="89" idx="0"/>
            </p:cNvCxnSpPr>
            <p:nvPr/>
          </p:nvCxnSpPr>
          <p:spPr bwMode="auto">
            <a:xfrm rot="5400000">
              <a:off x="2297578" y="4886893"/>
              <a:ext cx="296349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sp>
          <p:nvSpPr>
            <p:cNvPr id="82" name="AutoShape 127"/>
            <p:cNvSpPr>
              <a:spLocks noChangeArrowheads="1"/>
            </p:cNvSpPr>
            <p:nvPr/>
          </p:nvSpPr>
          <p:spPr bwMode="gray">
            <a:xfrm>
              <a:off x="2040963" y="3500671"/>
              <a:ext cx="1203772" cy="391121"/>
            </a:xfrm>
            <a:prstGeom prst="flowChartOnlineStorage">
              <a:avLst/>
            </a:prstGeom>
            <a:solidFill>
              <a:sysClr val="window" lastClr="FFFFFF">
                <a:lumMod val="85000"/>
              </a:sysClr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Unload</a:t>
              </a:r>
            </a:p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SAM-File</a:t>
              </a:r>
            </a:p>
          </p:txBody>
        </p:sp>
        <p:cxnSp>
          <p:nvCxnSpPr>
            <p:cNvPr id="84" name="AutoShape 130"/>
            <p:cNvCxnSpPr>
              <a:cxnSpLocks noChangeShapeType="1"/>
              <a:stCxn id="82" idx="3"/>
              <a:endCxn id="117" idx="2"/>
            </p:cNvCxnSpPr>
            <p:nvPr/>
          </p:nvCxnSpPr>
          <p:spPr bwMode="auto">
            <a:xfrm flipV="1">
              <a:off x="3043400" y="3679684"/>
              <a:ext cx="358164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85" name="AutoShape 131"/>
            <p:cNvCxnSpPr>
              <a:cxnSpLocks noChangeShapeType="1"/>
              <a:stCxn id="95" idx="2"/>
              <a:endCxn id="91" idx="0"/>
            </p:cNvCxnSpPr>
            <p:nvPr/>
          </p:nvCxnSpPr>
          <p:spPr bwMode="auto">
            <a:xfrm rot="5400000">
              <a:off x="3764278" y="4114567"/>
              <a:ext cx="338469" cy="4238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86" name="AutoShape 136"/>
            <p:cNvCxnSpPr>
              <a:cxnSpLocks noChangeShapeType="1"/>
              <a:endCxn id="116" idx="3"/>
            </p:cNvCxnSpPr>
            <p:nvPr/>
          </p:nvCxnSpPr>
          <p:spPr bwMode="auto">
            <a:xfrm rot="10800000" flipV="1">
              <a:off x="2873855" y="4508559"/>
              <a:ext cx="402670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sp>
          <p:nvSpPr>
            <p:cNvPr id="89" name="AutoShape 139"/>
            <p:cNvSpPr>
              <a:spLocks noChangeArrowheads="1"/>
            </p:cNvSpPr>
            <p:nvPr/>
          </p:nvSpPr>
          <p:spPr bwMode="auto">
            <a:xfrm>
              <a:off x="1901088" y="5035067"/>
              <a:ext cx="1087210" cy="496422"/>
            </a:xfrm>
            <a:prstGeom prst="flowChartDocument">
              <a:avLst/>
            </a:prstGeom>
            <a:solidFill>
              <a:sysClr val="window" lastClr="FFFFFF">
                <a:lumMod val="85000"/>
              </a:sysClr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lvl="0" algn="ctr" defTabSz="1042988" latinLnBrk="0">
                <a:buClr>
                  <a:srgbClr val="3271AA"/>
                </a:buClr>
                <a:buSzPct val="140000"/>
                <a:tabLst>
                  <a:tab pos="5648325" algn="l"/>
                </a:tabLst>
                <a:defRPr/>
              </a:pPr>
              <a:r>
                <a:rPr lang="en-US" altLang="ko-KR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(</a:t>
              </a:r>
              <a:r>
                <a:rPr lang="ko-KR" altLang="en-US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신</a:t>
              </a:r>
              <a:r>
                <a:rPr lang="en-US" altLang="ko-KR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) </a:t>
              </a:r>
              <a:r>
                <a:rPr lang="ko-KR" altLang="en-US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데이터</a:t>
              </a:r>
              <a:r>
                <a:rPr lang="en-US" altLang="ko-KR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/>
              </a:r>
              <a:br>
                <a:rPr lang="en-US" altLang="ko-KR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</a:br>
              <a:r>
                <a:rPr lang="ko-KR" altLang="en-US" sz="1100" kern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스키마통계자료</a:t>
              </a:r>
            </a:p>
          </p:txBody>
        </p:sp>
        <p:cxnSp>
          <p:nvCxnSpPr>
            <p:cNvPr id="90" name="AutoShape 140"/>
            <p:cNvCxnSpPr>
              <a:cxnSpLocks noChangeShapeType="1"/>
              <a:stCxn id="89" idx="2"/>
              <a:endCxn id="93" idx="0"/>
            </p:cNvCxnSpPr>
            <p:nvPr/>
          </p:nvCxnSpPr>
          <p:spPr bwMode="auto">
            <a:xfrm rot="16200000" flipH="1">
              <a:off x="2314877" y="5630775"/>
              <a:ext cx="261750" cy="0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sp>
          <p:nvSpPr>
            <p:cNvPr id="91" name="AutoShape 142"/>
            <p:cNvSpPr>
              <a:spLocks noChangeArrowheads="1"/>
            </p:cNvSpPr>
            <p:nvPr/>
          </p:nvSpPr>
          <p:spPr bwMode="gray">
            <a:xfrm>
              <a:off x="3268048" y="4285921"/>
              <a:ext cx="1324572" cy="389617"/>
            </a:xfrm>
            <a:prstGeom prst="flowChartOnlineStorage">
              <a:avLst/>
            </a:prstGeom>
            <a:solidFill>
              <a:sysClr val="window" lastClr="FFFFFF">
                <a:lumMod val="85000"/>
              </a:sysClr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변환</a:t>
              </a:r>
              <a:b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</a:b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데이터</a:t>
              </a:r>
              <a:endPara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sym typeface="Monotype Sorts"/>
              </a:endParaRPr>
            </a:p>
          </p:txBody>
        </p:sp>
        <p:grpSp>
          <p:nvGrpSpPr>
            <p:cNvPr id="92" name="그룹 143"/>
            <p:cNvGrpSpPr>
              <a:grpSpLocks/>
            </p:cNvGrpSpPr>
            <p:nvPr/>
          </p:nvGrpSpPr>
          <p:grpSpPr bwMode="auto">
            <a:xfrm>
              <a:off x="2004935" y="5727050"/>
              <a:ext cx="881635" cy="424215"/>
              <a:chOff x="3378480" y="4463340"/>
              <a:chExt cx="711545" cy="308666"/>
            </a:xfrm>
          </p:grpSpPr>
          <p:sp>
            <p:nvSpPr>
              <p:cNvPr id="93" name="Rectangle 14"/>
              <p:cNvSpPr>
                <a:spLocks noChangeArrowheads="1"/>
              </p:cNvSpPr>
              <p:nvPr/>
            </p:nvSpPr>
            <p:spPr bwMode="auto">
              <a:xfrm>
                <a:off x="3378480" y="4488515"/>
                <a:ext cx="711545" cy="283491"/>
              </a:xfrm>
              <a:prstGeom prst="rect">
                <a:avLst/>
              </a:prstGeom>
              <a:solidFill>
                <a:srgbClr val="B9DCFF"/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>
                <a:outerShdw blurRad="63500" sx="102000" sy="102000" algn="ctr" rotWithShape="0">
                  <a:prstClr val="black">
                    <a:alpha val="19000"/>
                  </a:prstClr>
                </a:outerShdw>
              </a:effectLst>
            </p:spPr>
            <p:txBody>
              <a:bodyPr lIns="0" r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endPara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  <a:sym typeface="Monotype Sorts"/>
                </a:endParaRPr>
              </a:p>
            </p:txBody>
          </p:sp>
          <p:sp>
            <p:nvSpPr>
              <p:cNvPr id="94" name="AutoShape 146"/>
              <p:cNvSpPr>
                <a:spLocks noChangeArrowheads="1"/>
              </p:cNvSpPr>
              <p:nvPr/>
            </p:nvSpPr>
            <p:spPr bwMode="gray">
              <a:xfrm>
                <a:off x="3422952" y="4463340"/>
                <a:ext cx="622602" cy="288964"/>
              </a:xfrm>
              <a:prstGeom prst="can">
                <a:avLst>
                  <a:gd name="adj" fmla="val 29014"/>
                </a:avLst>
              </a:prstGeom>
              <a:noFill/>
              <a:ln w="6350">
                <a:noFill/>
                <a:round/>
                <a:headEnd/>
                <a:tailEnd/>
              </a:ln>
            </p:spPr>
            <p:txBody>
              <a:bodyPr wrap="none" lIns="91436" tIns="45718" rIns="91436" bIns="45718" anchor="ctr"/>
              <a:lstStyle/>
              <a:p>
                <a:pPr marL="0" marR="0" lvl="0" indent="0" algn="ctr" defTabSz="1042988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/>
                  </a:rPr>
                  <a:t> 검증</a:t>
                </a:r>
              </a:p>
            </p:txBody>
          </p:sp>
        </p:grpSp>
        <p:sp>
          <p:nvSpPr>
            <p:cNvPr id="95" name="Rectangle 44" descr="s7"/>
            <p:cNvSpPr>
              <a:spLocks noChangeArrowheads="1"/>
            </p:cNvSpPr>
            <p:nvPr/>
          </p:nvSpPr>
          <p:spPr bwMode="auto">
            <a:xfrm>
              <a:off x="3386729" y="3493150"/>
              <a:ext cx="1093567" cy="454302"/>
            </a:xfrm>
            <a:prstGeom prst="rect">
              <a:avLst/>
            </a:prstGeom>
            <a:solidFill>
              <a:srgbClr val="E8E8E8"/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sym typeface="Monotype Sorts"/>
              </a:endParaRPr>
            </a:p>
          </p:txBody>
        </p:sp>
        <p:grpSp>
          <p:nvGrpSpPr>
            <p:cNvPr id="96" name="그룹 143"/>
            <p:cNvGrpSpPr>
              <a:grpSpLocks/>
            </p:cNvGrpSpPr>
            <p:nvPr/>
          </p:nvGrpSpPr>
          <p:grpSpPr bwMode="auto">
            <a:xfrm>
              <a:off x="3395207" y="5040467"/>
              <a:ext cx="879516" cy="400769"/>
              <a:chOff x="3378916" y="4480440"/>
              <a:chExt cx="711544" cy="291606"/>
            </a:xfrm>
          </p:grpSpPr>
          <p:sp>
            <p:nvSpPr>
              <p:cNvPr id="97" name="Rectangle 14"/>
              <p:cNvSpPr>
                <a:spLocks noChangeArrowheads="1"/>
              </p:cNvSpPr>
              <p:nvPr/>
            </p:nvSpPr>
            <p:spPr bwMode="auto">
              <a:xfrm>
                <a:off x="3378916" y="4488555"/>
                <a:ext cx="711544" cy="283491"/>
              </a:xfrm>
              <a:prstGeom prst="rect">
                <a:avLst/>
              </a:prstGeom>
              <a:solidFill>
                <a:srgbClr val="B9DCFF"/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>
                <a:outerShdw blurRad="63500" sx="102000" sy="102000" algn="ctr" rotWithShape="0">
                  <a:prstClr val="black">
                    <a:alpha val="19000"/>
                  </a:prstClr>
                </a:outerShdw>
              </a:effectLst>
            </p:spPr>
            <p:txBody>
              <a:bodyPr lIns="0" rIns="0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endPara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  <a:sym typeface="Monotype Sorts"/>
                </a:endParaRPr>
              </a:p>
            </p:txBody>
          </p:sp>
          <p:sp>
            <p:nvSpPr>
              <p:cNvPr id="98" name="AutoShape 146"/>
              <p:cNvSpPr>
                <a:spLocks noChangeArrowheads="1"/>
              </p:cNvSpPr>
              <p:nvPr/>
            </p:nvSpPr>
            <p:spPr bwMode="gray">
              <a:xfrm>
                <a:off x="3418243" y="4480440"/>
                <a:ext cx="622387" cy="288964"/>
              </a:xfrm>
              <a:prstGeom prst="can">
                <a:avLst>
                  <a:gd name="adj" fmla="val 29014"/>
                </a:avLst>
              </a:prstGeom>
              <a:noFill/>
              <a:ln w="6350">
                <a:noFill/>
                <a:round/>
                <a:headEnd/>
                <a:tailEnd/>
              </a:ln>
            </p:spPr>
            <p:txBody>
              <a:bodyPr wrap="none" lIns="91436" tIns="45718" rIns="91436" bIns="45718" anchor="ctr"/>
              <a:lstStyle/>
              <a:p>
                <a:pPr marL="0" marR="0" lvl="0" indent="0" algn="ctr" defTabSz="1042988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/>
                  </a:rPr>
                  <a:t> 검증</a:t>
                </a:r>
              </a:p>
            </p:txBody>
          </p:sp>
        </p:grpSp>
        <p:cxnSp>
          <p:nvCxnSpPr>
            <p:cNvPr id="99" name="AutoShape 136"/>
            <p:cNvCxnSpPr>
              <a:cxnSpLocks noChangeShapeType="1"/>
              <a:stCxn id="116" idx="3"/>
            </p:cNvCxnSpPr>
            <p:nvPr/>
          </p:nvCxnSpPr>
          <p:spPr bwMode="auto">
            <a:xfrm>
              <a:off x="2873855" y="4508559"/>
              <a:ext cx="421743" cy="731095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grpSp>
          <p:nvGrpSpPr>
            <p:cNvPr id="100" name="그룹 333"/>
            <p:cNvGrpSpPr>
              <a:grpSpLocks/>
            </p:cNvGrpSpPr>
            <p:nvPr/>
          </p:nvGrpSpPr>
          <p:grpSpPr bwMode="auto">
            <a:xfrm>
              <a:off x="4683750" y="1988840"/>
              <a:ext cx="413266" cy="4060132"/>
              <a:chOff x="3455568" y="4336566"/>
              <a:chExt cx="231787" cy="2946678"/>
            </a:xfrm>
          </p:grpSpPr>
          <p:sp>
            <p:nvSpPr>
              <p:cNvPr id="101" name="Rectangle 44" descr="s7"/>
              <p:cNvSpPr>
                <a:spLocks noChangeArrowheads="1"/>
              </p:cNvSpPr>
              <p:nvPr/>
            </p:nvSpPr>
            <p:spPr bwMode="auto">
              <a:xfrm>
                <a:off x="3455568" y="4336566"/>
                <a:ext cx="231787" cy="2946678"/>
              </a:xfrm>
              <a:prstGeom prst="roundRect">
                <a:avLst>
                  <a:gd name="adj" fmla="val 42106"/>
                </a:avLst>
              </a:prstGeom>
              <a:gradFill rotWithShape="1">
                <a:gsLst>
                  <a:gs pos="0">
                    <a:srgbClr val="DDDDDD">
                      <a:gamma/>
                      <a:tint val="54118"/>
                      <a:invGamma/>
                    </a:srgbClr>
                  </a:gs>
                  <a:gs pos="100000">
                    <a:srgbClr val="DDDDDD"/>
                  </a:gs>
                </a:gsLst>
                <a:lin ang="5400000" scaled="1"/>
              </a:gradFill>
              <a:ln w="9525">
                <a:solidFill>
                  <a:sysClr val="window" lastClr="FFFFFF"/>
                </a:solidFill>
                <a:round/>
                <a:headEnd/>
                <a:tailEnd/>
              </a:ln>
              <a:effectLst>
                <a:outerShdw blurRad="38100" dist="38100" dir="2700000" algn="tl" rotWithShape="0">
                  <a:prstClr val="black">
                    <a:alpha val="22000"/>
                  </a:prstClr>
                </a:outerShdw>
              </a:effectLst>
            </p:spPr>
            <p:txBody>
              <a:bodyPr wrap="none" anchor="ctr"/>
              <a:lstStyle/>
              <a:p>
                <a:pPr marL="0" marR="0" lvl="0" indent="0" algn="ctr" defTabSz="1042988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endPara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endParaRPr>
              </a:p>
            </p:txBody>
          </p:sp>
          <p:sp>
            <p:nvSpPr>
              <p:cNvPr id="102" name="TextBox 316"/>
              <p:cNvSpPr txBox="1">
                <a:spLocks noChangeArrowheads="1"/>
              </p:cNvSpPr>
              <p:nvPr/>
            </p:nvSpPr>
            <p:spPr bwMode="auto">
              <a:xfrm>
                <a:off x="3455568" y="5394488"/>
                <a:ext cx="231787" cy="8041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변</a:t>
                </a:r>
                <a:endPara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환</a:t>
                </a:r>
                <a:endPara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로</a:t>
                </a:r>
                <a:endPara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직</a:t>
                </a:r>
                <a:endPara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변</a:t>
                </a:r>
                <a:endPara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endParaRPr>
              </a:p>
              <a:p>
                <a:pPr marL="0" marR="0" lvl="0" indent="0" algn="ctr" defTabSz="104298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71AA"/>
                  </a:buClr>
                  <a:buSzPct val="140000"/>
                  <a:buFontTx/>
                  <a:buNone/>
                  <a:tabLst>
                    <a:tab pos="5648325" algn="l"/>
                  </a:tabLst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>
                        <a:lumMod val="85000"/>
                        <a:lumOff val="15000"/>
                      </a:sysClr>
                    </a:solidFill>
                    <a:effectLst/>
                    <a:uLnTx/>
                    <a:uFillTx/>
                    <a:latin typeface="맑은 고딕" pitchFamily="50" charset="-127"/>
                    <a:ea typeface="맑은 고딕" pitchFamily="50" charset="-127"/>
                    <a:sym typeface="Monotype Sorts" pitchFamily="2" charset="2"/>
                  </a:rPr>
                  <a:t>경</a:t>
                </a:r>
              </a:p>
            </p:txBody>
          </p:sp>
        </p:grpSp>
        <p:sp>
          <p:nvSpPr>
            <p:cNvPr id="103" name="AutoShape 149"/>
            <p:cNvSpPr>
              <a:spLocks noChangeArrowheads="1"/>
            </p:cNvSpPr>
            <p:nvPr/>
          </p:nvSpPr>
          <p:spPr bwMode="gray">
            <a:xfrm>
              <a:off x="3295598" y="2816210"/>
              <a:ext cx="1271589" cy="391121"/>
            </a:xfrm>
            <a:prstGeom prst="flowChartOnlineStorage">
              <a:avLst/>
            </a:prstGeom>
            <a:solidFill>
              <a:sysClr val="window" lastClr="FFFFFF">
                <a:lumMod val="85000"/>
              </a:sysClr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변환</a:t>
              </a:r>
              <a:b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</a:b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SAM-File</a:t>
              </a:r>
            </a:p>
          </p:txBody>
        </p:sp>
        <p:cxnSp>
          <p:nvCxnSpPr>
            <p:cNvPr id="105" name="AutoShape 156"/>
            <p:cNvCxnSpPr>
              <a:cxnSpLocks noChangeShapeType="1"/>
            </p:cNvCxnSpPr>
            <p:nvPr/>
          </p:nvCxnSpPr>
          <p:spPr bwMode="auto">
            <a:xfrm rot="10800000">
              <a:off x="3020087" y="3014779"/>
              <a:ext cx="275511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sp>
          <p:nvSpPr>
            <p:cNvPr id="106" name="Rectangle 14"/>
            <p:cNvSpPr>
              <a:spLocks noChangeArrowheads="1"/>
            </p:cNvSpPr>
            <p:nvPr/>
          </p:nvSpPr>
          <p:spPr bwMode="auto">
            <a:xfrm>
              <a:off x="2098186" y="2115202"/>
              <a:ext cx="890113" cy="389616"/>
            </a:xfrm>
            <a:prstGeom prst="rect">
              <a:avLst/>
            </a:prstGeom>
            <a:solidFill>
              <a:srgbClr val="B9DCFF"/>
            </a:solidFill>
            <a:ln w="6350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>
              <a:outerShdw blurRad="63500" sx="102000" sy="102000" algn="ctr" rotWithShape="0">
                <a:prstClr val="black">
                  <a:alpha val="19000"/>
                </a:prstClr>
              </a:outerShdw>
            </a:effectLst>
          </p:spPr>
          <p:txBody>
            <a:bodyPr lIns="0" rIns="0" anchor="ctr"/>
            <a:lstStyle/>
            <a:p>
              <a:pPr marL="0" marR="0" lvl="0" indent="0" algn="ctr" defTabSz="1042988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endParaRPr kumimoji="0" lang="ko-KR" altLang="en-US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  <a:sym typeface="Monotype Sorts"/>
              </a:endParaRPr>
            </a:p>
          </p:txBody>
        </p:sp>
        <p:sp>
          <p:nvSpPr>
            <p:cNvPr id="107" name="AutoShape 146"/>
            <p:cNvSpPr>
              <a:spLocks noChangeArrowheads="1"/>
            </p:cNvSpPr>
            <p:nvPr/>
          </p:nvSpPr>
          <p:spPr bwMode="gray">
            <a:xfrm>
              <a:off x="2115865" y="2119851"/>
              <a:ext cx="779909" cy="406164"/>
            </a:xfrm>
            <a:prstGeom prst="can">
              <a:avLst>
                <a:gd name="adj" fmla="val 29014"/>
              </a:avLst>
            </a:prstGeom>
            <a:noFill/>
            <a:ln w="6350">
              <a:noFill/>
              <a:round/>
              <a:headEnd/>
              <a:tailEnd/>
            </a:ln>
          </p:spPr>
          <p:txBody>
            <a:bodyPr wrap="none" lIns="91436" tIns="45718" rIns="91436" bIns="45718" anchor="ctr"/>
            <a:lstStyle/>
            <a:p>
              <a:pPr marL="0" marR="0" lvl="0" indent="0" algn="ctr" defTabSz="1042988" eaLnBrk="1" fontAlgn="auto" latinLnBrk="0" hangingPunct="1">
                <a:lnSpc>
                  <a:spcPts val="9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92929"/>
                </a:buClr>
                <a:buSzPct val="100000"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 검증</a:t>
              </a:r>
            </a:p>
          </p:txBody>
        </p:sp>
        <p:grpSp>
          <p:nvGrpSpPr>
            <p:cNvPr id="156" name="그룹 155"/>
            <p:cNvGrpSpPr/>
            <p:nvPr/>
          </p:nvGrpSpPr>
          <p:grpSpPr>
            <a:xfrm>
              <a:off x="1726087" y="3029822"/>
              <a:ext cx="468000" cy="667914"/>
              <a:chOff x="1862940" y="3029822"/>
              <a:chExt cx="273392" cy="667914"/>
            </a:xfrm>
          </p:grpSpPr>
          <p:cxnSp>
            <p:nvCxnSpPr>
              <p:cNvPr id="83" name="AutoShape 129"/>
              <p:cNvCxnSpPr>
                <a:cxnSpLocks noChangeShapeType="1"/>
                <a:endCxn id="82" idx="1"/>
              </p:cNvCxnSpPr>
              <p:nvPr/>
            </p:nvCxnSpPr>
            <p:spPr bwMode="auto">
              <a:xfrm flipV="1">
                <a:off x="1890493" y="3697736"/>
                <a:ext cx="15047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  <a:headEnd type="none" w="sm" len="med"/>
                <a:tailEnd type="stealth" w="sm" len="med"/>
              </a:ln>
              <a:effectLst/>
            </p:spPr>
          </p:cxnSp>
          <p:cxnSp>
            <p:nvCxnSpPr>
              <p:cNvPr id="108" name="AutoShape 129"/>
              <p:cNvCxnSpPr>
                <a:cxnSpLocks noChangeShapeType="1"/>
              </p:cNvCxnSpPr>
              <p:nvPr/>
            </p:nvCxnSpPr>
            <p:spPr bwMode="auto">
              <a:xfrm flipH="1">
                <a:off x="1862940" y="3029822"/>
                <a:ext cx="273392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  <a:headEnd type="none" w="sm" len="med"/>
                <a:tailEnd type="stealth" w="sm" len="med"/>
              </a:ln>
              <a:effectLst/>
            </p:spPr>
          </p:cxnSp>
        </p:grpSp>
        <p:cxnSp>
          <p:nvCxnSpPr>
            <p:cNvPr id="109" name="AutoShape 155"/>
            <p:cNvCxnSpPr>
              <a:cxnSpLocks noChangeShapeType="1"/>
              <a:endCxn id="106" idx="2"/>
            </p:cNvCxnSpPr>
            <p:nvPr/>
          </p:nvCxnSpPr>
          <p:spPr bwMode="auto">
            <a:xfrm rot="16200000" flipV="1">
              <a:off x="2358073" y="2692105"/>
              <a:ext cx="374574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111" name="AutoShape 136"/>
            <p:cNvCxnSpPr>
              <a:cxnSpLocks noChangeShapeType="1"/>
            </p:cNvCxnSpPr>
            <p:nvPr/>
          </p:nvCxnSpPr>
          <p:spPr bwMode="auto">
            <a:xfrm>
              <a:off x="3024326" y="2315275"/>
              <a:ext cx="1682737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112" name="AutoShape 130"/>
            <p:cNvCxnSpPr>
              <a:cxnSpLocks noChangeShapeType="1"/>
              <a:stCxn id="97" idx="3"/>
            </p:cNvCxnSpPr>
            <p:nvPr/>
          </p:nvCxnSpPr>
          <p:spPr bwMode="auto">
            <a:xfrm>
              <a:off x="4274722" y="5247175"/>
              <a:ext cx="432340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113" name="AutoShape 131"/>
            <p:cNvCxnSpPr>
              <a:cxnSpLocks noChangeShapeType="1"/>
              <a:stCxn id="95" idx="0"/>
              <a:endCxn id="103" idx="2"/>
            </p:cNvCxnSpPr>
            <p:nvPr/>
          </p:nvCxnSpPr>
          <p:spPr bwMode="auto">
            <a:xfrm rot="16200000" flipV="1">
              <a:off x="3788482" y="3350241"/>
              <a:ext cx="285819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pic>
          <p:nvPicPr>
            <p:cNvPr id="114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7856" y="2647728"/>
              <a:ext cx="921901" cy="8619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Rectangle 84"/>
            <p:cNvSpPr>
              <a:spLocks noChangeArrowheads="1"/>
            </p:cNvSpPr>
            <p:nvPr/>
          </p:nvSpPr>
          <p:spPr bwMode="auto">
            <a:xfrm>
              <a:off x="2079110" y="3033325"/>
              <a:ext cx="1006676" cy="27129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경영정보</a:t>
              </a:r>
            </a:p>
          </p:txBody>
        </p:sp>
        <p:sp>
          <p:nvSpPr>
            <p:cNvPr id="116" name="AutoShape 74"/>
            <p:cNvSpPr>
              <a:spLocks noChangeArrowheads="1"/>
            </p:cNvSpPr>
            <p:nvPr/>
          </p:nvSpPr>
          <p:spPr bwMode="gray">
            <a:xfrm>
              <a:off x="2019770" y="4279903"/>
              <a:ext cx="854085" cy="458815"/>
            </a:xfrm>
            <a:prstGeom prst="flowChartAlternateProcess">
              <a:avLst/>
            </a:prstGeom>
            <a:gradFill rotWithShape="1">
              <a:gsLst>
                <a:gs pos="0">
                  <a:srgbClr val="DDDDDD">
                    <a:gamma/>
                    <a:tint val="54118"/>
                    <a:invGamma/>
                  </a:srgbClr>
                </a:gs>
                <a:gs pos="100000">
                  <a:srgbClr val="DDDDDD"/>
                </a:gs>
              </a:gsLst>
              <a:lin ang="5400000" scaled="1"/>
            </a:gradFill>
            <a:ln w="9525">
              <a:solidFill>
                <a:sysClr val="window" lastClr="FFFFFF"/>
              </a:solidFill>
              <a:round/>
              <a:headEnd/>
              <a:tailEnd/>
            </a:ln>
            <a:effectLst>
              <a:outerShdw blurRad="38100" dist="38100" dir="2700000" algn="tl" rotWithShape="0">
                <a:prstClr val="black">
                  <a:alpha val="22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검증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/>
              </a:r>
              <a:b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</a:b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PGM</a:t>
              </a:r>
            </a:p>
          </p:txBody>
        </p:sp>
        <p:sp>
          <p:nvSpPr>
            <p:cNvPr id="117" name="AutoShape 146"/>
            <p:cNvSpPr>
              <a:spLocks noChangeArrowheads="1"/>
            </p:cNvSpPr>
            <p:nvPr/>
          </p:nvSpPr>
          <p:spPr bwMode="gray">
            <a:xfrm>
              <a:off x="3401564" y="3446516"/>
              <a:ext cx="1078732" cy="466336"/>
            </a:xfrm>
            <a:prstGeom prst="can">
              <a:avLst>
                <a:gd name="adj" fmla="val 29014"/>
              </a:avLst>
            </a:prstGeom>
            <a:noFill/>
            <a:ln w="6350">
              <a:noFill/>
              <a:round/>
              <a:headEnd/>
              <a:tailEnd/>
            </a:ln>
          </p:spPr>
          <p:txBody>
            <a:bodyPr wrap="none" lIns="91436" tIns="45718" rIns="91436" bIns="45718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변환</a:t>
              </a:r>
              <a:endPara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sym typeface="Monotype Sorts" pitchFamily="2" charset="2"/>
              </a:endParaRPr>
            </a:p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 pitchFamily="2" charset="2"/>
                </a:rPr>
                <a:t>프로그램</a:t>
              </a:r>
            </a:p>
          </p:txBody>
        </p:sp>
        <p:sp>
          <p:nvSpPr>
            <p:cNvPr id="121" name="모서리가 둥근 직사각형 120"/>
            <p:cNvSpPr>
              <a:spLocks noChangeAspect="1"/>
            </p:cNvSpPr>
            <p:nvPr/>
          </p:nvSpPr>
          <p:spPr bwMode="auto">
            <a:xfrm>
              <a:off x="3261689" y="4979408"/>
              <a:ext cx="328495" cy="218124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1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122" name="모서리가 둥근 직사각형 121"/>
            <p:cNvSpPr>
              <a:spLocks noChangeAspect="1"/>
            </p:cNvSpPr>
            <p:nvPr/>
          </p:nvSpPr>
          <p:spPr bwMode="auto">
            <a:xfrm>
              <a:off x="1882015" y="5672894"/>
              <a:ext cx="326374" cy="218125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2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123" name="모서리가 둥근 직사각형 122"/>
            <p:cNvSpPr>
              <a:spLocks noChangeAspect="1"/>
            </p:cNvSpPr>
            <p:nvPr/>
          </p:nvSpPr>
          <p:spPr bwMode="auto">
            <a:xfrm>
              <a:off x="4711301" y="3160697"/>
              <a:ext cx="328495" cy="216621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4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130" name="모서리가 둥근 직사각형 129"/>
            <p:cNvSpPr>
              <a:spLocks noChangeAspect="1"/>
            </p:cNvSpPr>
            <p:nvPr/>
          </p:nvSpPr>
          <p:spPr bwMode="auto">
            <a:xfrm>
              <a:off x="2004935" y="2006891"/>
              <a:ext cx="328495" cy="216621"/>
            </a:xfrm>
            <a:prstGeom prst="roundRect">
              <a:avLst/>
            </a:prstGeom>
            <a:solidFill>
              <a:srgbClr val="508CD2"/>
            </a:solidFill>
            <a:ln w="25400" cap="flat" cmpd="sng" algn="ctr">
              <a:noFill/>
              <a:prstDash val="solid"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147490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cs typeface="+mn-cs"/>
                </a:rPr>
                <a:t>3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endParaRPr>
            </a:p>
          </p:txBody>
        </p:sp>
        <p:sp>
          <p:nvSpPr>
            <p:cNvPr id="87" name="AutoShape 137"/>
            <p:cNvSpPr>
              <a:spLocks noChangeArrowheads="1"/>
            </p:cNvSpPr>
            <p:nvPr/>
          </p:nvSpPr>
          <p:spPr bwMode="auto">
            <a:xfrm>
              <a:off x="615005" y="4807794"/>
              <a:ext cx="993960" cy="493414"/>
            </a:xfrm>
            <a:prstGeom prst="flowChartDocument">
              <a:avLst/>
            </a:prstGeom>
            <a:solidFill>
              <a:sysClr val="window" lastClr="FFFFFF">
                <a:lumMod val="85000"/>
              </a:sysClr>
            </a:solidFill>
            <a:ln w="9525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marL="0" marR="0" lvl="0" indent="0" algn="ctr" defTabSz="104298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271AA"/>
                </a:buClr>
                <a:buSzPct val="140000"/>
                <a:buFontTx/>
                <a:buNone/>
                <a:tabLst>
                  <a:tab pos="5648325" algn="l"/>
                </a:tabLst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(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구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) </a:t>
              </a:r>
              <a:r>
                <a:rPr lang="ko-KR" altLang="en-US" sz="1100" kern="0" noProof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데이터</a:t>
              </a:r>
              <a:r>
                <a:rPr lang="en-US" altLang="ko-KR" sz="1100" kern="0" noProof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/>
              </a:r>
              <a:br>
                <a:rPr lang="en-US" altLang="ko-KR" sz="1100" kern="0" noProof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</a:br>
              <a:r>
                <a:rPr lang="ko-KR" altLang="en-US" sz="1100" kern="0" noProof="0" dirty="0">
                  <a:solidFill>
                    <a:sysClr val="windowText" lastClr="000000">
                      <a:lumMod val="85000"/>
                      <a:lumOff val="15000"/>
                    </a:sysClr>
                  </a:solidFill>
                  <a:latin typeface="맑은 고딕" pitchFamily="50" charset="-127"/>
                  <a:ea typeface="맑은 고딕" pitchFamily="50" charset="-127"/>
                  <a:sym typeface="Monotype Sorts"/>
                </a:rPr>
                <a:t>스키마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  <a:sym typeface="Monotype Sorts"/>
                </a:rPr>
                <a:t>통계자료</a:t>
              </a:r>
            </a:p>
          </p:txBody>
        </p:sp>
        <p:cxnSp>
          <p:nvCxnSpPr>
            <p:cNvPr id="81" name="AutoShape 126"/>
            <p:cNvCxnSpPr>
              <a:cxnSpLocks noChangeShapeType="1"/>
              <a:stCxn id="87" idx="2"/>
            </p:cNvCxnSpPr>
            <p:nvPr/>
          </p:nvCxnSpPr>
          <p:spPr bwMode="auto">
            <a:xfrm rot="16200000" flipH="1">
              <a:off x="1198580" y="5181992"/>
              <a:ext cx="716596" cy="889787"/>
            </a:xfrm>
            <a:prstGeom prst="bentConnector2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88" name="AutoShape 138"/>
            <p:cNvCxnSpPr>
              <a:cxnSpLocks noChangeShapeType="1"/>
            </p:cNvCxnSpPr>
            <p:nvPr/>
          </p:nvCxnSpPr>
          <p:spPr bwMode="auto">
            <a:xfrm rot="16200000" flipH="1">
              <a:off x="929739" y="4638831"/>
              <a:ext cx="335461" cy="2467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104" name="AutoShape 155"/>
            <p:cNvCxnSpPr>
              <a:cxnSpLocks noChangeShapeType="1"/>
            </p:cNvCxnSpPr>
            <p:nvPr/>
          </p:nvCxnSpPr>
          <p:spPr bwMode="auto">
            <a:xfrm rot="5400000" flipH="1" flipV="1">
              <a:off x="942044" y="3388601"/>
              <a:ext cx="308383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cxnSp>
          <p:nvCxnSpPr>
            <p:cNvPr id="110" name="AutoShape 126"/>
            <p:cNvCxnSpPr>
              <a:cxnSpLocks noChangeShapeType="1"/>
            </p:cNvCxnSpPr>
            <p:nvPr/>
          </p:nvCxnSpPr>
          <p:spPr bwMode="auto">
            <a:xfrm rot="5400000" flipH="1" flipV="1">
              <a:off x="1336124" y="2103708"/>
              <a:ext cx="482884" cy="900000"/>
            </a:xfrm>
            <a:prstGeom prst="bentConnector2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  <a:headEnd type="none" w="sm" len="med"/>
              <a:tailEnd type="stealth" w="sm" len="med"/>
            </a:ln>
            <a:effectLst/>
          </p:spPr>
        </p:cxnSp>
        <p:grpSp>
          <p:nvGrpSpPr>
            <p:cNvPr id="118" name="그룹 339"/>
            <p:cNvGrpSpPr>
              <a:grpSpLocks/>
            </p:cNvGrpSpPr>
            <p:nvPr/>
          </p:nvGrpSpPr>
          <p:grpSpPr bwMode="auto">
            <a:xfrm>
              <a:off x="645458" y="2865852"/>
              <a:ext cx="995297" cy="365548"/>
              <a:chOff x="1755871" y="5795228"/>
              <a:chExt cx="494475" cy="303673"/>
            </a:xfrm>
          </p:grpSpPr>
          <p:pic>
            <p:nvPicPr>
              <p:cNvPr id="119" name="그림 69" descr="45.png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5488"/>
              <a:stretch>
                <a:fillRect/>
              </a:stretch>
            </p:blipFill>
            <p:spPr bwMode="auto">
              <a:xfrm>
                <a:off x="1755871" y="5795228"/>
                <a:ext cx="234834" cy="3036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0" name="그림 69" descr="45.png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5488"/>
              <a:stretch>
                <a:fillRect/>
              </a:stretch>
            </p:blipFill>
            <p:spPr bwMode="auto">
              <a:xfrm>
                <a:off x="2015512" y="5795228"/>
                <a:ext cx="234834" cy="3036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1" name="그룹 150"/>
            <p:cNvGrpSpPr/>
            <p:nvPr/>
          </p:nvGrpSpPr>
          <p:grpSpPr>
            <a:xfrm>
              <a:off x="456836" y="3068959"/>
              <a:ext cx="1351054" cy="1728193"/>
              <a:chOff x="416496" y="2395782"/>
              <a:chExt cx="1161170" cy="1848714"/>
            </a:xfrm>
          </p:grpSpPr>
          <p:grpSp>
            <p:nvGrpSpPr>
              <p:cNvPr id="143" name="그룹 142"/>
              <p:cNvGrpSpPr/>
              <p:nvPr/>
            </p:nvGrpSpPr>
            <p:grpSpPr>
              <a:xfrm>
                <a:off x="416496" y="3439049"/>
                <a:ext cx="1161170" cy="805447"/>
                <a:chOff x="416496" y="3439049"/>
                <a:chExt cx="1161170" cy="805447"/>
              </a:xfrm>
            </p:grpSpPr>
            <p:grpSp>
              <p:nvGrpSpPr>
                <p:cNvPr id="139" name="그룹 138"/>
                <p:cNvGrpSpPr/>
                <p:nvPr/>
              </p:nvGrpSpPr>
              <p:grpSpPr>
                <a:xfrm>
                  <a:off x="416496" y="3439049"/>
                  <a:ext cx="612000" cy="792000"/>
                  <a:chOff x="566285" y="3438052"/>
                  <a:chExt cx="1006676" cy="861969"/>
                </a:xfrm>
              </p:grpSpPr>
              <p:pic>
                <p:nvPicPr>
                  <p:cNvPr id="128" name="Picture 5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00853" y="3438052"/>
                    <a:ext cx="921901" cy="8619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29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566285" y="3802302"/>
                    <a:ext cx="1006676" cy="28666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/>
                  <a:p>
                    <a:pPr marL="0" marR="0" lvl="0" indent="0" algn="ctr" defTabSz="104298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271AA"/>
                      </a:buClr>
                      <a:buSzPct val="140000"/>
                      <a:buFontTx/>
                      <a:buNone/>
                      <a:tabLst>
                        <a:tab pos="5648325" algn="l"/>
                      </a:tabLst>
                      <a:defRPr/>
                    </a:pPr>
                    <a:r>
                      <a:rPr lang="ko-KR" altLang="en-US" sz="1000" kern="0" smtClean="0"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자산</a:t>
                    </a:r>
                    <a:r>
                      <a:rPr kumimoji="0" lang="ko-KR" altLang="en-US" sz="10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관리</a:t>
                    </a:r>
                    <a:endParaRPr kumimoji="0" lang="ko-KR" alt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>
                          <a:lumMod val="85000"/>
                          <a:lumOff val="15000"/>
                        </a:sysClr>
                      </a:solidFill>
                      <a:effectLst/>
                      <a:uLnTx/>
                      <a:uFillTx/>
                      <a:latin typeface="맑은 고딕" pitchFamily="50" charset="-127"/>
                      <a:ea typeface="맑은 고딕" pitchFamily="50" charset="-127"/>
                      <a:sym typeface="Monotype Sorts" pitchFamily="2" charset="2"/>
                    </a:endParaRPr>
                  </a:p>
                </p:txBody>
              </p:sp>
            </p:grpSp>
            <p:grpSp>
              <p:nvGrpSpPr>
                <p:cNvPr id="140" name="그룹 139"/>
                <p:cNvGrpSpPr/>
                <p:nvPr/>
              </p:nvGrpSpPr>
              <p:grpSpPr>
                <a:xfrm>
                  <a:off x="965666" y="3452496"/>
                  <a:ext cx="612000" cy="792000"/>
                  <a:chOff x="566285" y="3438052"/>
                  <a:chExt cx="1006676" cy="861969"/>
                </a:xfrm>
              </p:grpSpPr>
              <p:pic>
                <p:nvPicPr>
                  <p:cNvPr id="141" name="Picture 5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00853" y="3438052"/>
                    <a:ext cx="921901" cy="8619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2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566285" y="3802302"/>
                    <a:ext cx="1006676" cy="28666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/>
                  <a:p>
                    <a:pPr marL="0" marR="0" lvl="0" indent="0" algn="ctr" defTabSz="104298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271AA"/>
                      </a:buClr>
                      <a:buSzPct val="140000"/>
                      <a:buFontTx/>
                      <a:buNone/>
                      <a:tabLst>
                        <a:tab pos="5648325" algn="l"/>
                      </a:tabLst>
                      <a:defRPr/>
                    </a:pPr>
                    <a:r>
                      <a:rPr lang="ko-KR" altLang="en-US" sz="1000" kern="0"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구</a:t>
                    </a:r>
                    <a:r>
                      <a:rPr kumimoji="0" lang="ko-KR" altLang="en-US" sz="10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매관리</a:t>
                    </a:r>
                    <a:endParaRPr kumimoji="0" lang="ko-KR" alt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>
                          <a:lumMod val="85000"/>
                          <a:lumOff val="15000"/>
                        </a:sysClr>
                      </a:solidFill>
                      <a:effectLst/>
                      <a:uLnTx/>
                      <a:uFillTx/>
                      <a:latin typeface="맑은 고딕" pitchFamily="50" charset="-127"/>
                      <a:ea typeface="맑은 고딕" pitchFamily="50" charset="-127"/>
                      <a:sym typeface="Monotype Sorts" pitchFamily="2" charset="2"/>
                    </a:endParaRPr>
                  </a:p>
                </p:txBody>
              </p:sp>
            </p:grpSp>
          </p:grpSp>
          <p:grpSp>
            <p:nvGrpSpPr>
              <p:cNvPr id="144" name="그룹 143"/>
              <p:cNvGrpSpPr/>
              <p:nvPr/>
            </p:nvGrpSpPr>
            <p:grpSpPr>
              <a:xfrm>
                <a:off x="416496" y="2395782"/>
                <a:ext cx="1161170" cy="805447"/>
                <a:chOff x="416496" y="2899838"/>
                <a:chExt cx="1161170" cy="805447"/>
              </a:xfrm>
            </p:grpSpPr>
            <p:grpSp>
              <p:nvGrpSpPr>
                <p:cNvPr id="145" name="그룹 138"/>
                <p:cNvGrpSpPr/>
                <p:nvPr/>
              </p:nvGrpSpPr>
              <p:grpSpPr>
                <a:xfrm>
                  <a:off x="416496" y="2899838"/>
                  <a:ext cx="612000" cy="792000"/>
                  <a:chOff x="566285" y="2851205"/>
                  <a:chExt cx="1006676" cy="861969"/>
                </a:xfrm>
              </p:grpSpPr>
              <p:pic>
                <p:nvPicPr>
                  <p:cNvPr id="149" name="Picture 5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00853" y="2851205"/>
                    <a:ext cx="921901" cy="8619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566285" y="3227121"/>
                    <a:ext cx="1006676" cy="28666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/>
                  <a:p>
                    <a:pPr marL="0" marR="0" lvl="0" indent="0" algn="ctr" defTabSz="104298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271AA"/>
                      </a:buClr>
                      <a:buSzPct val="140000"/>
                      <a:buFontTx/>
                      <a:buNone/>
                      <a:tabLst>
                        <a:tab pos="5648325" algn="l"/>
                      </a:tabLst>
                      <a:defRPr/>
                    </a:pPr>
                    <a:r>
                      <a:rPr kumimoji="0" lang="ko-KR" altLang="en-US" sz="10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예산관리</a:t>
                    </a:r>
                    <a:endParaRPr kumimoji="0" lang="ko-KR" alt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>
                          <a:lumMod val="85000"/>
                          <a:lumOff val="15000"/>
                        </a:sysClr>
                      </a:solidFill>
                      <a:effectLst/>
                      <a:uLnTx/>
                      <a:uFillTx/>
                      <a:latin typeface="맑은 고딕" pitchFamily="50" charset="-127"/>
                      <a:ea typeface="맑은 고딕" pitchFamily="50" charset="-127"/>
                      <a:sym typeface="Monotype Sorts" pitchFamily="2" charset="2"/>
                    </a:endParaRPr>
                  </a:p>
                </p:txBody>
              </p:sp>
            </p:grpSp>
            <p:grpSp>
              <p:nvGrpSpPr>
                <p:cNvPr id="146" name="그룹 139"/>
                <p:cNvGrpSpPr/>
                <p:nvPr/>
              </p:nvGrpSpPr>
              <p:grpSpPr>
                <a:xfrm>
                  <a:off x="965666" y="2913285"/>
                  <a:ext cx="612000" cy="792000"/>
                  <a:chOff x="566285" y="2851205"/>
                  <a:chExt cx="1006676" cy="861969"/>
                </a:xfrm>
              </p:grpSpPr>
              <p:pic>
                <p:nvPicPr>
                  <p:cNvPr id="147" name="Picture 5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00853" y="2851205"/>
                    <a:ext cx="921901" cy="8619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566285" y="3227118"/>
                    <a:ext cx="1006676" cy="28666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anchor="ctr">
                    <a:spAutoFit/>
                  </a:bodyPr>
                  <a:lstStyle/>
                  <a:p>
                    <a:pPr marL="0" marR="0" lvl="0" indent="0" algn="ctr" defTabSz="104298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271AA"/>
                      </a:buClr>
                      <a:buSzPct val="140000"/>
                      <a:buFontTx/>
                      <a:buNone/>
                      <a:tabLst>
                        <a:tab pos="5648325" algn="l"/>
                      </a:tabLst>
                      <a:defRPr/>
                    </a:pPr>
                    <a:r>
                      <a:rPr kumimoji="0" lang="ko-KR" altLang="en-US" sz="10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ysClr val="windowText" lastClr="000000">
                            <a:lumMod val="85000"/>
                            <a:lumOff val="15000"/>
                          </a:sysClr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sym typeface="Monotype Sorts" pitchFamily="2" charset="2"/>
                      </a:rPr>
                      <a:t>회계관리</a:t>
                    </a:r>
                    <a:endParaRPr kumimoji="0" lang="ko-KR" alt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>
                          <a:lumMod val="85000"/>
                          <a:lumOff val="15000"/>
                        </a:sysClr>
                      </a:solidFill>
                      <a:effectLst/>
                      <a:uLnTx/>
                      <a:uFillTx/>
                      <a:latin typeface="맑은 고딕" pitchFamily="50" charset="-127"/>
                      <a:ea typeface="맑은 고딕" pitchFamily="50" charset="-127"/>
                      <a:sym typeface="Monotype Sorts" pitchFamily="2" charset="2"/>
                    </a:endParaRPr>
                  </a:p>
                </p:txBody>
              </p:sp>
            </p:grpSp>
          </p:grpSp>
        </p:grpSp>
      </p:grpSp>
      <p:pic>
        <p:nvPicPr>
          <p:cNvPr id="131" name="Picture 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2996" y="3552728"/>
            <a:ext cx="652113" cy="740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" name="Rectangle 84"/>
          <p:cNvSpPr>
            <a:spLocks noChangeArrowheads="1"/>
          </p:cNvSpPr>
          <p:nvPr/>
        </p:nvSpPr>
        <p:spPr bwMode="auto">
          <a:xfrm>
            <a:off x="848544" y="3865592"/>
            <a:ext cx="71207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>
            <a:spAutoFit/>
          </a:bodyPr>
          <a:lstStyle/>
          <a:p>
            <a:pPr marL="0" marR="0" lvl="0" indent="0" algn="ctr" defTabSz="104298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271AA"/>
              </a:buClr>
              <a:buSzPct val="140000"/>
              <a:buFontTx/>
              <a:buNone/>
              <a:tabLst>
                <a:tab pos="5648325" algn="l"/>
              </a:tabLst>
              <a:defRPr/>
            </a:pPr>
            <a:r>
              <a:rPr lang="ko-KR" altLang="en-US" sz="1000" kern="0" noProof="0" smtClean="0">
                <a:solidFill>
                  <a:sysClr val="windowText" lastClr="000000">
                    <a:lumMod val="85000"/>
                    <a:lumOff val="15000"/>
                  </a:sysClr>
                </a:solidFill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사업</a:t>
            </a:r>
            <a:r>
              <a:rPr kumimoji="0" lang="ko-KR" altLang="en-US" sz="10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sym typeface="Monotype Sorts" pitchFamily="2" charset="2"/>
              </a:rPr>
              <a:t>관리</a:t>
            </a:r>
            <a:endParaRPr kumimoji="0" lang="ko-KR" altLang="en-US" sz="1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>
                  <a:lumMod val="85000"/>
                  <a:lumOff val="15000"/>
                </a:sysClr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555947647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이관데이터 정합성 검증유형으로는 신</a:t>
            </a:r>
            <a:r>
              <a:rPr lang="en-US" altLang="ko-KR" dirty="0"/>
              <a:t>/</a:t>
            </a:r>
            <a:r>
              <a:rPr lang="ko-KR" altLang="en-US" dirty="0"/>
              <a:t>구 건수</a:t>
            </a:r>
            <a:r>
              <a:rPr lang="en-US" altLang="ko-KR" dirty="0"/>
              <a:t>/</a:t>
            </a:r>
            <a:r>
              <a:rPr lang="ko-KR" altLang="en-US" dirty="0"/>
              <a:t>금액 검증</a:t>
            </a:r>
            <a:r>
              <a:rPr lang="en-US" altLang="ko-KR" dirty="0"/>
              <a:t>, </a:t>
            </a:r>
            <a:r>
              <a:rPr lang="ko-KR" altLang="en-US" dirty="0"/>
              <a:t>항목</a:t>
            </a:r>
            <a:r>
              <a:rPr lang="en-US" altLang="ko-KR" dirty="0"/>
              <a:t>(</a:t>
            </a:r>
            <a:r>
              <a:rPr lang="ko-KR" altLang="en-US" dirty="0" err="1"/>
              <a:t>컬럼</a:t>
            </a:r>
            <a:r>
              <a:rPr lang="en-US" altLang="ko-KR" dirty="0"/>
              <a:t>)</a:t>
            </a:r>
            <a:r>
              <a:rPr lang="ko-KR" altLang="en-US" dirty="0"/>
              <a:t>값 검증</a:t>
            </a:r>
            <a:r>
              <a:rPr lang="en-US" altLang="ko-KR" dirty="0"/>
              <a:t>, </a:t>
            </a:r>
            <a:r>
              <a:rPr lang="ko-KR" altLang="en-US" dirty="0"/>
              <a:t>신</a:t>
            </a:r>
            <a:r>
              <a:rPr lang="en-US" altLang="ko-KR" dirty="0"/>
              <a:t>/</a:t>
            </a:r>
            <a:r>
              <a:rPr lang="ko-KR" altLang="en-US" dirty="0"/>
              <a:t>구 </a:t>
            </a:r>
            <a:r>
              <a:rPr lang="ko-KR" altLang="en-US" dirty="0" err="1"/>
              <a:t>컬럼</a:t>
            </a:r>
            <a:r>
              <a:rPr lang="ko-KR" altLang="en-US" dirty="0"/>
              <a:t> 비교</a:t>
            </a:r>
            <a:r>
              <a:rPr lang="en-US" altLang="ko-KR" dirty="0"/>
              <a:t>, </a:t>
            </a:r>
            <a:r>
              <a:rPr lang="ko-KR" altLang="en-US" dirty="0"/>
              <a:t>통계</a:t>
            </a:r>
            <a:r>
              <a:rPr lang="en-US" altLang="ko-KR" dirty="0"/>
              <a:t>/</a:t>
            </a:r>
            <a:r>
              <a:rPr lang="ko-KR" altLang="en-US" dirty="0"/>
              <a:t>집계 검증 등이 있음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3.8.9 </a:t>
            </a:r>
            <a:r>
              <a:rPr lang="ko-KR" altLang="en-US" sz="1800"/>
              <a:t>마이그레이션 검증 방안</a:t>
            </a:r>
            <a:r>
              <a:rPr lang="en-US" altLang="ko-KR" sz="1800" smtClean="0"/>
              <a:t>(3/4</a:t>
            </a:r>
            <a:r>
              <a:rPr lang="en-US" altLang="ko-KR" sz="1800"/>
              <a:t>)</a:t>
            </a:r>
            <a:r>
              <a:rPr lang="ko-KR" altLang="en-US" sz="1800"/>
              <a:t> 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aphicFrame>
        <p:nvGraphicFramePr>
          <p:cNvPr id="8" name="Group 3"/>
          <p:cNvGraphicFramePr>
            <a:graphicFrameLocks noGrp="1"/>
          </p:cNvGraphicFramePr>
          <p:nvPr>
            <p:extLst/>
          </p:nvPr>
        </p:nvGraphicFramePr>
        <p:xfrm>
          <a:off x="376738" y="1588459"/>
          <a:ext cx="9180001" cy="4637281"/>
        </p:xfrm>
        <a:graphic>
          <a:graphicData uri="http://schemas.openxmlformats.org/drawingml/2006/table">
            <a:tbl>
              <a:tblPr/>
              <a:tblGrid>
                <a:gridCol w="16969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41073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07228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검증 유형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검증 방안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비 고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9892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건수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추출 건수와 적재 건수를 상호 검증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건수 검증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추출 후 적재까지 여러 번의 합병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분리작업이 발생시는 해당 단계별 건수를 합산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분리하여  추출 건수 및  적재 건수와  상호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적재 시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적재 후 검증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데이터이관팀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kumimoji="1" lang="ko-KR" altLang="en-US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3260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컬럼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값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항목별 오류체크 기준을 작성하여 검증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코드의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허용값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항목의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허용값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업무규칙에 따른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허용값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및 일자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범위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892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컬럼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비교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중요 데이터에 대하여 이행 전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후의 자료 비교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별도의 출력기준 및 출력항목의 작성하여 동일 조건하에 신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시스템에서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3011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집계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이행 전후의 각종 통계와 집계표를 출력하여 비교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현행시스템에서 각종 통계보고서를 출력하고 데이터 이행 후  동일한 통계 보고서를 출력하여 건수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 등을 비교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470167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이관데이터 정합성 검증유형으로는 건수</a:t>
            </a:r>
            <a:r>
              <a:rPr lang="en-US" altLang="ko-KR" dirty="0"/>
              <a:t>/</a:t>
            </a:r>
            <a:r>
              <a:rPr lang="ko-KR" altLang="en-US" dirty="0"/>
              <a:t>금액</a:t>
            </a:r>
            <a:r>
              <a:rPr lang="en-US" altLang="ko-KR" dirty="0"/>
              <a:t>, RI</a:t>
            </a:r>
            <a:r>
              <a:rPr lang="ko-KR" altLang="en-US" dirty="0"/>
              <a:t>검증</a:t>
            </a:r>
            <a:r>
              <a:rPr lang="en-US" altLang="ko-KR" dirty="0"/>
              <a:t>, </a:t>
            </a:r>
            <a:r>
              <a:rPr lang="ko-KR" altLang="en-US" dirty="0"/>
              <a:t>항목 </a:t>
            </a:r>
            <a:r>
              <a:rPr lang="ko-KR" altLang="en-US" dirty="0" err="1"/>
              <a:t>구분자</a:t>
            </a:r>
            <a:r>
              <a:rPr lang="en-US" altLang="ko-KR" dirty="0"/>
              <a:t>, </a:t>
            </a:r>
            <a:r>
              <a:rPr lang="ko-KR" altLang="en-US" dirty="0"/>
              <a:t>신</a:t>
            </a:r>
            <a:r>
              <a:rPr lang="en-US" altLang="ko-KR" dirty="0"/>
              <a:t>·</a:t>
            </a:r>
            <a:r>
              <a:rPr lang="ko-KR" altLang="en-US" dirty="0"/>
              <a:t>구 </a:t>
            </a:r>
            <a:r>
              <a:rPr lang="ko-KR" altLang="en-US" dirty="0" err="1"/>
              <a:t>매핑오류</a:t>
            </a:r>
            <a:r>
              <a:rPr lang="en-US" altLang="ko-KR" dirty="0"/>
              <a:t>, PK </a:t>
            </a:r>
            <a:r>
              <a:rPr lang="ko-KR" altLang="en-US" dirty="0"/>
              <a:t>재구성에 따른 데이터 정확성</a:t>
            </a:r>
            <a:r>
              <a:rPr lang="en-US" altLang="ko-KR" dirty="0"/>
              <a:t>, </a:t>
            </a:r>
            <a:r>
              <a:rPr lang="ko-KR" altLang="en-US" dirty="0"/>
              <a:t>여러 테이블이 하나의 테이블로 </a:t>
            </a:r>
            <a:r>
              <a:rPr lang="en-US" altLang="ko-KR" dirty="0"/>
              <a:t>Merge </a:t>
            </a:r>
            <a:r>
              <a:rPr lang="ko-KR" altLang="en-US" dirty="0"/>
              <a:t>되는 테이블</a:t>
            </a:r>
            <a:r>
              <a:rPr lang="en-US" altLang="ko-KR" dirty="0"/>
              <a:t>, </a:t>
            </a:r>
            <a:r>
              <a:rPr lang="ko-KR" altLang="en-US" dirty="0"/>
              <a:t>화면</a:t>
            </a:r>
            <a:r>
              <a:rPr lang="en-US" altLang="ko-KR" dirty="0"/>
              <a:t>/</a:t>
            </a:r>
            <a:r>
              <a:rPr lang="ko-KR" altLang="en-US" dirty="0"/>
              <a:t>통계</a:t>
            </a:r>
            <a:r>
              <a:rPr lang="en-US" altLang="ko-KR" dirty="0"/>
              <a:t>/Report </a:t>
            </a:r>
            <a:r>
              <a:rPr lang="ko-KR" altLang="en-US" dirty="0"/>
              <a:t>검증 등이 있음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3.8.9 </a:t>
            </a:r>
            <a:r>
              <a:rPr lang="ko-KR" altLang="en-US" sz="1800"/>
              <a:t>마이그레이션 검증 방안</a:t>
            </a:r>
            <a:r>
              <a:rPr lang="en-US" altLang="ko-KR" sz="1800" smtClean="0"/>
              <a:t>(4/4</a:t>
            </a:r>
            <a:r>
              <a:rPr lang="en-US" altLang="ko-KR" sz="1800"/>
              <a:t>)</a:t>
            </a:r>
            <a:r>
              <a:rPr lang="ko-KR" altLang="en-US" sz="1800"/>
              <a:t> 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aphicFrame>
        <p:nvGraphicFramePr>
          <p:cNvPr id="7" name="Group 3"/>
          <p:cNvGraphicFramePr>
            <a:graphicFrameLocks noGrp="1"/>
          </p:cNvGraphicFramePr>
          <p:nvPr>
            <p:extLst/>
          </p:nvPr>
        </p:nvGraphicFramePr>
        <p:xfrm>
          <a:off x="376738" y="1588459"/>
          <a:ext cx="9180001" cy="4734042"/>
        </p:xfrm>
        <a:graphic>
          <a:graphicData uri="http://schemas.openxmlformats.org/drawingml/2006/table">
            <a:tbl>
              <a:tblPr/>
              <a:tblGrid>
                <a:gridCol w="16969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511152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7149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검증 유형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검증 방안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ea"/>
                          <a:ea typeface="+mn-ea"/>
                        </a:rPr>
                        <a:t>비 고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건수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전체 건수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금액은 데이터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이관팀에서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(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중요하다고 판단되는  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3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 정도의 금액항목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특정한 칼럼에 대한 금액 비교가 필요 시 이관팀에 통보가 필요함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 검증</a:t>
                      </a:r>
                      <a:endParaRPr kumimoji="1" lang="ko-KR" altLang="en-US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RI 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점검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FK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유무에 관계없이 업무적으로 기준된 테이블에 데이터가 존재하면 다른 특정테이블에도 존재해야 하는 건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구분자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A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칼럼에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'1','2','3'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 존재하는 지    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YN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칼럼에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'Y','N'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이외의 값이 존재하는 지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VARCHAR  TYPE</a:t>
                      </a:r>
                      <a:r>
                        <a:rPr kumimoji="1" lang="ko-KR" altLang="en-US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의 일자항목이 계산식</a:t>
                      </a:r>
                      <a:r>
                        <a:rPr kumimoji="1" lang="en-US" altLang="ko-KR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ko-KR" altLang="en-US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연산</a:t>
                      </a:r>
                      <a:r>
                        <a:rPr kumimoji="1" lang="en-US" altLang="ko-KR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105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 있으면 일자 오류점검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 </a:t>
                      </a:r>
                      <a:r>
                        <a:rPr kumimoji="1" lang="ko-KR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매핑오류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코드매핑값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오류 점검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-&gt; 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AsIs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ToBe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불일치 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 검증</a:t>
                      </a:r>
                      <a:endParaRPr kumimoji="1" lang="ko-KR" altLang="en-US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188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PK 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재구성에 따른 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 정확성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AsIs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와 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ToBe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PK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구성이 변경된 항목이 올바르게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데이터구성이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되었는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지 점검</a:t>
                      </a:r>
                      <a:endParaRPr kumimoji="1" lang="en-US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예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Varchar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Type -&gt; Number Type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으로 변경된 칼럼</a:t>
                      </a:r>
                      <a:endParaRPr kumimoji="1" lang="en-US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초심인수명세서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 : PAY_CHASU || EXM_JIBU ||BNDL_NO||BNDL_NO_DUP||decode(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substr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(SPEC_NO,1,1),'A','10','B','11','C','12','D','13','0'||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substr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(SPEC_NO,1,1)) || 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substr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(SPEC_NO,2,4)||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lpad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(SPEC_SUPP_NO,2,'0')</a:t>
                      </a:r>
                      <a:endParaRPr kumimoji="1" lang="ko-KR" altLang="en-US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여러 테이블이 하나의 테이블로 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Merge 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되는 테이블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1:N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의 관계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kumimoji="1" lang="en-US" altLang="ko-KR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ToBe:AsIs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의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중복성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점검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  <a:r>
                        <a:rPr kumimoji="1" lang="en-US" altLang="ko-KR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/REPORT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화면을 통한 주요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항목점검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(1,2 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 점검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87313" marR="0" lvl="0" indent="-87313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통계</a:t>
                      </a:r>
                      <a:r>
                        <a:rPr kumimoji="1" lang="en-US" altLang="ko-KR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레포트를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비교하여 </a:t>
                      </a: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데이터전환의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정합성 검증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응용팀</a:t>
                      </a:r>
                      <a:r>
                        <a:rPr kumimoji="1" lang="ko-KR" altLang="en-US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endParaRPr kumimoji="1" lang="ko-KR" altLang="ko-KR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826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데이터 검증결과</a:t>
            </a:r>
            <a:r>
              <a:rPr lang="en-US" altLang="ko-KR" dirty="0"/>
              <a:t>,</a:t>
            </a:r>
            <a:r>
              <a:rPr lang="ko-KR" altLang="en-US" dirty="0"/>
              <a:t> 추출 단계</a:t>
            </a:r>
            <a:r>
              <a:rPr lang="en-US" altLang="ko-KR" dirty="0"/>
              <a:t>, </a:t>
            </a:r>
            <a:r>
              <a:rPr lang="ko-KR" altLang="en-US" dirty="0"/>
              <a:t>변환</a:t>
            </a:r>
            <a:r>
              <a:rPr lang="en-US" altLang="ko-KR" dirty="0"/>
              <a:t>/</a:t>
            </a:r>
            <a:r>
              <a:rPr lang="ko-KR" altLang="en-US" dirty="0"/>
              <a:t>정제 단계</a:t>
            </a:r>
            <a:r>
              <a:rPr lang="en-US" altLang="ko-KR" dirty="0"/>
              <a:t>, </a:t>
            </a:r>
            <a:r>
              <a:rPr lang="ko-KR" altLang="en-US" dirty="0"/>
              <a:t>적재 단계</a:t>
            </a:r>
            <a:r>
              <a:rPr lang="en-US" altLang="ko-KR" dirty="0"/>
              <a:t>, </a:t>
            </a:r>
            <a:r>
              <a:rPr lang="ko-KR" altLang="en-US" dirty="0"/>
              <a:t>요약</a:t>
            </a:r>
            <a:r>
              <a:rPr lang="en-US" altLang="ko-KR" dirty="0"/>
              <a:t>/</a:t>
            </a:r>
            <a:r>
              <a:rPr lang="ko-KR" altLang="en-US" dirty="0"/>
              <a:t>집계 단계에서 식별된 단계별 오류 데이터는 아래와 같이 조치 실행해야 함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</a:t>
            </a:r>
            <a:r>
              <a:rPr lang="ko-KR" altLang="en-US" smtClean="0"/>
              <a:t>마이그레이션</a:t>
            </a:r>
            <a:r>
              <a:rPr lang="ko-KR" altLang="en-US" spc="-150" smtClean="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 smtClean="0"/>
              <a:t>3.8.10 </a:t>
            </a:r>
            <a:r>
              <a:rPr lang="ko-KR" altLang="en-US" sz="1800" smtClean="0"/>
              <a:t>마이그레이션 오류 조치방안</a:t>
            </a:r>
            <a:r>
              <a:rPr lang="en-US" altLang="ko-KR" sz="1800" smtClean="0"/>
              <a:t>(1/3)</a:t>
            </a:r>
            <a:endParaRPr lang="ko-KR" altLang="en-US" sz="1800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aphicFrame>
        <p:nvGraphicFramePr>
          <p:cNvPr id="9" name="Group 3"/>
          <p:cNvGraphicFramePr>
            <a:graphicFrameLocks noGrp="1"/>
          </p:cNvGraphicFramePr>
          <p:nvPr>
            <p:extLst/>
          </p:nvPr>
        </p:nvGraphicFramePr>
        <p:xfrm>
          <a:off x="376738" y="1588459"/>
          <a:ext cx="9180003" cy="4716000"/>
        </p:xfrm>
        <a:graphic>
          <a:graphicData uri="http://schemas.openxmlformats.org/drawingml/2006/table">
            <a:tbl>
              <a:tblPr/>
              <a:tblGrid>
                <a:gridCol w="123893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98526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985267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98526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98526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추출 단계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변환</a:t>
                      </a:r>
                      <a:r>
                        <a:rPr kumimoji="1" lang="en-US" altLang="ko-KR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정제 단계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적재 단계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요약</a:t>
                      </a:r>
                      <a:r>
                        <a:rPr kumimoji="1" lang="en-US" altLang="ko-KR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집계 단계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검증 시 오류 확인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시스템 검증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데이터와 추출 전송된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데이터간 검증 오류 발생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시스템 검증 데이터와 변환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정제 전송된 데이터간 검증 오류 발생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시스템 검증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데이터와 적재된 데이터간 검증 오류 발생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시스템 요약 보고서와 요약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집계된 추출 보고서간 검증오류 발생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오류비교 및 </a:t>
                      </a:r>
                      <a:r>
                        <a:rPr kumimoji="1" lang="en-US" altLang="ko-KR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/>
                      </a:r>
                      <a:br>
                        <a:rPr kumimoji="1" lang="en-US" altLang="ko-KR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</a:b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원인 파악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검증용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Source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 데이터와 검증용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Target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 데이터 세부 항목 비교 검증용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Target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 데이터 오류 항목 파악프로그램 오류 파악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소스 시스템에 통보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시스템에 통보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소스단계인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추출 단계에서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검증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소스단계인 변환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정제 단계에서 오류 검증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소스단계인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적재 단계에서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검증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원인시스템</a:t>
                      </a:r>
                      <a:endParaRPr kumimoji="1" lang="en-US" altLang="ko-KR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오류 해결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원천 데이터 오류 수정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변환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정제 단계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프로그램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 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해결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데이터 문제 해결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적재 단계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프로그램 오류 해결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데이터 문제 해결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요약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집계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프로그램 오류 해결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오류 데이터 문제 해결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복구대상반영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검증용 원천 데이터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재 추출 및 전송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변환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정제 단계 데이터 </a:t>
                      </a:r>
                      <a: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/>
                      </a:r>
                      <a:br>
                        <a:rPr kumimoji="1" lang="en-US" altLang="ko-KR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</a:b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재 추출 및 전송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적재 단계 데이터 재 추출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요약 보고서 재 추출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  <a:defRPr/>
                      </a:pPr>
                      <a:r>
                        <a:rPr kumimoji="1" lang="ko-KR" altLang="en-US" sz="1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재검증</a:t>
                      </a:r>
                      <a:r>
                        <a:rPr kumimoji="1" lang="ko-KR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실시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재검증</a:t>
                      </a:r>
                      <a:r>
                        <a:rPr kumimoji="1" lang="ko-KR" altLang="en-US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  <a:sym typeface="Monotype Sorts" pitchFamily="2" charset="2"/>
                        </a:rPr>
                        <a:t> 실시</a:t>
                      </a:r>
                    </a:p>
                  </a:txBody>
                  <a:tcPr marL="64662" marR="64662" marT="64670" marB="6467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28361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대량의 현황 및 문제점 데이터</a:t>
            </a:r>
            <a:r>
              <a:rPr lang="en-US" altLang="ko-KR" dirty="0"/>
              <a:t>, </a:t>
            </a:r>
            <a:r>
              <a:rPr lang="ko-KR" altLang="en-US" dirty="0"/>
              <a:t>정제되지 않은 과거 데이터 존재</a:t>
            </a:r>
            <a:r>
              <a:rPr lang="en-US" altLang="ko-KR" dirty="0"/>
              <a:t>, </a:t>
            </a:r>
            <a:r>
              <a:rPr lang="ko-KR" altLang="en-US" dirty="0"/>
              <a:t>부족한 이행시간</a:t>
            </a:r>
            <a:r>
              <a:rPr lang="en-US" altLang="ko-KR" dirty="0"/>
              <a:t>,Big-Bang Open, </a:t>
            </a:r>
            <a:r>
              <a:rPr lang="ko-KR" altLang="en-US" dirty="0"/>
              <a:t>이행 우선순위 변동</a:t>
            </a:r>
            <a:r>
              <a:rPr lang="en-US" altLang="ko-KR" dirty="0"/>
              <a:t>, </a:t>
            </a:r>
            <a:r>
              <a:rPr lang="ko-KR" altLang="en-US" dirty="0"/>
              <a:t>부족한 정합성 검증시간 등 데이터 전환 시 이행 이슈에 대한 예상문제점과 해결방안은 아래와 같음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z="1800"/>
              <a:t>3.8.10 </a:t>
            </a:r>
            <a:r>
              <a:rPr lang="ko-KR" altLang="en-US" sz="1800"/>
              <a:t>마이그레이션 오류 조치방안</a:t>
            </a:r>
            <a:r>
              <a:rPr lang="en-US" altLang="ko-KR" sz="1800" smtClean="0"/>
              <a:t>(2/3</a:t>
            </a:r>
            <a:r>
              <a:rPr lang="en-US" altLang="ko-KR" sz="1800"/>
              <a:t>)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aphicFrame>
        <p:nvGraphicFramePr>
          <p:cNvPr id="7" name="Group 3"/>
          <p:cNvGraphicFramePr>
            <a:graphicFrameLocks noGrp="1"/>
          </p:cNvGraphicFramePr>
          <p:nvPr>
            <p:extLst/>
          </p:nvPr>
        </p:nvGraphicFramePr>
        <p:xfrm>
          <a:off x="376738" y="1588459"/>
          <a:ext cx="9180002" cy="4644000"/>
        </p:xfrm>
        <a:graphic>
          <a:graphicData uri="http://schemas.openxmlformats.org/drawingml/2006/table">
            <a:tbl>
              <a:tblPr/>
              <a:tblGrid>
                <a:gridCol w="16969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871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39582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예상문제점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해결방안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대량의 현황 및 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문제점</a:t>
                      </a:r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대량의 데이터에 대한 물리적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이관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추출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전송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개발환경과 분리된 이관환경 구성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이관대상을 사전 본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이행으로 분리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Size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가 큰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History, Closed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선 이행 처리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정제되지 않은 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과거 데이터 존재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정제가 필요한 검증되지 않은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과거데이터 존재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오류데이터 유무를 판별하기 위한 사전 이행리허설을 추진하고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이 기간 중 과거데이터 개별상품별 처리결과에 대한 기능검증을 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수행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발견된 오류데이터는 즉시 고객협의를 거쳐 정제 또는 룰 변환 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등의 처리기준을 정리하고 조치반영 함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부족한 이행시간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비가동시간 최소화 요구에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따른 부족한 이행 실행 시간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 단계에 대한 실행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Lead Time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을 정확히 측정하고 이를 통하여 본 이행 시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체계적이고 짜임새 있는 실행을 할 수 있도록 전환 전 사전리허설 추진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5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Big-Bang Open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Big-Bang Open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 따른 조기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안정화 지연 시 업무혼란 초래우려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최대한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오픈과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유사한 이행데이터를 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본 이행을 통하여 이행하는 절차를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수립하고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스토리지 백업과 스토리지 재구성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망 전환 등의 을 포함한 인프라부문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단계를 포함하는 전체 전환절차를 정의하고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이를 사전 리허설을 추진하여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Big-Bang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전환에 따른 업무혼란을 사전에 발굴하고 위험요소 제거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우선순위 변동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우선순위를 지키지 않음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인하여 발생되는 이행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오류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이행시나리오에 업무별 이행순서의 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후행 관계를 명시하고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명시된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우선순위를 전환 전 사전리허설을 통하여 점검하고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본 이행 시 이행 순서를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지킬 수 있도록 체계적인 관리 필요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부족한 정합성 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검증시간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비가동시간 최소화 요구에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따른 부족한 데이터검증 시간</a:t>
                      </a:r>
                    </a:p>
                  </a:txBody>
                  <a:tcPr marL="108000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FontTx/>
                        <a:buChar char="-"/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후 건수검증은 이행 로그테이블을 통하여 즉시 확인토록 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이행데이터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정합성 검증은 화면상의 구현기능을 통하여 기존 데이터와 일치하는지 검증하되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 </a:t>
                      </a:r>
                    </a:p>
                    <a:p>
                      <a:pPr algn="l" fontAlgn="ctr">
                        <a:buFontTx/>
                        <a:buNone/>
                      </a:pP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조기검증을 추진하기 위해</a:t>
                      </a:r>
                      <a:r>
                        <a:rPr lang="ko-KR" altLang="en-US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각 업무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도메인별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검증주체를 명확히 하고 전환 전 사전   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리허설을 통하여 주어진 시간 내 기능검증이 이루어 질 수</a:t>
                      </a: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있도록 반복훈련 필요</a:t>
                      </a:r>
                    </a:p>
                  </a:txBody>
                  <a:tcPr marL="36001" marR="36001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3650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/>
              <a:t>원천 테이블 물리적 구조 변경</a:t>
            </a:r>
            <a:r>
              <a:rPr lang="en-US" altLang="ko-KR" dirty="0"/>
              <a:t>, TO-BE </a:t>
            </a:r>
            <a:r>
              <a:rPr lang="ko-KR" altLang="en-US" dirty="0"/>
              <a:t>테이블의 물리적 구조 변경</a:t>
            </a:r>
            <a:r>
              <a:rPr lang="en-US" altLang="ko-KR" dirty="0"/>
              <a:t>, </a:t>
            </a:r>
            <a:r>
              <a:rPr lang="ko-KR" altLang="en-US" dirty="0"/>
              <a:t>이행실행 중 에러발생</a:t>
            </a:r>
            <a:r>
              <a:rPr lang="en-US" altLang="ko-KR" dirty="0"/>
              <a:t>, </a:t>
            </a:r>
            <a:r>
              <a:rPr lang="ko-KR" altLang="en-US" dirty="0"/>
              <a:t>이행 최대목표시간 초과</a:t>
            </a:r>
            <a:r>
              <a:rPr lang="en-US" altLang="ko-KR" dirty="0"/>
              <a:t>, </a:t>
            </a:r>
            <a:r>
              <a:rPr lang="ko-KR" altLang="en-US" dirty="0"/>
              <a:t>예상치 못한 오류데이터 발생</a:t>
            </a:r>
            <a:r>
              <a:rPr lang="en-US" altLang="ko-KR" dirty="0"/>
              <a:t>, None Mapping </a:t>
            </a:r>
            <a:r>
              <a:rPr lang="ko-KR" altLang="en-US" dirty="0"/>
              <a:t>데이터</a:t>
            </a:r>
            <a:r>
              <a:rPr lang="en-US" altLang="ko-KR" dirty="0"/>
              <a:t>, </a:t>
            </a:r>
            <a:r>
              <a:rPr lang="ko-KR" altLang="en-US" dirty="0"/>
              <a:t>이행 실행주체의 분산 등 데이터 전환 시 이행 이슈에 대한 예상문제점과 해결방안은 아래와 같음</a:t>
            </a: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3.8 </a:t>
            </a:r>
            <a:r>
              <a:rPr lang="ko-KR" altLang="en-US"/>
              <a:t>데이터 마이그레이션</a:t>
            </a:r>
            <a:r>
              <a:rPr lang="ko-KR" altLang="en-US" spc="-150"/>
              <a:t> </a:t>
            </a:r>
            <a:r>
              <a:rPr lang="ko-KR" altLang="en-US"/>
              <a:t>방안 </a:t>
            </a:r>
            <a:r>
              <a:rPr lang="en-US" altLang="ko-KR" sz="1800"/>
              <a:t/>
            </a:r>
            <a:br>
              <a:rPr lang="en-US" altLang="ko-KR" sz="1800"/>
            </a:br>
            <a:r>
              <a:rPr lang="en-US" altLang="ko-KR" sz="1800"/>
              <a:t>3.8.10 </a:t>
            </a:r>
            <a:r>
              <a:rPr lang="ko-KR" altLang="en-US" sz="1800"/>
              <a:t>마이그레이션 오류 조치방안</a:t>
            </a:r>
            <a:r>
              <a:rPr lang="en-US" altLang="ko-KR" sz="1800" smtClean="0"/>
              <a:t>(3/3</a:t>
            </a:r>
            <a:r>
              <a:rPr lang="en-US" altLang="ko-KR"/>
              <a:t>)</a:t>
            </a:r>
            <a:endParaRPr lang="ko-KR" altLang="en-US" dirty="0">
              <a:hlinkClick r:id="rId2" action="ppaction://hlinkpres?slideindex=1&amp;slidetitle="/>
            </a:endParaRPr>
          </a:p>
        </p:txBody>
      </p:sp>
      <p:sp>
        <p:nvSpPr>
          <p:cNvPr id="6" name="내용 개체 틀 5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Ⅲ. </a:t>
            </a:r>
            <a:r>
              <a:rPr lang="ko-KR" altLang="en-US">
                <a:solidFill>
                  <a:prstClr val="black"/>
                </a:solidFill>
              </a:rPr>
              <a:t>목표모델 설계</a:t>
            </a:r>
            <a:endParaRPr lang="en-US" altLang="ko-KR">
              <a:solidFill>
                <a:prstClr val="black"/>
              </a:solidFill>
            </a:endParaRPr>
          </a:p>
          <a:p>
            <a:pPr>
              <a:spcBef>
                <a:spcPts val="288"/>
              </a:spcBef>
            </a:pPr>
            <a:r>
              <a:rPr lang="en-US" altLang="ko-KR">
                <a:solidFill>
                  <a:prstClr val="black"/>
                </a:solidFill>
              </a:rPr>
              <a:t>3. </a:t>
            </a:r>
            <a:r>
              <a:rPr lang="ko-KR" altLang="en-US">
                <a:solidFill>
                  <a:prstClr val="black"/>
                </a:solidFill>
              </a:rPr>
              <a:t>업무별 개선안 설계</a:t>
            </a:r>
            <a:endParaRPr lang="en-US" altLang="ko-KR">
              <a:solidFill>
                <a:prstClr val="black"/>
              </a:solidFill>
            </a:endParaRPr>
          </a:p>
          <a:p>
            <a:r>
              <a:rPr lang="en-US" altLang="ko-KR"/>
              <a:t>3.8 </a:t>
            </a:r>
            <a:r>
              <a:rPr lang="ko-KR" altLang="en-US"/>
              <a:t>데이터 마이그레이션 방안</a:t>
            </a:r>
            <a:r>
              <a:rPr lang="ko-KR" altLang="en-US" spc="-150"/>
              <a:t> </a:t>
            </a:r>
            <a:endParaRPr lang="en-US" altLang="ko-KR" dirty="0"/>
          </a:p>
        </p:txBody>
      </p:sp>
      <p:graphicFrame>
        <p:nvGraphicFramePr>
          <p:cNvPr id="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5244226"/>
              </p:ext>
            </p:extLst>
          </p:nvPr>
        </p:nvGraphicFramePr>
        <p:xfrm>
          <a:off x="376738" y="1628799"/>
          <a:ext cx="9180002" cy="4639659"/>
        </p:xfrm>
        <a:graphic>
          <a:graphicData uri="http://schemas.openxmlformats.org/drawingml/2006/table">
            <a:tbl>
              <a:tblPr/>
              <a:tblGrid>
                <a:gridCol w="16969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871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39582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556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예상문제점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400" b="1" i="0" u="none" strike="noStrike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맑은 고딕" pitchFamily="50" charset="-127"/>
                          <a:ea typeface="맑은 고딕" pitchFamily="50" charset="-127"/>
                        </a:rPr>
                        <a:t>해결방안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원천 테이블 </a:t>
                      </a: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물리적 구조 변경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원천 테이블 데이터모델 변경에 따른 데이터 안정성 결여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 스케줄 진입 시점 부터 원천 테이블 물리적 변동을 하지 않도록 </a:t>
                      </a:r>
                      <a:b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고객과 사전협의 필요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TOBE </a:t>
                      </a: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테이블의 </a:t>
                      </a: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물리적 구조 변경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프로그램에 반영되지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않는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TOBE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테이블의 물리적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변동으로 이행 프로그램 또는 이행데이터 오류 발생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 기간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TOBE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 변동 사항은 즉시 이행 프로그램에 반영하고 변동사항은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변경관리를 통해 모든 이행주체가 공유토록 하며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본 이행 시는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TOBE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테이블의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물리적 변동을 금지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최대</a:t>
                      </a: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목표시간 초과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실행 프로그램이 목표한 최대목표시간을 초과하여 전환 스케줄에 차질 발생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반복적인 이행 리허설을 통하여 이행실행 단축을 도모하고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최대 목표시간 내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도달 할 수 있도록 사전 충분한 리허설 추진하며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본 이행 실행 시 튜닝인력을 대기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예상치 못한</a:t>
                      </a: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오류데이터 발생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리허설 이전 발견되지 않은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데이터의 중복 및 값 오류가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최종전환 실행 중 발생한 경우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에러 발생데이터를 즉시 취합 분석하고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고객이 참여하는 긴급회의를 소집하여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해결방안을 정리하여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수정조치 반영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None Mapping </a:t>
                      </a:r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현황 및 문제점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추가나 업무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변동에 따른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None Mapping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데이터가 발생한</a:t>
                      </a: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경우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 전 리허설기간에 고객으로 하여금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None Mapping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데이터가 있는지 확인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검토하고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전환 실행 시는 현황 및 문제점 추가나 업무변동에 따른 데이터 모델 변경이 이루어지지 않도록 테이블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Closing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추진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 실행주체의 분산</a:t>
                      </a: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9DC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전 업무에 대한 동시다발적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이행으로 인한 이행</a:t>
                      </a:r>
                      <a:r>
                        <a:rPr lang="en-US" altLang="ko-KR" sz="1100" b="0" i="0" u="none" strike="noStrike" baseline="0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실행 조직간 의사소통 부재</a:t>
                      </a:r>
                    </a:p>
                  </a:txBody>
                  <a:tcPr marL="108000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각 업무 도메인 별 책임의식을 명확히 부여하고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실행순서 및 방법을 정확히 숙지토록 하며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체계적인 의사소통 체계를 수립하여 전환실행 시 업무혼선을 방지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9" marR="35999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8" name="Picture 217" descr="이동_ico_Bmp1">
            <a:hlinkClick r:id="rId2" action="ppaction://hlinkpres?slideindex=1&amp;slidetitle="/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1108" y="617426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6623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Shape"/>
</p:tagLst>
</file>

<file path=ppt/theme/theme1.xml><?xml version="1.0" encoding="utf-8"?>
<a:theme xmlns:a="http://schemas.openxmlformats.org/drawingml/2006/main" name="blank">
  <a:themeElements>
    <a:clrScheme name="사용자 지정 1">
      <a:dk1>
        <a:sysClr val="windowText" lastClr="000000"/>
      </a:dk1>
      <a:lt1>
        <a:sysClr val="window" lastClr="FFFFFF"/>
      </a:lt1>
      <a:dk2>
        <a:srgbClr val="508CD2"/>
      </a:dk2>
      <a:lt2>
        <a:srgbClr val="4678B4"/>
      </a:lt2>
      <a:accent1>
        <a:srgbClr val="7DAFFA"/>
      </a:accent1>
      <a:accent2>
        <a:srgbClr val="BEDCFF"/>
      </a:accent2>
      <a:accent3>
        <a:srgbClr val="E6F0FF"/>
      </a:accent3>
      <a:accent4>
        <a:srgbClr val="85B692"/>
      </a:accent4>
      <a:accent5>
        <a:srgbClr val="6B94E2"/>
      </a:accent5>
      <a:accent6>
        <a:srgbClr val="819BAB"/>
      </a:accent6>
      <a:hlink>
        <a:srgbClr val="7C0808"/>
      </a:hlink>
      <a:folHlink>
        <a:srgbClr val="0D356F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6350">
          <a:solidFill>
            <a:schemeClr val="tx1"/>
          </a:solidFill>
        </a:ln>
      </a:spPr>
      <a:bodyPr lIns="36000" tIns="36000" rIns="36000" bIns="36000" rtlCol="0" anchor="ctr"/>
      <a:lstStyle>
        <a:defPPr algn="ctr">
          <a:defRPr sz="90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200" dirty="0" err="1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3F0D996D5B674C4386830A6AB0E50984" ma:contentTypeVersion="0" ma:contentTypeDescription="새 문서를 만듭니다." ma:contentTypeScope="" ma:versionID="a166825e3373d96581aa46038a4cd794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dd8f6c9257034a6ffde9c3b3e5e5b894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BD0F89B1-6918-4E93-BEE7-D22E1D86D6BD}">
  <ds:schemaRefs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  <ds:schemaRef ds:uri="http://schemas.microsoft.com/office/2006/documentManagement/types"/>
    <ds:schemaRef ds:uri="http://purl.org/dc/dcmitype/"/>
    <ds:schemaRef ds:uri="http://purl.org/dc/terms/"/>
    <ds:schemaRef ds:uri="http://purl.org/dc/elements/1.1/"/>
  </ds:schemaRefs>
</ds:datastoreItem>
</file>

<file path=customXml/itemProps2.xml><?xml version="1.0" encoding="utf-8"?>
<ds:datastoreItem xmlns:ds="http://schemas.openxmlformats.org/officeDocument/2006/customXml" ds:itemID="{74A00E14-E36D-45A2-BDFD-A782D62A324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customXml/itemProps3.xml><?xml version="1.0" encoding="utf-8"?>
<ds:datastoreItem xmlns:ds="http://schemas.openxmlformats.org/officeDocument/2006/customXml" ds:itemID="{EE596667-FA45-4F74-9119-1A6024EAD1C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83883</TotalTime>
  <Words>46973</Words>
  <Application>Microsoft Office PowerPoint</Application>
  <PresentationFormat>A4 용지(210x297mm)</PresentationFormat>
  <Paragraphs>10587</Paragraphs>
  <Slides>209</Slides>
  <Notes>48</Notes>
  <HiddenSlides>0</HiddenSlides>
  <MMClips>0</MMClips>
  <ScaleCrop>false</ScaleCrop>
  <HeadingPairs>
    <vt:vector size="6" baseType="variant">
      <vt:variant>
        <vt:lpstr>사용한 글꼴</vt:lpstr>
      </vt:variant>
      <vt:variant>
        <vt:i4>12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209</vt:i4>
      </vt:variant>
    </vt:vector>
  </HeadingPairs>
  <TitlesOfParts>
    <vt:vector size="222" baseType="lpstr">
      <vt:lpstr>Arial Unicode MS</vt:lpstr>
      <vt:lpstr>HY중고딕</vt:lpstr>
      <vt:lpstr>Monotype Sorts</vt:lpstr>
      <vt:lpstr>굴림</vt:lpstr>
      <vt:lpstr>나눔고딕</vt:lpstr>
      <vt:lpstr>돋움</vt:lpstr>
      <vt:lpstr>맑은 고딕</vt:lpstr>
      <vt:lpstr>Arial</vt:lpstr>
      <vt:lpstr>Segoe UI</vt:lpstr>
      <vt:lpstr>Times New Roman</vt:lpstr>
      <vt:lpstr>Wingdings</vt:lpstr>
      <vt:lpstr>Wingdings 2</vt:lpstr>
      <vt:lpstr>blank</vt:lpstr>
      <vt:lpstr>PowerPoint 프레젠테이션</vt:lpstr>
      <vt:lpstr>1.1 목표모델 수립 개요</vt:lpstr>
      <vt:lpstr>PowerPoint 프레젠테이션</vt:lpstr>
      <vt:lpstr>2.1 개요 2.1.1 목표모델 개선과제 수립절차 </vt:lpstr>
      <vt:lpstr>2.2 기준정보 관리체계 개선  2.2.1 통합 가능한 기준정보 도출</vt:lpstr>
      <vt:lpstr>2.2 기준정보 관리체계 개선 2.2.1 기준정보 리스트(1/7)</vt:lpstr>
      <vt:lpstr>2.2 기준정보 관리체계 개선 2.2.1 기준정보 리스트(2/7)</vt:lpstr>
      <vt:lpstr>2.2 기준정보 관리체계 개선 2.2.1 기준정보 리스트(3/7)</vt:lpstr>
      <vt:lpstr>2.2 기준정보 관리체계 개선 2.2.1 기준정보 리스트(4/7)</vt:lpstr>
      <vt:lpstr>2.2 기준정보 관리체계 개선 2.2.1 기준정보 리스트(5/7)</vt:lpstr>
      <vt:lpstr>2.2 기준정보 관리체계 개선 2.2.1 기준정보 리스트(6/7)</vt:lpstr>
      <vt:lpstr>2.2 기준정보 관리체계 개선 2.2.1 기준정보 리스트(7/7)</vt:lpstr>
      <vt:lpstr>2.2 기준정보 관리체계 개선 2.2.2 통합대상 일반코드 목록(1/2)</vt:lpstr>
      <vt:lpstr>2.2 기준정보 관리체계 개선 2.2.2 통합대상 일반코드 목록(2/2)</vt:lpstr>
      <vt:lpstr>2.3 예산관리 개선 및 업무 효율화 2.3.1 예산관리 개선 방안</vt:lpstr>
      <vt:lpstr>2.3 예산관리 개선 및 업무 효율화 2.3.2.1 예산코드 체계 개선 방안</vt:lpstr>
      <vt:lpstr>2.3 예산관리 개선 및 업무 효율화 2.3.2.2 예산편성절차 체계화 및 입력 화면 재구성</vt:lpstr>
      <vt:lpstr>2.3 예산관리 개선 및 업무 효율화 2.3.2.3 예산 배정 체계 변경</vt:lpstr>
      <vt:lpstr>2.3 예산관리 개선 및 업무 효율화 2.3.2.4 예산 절감목표 관리 도입</vt:lpstr>
      <vt:lpstr>2.3 예산관리 개선 및 업무 효율화 2.3.2.5 예산 조정(전용/이용) 절차 전자결재 적용</vt:lpstr>
      <vt:lpstr>2.3 예산관리 개선 및 업무 효율화 2.3.2.6 예산실적 실시간 단계별 집계 </vt:lpstr>
      <vt:lpstr>2.3 예산관리 개선 및 업무 효율화 2.3.2.7 예산 결산처리 체계화</vt:lpstr>
      <vt:lpstr>2.4 회계관리 개선 및 업무 효율화 2.4.1 회계관리 개선 방안</vt:lpstr>
      <vt:lpstr>2.4 회계관리 개선 및 업무 효율화 2.4.2.1 회계기준정보 개선(1/2)</vt:lpstr>
      <vt:lpstr>2.4 회계관리 개선 및 업무 효율화 2.4.2.1 회계기준정보 개선(2/2)</vt:lpstr>
      <vt:lpstr>2.4 회계관리 개선 및 업무 효율화 2.4.2.2 결의서 종류 및 기능 세분화(1/6)</vt:lpstr>
      <vt:lpstr>2.4 회계관리 개선 및 업무 효율화 2.4.2.2 결의서 종류 및 기능 세분화(2/6)</vt:lpstr>
      <vt:lpstr>2.4 회계관리 개선 및 업무 효율화 2.4.2.2 결의서 종류 및 기능 세분화(3/6)</vt:lpstr>
      <vt:lpstr>2.4 회계관리 개선 및 업무 효율화 2.4.2.2 결의서 종류 및 기능 세분화(4/6)</vt:lpstr>
      <vt:lpstr>2.4 회계관리 개선 및 업무 효율화 2.4.2.2 결의서 종류 및 기능 세분화(5/6)</vt:lpstr>
      <vt:lpstr>2.4 회계관리 개선 및 업무 효율화 2.4.2.2 결의서 종류 및 기능 세분화(6/6)</vt:lpstr>
      <vt:lpstr>2.4 회계관리 개선 및 업무 효율화 2.4.2.3 자금집행 프로세스 개선</vt:lpstr>
      <vt:lpstr>2.4 회계관리 개선 및 업무 효율화 2.4.2.4 입금관리 개선</vt:lpstr>
      <vt:lpstr>2.4 회계관리 개선 및 업무 효율화 2.4.2.5 세무 전자신고관리 체제 구축(1/2)</vt:lpstr>
      <vt:lpstr>2.4 회계관리 개선 및 업무 효율화 2.4.2.5 세무 전자신고관리 체제 구축(2/2)</vt:lpstr>
      <vt:lpstr>2.4 회계관리 개선 및 업무 효율화 2.4.2.6 결산 처리 자동화</vt:lpstr>
      <vt:lpstr>2.4 회계관리 개선 및 업무 효율화 2.4.2.7 2022년,2023년 결산자료의 시스템 반영</vt:lpstr>
      <vt:lpstr>2.5 구매관리 업무 효율화 2.5.1 과제 정의서</vt:lpstr>
      <vt:lpstr>2.5 구매관리 개선 및 업무 효율화 2.5.2.1 구매 기초자료 개선</vt:lpstr>
      <vt:lpstr>2.5 구매관리 개선 및 업무 효율화 2.5.2.2 구매 진행정보 실시간 제공</vt:lpstr>
      <vt:lpstr>2.5 구매관리 개선 및 업무 효율화 2.5.2.3 계약정보의 체계적 관리</vt:lpstr>
      <vt:lpstr>2.5 구매관리 개선 및 업무 효율화 2.5.2.4 검사/검수 정보의 관리</vt:lpstr>
      <vt:lpstr>2.5 구매관리 개선 및 업무 효율화 2.5.2.5 지출결의서 자동 생성</vt:lpstr>
      <vt:lpstr>2.6 자산관리 개선 및 업무 효율화 2.6.1 과제 정의서</vt:lpstr>
      <vt:lpstr>2.6 자산관리 개선 및 업무 효율화 2.6.2.1 시스템 자산목록과 회계 자산목록의 일치</vt:lpstr>
      <vt:lpstr>2.6 자산관리 개선 및 업무 효율화 2.6.2.2 자산 취득관리 기능 개선</vt:lpstr>
      <vt:lpstr>2.6 자산관리 개선 및 업무 효율화 2.6.2.3 자산실사 및 자산이동 관리</vt:lpstr>
      <vt:lpstr>2.6 자산관리 개선 및 업무 효율화 2.6.2.4 자산 불용 및 처분 처리</vt:lpstr>
      <vt:lpstr>2.6 자산관리 개선 및 업무 효율화 2.6.2.5 자산 전표 처리 자동화(1/2)</vt:lpstr>
      <vt:lpstr>2.6 자산관리 개선 및 업무 효율화 2.6.2.5 자산 전표 처리 자동화(2/2)</vt:lpstr>
      <vt:lpstr>2.7 사업관리 업무 효율화 2.7.1 과제 정의서</vt:lpstr>
      <vt:lpstr>2.7 사업관리 개선 및 업무 효율화 2.7.2.1 단계별 수주 진행 관리</vt:lpstr>
      <vt:lpstr>2.7 자산관리 개선 및 업무 효율화 2.7.2.2 체계적인 사업실행계획 관리</vt:lpstr>
      <vt:lpstr>2.7 자산관리 개선 및 업무 효율화 2.7.2.3 세부 사업계획 단위의 실적집계</vt:lpstr>
      <vt:lpstr>2.7 자산관리 개선 및 업무 효율화 2.7.2.4 사업실적 자료 제공 및 기성고 관리</vt:lpstr>
      <vt:lpstr>2.7 자산관리 개선 및 업무 효율화 2.7.2.5 합리적인 사업별 원가 계산(1/2)</vt:lpstr>
      <vt:lpstr>2.7 자산관리 개선 및 업무 효율화 2.7.2.5 합리적인 사업별 원가 계산(2/2)</vt:lpstr>
      <vt:lpstr>2.8 응용 아키텍처(AA) 표준 2.8.1 설계 원칙</vt:lpstr>
      <vt:lpstr>2.8 응용 아키텍처(AA) 표준 2.8.2 표준화 구성</vt:lpstr>
      <vt:lpstr>2.8 응용 아키텍처(AA) 표준 2.8.3 아키덱쳐 구성도</vt:lpstr>
      <vt:lpstr>2.9 데이터 아키텍처(DA) 표준 2.9.1 설계 원칙</vt:lpstr>
      <vt:lpstr>2.9 데이터 아키텍처(DA) 표준 2.9.1 품질관리 방침(1/2)</vt:lpstr>
      <vt:lpstr>2.9 데이터 아키텍처(DA) 표준 2.9.1 품질관리 방침(2/2)</vt:lpstr>
      <vt:lpstr>2.9 데이터 아키텍처(DA) 표준 2.9.2 데이터 관리 조직</vt:lpstr>
      <vt:lpstr>2.9 데이터 아키텍처(DA) 표준 2.10.3 데이터 품질지표 관리(1/2)</vt:lpstr>
      <vt:lpstr>2.9 데이터 아키텍처(DA) 표준 2.10.3 데이터 품질지표 관리(2/2)</vt:lpstr>
      <vt:lpstr>2.9 데이터 아키텍처(DA) 표준 2.9.4 데이터 구조관리(1/2)</vt:lpstr>
      <vt:lpstr>2.9 데이터 아키텍처(DA) 표준 2.9.4 데이터 구조관리(2/2)</vt:lpstr>
      <vt:lpstr>2.9 데이터 아키텍처(DA) 표준 2.9.5 데이터 표준관리  </vt:lpstr>
      <vt:lpstr>2.9 데이터 아키텍처(DA) 표준 2.9.6 연계정보 관리</vt:lpstr>
      <vt:lpstr>2.9 데이터 아키텍처(DA) 표준 2.9.7 데이터 품질관리 프로세스</vt:lpstr>
      <vt:lpstr>2.10 데이터관리체계 표준화 방안 수립 2.10.1 과제 정의서</vt:lpstr>
      <vt:lpstr>2.10 데이터관리체계 표준화 방안 수립  2.10.2 데이터 관리체계 AS-IS vs. TO-BE</vt:lpstr>
      <vt:lpstr>2.10.3 데이터 품질관리체계 수립 2.10.3.1 데이터 품질관리체계 수립 개념도</vt:lpstr>
      <vt:lpstr>2.10.3.2 데이터 품질관리체계 수립  &gt; 데이터 품질관리체계 수립 방향 (1/3)</vt:lpstr>
      <vt:lpstr>2.10.3.2 데이터 품질관리체계 수립  &gt; 데이터 품질관리체계 수립 방향 (2/3)</vt:lpstr>
      <vt:lpstr>2.10.3.2 데이터 품질관리체계 수립  &gt; 데이터 품질관리체계 수립 방향 (3/3)</vt:lpstr>
      <vt:lpstr>2.10.3.2 데이터 품질관리체계 수립  &gt; 데이터 품질 방침 수립 &gt; 방향성 정의</vt:lpstr>
      <vt:lpstr>2.10.3.2 데이터 품질관리체계 수립  &gt; 데이터 품질 방침 수립 &gt; 데이터 표준 방침과 지침</vt:lpstr>
      <vt:lpstr>2.10.3.2 데이터 품질관리체계 수립  &gt; 데이터 품질 방침 수립&gt; 데이터 구조 방침과 지침</vt:lpstr>
      <vt:lpstr>2.10.3.2 데이터 품질관리체계 수립  &gt; 데이터 품질 방침 수립 &gt; 데이터 품질관리 방침과 지침</vt:lpstr>
      <vt:lpstr>2.10.3.2 데이터 품질관리체계 수립  &gt; 데이터 품질 방침 수립 &gt; 데이터 교환 방침과 지침</vt:lpstr>
      <vt:lpstr>2.10.3.2 데이터 품질관리체계 수립 &gt; 데이터 품질 방침 수립 &gt; 데이터 보안 방침과 지침</vt:lpstr>
      <vt:lpstr>2.10.3.3 데이터 관리 조직 체계 정립  &gt; 방향성 정의 (1/2)</vt:lpstr>
      <vt:lpstr>2.10.3.3 데이터 관리 조직 체계 정립 &gt; 방향성 정의 (2/2)</vt:lpstr>
      <vt:lpstr>2.10.3.3 데이터 관리 조직 체계 정립  &gt; 데이터 관리 조직의 책임과 역할 (1/5)</vt:lpstr>
      <vt:lpstr>2.10.3.3 데이터 관리 조직 체계 정립  &gt; 데이터 관리 조직의 책임과 역할(2/5)</vt:lpstr>
      <vt:lpstr>2.10.3.3 데이터 관리 조직 체계 정립  &gt; 데이터 관리 조직의 책임과 역할(3/5)</vt:lpstr>
      <vt:lpstr>2.10.3.3 데이터 관리 조직 체계 정립  &gt; 데이터 관리 조직의 책임과 역할(4/5)</vt:lpstr>
      <vt:lpstr>2.10.3.3 데이터 관리 조직 체계 정립  &gt; 데이터 관리 조직의 책임과 역할(5/5)</vt:lpstr>
      <vt:lpstr>2.10.3.3 데이터 관리 조직 체계 정립 &gt; 데이터 관리 직무 &gt; 정의</vt:lpstr>
      <vt:lpstr>2.10.3.3 데이터 관리 조직 체계 정립   &gt; 데이터 관리 직무 &gt; 조직과 직무 배정</vt:lpstr>
      <vt:lpstr>2.10.3.4 데이터 품질 지표 관리 방안  &gt; 방향성 정의</vt:lpstr>
      <vt:lpstr>2.10.3.4 데이터 품질 지표 관리 방안   &gt; 데이터 품질지표 구조</vt:lpstr>
      <vt:lpstr>2.10.3.5 데이터 구조관리 방안  &gt; 방향성 정의</vt:lpstr>
      <vt:lpstr>2.10.3.5 데이터 구조관리 방안 &gt; 데이터 구조관리 대상</vt:lpstr>
      <vt:lpstr>2.10.3.5 데이터 구조관리 방안  &gt; 데이터 산출물 관리 방안 (1/2)</vt:lpstr>
      <vt:lpstr>2.10.3.5 데이터 구조관리 방안  &gt; 데이터 산출물 관리 방안 (2/2)</vt:lpstr>
      <vt:lpstr>2.10.3.6 연계정보 관리 방안  &gt; 방향성 정의</vt:lpstr>
      <vt:lpstr>2.10.3.6 연계정보 관리 방안 &gt; 연계정보 관리 항목 정의</vt:lpstr>
      <vt:lpstr>2.10.3.6 연계정보 관리 방안 &gt; 연계정보 관리 방법</vt:lpstr>
      <vt:lpstr>2.10.3.6 연계정보 관리 방안 &gt; 연계정보 품질개선 방안</vt:lpstr>
      <vt:lpstr>PowerPoint 프레젠테이션</vt:lpstr>
      <vt:lpstr>3.1 개요 3.1.1 목표 업무 개선안 설계 절차 </vt:lpstr>
      <vt:lpstr> 3.1.2 사용 양식 및 다이어그램 정의</vt:lpstr>
      <vt:lpstr>3.2.1 예산관리 업무분류 및 기능 정의 3.2.1.1 예산관리 업무분류 구조도</vt:lpstr>
      <vt:lpstr>3.2.1 예산관리 업무분류 및 기능 정의 3.2.1.2 예산관리 업무기능 정의 (1/2)</vt:lpstr>
      <vt:lpstr>3.2.1 예산관리 업무분류 및 기능 정의 3.2.1.2 예산관리 업무기능 정의 (2/2)</vt:lpstr>
      <vt:lpstr>3.2.2 예산관리 업무 프로세스 정의 3.2.2.1 예산관리 업무 프로세스 맵 정의(1/7)</vt:lpstr>
      <vt:lpstr>3.2.2 예산관리 업무 프로세스 정의 3.2.2.1 예산관리 업무 프로세스 맵 정의(2/7)</vt:lpstr>
      <vt:lpstr>3.2.2 예산관리 업무 프로세스 정의 3.2.2.1 예산관리 업무 프로세스 맵 정의(3/7)</vt:lpstr>
      <vt:lpstr>3.2.2 예산관리 업무 프로세스 정의 3.2.2.1 예산관리 업무 프로세스 맵 정의(4/7)</vt:lpstr>
      <vt:lpstr>3.2.2 예산관리 업무 프로세스 정의 3.2.2.1 예산관리 업무 프로세스 맵 정의(5/7)</vt:lpstr>
      <vt:lpstr>3.2.2 예산관리 업무 프로세스 정의 3.2.2.1 예산관리 업무 프로세스 맵 정의(6/7)</vt:lpstr>
      <vt:lpstr>3.2.2 예산관리 업무 프로세스 정의 3.2.2.1 예산관리 업무 프로세스 맵 정의(7/7)</vt:lpstr>
      <vt:lpstr>3.3.1 회계관리 업무분류 및 기능 정의 3.3.1.1 회계관리 업무분류 구조도</vt:lpstr>
      <vt:lpstr>3.3.1 회계관리 업무분류 및 기능 정의 3.3.1.2 회계관리 업무기능 정의 (1/2)</vt:lpstr>
      <vt:lpstr>3.3.1 회계관리 업무분류 및 기능 정의 3.3.1.2 회계관리 업무기능 정의 (2/2)</vt:lpstr>
      <vt:lpstr>3.3.2 회계관리 업무 프로세스 정의 3.3.2.2 회계관리 업무 프로세스 맵 정의(1/7)</vt:lpstr>
      <vt:lpstr>3.3.2 회계관리 업무 프로세스 정의 3.3.2.1 회계관리 업무 프로세스 맵 정의(2/7)</vt:lpstr>
      <vt:lpstr>3.3.2 회계관리 업무 프로세스 정의 3.3.2.1 회계관리 업무 프로세스 맵 정의(3/7)</vt:lpstr>
      <vt:lpstr>3.3.2 회계관리 업무 프로세스 정의 3.3.2.1 회계관리 업무 프로세스 맵 정의(4/7)</vt:lpstr>
      <vt:lpstr>3.3.2 회계관리 업무 프로세스 정의 3.3.2.1 회계관리 업무 프로세스 맵 정의(5/7)</vt:lpstr>
      <vt:lpstr>3.3.2 회계관리 업무 프로세스 정의 3.3.2.1 회계관리 업무 프로세스 맵 정의(6/7)</vt:lpstr>
      <vt:lpstr>3.3.2 회계관리 업무 프로세스 정의 3.3.2.1 회계관리 업무 프로세스 맵 정의(7/7)</vt:lpstr>
      <vt:lpstr>3.4.1 구매관리 업무분류 및 기능 정의 3.4.1.1 구매관리 업무분류 구조도</vt:lpstr>
      <vt:lpstr>3.4.1 구매관리 업무분류 및 기능 정의 3.4.1.2 구매관리 업무기능 정의 (1/2)</vt:lpstr>
      <vt:lpstr>3.4.1 구매관리 업무분류 및 기능 정의 3.4.1.2 구매관리 업무기능 정의 (2/2)</vt:lpstr>
      <vt:lpstr>3.4.2 구매관리 업무 프로세스 정의 3.4.2.1 구매관리 업무 프로세스 맵 정의(1/7)</vt:lpstr>
      <vt:lpstr>3.4.2 구매관리 업무 프로세스 정의 3.4.2.2 구매관리 업무 프로세스 맵 정의(2/7)</vt:lpstr>
      <vt:lpstr>3.4.2 구매관리 업무 프로세스 정의 3.4.2.2 구매관리 업무 프로세스 맵 정의(3/7)</vt:lpstr>
      <vt:lpstr>3.4.2 구매관리 업무 프로세스 정의  3.4.2.2 구매관리 업무 프로세스 맵 정의(4/7)</vt:lpstr>
      <vt:lpstr>3.4.2 구매관리 업무 프로세스 정의  3.4.2.2 구매관리 업무 프로세스 맵 정의(5/7)</vt:lpstr>
      <vt:lpstr>3.4.2 구매관리 업무 프로세스 정의 3.4.2.3 구매관리 업무 프로세스 맵 정의(6/7)</vt:lpstr>
      <vt:lpstr>3.4.2 구매관리 업무 프로세스 정의  3.4.2.2 구매관리 업무 프로세스 맵 정의(7/7)</vt:lpstr>
      <vt:lpstr>3.5.1 자산관리 업무분류 및 기능 정의 3.5.1.1 자산관리 업무분류 구조도</vt:lpstr>
      <vt:lpstr>3.5.1 자산관리 업무분류 및 기능 정의 3.5.1.2 자산관리 업무기능 정의 (1/2)</vt:lpstr>
      <vt:lpstr>3.5.1 자산관리 업무분류 및 기능 정의 3.5.1.2 자산관리 업무기능 정의 (2/2)</vt:lpstr>
      <vt:lpstr>3.5.2 자산관리 업무 프로세스 정의 3.5.2.1 자산관리 업무 프로세스 맵 정의(1/7)</vt:lpstr>
      <vt:lpstr>3.5.2 자산관리 업무 프로세스 정의 3.5.2.1 자산관리 업무 프로세스 맵 정의(2/7)</vt:lpstr>
      <vt:lpstr>3.5.2 자산관리 업무 프로세스 정의 3.5.2.1 자산관리 업무 프로세스 맵 정의(3/7)</vt:lpstr>
      <vt:lpstr>3.5.2 자산관리 업무 프로세스 정의 3.5.2.1 자산관리 업무 프로세스 맵 정의(4/7)</vt:lpstr>
      <vt:lpstr>3.5.2 자산관리 업무 프로세스 정의 3.5.2.1 자산관리 업무 프로세스 맵 정의(5/7)</vt:lpstr>
      <vt:lpstr>3.5.2 자산관리 업무 프로세스 정의 3.5.2.1 자산관리 업무 프로세스 맵 정의(6/7)</vt:lpstr>
      <vt:lpstr>3.5.2 자산관리 업무 프로세스 정의 3.5.2.1 자산관리 업무 프로세스 맵 정의(7/7)</vt:lpstr>
      <vt:lpstr>3.6.1 사업관리 업무분류 및 기능 정의 3.6.1.1 사업관리 업무분류 구조도</vt:lpstr>
      <vt:lpstr>3.6.1 사업관리 업무분류 및 기능 정의 3.6.1.2 사업관리 업무기능 정의 (1/2)</vt:lpstr>
      <vt:lpstr>3.6.1 사업관리 업무분류 및 기능 정의 3.6.1.2 사업관리 업무기능 정의 (2/2)</vt:lpstr>
      <vt:lpstr>3.6.2 사업관리 업무 프로세스 정의 3.6.2.1 사업관리 업무 프로세스 맵 정의(1/6)</vt:lpstr>
      <vt:lpstr>3.6.2 사업관리 업무 프로세스 정의 3.6.2.1 사업관리 업무 프로세스 맵 정의(2/6)</vt:lpstr>
      <vt:lpstr>3.6.2 사업관리 업무 프로세스 정의 3.6.2.1 사업관리 업무 프로세스 맵 정의(3/6)</vt:lpstr>
      <vt:lpstr>3.6.2 사업관리 업무 프로세스 정의 3.6.2.1 사업관리 업무 프로세스 맵 정의(4/6)</vt:lpstr>
      <vt:lpstr>3.6.2 사업관리 업무 프로세스 정의 3.6.2.1 사업관리 업무 프로세스 맵 정의(5/6)</vt:lpstr>
      <vt:lpstr>3.6.2 사업관리 업무 프로세스 정의 3.6.2.1 사업관리 업무 프로세스 맵 정의(6/6)</vt:lpstr>
      <vt:lpstr>3.7 DATABASE 표준화 방안 3.7.1 표준화 적용 개선 방안 </vt:lpstr>
      <vt:lpstr>3.7.2 데이터 표준화 설계    3.7.2.1 데이터 표준화 대상  </vt:lpstr>
      <vt:lpstr>3.7.2 데이터 표준화 설계    3.7.2.2 표준 자료사전 구축 방안 (1/3)</vt:lpstr>
      <vt:lpstr>3.7.2 데이터 표준화 설계    3.7.2.2 표준 자료사전 구축 방안(2/3)</vt:lpstr>
      <vt:lpstr>3.7.2 데이터 표준화 설계    3.7.2.2 표준 자료사전 구축 방안(3/3)</vt:lpstr>
      <vt:lpstr>3.7.2 데이터 표준화 설계 3.7.2.3 표준 도메인 &gt; 도메인 관리</vt:lpstr>
      <vt:lpstr>3.7.2 데이터 표준화 설계    3.7.2.3 표준 도메인 &gt; 도메인 분류체계</vt:lpstr>
      <vt:lpstr>3.7.2 데이터 표준화 설계 3.7.2.3 표준 도메인 &gt; 정의된 구분자(1/3)</vt:lpstr>
      <vt:lpstr>3.7.2 데이터 표준화 설계 3.7.2.3 표준 도메인 &gt; 정의된 구분자(2/3)</vt:lpstr>
      <vt:lpstr>3.7.2 데이터 표준화 설계 3.7.2.3 표준 도메인 &gt; 정의된 구분자(3/3)</vt:lpstr>
      <vt:lpstr>3.7.2 데이터 표준화 설계 3.7.2.4 표준 명명 규칙 &gt; 표준 명명 규칙 대상 정의</vt:lpstr>
      <vt:lpstr>3.7.2 데이터 표준화 설계 3.7.2.4 표준 명명 규칙 &gt; 데이터 요소 명명 일반 규칙 (1/10)</vt:lpstr>
      <vt:lpstr>3.7.2 데이터 표준화 설계 3.7.2.4 표준 명명 규칙 &gt; 데이터 요소 명명 일반 규칙 (2/10)</vt:lpstr>
      <vt:lpstr>3.7.2 데이터 표준화 설계 3.7.2.4 표준 명명 규칙 &gt; 데이터 요소 명명 일반 규칙 (3/10)</vt:lpstr>
      <vt:lpstr>3.7.2 데이터 표준화 설계 3.7.2.4 표준 명명 규칙 &gt; 데이터 요소 명명 일반 규칙 (4/10)</vt:lpstr>
      <vt:lpstr>3.7.2 데이터 표준화 설계 3.7.2.4 표준 명명 규칙 &gt; 데이터 요소 명명 일반 규칙 (5/10)</vt:lpstr>
      <vt:lpstr>3.7.2 데이터 표준화 설계 3.7.2.4 표준 명명 규칙 &gt; 데이터 요소 명명 일반 규칙 (6/10)</vt:lpstr>
      <vt:lpstr>3.7.2 데이터 표준화 설계   3.7.2.4 표준 명명 규칙 &gt; 데이터 요소 명명 일반 규칙 (7/10)</vt:lpstr>
      <vt:lpstr>3.7.2 데이터 표준화 설계   3.7.2.4 표준 명명 규칙 &gt; 데이터 요소 명명 일반 규칙 (8/10)</vt:lpstr>
      <vt:lpstr>3.7.2 데이터 표준화 설계   3.7.2.4 표준 명명 규칙 &gt; 데이터 요소 명명 일반 규칙 (9/10)</vt:lpstr>
      <vt:lpstr>3.7.2 데이터 표준화 설계   3.7.2.4 표준 명명 규칙 &gt; 데이터 요소 명명 일반 규칙 (10/10)</vt:lpstr>
      <vt:lpstr>3.7.2 데이터 표준화 설계   3.7.2.5 표준 데이터 도구 &gt; 관리 기준과 지침</vt:lpstr>
      <vt:lpstr>3.7.2 데이터 표준화 설계   3.7.2.6 표준 코드 &gt; 관리 기준과 지침</vt:lpstr>
      <vt:lpstr>3.7.3 데이터 품질관리체계 수립 3.7.3.1 데이터 품질관리 개요 </vt:lpstr>
      <vt:lpstr>3.7.3 데이터 품질관리체계 수립 3.7.3.2 품질관리 프로세스 TASK 정의 (1/7)</vt:lpstr>
      <vt:lpstr>3.7.3 데이터 품질관리체계 수립 3.7.3.2 품질관리 프로세스 TASK 정의 (2/7)</vt:lpstr>
      <vt:lpstr>3.7.3 데이터 품질관리체계 수립 3.7.3.2 품질관리 프로세스 TASK 정의 (3/7)</vt:lpstr>
      <vt:lpstr>3.7.3 데이터 품질관리체계 수립 3.7.3.2 품질관리 프로세스 TASK 정의 (4/7)</vt:lpstr>
      <vt:lpstr>3.7.3 데이터 품질관리체계 수립 3.7.3.2 품질관리 프로세스 TASK 정의 (5/7)</vt:lpstr>
      <vt:lpstr>3.7.3 데이터 품질관리체계 수립 3.7.3.2 품질관리 프로세스 TASK 정의 (6/7)</vt:lpstr>
      <vt:lpstr>3.7.3 데이터 품질관리체계 수립 3.7.3.2 품질관리 프로세스 TASK 정의 (7/7)</vt:lpstr>
      <vt:lpstr>3.7.3 데이터 품질관리체계 수립 3.7.3.3 데이터 표준관리 프로세스 </vt:lpstr>
      <vt:lpstr>3.7.3 데이터 품질관리체계 수립 3.7.3.4 데이터 구조관리 프로세스  </vt:lpstr>
      <vt:lpstr>3.7.3 데이터 품질관리체계 수립 3.7.3.5 데이터 연계관리 프로세스</vt:lpstr>
      <vt:lpstr>3.7.3 데이터 품질관리체계 수립 3.7.3.6 데이터 품질관리 프로세스 </vt:lpstr>
      <vt:lpstr>3.7.3 데이터 품질관리체계 수립 3.7.3.7 데이터 보안관리 프로세스 </vt:lpstr>
      <vt:lpstr>3.8 데이터 마이그레이션 방안   </vt:lpstr>
      <vt:lpstr>3.8 데이터 마이그레이션 방안  3.8.1 데이터 마이그레이션 추진 체계</vt:lpstr>
      <vt:lpstr>3.8 데이터 마이그레이션 방안  3.8.2 마이그레이션 절차(1/4)</vt:lpstr>
      <vt:lpstr>3.8 데이터 마이그레이션 방안  3.8.2 마이그레이션 절차(2/4)</vt:lpstr>
      <vt:lpstr>3.8 데이터 마이그레이션 방안  3.8.2 마이그레이션 절차(3/4)</vt:lpstr>
      <vt:lpstr>3.8 데이터 마이그레이션 방안  3.8.2 마이그레이션 절차(4/4)</vt:lpstr>
      <vt:lpstr>3.8 데이터 마이그레이션 방안  3.8.3 데이터 전환 우선순위 선정</vt:lpstr>
      <vt:lpstr>3.8 데이터 마이그레이션 방안  3.8.4 모델 전환 방안</vt:lpstr>
      <vt:lpstr>3.8 데이터 마이그레이션 방안  3.8.5 전환 데이터 검증 방안(1/2)</vt:lpstr>
      <vt:lpstr>3.8 데이터 마이그레이션 방안  3.8.5 전환 데이터 검증 방안(2/2)</vt:lpstr>
      <vt:lpstr>3.8 데이터 마이그레이션 방안  3.8.6 데이터 클린징 방안</vt:lpstr>
      <vt:lpstr>3.8 데이터 마이그레이션 방안  3.8.7 데이터 이관 범위</vt:lpstr>
      <vt:lpstr>3.8 데이터 마이그레이션 방안  3.8.8 마이그레이션 검증 방안(1/4) </vt:lpstr>
      <vt:lpstr>3.8 데이터 마이그레이션 방안  3.8.9 마이그레이션 검증 방안(1/4) </vt:lpstr>
      <vt:lpstr>3.8 데이터 마이그레이션 방안  3.8.9 마이그레이션 검증 방안(3/4) </vt:lpstr>
      <vt:lpstr>3.8 데이터 마이그레이션 방안  3.8.9 마이그레이션 검증 방안(4/4) </vt:lpstr>
      <vt:lpstr>3.8 데이터 마이그레이션 방안  3.8.10 마이그레이션 오류 조치방안(1/3)</vt:lpstr>
      <vt:lpstr>3.8 데이터 마이그레이션 방안  3.8.10 마이그레이션 오류 조치방안(2/3)</vt:lpstr>
      <vt:lpstr>3.8 데이터 마이그레이션 방안  3.8.10 마이그레이션 오류 조치방안(3/3)</vt:lpstr>
    </vt:vector>
  </TitlesOfParts>
  <Company>.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SDS</dc:creator>
  <cp:lastModifiedBy>R2SOFT</cp:lastModifiedBy>
  <cp:revision>2913</cp:revision>
  <cp:lastPrinted>2018-12-20T06:32:58Z</cp:lastPrinted>
  <dcterms:created xsi:type="dcterms:W3CDTF">2013-11-13T01:08:07Z</dcterms:created>
  <dcterms:modified xsi:type="dcterms:W3CDTF">2024-12-09T14:07:57Z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0x0101003F0D996D5B674C4386830A6AB0E50984</vt:lpwstr>
  </property>
  <property fmtid="{D5CDD505-2E9C-101B-9397-08002B2CF9AE}" pid="3" name="DeliveryID">
    <vt:lpwstr>244b6fc4-4b4e-4117-b7bb-efd330097824</vt:lpwstr>
  </property>
  <property fmtid="{D5CDD505-2E9C-101B-9397-08002B2CF9AE}" pid="4" name="NSCPROP_SA">
    <vt:lpwstr>D:\블록체인\템플릿예시_PowerPoint.pptx</vt:lpwstr>
  </property>
  <property fmtid="{5C58129F-E5B8-477A-9B38-B3E54BFA04C8}" pid="2">
    <vt:lpwstr>EA5DF722F2DDC2B5142607E7171F90C7D4A6F050E5311B308FB269B1E25EFBC7</vt:lpwstr>
  </property>
</Properties>
</file>