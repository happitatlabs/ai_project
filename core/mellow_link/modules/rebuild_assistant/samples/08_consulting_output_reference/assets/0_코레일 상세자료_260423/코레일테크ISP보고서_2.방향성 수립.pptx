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1" r:id="rId4"/>
  </p:sldMasterIdLst>
  <p:notesMasterIdLst>
    <p:notesMasterId r:id="rId55"/>
  </p:notesMasterIdLst>
  <p:handoutMasterIdLst>
    <p:handoutMasterId r:id="rId56"/>
  </p:handoutMasterIdLst>
  <p:sldIdLst>
    <p:sldId id="1216" r:id="rId5"/>
    <p:sldId id="1217" r:id="rId6"/>
    <p:sldId id="1130" r:id="rId7"/>
    <p:sldId id="1131" r:id="rId8"/>
    <p:sldId id="1089" r:id="rId9"/>
    <p:sldId id="1210" r:id="rId10"/>
    <p:sldId id="1144" r:id="rId11"/>
    <p:sldId id="1267" r:id="rId12"/>
    <p:sldId id="1303" r:id="rId13"/>
    <p:sldId id="1268" r:id="rId14"/>
    <p:sldId id="1269" r:id="rId15"/>
    <p:sldId id="1297" r:id="rId16"/>
    <p:sldId id="1298" r:id="rId17"/>
    <p:sldId id="1300" r:id="rId18"/>
    <p:sldId id="1299" r:id="rId19"/>
    <p:sldId id="1301" r:id="rId20"/>
    <p:sldId id="1302" r:id="rId21"/>
    <p:sldId id="1266" r:id="rId22"/>
    <p:sldId id="1275" r:id="rId23"/>
    <p:sldId id="1276" r:id="rId24"/>
    <p:sldId id="1145" r:id="rId25"/>
    <p:sldId id="1147" r:id="rId26"/>
    <p:sldId id="1148" r:id="rId27"/>
    <p:sldId id="1149" r:id="rId28"/>
    <p:sldId id="1211" r:id="rId29"/>
    <p:sldId id="1265" r:id="rId30"/>
    <p:sldId id="1271" r:id="rId31"/>
    <p:sldId id="1272" r:id="rId32"/>
    <p:sldId id="1273" r:id="rId33"/>
    <p:sldId id="1157" r:id="rId34"/>
    <p:sldId id="1209" r:id="rId35"/>
    <p:sldId id="1204" r:id="rId36"/>
    <p:sldId id="1169" r:id="rId37"/>
    <p:sldId id="1170" r:id="rId38"/>
    <p:sldId id="1171" r:id="rId39"/>
    <p:sldId id="1277" r:id="rId40"/>
    <p:sldId id="1304" r:id="rId41"/>
    <p:sldId id="1305" r:id="rId42"/>
    <p:sldId id="1307" r:id="rId43"/>
    <p:sldId id="1308" r:id="rId44"/>
    <p:sldId id="1306" r:id="rId45"/>
    <p:sldId id="1309" r:id="rId46"/>
    <p:sldId id="1291" r:id="rId47"/>
    <p:sldId id="1293" r:id="rId48"/>
    <p:sldId id="1294" r:id="rId49"/>
    <p:sldId id="286" r:id="rId50"/>
    <p:sldId id="1252" r:id="rId51"/>
    <p:sldId id="482" r:id="rId52"/>
    <p:sldId id="1295" r:id="rId53"/>
    <p:sldId id="533" r:id="rId5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76" userDrawn="1">
          <p15:clr>
            <a:srgbClr val="A4A3A4"/>
          </p15:clr>
        </p15:guide>
        <p15:guide id="2" orient="horz" pos="4110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1026" userDrawn="1">
          <p15:clr>
            <a:srgbClr val="A4A3A4"/>
          </p15:clr>
        </p15:guide>
        <p15:guide id="6" orient="horz" pos="3339">
          <p15:clr>
            <a:srgbClr val="A4A3A4"/>
          </p15:clr>
        </p15:guide>
        <p15:guide id="7" orient="horz" pos="3294" userDrawn="1">
          <p15:clr>
            <a:srgbClr val="A4A3A4"/>
          </p15:clr>
        </p15:guide>
        <p15:guide id="8" pos="2666" userDrawn="1">
          <p15:clr>
            <a:srgbClr val="A4A3A4"/>
          </p15:clr>
        </p15:guide>
        <p15:guide id="13" pos="217" userDrawn="1">
          <p15:clr>
            <a:srgbClr val="A4A3A4"/>
          </p15:clr>
        </p15:guide>
        <p15:guide id="16" pos="6023" userDrawn="1">
          <p15:clr>
            <a:srgbClr val="A4A3A4"/>
          </p15:clr>
        </p15:guide>
        <p15:guide id="17" orient="horz" pos="1230" userDrawn="1">
          <p15:clr>
            <a:srgbClr val="A4A3A4"/>
          </p15:clr>
        </p15:guide>
        <p15:guide id="18" orient="horz" pos="2795">
          <p15:clr>
            <a:srgbClr val="A4A3A4"/>
          </p15:clr>
        </p15:guide>
        <p15:guide id="19" orient="horz" pos="3249">
          <p15:clr>
            <a:srgbClr val="A4A3A4"/>
          </p15:clr>
        </p15:guide>
        <p15:guide id="20" orient="horz" pos="11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CCFFCC"/>
    <a:srgbClr val="508CD2"/>
    <a:srgbClr val="003058"/>
    <a:srgbClr val="404040"/>
    <a:srgbClr val="BFBFBF"/>
    <a:srgbClr val="01458C"/>
    <a:srgbClr val="1F4E78"/>
    <a:srgbClr val="EF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90" autoAdjust="0"/>
    <p:restoredTop sz="95096" autoAdjust="0"/>
  </p:normalViewPr>
  <p:slideViewPr>
    <p:cSldViewPr>
      <p:cViewPr varScale="1">
        <p:scale>
          <a:sx n="111" d="100"/>
          <a:sy n="111" d="100"/>
        </p:scale>
        <p:origin x="864" y="108"/>
      </p:cViewPr>
      <p:guideLst>
        <p:guide orient="horz" pos="2976"/>
        <p:guide orient="horz" pos="4110"/>
        <p:guide orient="horz" pos="527"/>
        <p:guide orient="horz" pos="3974"/>
        <p:guide orient="horz" pos="1026"/>
        <p:guide orient="horz" pos="3339"/>
        <p:guide orient="horz" pos="3294"/>
        <p:guide pos="2666"/>
        <p:guide pos="217"/>
        <p:guide pos="6023"/>
        <p:guide orient="horz" pos="1230"/>
        <p:guide orient="horz" pos="2795"/>
        <p:guide orient="horz" pos="3249"/>
        <p:guide orient="horz" pos="111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notesViewPr>
    <p:cSldViewPr showGuides="1">
      <p:cViewPr varScale="1">
        <p:scale>
          <a:sx n="63" d="100"/>
          <a:sy n="63" d="100"/>
        </p:scale>
        <p:origin x="-3402" y="-132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1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222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33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BEDC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508CD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6FC3-408A-95F0-AD696EA9E57E}"/>
              </c:ext>
            </c:extLst>
          </c:dPt>
          <c:dPt>
            <c:idx val="4"/>
            <c:invertIfNegative val="0"/>
            <c:bubble3D val="0"/>
            <c:spPr>
              <a:solidFill>
                <a:srgbClr val="508CD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FC3-408A-95F0-AD696EA9E57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50" b="1"/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50" b="1"/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공통</c:v>
                </c:pt>
                <c:pt idx="1">
                  <c:v>에산관리</c:v>
                </c:pt>
                <c:pt idx="2">
                  <c:v>회계관리</c:v>
                </c:pt>
                <c:pt idx="3">
                  <c:v>자산관리</c:v>
                </c:pt>
                <c:pt idx="4">
                  <c:v>사업관리</c:v>
                </c:pt>
                <c:pt idx="5">
                  <c:v>구매관리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11</c:v>
                </c:pt>
                <c:pt idx="2">
                  <c:v>16</c:v>
                </c:pt>
                <c:pt idx="3">
                  <c:v>8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6FC3-408A-95F0-AD696EA9E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08831232"/>
        <c:axId val="1108831776"/>
      </c:barChart>
      <c:catAx>
        <c:axId val="1108831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 b="0"/>
            </a:pPr>
            <a:endParaRPr lang="ko-KR"/>
          </a:p>
        </c:txPr>
        <c:crossAx val="1108831776"/>
        <c:crosses val="autoZero"/>
        <c:auto val="1"/>
        <c:lblAlgn val="ctr"/>
        <c:lblOffset val="100"/>
        <c:noMultiLvlLbl val="0"/>
      </c:catAx>
      <c:valAx>
        <c:axId val="1108831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11088312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417239215135952"/>
          <c:y val="4.3009949612502242E-2"/>
          <c:w val="0.50647247771689996"/>
          <c:h val="0.956990050387500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explosion val="9"/>
            <c:spPr>
              <a:solidFill>
                <a:schemeClr val="accent3">
                  <a:shade val="5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894C-48A4-B6C2-C19580FF6775}"/>
              </c:ext>
            </c:extLst>
          </c:dPt>
          <c:dPt>
            <c:idx val="1"/>
            <c:bubble3D val="0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94C-48A4-B6C2-C19580FF67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894C-48A4-B6C2-C19580FF6775}"/>
              </c:ext>
            </c:extLst>
          </c:dPt>
          <c:dPt>
            <c:idx val="3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A67-4530-BDB4-FF905B611B8F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A67-4530-BDB4-FF905B611B8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기능성/자동화</c:v>
                </c:pt>
                <c:pt idx="1">
                  <c:v>효율성/사용자중심</c:v>
                </c:pt>
                <c:pt idx="2">
                  <c:v>통합성/체계화</c:v>
                </c:pt>
                <c:pt idx="3">
                  <c:v>인프라/정합성</c:v>
                </c:pt>
                <c:pt idx="4">
                  <c:v>유연/보안/연계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13</c:v>
                </c:pt>
                <c:pt idx="2">
                  <c:v>15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894C-48A4-B6C2-C19580FF677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2072645951035776"/>
          <c:y val="0.10800169963128967"/>
          <c:w val="0.36133568738229754"/>
          <c:h val="0.78399605246926274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8CD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인프라구조</c:v>
                </c:pt>
                <c:pt idx="1">
                  <c:v>통합성</c:v>
                </c:pt>
                <c:pt idx="2">
                  <c:v>유연성</c:v>
                </c:pt>
                <c:pt idx="3">
                  <c:v>사용자중심</c:v>
                </c:pt>
                <c:pt idx="4">
                  <c:v>효율화</c:v>
                </c:pt>
                <c:pt idx="5">
                  <c:v>보안성</c:v>
                </c:pt>
                <c:pt idx="6">
                  <c:v>연계성</c:v>
                </c:pt>
                <c:pt idx="7">
                  <c:v>정합성</c:v>
                </c:pt>
                <c:pt idx="8">
                  <c:v>자동화</c:v>
                </c:pt>
                <c:pt idx="9">
                  <c:v>체계화</c:v>
                </c:pt>
                <c:pt idx="10">
                  <c:v>기능성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</c:v>
                </c:pt>
                <c:pt idx="1">
                  <c:v>7</c:v>
                </c:pt>
                <c:pt idx="2">
                  <c:v>4</c:v>
                </c:pt>
                <c:pt idx="3">
                  <c:v>8</c:v>
                </c:pt>
                <c:pt idx="4">
                  <c:v>5</c:v>
                </c:pt>
                <c:pt idx="5">
                  <c:v>1</c:v>
                </c:pt>
                <c:pt idx="6">
                  <c:v>1</c:v>
                </c:pt>
                <c:pt idx="7">
                  <c:v>4</c:v>
                </c:pt>
                <c:pt idx="8">
                  <c:v>1</c:v>
                </c:pt>
                <c:pt idx="9">
                  <c:v>8</c:v>
                </c:pt>
                <c:pt idx="10">
                  <c:v>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8F0-49D4-B739-434CD22CC0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08826880"/>
        <c:axId val="1108827968"/>
      </c:barChart>
      <c:catAx>
        <c:axId val="110882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1108827968"/>
        <c:crosses val="autoZero"/>
        <c:auto val="1"/>
        <c:lblAlgn val="ctr"/>
        <c:lblOffset val="100"/>
        <c:noMultiLvlLbl val="0"/>
      </c:catAx>
      <c:valAx>
        <c:axId val="11088279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088268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2024-11-05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10D8B3E8-78D5-42AF-92B2-138AC5B36093}" type="datetimeFigureOut">
              <a:rPr lang="ko-KR" altLang="en-US" smtClean="0"/>
              <a:pPr/>
              <a:t>2024-11-05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90" tIns="45846" rIns="91690" bIns="4584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131" y="4715154"/>
            <a:ext cx="5439415" cy="4466987"/>
          </a:xfrm>
          <a:prstGeom prst="rect">
            <a:avLst/>
          </a:prstGeom>
        </p:spPr>
        <p:txBody>
          <a:bodyPr vert="horz" lIns="91690" tIns="45846" rIns="91690" bIns="45846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l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496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496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496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67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9505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6053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4525963"/>
          </a:xfrm>
        </p:spPr>
        <p:txBody>
          <a:bodyPr>
            <a:normAutofit/>
          </a:bodyPr>
          <a:lstStyle>
            <a:lvl1pPr marL="400050" indent="-400050">
              <a:lnSpc>
                <a:spcPct val="120000"/>
              </a:lnSpc>
              <a:buFont typeface="+mj-lt"/>
              <a:buAutoNum type="romanUcPeriod"/>
              <a:defRPr sz="1800" b="1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defRPr sz="1800" b="1">
                <a:solidFill>
                  <a:srgbClr val="00B0F0"/>
                </a:solidFill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2" name="그룹 16"/>
          <p:cNvGrpSpPr/>
          <p:nvPr userDrawn="1"/>
        </p:nvGrpSpPr>
        <p:grpSpPr>
          <a:xfrm>
            <a:off x="6824603" y="908720"/>
            <a:ext cx="2187634" cy="1958589"/>
            <a:chOff x="6824603" y="908720"/>
            <a:chExt cx="2187634" cy="1958589"/>
          </a:xfrm>
          <a:solidFill>
            <a:srgbClr val="00437A"/>
          </a:solidFill>
        </p:grpSpPr>
        <p:grpSp>
          <p:nvGrpSpPr>
            <p:cNvPr id="4" name="그룹 17"/>
            <p:cNvGrpSpPr/>
            <p:nvPr/>
          </p:nvGrpSpPr>
          <p:grpSpPr>
            <a:xfrm>
              <a:off x="6825208" y="908720"/>
              <a:ext cx="2187029" cy="230399"/>
              <a:chOff x="7185248" y="1123952"/>
              <a:chExt cx="2187029" cy="230399"/>
            </a:xfrm>
            <a:grpFill/>
          </p:grpSpPr>
          <p:sp>
            <p:nvSpPr>
              <p:cNvPr id="23" name="직사각형 22"/>
              <p:cNvSpPr/>
              <p:nvPr/>
            </p:nvSpPr>
            <p:spPr bwMode="auto">
              <a:xfrm rot="5400000">
                <a:off x="8215185" y="94758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 rot="5400000">
                <a:off x="7139787" y="1178937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 rot="5400000">
                <a:off x="9196865" y="1178938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  <p:grpSp>
          <p:nvGrpSpPr>
            <p:cNvPr id="5" name="그룹 18"/>
            <p:cNvGrpSpPr/>
            <p:nvPr/>
          </p:nvGrpSpPr>
          <p:grpSpPr>
            <a:xfrm>
              <a:off x="6824603" y="2636912"/>
              <a:ext cx="2186617" cy="230397"/>
              <a:chOff x="7184643" y="2780929"/>
              <a:chExt cx="2186617" cy="230397"/>
            </a:xfrm>
            <a:grpFill/>
          </p:grpSpPr>
          <p:sp>
            <p:nvSpPr>
              <p:cNvPr id="20" name="직사각형 19"/>
              <p:cNvSpPr/>
              <p:nvPr/>
            </p:nvSpPr>
            <p:spPr bwMode="auto">
              <a:xfrm rot="16200000">
                <a:off x="8214443" y="1855251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 bwMode="auto">
              <a:xfrm rot="16200000">
                <a:off x="9195848" y="2826391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 rot="16200000">
                <a:off x="7139182" y="2826390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084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5273" y="6567155"/>
            <a:ext cx="53545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Ⅱ 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8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/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/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5273" y="6567155"/>
            <a:ext cx="53545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Ⅱ 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9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24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DFF48F6-0499-4B03-AA7D-07684E6940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11" Type="http://schemas.openxmlformats.org/officeDocument/2006/relationships/image" Target="../media/image4.wmf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38.wmf"/><Relationship Id="rId18" Type="http://schemas.openxmlformats.org/officeDocument/2006/relationships/image" Target="../media/image6.png"/><Relationship Id="rId3" Type="http://schemas.openxmlformats.org/officeDocument/2006/relationships/image" Target="../media/image39.png"/><Relationship Id="rId21" Type="http://schemas.openxmlformats.org/officeDocument/2006/relationships/image" Target="../media/image50.png"/><Relationship Id="rId7" Type="http://schemas.openxmlformats.org/officeDocument/2006/relationships/image" Target="../media/image43.jpeg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20" Type="http://schemas.openxmlformats.org/officeDocument/2006/relationships/image" Target="../media/image49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42.png"/><Relationship Id="rId11" Type="http://schemas.openxmlformats.org/officeDocument/2006/relationships/image" Target="../media/image37.wmf"/><Relationship Id="rId5" Type="http://schemas.openxmlformats.org/officeDocument/2006/relationships/image" Target="../media/image41.jpeg"/><Relationship Id="rId15" Type="http://schemas.openxmlformats.org/officeDocument/2006/relationships/image" Target="../media/image46.pn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48.jpeg"/><Relationship Id="rId4" Type="http://schemas.openxmlformats.org/officeDocument/2006/relationships/image" Target="../media/image40.jpeg"/><Relationship Id="rId9" Type="http://schemas.openxmlformats.org/officeDocument/2006/relationships/image" Target="../media/image45.png"/><Relationship Id="rId14" Type="http://schemas.openxmlformats.org/officeDocument/2006/relationships/image" Target="../media/image7.png"/><Relationship Id="rId22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18" Type="http://schemas.openxmlformats.org/officeDocument/2006/relationships/image" Target="../media/image6.png"/><Relationship Id="rId26" Type="http://schemas.openxmlformats.org/officeDocument/2006/relationships/image" Target="../media/image69.jpeg"/><Relationship Id="rId3" Type="http://schemas.openxmlformats.org/officeDocument/2006/relationships/image" Target="../media/image54.jpeg"/><Relationship Id="rId21" Type="http://schemas.openxmlformats.org/officeDocument/2006/relationships/oleObject" Target="../embeddings/oleObject8.bin"/><Relationship Id="rId7" Type="http://schemas.openxmlformats.org/officeDocument/2006/relationships/image" Target="../media/image58.png"/><Relationship Id="rId12" Type="http://schemas.openxmlformats.org/officeDocument/2006/relationships/image" Target="../media/image44.jpeg"/><Relationship Id="rId17" Type="http://schemas.openxmlformats.org/officeDocument/2006/relationships/image" Target="../media/image5.png"/><Relationship Id="rId25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6.png"/><Relationship Id="rId20" Type="http://schemas.openxmlformats.org/officeDocument/2006/relationships/image" Target="../media/image53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67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71.png"/><Relationship Id="rId10" Type="http://schemas.openxmlformats.org/officeDocument/2006/relationships/image" Target="../media/image61.png"/><Relationship Id="rId19" Type="http://schemas.openxmlformats.org/officeDocument/2006/relationships/oleObject" Target="../embeddings/oleObject7.bin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4.png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oleObject" Target="../embeddings/oleObject12.bin"/><Relationship Id="rId18" Type="http://schemas.openxmlformats.org/officeDocument/2006/relationships/oleObject" Target="../embeddings/oleObject15.bin"/><Relationship Id="rId3" Type="http://schemas.openxmlformats.org/officeDocument/2006/relationships/hyperlink" Target="&#53076;&#47112;&#51068;&#53580;&#53356;ISP&#48372;&#44256;&#49436;_3.&#47785;&#54364;&#47784;&#45944;%20&#49444;&#44228;.pptx" TargetMode="External"/><Relationship Id="rId7" Type="http://schemas.openxmlformats.org/officeDocument/2006/relationships/image" Target="../media/image8.png"/><Relationship Id="rId12" Type="http://schemas.openxmlformats.org/officeDocument/2006/relationships/image" Target="../media/image4.wmf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2.png"/><Relationship Id="rId20" Type="http://schemas.openxmlformats.org/officeDocument/2006/relationships/image" Target="../media/image72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png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6.png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1.png"/><Relationship Id="rId19" Type="http://schemas.openxmlformats.org/officeDocument/2006/relationships/image" Target="../media/image35.gif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dirty="0"/>
              <a:t>개요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00437A"/>
                </a:solidFill>
              </a:rPr>
              <a:t>1.1 </a:t>
            </a:r>
            <a:r>
              <a:rPr lang="ko-KR" altLang="en-US" dirty="0">
                <a:solidFill>
                  <a:srgbClr val="00437A"/>
                </a:solidFill>
              </a:rPr>
              <a:t>방향성 수립 개요</a:t>
            </a:r>
            <a:endParaRPr lang="en-US" altLang="ko-KR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환경 분석</a:t>
            </a:r>
            <a:endParaRPr lang="en-US" altLang="ko-KR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방향성 정의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>
                <a:solidFill>
                  <a:srgbClr val="00437A"/>
                </a:solidFill>
              </a:rPr>
              <a:t>Ⅱ. </a:t>
            </a:r>
            <a:r>
              <a:rPr lang="ko-KR" altLang="en-US" sz="2400" b="1" spc="-300" dirty="0">
                <a:solidFill>
                  <a:srgbClr val="00437A"/>
                </a:solidFill>
              </a:rPr>
              <a:t>방향성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b="1" dirty="0"/>
              <a:t>방향성 수립 </a:t>
            </a:r>
            <a:r>
              <a:rPr lang="ko-KR" altLang="en-US" sz="1600" b="1"/>
              <a:t>단계에서는 경영정보시스템의 개선</a:t>
            </a:r>
            <a:r>
              <a:rPr lang="ko-KR" altLang="en-US" sz="1600" b="1">
                <a:latin typeface="맑은 고딕"/>
                <a:ea typeface="맑은 고딕"/>
              </a:rPr>
              <a:t>을</a:t>
            </a:r>
            <a:r>
              <a:rPr lang="ko-KR" altLang="en-US" sz="1600" b="1"/>
              <a:t> </a:t>
            </a:r>
            <a:r>
              <a:rPr lang="ko-KR" altLang="en-US" sz="1600" b="1" smtClean="0"/>
              <a:t>위하여 </a:t>
            </a:r>
            <a:r>
              <a:rPr lang="ko-KR" altLang="en-US" sz="1600" b="1"/>
              <a:t>환경분석과</a:t>
            </a:r>
            <a:r>
              <a:rPr lang="en-US" altLang="ko-KR" sz="1600" b="1"/>
              <a:t> </a:t>
            </a:r>
            <a:r>
              <a:rPr lang="ko-KR" altLang="en-US" sz="1600" b="1"/>
              <a:t>현행시스템의 분석을 </a:t>
            </a:r>
            <a:r>
              <a:rPr lang="ko-KR" altLang="en-US" sz="1600" b="1" dirty="0"/>
              <a:t>실시하고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본 사업의 목표 및 추진 방향성을 수립함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방향성 수립 </a:t>
            </a:r>
            <a:r>
              <a:rPr lang="ko-KR" altLang="en-US"/>
              <a:t>개요 </a:t>
            </a:r>
            <a:r>
              <a:rPr lang="en-US" altLang="ko-KR" smtClean="0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개요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방향성 수립 개요</a:t>
            </a:r>
            <a:endParaRPr lang="en-US" altLang="ko-KR" dirty="0"/>
          </a:p>
        </p:txBody>
      </p:sp>
      <p:sp>
        <p:nvSpPr>
          <p:cNvPr id="28" name="직사각형 27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R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방향성 수립 접근 방법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marR="0" lvl="0" indent="-265113" defTabSz="91440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Char char="q"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592366" y="2060849"/>
            <a:ext cx="8721269" cy="4153663"/>
            <a:chOff x="732230" y="2060849"/>
            <a:chExt cx="8721269" cy="4153663"/>
          </a:xfrm>
        </p:grpSpPr>
        <p:sp>
          <p:nvSpPr>
            <p:cNvPr id="30" name="Freeform 56"/>
            <p:cNvSpPr>
              <a:spLocks/>
            </p:cNvSpPr>
            <p:nvPr/>
          </p:nvSpPr>
          <p:spPr bwMode="auto">
            <a:xfrm>
              <a:off x="732230" y="2685463"/>
              <a:ext cx="8721269" cy="563460"/>
            </a:xfrm>
            <a:custGeom>
              <a:avLst/>
              <a:gdLst>
                <a:gd name="connsiteX0" fmla="*/ 3462 w 10828"/>
                <a:gd name="connsiteY0" fmla="*/ 133 h 10000"/>
                <a:gd name="connsiteX1" fmla="*/ 2051 w 10828"/>
                <a:gd name="connsiteY1" fmla="*/ 0 h 10000"/>
                <a:gd name="connsiteX2" fmla="*/ 0 w 10828"/>
                <a:gd name="connsiteY2" fmla="*/ 10000 h 10000"/>
                <a:gd name="connsiteX3" fmla="*/ 10828 w 10828"/>
                <a:gd name="connsiteY3" fmla="*/ 10000 h 10000"/>
                <a:gd name="connsiteX4" fmla="*/ 3462 w 10828"/>
                <a:gd name="connsiteY4" fmla="*/ 133 h 10000"/>
                <a:gd name="connsiteX0" fmla="*/ 3509 w 10828"/>
                <a:gd name="connsiteY0" fmla="*/ 0 h 11121"/>
                <a:gd name="connsiteX1" fmla="*/ 2051 w 10828"/>
                <a:gd name="connsiteY1" fmla="*/ 1121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3509 w 10828"/>
                <a:gd name="connsiteY4" fmla="*/ 0 h 11121"/>
                <a:gd name="connsiteX0" fmla="*/ 3509 w 10828"/>
                <a:gd name="connsiteY0" fmla="*/ 0 h 11121"/>
                <a:gd name="connsiteX1" fmla="*/ 2083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3509 w 10828"/>
                <a:gd name="connsiteY4" fmla="*/ 0 h 11121"/>
                <a:gd name="connsiteX0" fmla="*/ 3509 w 10828"/>
                <a:gd name="connsiteY0" fmla="*/ 0 h 11121"/>
                <a:gd name="connsiteX1" fmla="*/ 2178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3509 w 10828"/>
                <a:gd name="connsiteY4" fmla="*/ 0 h 11121"/>
                <a:gd name="connsiteX0" fmla="*/ 3509 w 10828"/>
                <a:gd name="connsiteY0" fmla="*/ 0 h 11121"/>
                <a:gd name="connsiteX1" fmla="*/ 2915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3509 w 10828"/>
                <a:gd name="connsiteY4" fmla="*/ 0 h 11121"/>
                <a:gd name="connsiteX0" fmla="*/ 4246 w 10828"/>
                <a:gd name="connsiteY0" fmla="*/ 0 h 11121"/>
                <a:gd name="connsiteX1" fmla="*/ 2915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4246 w 10828"/>
                <a:gd name="connsiteY4" fmla="*/ 0 h 11121"/>
                <a:gd name="connsiteX0" fmla="*/ 5913 w 10828"/>
                <a:gd name="connsiteY0" fmla="*/ 0 h 11121"/>
                <a:gd name="connsiteX1" fmla="*/ 2915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5913 w 10828"/>
                <a:gd name="connsiteY4" fmla="*/ 0 h 11121"/>
                <a:gd name="connsiteX0" fmla="*/ 5913 w 10828"/>
                <a:gd name="connsiteY0" fmla="*/ 0 h 11121"/>
                <a:gd name="connsiteX1" fmla="*/ 4476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5913 w 10828"/>
                <a:gd name="connsiteY4" fmla="*/ 0 h 11121"/>
                <a:gd name="connsiteX0" fmla="*/ 5913 w 10828"/>
                <a:gd name="connsiteY0" fmla="*/ 0 h 11121"/>
                <a:gd name="connsiteX1" fmla="*/ 3774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5913 w 10828"/>
                <a:gd name="connsiteY4" fmla="*/ 0 h 11121"/>
                <a:gd name="connsiteX0" fmla="*/ 5227 w 10828"/>
                <a:gd name="connsiteY0" fmla="*/ 0 h 11380"/>
                <a:gd name="connsiteX1" fmla="*/ 3774 w 10828"/>
                <a:gd name="connsiteY1" fmla="*/ 259 h 11380"/>
                <a:gd name="connsiteX2" fmla="*/ 0 w 10828"/>
                <a:gd name="connsiteY2" fmla="*/ 11380 h 11380"/>
                <a:gd name="connsiteX3" fmla="*/ 10828 w 10828"/>
                <a:gd name="connsiteY3" fmla="*/ 11380 h 11380"/>
                <a:gd name="connsiteX4" fmla="*/ 5227 w 10828"/>
                <a:gd name="connsiteY4" fmla="*/ 0 h 11380"/>
                <a:gd name="connsiteX0" fmla="*/ 5305 w 10828"/>
                <a:gd name="connsiteY0" fmla="*/ 0 h 11121"/>
                <a:gd name="connsiteX1" fmla="*/ 3774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5305 w 10828"/>
                <a:gd name="connsiteY4" fmla="*/ 0 h 11121"/>
                <a:gd name="connsiteX0" fmla="*/ 5784 w 10828"/>
                <a:gd name="connsiteY0" fmla="*/ 0 h 11121"/>
                <a:gd name="connsiteX1" fmla="*/ 3774 w 10828"/>
                <a:gd name="connsiteY1" fmla="*/ 0 h 11121"/>
                <a:gd name="connsiteX2" fmla="*/ 0 w 10828"/>
                <a:gd name="connsiteY2" fmla="*/ 11121 h 11121"/>
                <a:gd name="connsiteX3" fmla="*/ 10828 w 10828"/>
                <a:gd name="connsiteY3" fmla="*/ 11121 h 11121"/>
                <a:gd name="connsiteX4" fmla="*/ 5784 w 10828"/>
                <a:gd name="connsiteY4" fmla="*/ 0 h 11121"/>
                <a:gd name="connsiteX0" fmla="*/ 5784 w 10828"/>
                <a:gd name="connsiteY0" fmla="*/ 396 h 11517"/>
                <a:gd name="connsiteX1" fmla="*/ 4431 w 10828"/>
                <a:gd name="connsiteY1" fmla="*/ 0 h 11517"/>
                <a:gd name="connsiteX2" fmla="*/ 0 w 10828"/>
                <a:gd name="connsiteY2" fmla="*/ 11517 h 11517"/>
                <a:gd name="connsiteX3" fmla="*/ 10828 w 10828"/>
                <a:gd name="connsiteY3" fmla="*/ 11517 h 11517"/>
                <a:gd name="connsiteX4" fmla="*/ 5784 w 10828"/>
                <a:gd name="connsiteY4" fmla="*/ 396 h 11517"/>
                <a:gd name="connsiteX0" fmla="*/ 5784 w 10828"/>
                <a:gd name="connsiteY0" fmla="*/ 1216 h 12337"/>
                <a:gd name="connsiteX1" fmla="*/ 1385 w 10828"/>
                <a:gd name="connsiteY1" fmla="*/ 0 h 12337"/>
                <a:gd name="connsiteX2" fmla="*/ 0 w 10828"/>
                <a:gd name="connsiteY2" fmla="*/ 12337 h 12337"/>
                <a:gd name="connsiteX3" fmla="*/ 10828 w 10828"/>
                <a:gd name="connsiteY3" fmla="*/ 12337 h 12337"/>
                <a:gd name="connsiteX4" fmla="*/ 5784 w 10828"/>
                <a:gd name="connsiteY4" fmla="*/ 1216 h 12337"/>
                <a:gd name="connsiteX0" fmla="*/ 3190 w 10828"/>
                <a:gd name="connsiteY0" fmla="*/ 232 h 12337"/>
                <a:gd name="connsiteX1" fmla="*/ 1385 w 10828"/>
                <a:gd name="connsiteY1" fmla="*/ 0 h 12337"/>
                <a:gd name="connsiteX2" fmla="*/ 0 w 10828"/>
                <a:gd name="connsiteY2" fmla="*/ 12337 h 12337"/>
                <a:gd name="connsiteX3" fmla="*/ 10828 w 10828"/>
                <a:gd name="connsiteY3" fmla="*/ 12337 h 12337"/>
                <a:gd name="connsiteX4" fmla="*/ 3190 w 10828"/>
                <a:gd name="connsiteY4" fmla="*/ 232 h 12337"/>
                <a:gd name="connsiteX0" fmla="*/ 3162 w 10828"/>
                <a:gd name="connsiteY0" fmla="*/ 0 h 12433"/>
                <a:gd name="connsiteX1" fmla="*/ 1385 w 10828"/>
                <a:gd name="connsiteY1" fmla="*/ 96 h 12433"/>
                <a:gd name="connsiteX2" fmla="*/ 0 w 10828"/>
                <a:gd name="connsiteY2" fmla="*/ 12433 h 12433"/>
                <a:gd name="connsiteX3" fmla="*/ 10828 w 10828"/>
                <a:gd name="connsiteY3" fmla="*/ 12433 h 12433"/>
                <a:gd name="connsiteX4" fmla="*/ 3162 w 10828"/>
                <a:gd name="connsiteY4" fmla="*/ 0 h 1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28" h="12433">
                  <a:moveTo>
                    <a:pt x="3162" y="0"/>
                  </a:moveTo>
                  <a:lnTo>
                    <a:pt x="1385" y="96"/>
                  </a:lnTo>
                  <a:lnTo>
                    <a:pt x="0" y="12433"/>
                  </a:lnTo>
                  <a:lnTo>
                    <a:pt x="10828" y="12433"/>
                  </a:lnTo>
                  <a:lnTo>
                    <a:pt x="3162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678B4">
                    <a:lumMod val="60000"/>
                    <a:lumOff val="40000"/>
                    <a:tint val="66000"/>
                    <a:satMod val="160000"/>
                  </a:srgbClr>
                </a:gs>
                <a:gs pos="50000">
                  <a:srgbClr val="4678B4">
                    <a:lumMod val="60000"/>
                    <a:lumOff val="40000"/>
                    <a:tint val="44500"/>
                    <a:satMod val="160000"/>
                  </a:srgbClr>
                </a:gs>
                <a:gs pos="100000">
                  <a:srgbClr val="4678B4">
                    <a:lumMod val="60000"/>
                    <a:lumOff val="40000"/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635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wrap="square" lIns="54000" tIns="0" rIns="54000" bIns="0">
              <a:noAutofit/>
            </a:bodyPr>
            <a:lstStyle/>
            <a:p>
              <a:pPr marL="0" marR="0" lvl="0" indent="0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Char char="•"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50"/>
            <p:cNvSpPr>
              <a:spLocks noChangeArrowheads="1"/>
            </p:cNvSpPr>
            <p:nvPr/>
          </p:nvSpPr>
          <p:spPr bwMode="auto">
            <a:xfrm>
              <a:off x="732230" y="3248980"/>
              <a:ext cx="8721269" cy="2965532"/>
            </a:xfrm>
            <a:prstGeom prst="rect">
              <a:avLst/>
            </a:prstGeom>
            <a:noFill/>
            <a:ln w="76200">
              <a:solidFill>
                <a:srgbClr val="4678B4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/>
          </p:spPr>
          <p:txBody>
            <a:bodyPr lIns="54000" tIns="0" rIns="54000" bIns="0" anchor="ctr">
              <a:noAutofit/>
            </a:bodyPr>
            <a:lstStyle/>
            <a:p>
              <a:pPr marL="0" marR="0" lvl="0" indent="0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Char char="•"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5" name="그룹 43"/>
            <p:cNvGrpSpPr/>
            <p:nvPr/>
          </p:nvGrpSpPr>
          <p:grpSpPr>
            <a:xfrm>
              <a:off x="1832511" y="2060849"/>
              <a:ext cx="6572721" cy="648000"/>
              <a:chOff x="2012511" y="2060849"/>
              <a:chExt cx="6572721" cy="648000"/>
            </a:xfrm>
          </p:grpSpPr>
          <p:sp>
            <p:nvSpPr>
              <p:cNvPr id="45" name="AutoShape 40"/>
              <p:cNvSpPr>
                <a:spLocks noChangeArrowheads="1"/>
              </p:cNvSpPr>
              <p:nvPr/>
            </p:nvSpPr>
            <p:spPr bwMode="auto">
              <a:xfrm>
                <a:off x="2012511" y="2060849"/>
                <a:ext cx="1987742" cy="648000"/>
              </a:xfrm>
              <a:prstGeom prst="homePlate">
                <a:avLst>
                  <a:gd name="adj" fmla="val 32238"/>
                </a:avLst>
              </a:prstGeom>
              <a:solidFill>
                <a:srgbClr val="4678B4">
                  <a:lumMod val="40000"/>
                  <a:lumOff val="60000"/>
                </a:srgbClr>
              </a:solidFill>
              <a:ln w="6350" algn="ctr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ysClr val="windowText" lastClr="000000">
                    <a:lumMod val="50000"/>
                    <a:lumOff val="50000"/>
                  </a:sysClr>
                </a:outerShdw>
              </a:effectLst>
            </p:spPr>
            <p:txBody>
              <a:bodyPr wrap="none" lIns="72000" tIns="0" rIns="0" bIns="7200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840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방향성 수립</a:t>
                </a:r>
              </a:p>
            </p:txBody>
          </p:sp>
          <p:sp>
            <p:nvSpPr>
              <p:cNvPr id="46" name="AutoShape 43"/>
              <p:cNvSpPr>
                <a:spLocks noChangeArrowheads="1"/>
              </p:cNvSpPr>
              <p:nvPr/>
            </p:nvSpPr>
            <p:spPr bwMode="auto">
              <a:xfrm>
                <a:off x="4305000" y="2060849"/>
                <a:ext cx="1987742" cy="648000"/>
              </a:xfrm>
              <a:prstGeom prst="chevron">
                <a:avLst>
                  <a:gd name="adj" fmla="val 31461"/>
                </a:avLst>
              </a:prstGeom>
              <a:solidFill>
                <a:sysClr val="window" lastClr="FFFFFF"/>
              </a:solidFill>
              <a:ln w="6350" algn="ctr">
                <a:solidFill>
                  <a:sysClr val="windowText" lastClr="000000">
                    <a:lumMod val="65000"/>
                    <a:lumOff val="35000"/>
                  </a:sysClr>
                </a:solidFill>
                <a:miter lim="800000"/>
                <a:headEnd/>
                <a:tailEnd/>
              </a:ln>
              <a:effectLst>
                <a:outerShdw blurRad="38100" dist="25400" dir="2700000" algn="tl" rotWithShape="0">
                  <a:sysClr val="window" lastClr="FFFFFF">
                    <a:lumMod val="50000"/>
                  </a:sysClr>
                </a:outerShdw>
              </a:effectLst>
            </p:spPr>
            <p:txBody>
              <a:bodyPr wrap="none" lIns="72000" tIns="0" rIns="0" bIns="7200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840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</a:rPr>
                  <a:t>목표모델 설계</a:t>
                </a:r>
              </a:p>
            </p:txBody>
          </p:sp>
          <p:sp>
            <p:nvSpPr>
              <p:cNvPr id="48" name="AutoShape 43"/>
              <p:cNvSpPr>
                <a:spLocks noChangeArrowheads="1"/>
              </p:cNvSpPr>
              <p:nvPr/>
            </p:nvSpPr>
            <p:spPr bwMode="auto">
              <a:xfrm>
                <a:off x="6597490" y="2060849"/>
                <a:ext cx="1987742" cy="648000"/>
              </a:xfrm>
              <a:prstGeom prst="chevron">
                <a:avLst>
                  <a:gd name="adj" fmla="val 31461"/>
                </a:avLst>
              </a:prstGeom>
              <a:solidFill>
                <a:sysClr val="window" lastClr="FFFFFF"/>
              </a:solidFill>
              <a:ln w="6350" algn="ctr">
                <a:solidFill>
                  <a:sysClr val="windowText" lastClr="000000">
                    <a:lumMod val="65000"/>
                    <a:lumOff val="35000"/>
                  </a:sysClr>
                </a:solidFill>
                <a:miter lim="800000"/>
                <a:headEnd/>
                <a:tailEnd/>
              </a:ln>
              <a:effectLst>
                <a:outerShdw blurRad="38100" dist="25400" dir="2700000" algn="tl" rotWithShape="0">
                  <a:sysClr val="window" lastClr="FFFFFF">
                    <a:lumMod val="50000"/>
                  </a:sysClr>
                </a:outerShdw>
              </a:effectLst>
            </p:spPr>
            <p:txBody>
              <a:bodyPr wrap="none" lIns="72000" tIns="0" rIns="0" bIns="7200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8400"/>
                  </a:buClr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</a:rPr>
                  <a:t>이행계획 수립</a:t>
                </a:r>
              </a:p>
            </p:txBody>
          </p:sp>
        </p:grpSp>
      </p:grpSp>
      <p:grpSp>
        <p:nvGrpSpPr>
          <p:cNvPr id="35" name="그룹 34"/>
          <p:cNvGrpSpPr/>
          <p:nvPr/>
        </p:nvGrpSpPr>
        <p:grpSpPr>
          <a:xfrm>
            <a:off x="849000" y="3393849"/>
            <a:ext cx="8208000" cy="2699446"/>
            <a:chOff x="869253" y="3370278"/>
            <a:chExt cx="7972180" cy="2775655"/>
          </a:xfrm>
        </p:grpSpPr>
        <p:sp>
          <p:nvSpPr>
            <p:cNvPr id="32" name="Rectangle 51"/>
            <p:cNvSpPr>
              <a:spLocks noChangeArrowheads="1"/>
            </p:cNvSpPr>
            <p:nvPr/>
          </p:nvSpPr>
          <p:spPr bwMode="auto">
            <a:xfrm>
              <a:off x="2541100" y="3429315"/>
              <a:ext cx="3312000" cy="910372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  <a:effectLst>
              <a:outerShdw blurRad="50800" dist="25400" dir="2700000" algn="tl" rotWithShape="0">
                <a:sysClr val="windowText" lastClr="000000">
                  <a:lumMod val="50000"/>
                  <a:lumOff val="50000"/>
                </a:sysClr>
              </a:outerShdw>
            </a:effectLst>
          </p:spPr>
          <p:txBody>
            <a:bodyPr wrap="none" lIns="36000" tIns="72000" rIns="36000" bIns="36000" anchor="t" anchorCtr="1"/>
            <a:lstStyle/>
            <a:p>
              <a:pPr marL="0" marR="0" lvl="0" indent="0" algn="ctr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lang="ko-KR" altLang="en-US" sz="1100" b="1" kern="0" dirty="0">
                  <a:solidFill>
                    <a:prstClr val="black"/>
                  </a:solidFill>
                </a:rPr>
                <a:t>환경분석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51"/>
            <p:cNvSpPr>
              <a:spLocks noChangeArrowheads="1"/>
            </p:cNvSpPr>
            <p:nvPr/>
          </p:nvSpPr>
          <p:spPr bwMode="auto">
            <a:xfrm>
              <a:off x="2613110" y="3798273"/>
              <a:ext cx="100800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시스템환경분석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AutoShape 64"/>
            <p:cNvSpPr>
              <a:spLocks noChangeArrowheads="1"/>
            </p:cNvSpPr>
            <p:nvPr/>
          </p:nvSpPr>
          <p:spPr bwMode="auto">
            <a:xfrm>
              <a:off x="884916" y="4537443"/>
              <a:ext cx="1386269" cy="720000"/>
            </a:xfrm>
            <a:prstGeom prst="wedgeRectCallout">
              <a:avLst>
                <a:gd name="adj1" fmla="val 69206"/>
                <a:gd name="adj2" fmla="val -21382"/>
              </a:avLst>
            </a:prstGeom>
            <a:solidFill>
              <a:sysClr val="window" lastClr="FFFFFF"/>
            </a:solidFill>
            <a:ln w="6350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36000" rIns="54000" bIns="36000" anchor="ctr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10000"/>
                </a:spcBef>
                <a:spcAft>
                  <a:spcPct val="0"/>
                </a:spcAft>
                <a:buClr>
                  <a:prstClr val="black"/>
                </a:buClr>
                <a:buSzPct val="80000"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본사업의 현실적인 목표 설정 및 범위 도출을 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위해 현행시스템 분석을 통한 시스템 개선 방향을 도출함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AutoShape 64"/>
            <p:cNvSpPr>
              <a:spLocks noChangeArrowheads="1"/>
            </p:cNvSpPr>
            <p:nvPr/>
          </p:nvSpPr>
          <p:spPr bwMode="auto">
            <a:xfrm>
              <a:off x="6970473" y="3389066"/>
              <a:ext cx="1545674" cy="720144"/>
            </a:xfrm>
            <a:prstGeom prst="wedgeRectCallout">
              <a:avLst>
                <a:gd name="adj1" fmla="val -11698"/>
                <a:gd name="adj2" fmla="val 73431"/>
              </a:avLst>
            </a:prstGeom>
            <a:solidFill>
              <a:sysClr val="window" lastClr="FFFFFF"/>
            </a:solidFill>
            <a:ln w="6350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36000" rIns="54000" bIns="36000" anchor="ctr"/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10000"/>
                </a:spcBef>
                <a:spcAft>
                  <a:spcPct val="0"/>
                </a:spcAft>
                <a:buClr>
                  <a:prstClr val="black"/>
                </a:buClr>
                <a:buSzPct val="80000"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경영정보시스템 개선을 위한  추진 방향 및 추진 범위 정의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xmlns="" id="{4E6DF8E0-C694-4CC8-8FD4-87BD18CF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229" y="3798273"/>
              <a:ext cx="100800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운영환경분석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Rectangle 51">
              <a:extLst>
                <a:ext uri="{FF2B5EF4-FFF2-40B4-BE49-F238E27FC236}">
                  <a16:creationId xmlns:a16="http://schemas.microsoft.com/office/drawing/2014/main" xmlns="" id="{24493125-B033-44F5-8A84-99F5BF8C1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188" y="4339687"/>
              <a:ext cx="2196245" cy="991796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6350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  <a:effectLst>
              <a:outerShdw blurRad="50800" dist="25400" dir="2700000" algn="tl" rotWithShape="0">
                <a:sysClr val="windowText" lastClr="000000">
                  <a:lumMod val="50000"/>
                  <a:lumOff val="50000"/>
                </a:sysClr>
              </a:outerShdw>
            </a:effectLst>
          </p:spPr>
          <p:txBody>
            <a:bodyPr wrap="square" lIns="36000" tIns="36000" rIns="36000" bIns="36000" anchor="t" anchorCtr="1"/>
            <a:lstStyle/>
            <a:p>
              <a:pPr algn="ctr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</a:pPr>
              <a:r>
                <a:rPr lang="ko-KR" altLang="en-US" sz="1100" b="1" kern="0" dirty="0">
                  <a:solidFill>
                    <a:prstClr val="white"/>
                  </a:solidFill>
                </a:rPr>
                <a:t>방향성 수립</a:t>
              </a:r>
            </a:p>
          </p:txBody>
        </p:sp>
        <p:sp>
          <p:nvSpPr>
            <p:cNvPr id="59" name="Rectangle 51">
              <a:extLst>
                <a:ext uri="{FF2B5EF4-FFF2-40B4-BE49-F238E27FC236}">
                  <a16:creationId xmlns:a16="http://schemas.microsoft.com/office/drawing/2014/main" xmlns="" id="{2A76C1F7-ECB1-4D31-BE80-91B87550F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4971" y="4682855"/>
              <a:ext cx="1511176" cy="425983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추진방향 도출 및</a:t>
              </a:r>
              <a:endPara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추진 범위 정의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51">
              <a:extLst>
                <a:ext uri="{FF2B5EF4-FFF2-40B4-BE49-F238E27FC236}">
                  <a16:creationId xmlns:a16="http://schemas.microsoft.com/office/drawing/2014/main" xmlns="" id="{4E6DF8E0-C694-4CC8-8FD4-87BD18CF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3348" y="3798273"/>
              <a:ext cx="100800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최신정보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기술동향분석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Rectangle 51"/>
            <p:cNvSpPr>
              <a:spLocks noChangeArrowheads="1"/>
            </p:cNvSpPr>
            <p:nvPr/>
          </p:nvSpPr>
          <p:spPr bwMode="auto">
            <a:xfrm>
              <a:off x="2541100" y="4596092"/>
              <a:ext cx="3312000" cy="1549841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  <a:effectLst>
              <a:outerShdw blurRad="50800" dist="25400" dir="2700000" algn="tl" rotWithShape="0">
                <a:sysClr val="windowText" lastClr="000000">
                  <a:lumMod val="50000"/>
                  <a:lumOff val="50000"/>
                </a:sysClr>
              </a:outerShdw>
            </a:effectLst>
          </p:spPr>
          <p:txBody>
            <a:bodyPr wrap="none" lIns="36000" tIns="72000" rIns="36000" bIns="36000" anchor="t" anchorCtr="1"/>
            <a:lstStyle/>
            <a:p>
              <a:pPr marL="0" marR="0" lvl="0" indent="0" algn="ctr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현행시스템 분석</a:t>
              </a:r>
              <a:endPara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Rectangle 51"/>
            <p:cNvSpPr>
              <a:spLocks noChangeArrowheads="1"/>
            </p:cNvSpPr>
            <p:nvPr/>
          </p:nvSpPr>
          <p:spPr bwMode="auto">
            <a:xfrm>
              <a:off x="2613110" y="4887372"/>
              <a:ext cx="100800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업무기능 분석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Rectangle 51">
              <a:extLst>
                <a:ext uri="{FF2B5EF4-FFF2-40B4-BE49-F238E27FC236}">
                  <a16:creationId xmlns:a16="http://schemas.microsoft.com/office/drawing/2014/main" xmlns="" id="{4E6DF8E0-C694-4CC8-8FD4-87BD18CF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229" y="4887372"/>
              <a:ext cx="100800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lvl="0" algn="ctr" eaLnBrk="0" fontAlgn="base" latinLnBrk="0" hangingPunct="0">
                <a:spcAft>
                  <a:spcPct val="0"/>
                </a:spcAft>
                <a:buClr>
                  <a:srgbClr val="008400"/>
                </a:buClr>
                <a:defRPr/>
              </a:pPr>
              <a:r>
                <a:rPr lang="en-US" altLang="ko-KR" sz="1000" kern="0">
                  <a:solidFill>
                    <a:prstClr val="black"/>
                  </a:solidFill>
                </a:rPr>
                <a:t>DATABASE</a:t>
              </a:r>
              <a:r>
                <a:rPr lang="ko-KR" altLang="en-US" sz="1000" kern="0">
                  <a:solidFill>
                    <a:prstClr val="black"/>
                  </a:solidFill>
                </a:rPr>
                <a:t>분석</a:t>
              </a:r>
              <a:endParaRPr lang="en-US" altLang="ko-KR" sz="1000" kern="0" dirty="0">
                <a:solidFill>
                  <a:prstClr val="black"/>
                </a:solidFill>
              </a:endParaRPr>
            </a:p>
          </p:txBody>
        </p:sp>
        <p:sp>
          <p:nvSpPr>
            <p:cNvPr id="75" name="Rectangle 51">
              <a:extLst>
                <a:ext uri="{FF2B5EF4-FFF2-40B4-BE49-F238E27FC236}">
                  <a16:creationId xmlns:a16="http://schemas.microsoft.com/office/drawing/2014/main" xmlns="" id="{4E6DF8E0-C694-4CC8-8FD4-87BD18CF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3348" y="4899484"/>
              <a:ext cx="100800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운영 현황 분석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Rectangle 51">
              <a:extLst>
                <a:ext uri="{FF2B5EF4-FFF2-40B4-BE49-F238E27FC236}">
                  <a16:creationId xmlns:a16="http://schemas.microsoft.com/office/drawing/2014/main" xmlns="" id="{4E6DF8E0-C694-4CC8-8FD4-87BD18CF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109" y="5620934"/>
              <a:ext cx="1584120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문제점 도출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Rectangle 51">
              <a:extLst>
                <a:ext uri="{FF2B5EF4-FFF2-40B4-BE49-F238E27FC236}">
                  <a16:creationId xmlns:a16="http://schemas.microsoft.com/office/drawing/2014/main" xmlns="" id="{4E6DF8E0-C694-4CC8-8FD4-87BD18CF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932" y="5633046"/>
              <a:ext cx="1440416" cy="4320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 anchorCtr="1"/>
            <a:lstStyle/>
            <a:p>
              <a:pPr lvl="0" algn="ctr" eaLnBrk="0" fontAlgn="base" latinLnBrk="0" hangingPunct="0">
                <a:spcAft>
                  <a:spcPct val="0"/>
                </a:spcAft>
                <a:buClr>
                  <a:srgbClr val="008400"/>
                </a:buClr>
                <a:defRPr/>
              </a:pPr>
              <a:r>
                <a:rPr lang="ko-KR" altLang="en-US" sz="1000" kern="0">
                  <a:solidFill>
                    <a:prstClr val="black"/>
                  </a:solidFill>
                </a:rPr>
                <a:t>시스템 개선 방향 </a:t>
              </a:r>
              <a:endParaRPr lang="en-US" altLang="ko-KR" sz="1000" kern="0" dirty="0">
                <a:solidFill>
                  <a:prstClr val="black"/>
                </a:solidFill>
              </a:endParaRPr>
            </a:p>
          </p:txBody>
        </p:sp>
        <p:sp>
          <p:nvSpPr>
            <p:cNvPr id="80" name="AutoShape 64"/>
            <p:cNvSpPr>
              <a:spLocks noChangeArrowheads="1"/>
            </p:cNvSpPr>
            <p:nvPr/>
          </p:nvSpPr>
          <p:spPr bwMode="auto">
            <a:xfrm>
              <a:off x="869253" y="3370278"/>
              <a:ext cx="1386269" cy="720000"/>
            </a:xfrm>
            <a:prstGeom prst="wedgeRectCallout">
              <a:avLst>
                <a:gd name="adj1" fmla="val 69206"/>
                <a:gd name="adj2" fmla="val -21382"/>
              </a:avLst>
            </a:prstGeom>
            <a:solidFill>
              <a:sysClr val="window" lastClr="FFFFFF"/>
            </a:solidFill>
            <a:ln w="6350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36000" rIns="54000" bIns="36000" anchor="ctr"/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10000"/>
                </a:spcBef>
                <a:spcAft>
                  <a:spcPct val="0"/>
                </a:spcAft>
                <a:buClr>
                  <a:prstClr val="black"/>
                </a:buClr>
                <a:buSzPct val="80000"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시스템 환경분석과 </a:t>
              </a: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운영환경 분석 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및 최신정보기술 </a:t>
              </a: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동향 분석을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통해 </a:t>
              </a: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구축 방향성을</a:t>
              </a:r>
              <a:r>
                <a:rPr kumimoji="0" lang="ko-KR" altLang="en-US" sz="900" b="0" i="0" u="none" strike="noStrike" kern="0" cap="none" spc="0" normalizeH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</a:t>
              </a:r>
              <a:r>
                <a:rPr kumimoji="0" lang="ko-KR" altLang="en-US" sz="9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도출함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81" name="AutoShape 58"/>
            <p:cNvCxnSpPr>
              <a:cxnSpLocks noChangeShapeType="1"/>
              <a:stCxn id="32" idx="3"/>
              <a:endCxn id="58" idx="1"/>
            </p:cNvCxnSpPr>
            <p:nvPr/>
          </p:nvCxnSpPr>
          <p:spPr bwMode="auto">
            <a:xfrm>
              <a:off x="5853100" y="3884502"/>
              <a:ext cx="792088" cy="951084"/>
            </a:xfrm>
            <a:prstGeom prst="bentConnector3">
              <a:avLst>
                <a:gd name="adj1" fmla="val 50000"/>
              </a:avLst>
            </a:prstGeom>
            <a:noFill/>
            <a:ln w="6350">
              <a:solidFill>
                <a:sysClr val="windowText" lastClr="000000">
                  <a:lumMod val="65000"/>
                  <a:lumOff val="35000"/>
                </a:sysClr>
              </a:solidFill>
              <a:miter lim="800000"/>
              <a:headEnd/>
              <a:tailEnd type="triangle" w="med" len="med"/>
            </a:ln>
            <a:effectLst/>
          </p:spPr>
        </p:cxnSp>
        <p:cxnSp>
          <p:nvCxnSpPr>
            <p:cNvPr id="82" name="AutoShape 58"/>
            <p:cNvCxnSpPr>
              <a:cxnSpLocks noChangeShapeType="1"/>
              <a:stCxn id="72" idx="3"/>
              <a:endCxn id="58" idx="1"/>
            </p:cNvCxnSpPr>
            <p:nvPr/>
          </p:nvCxnSpPr>
          <p:spPr bwMode="auto">
            <a:xfrm flipV="1">
              <a:off x="5853100" y="4835586"/>
              <a:ext cx="792088" cy="535427"/>
            </a:xfrm>
            <a:prstGeom prst="bentConnector3">
              <a:avLst>
                <a:gd name="adj1" fmla="val 50000"/>
              </a:avLst>
            </a:prstGeom>
            <a:noFill/>
            <a:ln w="6350">
              <a:solidFill>
                <a:sysClr val="windowText" lastClr="000000">
                  <a:lumMod val="65000"/>
                  <a:lumOff val="35000"/>
                </a:sysClr>
              </a:solidFill>
              <a:miter lim="800000"/>
              <a:headEnd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655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개요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dirty="0"/>
              <a:t>환경 분석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00437A"/>
                </a:solidFill>
              </a:rPr>
              <a:t>2.1 </a:t>
            </a:r>
            <a:r>
              <a:rPr lang="ko-KR" altLang="en-US" dirty="0">
                <a:solidFill>
                  <a:srgbClr val="00437A"/>
                </a:solidFill>
              </a:rPr>
              <a:t>수행절차 및 방안 정의</a:t>
            </a:r>
            <a:endParaRPr lang="en-US" altLang="ko-KR" dirty="0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2.2 </a:t>
            </a:r>
            <a:r>
              <a:rPr lang="ko-KR" altLang="en-US">
                <a:solidFill>
                  <a:srgbClr val="00437A"/>
                </a:solidFill>
              </a:rPr>
              <a:t>시스템 환경 </a:t>
            </a:r>
            <a:r>
              <a:rPr lang="ko-KR" altLang="en-US" dirty="0">
                <a:solidFill>
                  <a:srgbClr val="00437A"/>
                </a:solidFill>
              </a:rPr>
              <a:t>분석</a:t>
            </a:r>
            <a:endParaRPr lang="en-US" altLang="ko-KR" dirty="0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2.3 </a:t>
            </a:r>
            <a:r>
              <a:rPr lang="ko-KR" altLang="en-US">
                <a:solidFill>
                  <a:srgbClr val="00437A"/>
                </a:solidFill>
              </a:rPr>
              <a:t>시스템 업무기능 </a:t>
            </a:r>
            <a:r>
              <a:rPr lang="ko-KR" altLang="en-US" dirty="0">
                <a:solidFill>
                  <a:srgbClr val="00437A"/>
                </a:solidFill>
              </a:rPr>
              <a:t>분석</a:t>
            </a:r>
            <a:endParaRPr lang="en-US" altLang="ko-KR" dirty="0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00437A"/>
                </a:solidFill>
              </a:rPr>
              <a:t>2.4 </a:t>
            </a:r>
            <a:r>
              <a:rPr lang="ko-KR" altLang="en-US" dirty="0">
                <a:solidFill>
                  <a:srgbClr val="00437A"/>
                </a:solidFill>
              </a:rPr>
              <a:t>최신 정보기술 동향 분석</a:t>
            </a:r>
            <a:endParaRPr lang="en-US" altLang="ko-KR" dirty="0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2.5 </a:t>
            </a:r>
            <a:r>
              <a:rPr lang="ko-KR" altLang="en-US">
                <a:solidFill>
                  <a:srgbClr val="00437A"/>
                </a:solidFill>
              </a:rPr>
              <a:t>환경 분석 </a:t>
            </a:r>
            <a:r>
              <a:rPr lang="ko-KR" altLang="en-US" dirty="0">
                <a:solidFill>
                  <a:srgbClr val="00437A"/>
                </a:solidFill>
              </a:rPr>
              <a:t>결과 종합</a:t>
            </a:r>
            <a:r>
              <a:rPr lang="en-US" altLang="ko-KR" dirty="0">
                <a:solidFill>
                  <a:srgbClr val="00437A"/>
                </a:solidFill>
              </a:rPr>
              <a:t> 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방향성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정의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Ⅱ. </a:t>
            </a:r>
            <a:r>
              <a:rPr lang="ko-KR" altLang="en-US" sz="2400" b="1" spc="-300" dirty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방향성 수립</a:t>
            </a:r>
            <a:endParaRPr lang="en-US" altLang="ko-KR" sz="2400" b="1" spc="-300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24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환경분석 </a:t>
            </a:r>
            <a:r>
              <a:rPr lang="ko-KR" altLang="en-US" sz="1600"/>
              <a:t>단계에서는 </a:t>
            </a:r>
            <a:r>
              <a:rPr lang="ko-KR" altLang="en-US" sz="1600" smtClean="0"/>
              <a:t>시스템 내</a:t>
            </a:r>
            <a:r>
              <a:rPr lang="ko-KR" altLang="en-US" sz="1600" dirty="0"/>
              <a:t>∙외부 환경과 최신 정보기술 동향에 대한 이해를 통해 시사점을 파악하여</a:t>
            </a:r>
            <a:r>
              <a:rPr lang="en-US" altLang="ko-KR" sz="1600"/>
              <a:t>, </a:t>
            </a:r>
            <a:r>
              <a:rPr lang="ko-KR" altLang="en-US" sz="1600"/>
              <a:t>경영정보시스템 개선을 </a:t>
            </a:r>
            <a:r>
              <a:rPr lang="ko-KR" altLang="en-US" sz="1600" dirty="0"/>
              <a:t>위한 방향성을 정립함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수행절차 및 방안 정의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수행절차 및 방안 정의</a:t>
            </a:r>
            <a:endParaRPr lang="en-US" altLang="ko-KR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xmlns="" id="{4971C708-4330-43A6-BB03-2783B6E1B783}"/>
              </a:ext>
            </a:extLst>
          </p:cNvPr>
          <p:cNvSpPr/>
          <p:nvPr/>
        </p:nvSpPr>
        <p:spPr bwMode="auto">
          <a:xfrm>
            <a:off x="344488" y="1528881"/>
            <a:ext cx="1236293" cy="636031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 dirty="0">
                <a:solidFill>
                  <a:schemeClr val="bg1"/>
                </a:solidFill>
              </a:rPr>
              <a:t>분석목적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xmlns="" id="{03D717DA-DAB2-4F11-822E-C9036E77810B}"/>
              </a:ext>
            </a:extLst>
          </p:cNvPr>
          <p:cNvSpPr/>
          <p:nvPr/>
        </p:nvSpPr>
        <p:spPr bwMode="auto">
          <a:xfrm>
            <a:off x="1674348" y="1528880"/>
            <a:ext cx="7848164" cy="634919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108000" tIns="72000" rIns="36000" bIns="72000" rtlCol="0" anchor="ctr"/>
          <a:lstStyle/>
          <a:p>
            <a:pPr marL="93663" lvl="0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경영정보시스템과 연관된 내∙외부 환경변화와 최신 정보기술 동향 분석을 </a:t>
            </a:r>
            <a:r>
              <a:rPr lang="ko-KR" altLang="en-US" sz="1200" b="1" ker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통해 현행 경영정보시스템 개선 </a:t>
            </a:r>
            <a:r>
              <a:rPr lang="ko-KR" altLang="en-US" sz="12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방향성을 수립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xmlns="" id="{25DA8CDC-D248-4210-99F3-77CF4E091E0D}"/>
              </a:ext>
            </a:extLst>
          </p:cNvPr>
          <p:cNvSpPr/>
          <p:nvPr/>
        </p:nvSpPr>
        <p:spPr bwMode="auto">
          <a:xfrm>
            <a:off x="344488" y="2247683"/>
            <a:ext cx="1236293" cy="972000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 dirty="0">
                <a:solidFill>
                  <a:schemeClr val="bg1"/>
                </a:solidFill>
              </a:rPr>
              <a:t>수행 업무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xmlns="" id="{DDBD85BD-0319-4CDD-81B5-C3CEFA468A52}"/>
              </a:ext>
            </a:extLst>
          </p:cNvPr>
          <p:cNvSpPr/>
          <p:nvPr/>
        </p:nvSpPr>
        <p:spPr bwMode="auto">
          <a:xfrm>
            <a:off x="1674348" y="2247682"/>
            <a:ext cx="7848164" cy="972000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108000" tIns="72000" rIns="36000" bIns="72000" rtlCol="0" anchor="ctr"/>
          <a:lstStyle/>
          <a:p>
            <a:pPr marL="93663" lvl="0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kern="0" spc="-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본 사업범위 </a:t>
            </a:r>
            <a:r>
              <a:rPr lang="ko-KR" altLang="en-US" sz="1200" b="1" kern="0" spc="-1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관련 시스템 운영환경과</a:t>
            </a:r>
            <a:r>
              <a:rPr lang="en-US" altLang="ko-KR" sz="1200" b="1" kern="0" spc="-1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200" b="1" kern="0" spc="-1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내부 업무 </a:t>
            </a:r>
            <a:r>
              <a:rPr lang="ko-KR" altLang="en-US" sz="1200" b="1" kern="0" spc="-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분석을 </a:t>
            </a:r>
            <a:r>
              <a:rPr lang="ko-KR" altLang="en-US" sz="1200" b="1" kern="0" spc="-1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통한 사업 방향의 </a:t>
            </a:r>
            <a:r>
              <a:rPr lang="ko-KR" altLang="en-US" sz="1200" b="1" kern="0" spc="-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시사점 도출</a:t>
            </a:r>
            <a:endParaRPr lang="en-US" altLang="ko-KR" sz="1200" b="1" kern="0" spc="-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3663" lvl="0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kern="0" spc="-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정보화 환경에 영향을 주는 최신 정보기술 동향 분석</a:t>
            </a:r>
            <a:r>
              <a:rPr kumimoji="0" lang="ko-KR" altLang="en-US" sz="12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을 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통해 경영정보시스템 개선 적용점 </a:t>
            </a:r>
            <a:r>
              <a:rPr kumimoji="0" lang="ko-KR" altLang="en-US" sz="12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도출</a:t>
            </a:r>
            <a:endParaRPr kumimoji="0" lang="en-US" altLang="ko-KR" sz="12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93663" lvl="0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kern="0" spc="-1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경영정보시스템 개선 </a:t>
            </a:r>
            <a:r>
              <a:rPr lang="ko-KR" altLang="en-US" sz="1200" b="1" kern="0" spc="-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방향성 수립을 위한 환경분석 관점의 시사점 도출</a:t>
            </a:r>
            <a:endParaRPr kumimoji="0" lang="en-US" altLang="ko-KR" sz="1200" b="1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5" name="이등변 삼각형 184">
            <a:extLst>
              <a:ext uri="{FF2B5EF4-FFF2-40B4-BE49-F238E27FC236}">
                <a16:creationId xmlns:a16="http://schemas.microsoft.com/office/drawing/2014/main" xmlns="" id="{EBA556C0-4EB3-4B72-8072-B64D367174AB}"/>
              </a:ext>
            </a:extLst>
          </p:cNvPr>
          <p:cNvSpPr/>
          <p:nvPr/>
        </p:nvSpPr>
        <p:spPr bwMode="auto">
          <a:xfrm flipV="1">
            <a:off x="3726371" y="5373216"/>
            <a:ext cx="2197465" cy="221941"/>
          </a:xfrm>
          <a:prstGeom prst="triangle">
            <a:avLst/>
          </a:prstGeom>
          <a:solidFill>
            <a:srgbClr val="4678B4">
              <a:lumMod val="60000"/>
              <a:lumOff val="4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marR="0" lvl="0" indent="-85725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xmlns="" id="{FBF839FF-3329-4AF2-9EFA-955151901F75}"/>
              </a:ext>
            </a:extLst>
          </p:cNvPr>
          <p:cNvSpPr/>
          <p:nvPr/>
        </p:nvSpPr>
        <p:spPr bwMode="auto">
          <a:xfrm>
            <a:off x="344488" y="3621989"/>
            <a:ext cx="2929844" cy="1679219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36000" tIns="72000" rIns="36000" bIns="72000" rtlCol="0" anchor="ctr"/>
          <a:lstStyle/>
          <a:p>
            <a:pPr marL="93663" marR="0" lvl="0" indent="-93663" defTabSz="91440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508CD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xmlns="" id="{C453419D-360B-4BE7-A481-A4B124C0B7FD}"/>
              </a:ext>
            </a:extLst>
          </p:cNvPr>
          <p:cNvSpPr/>
          <p:nvPr/>
        </p:nvSpPr>
        <p:spPr bwMode="auto">
          <a:xfrm>
            <a:off x="344488" y="3289077"/>
            <a:ext cx="2929845" cy="332911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>
                <a:solidFill>
                  <a:schemeClr val="bg1"/>
                </a:solidFill>
              </a:rPr>
              <a:t>시스템 운영환경 </a:t>
            </a:r>
            <a:r>
              <a:rPr lang="ko-KR" altLang="en-US" sz="1200" b="1" kern="0" dirty="0">
                <a:solidFill>
                  <a:schemeClr val="bg1"/>
                </a:solidFill>
              </a:rPr>
              <a:t>분석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xmlns="" id="{120E786F-7681-45B7-B8C8-2DD9AE65BA10}"/>
              </a:ext>
            </a:extLst>
          </p:cNvPr>
          <p:cNvSpPr/>
          <p:nvPr/>
        </p:nvSpPr>
        <p:spPr>
          <a:xfrm>
            <a:off x="344926" y="3670231"/>
            <a:ext cx="2929845" cy="48087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171450" lvl="0" indent="-171450" eaLnBrk="0" fontAlgn="base" latinLnBrk="0" hangingPunct="0">
              <a:spcBef>
                <a:spcPct val="35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시스템의 운영 환경 분석을 </a:t>
            </a:r>
            <a:r>
              <a:rPr lang="ko-KR" altLang="en-US" sz="1200" ker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통해  경영정보시스템 개선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방향성 도출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5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05" y="4406044"/>
            <a:ext cx="864000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시스템</a:t>
            </a:r>
            <a:endParaRPr kumimoji="0" lang="en-US" altLang="ko-KR" sz="1100" b="0" i="0" u="none" strike="noStrike" kern="0" cap="none" spc="-1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환경</a:t>
            </a: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7" name="Rectangle 53">
            <a:extLst>
              <a:ext uri="{FF2B5EF4-FFF2-40B4-BE49-F238E27FC236}">
                <a16:creationId xmlns:a16="http://schemas.microsoft.com/office/drawing/2014/main" xmlns="" id="{CE6A39E6-6A41-4350-BBBA-FAD77E7D1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006" y="4406044"/>
            <a:ext cx="864000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운영</a:t>
            </a:r>
            <a:endParaRPr lang="en-US" altLang="ko-KR" sz="1100" kern="0" spc="-15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환경</a:t>
            </a: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9" name="Rectangle 53">
            <a:extLst>
              <a:ext uri="{FF2B5EF4-FFF2-40B4-BE49-F238E27FC236}">
                <a16:creationId xmlns:a16="http://schemas.microsoft.com/office/drawing/2014/main" xmlns="" id="{598C5A54-D29C-4BAB-BDAA-1169D02DB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807" y="4406044"/>
            <a:ext cx="864000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환경개선</a:t>
            </a:r>
            <a:endParaRPr lang="en-US" altLang="ko-KR" sz="1100" kern="0" spc="-15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방향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xmlns="" id="{729898DB-03D2-4ABB-9F81-028520A4EA1C}"/>
              </a:ext>
            </a:extLst>
          </p:cNvPr>
          <p:cNvSpPr/>
          <p:nvPr/>
        </p:nvSpPr>
        <p:spPr bwMode="auto">
          <a:xfrm>
            <a:off x="3438099" y="3621987"/>
            <a:ext cx="2929844" cy="1679221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36000" tIns="72000" rIns="36000" bIns="72000" rtlCol="0" anchor="ctr"/>
          <a:lstStyle/>
          <a:p>
            <a:pPr marL="93663" marR="0" lvl="0" indent="-93663" defTabSz="91440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508CD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xmlns="" id="{DB56CF9D-73A1-4C0B-BF27-96FEDD15B917}"/>
              </a:ext>
            </a:extLst>
          </p:cNvPr>
          <p:cNvSpPr/>
          <p:nvPr/>
        </p:nvSpPr>
        <p:spPr bwMode="auto">
          <a:xfrm>
            <a:off x="3438099" y="3289076"/>
            <a:ext cx="2929845" cy="332911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>
                <a:solidFill>
                  <a:schemeClr val="bg1"/>
                </a:solidFill>
              </a:rPr>
              <a:t>시스템 업무기능 </a:t>
            </a:r>
            <a:r>
              <a:rPr lang="ko-KR" altLang="en-US" sz="1200" b="1" kern="0" dirty="0">
                <a:solidFill>
                  <a:schemeClr val="bg1"/>
                </a:solidFill>
              </a:rPr>
              <a:t>분석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xmlns="" id="{7ED3DBA1-05F0-46FA-B158-737D1236453B}"/>
              </a:ext>
            </a:extLst>
          </p:cNvPr>
          <p:cNvSpPr/>
          <p:nvPr/>
        </p:nvSpPr>
        <p:spPr>
          <a:xfrm>
            <a:off x="3429181" y="3670231"/>
            <a:ext cx="2929845" cy="72874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171450" marR="0" lvl="0" indent="-17145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0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시스템의 구축 현황 및 운용 현황을 </a:t>
            </a:r>
            <a:r>
              <a:rPr kumimoji="0" lang="ko-KR" altLang="en-US" sz="1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본 사업 관점에서 </a:t>
            </a:r>
            <a:r>
              <a:rPr kumimoji="0" lang="ko-KR" altLang="en-US" sz="1200" b="0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분석하고</a:t>
            </a:r>
            <a:r>
              <a:rPr kumimoji="0" lang="en-US" altLang="ko-KR" sz="1200" b="0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핵심그룹 인터뷰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수행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xmlns="" id="{C453419D-360B-4BE7-A481-A4B124C0B7FD}"/>
              </a:ext>
            </a:extLst>
          </p:cNvPr>
          <p:cNvSpPr/>
          <p:nvPr/>
        </p:nvSpPr>
        <p:spPr bwMode="auto">
          <a:xfrm>
            <a:off x="344488" y="5733256"/>
            <a:ext cx="9180000" cy="332911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>
                <a:solidFill>
                  <a:schemeClr val="bg1"/>
                </a:solidFill>
              </a:rPr>
              <a:t> 경영정보시스템 개선 </a:t>
            </a:r>
            <a:r>
              <a:rPr lang="ko-KR" altLang="en-US" sz="1200" b="1" kern="0" dirty="0">
                <a:solidFill>
                  <a:schemeClr val="bg1"/>
                </a:solidFill>
              </a:rPr>
              <a:t>방향성 수립을 위한 시사점 도출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xmlns="" id="{1B8815D5-1B1C-4F31-BE69-CF8C04688042}"/>
              </a:ext>
            </a:extLst>
          </p:cNvPr>
          <p:cNvSpPr/>
          <p:nvPr/>
        </p:nvSpPr>
        <p:spPr bwMode="auto">
          <a:xfrm>
            <a:off x="6522355" y="3621987"/>
            <a:ext cx="2929844" cy="1679221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36000" tIns="72000" rIns="36000" bIns="72000" rtlCol="0" anchor="ctr"/>
          <a:lstStyle/>
          <a:p>
            <a:pPr marL="93663" marR="0" lvl="0" indent="-93663" defTabSz="91440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508CD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xmlns="" id="{2563393D-3E84-469D-B04B-2FCC1640F5E6}"/>
              </a:ext>
            </a:extLst>
          </p:cNvPr>
          <p:cNvSpPr/>
          <p:nvPr/>
        </p:nvSpPr>
        <p:spPr bwMode="auto">
          <a:xfrm>
            <a:off x="6522355" y="3289076"/>
            <a:ext cx="2929845" cy="332911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schemeClr val="bg1"/>
                </a:solidFill>
              </a:rPr>
              <a:t>최신 정보기술 동향 분석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xmlns="" id="{888E33AF-60A1-4DF8-81BD-67A80B5B6BDF}"/>
              </a:ext>
            </a:extLst>
          </p:cNvPr>
          <p:cNvSpPr/>
          <p:nvPr/>
        </p:nvSpPr>
        <p:spPr>
          <a:xfrm>
            <a:off x="6526950" y="3670231"/>
            <a:ext cx="2995562" cy="48087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171450" lvl="0" indent="-17145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정보화 환경에 영향을 주는 최신 </a:t>
            </a:r>
            <a:r>
              <a:rPr lang="en-US" altLang="ko-KR" sz="12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IT </a:t>
            </a:r>
            <a:r>
              <a:rPr lang="ko-KR" altLang="en-US" sz="12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트랜드</a:t>
            </a:r>
            <a:r>
              <a:rPr lang="en-US" altLang="ko-KR" sz="12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, IT </a:t>
            </a:r>
            <a:r>
              <a:rPr lang="ko-KR" altLang="en-US" sz="12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기술 방향에 대한 이해 및 적용 가능성 분석</a:t>
            </a:r>
          </a:p>
        </p:txBody>
      </p:sp>
      <p:sp>
        <p:nvSpPr>
          <p:cNvPr id="180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8053" y="4406044"/>
            <a:ext cx="864000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정보기술 </a:t>
            </a:r>
            <a:endParaRPr kumimoji="0" lang="en-US" altLang="ko-KR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분석대상 선정</a:t>
            </a:r>
          </a:p>
        </p:txBody>
      </p:sp>
      <p:sp>
        <p:nvSpPr>
          <p:cNvPr id="182" name="Rectangle 53">
            <a:extLst>
              <a:ext uri="{FF2B5EF4-FFF2-40B4-BE49-F238E27FC236}">
                <a16:creationId xmlns:a16="http://schemas.microsoft.com/office/drawing/2014/main" xmlns="" id="{CE6A39E6-6A41-4350-BBBA-FAD77E7D1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297" y="4406044"/>
            <a:ext cx="864000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 defTabSz="457200" eaLnBrk="0" latinLnBrk="0" hangingPunct="0">
              <a:lnSpc>
                <a:spcPct val="105000"/>
              </a:lnSpc>
              <a:buClr>
                <a:srgbClr val="328030"/>
              </a:buClr>
            </a:pPr>
            <a:r>
              <a:rPr lang="ko-KR" altLang="en-US" sz="1100" kern="0" spc="-1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정보기술 </a:t>
            </a:r>
            <a:endParaRPr lang="en-US" altLang="ko-KR" sz="1100" kern="0" spc="-15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lvl="0" algn="ctr" defTabSz="457200" eaLnBrk="0" latinLnBrk="0" hangingPunct="0">
              <a:lnSpc>
                <a:spcPct val="105000"/>
              </a:lnSpc>
              <a:buClr>
                <a:srgbClr val="328030"/>
              </a:buClr>
            </a:pPr>
            <a:r>
              <a:rPr lang="ko-KR" altLang="en-US" sz="1100" kern="0" spc="-1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상세분석</a:t>
            </a:r>
          </a:p>
        </p:txBody>
      </p:sp>
      <p:sp>
        <p:nvSpPr>
          <p:cNvPr id="214" name="Rectangle 53">
            <a:extLst>
              <a:ext uri="{FF2B5EF4-FFF2-40B4-BE49-F238E27FC236}">
                <a16:creationId xmlns:a16="http://schemas.microsoft.com/office/drawing/2014/main" xmlns="" id="{CE6A39E6-6A41-4350-BBBA-FAD77E7D1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4401" y="4406044"/>
            <a:ext cx="864000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 defTabSz="457200" eaLnBrk="0" latinLnBrk="0" hangingPunct="0">
              <a:lnSpc>
                <a:spcPct val="105000"/>
              </a:lnSpc>
              <a:buClr>
                <a:srgbClr val="328030"/>
              </a:buClr>
            </a:pPr>
            <a:r>
              <a:rPr lang="ko-KR" altLang="en-US" sz="1100" kern="0" spc="-1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 적용 가능성 분석</a:t>
            </a:r>
          </a:p>
        </p:txBody>
      </p:sp>
      <p:sp>
        <p:nvSpPr>
          <p:cNvPr id="60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220" y="4398972"/>
            <a:ext cx="642458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현행</a:t>
            </a:r>
            <a:endParaRPr kumimoji="0" lang="en-US" altLang="ko-KR" sz="1100" b="0" i="0" u="none" strike="noStrike" kern="0" cap="none" spc="-1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기능분석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Rectangle 53">
            <a:extLst>
              <a:ext uri="{FF2B5EF4-FFF2-40B4-BE49-F238E27FC236}">
                <a16:creationId xmlns:a16="http://schemas.microsoft.com/office/drawing/2014/main" xmlns="" id="{CE6A39E6-6A41-4350-BBBA-FAD77E7D1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04" y="4398972"/>
            <a:ext cx="642458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DATA</a:t>
            </a:r>
            <a:br>
              <a:rPr kumimoji="0" lang="en-US" altLang="ko-KR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분석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Rectangle 53">
            <a:extLst>
              <a:ext uri="{FF2B5EF4-FFF2-40B4-BE49-F238E27FC236}">
                <a16:creationId xmlns:a16="http://schemas.microsoft.com/office/drawing/2014/main" xmlns="" id="{598C5A54-D29C-4BAB-BDAA-1169D02DB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388" y="4398972"/>
            <a:ext cx="642458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업무</a:t>
            </a:r>
            <a:r>
              <a:rPr kumimoji="0" lang="en-US" altLang="ko-KR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kern="0" spc="-15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</a:t>
            </a: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용분석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Rectangle 53">
            <a:extLst>
              <a:ext uri="{FF2B5EF4-FFF2-40B4-BE49-F238E27FC236}">
                <a16:creationId xmlns:a16="http://schemas.microsoft.com/office/drawing/2014/main" xmlns="" id="{598C5A54-D29C-4BAB-BDAA-1169D02DB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473" y="4398972"/>
            <a:ext cx="642458" cy="720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이해</a:t>
            </a:r>
            <a:r>
              <a:rPr kumimoji="0" lang="en-US" altLang="ko-KR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관계자</a:t>
            </a:r>
            <a:endParaRPr kumimoji="0" lang="en-US" altLang="ko-KR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lang="ko-KR" altLang="en-US" sz="1100" kern="0" spc="-1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인터뷰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06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직사각형 186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시스템 운영환경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</a:t>
            </a:r>
            <a:r>
              <a:rPr lang="ko-KR" altLang="en-US" sz="1600" smtClean="0"/>
              <a:t>위한 </a:t>
            </a:r>
            <a:r>
              <a:rPr lang="ko-KR" altLang="en-US" sz="1600"/>
              <a:t>대상업무의 시스템 운영환경 분석을 위해 구축시스템의 </a:t>
            </a:r>
            <a:r>
              <a:rPr lang="ko-KR" altLang="en-US" sz="1600" smtClean="0"/>
              <a:t>내용과</a:t>
            </a:r>
            <a:r>
              <a:rPr lang="en-US" altLang="ko-KR" sz="1600" smtClean="0"/>
              <a:t> </a:t>
            </a:r>
            <a:r>
              <a:rPr lang="ko-KR" altLang="en-US" sz="1600"/>
              <a:t>운영 환경 분석을 통하여 개선방향의 </a:t>
            </a:r>
            <a:r>
              <a:rPr lang="ko-KR" altLang="en-US" sz="1600" dirty="0"/>
              <a:t>시사점을 도출함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2.2 </a:t>
            </a:r>
            <a:r>
              <a:rPr lang="ko-KR" altLang="en-US"/>
              <a:t>시스템 운영환경 분석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/>
              <a:t>2.2.1 </a:t>
            </a:r>
            <a:r>
              <a:rPr lang="ko-KR" altLang="en-US" sz="1800"/>
              <a:t>시스템 운영환경 </a:t>
            </a:r>
            <a:r>
              <a:rPr lang="ko-KR" altLang="en-US" sz="1800" dirty="0"/>
              <a:t>분석 개요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2.2 </a:t>
            </a:r>
            <a:r>
              <a:rPr lang="ko-KR" altLang="en-US"/>
              <a:t>시스템 운영환경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sp>
        <p:nvSpPr>
          <p:cNvPr id="185" name="Rectangle 4"/>
          <p:cNvSpPr>
            <a:spLocks noChangeArrowheads="1"/>
          </p:cNvSpPr>
          <p:nvPr/>
        </p:nvSpPr>
        <p:spPr bwMode="auto">
          <a:xfrm>
            <a:off x="3656996" y="2348880"/>
            <a:ext cx="2520000" cy="281260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운영 조직 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경영지원팀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명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174625" defTabSz="895350">
              <a:spcBef>
                <a:spcPts val="600"/>
              </a:spcBef>
              <a:buClr>
                <a:schemeClr val="accent5"/>
              </a:buClr>
              <a:buSzPct val="90000"/>
              <a:tabLst>
                <a:tab pos="0" algn="l"/>
              </a:tabLst>
            </a:pPr>
            <a:endParaRPr lang="ko-KR" altLang="en-US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180975" lvl="0" indent="-180975" defTabSz="895350">
              <a:spcBef>
                <a:spcPts val="1000"/>
              </a:spcBef>
              <a:buClr>
                <a:srgbClr val="1428A0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유지보수 조직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rgbClr val="1428A0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경영정보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명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rgbClr val="1428A0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H/W, Network 2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명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3" name="Rectangle 4"/>
          <p:cNvSpPr>
            <a:spLocks noChangeArrowheads="1"/>
          </p:cNvSpPr>
          <p:nvPr/>
        </p:nvSpPr>
        <p:spPr bwMode="auto">
          <a:xfrm>
            <a:off x="560512" y="2345182"/>
            <a:ext cx="2520000" cy="281260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H/W (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클라우드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기종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: HP</a:t>
            </a:r>
            <a:endParaRPr lang="en-US" altLang="ko-KR" sz="1200" spc="-30" dirty="0">
              <a:latin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</a:rPr>
              <a:t> OS   : Linux (</a:t>
            </a:r>
            <a:r>
              <a:rPr lang="en-US" altLang="ko-KR" sz="1200" spc="-30" dirty="0" err="1">
                <a:latin typeface="맑은 고딕" pitchFamily="50" charset="-127"/>
              </a:rPr>
              <a:t>Redhat</a:t>
            </a:r>
            <a:r>
              <a:rPr lang="en-US" altLang="ko-KR" sz="1200" spc="-30" dirty="0">
                <a:latin typeface="맑은 고딕" pitchFamily="50" charset="-127"/>
              </a:rPr>
              <a:t>)</a:t>
            </a:r>
            <a:endParaRPr lang="en-US" altLang="ko-KR" sz="1200" spc="-3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 dirty="0">
                <a:latin typeface="맑은 고딕" pitchFamily="50" charset="-127"/>
              </a:rPr>
              <a:t>DATABASE(</a:t>
            </a:r>
            <a:r>
              <a:rPr lang="en-US" altLang="ko-KR" sz="1200" spc="-30" dirty="0" err="1">
                <a:latin typeface="맑은 고딕" pitchFamily="50" charset="-127"/>
              </a:rPr>
              <a:t>Tibero</a:t>
            </a:r>
            <a:r>
              <a:rPr lang="en-US" altLang="ko-KR" sz="1200" spc="-30" dirty="0">
                <a:latin typeface="맑은 고딕" pitchFamily="50" charset="-127"/>
              </a:rPr>
              <a:t>)</a:t>
            </a:r>
            <a:endParaRPr lang="en-US" altLang="ko-KR" sz="1200" spc="-30" dirty="0">
              <a:solidFill>
                <a:srgbClr val="FF0000"/>
              </a:solidFill>
              <a:latin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최신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트랜드 제품이나 설계 및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DB </a:t>
            </a:r>
            <a:r>
              <a:rPr lang="ko-KR" altLang="en-US" sz="1200" spc="-30" dirty="0" err="1">
                <a:latin typeface="맑은 고딕" pitchFamily="50" charset="-127"/>
                <a:ea typeface="맑은 고딕" pitchFamily="50" charset="-127"/>
              </a:rPr>
              <a:t>구축시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 표준화 미흡으로 대폭적인 개선이 필요한 상태임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 dirty="0">
                <a:latin typeface="맑은 고딕" pitchFamily="50" charset="-127"/>
              </a:rPr>
              <a:t>UI TOOL(</a:t>
            </a:r>
            <a:r>
              <a:rPr lang="en-US" altLang="ko-KR" sz="1200" spc="-30" dirty="0" err="1">
                <a:latin typeface="맑은 고딕" pitchFamily="50" charset="-127"/>
              </a:rPr>
              <a:t>Websquare</a:t>
            </a:r>
            <a:r>
              <a:rPr lang="en-US" altLang="ko-KR" sz="1200" spc="-30" dirty="0">
                <a:latin typeface="맑은 고딕" pitchFamily="50" charset="-127"/>
              </a:rPr>
              <a:t>)</a:t>
            </a: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</a:rPr>
              <a:t>HTML</a:t>
            </a:r>
            <a:r>
              <a:rPr lang="ko-KR" altLang="en-US" sz="1200" spc="-30" dirty="0">
                <a:latin typeface="맑은 고딕" pitchFamily="50" charset="-127"/>
              </a:rPr>
              <a:t>기반의 최신기술 적용 </a:t>
            </a:r>
            <a:r>
              <a:rPr lang="en-US" altLang="ko-KR" sz="1200" spc="-30" dirty="0">
                <a:latin typeface="맑은 고딕" pitchFamily="50" charset="-127"/>
              </a:rPr>
              <a:t>UI-UX</a:t>
            </a:r>
            <a:r>
              <a:rPr lang="ko-KR" altLang="en-US" sz="1200" spc="-30" dirty="0">
                <a:latin typeface="맑은 고딕" pitchFamily="50" charset="-127"/>
              </a:rPr>
              <a:t> </a:t>
            </a:r>
            <a:r>
              <a:rPr lang="en-US" altLang="ko-KR" sz="1200" spc="-30" dirty="0">
                <a:latin typeface="맑은 고딕" pitchFamily="50" charset="-127"/>
              </a:rPr>
              <a:t>TOOL</a:t>
            </a:r>
            <a:r>
              <a:rPr lang="ko-KR" altLang="en-US" sz="1200" spc="-30" dirty="0">
                <a:latin typeface="맑은 고딕" pitchFamily="50" charset="-127"/>
              </a:rPr>
              <a:t>이지만 업무 </a:t>
            </a:r>
            <a:r>
              <a:rPr lang="ko-KR" altLang="en-US" sz="1200" spc="-30" dirty="0" err="1">
                <a:latin typeface="맑은 고딕" pitchFamily="50" charset="-127"/>
              </a:rPr>
              <a:t>구축시</a:t>
            </a:r>
            <a:r>
              <a:rPr lang="ko-KR" altLang="en-US" sz="1200" spc="-30" dirty="0">
                <a:latin typeface="맑은 고딕" pitchFamily="50" charset="-127"/>
              </a:rPr>
              <a:t> 표준화 미적용</a:t>
            </a:r>
            <a:r>
              <a:rPr lang="en-US" altLang="ko-KR" sz="1200" spc="-30" dirty="0">
                <a:latin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</a:rPr>
              <a:t>및 기능 미흡으로 운영이 어려움 </a:t>
            </a:r>
            <a:r>
              <a:rPr lang="en-US" altLang="ko-KR" sz="1200" spc="-30" dirty="0">
                <a:latin typeface="맑은 고딕" pitchFamily="50" charset="-127"/>
              </a:rPr>
              <a:t> </a:t>
            </a:r>
            <a:endParaRPr lang="ko-KR" altLang="en-US" sz="1200" spc="-3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2216696" y="5544528"/>
            <a:ext cx="5472608" cy="540000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방향성 수립을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위한 시스템 운영환경 </a:t>
            </a: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분석의 시사점 도출</a:t>
            </a:r>
          </a:p>
        </p:txBody>
      </p:sp>
      <p:sp>
        <p:nvSpPr>
          <p:cNvPr id="181" name="이등변 삼각형 180"/>
          <p:cNvSpPr/>
          <p:nvPr/>
        </p:nvSpPr>
        <p:spPr>
          <a:xfrm rot="10800000">
            <a:off x="3044032" y="5158371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2" name="더하기 기호 4"/>
          <p:cNvSpPr/>
          <p:nvPr/>
        </p:nvSpPr>
        <p:spPr>
          <a:xfrm>
            <a:off x="3061911" y="3140968"/>
            <a:ext cx="613685" cy="636317"/>
          </a:xfrm>
          <a:prstGeom prst="mathPlus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0" name="Rectangle 4"/>
          <p:cNvSpPr>
            <a:spLocks noChangeArrowheads="1"/>
          </p:cNvSpPr>
          <p:nvPr/>
        </p:nvSpPr>
        <p:spPr bwMode="auto">
          <a:xfrm>
            <a:off x="6753480" y="2345182"/>
            <a:ext cx="2520000" cy="281260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보완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미사용 </a:t>
            </a:r>
            <a:r>
              <a:rPr lang="en-US" altLang="ko-KR" sz="1200" spc="-30">
                <a:latin typeface="맑은 고딕" pitchFamily="50" charset="-127"/>
              </a:rPr>
              <a:t>TABLE</a:t>
            </a:r>
            <a:r>
              <a:rPr lang="ko-KR" altLang="en-US" sz="1200" spc="-30">
                <a:latin typeface="맑은 고딕" pitchFamily="50" charset="-127"/>
              </a:rPr>
              <a:t>삭제 및 칼럼 정의</a:t>
            </a:r>
            <a:endParaRPr lang="en-US" altLang="ko-KR" sz="1200" spc="-30"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>
                <a:latin typeface="맑은 고딕" pitchFamily="50" charset="-127"/>
                <a:ea typeface="맑은 고딕" pitchFamily="50" charset="-127"/>
              </a:rPr>
              <a:t>DATA </a:t>
            </a: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보완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미사용 칼럼 삭제 및 표준화 </a:t>
            </a:r>
            <a:r>
              <a:rPr lang="en-US" altLang="ko-KR" sz="1200" spc="-30">
                <a:latin typeface="맑은 고딕" pitchFamily="50" charset="-127"/>
              </a:rPr>
              <a:t> </a:t>
            </a:r>
            <a:endParaRPr lang="en-US" altLang="ko-KR" sz="1200" spc="-30"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개발표준 및 </a:t>
            </a:r>
            <a:r>
              <a:rPr lang="en-US" altLang="ko-KR" sz="1200" spc="-30">
                <a:latin typeface="맑은 고딕" pitchFamily="50" charset="-127"/>
                <a:ea typeface="맑은 고딕" pitchFamily="50" charset="-127"/>
              </a:rPr>
              <a:t>UI_UX TOOL </a:t>
            </a: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개선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개발 및 운영 효율성을 제고할 수 있는 </a:t>
            </a:r>
            <a:r>
              <a:rPr lang="en-US" altLang="ko-KR" sz="1200" spc="-30">
                <a:latin typeface="맑은 고딕" pitchFamily="50" charset="-127"/>
              </a:rPr>
              <a:t>UI_UX </a:t>
            </a:r>
            <a:r>
              <a:rPr lang="ko-KR" altLang="en-US" sz="1200" spc="-30">
                <a:latin typeface="맑은 고딕" pitchFamily="50" charset="-127"/>
              </a:rPr>
              <a:t>도입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개선 및 기능 재 구축을 위한 </a:t>
            </a:r>
            <a:r>
              <a:rPr lang="en-US" altLang="ko-KR" sz="1200" spc="-30">
                <a:latin typeface="맑은 고딕" pitchFamily="50" charset="-127"/>
              </a:rPr>
              <a:t>AI </a:t>
            </a:r>
            <a:r>
              <a:rPr lang="ko-KR" altLang="en-US" sz="1200" spc="-30">
                <a:latin typeface="맑은 고딕" pitchFamily="50" charset="-127"/>
              </a:rPr>
              <a:t>지향 개발 </a:t>
            </a:r>
            <a:r>
              <a:rPr lang="en-US" altLang="ko-KR" sz="1200" spc="-30">
                <a:latin typeface="맑은 고딕" pitchFamily="50" charset="-127"/>
              </a:rPr>
              <a:t>TOOL </a:t>
            </a:r>
            <a:r>
              <a:rPr lang="ko-KR" altLang="en-US" sz="1200" spc="-30">
                <a:latin typeface="맑은 고딕" pitchFamily="50" charset="-127"/>
              </a:rPr>
              <a:t>필요</a:t>
            </a:r>
            <a:endParaRPr lang="en-US" altLang="ko-KR" sz="1200" spc="-30">
              <a:latin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>
                <a:latin typeface="맑은 고딕" pitchFamily="50" charset="-127"/>
              </a:rPr>
              <a:t>입찰정보 실시간 수집 기능 </a:t>
            </a:r>
            <a:r>
              <a:rPr lang="ko-KR" altLang="en-US" sz="1200" spc="-30" smtClean="0">
                <a:latin typeface="맑은 고딕" pitchFamily="50" charset="-127"/>
              </a:rPr>
              <a:t>필요</a:t>
            </a:r>
            <a:endParaRPr lang="ko-KR" altLang="en-US" sz="1200" spc="-3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657651" y="2002245"/>
            <a:ext cx="2518690" cy="35257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운영 </a:t>
            </a: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환경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61167" y="2001540"/>
            <a:ext cx="2518691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시스템 환경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54135" y="2001540"/>
            <a:ext cx="2518690" cy="35257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시스템 환경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개선 방향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Picture 2" descr="arr (27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115306" y="3316175"/>
            <a:ext cx="275590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727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직사각형 186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내부 업무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시스템 업무기능 분석은 현행 기능분석</a:t>
            </a:r>
            <a:r>
              <a:rPr lang="en-US" altLang="ko-KR" sz="1600"/>
              <a:t>, DATABASE </a:t>
            </a:r>
            <a:r>
              <a:rPr lang="ko-KR" altLang="en-US" sz="1600"/>
              <a:t>및 </a:t>
            </a:r>
            <a:r>
              <a:rPr lang="en-US" altLang="ko-KR" sz="1600"/>
              <a:t>DATA </a:t>
            </a:r>
            <a:r>
              <a:rPr lang="ko-KR" altLang="en-US" sz="1600"/>
              <a:t>분석</a:t>
            </a:r>
            <a:r>
              <a:rPr lang="en-US" altLang="ko-KR" sz="1600"/>
              <a:t>, </a:t>
            </a:r>
            <a:r>
              <a:rPr lang="ko-KR" altLang="en-US" sz="1600"/>
              <a:t>업무 운용 현황 분석 및 이해관계자 인터뷰 수행을 통하여 시스템의 기능 개선 시사점을 </a:t>
            </a:r>
            <a:r>
              <a:rPr lang="ko-KR" altLang="en-US" sz="1600" dirty="0"/>
              <a:t>도출함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/>
          <a:lstStyle/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1800"/>
              <a:t>2.3.1 </a:t>
            </a:r>
            <a:r>
              <a:rPr lang="ko-KR" altLang="en-US" sz="1800"/>
              <a:t>시스템 업무기능 분석 </a:t>
            </a:r>
            <a:r>
              <a:rPr lang="ko-KR" altLang="en-US" sz="1800" dirty="0"/>
              <a:t>개요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180" name="직사각형 179"/>
          <p:cNvSpPr/>
          <p:nvPr/>
        </p:nvSpPr>
        <p:spPr>
          <a:xfrm>
            <a:off x="2216696" y="5544528"/>
            <a:ext cx="5472608" cy="540000"/>
          </a:xfrm>
          <a:prstGeom prst="rect">
            <a:avLst/>
          </a:prstGeom>
          <a:solidFill>
            <a:srgbClr val="4B7DB4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방향성 수립을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위한 내부업무 </a:t>
            </a: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분석의 시사점 도출</a:t>
            </a:r>
          </a:p>
        </p:txBody>
      </p:sp>
      <p:sp>
        <p:nvSpPr>
          <p:cNvPr id="181" name="이등변 삼각형 180"/>
          <p:cNvSpPr/>
          <p:nvPr/>
        </p:nvSpPr>
        <p:spPr>
          <a:xfrm rot="10800000">
            <a:off x="3044032" y="4956656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31"/>
          <p:cNvGrpSpPr/>
          <p:nvPr/>
        </p:nvGrpSpPr>
        <p:grpSpPr>
          <a:xfrm>
            <a:off x="4232996" y="2767445"/>
            <a:ext cx="1368000" cy="1368000"/>
            <a:chOff x="4232920" y="2780928"/>
            <a:chExt cx="1368000" cy="1368000"/>
          </a:xfrm>
        </p:grpSpPr>
        <p:sp>
          <p:nvSpPr>
            <p:cNvPr id="31" name="타원 30"/>
            <p:cNvSpPr/>
            <p:nvPr/>
          </p:nvSpPr>
          <p:spPr bwMode="auto">
            <a:xfrm>
              <a:off x="4232920" y="2780928"/>
              <a:ext cx="1368000" cy="1368000"/>
            </a:xfrm>
            <a:prstGeom prst="ellipse">
              <a:avLst/>
            </a:prstGeom>
            <a:solidFill>
              <a:sysClr val="window" lastClr="FFFFFF"/>
            </a:solidFill>
            <a:ln w="50800" cap="flat" cmpd="sng" algn="ctr">
              <a:solidFill>
                <a:sysClr val="window" lastClr="FFFFFF">
                  <a:lumMod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36000" rIns="72000" bIns="36000" anchor="ctr"/>
            <a:lstStyle/>
            <a:p>
              <a:pPr marL="85725" indent="-85725" eaLnBrk="0" latinLnBrk="0" hangingPunct="0">
                <a:lnSpc>
                  <a:spcPct val="105000"/>
                </a:lnSpc>
                <a:spcBef>
                  <a:spcPct val="35000"/>
                </a:spcBef>
                <a:buClr>
                  <a:srgbClr val="008400"/>
                </a:buClr>
                <a:buFontTx/>
                <a:buChar char="•"/>
                <a:defRPr/>
              </a:pPr>
              <a:endParaRPr lang="ko-KR" altLang="en-US" sz="9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더하기 기호 4"/>
            <p:cNvSpPr/>
            <p:nvPr/>
          </p:nvSpPr>
          <p:spPr>
            <a:xfrm>
              <a:off x="4610078" y="3146770"/>
              <a:ext cx="613685" cy="636317"/>
            </a:xfrm>
            <a:prstGeom prst="mathPlus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33"/>
          <p:cNvGrpSpPr/>
          <p:nvPr/>
        </p:nvGrpSpPr>
        <p:grpSpPr>
          <a:xfrm>
            <a:off x="5364152" y="2001893"/>
            <a:ext cx="3909328" cy="2899104"/>
            <a:chOff x="5364152" y="2002245"/>
            <a:chExt cx="3909328" cy="2899104"/>
          </a:xfrm>
        </p:grpSpPr>
        <p:sp>
          <p:nvSpPr>
            <p:cNvPr id="185" name="Rectangle 4"/>
            <p:cNvSpPr>
              <a:spLocks noChangeArrowheads="1"/>
            </p:cNvSpPr>
            <p:nvPr/>
          </p:nvSpPr>
          <p:spPr bwMode="auto">
            <a:xfrm>
              <a:off x="5364152" y="2345182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3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업무별 기능 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</a:t>
              </a:r>
              <a:r>
                <a:rPr lang="ko-KR" altLang="en-US" sz="1100" spc="-30">
                  <a:latin typeface="+mn-ea"/>
                </a:rPr>
                <a:t>업무별 구축 대비 운용</a:t>
              </a:r>
              <a:r>
                <a:rPr lang="en-US" altLang="ko-KR" sz="1100" spc="-30">
                  <a:latin typeface="+mn-ea"/>
                </a:rPr>
                <a:t>(</a:t>
              </a:r>
              <a:r>
                <a:rPr lang="ko-KR" altLang="en-US" sz="1100" spc="-30">
                  <a:latin typeface="+mn-ea"/>
                </a:rPr>
                <a:t>사용</a:t>
              </a:r>
              <a:r>
                <a:rPr lang="en-US" altLang="ko-KR" sz="1100" spc="-30">
                  <a:latin typeface="+mn-ea"/>
                </a:rPr>
                <a:t>)</a:t>
              </a:r>
              <a:r>
                <a:rPr lang="ko-KR" altLang="en-US" sz="1100" spc="-30">
                  <a:latin typeface="+mn-ea"/>
                </a:rPr>
                <a:t> 현황 분석</a:t>
              </a:r>
              <a:endParaRPr lang="en-US" altLang="ko-KR" sz="1100" spc="-30" dirty="0">
                <a:latin typeface="+mn-ea"/>
              </a:endParaRPr>
            </a:p>
            <a:p>
              <a:pPr marL="180975" indent="-180975" defTabSz="895350">
                <a:spcBef>
                  <a:spcPts val="3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기능 </a:t>
              </a:r>
              <a:r>
                <a:rPr lang="ko-KR" altLang="en-US" sz="1100" spc="-30" dirty="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</a:t>
              </a:r>
              <a:r>
                <a:rPr lang="ko-KR" altLang="en-US" sz="1100" spc="-30">
                  <a:latin typeface="+mn-ea"/>
                </a:rPr>
                <a:t>개별 기능의 요구 대비 충족성 </a:t>
              </a:r>
              <a:r>
                <a:rPr lang="ko-KR" altLang="en-US" sz="1100">
                  <a:latin typeface="맑은 고딕" pitchFamily="50" charset="-127"/>
                  <a:ea typeface="맑은 고딕" pitchFamily="50" charset="-127"/>
                </a:rPr>
                <a:t>분석</a:t>
              </a:r>
              <a:endParaRPr lang="en-US" altLang="ko-KR" sz="1100" spc="-30" dirty="0">
                <a:latin typeface="+mn-ea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364152" y="2002245"/>
              <a:ext cx="3907296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업무 운용 현황</a:t>
              </a:r>
              <a:r>
                <a:rPr lang="en-US" altLang="ko-KR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5364152" y="3857349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 dirty="0">
                  <a:latin typeface="+mn-ea"/>
                </a:rPr>
                <a:t>이해관계자 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 dirty="0">
                  <a:latin typeface="+mn-ea"/>
                </a:rPr>
                <a:t>- </a:t>
              </a:r>
              <a:r>
                <a:rPr lang="ko-KR" altLang="en-US" sz="1100" spc="-30" dirty="0">
                  <a:latin typeface="+mn-ea"/>
                </a:rPr>
                <a:t>본 사업 </a:t>
              </a:r>
              <a:r>
                <a:rPr lang="ko-KR" altLang="en-US" sz="1100" spc="-30">
                  <a:latin typeface="+mn-ea"/>
                </a:rPr>
                <a:t>관련 내부 </a:t>
              </a:r>
              <a:r>
                <a:rPr lang="ko-KR" altLang="en-US" sz="1100" spc="-30" dirty="0">
                  <a:latin typeface="+mn-ea"/>
                </a:rPr>
                <a:t>이해관계자 식별 및 분석</a:t>
              </a:r>
              <a:endParaRPr lang="en-US" altLang="ko-KR" sz="1100" spc="-30" dirty="0">
                <a:latin typeface="+mn-ea"/>
              </a:endParaRPr>
            </a:p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인터뷰 결과 </a:t>
              </a:r>
              <a:r>
                <a:rPr lang="ko-KR" altLang="en-US" sz="1100" spc="-30" dirty="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endParaRPr lang="en-US" altLang="ko-KR" sz="1100" spc="-30" dirty="0">
                <a:latin typeface="+mn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365168" y="3514412"/>
              <a:ext cx="3907296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이해관계자</a:t>
              </a:r>
              <a:r>
                <a:rPr lang="en-US" altLang="ko-KR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인터뷰</a:t>
              </a:r>
            </a:p>
          </p:txBody>
        </p:sp>
      </p:grpSp>
      <p:grpSp>
        <p:nvGrpSpPr>
          <p:cNvPr id="7" name="그룹 32"/>
          <p:cNvGrpSpPr/>
          <p:nvPr/>
        </p:nvGrpSpPr>
        <p:grpSpPr>
          <a:xfrm>
            <a:off x="560512" y="2001540"/>
            <a:ext cx="3909328" cy="2899810"/>
            <a:chOff x="560512" y="2001540"/>
            <a:chExt cx="3909328" cy="2899810"/>
          </a:xfrm>
        </p:grpSpPr>
        <p:sp>
          <p:nvSpPr>
            <p:cNvPr id="183" name="Rectangle 4"/>
            <p:cNvSpPr>
              <a:spLocks noChangeArrowheads="1"/>
            </p:cNvSpPr>
            <p:nvPr/>
          </p:nvSpPr>
          <p:spPr bwMode="auto">
            <a:xfrm>
              <a:off x="560512" y="2345183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예산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회계</a:t>
              </a:r>
              <a:r>
                <a:rPr lang="en-US" altLang="ko-KR" sz="1100" spc="-30">
                  <a:latin typeface="+mn-ea"/>
                </a:rPr>
                <a:t>(</a:t>
              </a:r>
              <a:r>
                <a:rPr lang="ko-KR" altLang="en-US" sz="1100" spc="-30">
                  <a:latin typeface="+mn-ea"/>
                </a:rPr>
                <a:t>재무</a:t>
              </a:r>
              <a:r>
                <a:rPr lang="en-US" altLang="ko-KR" sz="1100" spc="-30">
                  <a:latin typeface="+mn-ea"/>
                </a:rPr>
                <a:t>,</a:t>
              </a:r>
              <a:r>
                <a:rPr lang="ko-KR" altLang="en-US" sz="1100" spc="-30">
                  <a:latin typeface="+mn-ea"/>
                </a:rPr>
                <a:t>자금</a:t>
              </a:r>
              <a:r>
                <a:rPr lang="en-US" altLang="ko-KR" sz="1100" spc="-30">
                  <a:latin typeface="+mn-ea"/>
                </a:rPr>
                <a:t>,</a:t>
              </a:r>
              <a:r>
                <a:rPr lang="ko-KR" altLang="en-US" sz="1100" spc="-30">
                  <a:latin typeface="+mn-ea"/>
                </a:rPr>
                <a:t>세무</a:t>
              </a:r>
              <a:r>
                <a:rPr lang="en-US" altLang="ko-KR" sz="1100" spc="-30">
                  <a:latin typeface="+mn-ea"/>
                </a:rPr>
                <a:t>,</a:t>
              </a:r>
              <a:r>
                <a:rPr lang="ko-KR" altLang="en-US" sz="1100" spc="-30">
                  <a:latin typeface="+mn-ea"/>
                </a:rPr>
                <a:t>결산</a:t>
              </a:r>
              <a:r>
                <a:rPr lang="en-US" altLang="ko-KR" sz="1100" spc="-30">
                  <a:latin typeface="+mn-ea"/>
                </a:rPr>
                <a:t>), </a:t>
              </a:r>
              <a:r>
                <a:rPr lang="ko-KR" altLang="en-US" sz="1100" spc="-30">
                  <a:latin typeface="+mn-ea"/>
                </a:rPr>
                <a:t>구매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자산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사업관리 정보화 내역 </a:t>
              </a:r>
              <a:r>
                <a:rPr lang="ko-KR" altLang="en-US" sz="1100" spc="-30" dirty="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 </a:t>
              </a:r>
              <a:r>
                <a:rPr lang="en-US" altLang="ko-KR" sz="1100">
                  <a:latin typeface="+mn-ea"/>
                </a:rPr>
                <a:t>2022</a:t>
              </a:r>
              <a:r>
                <a:rPr lang="ko-KR" altLang="en-US" sz="1100">
                  <a:latin typeface="+mn-ea"/>
                </a:rPr>
                <a:t>년 구축된 정보시스템 구축 </a:t>
              </a:r>
              <a:r>
                <a:rPr lang="ko-KR" altLang="en-US" sz="1100" dirty="0">
                  <a:latin typeface="+mn-ea"/>
                </a:rPr>
                <a:t>결과 분석</a:t>
              </a:r>
              <a:endParaRPr lang="ko-KR" altLang="en-US" sz="1100" spc="-30" dirty="0">
                <a:latin typeface="+mn-ea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61528" y="2001540"/>
              <a:ext cx="3907298" cy="353282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현행 기능 분석</a:t>
              </a:r>
              <a:endPara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560512" y="3857350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100" spc="-30">
                  <a:latin typeface="+mn-ea"/>
                </a:rPr>
                <a:t>DATABASE </a:t>
              </a:r>
              <a:r>
                <a:rPr lang="ko-KR" altLang="en-US" sz="1100" spc="-30">
                  <a:latin typeface="+mn-ea"/>
                </a:rPr>
                <a:t>분석</a:t>
              </a:r>
              <a:r>
                <a:rPr lang="en-US" altLang="ko-KR" sz="1100" spc="-30">
                  <a:latin typeface="+mn-ea"/>
                </a:rPr>
                <a:t/>
              </a:r>
              <a:br>
                <a:rPr lang="en-US" altLang="ko-KR" sz="1100" spc="-3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DATABASE </a:t>
              </a:r>
              <a:r>
                <a:rPr lang="ko-KR" altLang="en-US" sz="1100" spc="-30">
                  <a:latin typeface="+mn-ea"/>
                </a:rPr>
                <a:t>구성 및 표준화 분석</a:t>
              </a:r>
              <a:endParaRPr lang="en-US" altLang="ko-KR" sz="1100" spc="-30" dirty="0">
                <a:latin typeface="+mn-ea"/>
              </a:endParaRPr>
            </a:p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100" spc="-30">
                  <a:latin typeface="+mn-ea"/>
                </a:rPr>
                <a:t>DATA </a:t>
              </a:r>
              <a:r>
                <a:rPr lang="ko-KR" altLang="en-US" sz="1100" spc="-3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DATA</a:t>
              </a:r>
              <a:r>
                <a:rPr lang="ko-KR" altLang="en-US" sz="1100" spc="-30">
                  <a:latin typeface="+mn-ea"/>
                </a:rPr>
                <a:t>의 체계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표준화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무결성 분석  </a:t>
              </a:r>
              <a:endParaRPr lang="en-US" altLang="ko-KR" sz="1100" spc="-30" dirty="0">
                <a:latin typeface="+mn-ea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61528" y="3513707"/>
              <a:ext cx="3907298" cy="353282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en-US" altLang="ko-KR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DATABASE </a:t>
              </a: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및 </a:t>
              </a:r>
              <a:r>
                <a:rPr lang="en-US" altLang="ko-KR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DATA </a:t>
              </a: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분석</a:t>
              </a:r>
              <a:endPara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727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856357" y="1910730"/>
            <a:ext cx="5474873" cy="2318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본 사업 </a:t>
            </a:r>
            <a:r>
              <a:rPr lang="ko-KR" altLang="en-US" sz="1600"/>
              <a:t>범위인 예산</a:t>
            </a:r>
            <a:r>
              <a:rPr lang="en-US" altLang="ko-KR" sz="1600"/>
              <a:t>, </a:t>
            </a:r>
            <a:r>
              <a:rPr lang="ko-KR" altLang="en-US" sz="1600"/>
              <a:t>회계</a:t>
            </a:r>
            <a:r>
              <a:rPr lang="en-US" altLang="ko-KR" sz="1600"/>
              <a:t>(</a:t>
            </a:r>
            <a:r>
              <a:rPr lang="ko-KR" altLang="en-US" sz="1600"/>
              <a:t>재무</a:t>
            </a:r>
            <a:r>
              <a:rPr lang="en-US" altLang="ko-KR" sz="1600"/>
              <a:t>,</a:t>
            </a:r>
            <a:r>
              <a:rPr lang="ko-KR" altLang="en-US" sz="1600"/>
              <a:t>자금</a:t>
            </a:r>
            <a:r>
              <a:rPr lang="en-US" altLang="ko-KR" sz="1600"/>
              <a:t>,</a:t>
            </a:r>
            <a:r>
              <a:rPr lang="ko-KR" altLang="en-US" sz="1600"/>
              <a:t>세무</a:t>
            </a:r>
            <a:r>
              <a:rPr lang="en-US" altLang="ko-KR" sz="1600"/>
              <a:t>,</a:t>
            </a:r>
            <a:r>
              <a:rPr lang="ko-KR" altLang="en-US" sz="1600"/>
              <a:t>결산</a:t>
            </a:r>
            <a:r>
              <a:rPr lang="en-US" altLang="ko-KR" sz="1600"/>
              <a:t>), </a:t>
            </a:r>
            <a:r>
              <a:rPr lang="ko-KR" altLang="en-US" sz="1600"/>
              <a:t>구매</a:t>
            </a:r>
            <a:r>
              <a:rPr lang="en-US" altLang="ko-KR" sz="1600"/>
              <a:t>, </a:t>
            </a:r>
            <a:r>
              <a:rPr lang="ko-KR" altLang="en-US" sz="1600"/>
              <a:t>자산</a:t>
            </a:r>
            <a:r>
              <a:rPr lang="en-US" altLang="ko-KR" sz="1600"/>
              <a:t>, </a:t>
            </a:r>
            <a:r>
              <a:rPr lang="ko-KR" altLang="en-US" sz="1600"/>
              <a:t>사업관리 업무의 분류체계를 </a:t>
            </a:r>
            <a:r>
              <a:rPr lang="ko-KR" altLang="en-US" sz="1600" smtClean="0"/>
              <a:t>분석하고 </a:t>
            </a:r>
            <a:r>
              <a:rPr lang="ko-KR" altLang="en-US" sz="1600" dirty="0"/>
              <a:t>업무기능 간 </a:t>
            </a:r>
            <a:r>
              <a:rPr lang="ko-KR" altLang="en-US" sz="1600"/>
              <a:t>관계를 도식화하여 데이터 공유 및 상호 연계 처리를 식별함</a:t>
            </a:r>
            <a:endParaRPr lang="ko-KR" altLang="en-US" sz="1600" dirty="0"/>
          </a:p>
        </p:txBody>
      </p:sp>
      <p:sp>
        <p:nvSpPr>
          <p:cNvPr id="9" name="직사각형 8"/>
          <p:cNvSpPr/>
          <p:nvPr/>
        </p:nvSpPr>
        <p:spPr bwMode="auto">
          <a:xfrm>
            <a:off x="2792016" y="3765798"/>
            <a:ext cx="5539213" cy="324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ERP </a:t>
            </a: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시스템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0" name="Rectangle 43"/>
          <p:cNvSpPr>
            <a:spLocks noChangeArrowheads="1"/>
          </p:cNvSpPr>
          <p:nvPr/>
        </p:nvSpPr>
        <p:spPr bwMode="auto">
          <a:xfrm>
            <a:off x="3900083" y="4716523"/>
            <a:ext cx="610539" cy="253113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0" tIns="36000" rIns="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Rectangle 43"/>
          <p:cNvSpPr>
            <a:spLocks noChangeArrowheads="1"/>
          </p:cNvSpPr>
          <p:nvPr/>
        </p:nvSpPr>
        <p:spPr bwMode="auto">
          <a:xfrm>
            <a:off x="2788011" y="412500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예산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회계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구매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자산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" name="Rectangle 43"/>
          <p:cNvSpPr>
            <a:spLocks noChangeArrowheads="1"/>
          </p:cNvSpPr>
          <p:nvPr/>
        </p:nvSpPr>
        <p:spPr bwMode="auto">
          <a:xfrm>
            <a:off x="2788012" y="4325754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873866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예산관리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3534464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회계관리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195062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자산관리</a:t>
            </a:r>
          </a:p>
        </p:txBody>
      </p:sp>
      <p:sp>
        <p:nvSpPr>
          <p:cNvPr id="123" name="직사각형 122"/>
          <p:cNvSpPr/>
          <p:nvPr/>
        </p:nvSpPr>
        <p:spPr bwMode="auto">
          <a:xfrm>
            <a:off x="1064568" y="1412776"/>
            <a:ext cx="7266661" cy="2844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코레일테크 </a:t>
            </a:r>
            <a:r>
              <a:rPr lang="ko-KR" altLang="en-US" sz="1400" b="1" kern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시스템 구성도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71987" y="1697223"/>
            <a:ext cx="194182" cy="165976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사용자인증</a:t>
            </a:r>
            <a:endParaRPr lang="en-US" altLang="ko-KR" sz="105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b="1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사용권한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76" name="그룹 29"/>
          <p:cNvGrpSpPr>
            <a:grpSpLocks/>
          </p:cNvGrpSpPr>
          <p:nvPr/>
        </p:nvGrpSpPr>
        <p:grpSpPr bwMode="auto">
          <a:xfrm>
            <a:off x="1174118" y="2770648"/>
            <a:ext cx="449263" cy="341313"/>
            <a:chOff x="5543550" y="3667116"/>
            <a:chExt cx="558800" cy="465137"/>
          </a:xfrm>
        </p:grpSpPr>
        <p:pic>
          <p:nvPicPr>
            <p:cNvPr id="177" name="Picture 94" descr="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3844916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8" name="Picture 102" descr="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50" t="42731" r="38626" b="42841"/>
            <a:stretch>
              <a:fillRect/>
            </a:stretch>
          </p:blipFill>
          <p:spPr bwMode="auto">
            <a:xfrm>
              <a:off x="5618163" y="3667116"/>
              <a:ext cx="411162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7" name="Group 76"/>
          <p:cNvGrpSpPr>
            <a:grpSpLocks/>
          </p:cNvGrpSpPr>
          <p:nvPr/>
        </p:nvGrpSpPr>
        <p:grpSpPr bwMode="auto">
          <a:xfrm>
            <a:off x="1174118" y="1738554"/>
            <a:ext cx="450850" cy="384175"/>
            <a:chOff x="346" y="3835"/>
            <a:chExt cx="352" cy="328"/>
          </a:xfrm>
        </p:grpSpPr>
        <p:pic>
          <p:nvPicPr>
            <p:cNvPr id="188" name="Picture 77" descr="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346" y="3982"/>
              <a:ext cx="35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9" name="Picture 78" descr="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86" t="26706" r="41901" b="58647"/>
            <a:stretch>
              <a:fillRect/>
            </a:stretch>
          </p:blipFill>
          <p:spPr bwMode="auto">
            <a:xfrm>
              <a:off x="419" y="3835"/>
              <a:ext cx="2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0" name="그룹 106"/>
          <p:cNvGrpSpPr>
            <a:grpSpLocks/>
          </p:cNvGrpSpPr>
          <p:nvPr/>
        </p:nvGrpSpPr>
        <p:grpSpPr bwMode="auto">
          <a:xfrm>
            <a:off x="1163800" y="2275480"/>
            <a:ext cx="471487" cy="355741"/>
            <a:chOff x="5562619" y="6852791"/>
            <a:chExt cx="558800" cy="398910"/>
          </a:xfrm>
        </p:grpSpPr>
        <p:pic>
          <p:nvPicPr>
            <p:cNvPr id="191" name="Picture 98" descr="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62619" y="6964363"/>
              <a:ext cx="5588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2" name="Picture 205" descr="건물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8854" y="6852791"/>
              <a:ext cx="426424" cy="38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1178970" y="207478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본사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1114850" y="257999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사업소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178970" y="310585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현장</a:t>
            </a:r>
            <a:endParaRPr lang="ko-KR" altLang="en-US" sz="1000" dirty="0" err="1">
              <a:latin typeface="+mn-ea"/>
            </a:endParaRPr>
          </a:p>
        </p:txBody>
      </p:sp>
      <p:grpSp>
        <p:nvGrpSpPr>
          <p:cNvPr id="283" name="그룹 91"/>
          <p:cNvGrpSpPr>
            <a:grpSpLocks/>
          </p:cNvGrpSpPr>
          <p:nvPr/>
        </p:nvGrpSpPr>
        <p:grpSpPr bwMode="auto">
          <a:xfrm>
            <a:off x="1148169" y="3284984"/>
            <a:ext cx="450850" cy="411162"/>
            <a:chOff x="5513406" y="8037808"/>
            <a:chExt cx="558800" cy="558530"/>
          </a:xfrm>
        </p:grpSpPr>
        <p:pic>
          <p:nvPicPr>
            <p:cNvPr id="284" name="Picture 80" descr="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13406" y="8309001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85" name="Group 85"/>
            <p:cNvGrpSpPr>
              <a:grpSpLocks/>
            </p:cNvGrpSpPr>
            <p:nvPr/>
          </p:nvGrpSpPr>
          <p:grpSpPr bwMode="auto">
            <a:xfrm>
              <a:off x="5576906" y="8037808"/>
              <a:ext cx="423863" cy="482321"/>
              <a:chOff x="134" y="3430"/>
              <a:chExt cx="355" cy="411"/>
            </a:xfrm>
          </p:grpSpPr>
          <p:pic>
            <p:nvPicPr>
              <p:cNvPr id="286" name="Picture 86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76" y="347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7" name="Picture 87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62" y="3430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88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34" y="356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9" name="Picture 89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14" y="3526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0" name="Picture 90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326" y="3512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224232"/>
              </p:ext>
            </p:extLst>
          </p:nvPr>
        </p:nvGraphicFramePr>
        <p:xfrm>
          <a:off x="1186858" y="4077071"/>
          <a:ext cx="557157" cy="1745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3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외부기관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대보험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국세청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금융기관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카드사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91" name="TextBox 290"/>
          <p:cNvSpPr txBox="1"/>
          <p:nvPr/>
        </p:nvSpPr>
        <p:spPr>
          <a:xfrm>
            <a:off x="1136664" y="364564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대국민</a:t>
            </a:r>
            <a:endParaRPr lang="ko-KR" altLang="en-US" sz="1000" dirty="0" err="1">
              <a:latin typeface="+mn-ea"/>
            </a:endParaRPr>
          </a:p>
        </p:txBody>
      </p:sp>
      <p:graphicFrame>
        <p:nvGraphicFramePr>
          <p:cNvPr id="203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921795"/>
              </p:ext>
            </p:extLst>
          </p:nvPr>
        </p:nvGraphicFramePr>
        <p:xfrm>
          <a:off x="1296948" y="4327491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클립" r:id="rId10" imgW="5600700" imgH="3589338" progId="MS_ClipArt_Gallery.2">
                  <p:embed/>
                </p:oleObj>
              </mc:Choice>
              <mc:Fallback>
                <p:oleObj name="클립" r:id="rId10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4327491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212441"/>
              </p:ext>
            </p:extLst>
          </p:nvPr>
        </p:nvGraphicFramePr>
        <p:xfrm>
          <a:off x="1296948" y="4688228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클립" r:id="rId12" imgW="5600700" imgH="3589338" progId="MS_ClipArt_Gallery.2">
                  <p:embed/>
                </p:oleObj>
              </mc:Choice>
              <mc:Fallback>
                <p:oleObj name="클립" r:id="rId12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4688228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671221"/>
              </p:ext>
            </p:extLst>
          </p:nvPr>
        </p:nvGraphicFramePr>
        <p:xfrm>
          <a:off x="1296948" y="5048591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클립" r:id="rId13" imgW="5600700" imgH="3589338" progId="MS_ClipArt_Gallery.2">
                  <p:embed/>
                </p:oleObj>
              </mc:Choice>
              <mc:Fallback>
                <p:oleObj name="클립" r:id="rId13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5048591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660975"/>
              </p:ext>
            </p:extLst>
          </p:nvPr>
        </p:nvGraphicFramePr>
        <p:xfrm>
          <a:off x="1296948" y="5434032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name="클립" r:id="rId14" imgW="5600700" imgH="3589338" progId="MS_ClipArt_Gallery.2">
                  <p:embed/>
                </p:oleObj>
              </mc:Choice>
              <mc:Fallback>
                <p:oleObj name="클립" r:id="rId14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5434032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" name="AutoShape 116"/>
          <p:cNvSpPr>
            <a:spLocks noChangeAspect="1" noChangeArrowheads="1"/>
          </p:cNvSpPr>
          <p:nvPr/>
        </p:nvSpPr>
        <p:spPr bwMode="auto">
          <a:xfrm rot="5400000">
            <a:off x="1962204" y="3219115"/>
            <a:ext cx="213787" cy="900385"/>
          </a:xfrm>
          <a:prstGeom prst="upDownArrow">
            <a:avLst>
              <a:gd name="adj1" fmla="val 50000"/>
              <a:gd name="adj2" fmla="val 28648"/>
            </a:avLst>
          </a:prstGeom>
          <a:solidFill>
            <a:srgbClr val="6E9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5521" y="3403946"/>
            <a:ext cx="9501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</a:rPr>
              <a:t>입사지원</a:t>
            </a:r>
            <a:endParaRPr lang="en-US" altLang="ko-KR" sz="900" dirty="0">
              <a:latin typeface="+mn-ea"/>
            </a:endParaRPr>
          </a:p>
          <a:p>
            <a:pPr algn="ctr"/>
            <a:endParaRPr lang="en-US" altLang="ko-KR" sz="900" dirty="0">
              <a:latin typeface="+mn-ea"/>
            </a:endParaRPr>
          </a:p>
          <a:p>
            <a:pPr algn="ctr"/>
            <a:r>
              <a:rPr lang="en-US" altLang="ko-KR" sz="900" dirty="0">
                <a:latin typeface="+mn-ea"/>
              </a:rPr>
              <a:t>VOC</a:t>
            </a:r>
            <a:endParaRPr lang="ko-KR" altLang="en-US" sz="900" dirty="0" err="1">
              <a:latin typeface="+mn-ea"/>
            </a:endParaRPr>
          </a:p>
        </p:txBody>
      </p:sp>
      <p:sp>
        <p:nvSpPr>
          <p:cNvPr id="296" name="직사각형 295"/>
          <p:cNvSpPr/>
          <p:nvPr/>
        </p:nvSpPr>
        <p:spPr bwMode="auto">
          <a:xfrm>
            <a:off x="2766170" y="1677285"/>
            <a:ext cx="5565060" cy="1867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내부</a:t>
            </a:r>
            <a:r>
              <a:rPr lang="en-US" altLang="ko-KR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포털 서비스</a:t>
            </a:r>
            <a:endParaRPr lang="ko-KR" altLang="en-US" sz="1200" b="1" kern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856357" y="2142551"/>
            <a:ext cx="5474873" cy="42235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그룹웨어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2911479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웹메일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8" name="모서리가 둥근 직사각형 297"/>
          <p:cNvSpPr/>
          <p:nvPr/>
        </p:nvSpPr>
        <p:spPr>
          <a:xfrm>
            <a:off x="4807869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게시판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9" name="모서리가 둥근 직사각형 298"/>
          <p:cNvSpPr/>
          <p:nvPr/>
        </p:nvSpPr>
        <p:spPr>
          <a:xfrm>
            <a:off x="6704259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기록물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0" name="모서리가 둥근 직사각형 299"/>
          <p:cNvSpPr/>
          <p:nvPr/>
        </p:nvSpPr>
        <p:spPr>
          <a:xfrm>
            <a:off x="5756064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문서수발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1" name="모서리가 둥근 직사각형 300"/>
          <p:cNvSpPr/>
          <p:nvPr/>
        </p:nvSpPr>
        <p:spPr>
          <a:xfrm>
            <a:off x="3859674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smtClean="0">
                <a:latin typeface="+mn-ea"/>
              </a:rPr>
              <a:t>전자결재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2" name="모서리가 둥근 직사각형 301"/>
          <p:cNvSpPr/>
          <p:nvPr/>
        </p:nvSpPr>
        <p:spPr>
          <a:xfrm>
            <a:off x="7652454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채팅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3" name="모서리가 둥근 직사각형 302"/>
          <p:cNvSpPr/>
          <p:nvPr/>
        </p:nvSpPr>
        <p:spPr>
          <a:xfrm>
            <a:off x="2907294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대사우서비스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4" name="모서리가 둥근 직사각형 303"/>
          <p:cNvSpPr/>
          <p:nvPr/>
        </p:nvSpPr>
        <p:spPr>
          <a:xfrm>
            <a:off x="5823208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일정공유</a:t>
            </a:r>
            <a:r>
              <a:rPr lang="en-US" altLang="ko-KR" sz="800" kern="0" spc="-100">
                <a:latin typeface="+mn-ea"/>
              </a:rPr>
              <a:t>.</a:t>
            </a:r>
            <a:r>
              <a:rPr lang="ko-KR" altLang="en-US" sz="800" kern="0" spc="-100">
                <a:latin typeface="+mn-ea"/>
              </a:rPr>
              <a:t>시설예약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5" name="모서리가 둥근 직사각형 304"/>
          <p:cNvSpPr/>
          <p:nvPr/>
        </p:nvSpPr>
        <p:spPr>
          <a:xfrm>
            <a:off x="7281164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규정관리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6" name="모서리가 둥근 직사각형 305"/>
          <p:cNvSpPr/>
          <p:nvPr/>
        </p:nvSpPr>
        <p:spPr>
          <a:xfrm>
            <a:off x="4365251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설문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>
                <a:latin typeface="+mn-ea"/>
              </a:rPr>
              <a:t>의견조회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 smtClean="0">
                <a:latin typeface="+mn-ea"/>
              </a:rPr>
              <a:t>소식지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0" name="모서리가 둥근 직사각형 309"/>
          <p:cNvSpPr/>
          <p:nvPr/>
        </p:nvSpPr>
        <p:spPr>
          <a:xfrm>
            <a:off x="2831957" y="2808013"/>
            <a:ext cx="4343080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사업소</a:t>
            </a:r>
            <a:r>
              <a:rPr lang="en-US" altLang="ko-KR" sz="11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업무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1" name="모서리가 둥근 직사각형 310"/>
          <p:cNvSpPr/>
          <p:nvPr/>
        </p:nvSpPr>
        <p:spPr>
          <a:xfrm>
            <a:off x="2918320" y="3009401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2" name="모서리가 둥근 직사각형 311"/>
          <p:cNvSpPr/>
          <p:nvPr/>
        </p:nvSpPr>
        <p:spPr>
          <a:xfrm>
            <a:off x="3864235" y="3241832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전도금관리</a:t>
            </a:r>
          </a:p>
        </p:txBody>
      </p:sp>
      <p:sp>
        <p:nvSpPr>
          <p:cNvPr id="313" name="모서리가 둥근 직사각형 312"/>
          <p:cNvSpPr/>
          <p:nvPr/>
        </p:nvSpPr>
        <p:spPr>
          <a:xfrm>
            <a:off x="4810150" y="3009401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작업계획서</a:t>
            </a:r>
          </a:p>
        </p:txBody>
      </p:sp>
      <p:sp>
        <p:nvSpPr>
          <p:cNvPr id="315" name="모서리가 둥근 직사각형 314"/>
          <p:cNvSpPr/>
          <p:nvPr/>
        </p:nvSpPr>
        <p:spPr>
          <a:xfrm>
            <a:off x="7211101" y="2806215"/>
            <a:ext cx="1120129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en-US" altLang="ko-KR" sz="1100" b="1">
                <a:solidFill>
                  <a:schemeClr val="tx1"/>
                </a:solidFill>
                <a:latin typeface="+mn-ea"/>
              </a:rPr>
              <a:t>EHS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6" name="모서리가 둥근 직사각형 315"/>
          <p:cNvSpPr/>
          <p:nvPr/>
        </p:nvSpPr>
        <p:spPr>
          <a:xfrm>
            <a:off x="7476978" y="3002562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환경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7" name="모서리가 둥근 직사각형 316"/>
          <p:cNvSpPr/>
          <p:nvPr/>
        </p:nvSpPr>
        <p:spPr>
          <a:xfrm>
            <a:off x="7476978" y="3163525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보건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8" name="모서리가 둥근 직사각형 317"/>
          <p:cNvSpPr/>
          <p:nvPr/>
        </p:nvSpPr>
        <p:spPr>
          <a:xfrm>
            <a:off x="7476978" y="3314215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안전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2921954" y="3241832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물품관리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20" name="모서리가 둥근 직사각형 319"/>
          <p:cNvSpPr/>
          <p:nvPr/>
        </p:nvSpPr>
        <p:spPr>
          <a:xfrm>
            <a:off x="3867869" y="3009401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교육관리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1" name="모서리가 둥근 직사각형 320"/>
          <p:cNvSpPr/>
          <p:nvPr/>
        </p:nvSpPr>
        <p:spPr>
          <a:xfrm>
            <a:off x="4813784" y="3241832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업무일지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22" name="모서리가 둥근 직사각형 321"/>
          <p:cNvSpPr/>
          <p:nvPr/>
        </p:nvSpPr>
        <p:spPr>
          <a:xfrm>
            <a:off x="5759698" y="3004245"/>
            <a:ext cx="826383" cy="419945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업무실적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2388" y="353834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물품수불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3752229" y="353806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수입금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4469478" y="353680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근태관리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289320" y="353680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지출결의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2952575" y="256644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휴가신청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4204464" y="256616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제증명신청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5256831" y="2564904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출퇴근정보</a:t>
            </a:r>
            <a:endParaRPr lang="ko-KR" altLang="en-US" sz="800" dirty="0" err="1">
              <a:latin typeface="+mn-ea"/>
            </a:endParaRPr>
          </a:p>
        </p:txBody>
      </p:sp>
      <p:pic>
        <p:nvPicPr>
          <p:cNvPr id="330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815" y="2568312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1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985" y="2568312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2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97" y="2568312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160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4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522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5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602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6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38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" name="모서리가 둥근 직사각형 336"/>
          <p:cNvSpPr/>
          <p:nvPr/>
        </p:nvSpPr>
        <p:spPr>
          <a:xfrm>
            <a:off x="4855661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구매관리</a:t>
            </a:r>
          </a:p>
        </p:txBody>
      </p:sp>
      <p:sp>
        <p:nvSpPr>
          <p:cNvPr id="340" name="Rectangle 43"/>
          <p:cNvSpPr>
            <a:spLocks noChangeArrowheads="1"/>
          </p:cNvSpPr>
          <p:nvPr/>
        </p:nvSpPr>
        <p:spPr bwMode="auto">
          <a:xfrm>
            <a:off x="2785611" y="5473378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인사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급여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1" name="Rectangle 43"/>
          <p:cNvSpPr>
            <a:spLocks noChangeArrowheads="1"/>
          </p:cNvSpPr>
          <p:nvPr/>
        </p:nvSpPr>
        <p:spPr bwMode="auto">
          <a:xfrm>
            <a:off x="2785612" y="5692231"/>
            <a:ext cx="2663650" cy="3376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3" name="모서리가 둥근 직사각형 342"/>
          <p:cNvSpPr/>
          <p:nvPr/>
        </p:nvSpPr>
        <p:spPr>
          <a:xfrm>
            <a:off x="2882306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인사관리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4" name="모서리가 둥근 직사각형 343"/>
          <p:cNvSpPr/>
          <p:nvPr/>
        </p:nvSpPr>
        <p:spPr>
          <a:xfrm>
            <a:off x="3542904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</a:t>
            </a: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관리</a:t>
            </a:r>
          </a:p>
        </p:txBody>
      </p:sp>
      <p:sp>
        <p:nvSpPr>
          <p:cNvPr id="348" name="모서리가 둥근 직사각형 347"/>
          <p:cNvSpPr/>
          <p:nvPr/>
        </p:nvSpPr>
        <p:spPr>
          <a:xfrm>
            <a:off x="4203503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급상여관리</a:t>
            </a:r>
          </a:p>
        </p:txBody>
      </p:sp>
      <p:sp>
        <p:nvSpPr>
          <p:cNvPr id="350" name="모서리가 둥근 직사각형 349"/>
          <p:cNvSpPr/>
          <p:nvPr/>
        </p:nvSpPr>
        <p:spPr>
          <a:xfrm>
            <a:off x="2860019" y="5065845"/>
            <a:ext cx="2499642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일반업무 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행정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차량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보안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동호회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4" name="Rectangle 43"/>
          <p:cNvSpPr>
            <a:spLocks noChangeArrowheads="1"/>
          </p:cNvSpPr>
          <p:nvPr/>
        </p:nvSpPr>
        <p:spPr bwMode="auto">
          <a:xfrm>
            <a:off x="5673725" y="5473378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지속가능경영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5" name="Rectangle 43"/>
          <p:cNvSpPr>
            <a:spLocks noChangeArrowheads="1"/>
          </p:cNvSpPr>
          <p:nvPr/>
        </p:nvSpPr>
        <p:spPr bwMode="auto">
          <a:xfrm>
            <a:off x="5673726" y="5692232"/>
            <a:ext cx="2663650" cy="3406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8" name="모서리가 둥근 직사각형 357"/>
          <p:cNvSpPr/>
          <p:nvPr/>
        </p:nvSpPr>
        <p:spPr>
          <a:xfrm>
            <a:off x="5761272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규정관리</a:t>
            </a:r>
          </a:p>
        </p:txBody>
      </p:sp>
      <p:sp>
        <p:nvSpPr>
          <p:cNvPr id="359" name="모서리가 둥근 직사각형 358"/>
          <p:cNvSpPr/>
          <p:nvPr/>
        </p:nvSpPr>
        <p:spPr>
          <a:xfrm>
            <a:off x="4850638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총무관리</a:t>
            </a:r>
          </a:p>
        </p:txBody>
      </p:sp>
      <p:sp>
        <p:nvSpPr>
          <p:cNvPr id="360" name="모서리가 둥근 직사각형 359"/>
          <p:cNvSpPr/>
          <p:nvPr/>
        </p:nvSpPr>
        <p:spPr>
          <a:xfrm>
            <a:off x="7746869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사회가치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2" name="모서리가 둥근 직사각형 361"/>
          <p:cNvSpPr/>
          <p:nvPr/>
        </p:nvSpPr>
        <p:spPr>
          <a:xfrm>
            <a:off x="7085004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국감관리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3" name="모서리가 둥근 직사각형 362"/>
          <p:cNvSpPr/>
          <p:nvPr/>
        </p:nvSpPr>
        <p:spPr>
          <a:xfrm>
            <a:off x="6423138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공시관리</a:t>
            </a:r>
          </a:p>
        </p:txBody>
      </p:sp>
      <p:sp>
        <p:nvSpPr>
          <p:cNvPr id="364" name="Rectangle 43"/>
          <p:cNvSpPr>
            <a:spLocks noChangeArrowheads="1"/>
          </p:cNvSpPr>
          <p:nvPr/>
        </p:nvSpPr>
        <p:spPr bwMode="auto">
          <a:xfrm>
            <a:off x="5668976" y="412500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66" name="Rectangle 43"/>
          <p:cNvSpPr>
            <a:spLocks noChangeArrowheads="1"/>
          </p:cNvSpPr>
          <p:nvPr/>
        </p:nvSpPr>
        <p:spPr bwMode="auto">
          <a:xfrm>
            <a:off x="5667579" y="4323493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67" name="모서리가 둥근 직사각형 366"/>
          <p:cNvSpPr/>
          <p:nvPr/>
        </p:nvSpPr>
        <p:spPr>
          <a:xfrm>
            <a:off x="6080132" y="439558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기준관리</a:t>
            </a:r>
          </a:p>
        </p:txBody>
      </p:sp>
      <p:sp>
        <p:nvSpPr>
          <p:cNvPr id="368" name="모서리가 둥근 직사각형 367"/>
          <p:cNvSpPr/>
          <p:nvPr/>
        </p:nvSpPr>
        <p:spPr>
          <a:xfrm>
            <a:off x="6740730" y="439558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사업실적</a:t>
            </a:r>
          </a:p>
        </p:txBody>
      </p:sp>
      <p:sp>
        <p:nvSpPr>
          <p:cNvPr id="369" name="모서리가 둥근 직사각형 368"/>
          <p:cNvSpPr/>
          <p:nvPr/>
        </p:nvSpPr>
        <p:spPr>
          <a:xfrm>
            <a:off x="7401328" y="439558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사업이력</a:t>
            </a:r>
          </a:p>
        </p:txBody>
      </p:sp>
      <p:sp>
        <p:nvSpPr>
          <p:cNvPr id="370" name="모서리가 둥근 직사각형 369"/>
          <p:cNvSpPr/>
          <p:nvPr/>
        </p:nvSpPr>
        <p:spPr>
          <a:xfrm>
            <a:off x="7398232" y="4701597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업면허관리</a:t>
            </a:r>
          </a:p>
        </p:txBody>
      </p:sp>
      <p:sp>
        <p:nvSpPr>
          <p:cNvPr id="371" name="모서리가 둥근 직사각형 370"/>
          <p:cNvSpPr/>
          <p:nvPr/>
        </p:nvSpPr>
        <p:spPr>
          <a:xfrm>
            <a:off x="6089185" y="4716523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차량청소</a:t>
            </a: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6749783" y="4716523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비품작업</a:t>
            </a:r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2.3.2.1 </a:t>
            </a:r>
            <a:r>
              <a:rPr lang="ko-KR" altLang="en-US" sz="1600"/>
              <a:t>현행 업무 구성도</a:t>
            </a:r>
            <a:endParaRPr lang="ko-KR" altLang="en-US" sz="1600" dirty="0"/>
          </a:p>
        </p:txBody>
      </p:sp>
      <p:pic>
        <p:nvPicPr>
          <p:cNvPr id="398" name="Picture 143" descr="arrow_4are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>
            <a:off x="1964408" y="4077072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" name="Picture 143" descr="arrow_4are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 rot="10800000">
            <a:off x="1964408" y="4365451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87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2.3.2.2 </a:t>
            </a:r>
            <a:r>
              <a:rPr lang="ko-KR" altLang="en-US" sz="1600"/>
              <a:t>업무별 기능 분석</a:t>
            </a:r>
            <a:r>
              <a:rPr lang="en-US" altLang="ko-KR" sz="1600"/>
              <a:t>(1/4)</a:t>
            </a:r>
            <a:endParaRPr lang="ko-KR" altLang="en-US" sz="16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173565"/>
              </p:ext>
            </p:extLst>
          </p:nvPr>
        </p:nvGraphicFramePr>
        <p:xfrm>
          <a:off x="345000" y="836614"/>
          <a:ext cx="9180000" cy="547211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026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7417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3132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1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(54/68)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기초자료 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예산코드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비목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세비목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예산편성차수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급여연결코드 등록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및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계정코드별 비목연결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비목 별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세비목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연결 등의 예산 기초자료 관리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편성 및 관리를 위한 기준이며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권한관리 및  추경예산 차수관리 등의 기능 필요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부문별 예산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부문별 예산서 취합 및 조정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종합예산안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종합예산안 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실행예산서 조회 및 실행예산서 요약 조회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항목별 편성내역 입력에 의한 금액 계산 및 편성차수별 이력 보관 관리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98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예산조정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예산조정신청 및 확정처리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조정 내역  및 집계표 조회 등</a:t>
                      </a:r>
                      <a:endParaRPr lang="en-US" altLang="ko-KR" sz="900" b="0" i="0" u="none" strike="noStrike" spc="-150" baseline="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예산항목별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월별로 편성된 예산 한도 내에서 부서간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예산항목간 배정금액을 조정하고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전결권자 승인  후  예산의 변경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조정 내역을 확정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과부족에 대한 예산조정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 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연동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예산배정 신청 및 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배정 조정 및 확정 요청 및 예산파트장 승인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배정  확정 요청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전자결재  연계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 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장부관리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집행내역에 대한 수입부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예산원장 등 조회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 내역 조회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사업별 예실대비표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예산결산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편성 내역 및 총괄표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집계표 등을 조회하고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결산서를 출력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예산결산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불용처리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법인카드 출납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법인카드의  발급신청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대장관리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기능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발급요청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대장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경영평가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직급별평균인원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인건비코드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인건비계정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인건비실적집계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노동생산성계산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계량관리업무비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총인건비인상율 등록 및 조회 기능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경영평가 자료를 단순 입력하는 기능</a:t>
                      </a:r>
                      <a:endParaRPr lang="en-US" altLang="ko-KR" sz="9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 경영평가 자료의 추출기능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(129/216)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회계기준정보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은행계좌등록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표준계정관리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자금코드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지결미설정계정연결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예산편성별계정연결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급여연결코드 등록 등의 기능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회계처리 기준인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계정코드별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관리항목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추가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수입신청관리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전시관 수입내역 업로드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여입신청서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수입신청서현황 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 유형별 수입결의서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여비지급신청서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징수결의서입력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소액구매지급신청서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계정대체지급신청서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산재보험지급신청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지급신청서현황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법인카드사용내역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법인카드자료조회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계약요청승인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지출부대장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 관리 필요</a:t>
                      </a:r>
                      <a:endParaRPr lang="en-US" altLang="ko-KR" sz="9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예산외지출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여입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계좌이체 등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회계전표관리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회계전표입력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삭제전표조회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일반이체 연동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급여이체 연동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지출내역서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계좌거래내역 및 잔액조회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법인카드내역조회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선급비용 전표및 결의서 작성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퇴직지급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(DB)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전표작성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회계전표→지출결의서작성 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전표입력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대체결의서 입력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전표는 결의서의 확정에 의해 자동 생성처리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결산전표 생성기능은 별도의 메뉴관리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미지급반제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입금계좌조회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미결항목관리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지급리스트조회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지급리스트확정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입금계좌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거래처등록시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지급대상의선택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일마감관리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일계정별 전표상세조회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일마감처리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일월계표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일마감 검증내역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자금일보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경비등송금명세서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여비명세서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일일 장부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일마감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월마감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시산이월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기초시산자료입력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 결산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 결산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연도별 마감처리 기능 필요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32520" y="61817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91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2.3.2.2 </a:t>
            </a:r>
            <a:r>
              <a:rPr lang="ko-KR" altLang="en-US" sz="1600"/>
              <a:t>업무별 기능 분석</a:t>
            </a:r>
            <a:r>
              <a:rPr lang="en-US" altLang="ko-KR" sz="1600" smtClean="0"/>
              <a:t>(2/4</a:t>
            </a:r>
            <a:r>
              <a:rPr lang="en-US" altLang="ko-KR" sz="1600"/>
              <a:t>)</a:t>
            </a:r>
            <a:endParaRPr lang="ko-KR" altLang="en-US" sz="16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390866"/>
              </p:ext>
            </p:extLst>
          </p:nvPr>
        </p:nvGraphicFramePr>
        <p:xfrm>
          <a:off x="345000" y="836616"/>
          <a:ext cx="9180000" cy="541392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026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7417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8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6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(129/216)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결의서사용 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현금출납장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현금과예금명세서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총계정원장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계정별원장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보조원장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계정잔액명세서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사업잔액명세서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자금시재보고서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선급비용입력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기간비용현황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법인카드사용집계표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각종 회계장부 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EXCEL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다운로드 기능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집계된 금액에 대한 추적 기능 필수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구매요구서입력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원인행위조정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원인행위종결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여비지출결의서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구입지출결의서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소득지출결의서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퇴직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4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대보험지출결의서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지방소득세지출결의서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급여지출결의서분개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퇴직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통합결의서 계산서 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지출분개 데이타 검증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구매요청등록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일반수입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세입외수입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수입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세출외지출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여입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계좌이체결의서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대체결의서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일반대체결의서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예산대체결의서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분개장 열람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결재가 완료된 결의서의 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증빙 확인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전표확정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 확정처리로 회계전표 생성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7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합계잔액시산표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채권채무명세서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유형자산명세서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무형자산 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감가상각누계액명세서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지출증빙서류검토표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현금흐름표등록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현금흐름표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자본변동표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이익잉여금처분계산서 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업무용차량비용명세서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토지평가명세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공사원가명세서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결산자료입력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합계잔액시산표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원가보고서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이익잉여금처분계산서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현금흐름표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자본변동표 및 사업별 손익계산서 조회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결산전표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생성 및  주석조회 기능 구축 요구됨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417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손익실적분석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배부기초자료등록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배부실행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배부결과조회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배부관점별조회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손익실적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프로젝트별 손익실적 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손익 분석을 위한 손익센터관리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배부기준 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 배부 및  원가계산서 조회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원가집계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배부를 위한 기준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 방법 정의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유가증권입력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차입금입력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대여금입력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유가증권명세서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차입금명세서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대여금명세서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예적금현황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자금계획수립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기간손익인식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자금수지계획상세조회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자금수지실적상세조회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계획대비실적조회 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예적금현황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자금계획수립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자금수지계획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실적조회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등의 자금관리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경영정보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예산대비결산수지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요약 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요약 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요약 원가명세서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주요자산 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분기별 집행현황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성장성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년도별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수지운영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년도별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안정성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년도별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총괄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추정수지계산서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목별비용예산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지출예산현황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연간자금수지계획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 지급 현황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경영공시 재무현황 제공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부가세자료관리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부가가치세가산세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부동산임대내역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부동산임대공급가액명세서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공제받지못할매입세액명세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공통매앱세액안분계산내역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공통매입세액정산내역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매입자발행세금계산서합계표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부가가치세수입금액등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신용카드매출전표등발행집계표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건물등감가상각자산취득명세서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세금계산서작성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매입매출장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계산서명세서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카드매입명세서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계산서합계표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매입 부가세 신고자료 생성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부가세신고관리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부가가치세공통코드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카드매출전표수령명세서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부가가치세공제감면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부가가치세가산세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공제받지못할매입세액명세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공제받지못할매입세액합계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부가세신고자료생성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부가가치세수입금액등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신용카드매출전표등발행집계표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건물등감가상각자산취득명세서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부가세전산매체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부가세마감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 신고파일 생성 및 홈택스 신고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2520" y="61817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13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2.3.2.2 </a:t>
            </a:r>
            <a:r>
              <a:rPr lang="ko-KR" altLang="en-US" sz="1600"/>
              <a:t>업무별 기능 분석</a:t>
            </a:r>
            <a:r>
              <a:rPr lang="en-US" altLang="ko-KR" sz="1600" smtClean="0"/>
              <a:t>(3/4</a:t>
            </a:r>
            <a:r>
              <a:rPr lang="en-US" altLang="ko-KR" sz="1600"/>
              <a:t>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37348"/>
              </p:ext>
            </p:extLst>
          </p:nvPr>
        </p:nvGraphicFramePr>
        <p:xfrm>
          <a:off x="345000" y="836713"/>
          <a:ext cx="9180000" cy="552168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9761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862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6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89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(28/72)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기초자료관리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자산공통코드등록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내용연수 및 감가상각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감가상각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프로젝트별경비계정등록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자산의 대 중분류별 내용연수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자산자료입력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자산외자료입력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자산변동 일괄상태변환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자산변동내역입력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구매자산등재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구매계약 자산등재입력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구매자산등재변경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자본적지출입력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자본적지출명세서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취득시 세부 정보 등록에 의한 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배치시 개별자산 정보생성 및 바코드 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자산분류에 따른 내용연수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반출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 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반출신청 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반출신청내역 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달력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반출입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자산장부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자산관리대장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자산외관리대장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계정과목별자산 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품목별자산보유현황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장소별자산보유현황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내용연수별 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자산변동내역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자산처분내역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자산이력 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계정별 명새서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6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자산불용신청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 승인조회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 처분시행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불용 신청 및 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확정처리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부동산관리대장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부동산용도별보유목록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부동산용도별보유현황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부동산지목별보유목록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부동산지목별보유현황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부동산취득및지분현황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부동산지목변경현황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부동산면적변경현황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토지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건물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감가상각명세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감가상각계산처리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 시뮬레이션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월별감가상각명세서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연도별 감가상각명세서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고정자산명세서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상세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유형고정자산명세서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무형고정자산명세서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 감가상각  계산 및 감가상각 전표 처리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6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마감및이월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차기이월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회계전표생성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 및 전표 생성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자산대장 및 실사확인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조회 및 실사담당자등록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 계획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 보유자산 목록 및  부착할 자산카드 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재물조사 후 결과 등록 및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조치계획  보고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MASTER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연구장비사용신청입력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연구장비사용신청승인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연구장비활용현황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연구장비활용현황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NTIS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정보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0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차량등록관리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차량등록연결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차량예약신청등록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차량사용신청승인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운행전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운행종료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차량유류수불대장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차량정비이력연결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차량정비이력관리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차량정비이력조회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 예약 및 운행관리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26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(23/53)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코드등록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정원관리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정현원 현황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사업관리를 위한 사업분류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표준정보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018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물품등록관리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품목코드 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 입고 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 사용내역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 입고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사용현황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 투입 물품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구매에서 관리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품목기본정보등록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품목입고등록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품목사용내역등록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품목입고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품목사용내역현황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보유물품확인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수불 관리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구매에서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5151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사업예산안수립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사업별계획등록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사업별계획대비실적조회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기성금청구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기술자경력관리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사업예산안수립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일일보고현황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차량청소실적등록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비품작업현황등록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집계실적분류등록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집계실적분류등록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출장자 상시점검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대기차량청소입력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대기차량청소현황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사업구분별</a:t>
                      </a:r>
                      <a:r>
                        <a:rPr lang="en-US" altLang="ko-KR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 정보 취합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520" y="61817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64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2.3.2.2 </a:t>
            </a:r>
            <a:r>
              <a:rPr lang="ko-KR" altLang="en-US" sz="1600"/>
              <a:t>업무별 기능 분석</a:t>
            </a:r>
            <a:r>
              <a:rPr lang="en-US" altLang="ko-KR" sz="1600" smtClean="0"/>
              <a:t>(4/4</a:t>
            </a:r>
            <a:r>
              <a:rPr lang="en-US" altLang="ko-KR" sz="1600"/>
              <a:t>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467763"/>
              </p:ext>
            </p:extLst>
          </p:nvPr>
        </p:nvGraphicFramePr>
        <p:xfrm>
          <a:off x="345000" y="836711"/>
          <a:ext cx="9180000" cy="5472012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9761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250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6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57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(23/53)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사업이력관리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계약이력등록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계약이력현황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진행이력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775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차량청소관리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권역코드등록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청소종별코드등록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차량종별코드등록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청소차종코드등록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차종별청소종별등록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기준인공등록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차종별청소실적입력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차종별청소계획입력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청소작업완료증명서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청소작업계획대비실적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차호별청소종별등록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차호별청소실적입력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차호별주요실적조회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차량청소 작업 계획 및 실적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26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비품작업관리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비품차종코드등록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차종별차량종별등록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비품작업실적입력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객차비품취급명세서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객차비품사업실적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 작업 실적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57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업면허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업면허코드등록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업면허기술자등록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업면허기술자조회 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 업면허코드 등록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419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(11/32)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기초자료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가격정보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수익사업정보등록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수익사업정보조회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계약현황항목관리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소액현황항목관리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 기초자료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419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발주요청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발주서현황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미지급금현황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미입고현황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구매진행현황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 진행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326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 불러오기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비전자계약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계약정보현황조회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소액구매현황조회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예산실행집행율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자본예산물품수급계획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계약관리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계약변경관리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057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감독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감독조서등록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검수현황 조회 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210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구매물품 입고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구매물품 입고 확인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물품입고 관리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993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신규하자관리등록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하자관리현황등록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하자검사조서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하자완료조서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하자관리검사현황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 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993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구매실적관리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공공구매 실적조회 공공구매 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(SMPP),SMPP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업로드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G2B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코드 등록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구매실적 입력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3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일반업무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(0/5)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행정서비스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검토의뢰 접수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배분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답변결과 회신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자문 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3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동호회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동호회코드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동호회별회원리스트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 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520" y="61817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9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2.3.2.3 </a:t>
            </a:r>
            <a:r>
              <a:rPr lang="ko-KR" altLang="en-US" sz="1600"/>
              <a:t>업무별 문제점 분석</a:t>
            </a:r>
            <a:r>
              <a:rPr lang="en-US" altLang="ko-KR" sz="1600"/>
              <a:t>(1/6)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123175"/>
              </p:ext>
            </p:extLst>
          </p:nvPr>
        </p:nvGraphicFramePr>
        <p:xfrm>
          <a:off x="345000" y="836713"/>
          <a:ext cx="9216512" cy="5464316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985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85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780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사업코드와 예산코드의 체계적인  구성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사업코드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사업부문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세세부사업  체계의  코드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예산코드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예산세목 체계의 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예산항목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예산편성 항목단위의 코드화 및 계정코드와 매핑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사업체계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세부사업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예산코드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항목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91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예산편성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예산의 체계적인  편성 및 진행관리가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편성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사업부문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예산세목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예산항목별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편성 및  편성근거 입력에 의한 예산금액 산출 내역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편성 절차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요구부서 입력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부서 승인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예산파트 차수별  취합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--&gt;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조정요청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요구부서 조정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부서승인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예산부서 취합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예산안 확정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                     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예산안 조회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출력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예산안 승인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예산확정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예산서  출력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부서체계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본부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파트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사업체계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단위사업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세부사업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예산코드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항목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차수별 편성절차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차수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OPEN,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편성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조정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예산서 시스템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338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분기별 배정 관리  체계가  요구됨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분기별 예산 집행 계획을  수립하여 자금관리 자료 및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배정 기초자료로 사용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분기별 정기 배정요청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분기별로  예산 편성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항목별로 배정요청 및 승인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수시배정 신청 관리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수시배정신청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부서장승인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예산파트 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파트장 승인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집행계획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정기배정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수시배정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4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예산결산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이월 및 예산결산서 관리가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 결산 작업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예산불용 및 이월 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 결산서의 시스템화로 결산자료의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결산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예산서 시스템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4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K-IFRS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기준의 계정코드 체계 구축이 요구됨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인명 계정 은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필수항목으로 관리 필요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공기업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준정부기관 결산지침과 모기업의 계정코드를 참조하여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새로운  체계의 계정코드 마련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K-IFRS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체계의 계정코드 적용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계정코드별 필수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선택 관리항목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잔액구분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913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결의서가 세분화되어 있지 않으므로 전표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분개시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요구사항 충족이 어려움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세분화된 기능의 결의서 관리로  관련정보와 연계처리 및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분개시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발생하는 계정과목의 필수 관리항목  취득이  용이한  기능 구축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결의서 세분화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지출결의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세출외지출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수입결의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일반수입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사업수입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세입외수입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대체결의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계좌대체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자동분개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결의서 입력 확정시 가전표 분개처리 및 분개내역 제공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계정과목별 관리항목 정보는 결의서에서 자동 취합 기능 구축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전자증빙 관리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세금계산서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카드전표의 전자증빙화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스캔증빙의 전자화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한도 관리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입력시점에 예산한도를 가감하여 실시간  예산 통제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 특성에 맞는 화면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 구성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관련정보와 입력시 연계처리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완벽한 자동분개 시스템 구축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전표분개와 계정별 필수항목 검증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전자증빙시스템 도입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실시간 통제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491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출금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 집행대상을 자금 출납시점에  추출하는 형태로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취합시점별 변동자료 관리 및 출납결과 관리가 요구됨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결의서 확정시 출금예정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DATA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를 기록하고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     저장된 자료에서 집행대상을 확정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금융기관 이첩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 예정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 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정형화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TABLE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등록 후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건별 진행관리 </a:t>
                      </a:r>
                      <a:endParaRPr lang="en-US" altLang="ko-KR" sz="900" b="0" i="0" u="none" strike="noStrike" spc="-15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자금집행대상 선택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자금집행승인요청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금융기관 이첩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900" b="0" i="0" u="none" strike="noStrike" spc="-15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  결과를 받아서 미지급전표 하단에 출금전표  분개 생성</a:t>
                      </a:r>
                      <a:endParaRPr lang="en-US" altLang="ko-KR" sz="900" b="0" i="0" u="none" strike="noStrike" spc="-15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(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지출원인계정 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 /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미지급계정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 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미지급계정 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요구불예금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출금예정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금액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출금계좌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입금계좌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…)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출금 절차 및 출금결과 건별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집행요청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출금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출금전표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705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 내역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 연계하지 않고 입금전표 입력으로 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자금시재를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관리하여  시점별 시재가 맞지  않음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입금시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예금가수금  전표를 생성하여 시재를 정확하게 관리하고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예금가수금에 대한 수납처리 시에  수납대상 미수금을 선택하여 건별  채권 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입금처리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예금가수금 전표 자동생성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제예금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예금가수금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분개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수납처리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입금건과 미수금 건을 연결하여 수납처리 및 전표 생성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예금가수금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 /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미수금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 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수신시점에 입금전표 자동 생성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시재 관리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수납처리시에 미수금에 대한 정보 선택 후 수납처리로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채권 </a:t>
                      </a:r>
                      <a:r>
                        <a:rPr lang="ko-KR" altLang="en-US" sz="900" b="1" i="0" u="none" strike="noStrike" baseline="0" dirty="0" err="1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건별관리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16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2.3.2.3 </a:t>
            </a:r>
            <a:r>
              <a:rPr lang="ko-KR" altLang="en-US" sz="1600"/>
              <a:t>업무별 문제점 분석</a:t>
            </a:r>
            <a:r>
              <a:rPr lang="en-US" altLang="ko-KR" sz="1600"/>
              <a:t>(2/6)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32070"/>
              </p:ext>
            </p:extLst>
          </p:nvPr>
        </p:nvGraphicFramePr>
        <p:xfrm>
          <a:off x="345000" y="836713"/>
          <a:ext cx="9216512" cy="5551080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86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8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391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세무신고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원천세 전자신고 기능 미비로  전자신고 불가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부가세 신고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결의서 입력시 부터 부가세 정보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원천세 신고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퇴직금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기타소득 지급시부터 원천세 자료관리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자료관리 및 신고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File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원천세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자료관리 및 신고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File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80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전표 생성 기능  미비한 부분 및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결산서의 수작업 관리 부분을  시스템화  구축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결산처리 기능이 구축되어 있지 않고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결산서와 시스템상의 결산 재무제표가 크게 상이함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결산전표 생성 기능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계정대체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선급비용 기간결산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미수수익 전표 생성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                     건설중인자산 결산처리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 전표처리  기능구축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전표생성시 결산서 시스템화를 위한 계정별 필수항목자료  입력 검증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주석 생성 기능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주석에 필요한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여개의 결산주석 기능을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                 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구축하기 위한 기초자료 입력  기능 및 주석 조회 기능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업무별 전표생성 기능 구축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결산이 가능하도록 전표내의 필수항목 입력시 검증 관리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결산주석 기초자료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결산주석 조회 기능 구축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13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회계기준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과거 기업회계기준에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의한 기준에서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2022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국제회계기준 도입으로  현행 회계 는 기준에 미흡한 상태임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공기업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준정부기관 결산지침과 모기업의 계정체계에 따라  데이터 정제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K-IFRS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기준에 부합되는 각종 장부 체계 구축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 체계 개선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장부 형태 개선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528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결산데이터 차이 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결산장부와 회계시스템 의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차이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존재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결산서에 시스템 자료가 일치하도록 처리해야 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2022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결산자료의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이월 및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계정과목별 잔액기준에 의한 잔액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생성 및 이월 처리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계정과목별 잔액을 계정과목의 잔액구분별 잔액으로 세분화하여 이월  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2023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전표 자료에 계정별 잔액구분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보정하여  집계처리하고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서와 차이가 발생하는 부분에 대한 전표 처리로 결산자료 완성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  결산서의 시스템화로 결산자료의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출력기능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2022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이월 자료 점검 및 세분화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2022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결산자료 이월 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2023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전표의 계정별 필수항목 확인 및 데이터 보정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미생성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처리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준비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결산을 위한  결산 기능 및 데이터 점검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결산자료와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시스템의 이월자료 상이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생성된 전표의 계정별 필수항목 미비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회계전표 미작성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존재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 완료 후 이월 프로그램 확인 후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이월 자료 생성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생성된 전표의 계정별 관리항목 미비점 확인 및 데이터 보완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회계전표 미작성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  확인 및 전표처리로 계정별 원장 확인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연결산 이월 처리 기능 개선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2014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전표의 필수관리항목 보정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미생성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처리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41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자산분류코드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동일한 계정의 자산이라도 감가상각 내용연수를 다르게 적용할 수 있는 기준 관리가 필요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자산분류코드 관리항목에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해당 분류의 감가상각 내용연수를 관리하여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자산취득시 자산 분류코드를 선택하면  해당 내용연수가 적용되도록 처리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자산분류별 내용연수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취득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용역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공사에 의한 취득 처리 시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취득금액 산정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사용권자산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리스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취득 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용역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공사에 의한 취득 처리는 가계정번호별로 집계된 금액으로 취득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사용권자산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리스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취득 처리는 리스자산 등록 으로 자산취득 처리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가계정번호별 취득금액 집계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리스자산 등록에 의한 자산등재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8916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회계에서 감가상각에 적용하고 있는 자산목록과 시스템에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등록되어 있는 자산목록이 상이하여 시스템으로 감가상각을 계산하지 못하고 있음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회계의 감가상각 대장과 시스템  등록 자산의 일원화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 자산을 기준으로  시스템자산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목록과 매칭하여 일원화 작업 수행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회계에만 있는 자산은 시스템에 등록하여  장부자산으로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시스템에만 있는 자산은 부외자산으로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 자산금액을  시스템의 세부자산으로  동일하게 배부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배부가 완료된 시점부터 시스템으로  감가상각 작업 수행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 마감 작업으로 감가상각 전표 자동 생성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감가상각이 마감된 년월의 자산은 취득 외의 변경은 방지하고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감가상각 마감이 된  시점의 취득자산은 상각시점에  상각하지 못한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금액까지 일괄 상각해서 처리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실물자산 매칭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 매칭 데이터 처리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감가상각 계산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감가상각전표 자동 생성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마감월의 자산 변동 방지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취득입력 지연 데이터의 감가상각 일괄 계산 처리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64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2.3.2.3 </a:t>
            </a:r>
            <a:r>
              <a:rPr lang="ko-KR" altLang="en-US" sz="1600"/>
              <a:t>업무별 문제점 분석</a:t>
            </a:r>
            <a:r>
              <a:rPr lang="en-US" altLang="ko-KR" sz="1600"/>
              <a:t>(3/6)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28963"/>
              </p:ext>
            </p:extLst>
          </p:nvPr>
        </p:nvGraphicFramePr>
        <p:xfrm>
          <a:off x="345000" y="836713"/>
          <a:ext cx="9216512" cy="5568935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4904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90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건설중인자산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건설중인 자산의 결산처리 기능 미비로 수작업으로 전표 작성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결산일자에 자산취득이 되지 않은 가계정에 집계된 금액을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건설중인 자산으로 대체처리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건설중인 자산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  /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집행시의 계정코드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익일 환원전표까지 일괄 생성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건설중인 자산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xxx  /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집행시의 계정코드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-xxx))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건설중인 자산 결산 전표생성 및 환원 전표 동시 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410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자산이동관리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부서편성 혹은 사업의 개시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종료 등으로 자산을 일괄이동하는 기능이 미흡하고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자산실사에서도 부서별 보유자산의 과부족을  확인하여 부서이동시키는 기능이 필요함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부서편성 혹은 사업의  시작과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종료 시 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자산을 선택해서 일괄 이동시키는 가능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실사 후  자산관리자가 부서별 과부족 자산 목록을 조회 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부족한 부서에서 자산이 추가된 부서로 자산을 이동 처리하는 기능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 이동이력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이동 확정은 전자결재를 통하여 자산담당 부서장의 승인 시 확정처리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일괄 이동기능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결과 과부족에 대한 이동처리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자산이동 이력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자산이동 처리 전자결재 연동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43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부서별로 명시된 자산담당자가 없음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 계획의 기안 및 통보 기능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실사용 부서 보유자산 목록 출력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부착용  자산명패 출력기능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실사결과 등록 및 보고서 전자결재 연동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6)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결과처리에 대한 자산담당 의견 회신 등의 기능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부서별로 자산담당자 입명 및 등록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 계획기안 및 통보처리 기능 구축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실사용 부서별 보유자산 목록과 자산에 부착할 명패  출력 기능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 결과 입력 및  이상이 있는 자산에 대한 조치계획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 결과 보고 전자결재 연동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결과보고에 대한 자산담당자의 의견 입력 및 회신 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 자산담당자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실사계획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~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결과조치까지 기능 구축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자산목록과 부착용 명패 출력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연동 처리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93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자산의 불용처리 및 처분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폐기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사항을 처리하고 처분전표를 생성하는 기능이 필요함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자산의 불용신청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불용취소 신청 의 그룹웨어 연계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 처분신청 및 승인처리 그룹웨어 연계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승인된 자산 처분 건은 자산담당자 확정시  처분 결의서 생성 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미수금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매각금액 있을 경우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xxx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/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감가상각누계액                    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  /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자산처분손실                        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  /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자산처분이익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불용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불용취소 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자산처분 신청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 전자결재 연동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처분승인건의 자산담당자 확정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확정시 처분 결의서 자동 생성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410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수급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 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수작업에 의한 사업별 자재수급계획의 정확성 미비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+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소요량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=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예상재고 계산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재고 합산 수기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 계획에 의한 예정입고 아닌 입고량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소요량이 아닌 수작업 입력 출고량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재고량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재고량 취합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소요량 산출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표준소요량 관리자료에 의한 실행사업 자재소요량 계산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입고량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시점별로 안전재고량을 계산하여 안전재고 이하시점에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최소발주량으로 입고 소요일수를 감안하여 구매계획 생성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물품코드별  안전재고량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최소발주량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 소요일수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등의 표준자료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자재 수불관리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사업종류별 자재 표준 소요량관리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투입시점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소요량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구매계획 자동생성 시스템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물품별 구매표준 정보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888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 청구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 입력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소요일을 입력하여 소요물량 신청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수량에 대한 물품 확인 및 발주처리 기능 미비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출납 승인 처리시 세부기능 부족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 입력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수량을 입력하여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소요물량 신청시 신청물량 자동 집계로 예상출고량 계산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수량에 대한 물품 재고 확인 및 부족량에 대한 발주처리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출납 승인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재고 확인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출고량을 입력 하여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출고지시 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입력 항목 추가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수량 집계 및 발주량 산정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출고 지시 및 발주처리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69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2.3.2.3 </a:t>
            </a:r>
            <a:r>
              <a:rPr lang="ko-KR" altLang="en-US" sz="1600"/>
              <a:t>업무별 문제점 분석</a:t>
            </a:r>
            <a:r>
              <a:rPr lang="en-US" altLang="ko-KR" sz="1600"/>
              <a:t>(4/6)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011707"/>
              </p:ext>
            </p:extLst>
          </p:nvPr>
        </p:nvGraphicFramePr>
        <p:xfrm>
          <a:off x="345000" y="836713"/>
          <a:ext cx="9216512" cy="5472013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3330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3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878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수리구매계약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 등록의 전자결재  미 연계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수리요청 접수 시 신청자에게 알림기능 요구됨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수리요청에 대한 승인 처리 전자결재로 관리 요구됨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 발주처리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계약사항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 대한  정보 부족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수리완료 검사 및 완료 통보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 등록의 전자결재  연계로  원활한 업무 흐름  유도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수리요청에 대한 승인 결재가 완료되면 계약부서 발주담당자에게  알림처리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승인이 디면 물품 수리요청 접수처리 시 신청자에게 알림기능 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발주계약 상세정보 통합계약관리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지급계획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 검수 및 지급결의서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자산번호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후속적지출 여부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전자결재시스템 연계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수리구매 계약 상세 정보 통합관리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(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지급계획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등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156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발주일정 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개찰결과기록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상세정보 관리 및 계약 변경관리 기능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상세정보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일반 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계약종류구분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계약금액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사업코드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예산정보 관리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예산항목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예산금액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 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컨소시엄 정보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하도급정보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거래처별 지분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계좌번호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연락처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일정계획정보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계획기간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실적기간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특기사항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지급계획정보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지급계획일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선금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중도금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잔금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기성율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검수조서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검수일자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입회자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검수내용 등의 검수정보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변경 관리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계약변경 차수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변경내역 정보 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차수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계약건별 상세 정보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지급계획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 등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00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저장품 수불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사업장별로 보유하고 있는 저장품 수불 관리 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입고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 기타출고 등 수불내역 데이터에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수불원장 자동 관리 기능 필요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출고시 출고금액 산정 및 전표처리기능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저장품에 대한 창고별 수불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창고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일자별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월별 원장 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수량과 금액 실시간 기재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수불 데이터로 실시간 원장 집계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투입시 투입금액 계산 및 전표 생성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이동평균법에 의한 출고금액  계산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출고금액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=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이월금액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입고금액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)/(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이으ㅝㄹ수량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입고수량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)*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출고수량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수불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수불데이터 실시간 집계로 현재고 수량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금액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출고가는 이동평균법 적용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 입력시 출고전표 자동 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500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진행모니터링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모니터링을 위한 진행자료 입력 을 위해 수시로 조달 시스템을 접속해서 진행자료를 확인 후 입력해야 함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모니터링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청구접수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 주요일자 수시 등록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발주시 수작업 입력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주요일자별 자동 일정 생성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사전규격의뢰 진척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정보 어려움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6)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 진척도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Monitoring--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정보 어려움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7)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진척도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정보 어려움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8)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 집행률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집행실적 사업별 집계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직접비만 실시간 집계가능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 조달 시스템의 진행정보를 모니터링 하기 위한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 도입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(RPA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(Robot Process Automation)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연계되지 않는 타 시스템에 접속하여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                   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자료를 찾아서 내부시스템에 저장할 수 있음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모니터링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물품청구 후 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발주진행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낙찰정보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검수일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조달구매 모니터링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등의 정보를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 </a:t>
                      </a:r>
                      <a:r>
                        <a:rPr lang="ko-KR" altLang="en-US" sz="900" b="1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수시로 취득하여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 모니터링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이력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 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 상세정보 입력여부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7)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 집행률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 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예산 집행실적 자동 집계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예실대비표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도입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물품청구건에 대한 모니터링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조달건별 모니터링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(RPA)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 및 계약변경 모니터링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예산집행률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예실대비표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31798"/>
              </p:ext>
            </p:extLst>
          </p:nvPr>
        </p:nvGraphicFramePr>
        <p:xfrm>
          <a:off x="4368311" y="3662276"/>
          <a:ext cx="3096344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7969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8954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8954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창고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물품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이월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입고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출고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재고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53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5322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09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2.3.2.3 </a:t>
            </a:r>
            <a:r>
              <a:rPr lang="ko-KR" altLang="en-US" sz="1600"/>
              <a:t>업무별 문제점 분석</a:t>
            </a:r>
            <a:r>
              <a:rPr lang="en-US" altLang="ko-KR" sz="1600"/>
              <a:t>(5/6)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58250"/>
              </p:ext>
            </p:extLst>
          </p:nvPr>
        </p:nvGraphicFramePr>
        <p:xfrm>
          <a:off x="345000" y="836713"/>
          <a:ext cx="9216512" cy="5472011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269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사업기획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예정 정보 등록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수주 진행 여부관리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사업계획수립 건에 대한 집계 및 보고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처리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 예정정보에 대한 사업정보 및 담당자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 상태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,DrROP,t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사업설명회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견적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개찰결과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DROP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여부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입력에 의한 사업계획 가감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사업시기에 의한 사엽종류별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기간별 사업계획 집계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조달정보 취득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상태코드로 전표 미생성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처리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479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사업전략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대상을 선정하고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추진 전략을 등록하고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전략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을 검토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조정하여 확정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 대상 사업을 선정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선정일자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선정자 입력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영업일정 및 일정별 활동계획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전략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입력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전략안 보고 및 승인처리의 전자결재 연계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영업대상 사업 선정 및 전략 입력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영업전략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79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수주진행정보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수주예상 사업에 대한 진행상태 뿐 아니라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수주활동에 대한 주요 정보를 입력하여 수주이력 및 진행현황을 파악할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필요가 있음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수주 대상사업에 대한 진행상태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,DrROP,t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사업설명회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견적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개찰결과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영업활동 이력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수주활동에 대한 주요 정보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및 특기사항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수주대상 사업에 대한 진행현황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90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사업실적관리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과거 사업실적을 입력하여 제안 및 입찰 제출용 사업실적을 출력할 수 있는 기능 필요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 형태 유형별로 출력할 수 있는 기능이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 실적 입력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제출용 서류를 출력할 수 있는 사업실적 정보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 출력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특정기간의 사업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지정한 부문의 실적을 일괄 조회한 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출력할 대상을 선택하여  출력할 수 있도록 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출력항목과  항목배치도 사용자가 지정할 수 있도록 구축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다양한 형태의  사업실적 요구에 대응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실적자료 입력기능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제출용 사업실적 검색 및 다양한 형태의 사업실적 양식 출력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지원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90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기술자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경력관리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제안 및 입찰 서류를 시스템으로 처리하기 위해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 기술자의 인적사항 및 자격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면허 관리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요청 형태 유형별로 출력할 수 있는 기능이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 기술자의 인적사항 및 자격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면허 등록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 기술자  목록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출력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-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지정한 자격증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면허를 소지한 기술자 목록을 일괄 조회한 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출력할 대상을 선택하여  출력할 수 있도록 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출력항목과  항목배치도 사용자가 지정할 수 있도록 구축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다양한 형태의  보유 기술자  목록 제출요구에 대응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 기술자 정보 입력 및 수정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제출용 기술자 목록 조회 및 다양한 형태의 양식 출력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지원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276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접수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 사이트를 수시로 접속하여 수주대상 사업의 정보를 검색하여  사업 수주 정보로 입력하는 업무이므로  대표적인 단순반복작업이며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노동기피  대상 업무이고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실시간으로 정보를 취득하기가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어려움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수시로 단순반복을 처리하는 솔루션인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도입하여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RPA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는 관심 정보를  신속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정확하게 취득하여 담당자에게 정보를 제공하고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담당자는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에서 제공한 정보를 검토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정리하여 영업정보로 등록하여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후속작업자가 정보를 활용할 수 있도록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하여 원활한 업무처리를 유도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조달정보 취득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담당자의 점검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정리</a:t>
                      </a:r>
                      <a:endParaRPr lang="en-US" altLang="ko-KR" sz="900" b="1" i="0" u="none" strike="noStrike" baseline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후속 작업자 의 원활한 업무처리  지원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96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2.3.2 </a:t>
            </a:r>
            <a:r>
              <a:rPr lang="ko-KR" altLang="en-US" sz="1800"/>
              <a:t>현행 기능 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2.3.2.3 </a:t>
            </a:r>
            <a:r>
              <a:rPr lang="ko-KR" altLang="en-US" sz="1600"/>
              <a:t>업무별 문제점 분석</a:t>
            </a:r>
            <a:r>
              <a:rPr lang="en-US" altLang="ko-KR" sz="1600"/>
              <a:t>(6/6)</a:t>
            </a:r>
            <a:endParaRPr lang="ko-KR" altLang="en-US" sz="14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164818"/>
              </p:ext>
            </p:extLst>
          </p:nvPr>
        </p:nvGraphicFramePr>
        <p:xfrm>
          <a:off x="345000" y="836714"/>
          <a:ext cx="9216512" cy="5480324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2695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69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051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입찰참여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 규격 정보를 검토하여 입찰 참여  여부를 결정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하는 과정이 시스템화 되지 않음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 참여로 결정시 향후 일정 및 역할 배분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사전규격정보 다운로드 후 사업정보의 사전규격 문서로 업로드하여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입찰참여 여부를 결정는 요인을 선택해서 저장하고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담당의견 및 결정결과를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등록하여 공유할 수 있도록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결정요인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예상수익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난이도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수행실적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보유기술자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납기 등의 결정요인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여부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결정에 참여한  여러 담당의 결정 요인 저료를  확인 후 최종결정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참여로 결정시 향후 역할 배분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사전규격자료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입찰참여 여부 요인별 자료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최종결정 처리 내역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참여 결정시 역할 배분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참여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에서 참가자가 파악해야 할 필수 정보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참가 후 보고 등의 수작업관리 부분을 시스템으로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구축하여  표준화 할 필요 있음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 일정 및 참가자 정보 입력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설명회에서 파악해야 할  정보 표준목록을 관리하여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필수 정보의 누락 방지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참여자의 항목별 정보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추가 의견 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보고서의 전자결재 연동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영업대상 사업 선정 및 전략 입력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영업전략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입찰실행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작성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입찰일정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및 투찰가 등 입찰정보를 시스템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으로 관리하여 수주 이력 관리 및 향후 영업자료로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활용할 수 있도록 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일정  및 담당자 등록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서류별 준비일정 및 완료여부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개찰 후 투찰금액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순위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낙찰업체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낙찰가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의견 등  정보 입력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입찰일정 및 입찰서류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 후 결과 등록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5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나라장터의 계약정보를  확인하여 수작업으로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 입력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RPA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솔루션을 통해서 수주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정보가 자동으로 입력되도록  처리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입력되는 정보 외에 내부 관리자료 추가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변경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관리 및 변경이력 조회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조달정보 취득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실행계획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일정계획정보 관리의 필요성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단위공정율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 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정보 관리의 필요성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 후 실행 계획 정보관리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예산정보 관리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예산항목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예산금액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일정계획정보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단위공정율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일정계획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관리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9051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기록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집계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실적 집계자동화를 위해  전표내에 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코드를 필수항목으로 관리하고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 및 간접비는 수행사업별로 배부할 수 있는 배부기준항목이 관리되 어야 함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 원가계산을 위한 투입공수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 자재 실적을 집계할 수 있는 기능 구축이 필요함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실적을 집계하기 위하여 전표항목에 사업코드를 필수항목으로 설정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간접비를  사업별로 배부하기 위한 계정과목별 필수 관리항목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급여를 배부하기 위한 투입공수의 집계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재료비를 배부하기 위한  사업별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투입 자재  등의 실적을 입력하는 기능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배부를 위한 계정별 배부기준 관리  및  배부 기능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각종  사업실적  현항 조회 기능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전표항목 요건 추가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필수항목 정의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간접비의 사업별  배부기준 관리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071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기성청구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예산집행율에 의한 기성고 신청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노무비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기성금액을 산출하기 위한 예실대비표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기성청구서를 작성 하기 위한 직접비 실시간 집계 및 공통비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 배부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 집계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노무비 배부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경비 집계 및 배부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예실대비표 관리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예산 집행실적 실시간 집계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 배부 기능 구축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810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다양한  통계 기능 구축 필요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사업부문별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업실적의 다양한  통계 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  및  집계  조회 기능  구축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26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현행 시스템이 운용</a:t>
            </a:r>
            <a:r>
              <a:rPr lang="en-US" altLang="ko-KR" sz="1600"/>
              <a:t>/</a:t>
            </a:r>
            <a:r>
              <a:rPr lang="ko-KR" altLang="en-US" sz="1600"/>
              <a:t>보관하고 있는 </a:t>
            </a:r>
            <a:r>
              <a:rPr lang="en-US" altLang="ko-KR" sz="1600"/>
              <a:t>DATABASE </a:t>
            </a:r>
            <a:r>
              <a:rPr lang="ko-KR" altLang="en-US" sz="1600"/>
              <a:t>및 </a:t>
            </a:r>
            <a:r>
              <a:rPr lang="en-US" altLang="ko-KR" sz="1600"/>
              <a:t>DATA </a:t>
            </a:r>
            <a:r>
              <a:rPr lang="ko-KR" altLang="en-US" sz="1600"/>
              <a:t>분석을 통해 시스템의 구조 및 </a:t>
            </a:r>
            <a:r>
              <a:rPr lang="en-US" altLang="ko-KR" sz="1600"/>
              <a:t>DATA</a:t>
            </a:r>
            <a:r>
              <a:rPr lang="ko-KR" altLang="en-US" sz="1600"/>
              <a:t> 무결성 지향도</a:t>
            </a:r>
            <a:r>
              <a:rPr lang="en-US" altLang="ko-KR" sz="1600"/>
              <a:t>, </a:t>
            </a:r>
            <a:r>
              <a:rPr lang="ko-KR" altLang="en-US" sz="1600"/>
              <a:t>정형화</a:t>
            </a:r>
            <a:r>
              <a:rPr lang="en-US" altLang="ko-KR" sz="1600"/>
              <a:t>/</a:t>
            </a:r>
            <a:r>
              <a:rPr lang="ko-KR" altLang="en-US" sz="1600"/>
              <a:t>표준화 수준을 식별하고자 함</a:t>
            </a:r>
            <a:r>
              <a:rPr lang="en-US" altLang="ko-KR" sz="1600"/>
              <a:t> </a:t>
            </a:r>
            <a:r>
              <a:rPr lang="ko-KR" altLang="en-US" sz="1600"/>
              <a:t> </a:t>
            </a:r>
            <a:endParaRPr lang="ko-KR" altLang="en-US" sz="16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2.3.3 DATABASE/DATA </a:t>
            </a:r>
            <a:r>
              <a:rPr lang="ko-KR" altLang="en-US" sz="1800"/>
              <a:t>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2.3.3.1 DATABASE/DATA </a:t>
            </a:r>
            <a:r>
              <a:rPr lang="ko-KR" altLang="en-US" sz="1600"/>
              <a:t>분석 개요</a:t>
            </a:r>
            <a:endParaRPr lang="ko-KR" altLang="en-US" sz="1600" dirty="0"/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0" name="Rectangle 4"/>
          <p:cNvSpPr>
            <a:spLocks noChangeArrowheads="1"/>
          </p:cNvSpPr>
          <p:nvPr/>
        </p:nvSpPr>
        <p:spPr bwMode="auto">
          <a:xfrm>
            <a:off x="560512" y="4797152"/>
            <a:ext cx="3909328" cy="14401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TABLE </a:t>
            </a:r>
            <a:r>
              <a:rPr lang="ko-KR" altLang="en-US" sz="1100" spc="-30">
                <a:latin typeface="+mn-ea"/>
              </a:rPr>
              <a:t>사용 현황 분석</a:t>
            </a:r>
            <a:r>
              <a:rPr lang="en-US" altLang="ko-KR" sz="1100" spc="-30" dirty="0">
                <a:latin typeface="+mn-ea"/>
              </a:rPr>
              <a:t/>
            </a:r>
            <a:br>
              <a:rPr lang="en-US" altLang="ko-KR" sz="1100" spc="-30" dirty="0">
                <a:latin typeface="+mn-ea"/>
              </a:rPr>
            </a:br>
            <a:r>
              <a:rPr lang="en-US" altLang="ko-KR" sz="1100" spc="-30">
                <a:latin typeface="+mn-ea"/>
              </a:rPr>
              <a:t>- </a:t>
            </a:r>
            <a:r>
              <a:rPr lang="ko-KR" altLang="en-US" sz="1100" spc="-30">
                <a:latin typeface="+mn-ea"/>
              </a:rPr>
              <a:t>테이블 구축 대비 운용</a:t>
            </a:r>
            <a:r>
              <a:rPr lang="en-US" altLang="ko-KR" sz="1100" spc="-30">
                <a:latin typeface="+mn-ea"/>
              </a:rPr>
              <a:t>(</a:t>
            </a:r>
            <a:r>
              <a:rPr lang="ko-KR" altLang="en-US" sz="1100" spc="-30">
                <a:latin typeface="+mn-ea"/>
              </a:rPr>
              <a:t>사용</a:t>
            </a:r>
            <a:r>
              <a:rPr lang="en-US" altLang="ko-KR" sz="1100" spc="-30">
                <a:latin typeface="+mn-ea"/>
              </a:rPr>
              <a:t>)</a:t>
            </a:r>
            <a:r>
              <a:rPr lang="ko-KR" altLang="en-US" sz="1100" spc="-30">
                <a:latin typeface="+mn-ea"/>
              </a:rPr>
              <a:t> 현황 분석</a:t>
            </a:r>
            <a:endParaRPr lang="en-US" altLang="ko-KR" sz="1100" spc="-30" dirty="0">
              <a:latin typeface="+mn-ea"/>
            </a:endParaRPr>
          </a:p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칼럼 사용 현황 </a:t>
            </a:r>
            <a:r>
              <a:rPr lang="ko-KR" altLang="en-US" sz="1100" spc="-30" dirty="0">
                <a:latin typeface="+mn-ea"/>
              </a:rPr>
              <a:t>분석</a:t>
            </a:r>
            <a:r>
              <a:rPr lang="en-US" altLang="ko-KR" sz="1100" spc="-30" dirty="0">
                <a:latin typeface="+mn-ea"/>
              </a:rPr>
              <a:t/>
            </a:r>
            <a:br>
              <a:rPr lang="en-US" altLang="ko-KR" sz="1100" spc="-30" dirty="0">
                <a:latin typeface="+mn-ea"/>
              </a:rPr>
            </a:br>
            <a:r>
              <a:rPr lang="en-US" altLang="ko-KR" sz="1100" spc="-30">
                <a:latin typeface="+mn-ea"/>
              </a:rPr>
              <a:t>- </a:t>
            </a:r>
            <a:r>
              <a:rPr lang="ko-KR" altLang="en-US" sz="1100" spc="-30">
                <a:latin typeface="+mn-ea"/>
              </a:rPr>
              <a:t>개별 칼럼의 </a:t>
            </a:r>
            <a:r>
              <a:rPr lang="en-US" altLang="ko-KR" sz="1100" spc="-30">
                <a:latin typeface="+mn-ea"/>
              </a:rPr>
              <a:t>DATA </a:t>
            </a:r>
            <a:r>
              <a:rPr lang="ko-KR" altLang="en-US" sz="1100" spc="-30">
                <a:latin typeface="+mn-ea"/>
              </a:rPr>
              <a:t>존재여부 </a:t>
            </a:r>
            <a:r>
              <a:rPr lang="ko-KR" altLang="en-US" sz="1100" smtClean="0">
                <a:latin typeface="맑은 고딕" pitchFamily="50" charset="-127"/>
                <a:ea typeface="맑은 고딕" pitchFamily="50" charset="-127"/>
              </a:rPr>
              <a:t>분석</a:t>
            </a:r>
            <a:endParaRPr lang="en-US" altLang="ko-KR" sz="1100" smtClean="0"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 smtClean="0">
                <a:latin typeface="+mn-ea"/>
              </a:rPr>
              <a:t>DATABASE </a:t>
            </a:r>
            <a:r>
              <a:rPr lang="ko-KR" altLang="en-US" sz="1100" spc="-30" smtClean="0">
                <a:latin typeface="+mn-ea"/>
              </a:rPr>
              <a:t>기능 활용도</a:t>
            </a:r>
            <a:endParaRPr lang="en-US" altLang="ko-KR" sz="1100" spc="-30" smtClean="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  <a:ea typeface="맑은 고딕" pitchFamily="50" charset="-127"/>
              </a:rPr>
              <a:t> </a:t>
            </a:r>
            <a:r>
              <a:rPr lang="en-US" altLang="ko-KR" sz="1100" spc="-30" smtClean="0">
                <a:latin typeface="+mn-ea"/>
                <a:ea typeface="맑은 고딕" pitchFamily="50" charset="-127"/>
              </a:rPr>
              <a:t>   - DATABASE</a:t>
            </a:r>
            <a:r>
              <a:rPr lang="ko-KR" altLang="en-US" sz="1100" spc="-30" smtClean="0">
                <a:latin typeface="+mn-ea"/>
                <a:ea typeface="맑은 고딕" pitchFamily="50" charset="-127"/>
              </a:rPr>
              <a:t>에서 제공하는 정합성을 위한 기능 활용 미비</a:t>
            </a:r>
            <a:endParaRPr lang="en-US" altLang="ko-KR" sz="1100" spc="-30" smtClean="0">
              <a:latin typeface="+mn-ea"/>
              <a:ea typeface="맑은 고딕" pitchFamily="50" charset="-127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  <a:ea typeface="맑은 고딕" pitchFamily="50" charset="-127"/>
              </a:rPr>
              <a:t> </a:t>
            </a:r>
            <a:r>
              <a:rPr lang="en-US" altLang="ko-KR" sz="1100" spc="-30" smtClean="0">
                <a:latin typeface="+mn-ea"/>
                <a:ea typeface="맑은 고딕" pitchFamily="50" charset="-127"/>
              </a:rPr>
              <a:t>     (TRIGGER, PROCEDURE, PACKAGE </a:t>
            </a:r>
            <a:r>
              <a:rPr lang="ko-KR" altLang="en-US" sz="1100" spc="-30" smtClean="0">
                <a:latin typeface="+mn-ea"/>
                <a:ea typeface="맑은 고딕" pitchFamily="50" charset="-127"/>
              </a:rPr>
              <a:t>등</a:t>
            </a:r>
            <a:r>
              <a:rPr lang="en-US" altLang="ko-KR" sz="1100" spc="-30" smtClean="0">
                <a:latin typeface="+mn-ea"/>
                <a:ea typeface="맑은 고딕" pitchFamily="50" charset="-127"/>
              </a:rPr>
              <a:t>)</a:t>
            </a:r>
          </a:p>
        </p:txBody>
      </p:sp>
      <p:sp>
        <p:nvSpPr>
          <p:cNvPr id="151" name="직사각형 150"/>
          <p:cNvSpPr/>
          <p:nvPr/>
        </p:nvSpPr>
        <p:spPr>
          <a:xfrm>
            <a:off x="560512" y="4437112"/>
            <a:ext cx="3907296" cy="35257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DATABASE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 현황</a:t>
            </a: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Rectangle 4"/>
          <p:cNvSpPr>
            <a:spLocks noChangeArrowheads="1"/>
          </p:cNvSpPr>
          <p:nvPr/>
        </p:nvSpPr>
        <p:spPr bwMode="auto">
          <a:xfrm>
            <a:off x="560512" y="2348880"/>
            <a:ext cx="3909328" cy="78437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Nameing Rule </a:t>
            </a:r>
            <a:r>
              <a:rPr lang="ko-KR" altLang="en-US" sz="1100" spc="-30">
                <a:latin typeface="+mn-ea"/>
              </a:rPr>
              <a:t>준수 여부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종속성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중복성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무결성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일관성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효율성</a:t>
            </a:r>
            <a:endParaRPr lang="ko-KR" altLang="en-US" sz="1100" spc="-30" dirty="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60512" y="2001540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필수 요건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Rectangle 4"/>
          <p:cNvSpPr>
            <a:spLocks noChangeArrowheads="1"/>
          </p:cNvSpPr>
          <p:nvPr/>
        </p:nvSpPr>
        <p:spPr bwMode="auto">
          <a:xfrm>
            <a:off x="560512" y="3494250"/>
            <a:ext cx="3909328" cy="9428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DATABASE </a:t>
            </a:r>
            <a:r>
              <a:rPr lang="ko-KR" altLang="en-US" sz="1100" spc="-30">
                <a:latin typeface="+mn-ea"/>
              </a:rPr>
              <a:t>분석</a:t>
            </a:r>
            <a:r>
              <a:rPr lang="en-US" altLang="ko-KR" sz="1100" spc="-30">
                <a:latin typeface="+mn-ea"/>
              </a:rPr>
              <a:t/>
            </a:r>
            <a:br>
              <a:rPr lang="en-US" altLang="ko-KR" sz="1100" spc="-30">
                <a:latin typeface="+mn-ea"/>
              </a:rPr>
            </a:br>
            <a:r>
              <a:rPr lang="en-US" altLang="ko-KR" sz="1100" spc="-30">
                <a:latin typeface="+mn-ea"/>
              </a:rPr>
              <a:t>- DATABASE </a:t>
            </a:r>
            <a:r>
              <a:rPr lang="ko-KR" altLang="en-US" sz="1100" spc="-30">
                <a:latin typeface="+mn-ea"/>
              </a:rPr>
              <a:t>구성 및 표준화 분석</a:t>
            </a:r>
            <a:endParaRPr lang="en-US" altLang="ko-KR" sz="1100" spc="-30" dirty="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DATA </a:t>
            </a:r>
            <a:r>
              <a:rPr lang="ko-KR" altLang="en-US" sz="1100" spc="-30">
                <a:latin typeface="+mn-ea"/>
              </a:rPr>
              <a:t>분석</a:t>
            </a:r>
            <a:r>
              <a:rPr lang="en-US" altLang="ko-KR" sz="1100" spc="-30" dirty="0">
                <a:latin typeface="+mn-ea"/>
              </a:rPr>
              <a:t/>
            </a:r>
            <a:br>
              <a:rPr lang="en-US" altLang="ko-KR" sz="1100" spc="-30" dirty="0">
                <a:latin typeface="+mn-ea"/>
              </a:rPr>
            </a:br>
            <a:r>
              <a:rPr lang="en-US" altLang="ko-KR" sz="1100" spc="-30">
                <a:latin typeface="+mn-ea"/>
              </a:rPr>
              <a:t>- DATA</a:t>
            </a:r>
            <a:r>
              <a:rPr lang="ko-KR" altLang="en-US" sz="1100" spc="-30">
                <a:latin typeface="+mn-ea"/>
              </a:rPr>
              <a:t>의 체계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표준화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정형화 분석  </a:t>
            </a:r>
            <a:endParaRPr lang="en-US" altLang="ko-KR" sz="1100" spc="-30" dirty="0">
              <a:latin typeface="+mn-ea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560512" y="3140968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및 </a:t>
            </a: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043704" y="4293096"/>
            <a:ext cx="3909328" cy="10075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831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DATA 100</a:t>
            </a:r>
            <a:r>
              <a:rPr lang="ko-KR" altLang="en-US" sz="1100" spc="-30">
                <a:latin typeface="+mn-ea"/>
              </a:rPr>
              <a:t>건미만</a:t>
            </a:r>
            <a:endParaRPr lang="en-US" altLang="ko-KR" sz="1100" spc="-3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</a:rPr>
              <a:t>                                  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701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DATA </a:t>
            </a:r>
            <a:r>
              <a:rPr lang="ko-KR" altLang="en-US" sz="1100" spc="-30">
                <a:latin typeface="+mn-ea"/>
              </a:rPr>
              <a:t>없음</a:t>
            </a:r>
            <a:r>
              <a:rPr lang="en-US" altLang="ko-KR" sz="1100" spc="-30">
                <a:latin typeface="+mn-ea"/>
              </a:rPr>
              <a:t> </a:t>
            </a:r>
          </a:p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endParaRPr lang="en-US" altLang="ko-KR" sz="1100" spc="-30" dirty="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31,200 </a:t>
            </a:r>
            <a:r>
              <a:rPr lang="ko-KR" altLang="en-US" sz="1100" spc="-30">
                <a:latin typeface="+mn-ea"/>
              </a:rPr>
              <a:t>개의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칼럼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15,200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개에 </a:t>
            </a:r>
            <a:r>
              <a:rPr lang="en-US" altLang="ko-KR" sz="1100" spc="-30">
                <a:latin typeface="+mn-ea"/>
              </a:rPr>
              <a:t>DATA</a:t>
            </a:r>
            <a:r>
              <a:rPr lang="ko-KR" altLang="en-US" sz="1100" spc="-30">
                <a:latin typeface="+mn-ea"/>
              </a:rPr>
              <a:t> 없음</a:t>
            </a:r>
            <a:endParaRPr lang="en-US" altLang="ko-KR" sz="1100" spc="-30">
              <a:latin typeface="+mn-ea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043704" y="2006092"/>
            <a:ext cx="3909328" cy="89136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292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Name</a:t>
            </a:r>
            <a:r>
              <a:rPr lang="ko-KR" altLang="en-US" sz="1100" spc="-30">
                <a:latin typeface="+mn-ea"/>
              </a:rPr>
              <a:t> 없음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38,825 </a:t>
            </a:r>
            <a:r>
              <a:rPr lang="ko-KR" altLang="en-US" sz="1100" spc="-30">
                <a:latin typeface="+mn-ea"/>
              </a:rPr>
              <a:t>개의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칼럼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10,515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개의 칼럼명 없음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종속성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중복성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무결성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일관성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효율성이 심각하게 결여됨</a:t>
            </a:r>
            <a:endParaRPr lang="ko-KR" altLang="en-US" sz="1100" b="1" spc="-3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043704" y="2968411"/>
            <a:ext cx="3909328" cy="1252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97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PK</a:t>
            </a:r>
            <a:r>
              <a:rPr lang="ko-KR" altLang="en-US" sz="1100" spc="-30">
                <a:latin typeface="+mn-ea"/>
              </a:rPr>
              <a:t> 없음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b="1" spc="-30" smtClean="0">
                <a:solidFill>
                  <a:srgbClr val="0000FF"/>
                </a:solidFill>
                <a:latin typeface="+mn-ea"/>
              </a:rPr>
              <a:t>329</a:t>
            </a:r>
            <a:r>
              <a:rPr lang="ko-KR" altLang="en-US" sz="1100" spc="-30" smtClean="0">
                <a:latin typeface="+mn-ea"/>
              </a:rPr>
              <a:t>개 테이블만 사용중으로 인식됨 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TBALE </a:t>
            </a:r>
            <a:r>
              <a:rPr lang="ko-KR" altLang="en-US" sz="1100" spc="-30">
                <a:latin typeface="+mn-ea"/>
              </a:rPr>
              <a:t>칼럼 분석 </a:t>
            </a:r>
            <a:r>
              <a:rPr lang="en-US" altLang="ko-KR" sz="1100" spc="-30">
                <a:latin typeface="+mn-ea"/>
              </a:rPr>
              <a:t>(9,913 </a:t>
            </a:r>
            <a:r>
              <a:rPr lang="ko-KR" altLang="en-US" sz="1100" spc="-30">
                <a:latin typeface="+mn-ea"/>
              </a:rPr>
              <a:t>칼럼</a:t>
            </a:r>
            <a:r>
              <a:rPr lang="en-US" altLang="ko-KR" sz="1100" spc="-30">
                <a:latin typeface="+mn-ea"/>
              </a:rPr>
              <a:t>ID)</a:t>
            </a:r>
            <a:br>
              <a:rPr lang="en-US" altLang="ko-KR" sz="1100" spc="-30">
                <a:latin typeface="+mn-ea"/>
              </a:rPr>
            </a:br>
            <a:r>
              <a:rPr lang="en-US" altLang="ko-KR" sz="1100" spc="-30">
                <a:latin typeface="+mn-ea"/>
              </a:rPr>
              <a:t> -  </a:t>
            </a:r>
            <a:r>
              <a:rPr lang="ko-KR" altLang="en-US" sz="1100" spc="-30">
                <a:latin typeface="+mn-ea"/>
              </a:rPr>
              <a:t>동일 칼럼으로 규격을 다르게 사용하는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1,660</a:t>
            </a:r>
            <a:r>
              <a:rPr lang="ko-KR" altLang="en-US" sz="1100" spc="-30">
                <a:latin typeface="+mn-ea"/>
              </a:rPr>
              <a:t>건</a:t>
            </a:r>
            <a:r>
              <a:rPr lang="en-US" altLang="ko-KR" sz="1100" spc="-30">
                <a:latin typeface="+mn-ea"/>
              </a:rPr>
              <a:t>(</a:t>
            </a:r>
            <a:r>
              <a:rPr lang="en-US" altLang="ko-KR" sz="1100" b="1" spc="-30">
                <a:solidFill>
                  <a:srgbClr val="FF0000"/>
                </a:solidFill>
                <a:latin typeface="+mn-ea"/>
              </a:rPr>
              <a:t>16.7%</a:t>
            </a:r>
            <a:r>
              <a:rPr lang="en-US" altLang="ko-KR" sz="1100" spc="-30">
                <a:latin typeface="+mn-ea"/>
              </a:rPr>
              <a:t>)</a:t>
            </a:r>
          </a:p>
          <a:p>
            <a:pPr defTabSz="895350">
              <a:spcBef>
                <a:spcPts val="6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</a:rPr>
              <a:t>     -  </a:t>
            </a:r>
            <a:r>
              <a:rPr lang="ko-KR" altLang="en-US" sz="1100" spc="-30">
                <a:latin typeface="+mn-ea"/>
              </a:rPr>
              <a:t>동일 칼럼</a:t>
            </a:r>
            <a:r>
              <a:rPr lang="en-US" altLang="ko-KR" sz="1100" spc="-30">
                <a:latin typeface="+mn-ea"/>
              </a:rPr>
              <a:t>ID</a:t>
            </a:r>
            <a:r>
              <a:rPr lang="ko-KR" altLang="en-US" sz="1100" spc="-30">
                <a:latin typeface="+mn-ea"/>
              </a:rPr>
              <a:t>로 명칭을 다르게 사용하는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9,278</a:t>
            </a:r>
            <a:r>
              <a:rPr lang="ko-KR" altLang="en-US" sz="1100" spc="-30">
                <a:latin typeface="+mn-ea"/>
              </a:rPr>
              <a:t>건</a:t>
            </a:r>
            <a:r>
              <a:rPr lang="en-US" altLang="ko-KR" sz="1100" spc="-30">
                <a:latin typeface="+mn-ea"/>
              </a:rPr>
              <a:t>(</a:t>
            </a:r>
            <a:r>
              <a:rPr lang="en-US" altLang="ko-KR" sz="1100" b="1" spc="-30">
                <a:solidFill>
                  <a:srgbClr val="FF0000"/>
                </a:solidFill>
                <a:latin typeface="+mn-ea"/>
              </a:rPr>
              <a:t>93.6%</a:t>
            </a:r>
            <a:r>
              <a:rPr lang="en-US" altLang="ko-KR" sz="1100" spc="-30">
                <a:latin typeface="+mn-ea"/>
              </a:rPr>
              <a:t>)</a:t>
            </a:r>
            <a:endParaRPr lang="en-US" altLang="ko-KR" sz="1100" spc="-30" dirty="0">
              <a:latin typeface="+mn-ea"/>
            </a:endParaRPr>
          </a:p>
        </p:txBody>
      </p:sp>
      <p:sp>
        <p:nvSpPr>
          <p:cNvPr id="28" name="이등변 삼각형 27"/>
          <p:cNvSpPr/>
          <p:nvPr/>
        </p:nvSpPr>
        <p:spPr>
          <a:xfrm rot="5400000">
            <a:off x="2886729" y="4043421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5054187" y="5372671"/>
            <a:ext cx="3909328" cy="86464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 smtClean="0">
                <a:latin typeface="+mn-ea"/>
              </a:rPr>
              <a:t>업무 흐름의 신속성 및 정합성을 위해 후속 업무에 </a:t>
            </a:r>
            <a:r>
              <a:rPr lang="en-US" altLang="ko-KR" sz="1100" spc="-30" smtClean="0">
                <a:latin typeface="+mn-ea"/>
              </a:rPr>
              <a:t>PUSH</a:t>
            </a:r>
            <a:r>
              <a:rPr lang="ko-KR" altLang="en-US" sz="1100" spc="-30" smtClean="0">
                <a:latin typeface="+mn-ea"/>
              </a:rPr>
              <a:t>하거나</a:t>
            </a:r>
            <a:r>
              <a:rPr lang="en-US" altLang="ko-KR" sz="1100" spc="-30" smtClean="0">
                <a:latin typeface="+mn-ea"/>
              </a:rPr>
              <a:t>, DATA </a:t>
            </a:r>
            <a:r>
              <a:rPr lang="ko-KR" altLang="en-US" sz="1100" spc="-30" smtClean="0">
                <a:latin typeface="+mn-ea"/>
              </a:rPr>
              <a:t>진행상태에 따라 자동으로 처리하는 표준화된 기능을 구축하여</a:t>
            </a:r>
            <a:r>
              <a:rPr lang="en-US" altLang="ko-KR" sz="1100" spc="-30" smtClean="0">
                <a:latin typeface="+mn-ea"/>
              </a:rPr>
              <a:t>, </a:t>
            </a:r>
            <a:r>
              <a:rPr lang="ko-KR" altLang="en-US" sz="1100" spc="-30" smtClean="0">
                <a:latin typeface="+mn-ea"/>
              </a:rPr>
              <a:t>업무와 데이터의 흐름이 일관성있고 정합성을 유지할 수 있도록 하는 기능 사용이 부족함 </a:t>
            </a:r>
            <a:endParaRPr lang="en-US" altLang="ko-KR" sz="1100" spc="-3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352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2.3.3 DATABASE/DATA </a:t>
            </a:r>
            <a:r>
              <a:rPr lang="ko-KR" altLang="en-US" sz="1800"/>
              <a:t>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2.3.3.2 DATABASE/DATA </a:t>
            </a:r>
            <a:r>
              <a:rPr lang="ko-KR" altLang="en-US" sz="1600"/>
              <a:t>분석 내역</a:t>
            </a:r>
            <a:endParaRPr lang="ko-KR" altLang="en-US" sz="16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7723"/>
              </p:ext>
            </p:extLst>
          </p:nvPr>
        </p:nvGraphicFramePr>
        <p:xfrm>
          <a:off x="345000" y="1196752"/>
          <a:ext cx="9180000" cy="2554953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290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237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9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비율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TABLE </a:t>
                      </a: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검토 의견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1,209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사용하는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은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명과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칼럼명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칼럼별 용어표준화 및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정형화가 요구되며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TABLE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정리 작업에 많은 인력이 소요될 것으로 예상됨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ISP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에서 조사한 결과를 반영하여 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DATABASE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정리 작업실시 여부도 </a:t>
                      </a:r>
                      <a:r>
                        <a:rPr lang="ko-KR" altLang="en-US" sz="9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자체적인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의사결정이 필요함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시스템을 개선하기 위해서는 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정리가 필수적임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명이 기재되지 않은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24.2%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프로그램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소스 및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DATABASE OBJECT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에서도 정확한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정보 취득이 어려움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100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건이상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31.3%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백업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을 포함하여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30%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정도의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사용하고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있음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100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건미만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831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68.7%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일부는 소량의 코드를 관리하는 사용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일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 있음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건도 없는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701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58.0%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사용하지 않은 기능의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및 불필요한 테이블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Primary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Key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 없는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8.0%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임시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TABLE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인지 확인해서 삭제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INDEX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 없는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31.0%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임시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TABLE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인지 확인해서 삭제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344488" y="867270"/>
            <a:ext cx="2160240" cy="29196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1) TABLE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85670"/>
              </p:ext>
            </p:extLst>
          </p:nvPr>
        </p:nvGraphicFramePr>
        <p:xfrm>
          <a:off x="345000" y="4376593"/>
          <a:ext cx="9180000" cy="1949921"/>
        </p:xfrm>
        <a:graphic>
          <a:graphicData uri="http://schemas.openxmlformats.org/drawingml/2006/table">
            <a:tbl>
              <a:tblPr/>
              <a:tblGrid>
                <a:gridCol w="12956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0364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44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비율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검토의견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304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칼럼명 미기재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 보유 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38,825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테이블에 존재하는 모든 컬럼 수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/>
                        <a:t>9/2</a:t>
                      </a:r>
                      <a:r>
                        <a:rPr lang="ko-KR" altLang="en-US" sz="900" b="0"/>
                        <a:t>일</a:t>
                      </a:r>
                      <a:r>
                        <a:rPr lang="en-US" altLang="ko-KR" sz="900" b="0"/>
                        <a:t>~ 9/27</a:t>
                      </a:r>
                      <a:r>
                        <a:rPr lang="ko-KR" altLang="en-US" sz="900" b="0"/>
                        <a:t>일까지 </a:t>
                      </a:r>
                      <a:r>
                        <a:rPr lang="en-US" altLang="ko-KR" sz="900" b="0"/>
                        <a:t>TABLE </a:t>
                      </a:r>
                      <a:r>
                        <a:rPr lang="ko-KR" altLang="en-US" sz="900" b="0"/>
                        <a:t>정리 작업에서</a:t>
                      </a:r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11,987</a:t>
                      </a:r>
                      <a:r>
                        <a:rPr lang="ko-KR" alt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 칼럼명 기재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3137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칼럼명이 기재되지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않은 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10,515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27.0%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개월 작업후에도 파악할 수 없는 컬럼의 숫자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업무분석이 어려움</a:t>
                      </a:r>
                      <a:endParaRPr lang="ko-KR" altLang="en-US" sz="900" b="1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3049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 정형화 미비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9,913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칼럼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계수함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3137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칼럼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는 동일하나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규격이 상이함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1,660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16.7%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동일한 칼럼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이나 속성이 틀림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DATABASE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구축의 기본 원칙 위배됨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Nameing Rule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미적용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3137"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칼럼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는 동일하나 칼럼명 상이함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9,278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93.6%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동일한 칼럼이나 칼럼명을 다르게 사용함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행정용어 적용 필요</a:t>
                      </a:r>
                      <a:endParaRPr lang="ko-KR" altLang="en-US" sz="900" b="0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표준용어 미 적용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344488" y="4043952"/>
            <a:ext cx="2160240" cy="29196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2) COLUMN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5882" y="882239"/>
            <a:ext cx="4709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0000FF"/>
                </a:solidFill>
              </a:rPr>
              <a:t>※ 9/2</a:t>
            </a:r>
            <a:r>
              <a:rPr lang="ko-KR" altLang="en-US" sz="1200" b="1">
                <a:solidFill>
                  <a:srgbClr val="0000FF"/>
                </a:solidFill>
              </a:rPr>
              <a:t>일</a:t>
            </a:r>
            <a:r>
              <a:rPr lang="en-US" altLang="ko-KR" sz="1200" b="1">
                <a:solidFill>
                  <a:srgbClr val="0000FF"/>
                </a:solidFill>
              </a:rPr>
              <a:t>~ 9/27</a:t>
            </a:r>
            <a:r>
              <a:rPr lang="ko-KR" altLang="en-US" sz="1200" b="1">
                <a:solidFill>
                  <a:srgbClr val="0000FF"/>
                </a:solidFill>
              </a:rPr>
              <a:t>일까지 </a:t>
            </a:r>
            <a:r>
              <a:rPr lang="en-US" altLang="ko-KR" sz="1200" b="1">
                <a:solidFill>
                  <a:srgbClr val="0000FF"/>
                </a:solidFill>
              </a:rPr>
              <a:t>TABLE </a:t>
            </a:r>
            <a:r>
              <a:rPr lang="ko-KR" altLang="en-US" sz="1200" b="1">
                <a:solidFill>
                  <a:srgbClr val="0000FF"/>
                </a:solidFill>
              </a:rPr>
              <a:t>및 칼럼명 등록 작업 수행후 측정함</a:t>
            </a:r>
            <a:endParaRPr lang="ko-KR" altLang="en-US" sz="1200" b="1" dirty="0" err="1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7464" y="36615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200" spc="-150">
              <a:solidFill>
                <a:srgbClr val="000000"/>
              </a:solidFill>
              <a:latin typeface="맑은 고딕" pitchFamily="50" charset="-127"/>
            </a:endParaRPr>
          </a:p>
          <a:p>
            <a:endParaRPr lang="ko-KR" alt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209223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현행 시스템이 운용하고 있는 업무별 기능을 프로그램 사용 통계를 통하여 분석하고</a:t>
            </a:r>
            <a:r>
              <a:rPr lang="en-US" altLang="ko-KR" sz="1600"/>
              <a:t>, </a:t>
            </a:r>
            <a:r>
              <a:rPr lang="ko-KR" altLang="en-US" sz="1600"/>
              <a:t>각 프로그램의 추가 요구기능 및 미사용 프로그램에 대한 원인을 분석함으로써 시스템 개선점을 식별하고자 함</a:t>
            </a:r>
            <a:r>
              <a:rPr lang="en-US" altLang="ko-KR" sz="1600"/>
              <a:t> </a:t>
            </a:r>
            <a:r>
              <a:rPr lang="ko-KR" altLang="en-US" sz="1600"/>
              <a:t> </a:t>
            </a:r>
            <a:endParaRPr lang="ko-KR" altLang="en-US" sz="16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2.3.4 </a:t>
            </a:r>
            <a:r>
              <a:rPr lang="ko-KR" altLang="en-US" sz="1800"/>
              <a:t>업무 운용성</a:t>
            </a:r>
            <a:r>
              <a:rPr lang="en-US" altLang="ko-KR" sz="1800"/>
              <a:t> </a:t>
            </a:r>
            <a:r>
              <a:rPr lang="ko-KR" altLang="en-US" sz="1800"/>
              <a:t>분석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2.3.4.1 </a:t>
            </a:r>
            <a:r>
              <a:rPr lang="ko-KR" altLang="en-US" sz="1600"/>
              <a:t>업무 운용성</a:t>
            </a:r>
            <a:r>
              <a:rPr lang="en-US" altLang="ko-KR" sz="1600"/>
              <a:t> </a:t>
            </a:r>
            <a:r>
              <a:rPr lang="ko-KR" altLang="en-US" sz="1600"/>
              <a:t>분석 개요</a:t>
            </a:r>
            <a:endParaRPr lang="ko-KR" altLang="en-US" sz="1600" dirty="0"/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381001" y="1795470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업무 운용성 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5" name="Rectangle 4"/>
          <p:cNvSpPr>
            <a:spLocks noChangeArrowheads="1"/>
          </p:cNvSpPr>
          <p:nvPr/>
        </p:nvSpPr>
        <p:spPr bwMode="auto">
          <a:xfrm>
            <a:off x="560512" y="2345182"/>
            <a:ext cx="3909328" cy="169768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업무 프로세스별 처리 기능 존재 여부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업무를 처리하는 기능의 완성도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화면별 필수 기능의 충족성 및 편의성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업무 전후 프로세스의 연결성</a:t>
            </a:r>
            <a:endParaRPr lang="en-US" altLang="ko-KR" sz="1100" spc="-3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60512" y="2001540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업무별 기능 분석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Rectangle 4"/>
          <p:cNvSpPr>
            <a:spLocks noChangeArrowheads="1"/>
          </p:cNvSpPr>
          <p:nvPr/>
        </p:nvSpPr>
        <p:spPr bwMode="auto">
          <a:xfrm>
            <a:off x="560512" y="5078426"/>
            <a:ext cx="3909328" cy="104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현행 프로그램의 사용 여부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미 사용 프로그램에 대한 사유와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대체 처리 현황</a:t>
            </a:r>
            <a:endParaRPr lang="en-US" altLang="ko-KR" sz="1100" spc="-30">
              <a:latin typeface="+mn-ea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560512" y="4725144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프로그램의 사용성 분석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043704" y="5362493"/>
            <a:ext cx="4229776" cy="79469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 smtClean="0">
                <a:latin typeface="+mn-ea"/>
              </a:rPr>
              <a:t>446</a:t>
            </a:r>
            <a:r>
              <a:rPr lang="ko-KR" altLang="en-US" sz="1100" spc="-30" smtClean="0">
                <a:latin typeface="+mn-ea"/>
              </a:rPr>
              <a:t>본의 </a:t>
            </a:r>
            <a:r>
              <a:rPr lang="ko-KR" altLang="en-US" sz="1100" spc="-30" dirty="0">
                <a:latin typeface="+mn-ea"/>
              </a:rPr>
              <a:t>프로그램 중 </a:t>
            </a:r>
            <a:r>
              <a:rPr lang="ko-KR" altLang="en-US" sz="1100" spc="-30">
                <a:latin typeface="+mn-ea"/>
              </a:rPr>
              <a:t>미사용 </a:t>
            </a:r>
            <a:r>
              <a:rPr lang="en-US" altLang="ko-KR" sz="1100" spc="-30" smtClean="0">
                <a:solidFill>
                  <a:srgbClr val="FF0000"/>
                </a:solidFill>
                <a:latin typeface="+mn-ea"/>
              </a:rPr>
              <a:t>253</a:t>
            </a:r>
            <a:r>
              <a:rPr lang="ko-KR" altLang="en-US" sz="1100" spc="-30" smtClean="0">
                <a:latin typeface="+mn-ea"/>
              </a:rPr>
              <a:t>본으로 미사용 비율</a:t>
            </a:r>
            <a:r>
              <a:rPr lang="en-US" altLang="ko-KR" sz="1100" spc="-30" smtClean="0">
                <a:latin typeface="+mn-ea"/>
              </a:rPr>
              <a:t>(</a:t>
            </a:r>
            <a:r>
              <a:rPr lang="en-US" altLang="ko-KR" sz="1100" spc="-30" smtClean="0">
                <a:solidFill>
                  <a:srgbClr val="FF0000"/>
                </a:solidFill>
                <a:latin typeface="+mn-ea"/>
              </a:rPr>
              <a:t>45.1</a:t>
            </a:r>
            <a:r>
              <a:rPr lang="en-US" altLang="ko-KR" sz="1100" spc="-30" smtClean="0">
                <a:latin typeface="+mn-ea"/>
              </a:rPr>
              <a:t>%)</a:t>
            </a:r>
            <a:r>
              <a:rPr lang="ko-KR" altLang="en-US" sz="1100" spc="-30" smtClean="0">
                <a:latin typeface="+mn-ea"/>
              </a:rPr>
              <a:t>이며</a:t>
            </a:r>
            <a:r>
              <a:rPr lang="en-US" altLang="ko-KR" sz="1100" spc="-30">
                <a:latin typeface="+mn-ea"/>
              </a:rPr>
              <a:t>,</a:t>
            </a:r>
            <a:r>
              <a:rPr lang="en-US" altLang="ko-KR" sz="1100" spc="-30" smtClean="0">
                <a:latin typeface="+mn-ea"/>
              </a:rPr>
              <a:t> </a:t>
            </a:r>
            <a:endParaRPr lang="en-US" altLang="ko-KR" sz="1100" spc="-30" dirty="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ko-KR" altLang="en-US" sz="1100" spc="-30">
                <a:latin typeface="+mn-ea"/>
              </a:rPr>
              <a:t>    </a:t>
            </a:r>
            <a:r>
              <a:rPr lang="ko-KR" altLang="en-US" sz="1100" spc="-30" smtClean="0">
                <a:latin typeface="+mn-ea"/>
              </a:rPr>
              <a:t>기본적인 기능 </a:t>
            </a:r>
            <a:r>
              <a:rPr lang="ko-KR" altLang="en-US" sz="1100" spc="-30" dirty="0">
                <a:latin typeface="+mn-ea"/>
              </a:rPr>
              <a:t>보완이 필요한 </a:t>
            </a:r>
            <a:r>
              <a:rPr lang="ko-KR" altLang="en-US" sz="1100" spc="-30">
                <a:latin typeface="+mn-ea"/>
              </a:rPr>
              <a:t>프로그램 </a:t>
            </a:r>
            <a:r>
              <a:rPr lang="en-US" altLang="ko-KR" sz="1100" spc="-30" smtClean="0">
                <a:solidFill>
                  <a:srgbClr val="FF0000"/>
                </a:solidFill>
                <a:latin typeface="+mn-ea"/>
              </a:rPr>
              <a:t>40</a:t>
            </a:r>
            <a:r>
              <a:rPr lang="ko-KR" altLang="en-US" sz="1100" spc="-30" smtClean="0">
                <a:latin typeface="+mn-ea"/>
              </a:rPr>
              <a:t>본으로</a:t>
            </a:r>
            <a:r>
              <a:rPr lang="en-US" altLang="ko-KR" sz="1100" spc="-30" smtClean="0">
                <a:latin typeface="+mn-ea"/>
              </a:rPr>
              <a:t>, </a:t>
            </a:r>
            <a:endParaRPr lang="en-US" altLang="ko-KR" sz="1100" spc="-30" dirty="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</a:rPr>
              <a:t>    </a:t>
            </a:r>
            <a:r>
              <a:rPr lang="ko-KR" altLang="en-US" sz="1100" spc="-30" smtClean="0">
                <a:latin typeface="+mn-ea"/>
              </a:rPr>
              <a:t>시스템의 기본적인 업무처리 기능에 대한 추가 </a:t>
            </a:r>
            <a:r>
              <a:rPr lang="ko-KR" altLang="en-US" sz="1100" spc="-30">
                <a:latin typeface="+mn-ea"/>
              </a:rPr>
              <a:t>개발이 </a:t>
            </a:r>
            <a:r>
              <a:rPr lang="ko-KR" altLang="en-US" sz="1100" spc="-30" smtClean="0">
                <a:latin typeface="+mn-ea"/>
              </a:rPr>
              <a:t>요구됨</a:t>
            </a:r>
            <a:endParaRPr lang="en-US" altLang="ko-KR" sz="1100" spc="-30" dirty="0">
              <a:latin typeface="+mn-ea"/>
            </a:endParaRPr>
          </a:p>
        </p:txBody>
      </p:sp>
      <p:sp>
        <p:nvSpPr>
          <p:cNvPr id="28" name="이등변 삼각형 27"/>
          <p:cNvSpPr/>
          <p:nvPr/>
        </p:nvSpPr>
        <p:spPr>
          <a:xfrm rot="5400000">
            <a:off x="2886729" y="4043421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766317"/>
              </p:ext>
            </p:extLst>
          </p:nvPr>
        </p:nvGraphicFramePr>
        <p:xfrm>
          <a:off x="5043704" y="2010193"/>
          <a:ext cx="4229776" cy="2426869"/>
        </p:xfrm>
        <a:graphic>
          <a:graphicData uri="http://schemas.openxmlformats.org/drawingml/2006/table">
            <a:tbl>
              <a:tblPr/>
              <a:tblGrid>
                <a:gridCol w="3595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11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476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275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 분류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현행본수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</a:t>
                      </a:r>
                      <a:endParaRPr lang="en-US" altLang="ko-KR" sz="1000" b="1" i="0" u="none" strike="noStrike" smtClean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</a:t>
                      </a:r>
                      <a:r>
                        <a:rPr lang="en-US" altLang="ko-KR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%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기능보완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요구본수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20..6%</a:t>
                      </a:r>
                      <a:endParaRPr lang="ko-KR" altLang="en-US" sz="1000" b="0" i="0" u="none" strike="noStrike" kern="1200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1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40.2%</a:t>
                      </a:r>
                      <a:endParaRPr lang="ko-KR" altLang="en-US" sz="1000" b="0" i="0" u="none" strike="noStrike" kern="1200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61.1% 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56.6%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65.6%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100.0%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719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 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446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45.1%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852018" y="4520153"/>
            <a:ext cx="486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0000FF"/>
                </a:solidFill>
              </a:rPr>
              <a:t>※ </a:t>
            </a:r>
            <a:r>
              <a:rPr lang="en-US" altLang="ko-KR" sz="1200" b="1" smtClean="0">
                <a:solidFill>
                  <a:srgbClr val="0000FF"/>
                </a:solidFill>
              </a:rPr>
              <a:t>10/2</a:t>
            </a:r>
            <a:r>
              <a:rPr lang="ko-KR" altLang="en-US" sz="1200" b="1">
                <a:solidFill>
                  <a:srgbClr val="0000FF"/>
                </a:solidFill>
              </a:rPr>
              <a:t>일</a:t>
            </a:r>
            <a:r>
              <a:rPr lang="en-US" altLang="ko-KR" sz="1200" b="1">
                <a:solidFill>
                  <a:srgbClr val="0000FF"/>
                </a:solidFill>
              </a:rPr>
              <a:t>~ </a:t>
            </a:r>
            <a:r>
              <a:rPr lang="en-US" altLang="ko-KR" sz="1200" b="1" smtClean="0">
                <a:solidFill>
                  <a:srgbClr val="0000FF"/>
                </a:solidFill>
              </a:rPr>
              <a:t>10/28</a:t>
            </a:r>
            <a:r>
              <a:rPr lang="ko-KR" altLang="en-US" sz="1200" b="1" smtClean="0">
                <a:solidFill>
                  <a:srgbClr val="0000FF"/>
                </a:solidFill>
              </a:rPr>
              <a:t>일까지 프로그램별 기능</a:t>
            </a:r>
            <a:r>
              <a:rPr lang="en-US" altLang="ko-KR" sz="1200" b="1" smtClean="0">
                <a:solidFill>
                  <a:srgbClr val="0000FF"/>
                </a:solidFill>
              </a:rPr>
              <a:t>/</a:t>
            </a:r>
            <a:r>
              <a:rPr lang="ko-KR" altLang="en-US" sz="1200" b="1" smtClean="0">
                <a:solidFill>
                  <a:srgbClr val="0000FF"/>
                </a:solidFill>
              </a:rPr>
              <a:t>사용횟수 조사후 </a:t>
            </a:r>
            <a:r>
              <a:rPr lang="ko-KR" altLang="en-US" sz="1200" b="1">
                <a:solidFill>
                  <a:srgbClr val="0000FF"/>
                </a:solidFill>
              </a:rPr>
              <a:t>측정함</a:t>
            </a:r>
            <a:endParaRPr lang="ko-KR" altLang="en-US" sz="1200" b="1" dirty="0" err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98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 bwMode="auto">
          <a:xfrm>
            <a:off x="330820" y="1520825"/>
            <a:ext cx="9194180" cy="370837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기관의 사업운영과 관련된 예산</a:t>
            </a:r>
            <a:r>
              <a:rPr lang="en-US" altLang="ko-KR" sz="1600"/>
              <a:t>, </a:t>
            </a:r>
            <a:r>
              <a:rPr lang="ko-KR" altLang="en-US" sz="1600"/>
              <a:t>재무</a:t>
            </a:r>
            <a:r>
              <a:rPr lang="en-US" altLang="ko-KR" sz="1600"/>
              <a:t>, </a:t>
            </a:r>
            <a:r>
              <a:rPr lang="ko-KR" altLang="en-US" sz="1600"/>
              <a:t>구매</a:t>
            </a:r>
            <a:r>
              <a:rPr lang="en-US" altLang="ko-KR" sz="1600"/>
              <a:t>, </a:t>
            </a:r>
            <a:r>
              <a:rPr lang="ko-KR" altLang="en-US" sz="1600"/>
              <a:t>자산</a:t>
            </a:r>
            <a:r>
              <a:rPr lang="en-US" altLang="ko-KR" sz="1600"/>
              <a:t>, </a:t>
            </a:r>
            <a:r>
              <a:rPr lang="ko-KR" altLang="en-US" sz="1600"/>
              <a:t>사업관리 업무를 추진하는 내</a:t>
            </a:r>
            <a:r>
              <a:rPr lang="en-US" altLang="ko-KR" sz="1600"/>
              <a:t>.</a:t>
            </a:r>
            <a:r>
              <a:rPr lang="ko-KR" altLang="en-US" sz="1600"/>
              <a:t>외부 </a:t>
            </a:r>
            <a:r>
              <a:rPr lang="ko-KR" altLang="en-US" sz="1600" dirty="0"/>
              <a:t>이해관계를 식별하여 분석하고 주요 대상자에 </a:t>
            </a:r>
            <a:r>
              <a:rPr lang="ko-KR" altLang="en-US" sz="1600"/>
              <a:t>대한 인터뷰를 </a:t>
            </a:r>
            <a:r>
              <a:rPr lang="ko-KR" altLang="en-US" sz="1600" dirty="0"/>
              <a:t>진행함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892057" y="1673678"/>
            <a:ext cx="0" cy="342000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937951" y="2585603"/>
            <a:ext cx="1908212" cy="458780"/>
          </a:xfrm>
          <a:prstGeom prst="rect">
            <a:avLst/>
          </a:prstGeom>
          <a:solidFill>
            <a:srgbClr val="3599FD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본 사업 대상 업무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937951" y="3026949"/>
            <a:ext cx="1908212" cy="13927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027961" y="3210197"/>
            <a:ext cx="828000" cy="4833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구매자산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901058" y="3210197"/>
            <a:ext cx="828000" cy="4833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예산관리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027961" y="3799904"/>
            <a:ext cx="828000" cy="4833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사업관리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901058" y="3799904"/>
            <a:ext cx="828000" cy="4833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회계관리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7562" y="1742965"/>
            <a:ext cx="4284476" cy="276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외부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49234" y="1742965"/>
            <a:ext cx="4284476" cy="3208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내부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931617" y="2235447"/>
            <a:ext cx="1908212" cy="291919"/>
          </a:xfrm>
          <a:prstGeom prst="rect">
            <a:avLst/>
          </a:prstGeom>
          <a:solidFill>
            <a:srgbClr val="01458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모회사</a:t>
            </a:r>
            <a:endParaRPr lang="ko-KR" altLang="en-US" sz="12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931617" y="3883763"/>
            <a:ext cx="1908212" cy="291919"/>
          </a:xfrm>
          <a:prstGeom prst="rect">
            <a:avLst/>
          </a:prstGeom>
          <a:solidFill>
            <a:srgbClr val="01458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업무협력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931617" y="2499630"/>
            <a:ext cx="1908212" cy="67686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모회사 코레일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931617" y="4147946"/>
            <a:ext cx="1908212" cy="67686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업무 및 사업의 연관으로 인한 협력 주체</a:t>
            </a:r>
          </a:p>
        </p:txBody>
      </p:sp>
      <p:cxnSp>
        <p:nvCxnSpPr>
          <p:cNvPr id="44" name="직선 화살표 연결선 43"/>
          <p:cNvCxnSpPr>
            <a:stCxn id="39" idx="3"/>
          </p:cNvCxnSpPr>
          <p:nvPr/>
        </p:nvCxnSpPr>
        <p:spPr>
          <a:xfrm>
            <a:off x="2839829" y="2838064"/>
            <a:ext cx="1071027" cy="47810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3"/>
          <p:cNvCxnSpPr>
            <a:stCxn id="42" idx="3"/>
          </p:cNvCxnSpPr>
          <p:nvPr/>
        </p:nvCxnSpPr>
        <p:spPr>
          <a:xfrm flipV="1">
            <a:off x="2839829" y="3949582"/>
            <a:ext cx="1071027" cy="536798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3"/>
          <p:cNvCxnSpPr>
            <a:stCxn id="40" idx="1"/>
          </p:cNvCxnSpPr>
          <p:nvPr/>
        </p:nvCxnSpPr>
        <p:spPr>
          <a:xfrm rot="10800000" flipV="1">
            <a:off x="5882259" y="2905371"/>
            <a:ext cx="1020946" cy="389048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43"/>
          <p:cNvCxnSpPr>
            <a:stCxn id="41" idx="1"/>
          </p:cNvCxnSpPr>
          <p:nvPr/>
        </p:nvCxnSpPr>
        <p:spPr>
          <a:xfrm rot="10800000">
            <a:off x="5846163" y="3956309"/>
            <a:ext cx="1034880" cy="634238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6801949" y="2213370"/>
            <a:ext cx="2060721" cy="1165631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800269" y="3886297"/>
            <a:ext cx="2060721" cy="1165631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8860990" y="2796184"/>
            <a:ext cx="279539" cy="637187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직선 연결선 44"/>
          <p:cNvCxnSpPr>
            <a:stCxn id="43" idx="3"/>
          </p:cNvCxnSpPr>
          <p:nvPr/>
        </p:nvCxnSpPr>
        <p:spPr>
          <a:xfrm flipV="1">
            <a:off x="8860990" y="3799904"/>
            <a:ext cx="351548" cy="669209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/>
          <p:cNvSpPr txBox="1"/>
          <p:nvPr/>
        </p:nvSpPr>
        <p:spPr>
          <a:xfrm>
            <a:off x="8348442" y="3501881"/>
            <a:ext cx="1079815" cy="276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이해관계자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344488" y="5543646"/>
            <a:ext cx="9180512" cy="765590"/>
            <a:chOff x="344488" y="5543646"/>
            <a:chExt cx="9180512" cy="765590"/>
          </a:xfrm>
        </p:grpSpPr>
        <p:sp>
          <p:nvSpPr>
            <p:cNvPr id="57" name="직사각형 35"/>
            <p:cNvSpPr>
              <a:spLocks noChangeArrowheads="1"/>
            </p:cNvSpPr>
            <p:nvPr/>
          </p:nvSpPr>
          <p:spPr bwMode="auto">
            <a:xfrm>
              <a:off x="1521635" y="5556709"/>
              <a:ext cx="8003365" cy="75252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182563" indent="-182563" eaLnBrk="0" fontAlgn="base" latinLnBrk="0" hangingPunct="0">
                <a:lnSpc>
                  <a:spcPct val="13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</a:pP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본 사업의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대상업무인 예산관리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회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;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계관리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구매관리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자산관리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사업관리와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관련된 이해관계자 유형을 분류한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결과 모회사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업무협력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시스템 사용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시스템 운영의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이해관계를 식별함</a:t>
              </a:r>
              <a:endPara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오각형 57"/>
            <p:cNvSpPr>
              <a:spLocks noChangeArrowheads="1"/>
            </p:cNvSpPr>
            <p:nvPr/>
          </p:nvSpPr>
          <p:spPr bwMode="gray">
            <a:xfrm>
              <a:off x="344488" y="5543646"/>
              <a:ext cx="1177147" cy="752527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60" name="AutoShape 12"/>
          <p:cNvSpPr>
            <a:spLocks noChangeArrowheads="1"/>
          </p:cNvSpPr>
          <p:nvPr/>
        </p:nvSpPr>
        <p:spPr bwMode="auto">
          <a:xfrm rot="10800000">
            <a:off x="2944864" y="5257432"/>
            <a:ext cx="4224240" cy="22757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903205" y="2302755"/>
            <a:ext cx="1908212" cy="291919"/>
          </a:xfrm>
          <a:prstGeom prst="rect">
            <a:avLst/>
          </a:prstGeom>
          <a:solidFill>
            <a:srgbClr val="01458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시스템 사용 그룹</a:t>
            </a:r>
            <a:endParaRPr lang="ko-KR" altLang="en-US" sz="12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903205" y="2566938"/>
            <a:ext cx="1908212" cy="67686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</a:rPr>
              <a:t>시스템 사용을 통해 관련 업무 수행하는 그룹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881043" y="3987929"/>
            <a:ext cx="1908212" cy="291919"/>
          </a:xfrm>
          <a:prstGeom prst="rect">
            <a:avLst/>
          </a:prstGeom>
          <a:solidFill>
            <a:srgbClr val="01458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시스템 운영 그룹</a:t>
            </a:r>
            <a:endParaRPr lang="ko-KR" altLang="en-US" sz="12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881043" y="4252112"/>
            <a:ext cx="1908212" cy="67686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0" indent="-95250"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시스템 운영을 지원하는 그룹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2.3.5 </a:t>
            </a:r>
            <a:r>
              <a:rPr lang="ko-KR" altLang="en-US" sz="180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2.3.5.1 </a:t>
            </a:r>
            <a:r>
              <a:rPr lang="ko-KR" altLang="en-US" sz="1600"/>
              <a:t>이해관계자 인터뷰 개요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939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이해관계자 </a:t>
            </a:r>
            <a:r>
              <a:rPr lang="ko-KR" altLang="en-US" sz="1600"/>
              <a:t>유형인 시스템 사용자그룹과 운영자그룹에 </a:t>
            </a:r>
            <a:r>
              <a:rPr lang="ko-KR" altLang="en-US" sz="1600" dirty="0"/>
              <a:t>대한 정의와 유형별 주요 요구를 분석함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pSp>
        <p:nvGrpSpPr>
          <p:cNvPr id="10" name="그룹 9"/>
          <p:cNvGrpSpPr/>
          <p:nvPr/>
        </p:nvGrpSpPr>
        <p:grpSpPr>
          <a:xfrm>
            <a:off x="344488" y="5543646"/>
            <a:ext cx="9180512" cy="765590"/>
            <a:chOff x="344488" y="5543646"/>
            <a:chExt cx="9180512" cy="765590"/>
          </a:xfrm>
        </p:grpSpPr>
        <p:sp>
          <p:nvSpPr>
            <p:cNvPr id="11" name="직사각형 35"/>
            <p:cNvSpPr>
              <a:spLocks noChangeArrowheads="1"/>
            </p:cNvSpPr>
            <p:nvPr/>
          </p:nvSpPr>
          <p:spPr bwMode="auto">
            <a:xfrm>
              <a:off x="1521635" y="5556709"/>
              <a:ext cx="8003365" cy="75252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182563" indent="-182563" eaLnBrk="0" fontAlgn="base" latinLnBrk="0" hangingPunct="0"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</a:pP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사용자의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사용편의성 및 </a:t>
              </a:r>
              <a:r>
                <a:rPr lang="ko-KR" altLang="en-US" sz="1200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적시적기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정보제공을 고려한 시스템 설계방안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마련이 필요함</a:t>
              </a:r>
              <a:endParaRPr lang="en-US" altLang="ko-KR" sz="12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2563" indent="-182563" eaLnBrk="0" fontAlgn="base" latinLnBrk="0" hangingPunct="0"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</a:pP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시스템 운영과 시스템 변경 요구에 탄력적인 표준화된 시스템 요구</a:t>
              </a:r>
              <a:endPara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오각형 11"/>
            <p:cNvSpPr>
              <a:spLocks noChangeArrowheads="1"/>
            </p:cNvSpPr>
            <p:nvPr/>
          </p:nvSpPr>
          <p:spPr bwMode="gray">
            <a:xfrm>
              <a:off x="344488" y="5543646"/>
              <a:ext cx="1177147" cy="752527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13" name="AutoShape 12"/>
          <p:cNvSpPr>
            <a:spLocks noChangeArrowheads="1"/>
          </p:cNvSpPr>
          <p:nvPr/>
        </p:nvSpPr>
        <p:spPr bwMode="auto">
          <a:xfrm rot="10800000">
            <a:off x="2944864" y="5257432"/>
            <a:ext cx="4224240" cy="22757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499797"/>
              </p:ext>
            </p:extLst>
          </p:nvPr>
        </p:nvGraphicFramePr>
        <p:xfrm>
          <a:off x="344488" y="1431103"/>
          <a:ext cx="9180512" cy="3718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8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958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958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237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23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사용자그룹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운영자그룹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사업의 </a:t>
                      </a:r>
                      <a:r>
                        <a:rPr lang="ko-KR" altLang="en-US" sz="1100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대상이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되는 예산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자산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사업관리 시스템 사용 주체</a:t>
                      </a:r>
                      <a:endParaRPr lang="ko-KR" altLang="en-US" sz="110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사업의 대상이 되는 예산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구매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자산</a:t>
                      </a:r>
                      <a:r>
                        <a:rPr lang="en-US" altLang="ko-KR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사업관리 시스템 운영 주체</a:t>
                      </a:r>
                      <a:endParaRPr lang="ko-KR" altLang="en-US" sz="1100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본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 대상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시스템을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사용하는 업무 담당자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본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 대상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시스템을 운영하는 운영자 및 유지보수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주요요구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사용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편의성 향상과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적시적기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정보제공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요구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운영의 용이성 및 변경요구에 대한 탄력성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요구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사용자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중심 시스템 구현방향 제시 필요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운영 및 유지보수가 원활한 시스템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구현방향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제시 필요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2.3.5.2 </a:t>
            </a:r>
            <a:r>
              <a:rPr lang="ko-KR" altLang="en-US" sz="1600"/>
              <a:t>이해관계자 요구 분석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953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본 사업과 관련된 핵심그룹인터뷰</a:t>
            </a:r>
            <a:r>
              <a:rPr lang="en-US" altLang="ko-KR" sz="1600" dirty="0"/>
              <a:t>(FGI)</a:t>
            </a:r>
            <a:r>
              <a:rPr lang="ko-KR" altLang="en-US" sz="1600"/>
              <a:t>는 경영정보시스템 </a:t>
            </a:r>
            <a:r>
              <a:rPr lang="ko-KR" altLang="en-US" sz="1600" dirty="0"/>
              <a:t>구축의 방향성을 정의하기 위해 </a:t>
            </a:r>
            <a:r>
              <a:rPr lang="ko-KR" altLang="en-US" sz="1600"/>
              <a:t>수행하며  질의</a:t>
            </a:r>
            <a:r>
              <a:rPr lang="en-US" altLang="ko-KR" sz="1600"/>
              <a:t>/</a:t>
            </a:r>
            <a:r>
              <a:rPr lang="ko-KR" altLang="en-US" sz="1600"/>
              <a:t>응답 및 자료 요청</a:t>
            </a:r>
            <a:r>
              <a:rPr lang="en-US" altLang="ko-KR" sz="1600"/>
              <a:t>/</a:t>
            </a:r>
            <a:r>
              <a:rPr lang="ko-KR" altLang="en-US" sz="1600"/>
              <a:t>회신 </a:t>
            </a:r>
            <a:r>
              <a:rPr lang="ko-KR" altLang="en-US" sz="1600" dirty="0"/>
              <a:t>형식으로 진행함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10" name="Rectangle 68"/>
          <p:cNvSpPr>
            <a:spLocks noChangeArrowheads="1"/>
          </p:cNvSpPr>
          <p:nvPr/>
        </p:nvSpPr>
        <p:spPr bwMode="auto">
          <a:xfrm>
            <a:off x="344488" y="2031722"/>
            <a:ext cx="936104" cy="446942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</a:t>
            </a:r>
          </a:p>
        </p:txBody>
      </p:sp>
      <p:sp>
        <p:nvSpPr>
          <p:cNvPr id="11" name="Rectangle 62"/>
          <p:cNvSpPr>
            <a:spLocks noChangeArrowheads="1"/>
          </p:cNvSpPr>
          <p:nvPr/>
        </p:nvSpPr>
        <p:spPr bwMode="auto">
          <a:xfrm>
            <a:off x="1388632" y="2031722"/>
            <a:ext cx="8136367" cy="446942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업무 담당자 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예산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회계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구매자산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사업관리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) 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인터뷰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8"/>
          <p:cNvSpPr>
            <a:spLocks noChangeArrowheads="1"/>
          </p:cNvSpPr>
          <p:nvPr/>
        </p:nvSpPr>
        <p:spPr bwMode="auto">
          <a:xfrm>
            <a:off x="344488" y="2546194"/>
            <a:ext cx="936104" cy="994018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수행방식</a:t>
            </a:r>
          </a:p>
        </p:txBody>
      </p:sp>
      <p:sp>
        <p:nvSpPr>
          <p:cNvPr id="13" name="Rectangle 62"/>
          <p:cNvSpPr>
            <a:spLocks noChangeArrowheads="1"/>
          </p:cNvSpPr>
          <p:nvPr/>
        </p:nvSpPr>
        <p:spPr bwMode="auto">
          <a:xfrm>
            <a:off x="1388632" y="2553880"/>
            <a:ext cx="8136367" cy="994018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endParaRPr kumimoji="1" lang="ko-KR" altLang="en-US" sz="14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Rectangle 62"/>
          <p:cNvSpPr>
            <a:spLocks noChangeArrowheads="1"/>
          </p:cNvSpPr>
          <p:nvPr/>
        </p:nvSpPr>
        <p:spPr bwMode="auto">
          <a:xfrm>
            <a:off x="1491372" y="2613530"/>
            <a:ext cx="2237491" cy="35736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noProof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1" lang="ko-KR" altLang="en-US" sz="1200" b="1" kern="0" noProof="0" dirty="0">
                <a:latin typeface="맑은 고딕" pitchFamily="50" charset="-127"/>
                <a:ea typeface="맑은 고딕" pitchFamily="50" charset="-127"/>
              </a:rPr>
              <a:t>차 </a:t>
            </a:r>
            <a:r>
              <a:rPr kumimoji="1" lang="en-US" altLang="ko-KR" sz="1200" b="1" kern="0" noProof="0" dirty="0">
                <a:latin typeface="맑은 고딕" pitchFamily="50" charset="-127"/>
                <a:ea typeface="맑은 고딕" pitchFamily="50" charset="-127"/>
              </a:rPr>
              <a:t>FGI</a:t>
            </a:r>
            <a:r>
              <a:rPr kumimoji="1" lang="ko-KR" altLang="en-US" sz="1200" b="1" kern="0" noProof="0">
                <a:latin typeface="맑은 고딕" pitchFamily="50" charset="-127"/>
                <a:ea typeface="맑은 고딕" pitchFamily="50" charset="-127"/>
              </a:rPr>
              <a:t>인터뷰</a:t>
            </a:r>
            <a:r>
              <a:rPr kumimoji="1" lang="en-US" altLang="ko-KR" sz="1200" b="1" kern="0" noProof="0">
                <a:latin typeface="맑은 고딕" pitchFamily="50" charset="-127"/>
                <a:ea typeface="맑은 고딕" pitchFamily="50" charset="-127"/>
              </a:rPr>
              <a:t>(9/3,9/4)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68"/>
          <p:cNvSpPr>
            <a:spLocks noChangeArrowheads="1"/>
          </p:cNvSpPr>
          <p:nvPr/>
        </p:nvSpPr>
        <p:spPr bwMode="auto">
          <a:xfrm>
            <a:off x="344488" y="3608463"/>
            <a:ext cx="936104" cy="27002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주요 내용 및 분석방식</a:t>
            </a:r>
          </a:p>
        </p:txBody>
      </p:sp>
      <p:sp>
        <p:nvSpPr>
          <p:cNvPr id="17" name="Rectangle 62"/>
          <p:cNvSpPr>
            <a:spLocks noChangeArrowheads="1"/>
          </p:cNvSpPr>
          <p:nvPr/>
        </p:nvSpPr>
        <p:spPr bwMode="auto">
          <a:xfrm>
            <a:off x="1388632" y="3615317"/>
            <a:ext cx="8136367" cy="2693407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endParaRPr kumimoji="1" lang="ko-KR" altLang="en-US" sz="14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372" y="3682676"/>
            <a:ext cx="3749660" cy="322121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인터뷰 주요내용</a:t>
            </a:r>
          </a:p>
        </p:txBody>
      </p:sp>
      <p:sp>
        <p:nvSpPr>
          <p:cNvPr id="20" name="Rectangle 62"/>
          <p:cNvSpPr>
            <a:spLocks noChangeArrowheads="1"/>
          </p:cNvSpPr>
          <p:nvPr/>
        </p:nvSpPr>
        <p:spPr bwMode="auto">
          <a:xfrm>
            <a:off x="1491372" y="2964557"/>
            <a:ext cx="2237491" cy="536451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 noProof="0">
                <a:latin typeface="맑은 고딕" pitchFamily="50" charset="-127"/>
                <a:ea typeface="맑은 고딕" pitchFamily="50" charset="-127"/>
              </a:rPr>
              <a:t>회계 업무</a:t>
            </a:r>
            <a:endParaRPr kumimoji="1" lang="en-US" altLang="ko-KR" sz="1200" b="1" kern="0" noProof="0">
              <a:latin typeface="맑은 고딕" pitchFamily="50" charset="-127"/>
              <a:ea typeface="맑은 고딕" pitchFamily="50" charset="-127"/>
            </a:endParaRPr>
          </a:p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예산</a:t>
            </a:r>
            <a:r>
              <a:rPr kumimoji="1" lang="en-US" altLang="ko-KR" sz="12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2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구매자산 업무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Rectangle 62"/>
          <p:cNvSpPr>
            <a:spLocks noChangeArrowheads="1"/>
          </p:cNvSpPr>
          <p:nvPr/>
        </p:nvSpPr>
        <p:spPr bwMode="auto">
          <a:xfrm>
            <a:off x="4203126" y="2613530"/>
            <a:ext cx="2536220" cy="35736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차 </a:t>
            </a:r>
            <a:r>
              <a:rPr kumimoji="1" lang="en-US" altLang="ko-KR" sz="1200" b="1" kern="0" dirty="0">
                <a:latin typeface="맑은 고딕" pitchFamily="50" charset="-127"/>
                <a:ea typeface="맑은 고딕" pitchFamily="50" charset="-127"/>
              </a:rPr>
              <a:t>FGI</a:t>
            </a: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인터뷰</a:t>
            </a:r>
            <a:r>
              <a:rPr kumimoji="1" lang="en-US" altLang="ko-KR" sz="1200" b="1" kern="0" noProof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200" b="1" kern="0" noProof="0" smtClean="0">
                <a:latin typeface="맑은 고딕" pitchFamily="50" charset="-127"/>
                <a:ea typeface="맑은 고딕" pitchFamily="50" charset="-127"/>
              </a:rPr>
              <a:t>미시행</a:t>
            </a:r>
            <a:r>
              <a:rPr kumimoji="1" lang="en-US" altLang="ko-KR" sz="1200" b="1" kern="0" noProof="0" smtClean="0"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Rectangle 62"/>
          <p:cNvSpPr>
            <a:spLocks noChangeArrowheads="1"/>
          </p:cNvSpPr>
          <p:nvPr/>
        </p:nvSpPr>
        <p:spPr bwMode="auto">
          <a:xfrm>
            <a:off x="4203126" y="2964557"/>
            <a:ext cx="2536220" cy="536451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 smtClean="0">
                <a:latin typeface="맑은 고딕" pitchFamily="50" charset="-127"/>
                <a:ea typeface="맑은 고딕" pitchFamily="50" charset="-127"/>
              </a:rPr>
              <a:t>사업관리 </a:t>
            </a:r>
            <a:r>
              <a:rPr kumimoji="1" lang="en-US" altLang="ko-KR" sz="1050" b="1" kern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1" lang="ko-KR" altLang="en-US" sz="1050" b="1" kern="0" smtClean="0">
                <a:latin typeface="맑은 고딕" pitchFamily="50" charset="-127"/>
                <a:ea typeface="맑은 고딕" pitchFamily="50" charset="-127"/>
              </a:rPr>
              <a:t>현황 및 자료분석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Rectangle 62"/>
          <p:cNvSpPr>
            <a:spLocks noChangeArrowheads="1"/>
          </p:cNvSpPr>
          <p:nvPr/>
        </p:nvSpPr>
        <p:spPr bwMode="auto">
          <a:xfrm>
            <a:off x="7226810" y="2613530"/>
            <a:ext cx="2160000" cy="35736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분석자료</a:t>
            </a:r>
            <a:r>
              <a:rPr kumimoji="1" lang="en-US" altLang="ko-KR" sz="1200" b="1" kern="0">
                <a:latin typeface="맑은 고딕" pitchFamily="50" charset="-127"/>
                <a:ea typeface="맑은 고딕" pitchFamily="50" charset="-127"/>
              </a:rPr>
              <a:t>(9/10~10/31)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Rectangle 62"/>
          <p:cNvSpPr>
            <a:spLocks noChangeArrowheads="1"/>
          </p:cNvSpPr>
          <p:nvPr/>
        </p:nvSpPr>
        <p:spPr bwMode="auto">
          <a:xfrm>
            <a:off x="7226810" y="2964557"/>
            <a:ext cx="2160000" cy="536451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100" b="1" kern="0" dirty="0">
                <a:latin typeface="맑은 고딕" pitchFamily="50" charset="-127"/>
                <a:ea typeface="맑은 고딕" pitchFamily="50" charset="-127"/>
              </a:rPr>
              <a:t>유형분류</a:t>
            </a:r>
            <a:r>
              <a:rPr kumimoji="1" lang="en-US" altLang="ko-KR" sz="1100" b="1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100" b="1" kern="0" dirty="0">
                <a:latin typeface="맑은 고딕" pitchFamily="50" charset="-127"/>
                <a:ea typeface="맑은 고딕" pitchFamily="50" charset="-127"/>
              </a:rPr>
              <a:t>공통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회계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예산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구매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자산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사업관리 </a:t>
            </a:r>
            <a:r>
              <a:rPr kumimoji="1" lang="ko-KR" altLang="en-US" sz="1100" b="1" kern="0" dirty="0">
                <a:latin typeface="맑은 고딕" pitchFamily="50" charset="-127"/>
                <a:ea typeface="맑은 고딕" pitchFamily="50" charset="-127"/>
              </a:rPr>
              <a:t>등</a:t>
            </a:r>
            <a:r>
              <a:rPr kumimoji="1" lang="en-US" altLang="ko-KR" sz="1100" b="1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개선방향 식별</a:t>
            </a:r>
          </a:p>
        </p:txBody>
      </p:sp>
      <p:sp>
        <p:nvSpPr>
          <p:cNvPr id="5" name="갈매기형 수장 4"/>
          <p:cNvSpPr/>
          <p:nvPr/>
        </p:nvSpPr>
        <p:spPr>
          <a:xfrm>
            <a:off x="3764868" y="2739741"/>
            <a:ext cx="396044" cy="597214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갈매기형 수장 29"/>
          <p:cNvSpPr/>
          <p:nvPr/>
        </p:nvSpPr>
        <p:spPr>
          <a:xfrm>
            <a:off x="6789204" y="2739741"/>
            <a:ext cx="396044" cy="597214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236" y="3682676"/>
            <a:ext cx="3915574" cy="322121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분석 방식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372" y="4006169"/>
            <a:ext cx="3749660" cy="219513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marR="0" lvl="0" indent="-87313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400" b="0" i="0" u="none" strike="noStrike" kern="0" cap="none" spc="-15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236" y="3997751"/>
            <a:ext cx="3915574" cy="2203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Rectangle 62"/>
          <p:cNvSpPr>
            <a:spLocks noChangeArrowheads="1"/>
          </p:cNvSpPr>
          <p:nvPr/>
        </p:nvSpPr>
        <p:spPr bwMode="auto">
          <a:xfrm>
            <a:off x="1604628" y="4123224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현 경영정보시스템의 운영 현황 파악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5745088" y="4041068"/>
            <a:ext cx="432000" cy="396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문제</a:t>
            </a:r>
          </a:p>
        </p:txBody>
      </p:sp>
      <p:sp>
        <p:nvSpPr>
          <p:cNvPr id="35" name="타원 34"/>
          <p:cNvSpPr/>
          <p:nvPr/>
        </p:nvSpPr>
        <p:spPr>
          <a:xfrm>
            <a:off x="6741215" y="4041068"/>
            <a:ext cx="432000" cy="396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의견</a:t>
            </a:r>
          </a:p>
        </p:txBody>
      </p:sp>
      <p:sp>
        <p:nvSpPr>
          <p:cNvPr id="36" name="타원 35"/>
          <p:cNvSpPr/>
          <p:nvPr/>
        </p:nvSpPr>
        <p:spPr>
          <a:xfrm>
            <a:off x="7737342" y="4041068"/>
            <a:ext cx="432000" cy="39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요구</a:t>
            </a:r>
          </a:p>
        </p:txBody>
      </p:sp>
      <p:sp>
        <p:nvSpPr>
          <p:cNvPr id="37" name="타원 36"/>
          <p:cNvSpPr/>
          <p:nvPr/>
        </p:nvSpPr>
        <p:spPr>
          <a:xfrm>
            <a:off x="8733468" y="4041068"/>
            <a:ext cx="432000" cy="39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5729866" y="4663620"/>
            <a:ext cx="3420380" cy="101519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분류 및 요약</a:t>
            </a:r>
            <a:endParaRPr lang="en-US" altLang="ko-KR" sz="1100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729866" y="5848795"/>
            <a:ext cx="3420380" cy="26653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Key Findings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도출</a:t>
            </a:r>
          </a:p>
        </p:txBody>
      </p:sp>
      <p:cxnSp>
        <p:nvCxnSpPr>
          <p:cNvPr id="29" name="꺾인 연결선 28"/>
          <p:cNvCxnSpPr>
            <a:stCxn id="6" idx="4"/>
            <a:endCxn id="7" idx="0"/>
          </p:cNvCxnSpPr>
          <p:nvPr/>
        </p:nvCxnSpPr>
        <p:spPr>
          <a:xfrm rot="16200000" flipH="1">
            <a:off x="6587296" y="3810860"/>
            <a:ext cx="226552" cy="1478968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5" idx="4"/>
            <a:endCxn id="7" idx="0"/>
          </p:cNvCxnSpPr>
          <p:nvPr/>
        </p:nvCxnSpPr>
        <p:spPr>
          <a:xfrm rot="16200000" flipH="1">
            <a:off x="7085359" y="4308923"/>
            <a:ext cx="226552" cy="482841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6" idx="4"/>
            <a:endCxn id="7" idx="0"/>
          </p:cNvCxnSpPr>
          <p:nvPr/>
        </p:nvCxnSpPr>
        <p:spPr>
          <a:xfrm rot="5400000">
            <a:off x="7583423" y="4293701"/>
            <a:ext cx="226552" cy="513286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7" idx="4"/>
            <a:endCxn id="7" idx="0"/>
          </p:cNvCxnSpPr>
          <p:nvPr/>
        </p:nvCxnSpPr>
        <p:spPr>
          <a:xfrm rot="5400000">
            <a:off x="8081486" y="3795638"/>
            <a:ext cx="226552" cy="1509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7" idx="2"/>
            <a:endCxn id="39" idx="0"/>
          </p:cNvCxnSpPr>
          <p:nvPr/>
        </p:nvCxnSpPr>
        <p:spPr>
          <a:xfrm>
            <a:off x="7440056" y="5678810"/>
            <a:ext cx="0" cy="16998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68"/>
          <p:cNvSpPr>
            <a:spLocks noChangeArrowheads="1"/>
          </p:cNvSpPr>
          <p:nvPr/>
        </p:nvSpPr>
        <p:spPr bwMode="auto">
          <a:xfrm>
            <a:off x="344488" y="1516780"/>
            <a:ext cx="936104" cy="446942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목적</a:t>
            </a:r>
          </a:p>
        </p:txBody>
      </p:sp>
      <p:sp>
        <p:nvSpPr>
          <p:cNvPr id="60" name="Rectangle 62"/>
          <p:cNvSpPr>
            <a:spLocks noChangeArrowheads="1"/>
          </p:cNvSpPr>
          <p:nvPr/>
        </p:nvSpPr>
        <p:spPr bwMode="auto">
          <a:xfrm>
            <a:off x="1388632" y="1516780"/>
            <a:ext cx="8136367" cy="446942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R="0" lvl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ko-KR" altLang="en-US" sz="1400" b="1" kern="0" dirty="0">
                <a:latin typeface="맑은 고딕" pitchFamily="50" charset="-127"/>
                <a:ea typeface="맑은 고딕" pitchFamily="50" charset="-127"/>
              </a:rPr>
              <a:t>본 사업 </a:t>
            </a:r>
            <a:r>
              <a:rPr kumimoji="1" lang="ko-KR" altLang="en-US" sz="1400" b="1" kern="0" noProof="0" dirty="0">
                <a:latin typeface="맑은 고딕" pitchFamily="50" charset="-127"/>
                <a:ea typeface="맑은 고딕" pitchFamily="50" charset="-127"/>
              </a:rPr>
              <a:t>핵심그룹에 대한 인터뷰를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통해 현행</a:t>
            </a:r>
            <a:r>
              <a:rPr kumimoji="1" lang="ko-KR" altLang="en-US" sz="1400" b="1" kern="0">
                <a:latin typeface="맑은 고딕" pitchFamily="50" charset="-127"/>
                <a:ea typeface="맑은 고딕" pitchFamily="50" charset="-127"/>
              </a:rPr>
              <a:t> 경영정보시스템 개선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400" b="1" kern="0" noProof="0" dirty="0">
                <a:latin typeface="맑은 고딕" pitchFamily="50" charset="-127"/>
                <a:ea typeface="맑은 고딕" pitchFamily="50" charset="-127"/>
              </a:rPr>
              <a:t>방향성 정의</a:t>
            </a:r>
            <a:r>
              <a:rPr kumimoji="1" lang="ko-KR" altLang="en-US" sz="1400" b="1" kern="0" dirty="0">
                <a:latin typeface="맑은 고딕" pitchFamily="50" charset="-127"/>
                <a:ea typeface="맑은 고딕" pitchFamily="50" charset="-127"/>
              </a:rPr>
              <a:t>에 반영</a:t>
            </a:r>
            <a:r>
              <a:rPr kumimoji="1" lang="ko-KR" altLang="en-US" sz="1400" b="1" kern="0" noProof="0" dirty="0"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Rectangle 62"/>
          <p:cNvSpPr>
            <a:spLocks noChangeArrowheads="1"/>
          </p:cNvSpPr>
          <p:nvPr/>
        </p:nvSpPr>
        <p:spPr bwMode="auto">
          <a:xfrm>
            <a:off x="1604628" y="4533652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현 경영정보시스템 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개선방향에 대한 의견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Rectangle 62"/>
          <p:cNvSpPr>
            <a:spLocks noChangeArrowheads="1"/>
          </p:cNvSpPr>
          <p:nvPr/>
        </p:nvSpPr>
        <p:spPr bwMode="auto">
          <a:xfrm>
            <a:off x="1604628" y="4944080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업무별 시스템 사용 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현황 식별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1604628" y="5354508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시스템별 기능 미비로 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인한 문제점 식별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1604628" y="5764937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시스템 상세 요구사항 식별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789204" y="4653136"/>
            <a:ext cx="1121677" cy="20481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분류 및 요약</a:t>
            </a:r>
          </a:p>
        </p:txBody>
      </p:sp>
      <p:grpSp>
        <p:nvGrpSpPr>
          <p:cNvPr id="15" name="그룹 66"/>
          <p:cNvGrpSpPr/>
          <p:nvPr/>
        </p:nvGrpSpPr>
        <p:grpSpPr>
          <a:xfrm>
            <a:off x="5699314" y="4921423"/>
            <a:ext cx="3494655" cy="729218"/>
            <a:chOff x="5720096" y="4931814"/>
            <a:chExt cx="3494655" cy="729218"/>
          </a:xfrm>
        </p:grpSpPr>
        <p:cxnSp>
          <p:nvCxnSpPr>
            <p:cNvPr id="69" name="직선 연결선 68"/>
            <p:cNvCxnSpPr/>
            <p:nvPr/>
          </p:nvCxnSpPr>
          <p:spPr>
            <a:xfrm>
              <a:off x="5817096" y="5145367"/>
              <a:ext cx="32760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>
              <a:off x="6744355" y="500718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7365268" y="500870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>
              <a:off x="7941332" y="500870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/>
            <p:nvPr/>
          </p:nvCxnSpPr>
          <p:spPr>
            <a:xfrm>
              <a:off x="8553400" y="500870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6287860" y="4931814"/>
              <a:ext cx="441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공통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760928" y="4937695"/>
              <a:ext cx="5710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회계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17993" y="4937695"/>
              <a:ext cx="4719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예산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10424" y="4937695"/>
              <a:ext cx="6909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구매자산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501669" y="4937695"/>
              <a:ext cx="6909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사업관리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0" name="직선 연결선 79"/>
            <p:cNvCxnSpPr/>
            <p:nvPr/>
          </p:nvCxnSpPr>
          <p:spPr>
            <a:xfrm>
              <a:off x="6285148" y="4973729"/>
              <a:ext cx="0" cy="62157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>
              <a:off x="5900255" y="5309904"/>
              <a:ext cx="3960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5900255" y="5462304"/>
              <a:ext cx="3960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5720096" y="5110526"/>
              <a:ext cx="6659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개선방향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722786" y="5277800"/>
              <a:ext cx="6659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업무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731386" y="5430200"/>
              <a:ext cx="6659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8" name="그룹 88"/>
            <p:cNvGrpSpPr/>
            <p:nvPr/>
          </p:nvGrpSpPr>
          <p:grpSpPr>
            <a:xfrm>
              <a:off x="6231924" y="5123714"/>
              <a:ext cx="2982827" cy="463022"/>
              <a:chOff x="-2755079" y="2560917"/>
              <a:chExt cx="2982827" cy="463022"/>
            </a:xfrm>
          </p:grpSpPr>
          <p:sp>
            <p:nvSpPr>
              <p:cNvPr id="91" name="직사각형 90"/>
              <p:cNvSpPr/>
              <p:nvPr/>
            </p:nvSpPr>
            <p:spPr>
              <a:xfrm>
                <a:off x="-2755079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통합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유연화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자동화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2" name="직사각형 91"/>
              <p:cNvSpPr/>
              <p:nvPr/>
            </p:nvSpPr>
            <p:spPr>
              <a:xfrm>
                <a:off x="-2334457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규범화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편리성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사용자중심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3" name="직사각형 92"/>
              <p:cNvSpPr/>
              <p:nvPr/>
            </p:nvSpPr>
            <p:spPr>
              <a:xfrm>
                <a:off x="-1719838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표준화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보안강화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연계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7" name="직사각형 96"/>
              <p:cNvSpPr/>
              <p:nvPr/>
            </p:nvSpPr>
            <p:spPr>
              <a:xfrm>
                <a:off x="-1207182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통계강화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데이터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인프라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8" name="직사각형 97"/>
              <p:cNvSpPr/>
              <p:nvPr/>
            </p:nvSpPr>
            <p:spPr>
              <a:xfrm>
                <a:off x="-672224" y="2560917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효율화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스마트워크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정합성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sp>
        <p:nvSpPr>
          <p:cNvPr id="9" name="TextBox 8"/>
          <p:cNvSpPr txBox="1"/>
          <p:nvPr/>
        </p:nvSpPr>
        <p:spPr>
          <a:xfrm>
            <a:off x="5816186" y="4905372"/>
            <a:ext cx="484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유형</a:t>
            </a:r>
          </a:p>
        </p:txBody>
      </p:sp>
      <p:sp>
        <p:nvSpPr>
          <p:cNvPr id="6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2.3.5.3 </a:t>
            </a:r>
            <a:r>
              <a:rPr lang="ko-KR" altLang="en-US" sz="1600"/>
              <a:t>이해관계자 인터뷰 결과분석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9557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인터뷰 </a:t>
            </a:r>
            <a:r>
              <a:rPr lang="ko-KR" altLang="en-US" sz="1600" dirty="0"/>
              <a:t>결과 식별된 주요 현안 및 요구사항을 유형화하여 분류하고 </a:t>
            </a:r>
            <a:r>
              <a:rPr lang="ko-KR" altLang="en-US" sz="1600"/>
              <a:t>요약한 후 경영정보시스템의 인프라</a:t>
            </a:r>
            <a:r>
              <a:rPr lang="en-US" altLang="ko-KR" sz="1600"/>
              <a:t>, </a:t>
            </a:r>
            <a:r>
              <a:rPr lang="ko-KR" altLang="en-US" sz="1600"/>
              <a:t>통합요구</a:t>
            </a:r>
            <a:r>
              <a:rPr lang="en-US" altLang="ko-KR" sz="1600"/>
              <a:t>, </a:t>
            </a:r>
            <a:r>
              <a:rPr lang="ko-KR" altLang="en-US" sz="1600"/>
              <a:t>유연성</a:t>
            </a:r>
            <a:r>
              <a:rPr lang="en-US" altLang="ko-KR" sz="1600"/>
              <a:t>, </a:t>
            </a:r>
            <a:r>
              <a:rPr lang="ko-KR" altLang="en-US" sz="1600"/>
              <a:t>편리성</a:t>
            </a:r>
            <a:r>
              <a:rPr lang="en-US" altLang="ko-KR" sz="1600"/>
              <a:t>, </a:t>
            </a:r>
            <a:r>
              <a:rPr lang="ko-KR" altLang="en-US" sz="1600"/>
              <a:t>효율화 등의 관점에서 사용자 중심의 시스템으로 개선점을 </a:t>
            </a:r>
            <a:r>
              <a:rPr lang="ko-KR" altLang="en-US" sz="1600" dirty="0"/>
              <a:t>도출함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908496"/>
              </p:ext>
            </p:extLst>
          </p:nvPr>
        </p:nvGraphicFramePr>
        <p:xfrm>
          <a:off x="359916" y="1520825"/>
          <a:ext cx="9180000" cy="4787896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05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13562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38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6571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현안 및 요구사항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출처</a:t>
                      </a:r>
                      <a:r>
                        <a:rPr lang="en-US" altLang="ko-KR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근거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57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인프라 구조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더존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ERP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등으로 분산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이중화되어 있는 현 시스템을  단일시스템으로의  통합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인프라 구조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 품질관리 및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표준화 미비점 보완으로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DATABASE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대폭 개선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인프라 구조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개선 구축 및 신뢰도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높은 솔루션 도입으로 안정성 및 신뢰성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유지보수 편의성 확보 필요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인프라 구조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정보기술 동향 분석 등을 통해 더욱 개선되고 발전할 수 있는 미래지향형  방법론 추진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인프라 구조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환경 및  요구사항 변경에 대응이 용이하도록 프로그램 유연성 확보 필요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변경이 용이한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TOOL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업무간 데이터와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프로그램과 프로그램 간 연계가 원활히 이루어지는 시스템을 요구함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업무별 공유 및  상호  데이터 교환이  가능한  표준화된 시스템 설계가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 시 하나의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Part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만을 검토하지 말고 연계된 업무에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대한  통합 분석이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필요함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내부 프로그램을 통해 기안하면 해당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데이터가 예산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전자결재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자산관리에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자동으로 입력되면 좋을 것 같음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상호 연동가능하고 이용하기 편리한 시스템을 요구함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업무별로 개별시스템 사용이 아닌  단일화된 통합시스템으로서의 업무 통합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유연성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모회사 전책 변경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내부규정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등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외부환경변화에  용이하게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대응할 수 있고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외부데이터와의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연계가  용이한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유연성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진행된 업무 프로세스가 역으로도  취소 진행될 수 있도록 설계 필요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(ex.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확정취소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확정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승인취소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작성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유연성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대내외  요구사항을  빠르게 적용할 수 있는 탄력성 있는 구조의  시스템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837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유연성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신기술 도입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및  적용을 용이하게 하는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AI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기능을  지향하는  솔루션  도입 검토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2.3.5.4 </a:t>
            </a:r>
            <a:r>
              <a:rPr lang="ko-KR" altLang="en-US" sz="1600"/>
              <a:t>이해관계자 인터뷰 결과</a:t>
            </a:r>
            <a:r>
              <a:rPr lang="en-US" altLang="ko-KR" sz="1600"/>
              <a:t>(1/6)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2432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36524"/>
              </p:ext>
            </p:extLst>
          </p:nvPr>
        </p:nvGraphicFramePr>
        <p:xfrm>
          <a:off x="359916" y="821585"/>
          <a:ext cx="9180000" cy="5487146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29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1531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38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9147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현안 및 요구사항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14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실무자   자료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작성의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정확도와 효율성 제고 및 근거 추적이 가능한 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필요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 자료를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별도 가공 없이 시스템에서 획득할 수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있고 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오차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오류는  담당이 용이하게 수정할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 있는 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전자증빙시스템의 활용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인하우스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금융기관 연계  등 업무환경에서 접속 및 이용이 편리한 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정보조회기능 편리성 강화 및 필요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검색조건의 다양화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화면상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SORT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 엑셀 다운로드 기능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시스템을 처음 사용하는 사용자도  용이하게 사용할 수 있도록  사용자 지침서  및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HELP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 필요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업무별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다양한 요구사항을 통합된 개선안으로 잘 정리한 방안 수립 필요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현재 업무처리의 문제점을 파악해서 프로세스 개선필요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특히 현행 시스템의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 기능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CDP,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관제 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사용자중심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 재정리 및 필수 기능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추가 구축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 메뉴 정리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 기능의 현행화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효율화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효율화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 절차의 간소화를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통해  단순 업무량을 줄이고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고부가가치 업무에  근무 시간을 투입할 필요가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있음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효율화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개인과 조직의 생산성 및 효율성을 높이기 위한 경영정보시스템의 기능 고도화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효율화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 입력 작업과  오류 발생시 수정하는 시간을 줄일 수 있는  시스템 요구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효율화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업무처리의  표준화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단순화 작업을 통해  간소화하고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후속 작업에 관련정보를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PUSH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하는 시스템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보안성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엑셀 다운로드시  작업 이력 기록 및  사후 승인 관리 체계 마련 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4117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회계시스템과 타 시스템간의 데이터 연동 문제와 연동 미비로 인한 이중 입력 문제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전자세금계산서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발행시 외부 의세금계산서 발행 솔루션과  자동  연계 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4117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정합성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DB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COMMENT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설계 문서 부족으로 시스템 및 데이터 분석이 어려운 상태이므로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DB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보완 작업이우선적이며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 분석 및  유지보수에 많은 시간이 소요됨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91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개선방향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수작업 처리 업무의 자동화 필요 및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자동화를 통한 업무편의 개선 및 표준화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2.3.5.4 </a:t>
            </a:r>
            <a:r>
              <a:rPr lang="ko-KR" altLang="en-US" sz="1600"/>
              <a:t>이해관계자 인터뷰 결과</a:t>
            </a:r>
            <a:r>
              <a:rPr lang="en-US" altLang="ko-KR" sz="1600"/>
              <a:t>(2/6)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2432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155524"/>
              </p:ext>
            </p:extLst>
          </p:nvPr>
        </p:nvGraphicFramePr>
        <p:xfrm>
          <a:off x="359916" y="821585"/>
          <a:ext cx="9180000" cy="5440054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29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1531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38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9654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현안 및 요구사항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65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코드 체계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예산집행시 회계 계정코드 연결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편성에서 결산까지의 단계별 업무 진행 처리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추경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집행신청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 절차가 구분된 집계금액 관리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 및 전자결재를 통한 확정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통제 및 원활한 업무 흐름 유지 및 체계적이고 세부 절차에 의한 예산관리의 필요성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11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편성 절차 체계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편성지침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현업 입력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부서마감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조정요청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현업 조정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예산팀 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예산서 출력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예산확정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등의 절차로 편성 관리 및 예산서 관리 요청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예산편성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세부 예산 편성내역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편성근거 입력에 의한 금액 산출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 포함금액으로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복사 기능 필요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예산집행을 위한 분기별 정기배정 및 요청시 수시로 배정하는 시스템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분기별 배정관리를 위해 각 부서의 집행계획 작성 및 예산 배정 요청 관리 필요성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예산통제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예산의 실시간 통제 기능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입력시점에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ON-LINE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통제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 원활한 시스템 필요 및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권한 부여 방법 세분화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예산절감 목표 관리의 필요성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예산결산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예산의 차기 이월 처리 및 예산 결산서 출력 등의 예산결산 기능이 필요함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예산결산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예산결산 이월 및 불용 처리 기능 및 예산결산서 조회 기능 필요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검색조건 미비 및 집계치에 대한 세부내역을 검증할 수 있는 기능이 부족하므로 결산 작업의 어려움이 예상됨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 입력과 장부 반영이 되고 있음에도 더존과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ERP 2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 시스템을 운영하고 있는 근본적인 원인 확인 필요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공기업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준정부기관 결산지침에 준한 계정코드로 변환 및 계정코드별 관리항목의 관리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965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기능별 지출결의서 및 수입결의서 의 기능별  세분화 구분  운용                     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-- 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*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회입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예산외지출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계좌이체결의서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*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일반수입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매출구분별 수입결의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반납결의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예산외수입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*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대체결의서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계정대체결의서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예산대체결의서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현황분석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2.3.5.4 </a:t>
            </a:r>
            <a:r>
              <a:rPr lang="ko-KR" altLang="en-US" sz="1600"/>
              <a:t>이해관계자 인터뷰 결과</a:t>
            </a:r>
            <a:r>
              <a:rPr lang="en-US" altLang="ko-KR" sz="1600"/>
              <a:t>(3/6)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2464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138349"/>
              </p:ext>
            </p:extLst>
          </p:nvPr>
        </p:nvGraphicFramePr>
        <p:xfrm>
          <a:off x="359916" y="821585"/>
          <a:ext cx="9180000" cy="5487137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29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1531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38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00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현안 및 요구사항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00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금융기관 입금연계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 대한 수납처리 기능 미비로 입금 원인에 대한 추적 관리 및 후처리 내역 정보 연결 미흡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증빙 수작업 처리로 인한 작업시간 소요 및  증빙검색  어려움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증빙관리시스템 도입이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 수정 시 관리항목의 미비 등으로 인한 오류 발생 가능성이 존재함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전표분개의 자동화로 수정 최소화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79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효율성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더존시스템과의 이중 관리로 인해 업무 비효율성 존재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단일 시스템으로 통합이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일자별 전표 마감관리 미 처리로 보고된 회계장부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변경  소지가 많음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각종 장부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금액에 대한 검증기능 및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SORT,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엑셀 다운로드 등의 편의성 미비로 업무 효율성 저하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원천세 전자신고 및  원천세 자료관리 미비로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신고업무 어려움 및 자료요청 대응 늦음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 신고자료 관리 및 전자신고 처리가 되지 않아  부가세 신고 업무 어려움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선급보험료 기간결산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미수수익계산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건설가계정 대체 등의 결산전표 생성기능 미비로 인한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결산작업시간 소요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정기이월 데이터가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년에서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년으로 넘어오지 않음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이로 인해 회계 장부가 맞지 않음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 계정별 상계처리 기준으로 작성된 잔액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작성 후 이월처리 작업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 필요함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주석 관리 기능 미비로 결산주석 수작업처리로 인한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결산작업시간 소요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결산주석 자료관리 요구됨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연결재무제표 자료 제공 수작업으로 인한  작업시간 소요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모회사 계정코드와 매핑으로 작업효율 및 정확성 제고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회계팀에서 관리하는 자산금액과 자산시스템에서 개별로 관리하는 자산금액의 차이 및 회계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 차이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회계팀 자산 목록과 자산시스템의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자산목록 일원화 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회계금액을 자산시스템에 적용하는 방법으로 처리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자산관리의 안정적인 운영을 위해 각부서 자산담당자를 임명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등록하여 업무진행을 원활하게 함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동일한 계정이더라도 내용연수를 다르게 적용하는 시스템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분류를 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중으로 분류하고 있으므로  분류별 내용연수를 다르게 관리하여 적용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취득관리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자산취득 금액을 집계하기 위해 취득에 소요된 금액을 집계하고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검수조서의 항목별로 자산을 취득한 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자산취득전표를 회계에 제공하고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개별자산을 배치하여  자산시스템에 개별자산이 등록되도록하여 취득시점부터 감가상각 수행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2.3.5.4 </a:t>
            </a:r>
            <a:r>
              <a:rPr lang="ko-KR" altLang="en-US" sz="1600"/>
              <a:t>이해관계자 인터뷰 결과</a:t>
            </a:r>
            <a:r>
              <a:rPr lang="en-US" altLang="ko-KR" sz="1600"/>
              <a:t>(4/6)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4948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739111"/>
              </p:ext>
            </p:extLst>
          </p:nvPr>
        </p:nvGraphicFramePr>
        <p:xfrm>
          <a:off x="359916" y="821585"/>
          <a:ext cx="9180000" cy="548016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04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1531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38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0230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현안 및 요구사항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2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자산이동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부서간 이동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인계부서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입력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인수분서 배치 입력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자산담당자 확인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및  부서 변경시 일괄 적용을 위한 자산관리자 변경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정합성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감가상각은 회계팀에서 다른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로 관리하고 있으므로 회계의 금액과 자산시스템의 금액을 일치시킨 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향후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ERP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감가상각을 계산하여 감가상각 전표를 회계에 제공하는 프로세스로 변경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재물조사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체계화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재물조사 계획 공지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각부서 보유자산 목록  및 자산 부착용 인식표 출력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재물조사 결괴등록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결과보고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자산관리자 확인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68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불용 지산의 처분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폐기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 대한  전표 자동 생성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인터뷰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수주예측관리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수주 예측사업에 대한 정보 등록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수주 기초자료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보유기술자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보유장비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197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수주진행괸리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 진행 이력 정보 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입찰정보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입찰진행관리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입찰결과 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입찰결과에 따른 수주정보 자동 등록</a:t>
                      </a:r>
                      <a:endParaRPr lang="ko-KR" altLang="en-US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197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실행사업정보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  정보  및  일정 계획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 관리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일정계획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선금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중도금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기성고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),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잔금 일정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표준공정관리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사업유형별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일정계획 관리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위탁사업정보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코레일에서의 위탁사업에 대한 관리 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유형별 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사업실행계획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단계별 세부실행계획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수입계획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공정별 세부일정계획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인력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 투입계획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–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표준일정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표준공정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표준소요량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9082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사업실적입력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수주사업 실적 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(34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위한 입력자료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작업실적 입력 양식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공정별 인력투입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자재투입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안전관리 정보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보건관리 정보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환경관리 정보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품질관리 정보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 투입공수 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직접직 입력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간접직과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관리직 배부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※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 용품사용 실적집계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작업실적 입력 투입자재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자재출고와 사용량 차이는 배부 문제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일일 근태기록 집계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HR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근태관리에서 집계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안전관리 일보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보건관리 일보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환경관리 일보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품질관리 일보는 별도의 입력자료가 있는지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?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계약관련 도급 지출전표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– 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계정코드에 사업장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공정코드를 필수항목으로 처리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6)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 재고관리 집계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PO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자재발주 집계는 자재 수불관리에서 처리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?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7)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지출전표 집계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소모용품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폐기물처리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시설재료비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복리후생비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제초작업비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외주비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도장재료 투입실적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입력자료 및 원가배부 후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 집계 처리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기성기준 집계 처리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정산 토탈 집계 처리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부속 서류를 위한 집계 처리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8)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증빙구분이 간이 영수증일 경우 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공정코드를 필수항목으로 처리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모든 원가계정에 관리항목 처리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9) 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 배부 대상 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제초용품 사용 실적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안전관리비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기계경비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임차료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손해보험료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앱사용료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 회사부담금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복리후생비</a:t>
                      </a:r>
                      <a:endParaRPr lang="en-US" altLang="ko-KR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10)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감가상각비 배부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①부서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사업장별 보유자산 기준 배부②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장비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자산번호연결  장비사용시간 배부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?</a:t>
                      </a:r>
                      <a:endParaRPr lang="ko-KR" altLang="en-US" sz="900" b="0" i="0" u="none" strike="noStrike" spc="-15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사업실적집계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 집계를 위한 기능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 실시간 집계 자동화 여부 확인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023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사업원가배부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실적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 기능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배부대상 계정별 배부기준 관리 및 배부 비율  산정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 우선순위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절차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 의한 배부 작업</a:t>
                      </a:r>
                      <a:endParaRPr lang="ko-KR" altLang="en-US" sz="9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320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사업실적통계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실적 통계자료별  양식 검토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양식에 필요한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r>
                        <a:rPr lang="en-US" altLang="ko-KR" sz="900" b="0" i="0" u="none" strike="noStrike" spc="-150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추가요구 기능 파악</a:t>
                      </a:r>
                      <a:endParaRPr lang="en-US" altLang="ko-KR" sz="9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320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사업실적증명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제안 및 입찰에 제출할 사업실적 자료 추출 기능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수행사업 실적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 기술자 자료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9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2.3.5.4 </a:t>
            </a:r>
            <a:r>
              <a:rPr lang="ko-KR" altLang="en-US" sz="1600"/>
              <a:t>이해관계자 인터뷰 결과</a:t>
            </a:r>
            <a:r>
              <a:rPr lang="en-US" altLang="ko-KR" sz="1600"/>
              <a:t>(5/6)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277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2.3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089062"/>
              </p:ext>
            </p:extLst>
          </p:nvPr>
        </p:nvGraphicFramePr>
        <p:xfrm>
          <a:off x="359916" y="821585"/>
          <a:ext cx="9180000" cy="3682716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16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24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1531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38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000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현안 및 요구사항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00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물품수급계획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수급계획 수립을 위한 기초자료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시점별 소요량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근거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사업실행계획에서 가져오는지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시점별 소요량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예상재고량 관리가 가능한 시스템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?,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종합물품 수급 및 구매계획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을 위한 자재별  표준정보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자재코드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구매소요시간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(LEADTIME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구매단위 등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구매요청관리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요청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보유물품 확인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출납 승인 등의 물품 청구에 대한  진행관리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수리구매계약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수리요청 확인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수리요청에 대한 승인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 발주처리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수리완료 검사 및 완료 통보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79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계약진행관리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구매발주 진행관리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사전규격등록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입찰진행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처리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계약진행관리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계약거래처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중도금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잔금일정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처리</a:t>
                      </a:r>
                      <a:endParaRPr lang="ko-KR" altLang="en-US" sz="9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구매현황관리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 주요일자 수시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주요일자별 자동 일정 생성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사전규격의뢰 진척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 진척도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진척도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 집행률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행정서비스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법률 검토 및 법령관련 질의 검토의뢰 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배분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답변결과 회신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그룹웨어를 통한  업무진행 기능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?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차량관리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차량예약 신청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예약신청 내부 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예약신청 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Key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인수인계시 유량 및 거리수 확인등록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접수시 유량 및 거리수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운행후 유량 및 거리수등록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주유이력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 마스터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차량사용 해당부서 공지 및 차량반납요청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정비소로 차량 출차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정비소에서 회사로 차량 입차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정비완료 후 사용결정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 이력관리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동호회관리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 코드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 가입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탈퇴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동호회별 회원 리스트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  활동관리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 지원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AutoShape 12"/>
          <p:cNvSpPr>
            <a:spLocks noChangeArrowheads="1"/>
          </p:cNvSpPr>
          <p:nvPr/>
        </p:nvSpPr>
        <p:spPr bwMode="auto">
          <a:xfrm rot="10800000">
            <a:off x="2815790" y="4937777"/>
            <a:ext cx="4224240" cy="36343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latinLnBrk="0">
              <a:defRPr/>
            </a:pPr>
            <a:endParaRPr lang="ko-KR" altLang="en-US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44488" y="5373216"/>
            <a:ext cx="9180512" cy="936020"/>
            <a:chOff x="344488" y="5395462"/>
            <a:chExt cx="9180512" cy="913774"/>
          </a:xfrm>
        </p:grpSpPr>
        <p:sp>
          <p:nvSpPr>
            <p:cNvPr id="8" name="직사각형 35"/>
            <p:cNvSpPr>
              <a:spLocks noChangeArrowheads="1"/>
            </p:cNvSpPr>
            <p:nvPr/>
          </p:nvSpPr>
          <p:spPr bwMode="auto">
            <a:xfrm>
              <a:off x="1521635" y="5400080"/>
              <a:ext cx="8003365" cy="90915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182563" indent="-182563" eaLnBrk="0" fontAlgn="base" latinLnBrk="0" hangingPunct="0">
                <a:lnSpc>
                  <a:spcPct val="150000"/>
                </a:lnSpc>
                <a:spcBef>
                  <a:spcPts val="3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</a:pPr>
              <a:r>
                <a:rPr lang="ko-KR" altLang="en-US" sz="1100" kern="0" dirty="0">
                  <a:latin typeface="맑은 고딕" pitchFamily="50" charset="-127"/>
                  <a:ea typeface="맑은 고딕" pitchFamily="50" charset="-127"/>
                </a:rPr>
                <a:t>공통 측면</a:t>
              </a:r>
              <a:r>
                <a:rPr lang="en-US" altLang="ko-KR" sz="1100" kern="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0" dirty="0">
                  <a:latin typeface="맑은 고딕" pitchFamily="50" charset="-127"/>
                  <a:ea typeface="맑은 고딕" pitchFamily="50" charset="-127"/>
                </a:rPr>
                <a:t>업무 측면</a:t>
              </a:r>
              <a:r>
                <a:rPr lang="en-US" altLang="ko-KR" sz="1100" kern="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0" dirty="0">
                  <a:latin typeface="맑은 고딕" pitchFamily="50" charset="-127"/>
                  <a:ea typeface="맑은 고딕" pitchFamily="50" charset="-127"/>
                </a:rPr>
                <a:t>시스템 측면에서 다양한 요구사항이 도출되었으며</a:t>
              </a:r>
              <a:r>
                <a:rPr lang="en-US" altLang="ko-KR" sz="1100" kern="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0" dirty="0">
                  <a:latin typeface="맑은 고딕" pitchFamily="50" charset="-127"/>
                  <a:ea typeface="맑은 고딕" pitchFamily="50" charset="-127"/>
                </a:rPr>
                <a:t>주요 요구사항으로는 사용자 중심 시스템 마련</a:t>
              </a:r>
              <a:r>
                <a:rPr lang="en-US" altLang="ko-KR" sz="1100" kern="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0" dirty="0">
                  <a:latin typeface="맑은 고딕" pitchFamily="50" charset="-127"/>
                  <a:ea typeface="맑은 고딕" pitchFamily="50" charset="-127"/>
                </a:rPr>
                <a:t>조직 및 업무 특성을 고려한 업무 프로세스 재설계</a:t>
              </a:r>
              <a:r>
                <a:rPr lang="en-US" altLang="ko-KR" sz="1100" kern="0">
                  <a:latin typeface="맑은 고딕" pitchFamily="50" charset="-127"/>
                  <a:ea typeface="맑은 고딕" pitchFamily="50" charset="-127"/>
                </a:rPr>
                <a:t>, DATA </a:t>
              </a:r>
              <a:r>
                <a:rPr lang="ko-KR" altLang="en-US" sz="1100" kern="0">
                  <a:latin typeface="맑은 고딕" pitchFamily="50" charset="-127"/>
                  <a:ea typeface="맑은 고딕" pitchFamily="50" charset="-127"/>
                </a:rPr>
                <a:t>정합성 요구</a:t>
              </a:r>
              <a:r>
                <a:rPr lang="en-US" altLang="ko-KR" sz="1100" ker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0">
                  <a:latin typeface="맑은 고딕" pitchFamily="50" charset="-127"/>
                  <a:ea typeface="맑은 고딕" pitchFamily="50" charset="-127"/>
                </a:rPr>
                <a:t>통합과 </a:t>
              </a:r>
              <a:r>
                <a:rPr lang="ko-KR" altLang="en-US" sz="1100" kern="0" dirty="0">
                  <a:latin typeface="맑은 고딕" pitchFamily="50" charset="-127"/>
                  <a:ea typeface="맑은 고딕" pitchFamily="50" charset="-127"/>
                </a:rPr>
                <a:t>연계 관점의 시스템 마련 등이 있음 </a:t>
              </a:r>
              <a:endParaRPr lang="en-US" altLang="ko-KR" sz="1100" kern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오각형 8"/>
            <p:cNvSpPr>
              <a:spLocks noChangeArrowheads="1"/>
            </p:cNvSpPr>
            <p:nvPr/>
          </p:nvSpPr>
          <p:spPr bwMode="gray">
            <a:xfrm>
              <a:off x="344488" y="5395462"/>
              <a:ext cx="1177147" cy="900711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10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2.3.5.4 </a:t>
            </a:r>
            <a:r>
              <a:rPr lang="ko-KR" altLang="en-US" sz="1600"/>
              <a:t>이해관계자 인터뷰 결과</a:t>
            </a:r>
            <a:r>
              <a:rPr lang="en-US" altLang="ko-KR" sz="1600"/>
              <a:t>(6/6)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091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이해관계자 인터뷰</a:t>
            </a:r>
            <a:r>
              <a:rPr lang="en-US" altLang="ko-KR" sz="1600"/>
              <a:t> </a:t>
            </a:r>
            <a:r>
              <a:rPr lang="ko-KR" altLang="en-US" sz="1600" dirty="0"/>
              <a:t>결과를 </a:t>
            </a:r>
            <a:r>
              <a:rPr lang="ko-KR" altLang="en-US" sz="1600" dirty="0" err="1"/>
              <a:t>대분류와</a:t>
            </a:r>
            <a:r>
              <a:rPr lang="ko-KR" altLang="en-US" sz="1600" dirty="0"/>
              <a:t> 중분류 기준으로 분포에 대해 분석한 결과 </a:t>
            </a:r>
            <a:r>
              <a:rPr lang="ko-KR" altLang="en-US" sz="1600" dirty="0" err="1"/>
              <a:t>대분류로는</a:t>
            </a:r>
            <a:r>
              <a:rPr lang="ko-KR" altLang="en-US" sz="1600" dirty="0"/>
              <a:t> 공통</a:t>
            </a:r>
            <a:r>
              <a:rPr lang="en-US" altLang="ko-KR" sz="1600"/>
              <a:t>, </a:t>
            </a:r>
            <a:r>
              <a:rPr lang="ko-KR" altLang="en-US" sz="1600"/>
              <a:t>회계</a:t>
            </a:r>
            <a:r>
              <a:rPr lang="en-US" altLang="ko-KR" sz="1600"/>
              <a:t>, </a:t>
            </a:r>
            <a:r>
              <a:rPr lang="ko-KR" altLang="en-US" sz="1600"/>
              <a:t>예산관리 </a:t>
            </a:r>
            <a:r>
              <a:rPr lang="ko-KR" altLang="en-US" sz="1600" dirty="0"/>
              <a:t>순으로 의견이 많은 것으로 조사되었고 </a:t>
            </a:r>
            <a:r>
              <a:rPr lang="ko-KR" altLang="en-US" sz="1600"/>
              <a:t>중분류로는 기능성 개선 및 통합의견이 </a:t>
            </a:r>
            <a:r>
              <a:rPr lang="ko-KR" altLang="en-US" sz="1600" dirty="0"/>
              <a:t>가장 많은 것으로 조사됨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2.3 </a:t>
            </a:r>
            <a:r>
              <a:rPr lang="ko-KR" altLang="en-US" dirty="0"/>
              <a:t>내부환경 분석</a:t>
            </a:r>
            <a:endParaRPr lang="en-US" altLang="ko-KR" dirty="0"/>
          </a:p>
        </p:txBody>
      </p:sp>
      <p:grpSp>
        <p:nvGrpSpPr>
          <p:cNvPr id="21" name="그룹 20"/>
          <p:cNvGrpSpPr/>
          <p:nvPr/>
        </p:nvGrpSpPr>
        <p:grpSpPr>
          <a:xfrm>
            <a:off x="344488" y="5543646"/>
            <a:ext cx="9180512" cy="765590"/>
            <a:chOff x="344488" y="5543646"/>
            <a:chExt cx="9180512" cy="765590"/>
          </a:xfrm>
        </p:grpSpPr>
        <p:sp>
          <p:nvSpPr>
            <p:cNvPr id="22" name="직사각형 35"/>
            <p:cNvSpPr>
              <a:spLocks noChangeArrowheads="1"/>
            </p:cNvSpPr>
            <p:nvPr/>
          </p:nvSpPr>
          <p:spPr bwMode="auto">
            <a:xfrm>
              <a:off x="1521635" y="5556709"/>
              <a:ext cx="8003365" cy="75252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182563" indent="-182563" eaLnBrk="0" fontAlgn="base" latinLnBrk="0" hangingPunct="0">
                <a:spcBef>
                  <a:spcPts val="3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  <a:defRPr/>
              </a:pPr>
              <a:r>
                <a:rPr lang="en-US" altLang="ko-KR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FGI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결과를 </a:t>
              </a:r>
              <a:r>
                <a:rPr lang="ko-KR" altLang="en-US" sz="1200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대분류와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중분류 기준으로 분포에 대해 분석한 결과 </a:t>
              </a:r>
              <a:r>
                <a:rPr lang="ko-KR" altLang="en-US" sz="1200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대분류로는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공통</a:t>
              </a:r>
              <a:r>
                <a:rPr lang="en-US" altLang="ko-KR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기금지원 순으로 의견이 많은 것으로 조사되었고 중분류로는 시스템 개선의견이 가장 많은 것으로 조사됨</a:t>
              </a:r>
              <a:endPara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오각형 22"/>
            <p:cNvSpPr>
              <a:spLocks noChangeArrowheads="1"/>
            </p:cNvSpPr>
            <p:nvPr/>
          </p:nvSpPr>
          <p:spPr bwMode="gray">
            <a:xfrm>
              <a:off x="344488" y="5543646"/>
              <a:ext cx="1177147" cy="752527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24" name="직사각형 23"/>
          <p:cNvSpPr/>
          <p:nvPr/>
        </p:nvSpPr>
        <p:spPr bwMode="auto">
          <a:xfrm>
            <a:off x="344488" y="1963204"/>
            <a:ext cx="9180512" cy="325908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799300" y="1583591"/>
            <a:ext cx="4419600" cy="307777"/>
            <a:chOff x="2799300" y="1583591"/>
            <a:chExt cx="4419600" cy="307777"/>
          </a:xfrm>
        </p:grpSpPr>
        <p:sp>
          <p:nvSpPr>
            <p:cNvPr id="26" name="Text Box 605"/>
            <p:cNvSpPr txBox="1">
              <a:spLocks noChangeArrowheads="1"/>
            </p:cNvSpPr>
            <p:nvPr/>
          </p:nvSpPr>
          <p:spPr bwMode="auto">
            <a:xfrm>
              <a:off x="2799300" y="1583591"/>
              <a:ext cx="4419600" cy="307777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algn="ctr" eaLnBrk="0" latinLnBrk="0" hangingPunct="0">
                <a:spcBef>
                  <a:spcPct val="50000"/>
                </a:spcBef>
                <a:defRPr/>
              </a:pPr>
              <a:r>
                <a:rPr lang="en-US" altLang="ko-KR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FGI </a:t>
              </a:r>
              <a:r>
                <a:rPr lang="ko-KR" altLang="en-US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결과 유형분석 </a:t>
              </a:r>
              <a:r>
                <a:rPr lang="en-US" altLang="ko-KR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(1/2)</a:t>
              </a:r>
              <a:endParaRPr lang="ko-KR" altLang="en-US" sz="14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연결선 12"/>
            <p:cNvCxnSpPr>
              <a:cxnSpLocks noChangeShapeType="1"/>
            </p:cNvCxnSpPr>
            <p:nvPr/>
          </p:nvCxnSpPr>
          <p:spPr bwMode="auto">
            <a:xfrm>
              <a:off x="3029100" y="1879656"/>
              <a:ext cx="3960000" cy="0"/>
            </a:xfrm>
            <a:prstGeom prst="line">
              <a:avLst/>
            </a:prstGeom>
            <a:noFill/>
            <a:ln w="1270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CD8CFA3F-494E-43A5-97B6-1AE8A5FA4D11}"/>
              </a:ext>
            </a:extLst>
          </p:cNvPr>
          <p:cNvSpPr/>
          <p:nvPr/>
        </p:nvSpPr>
        <p:spPr bwMode="auto">
          <a:xfrm>
            <a:off x="444500" y="2073548"/>
            <a:ext cx="4378988" cy="3249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/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이해관계자 인터뷰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업무분석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ko-KR" altLang="en-US" sz="1400" b="1" kern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대분류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기준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C9085658-EEE7-4517-8576-242999260162}"/>
              </a:ext>
            </a:extLst>
          </p:cNvPr>
          <p:cNvSpPr/>
          <p:nvPr/>
        </p:nvSpPr>
        <p:spPr bwMode="auto">
          <a:xfrm>
            <a:off x="5029512" y="2073548"/>
            <a:ext cx="4378988" cy="3249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/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FGI 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결과 유형분석 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중분류 기준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B99F91F0-8348-4208-BBCD-BD58037D2491}"/>
              </a:ext>
            </a:extLst>
          </p:cNvPr>
          <p:cNvSpPr/>
          <p:nvPr/>
        </p:nvSpPr>
        <p:spPr bwMode="auto">
          <a:xfrm>
            <a:off x="444500" y="2398508"/>
            <a:ext cx="4378988" cy="27167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799E8E35-671D-48CA-825B-1F2B55811F1A}"/>
              </a:ext>
            </a:extLst>
          </p:cNvPr>
          <p:cNvSpPr/>
          <p:nvPr/>
        </p:nvSpPr>
        <p:spPr bwMode="auto">
          <a:xfrm>
            <a:off x="5029512" y="2398508"/>
            <a:ext cx="4378988" cy="27167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BC9657B2-1A01-454D-8C34-32E9458B4978}"/>
              </a:ext>
            </a:extLst>
          </p:cNvPr>
          <p:cNvSpPr/>
          <p:nvPr/>
        </p:nvSpPr>
        <p:spPr bwMode="auto">
          <a:xfrm>
            <a:off x="5097488" y="4318000"/>
            <a:ext cx="4248000" cy="756000"/>
          </a:xfrm>
          <a:prstGeom prst="rect">
            <a:avLst/>
          </a:prstGeom>
          <a:solidFill>
            <a:srgbClr val="EFF5FF"/>
          </a:solidFill>
          <a:ln w="6350" cap="flat" cmpd="sng" algn="ctr">
            <a:noFill/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시스템에 대한 기능성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자동화 개선의견이 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41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개로 가장 많았으며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다음으로는 효율성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사용자중심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통합성 체계화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인프라 구조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정합성 등에 대한 의견이 많아서 전면적 개선이 필요한 것으로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기능성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체계화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./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사용자중심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통합 관련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개선 요구사항이 전체 의견의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75%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를 차지함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5" name="AutoShape 12"/>
          <p:cNvSpPr>
            <a:spLocks noChangeArrowheads="1"/>
          </p:cNvSpPr>
          <p:nvPr/>
        </p:nvSpPr>
        <p:spPr bwMode="auto">
          <a:xfrm rot="10800000">
            <a:off x="2944864" y="5257432"/>
            <a:ext cx="4224240" cy="22757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BC9657B2-1A01-454D-8C34-32E9458B4978}"/>
              </a:ext>
            </a:extLst>
          </p:cNvPr>
          <p:cNvSpPr/>
          <p:nvPr/>
        </p:nvSpPr>
        <p:spPr bwMode="auto">
          <a:xfrm>
            <a:off x="505438" y="4318000"/>
            <a:ext cx="4248000" cy="756000"/>
          </a:xfrm>
          <a:prstGeom prst="rect">
            <a:avLst/>
          </a:prstGeom>
          <a:solidFill>
            <a:srgbClr val="EFF5FF"/>
          </a:solidFill>
          <a:ln w="6350" cap="flat" cmpd="sng" algn="ctr">
            <a:noFill/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핵심그룹인터뷰 분석 및 업무분석 결과에 따르면 통합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사용자중심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인프라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자동화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유연화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편의성 등 업무공통에 대한 의견이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47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개로 가장 많았으며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다음으로 기금지원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통합재무가 각각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23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17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개의 의견이 개진된 것으로 조사됨</a:t>
            </a:r>
          </a:p>
        </p:txBody>
      </p:sp>
      <p:graphicFrame>
        <p:nvGraphicFramePr>
          <p:cNvPr id="65" name="차트 64"/>
          <p:cNvGraphicFramePr/>
          <p:nvPr>
            <p:extLst>
              <p:ext uri="{D42A27DB-BD31-4B8C-83A1-F6EECF244321}">
                <p14:modId xmlns:p14="http://schemas.microsoft.com/office/powerpoint/2010/main" val="2624744712"/>
              </p:ext>
            </p:extLst>
          </p:nvPr>
        </p:nvGraphicFramePr>
        <p:xfrm>
          <a:off x="554211" y="2445491"/>
          <a:ext cx="4163888" cy="1946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6" name="직사각형 65"/>
          <p:cNvSpPr/>
          <p:nvPr/>
        </p:nvSpPr>
        <p:spPr>
          <a:xfrm>
            <a:off x="571145" y="3328827"/>
            <a:ext cx="2664000" cy="189926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9" name="차트 68"/>
          <p:cNvGraphicFramePr/>
          <p:nvPr>
            <p:extLst>
              <p:ext uri="{D42A27DB-BD31-4B8C-83A1-F6EECF244321}">
                <p14:modId xmlns:p14="http://schemas.microsoft.com/office/powerpoint/2010/main" val="3158775441"/>
              </p:ext>
            </p:extLst>
          </p:nvPr>
        </p:nvGraphicFramePr>
        <p:xfrm>
          <a:off x="5097488" y="2439731"/>
          <a:ext cx="4248000" cy="1823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직사각형 69"/>
          <p:cNvSpPr/>
          <p:nvPr/>
        </p:nvSpPr>
        <p:spPr>
          <a:xfrm>
            <a:off x="571145" y="3823432"/>
            <a:ext cx="4104456" cy="173390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803674" y="2619753"/>
            <a:ext cx="1315516" cy="288000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681192" y="2508854"/>
            <a:ext cx="1048849" cy="1767866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2.3.5.5 </a:t>
            </a:r>
            <a:r>
              <a:rPr lang="ko-KR" altLang="en-US" sz="1600"/>
              <a:t>이해관계자 인터뷰 결과 통계</a:t>
            </a:r>
            <a:r>
              <a:rPr lang="en-US" altLang="ko-KR" sz="1600"/>
              <a:t>(1/2)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4912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핵심그룹 요구분석</a:t>
            </a:r>
            <a:r>
              <a:rPr lang="en-US" altLang="ko-KR" sz="1600"/>
              <a:t> </a:t>
            </a:r>
            <a:r>
              <a:rPr lang="ko-KR" altLang="en-US" sz="1600" dirty="0"/>
              <a:t>결과를 소분류 기준으로 </a:t>
            </a:r>
            <a:r>
              <a:rPr lang="ko-KR" altLang="en-US" sz="1600" dirty="0" err="1"/>
              <a:t>분류별</a:t>
            </a:r>
            <a:r>
              <a:rPr lang="ko-KR" altLang="en-US" sz="1600" dirty="0"/>
              <a:t> 의견분포를 분석한 결과</a:t>
            </a:r>
            <a:r>
              <a:rPr lang="en-US" altLang="ko-KR" sz="1600"/>
              <a:t>,</a:t>
            </a:r>
            <a:r>
              <a:rPr lang="ko-KR" altLang="en-US" sz="1600"/>
              <a:t> 기능성</a:t>
            </a:r>
            <a:r>
              <a:rPr lang="en-US" altLang="ko-KR" sz="1600"/>
              <a:t>/</a:t>
            </a:r>
            <a:r>
              <a:rPr lang="ko-KR" altLang="en-US" sz="1600"/>
              <a:t>체계화</a:t>
            </a:r>
            <a:r>
              <a:rPr lang="en-US" altLang="ko-KR" sz="1600"/>
              <a:t>/ </a:t>
            </a:r>
            <a:r>
              <a:rPr lang="ko-KR" altLang="en-US" sz="1600"/>
              <a:t>사용자중심</a:t>
            </a:r>
            <a:r>
              <a:rPr lang="en-US" altLang="ko-KR" sz="1600"/>
              <a:t>/</a:t>
            </a:r>
            <a:r>
              <a:rPr lang="ko-KR" altLang="en-US" sz="1600"/>
              <a:t>통합</a:t>
            </a:r>
            <a:r>
              <a:rPr lang="en-US" altLang="ko-KR" sz="1600"/>
              <a:t>/</a:t>
            </a:r>
            <a:r>
              <a:rPr lang="ko-KR" altLang="en-US" sz="1600"/>
              <a:t>인프라구조 등 시스템이 치명적인 의견이 많았으며</a:t>
            </a:r>
            <a:r>
              <a:rPr lang="en-US" altLang="ko-KR" sz="1600"/>
              <a:t>,</a:t>
            </a:r>
            <a:r>
              <a:rPr lang="ko-KR" altLang="en-US" sz="1600"/>
              <a:t> 주요 원인은 업무와 시스템 기능의  부적합</a:t>
            </a:r>
            <a:r>
              <a:rPr lang="en-US" altLang="ko-KR" sz="1600"/>
              <a:t>, </a:t>
            </a:r>
            <a:r>
              <a:rPr lang="ko-KR" altLang="en-US" sz="1600"/>
              <a:t>설계 표준화 미흡</a:t>
            </a:r>
            <a:r>
              <a:rPr lang="en-US" altLang="ko-KR" sz="1600"/>
              <a:t>, </a:t>
            </a:r>
            <a:r>
              <a:rPr lang="ko-KR" altLang="en-US" sz="1600"/>
              <a:t>기능 구축의 완전성 미흠으로 판단됨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2.3 </a:t>
            </a:r>
            <a:r>
              <a:rPr lang="ko-KR" altLang="en-US" dirty="0"/>
              <a:t>내부환경 분석</a:t>
            </a:r>
            <a:endParaRPr lang="en-US" altLang="ko-KR" dirty="0"/>
          </a:p>
        </p:txBody>
      </p:sp>
      <p:grpSp>
        <p:nvGrpSpPr>
          <p:cNvPr id="22" name="그룹 21"/>
          <p:cNvGrpSpPr/>
          <p:nvPr/>
        </p:nvGrpSpPr>
        <p:grpSpPr>
          <a:xfrm>
            <a:off x="344488" y="5543646"/>
            <a:ext cx="9180512" cy="765590"/>
            <a:chOff x="344488" y="5543646"/>
            <a:chExt cx="9180512" cy="765590"/>
          </a:xfrm>
        </p:grpSpPr>
        <p:sp>
          <p:nvSpPr>
            <p:cNvPr id="23" name="직사각형 35"/>
            <p:cNvSpPr>
              <a:spLocks noChangeArrowheads="1"/>
            </p:cNvSpPr>
            <p:nvPr/>
          </p:nvSpPr>
          <p:spPr bwMode="auto">
            <a:xfrm>
              <a:off x="1521635" y="5556709"/>
              <a:ext cx="8003365" cy="75252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just" latinLnBrk="0"/>
              <a:r>
                <a:rPr lang="ko-KR" altLang="en-US" sz="1200"/>
                <a:t>요구 분석 결과를 </a:t>
              </a:r>
              <a:r>
                <a:rPr lang="ko-KR" altLang="en-US" sz="1200" dirty="0"/>
                <a:t>소분류 기준으로 </a:t>
              </a:r>
              <a:r>
                <a:rPr lang="ko-KR" altLang="en-US" sz="1200" dirty="0" err="1"/>
                <a:t>분류별</a:t>
              </a:r>
              <a:r>
                <a:rPr lang="ko-KR" altLang="en-US" sz="1200" dirty="0"/>
                <a:t> 의견분포를 분석한 결과</a:t>
              </a:r>
              <a:r>
                <a:rPr lang="en-US" altLang="ko-KR" sz="1200"/>
                <a:t>,</a:t>
              </a:r>
              <a:r>
                <a:rPr lang="ko-KR" altLang="en-US" sz="1200"/>
                <a:t> 기능성</a:t>
              </a:r>
              <a:r>
                <a:rPr lang="en-US" altLang="ko-KR" sz="1200"/>
                <a:t>, </a:t>
              </a:r>
              <a:r>
                <a:rPr lang="ko-KR" altLang="en-US" sz="1200"/>
                <a:t>체계화</a:t>
              </a:r>
              <a:r>
                <a:rPr lang="en-US" altLang="ko-KR" sz="1200"/>
                <a:t>, </a:t>
              </a:r>
              <a:r>
                <a:rPr lang="ko-KR" altLang="en-US" sz="1200"/>
                <a:t>사용자 </a:t>
              </a:r>
              <a:r>
                <a:rPr lang="ko-KR" altLang="en-US" sz="1200" dirty="0"/>
                <a:t>중심에 대한 의견이 </a:t>
              </a:r>
              <a:r>
                <a:rPr lang="ko-KR" altLang="en-US" sz="1200"/>
                <a:t>가장 많았으며</a:t>
              </a:r>
              <a:r>
                <a:rPr lang="en-US" altLang="ko-KR" sz="1200"/>
                <a:t>,</a:t>
              </a:r>
              <a:r>
                <a:rPr lang="ko-KR" altLang="en-US" sz="1200"/>
                <a:t> 시스템 개선의 주요 전제사항은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</a:rPr>
                <a:t>시스템의 체계화 및 표준화 설계로 </a:t>
              </a:r>
              <a:r>
                <a:rPr lang="ko-KR" altLang="en-US" sz="1200"/>
                <a:t>조사됨</a:t>
              </a:r>
              <a:endParaRPr lang="ko-KR" altLang="en-US" sz="1200" dirty="0"/>
            </a:p>
          </p:txBody>
        </p:sp>
        <p:sp>
          <p:nvSpPr>
            <p:cNvPr id="24" name="오각형 23"/>
            <p:cNvSpPr>
              <a:spLocks noChangeArrowheads="1"/>
            </p:cNvSpPr>
            <p:nvPr/>
          </p:nvSpPr>
          <p:spPr bwMode="gray">
            <a:xfrm>
              <a:off x="344488" y="5543646"/>
              <a:ext cx="1177147" cy="752527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25" name="직사각형 24"/>
          <p:cNvSpPr/>
          <p:nvPr/>
        </p:nvSpPr>
        <p:spPr bwMode="auto">
          <a:xfrm>
            <a:off x="344488" y="1963204"/>
            <a:ext cx="9180512" cy="325908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799300" y="1583591"/>
            <a:ext cx="4419600" cy="307777"/>
            <a:chOff x="2799300" y="1583591"/>
            <a:chExt cx="4419600" cy="307777"/>
          </a:xfrm>
        </p:grpSpPr>
        <p:sp>
          <p:nvSpPr>
            <p:cNvPr id="27" name="Text Box 605"/>
            <p:cNvSpPr txBox="1">
              <a:spLocks noChangeArrowheads="1"/>
            </p:cNvSpPr>
            <p:nvPr/>
          </p:nvSpPr>
          <p:spPr bwMode="auto">
            <a:xfrm>
              <a:off x="2799300" y="1583591"/>
              <a:ext cx="4419600" cy="307777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400" b="1" ker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요구분석 결과 </a:t>
              </a:r>
              <a:r>
                <a:rPr lang="ko-KR" altLang="en-US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유형분석 </a:t>
              </a:r>
              <a:r>
                <a:rPr lang="en-US" altLang="ko-KR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(2/2)</a:t>
              </a:r>
              <a:endParaRPr lang="ko-KR" altLang="en-US" sz="14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12"/>
            <p:cNvCxnSpPr>
              <a:cxnSpLocks noChangeShapeType="1"/>
            </p:cNvCxnSpPr>
            <p:nvPr/>
          </p:nvCxnSpPr>
          <p:spPr bwMode="auto">
            <a:xfrm>
              <a:off x="3029100" y="1879656"/>
              <a:ext cx="3960000" cy="0"/>
            </a:xfrm>
            <a:prstGeom prst="line">
              <a:avLst/>
            </a:prstGeom>
            <a:noFill/>
            <a:ln w="1270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sp>
        <p:nvSpPr>
          <p:cNvPr id="34" name="AutoShape 12"/>
          <p:cNvSpPr>
            <a:spLocks noChangeArrowheads="1"/>
          </p:cNvSpPr>
          <p:nvPr/>
        </p:nvSpPr>
        <p:spPr bwMode="auto">
          <a:xfrm rot="10800000">
            <a:off x="2944864" y="5257432"/>
            <a:ext cx="4224240" cy="22757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CD8CFA3F-494E-43A5-97B6-1AE8A5FA4D11}"/>
              </a:ext>
            </a:extLst>
          </p:cNvPr>
          <p:cNvSpPr/>
          <p:nvPr/>
        </p:nvSpPr>
        <p:spPr bwMode="auto">
          <a:xfrm>
            <a:off x="444500" y="2073548"/>
            <a:ext cx="8972996" cy="3249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/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요구분석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결과 유형분석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소분류 기준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B99F91F0-8348-4208-BBCD-BD58037D2491}"/>
              </a:ext>
            </a:extLst>
          </p:cNvPr>
          <p:cNvSpPr/>
          <p:nvPr/>
        </p:nvSpPr>
        <p:spPr bwMode="auto">
          <a:xfrm>
            <a:off x="444500" y="2398508"/>
            <a:ext cx="8972996" cy="27167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BC9657B2-1A01-454D-8C34-32E9458B4978}"/>
              </a:ext>
            </a:extLst>
          </p:cNvPr>
          <p:cNvSpPr/>
          <p:nvPr/>
        </p:nvSpPr>
        <p:spPr bwMode="auto">
          <a:xfrm>
            <a:off x="6897217" y="2492895"/>
            <a:ext cx="2376740" cy="2520000"/>
          </a:xfrm>
          <a:prstGeom prst="rect">
            <a:avLst/>
          </a:prstGeom>
          <a:solidFill>
            <a:srgbClr val="EFF5FF"/>
          </a:solidFill>
          <a:ln w="6350" cap="flat" cmpd="sng" algn="ctr">
            <a:noFill/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결과 기능성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체계화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중심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개선방안 마련이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각각 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8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8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 순서로 많은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의견을 개진한 것으로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또한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인프라구조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통합화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관점에서 설계할 것을 요구하는 의견도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개로 많은 수의 의견이 개진된 것으로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 분석 결과의 내용을 시스템의  체계화 및 설계부문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프로그램 구현부분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기타 요구로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분류한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결과 프로그램 구현부분이 가장 많았으나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 원인이 주로 체계화 및 설계부분에서 기인한 것으로 시스템의 체계화 및 표준화 설계가 개선의 주요 전제사항으로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2" name="차트 41"/>
          <p:cNvGraphicFramePr/>
          <p:nvPr>
            <p:extLst>
              <p:ext uri="{D42A27DB-BD31-4B8C-83A1-F6EECF244321}">
                <p14:modId xmlns:p14="http://schemas.microsoft.com/office/powerpoint/2010/main" val="4064320852"/>
              </p:ext>
            </p:extLst>
          </p:nvPr>
        </p:nvGraphicFramePr>
        <p:xfrm>
          <a:off x="456732" y="2420889"/>
          <a:ext cx="6347720" cy="2736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직사각형 42"/>
          <p:cNvSpPr/>
          <p:nvPr/>
        </p:nvSpPr>
        <p:spPr>
          <a:xfrm>
            <a:off x="6194295" y="2523923"/>
            <a:ext cx="388227" cy="1872208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645782" y="3573016"/>
            <a:ext cx="388227" cy="792088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442977" y="3562741"/>
            <a:ext cx="388227" cy="833389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2.3.5 </a:t>
            </a:r>
            <a:r>
              <a:rPr lang="ko-KR" altLang="en-US" sz="1800" dirty="0"/>
              <a:t>이해관계자 인터뷰</a:t>
            </a:r>
            <a:r>
              <a:rPr lang="en-US" altLang="ko-KR" sz="1600"/>
              <a:t/>
            </a:r>
            <a:br>
              <a:rPr lang="en-US" altLang="ko-KR" sz="1600"/>
            </a:br>
            <a:r>
              <a:rPr lang="en-US" altLang="ko-KR" sz="1600"/>
              <a:t>2.3.5.5 </a:t>
            </a:r>
            <a:r>
              <a:rPr lang="ko-KR" altLang="en-US" sz="1600"/>
              <a:t>이해관계자 인터뷰 결과 통계</a:t>
            </a:r>
            <a:r>
              <a:rPr lang="en-US" altLang="ko-KR" sz="1600"/>
              <a:t>(2/2)</a:t>
            </a:r>
            <a:endParaRPr lang="ko-KR" altLang="en-US" sz="1600" dirty="0"/>
          </a:p>
        </p:txBody>
      </p:sp>
      <p:sp>
        <p:nvSpPr>
          <p:cNvPr id="32" name="직사각형 31"/>
          <p:cNvSpPr/>
          <p:nvPr/>
        </p:nvSpPr>
        <p:spPr>
          <a:xfrm>
            <a:off x="1358343" y="3717032"/>
            <a:ext cx="388227" cy="676900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27996" y="3861048"/>
            <a:ext cx="388227" cy="532884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970323" y="3861048"/>
            <a:ext cx="388227" cy="532884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12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직사각형 186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최신정보기술 동향 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해외</a:t>
            </a:r>
            <a:r>
              <a:rPr lang="en-US" altLang="ko-KR" sz="1600"/>
              <a:t>, </a:t>
            </a:r>
            <a:r>
              <a:rPr lang="ko-KR" altLang="en-US" sz="1600"/>
              <a:t>국내 </a:t>
            </a:r>
            <a:r>
              <a:rPr lang="ko-KR" altLang="en-US" sz="1600" dirty="0"/>
              <a:t>정보기술 </a:t>
            </a:r>
            <a:r>
              <a:rPr lang="ko-KR" altLang="en-US" sz="1600" dirty="0" err="1"/>
              <a:t>트랜드를</a:t>
            </a:r>
            <a:r>
              <a:rPr lang="ko-KR" altLang="en-US" sz="1600" dirty="0"/>
              <a:t> 분석하여 적용대상 기술을 선정하고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선정된 대상 기술을 상세 분석 및 기술 적용 가능성을 분석하여 방향성 수립을 위한 시사점을 도출함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2.4 </a:t>
            </a:r>
            <a:r>
              <a:rPr lang="ko-KR" altLang="en-US" dirty="0"/>
              <a:t>최신 정보기술 동향 분석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800" dirty="0"/>
              <a:t>2.4.1 </a:t>
            </a:r>
            <a:r>
              <a:rPr lang="ko-KR" altLang="en-US" sz="1800" dirty="0"/>
              <a:t>최신 정보기술 동향 분석 개요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2.4 </a:t>
            </a:r>
            <a:r>
              <a:rPr lang="ko-KR" altLang="en-US" dirty="0"/>
              <a:t>최신 정보기술 동향 분석</a:t>
            </a:r>
            <a:endParaRPr lang="en-US" altLang="ko-KR" dirty="0"/>
          </a:p>
        </p:txBody>
      </p:sp>
      <p:sp>
        <p:nvSpPr>
          <p:cNvPr id="180" name="직사각형 179"/>
          <p:cNvSpPr/>
          <p:nvPr/>
        </p:nvSpPr>
        <p:spPr>
          <a:xfrm>
            <a:off x="2216696" y="5544528"/>
            <a:ext cx="5472608" cy="540000"/>
          </a:xfrm>
          <a:prstGeom prst="rect">
            <a:avLst/>
          </a:prstGeom>
          <a:solidFill>
            <a:srgbClr val="4B7DB4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방향성 수립을 위한 최신정보기술동향 분석의 시사점 도출</a:t>
            </a:r>
          </a:p>
        </p:txBody>
      </p:sp>
      <p:sp>
        <p:nvSpPr>
          <p:cNvPr id="181" name="이등변 삼각형 180"/>
          <p:cNvSpPr/>
          <p:nvPr/>
        </p:nvSpPr>
        <p:spPr>
          <a:xfrm rot="10800000">
            <a:off x="3044032" y="4956656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656996" y="2001893"/>
            <a:ext cx="2520000" cy="2864117"/>
            <a:chOff x="3656995" y="2002245"/>
            <a:chExt cx="2520000" cy="2864117"/>
          </a:xfrm>
        </p:grpSpPr>
        <p:sp>
          <p:nvSpPr>
            <p:cNvPr id="185" name="Rectangle 4"/>
            <p:cNvSpPr>
              <a:spLocks noChangeArrowheads="1"/>
            </p:cNvSpPr>
            <p:nvPr/>
          </p:nvSpPr>
          <p:spPr bwMode="auto">
            <a:xfrm>
              <a:off x="3656995" y="2345182"/>
              <a:ext cx="2520000" cy="25211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72000" rIns="72000" bIns="36000" numCol="2" rtlCol="0" anchor="t">
              <a:noAutofit/>
            </a:bodyPr>
            <a:lstStyle/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클라우드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모바일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빅데이터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인공지능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dirty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UI/UX</a:t>
              </a: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HTML5</a:t>
              </a: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QR</a:t>
              </a:r>
              <a:r>
                <a:rPr lang="ko-KR" altLang="en-US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3D </a:t>
              </a:r>
              <a:r>
                <a:rPr lang="ko-KR" altLang="en-US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바코드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전자서명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전자정부 </a:t>
              </a:r>
              <a: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프레임워크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정보보호</a:t>
              </a:r>
              <a: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보안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전자증빙</a:t>
              </a:r>
              <a:endParaRPr lang="en-US" altLang="ko-KR" sz="1200" spc="-3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전자세금계산서 발행</a:t>
              </a:r>
              <a:endParaRPr lang="en-US" altLang="ko-KR" sz="1200" spc="-3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smtClean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RPA</a:t>
              </a: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smtClean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RCAM</a:t>
              </a:r>
              <a:endParaRPr lang="en-US" altLang="ko-KR" sz="1200" spc="-30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657651" y="2002245"/>
              <a:ext cx="2518690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적용대상기술 상세분석</a:t>
              </a: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560512" y="2001540"/>
            <a:ext cx="2520000" cy="2864822"/>
            <a:chOff x="560512" y="2001540"/>
            <a:chExt cx="2520000" cy="2864822"/>
          </a:xfrm>
        </p:grpSpPr>
        <p:sp>
          <p:nvSpPr>
            <p:cNvPr id="183" name="Rectangle 4"/>
            <p:cNvSpPr>
              <a:spLocks noChangeArrowheads="1"/>
            </p:cNvSpPr>
            <p:nvPr/>
          </p:nvSpPr>
          <p:spPr bwMode="auto">
            <a:xfrm>
              <a:off x="560512" y="2345183"/>
              <a:ext cx="2520000" cy="25211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기술 </a:t>
              </a:r>
              <a:r>
                <a:rPr lang="ko-KR" altLang="en-US" sz="1200" spc="-30" dirty="0" err="1">
                  <a:latin typeface="맑은 고딕" pitchFamily="50" charset="-127"/>
                  <a:ea typeface="맑은 고딕" pitchFamily="50" charset="-127"/>
                </a:rPr>
                <a:t>트랜드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 분석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해외 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10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대 기술 </a:t>
              </a:r>
              <a:r>
                <a:rPr lang="ko-KR" altLang="en-US" sz="1200" spc="-30" dirty="0" err="1">
                  <a:latin typeface="맑은 고딕" pitchFamily="50" charset="-127"/>
                  <a:ea typeface="맑은 고딕" pitchFamily="50" charset="-127"/>
                </a:rPr>
                <a:t>트랜드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국내 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10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대 기술 </a:t>
              </a:r>
              <a:r>
                <a:rPr lang="ko-KR" altLang="en-US" sz="1200" spc="-30" dirty="0" err="1">
                  <a:latin typeface="맑은 고딕" pitchFamily="50" charset="-127"/>
                  <a:ea typeface="맑은 고딕" pitchFamily="50" charset="-127"/>
                </a:rPr>
                <a:t>트랜드</a:t>
              </a: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분석 대상 선정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200" spc="-30">
                  <a:latin typeface="맑은 고딕" pitchFamily="50" charset="-127"/>
                  <a:ea typeface="맑은 고딕" pitchFamily="50" charset="-127"/>
                </a:rPr>
                <a:t>적용</a:t>
              </a:r>
              <a:r>
                <a:rPr lang="ko-KR" altLang="en-US" sz="1200" kern="0">
                  <a:latin typeface="맑은 고딕" pitchFamily="50" charset="-127"/>
                  <a:ea typeface="맑은 고딕" pitchFamily="50" charset="-127"/>
                </a:rPr>
                <a:t>대상기술 검토</a:t>
              </a:r>
              <a:endParaRPr lang="en-US" altLang="ko-KR" sz="1200" kern="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ko-KR" altLang="en-US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ko-KR" altLang="en-US" sz="1200" spc="-3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61167" y="2001540"/>
              <a:ext cx="2518691" cy="353282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정보기술 분석대상 선정</a:t>
              </a: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753480" y="2001540"/>
            <a:ext cx="2520000" cy="2864822"/>
            <a:chOff x="6753480" y="2001540"/>
            <a:chExt cx="2520000" cy="2864822"/>
          </a:xfrm>
        </p:grpSpPr>
        <p:sp>
          <p:nvSpPr>
            <p:cNvPr id="190" name="Rectangle 4"/>
            <p:cNvSpPr>
              <a:spLocks noChangeArrowheads="1"/>
            </p:cNvSpPr>
            <p:nvPr/>
          </p:nvSpPr>
          <p:spPr bwMode="auto">
            <a:xfrm>
              <a:off x="6753480" y="2345182"/>
              <a:ext cx="2520000" cy="25211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>
                  <a:latin typeface="맑은 고딕" pitchFamily="50" charset="-127"/>
                  <a:ea typeface="맑은 고딕" pitchFamily="50" charset="-127"/>
                </a:rPr>
                <a:t>적용가능한 기술 선정</a:t>
              </a: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정보기술 </a:t>
              </a:r>
              <a:r>
                <a:rPr lang="ko-KR" altLang="en-US" sz="1200" dirty="0" err="1">
                  <a:latin typeface="맑은 고딕" pitchFamily="50" charset="-127"/>
                  <a:ea typeface="맑은 고딕" pitchFamily="50" charset="-127"/>
                </a:rPr>
                <a:t>적용성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 평가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ko-KR" altLang="en-US" sz="1200" spc="-3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754135" y="2001540"/>
              <a:ext cx="2518690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기술 적용 가능성 분석</a:t>
              </a:r>
            </a:p>
          </p:txBody>
        </p:sp>
      </p:grpSp>
      <p:sp>
        <p:nvSpPr>
          <p:cNvPr id="33" name="갈매기형 수장 32"/>
          <p:cNvSpPr/>
          <p:nvPr/>
        </p:nvSpPr>
        <p:spPr>
          <a:xfrm>
            <a:off x="3152730" y="3186118"/>
            <a:ext cx="432048" cy="648072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spc="-3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갈매기형 수장 33"/>
          <p:cNvSpPr/>
          <p:nvPr/>
        </p:nvSpPr>
        <p:spPr>
          <a:xfrm>
            <a:off x="6249214" y="3186118"/>
            <a:ext cx="432048" cy="648072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spc="-3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727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 bwMode="auto">
          <a:xfrm>
            <a:off x="330820" y="1520825"/>
            <a:ext cx="6693882" cy="469425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fontAlgn="base" latinLnBrk="0"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Font typeface="Wingdings" pitchFamily="2" charset="2"/>
              <a:buChar char="q"/>
              <a:defRPr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AutoShape 12"/>
          <p:cNvSpPr>
            <a:spLocks noChangeArrowheads="1"/>
          </p:cNvSpPr>
          <p:nvPr/>
        </p:nvSpPr>
        <p:spPr bwMode="auto">
          <a:xfrm rot="5400000">
            <a:off x="5062520" y="3748109"/>
            <a:ext cx="4430671" cy="36343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latinLnBrk="0">
              <a:defRPr/>
            </a:pPr>
            <a:endParaRPr lang="ko-KR" altLang="en-US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err="1"/>
              <a:t>빅데이터</a:t>
            </a:r>
            <a:r>
              <a:rPr lang="en-US" altLang="ko-KR" sz="1600" dirty="0"/>
              <a:t>, </a:t>
            </a:r>
            <a:r>
              <a:rPr lang="ko-KR" altLang="en-US" sz="1600" dirty="0"/>
              <a:t>인공지능이 다양한 분야로 적용됨에 따라 지능형 </a:t>
            </a:r>
            <a:r>
              <a:rPr lang="ko-KR" altLang="en-US" sz="1600" dirty="0" err="1"/>
              <a:t>앱</a:t>
            </a:r>
            <a:r>
              <a:rPr lang="en-US" altLang="ko-KR" sz="1600" dirty="0"/>
              <a:t>, </a:t>
            </a:r>
            <a:r>
              <a:rPr lang="ko-KR" altLang="en-US" sz="1600" dirty="0"/>
              <a:t>지능형 사물 등이 핵심 기술로 떠오르고 있으며</a:t>
            </a:r>
            <a:r>
              <a:rPr lang="en-US" altLang="ko-KR" sz="1600" dirty="0"/>
              <a:t>, </a:t>
            </a:r>
            <a:r>
              <a:rPr lang="ko-KR" altLang="en-US" sz="1600" kern="0" dirty="0">
                <a:solidFill>
                  <a:srgbClr val="000000"/>
                </a:solidFill>
              </a:rPr>
              <a:t>지속적으로 적용 가능한 위험 및 신뢰평가의 중요성이 커지고 있음</a:t>
            </a:r>
            <a:endParaRPr lang="ko-KR" altLang="en-US" sz="1600" dirty="0"/>
          </a:p>
        </p:txBody>
      </p:sp>
      <p:sp>
        <p:nvSpPr>
          <p:cNvPr id="4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056784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2.4.2 </a:t>
            </a:r>
            <a:r>
              <a:rPr lang="ko-KR" altLang="en-US" sz="1800"/>
              <a:t>최신 정보기술 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600" dirty="0"/>
              <a:t>2.4.2.1 </a:t>
            </a:r>
            <a:r>
              <a:rPr lang="ko-KR" altLang="en-US" sz="1600" dirty="0"/>
              <a:t>기술 </a:t>
            </a:r>
            <a:r>
              <a:rPr lang="ko-KR" altLang="en-US" sz="1600" dirty="0" err="1"/>
              <a:t>트랜드</a:t>
            </a:r>
            <a:r>
              <a:rPr lang="ko-KR" altLang="en-US" sz="1600" dirty="0"/>
              <a:t> 분석 </a:t>
            </a:r>
            <a:r>
              <a:rPr lang="en-US" altLang="ko-KR" sz="1600" dirty="0"/>
              <a:t>(1/2)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2.4 </a:t>
            </a:r>
            <a:r>
              <a:rPr lang="ko-KR" altLang="en-US" dirty="0"/>
              <a:t>최신 정보기술 동향 분석</a:t>
            </a:r>
            <a:endParaRPr lang="en-US" altLang="ko-KR" dirty="0"/>
          </a:p>
        </p:txBody>
      </p:sp>
      <p:sp>
        <p:nvSpPr>
          <p:cNvPr id="40" name="직사각형 39"/>
          <p:cNvSpPr/>
          <p:nvPr/>
        </p:nvSpPr>
        <p:spPr>
          <a:xfrm>
            <a:off x="452406" y="2357430"/>
            <a:ext cx="6500858" cy="15001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52406" y="3857628"/>
            <a:ext cx="6500858" cy="1143008"/>
          </a:xfrm>
          <a:prstGeom prst="rect">
            <a:avLst/>
          </a:prstGeom>
          <a:solidFill>
            <a:srgbClr val="E4E4E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52406" y="5000636"/>
            <a:ext cx="6500858" cy="114300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Rectangle 43"/>
          <p:cNvSpPr>
            <a:spLocks noChangeArrowheads="1"/>
          </p:cNvSpPr>
          <p:nvPr/>
        </p:nvSpPr>
        <p:spPr bwMode="auto">
          <a:xfrm>
            <a:off x="452406" y="2000241"/>
            <a:ext cx="684000" cy="285752"/>
          </a:xfrm>
          <a:prstGeom prst="roundRect">
            <a:avLst>
              <a:gd name="adj" fmla="val 0"/>
            </a:avLst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>
              <a:spcBef>
                <a:spcPct val="0"/>
              </a:spcBef>
              <a:defRPr/>
            </a:pPr>
            <a:r>
              <a:rPr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구분</a:t>
            </a:r>
            <a:endParaRPr lang="en-US" altLang="ko-KR" sz="12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14588" y="2428868"/>
            <a:ext cx="621818" cy="135732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rgbClr val="233C5A"/>
                </a:solidFill>
                <a:latin typeface="맑은 고딕" pitchFamily="50" charset="-127"/>
                <a:ea typeface="맑은 고딕" pitchFamily="50" charset="-127"/>
              </a:rPr>
              <a:t>지능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514588" y="5072074"/>
            <a:ext cx="621818" cy="10001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 err="1">
                <a:solidFill>
                  <a:srgbClr val="233C5A"/>
                </a:solidFill>
                <a:latin typeface="맑은 고딕" pitchFamily="50" charset="-127"/>
                <a:ea typeface="맑은 고딕" pitchFamily="50" charset="-127"/>
              </a:rPr>
              <a:t>메시</a:t>
            </a:r>
            <a:endParaRPr lang="ko-KR" altLang="en-US" sz="1200" b="1" dirty="0">
              <a:solidFill>
                <a:srgbClr val="233C5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14588" y="3929066"/>
            <a:ext cx="621818" cy="10001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rgbClr val="233C5A"/>
                </a:solidFill>
                <a:latin typeface="맑은 고딕" pitchFamily="50" charset="-127"/>
                <a:ea typeface="맑은 고딕" pitchFamily="50" charset="-127"/>
              </a:rPr>
              <a:t>디지털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3142445" y="2000240"/>
            <a:ext cx="3739381" cy="285752"/>
          </a:xfrm>
          <a:prstGeom prst="roundRect">
            <a:avLst>
              <a:gd name="adj" fmla="val 0"/>
            </a:avLst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36000" rIns="36000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전망</a:t>
            </a:r>
            <a:endParaRPr kumimoji="1" lang="en-US" altLang="ko-KR" sz="12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142445" y="2428868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자율주행 학습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적용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행동하는 시스템이 업체간 경쟁 전망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142445" y="2786058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어플리케이션은 일정수준 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AI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 포함하고 지능형 </a:t>
            </a:r>
            <a:r>
              <a:rPr lang="ko-KR" altLang="en-US" sz="9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앱은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업무 및 현장 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본질을 변화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3142445" y="3143248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AI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 통한 고급 기능으로 주변환경과 자연스러운 상호작용 사물화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3142445" y="3500438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현실세계 대상의 디지털 버전으로 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IOT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영역에 유망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3142445" y="3929066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각각의 기기에서 개별 데이터를 분석하고 활용할 수 있어 데이터 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처리 시간 단축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운영비용 절감 등 다양한 장점을 내재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3142445" y="4286256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디지털 세계와 인간 상호작용 방식간 차세대 패러다임 전망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3142445" y="4643446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가상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증강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혼합 현실을 통해 인간의 디지털 사고 변화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3142445" y="5072074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중앙집중 기록에서 탈피한 혁신적인 디지털 비즈니스 기반 마련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3142445" y="5429264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순간 이벤트를 감지하고 활용하여 분석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3142445" y="5786454"/>
            <a:ext cx="3739381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신뢰기반의 지속적이고 적용 가능한 </a:t>
            </a:r>
            <a:r>
              <a:rPr lang="ko-KR" altLang="en-US" sz="9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리스크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및 신뢰평가 방법으로 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접근</a:t>
            </a:r>
          </a:p>
        </p:txBody>
      </p:sp>
      <p:sp>
        <p:nvSpPr>
          <p:cNvPr id="45" name="직사각형 35"/>
          <p:cNvSpPr>
            <a:spLocks noChangeArrowheads="1"/>
          </p:cNvSpPr>
          <p:nvPr/>
        </p:nvSpPr>
        <p:spPr bwMode="auto">
          <a:xfrm>
            <a:off x="7524768" y="1795048"/>
            <a:ext cx="2000232" cy="442003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대량의 정형 또는 비정형 데이터들로부터 가치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창출하는 </a:t>
            </a: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빅데이터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및 인공지능 기술을 발전이 확대됨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지능형 서비스를 통해 고도화된 분석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지능형 프로세스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진보된 사용자 경험을 제공함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디지털 비즈니스의 안정적 운영을 위해 지속적으로 적용 가능한 위험 및 신뢰평가가 필요함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Rectangle 43"/>
          <p:cNvSpPr>
            <a:spLocks noChangeArrowheads="1"/>
          </p:cNvSpPr>
          <p:nvPr/>
        </p:nvSpPr>
        <p:spPr bwMode="auto">
          <a:xfrm>
            <a:off x="1185426" y="2000240"/>
            <a:ext cx="1908000" cy="285752"/>
          </a:xfrm>
          <a:prstGeom prst="roundRect">
            <a:avLst>
              <a:gd name="adj" fmla="val 0"/>
            </a:avLst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36000" rIns="36000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전략</a:t>
            </a:r>
            <a:endParaRPr kumimoji="1" lang="en-US" altLang="ko-KR" sz="12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185426" y="2428868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인공지능 강화시스템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1185426" y="2786058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지능형 애플리케이션 및 분석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1185426" y="3143248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지능형 사물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1185426" y="3500438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디지털 트윈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1185426" y="3929066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0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클라우드에서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엣지로</a:t>
            </a:r>
            <a:endParaRPr lang="ko-KR" altLang="en-US" sz="10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185426" y="4286256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대화형 플랫폼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1185426" y="4643446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몰입 경험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1185426" y="5072074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블록체인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185426" y="5429264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9.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이벤트 기반 모델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1185426" y="5786454"/>
            <a:ext cx="1908000" cy="28575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10. CARTA </a:t>
            </a:r>
            <a:r>
              <a: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접근법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996" y="6206818"/>
            <a:ext cx="22573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85725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prstClr val="black">
                  <a:lumMod val="75000"/>
                  <a:lumOff val="25000"/>
                </a:prstClr>
              </a:buClr>
              <a:buSzPct val="90000"/>
              <a:buFontTx/>
              <a:buNone/>
            </a:pPr>
            <a:r>
              <a:rPr lang="en-US" altLang="ko-KR" sz="9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* Source: 2018 </a:t>
            </a:r>
            <a:r>
              <a:rPr lang="ko-KR" altLang="en-US" sz="9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가트너</a:t>
            </a:r>
            <a:r>
              <a:rPr lang="ko-KR" altLang="en-US" sz="9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전략기술 </a:t>
            </a:r>
            <a:r>
              <a:rPr lang="ko-KR" altLang="en-US" sz="9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트랜드</a:t>
            </a:r>
            <a:endParaRPr lang="en-US" altLang="ko-KR" sz="9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>
            <a:spLocks noChangeArrowheads="1"/>
          </p:cNvSpPr>
          <p:nvPr/>
        </p:nvSpPr>
        <p:spPr bwMode="gray">
          <a:xfrm>
            <a:off x="7524768" y="1520826"/>
            <a:ext cx="2013900" cy="309104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Key Findings</a:t>
            </a:r>
          </a:p>
        </p:txBody>
      </p:sp>
      <p:grpSp>
        <p:nvGrpSpPr>
          <p:cNvPr id="51" name="그룹 50"/>
          <p:cNvGrpSpPr/>
          <p:nvPr/>
        </p:nvGrpSpPr>
        <p:grpSpPr>
          <a:xfrm>
            <a:off x="2252663" y="1594932"/>
            <a:ext cx="2850196" cy="296060"/>
            <a:chOff x="2390836" y="1594932"/>
            <a:chExt cx="2266345" cy="296060"/>
          </a:xfrm>
        </p:grpSpPr>
        <p:sp>
          <p:nvSpPr>
            <p:cNvPr id="44" name="Text Box 605">
              <a:extLst>
                <a:ext uri="{FF2B5EF4-FFF2-40B4-BE49-F238E27FC236}">
                  <a16:creationId xmlns:a16="http://schemas.microsoft.com/office/drawing/2014/main" xmlns="" id="{A778B51E-D314-4054-A2C2-36B85BA1B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5284" y="1594932"/>
              <a:ext cx="2177448" cy="276999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2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해외 정보기술 </a:t>
              </a:r>
              <a:r>
                <a:rPr lang="ko-KR" altLang="en-US" sz="1200" b="1" kern="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트랜드</a:t>
              </a:r>
              <a:endParaRPr lang="ko-KR" altLang="en-US" sz="12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9" name="직선 연결선 12">
              <a:extLst>
                <a:ext uri="{FF2B5EF4-FFF2-40B4-BE49-F238E27FC236}">
                  <a16:creationId xmlns:a16="http://schemas.microsoft.com/office/drawing/2014/main" xmlns="" id="{984F24C7-4469-4BFF-A59A-DFE6B3AB2D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0836" y="1890992"/>
              <a:ext cx="2266345" cy="0"/>
            </a:xfrm>
            <a:prstGeom prst="line">
              <a:avLst/>
            </a:prstGeom>
            <a:noFill/>
            <a:ln w="1270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183534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 bwMode="auto">
          <a:xfrm>
            <a:off x="330820" y="1520825"/>
            <a:ext cx="6693882" cy="469425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  <a:defRPr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직사각형 35"/>
          <p:cNvSpPr>
            <a:spLocks noChangeArrowheads="1"/>
          </p:cNvSpPr>
          <p:nvPr/>
        </p:nvSpPr>
        <p:spPr bwMode="auto">
          <a:xfrm>
            <a:off x="7524768" y="1795048"/>
            <a:ext cx="2000232" cy="442003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신성장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동력이 될 플랫폼 기반의 경제와 지능형 기술의 등장을 주목하고 있음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모바일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클라우드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등 어느 장소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어떤 기기를 사용하든지 인터넷 환경을 제공하는 기술이 확대됨</a:t>
            </a:r>
          </a:p>
          <a:p>
            <a:pPr marL="182563" indent="-182563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지능형 지속 위협 공격에 대한 대안으로 </a:t>
            </a:r>
            <a:r>
              <a:rPr lang="ko-KR" altLang="en-US" sz="120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적응형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보안 아키텍처가 화두임</a:t>
            </a: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AutoShape 12"/>
          <p:cNvSpPr>
            <a:spLocks noChangeArrowheads="1"/>
          </p:cNvSpPr>
          <p:nvPr/>
        </p:nvSpPr>
        <p:spPr bwMode="auto">
          <a:xfrm rot="5400000">
            <a:off x="5062520" y="3748109"/>
            <a:ext cx="4430671" cy="36343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latinLnBrk="0">
              <a:defRPr/>
            </a:pPr>
            <a:endParaRPr lang="ko-KR" altLang="en-US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err="1"/>
              <a:t>신성장</a:t>
            </a:r>
            <a:r>
              <a:rPr lang="ko-KR" altLang="en-US" sz="1600" dirty="0"/>
              <a:t> 동력이 될 플랫폼 기반의 경제와 지능형 기술의 등장을 주목하고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장소와 기기의 구애를 받지 않는 인터넷 환경 제공과 지능형 보안 기술에 대한 중요성이 대두되고 있음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2.4 </a:t>
            </a:r>
            <a:r>
              <a:rPr lang="ko-KR" altLang="en-US" dirty="0"/>
              <a:t>최신 정보기술 동향 분석</a:t>
            </a:r>
            <a:endParaRPr lang="en-US" altLang="ko-KR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51057"/>
              </p:ext>
            </p:extLst>
          </p:nvPr>
        </p:nvGraphicFramePr>
        <p:xfrm>
          <a:off x="380968" y="1986136"/>
          <a:ext cx="2143141" cy="4135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073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27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정보통신산업진흥원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(NIPA)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 혁신기술 키워드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7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기술명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지능형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데이터 </a:t>
                      </a:r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애널리틱스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자동화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블록체인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클라우드와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엣지컴퓨팅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VR,</a:t>
                      </a:r>
                      <a:r>
                        <a:rPr lang="en-US" altLang="ko-KR" sz="1000" b="0" baseline="0" dirty="0">
                          <a:latin typeface="맑은 고딕" pitchFamily="50" charset="-127"/>
                          <a:ea typeface="맑은 고딕" pitchFamily="50" charset="-127"/>
                        </a:rPr>
                        <a:t> AR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산업용 사물인터넷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지능형 보안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신뢰와 리스트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가시성과 통찰력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077662"/>
              </p:ext>
            </p:extLst>
          </p:nvPr>
        </p:nvGraphicFramePr>
        <p:xfrm>
          <a:off x="4810123" y="1986136"/>
          <a:ext cx="2143141" cy="4135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073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27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SW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정책 연구소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b="1" baseline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SW</a:t>
                      </a:r>
                      <a:r>
                        <a:rPr lang="ko-KR" altLang="en-US" sz="1000" b="1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산업 </a:t>
                      </a:r>
                      <a:r>
                        <a:rPr lang="en-US" altLang="ko-KR" sz="1000" b="1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000" b="1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 이슈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7A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기술명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인공지능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스마트카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빅데이터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보안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사물인터넷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클라우드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핀테크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AR, 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차세대 네트워크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150703"/>
              </p:ext>
            </p:extLst>
          </p:nvPr>
        </p:nvGraphicFramePr>
        <p:xfrm>
          <a:off x="2595546" y="1986136"/>
          <a:ext cx="2143141" cy="4135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073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27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한국인터넷진흥원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(KISA)</a:t>
                      </a:r>
                    </a:p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 </a:t>
                      </a:r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트랜드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키워드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기술명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인공지능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차세대 네트워크 </a:t>
                      </a: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5G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VR,</a:t>
                      </a:r>
                      <a:r>
                        <a:rPr lang="en-US" altLang="ko-KR" sz="1000" b="0" baseline="0" dirty="0">
                          <a:latin typeface="맑은 고딕" pitchFamily="50" charset="-127"/>
                          <a:ea typeface="맑은 고딕" pitchFamily="50" charset="-127"/>
                        </a:rPr>
                        <a:t> AR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자율주행차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차 산업혁명 규제혁신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블록체인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로봇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대화형 서비스</a:t>
                      </a: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디지털 </a:t>
                      </a:r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헬스케어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399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스마트시티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103" name="직사각형 102"/>
          <p:cNvSpPr>
            <a:spLocks noChangeArrowheads="1"/>
          </p:cNvSpPr>
          <p:nvPr/>
        </p:nvSpPr>
        <p:spPr bwMode="gray">
          <a:xfrm>
            <a:off x="7524768" y="1520826"/>
            <a:ext cx="2013900" cy="309104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Key Findings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390836" y="1594932"/>
            <a:ext cx="2266345" cy="296060"/>
            <a:chOff x="2390836" y="1594932"/>
            <a:chExt cx="2266345" cy="296060"/>
          </a:xfrm>
        </p:grpSpPr>
        <p:sp>
          <p:nvSpPr>
            <p:cNvPr id="13" name="Text Box 605">
              <a:extLst>
                <a:ext uri="{FF2B5EF4-FFF2-40B4-BE49-F238E27FC236}">
                  <a16:creationId xmlns:a16="http://schemas.microsoft.com/office/drawing/2014/main" xmlns="" id="{A778B51E-D314-4054-A2C2-36B85BA1B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5284" y="1594932"/>
              <a:ext cx="2177448" cy="276999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2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국내 정보기술 </a:t>
              </a:r>
              <a:r>
                <a:rPr lang="ko-KR" altLang="en-US" sz="1200" b="1" kern="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트랜드</a:t>
              </a:r>
              <a:endParaRPr lang="ko-KR" altLang="en-US" sz="12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" name="직선 연결선 12">
              <a:extLst>
                <a:ext uri="{FF2B5EF4-FFF2-40B4-BE49-F238E27FC236}">
                  <a16:creationId xmlns:a16="http://schemas.microsoft.com/office/drawing/2014/main" xmlns="" id="{984F24C7-4469-4BFF-A59A-DFE6B3AB2D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0836" y="1890992"/>
              <a:ext cx="2266345" cy="0"/>
            </a:xfrm>
            <a:prstGeom prst="line">
              <a:avLst/>
            </a:prstGeom>
            <a:noFill/>
            <a:ln w="1270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sp>
        <p:nvSpPr>
          <p:cNvPr id="18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056784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2.4.2 </a:t>
            </a:r>
            <a:r>
              <a:rPr lang="ko-KR" altLang="en-US" sz="1800"/>
              <a:t>최신 정보기술</a:t>
            </a:r>
            <a:r>
              <a:rPr lang="en-US" altLang="ko-KR" sz="1800" dirty="0"/>
              <a:t/>
            </a:r>
            <a:br>
              <a:rPr lang="en-US" altLang="ko-KR" sz="1800" dirty="0"/>
            </a:br>
            <a:r>
              <a:rPr lang="en-US" altLang="ko-KR" sz="1600" dirty="0"/>
              <a:t>2.4.2.1 </a:t>
            </a:r>
            <a:r>
              <a:rPr lang="ko-KR" altLang="en-US" sz="1600" dirty="0"/>
              <a:t>기술 </a:t>
            </a:r>
            <a:r>
              <a:rPr lang="ko-KR" altLang="en-US" sz="1600" dirty="0" err="1"/>
              <a:t>트랜드</a:t>
            </a:r>
            <a:r>
              <a:rPr lang="ko-KR" altLang="en-US" sz="1600" dirty="0"/>
              <a:t> </a:t>
            </a:r>
            <a:r>
              <a:rPr lang="ko-KR" altLang="en-US" sz="1600"/>
              <a:t>분석 </a:t>
            </a:r>
            <a:r>
              <a:rPr lang="en-US" altLang="ko-KR" sz="1600"/>
              <a:t>(2/2</a:t>
            </a:r>
            <a:r>
              <a:rPr lang="en-US" altLang="ko-KR" sz="1600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3534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국내</a:t>
            </a:r>
            <a:r>
              <a:rPr lang="en-US" altLang="ko-KR" sz="1600" dirty="0"/>
              <a:t>·</a:t>
            </a:r>
            <a:r>
              <a:rPr lang="ko-KR" altLang="en-US" sz="1600" dirty="0"/>
              <a:t>외 </a:t>
            </a:r>
            <a:r>
              <a:rPr lang="en-US" altLang="ko-KR" sz="1600" dirty="0"/>
              <a:t>IT</a:t>
            </a:r>
            <a:r>
              <a:rPr lang="ko-KR" altLang="en-US" sz="1600" dirty="0" err="1"/>
              <a:t>트랜드</a:t>
            </a:r>
            <a:r>
              <a:rPr lang="ko-KR" altLang="en-US" sz="1600" dirty="0"/>
              <a:t> 분석결과를 대상으로 본 사업과 연관된 정보기술요소를 선정함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2.4 </a:t>
            </a:r>
            <a:r>
              <a:rPr lang="ko-KR" altLang="en-US" dirty="0"/>
              <a:t>최신 정보기술 동향 분석</a:t>
            </a:r>
            <a:endParaRPr lang="en-US" altLang="ko-KR" dirty="0"/>
          </a:p>
        </p:txBody>
      </p:sp>
      <p:pic>
        <p:nvPicPr>
          <p:cNvPr id="190" name="Picture 2" descr="화살표_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259175" y="3180035"/>
            <a:ext cx="4030525" cy="163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Rectangle 3"/>
          <p:cNvSpPr>
            <a:spLocks noChangeArrowheads="1"/>
          </p:cNvSpPr>
          <p:nvPr/>
        </p:nvSpPr>
        <p:spPr bwMode="gray">
          <a:xfrm>
            <a:off x="335577" y="1525125"/>
            <a:ext cx="940582" cy="1754207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36000" rIns="36000"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marR="0" lvl="0" indent="0" fontAlgn="auto" latinLnBrk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해외</a:t>
            </a:r>
            <a: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정보기술</a:t>
            </a:r>
            <a: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트랜드</a:t>
            </a:r>
            <a:endParaRPr lang="en-US" altLang="ko-KR" sz="120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5" name="Rectangle 11"/>
          <p:cNvSpPr>
            <a:spLocks noChangeArrowheads="1"/>
          </p:cNvSpPr>
          <p:nvPr/>
        </p:nvSpPr>
        <p:spPr bwMode="auto">
          <a:xfrm>
            <a:off x="1275699" y="1525125"/>
            <a:ext cx="4325373" cy="175420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  <a:defRPr/>
            </a:pPr>
            <a:endParaRPr lang="en-US" altLang="ko-KR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6" name="AutoShape 38" descr="밝은 상향 대각선"/>
          <p:cNvSpPr>
            <a:spLocks noChangeArrowheads="1"/>
          </p:cNvSpPr>
          <p:nvPr/>
        </p:nvSpPr>
        <p:spPr bwMode="gray">
          <a:xfrm>
            <a:off x="1362227" y="1623846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인공지능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(AI)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AutoShape 38" descr="밝은 상향 대각선"/>
          <p:cNvSpPr>
            <a:spLocks noChangeArrowheads="1"/>
          </p:cNvSpPr>
          <p:nvPr/>
        </p:nvSpPr>
        <p:spPr bwMode="gray">
          <a:xfrm>
            <a:off x="2421941" y="1623846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지능형앱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8" name="AutoShape 38" descr="밝은 상향 대각선"/>
          <p:cNvSpPr>
            <a:spLocks noChangeArrowheads="1"/>
          </p:cNvSpPr>
          <p:nvPr/>
        </p:nvSpPr>
        <p:spPr bwMode="gray">
          <a:xfrm>
            <a:off x="3481652" y="1623846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사물인터넷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IoT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9" name="AutoShape 38" descr="밝은 상향 대각선"/>
          <p:cNvSpPr>
            <a:spLocks noChangeArrowheads="1"/>
          </p:cNvSpPr>
          <p:nvPr/>
        </p:nvSpPr>
        <p:spPr bwMode="gray">
          <a:xfrm>
            <a:off x="4541360" y="1623846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디지털 트윈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0" name="AutoShape 38" descr="밝은 상향 대각선"/>
          <p:cNvSpPr>
            <a:spLocks noChangeArrowheads="1"/>
          </p:cNvSpPr>
          <p:nvPr/>
        </p:nvSpPr>
        <p:spPr bwMode="gray">
          <a:xfrm>
            <a:off x="1362227" y="2193034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클라우드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1" name="AutoShape 38" descr="밝은 상향 대각선"/>
          <p:cNvSpPr>
            <a:spLocks noChangeArrowheads="1"/>
          </p:cNvSpPr>
          <p:nvPr/>
        </p:nvSpPr>
        <p:spPr bwMode="gray">
          <a:xfrm>
            <a:off x="2421941" y="2193034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대화형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플랫폼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2" name="AutoShape 38" descr="밝은 상향 대각선"/>
          <p:cNvSpPr>
            <a:spLocks noChangeArrowheads="1"/>
          </p:cNvSpPr>
          <p:nvPr/>
        </p:nvSpPr>
        <p:spPr bwMode="gray">
          <a:xfrm>
            <a:off x="3481652" y="2193034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가상현실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3" name="AutoShape 38" descr="밝은 상향 대각선"/>
          <p:cNvSpPr>
            <a:spLocks noChangeArrowheads="1"/>
          </p:cNvSpPr>
          <p:nvPr/>
        </p:nvSpPr>
        <p:spPr bwMode="gray">
          <a:xfrm>
            <a:off x="4541360" y="2193034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블록체인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4" name="AutoShape 38" descr="밝은 상향 대각선"/>
          <p:cNvSpPr>
            <a:spLocks noChangeArrowheads="1"/>
          </p:cNvSpPr>
          <p:nvPr/>
        </p:nvSpPr>
        <p:spPr bwMode="gray">
          <a:xfrm>
            <a:off x="1362227" y="2762223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이벤트기반 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모델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AutoShape 38" descr="밝은 상향 대각선"/>
          <p:cNvSpPr>
            <a:spLocks noChangeArrowheads="1"/>
          </p:cNvSpPr>
          <p:nvPr/>
        </p:nvSpPr>
        <p:spPr bwMode="gray">
          <a:xfrm>
            <a:off x="2421941" y="2762223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보안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Rectangle 3"/>
          <p:cNvSpPr>
            <a:spLocks noChangeArrowheads="1"/>
          </p:cNvSpPr>
          <p:nvPr/>
        </p:nvSpPr>
        <p:spPr bwMode="gray">
          <a:xfrm>
            <a:off x="333556" y="3329166"/>
            <a:ext cx="940582" cy="1754207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36000" rIns="36000"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fontAlgn="auto" latinLnBrk="0">
              <a:lnSpc>
                <a:spcPct val="100000"/>
              </a:lnSpc>
              <a:spcAft>
                <a:spcPts val="0"/>
              </a:spcAft>
              <a:defRPr/>
            </a:pPr>
            <a:r>
              <a:rPr lang="ko-KR" altLang="en-US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국내</a:t>
            </a:r>
            <a: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정보기술</a:t>
            </a:r>
            <a: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트랜드</a:t>
            </a:r>
            <a:endParaRPr lang="en-US" altLang="ko-KR" sz="120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6" name="Rectangle 11"/>
          <p:cNvSpPr>
            <a:spLocks noChangeArrowheads="1"/>
          </p:cNvSpPr>
          <p:nvPr/>
        </p:nvSpPr>
        <p:spPr bwMode="auto">
          <a:xfrm>
            <a:off x="1274134" y="3329166"/>
            <a:ext cx="4325373" cy="175420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  <a:defRPr/>
            </a:pPr>
            <a:endParaRPr lang="en-US" altLang="ko-KR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7" name="AutoShape 38" descr="밝은 상향 대각선"/>
          <p:cNvSpPr>
            <a:spLocks noChangeArrowheads="1"/>
          </p:cNvSpPr>
          <p:nvPr/>
        </p:nvSpPr>
        <p:spPr bwMode="gray">
          <a:xfrm>
            <a:off x="1347902" y="3490058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인공지능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8" name="AutoShape 38" descr="밝은 상향 대각선"/>
          <p:cNvSpPr>
            <a:spLocks noChangeArrowheads="1"/>
          </p:cNvSpPr>
          <p:nvPr/>
        </p:nvSpPr>
        <p:spPr bwMode="gray">
          <a:xfrm>
            <a:off x="2407616" y="3490058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algn="ctr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ko-KR" altLang="en-US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빅데이터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9" name="AutoShape 38" descr="밝은 상향 대각선"/>
          <p:cNvSpPr>
            <a:spLocks noChangeArrowheads="1"/>
          </p:cNvSpPr>
          <p:nvPr/>
        </p:nvSpPr>
        <p:spPr bwMode="gray">
          <a:xfrm>
            <a:off x="3467327" y="3490058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블록체인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0" name="AutoShape 38" descr="밝은 상향 대각선"/>
          <p:cNvSpPr>
            <a:spLocks noChangeArrowheads="1"/>
          </p:cNvSpPr>
          <p:nvPr/>
        </p:nvSpPr>
        <p:spPr bwMode="gray">
          <a:xfrm>
            <a:off x="4527035" y="3490058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ko-KR" altLang="en-US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클라우드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1" name="AutoShape 38" descr="밝은 상향 대각선"/>
          <p:cNvSpPr>
            <a:spLocks noChangeArrowheads="1"/>
          </p:cNvSpPr>
          <p:nvPr/>
        </p:nvSpPr>
        <p:spPr bwMode="gray">
          <a:xfrm>
            <a:off x="1347902" y="4027012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가상현실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2" name="AutoShape 38" descr="밝은 상향 대각선"/>
          <p:cNvSpPr>
            <a:spLocks noChangeArrowheads="1"/>
          </p:cNvSpPr>
          <p:nvPr/>
        </p:nvSpPr>
        <p:spPr bwMode="gray">
          <a:xfrm>
            <a:off x="2407616" y="4027012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사물인터넷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IoT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3" name="AutoShape 38" descr="밝은 상향 대각선"/>
          <p:cNvSpPr>
            <a:spLocks noChangeArrowheads="1"/>
          </p:cNvSpPr>
          <p:nvPr/>
        </p:nvSpPr>
        <p:spPr bwMode="gray">
          <a:xfrm>
            <a:off x="3467327" y="4027012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보안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4" name="AutoShape 38" descr="밝은 상향 대각선"/>
          <p:cNvSpPr>
            <a:spLocks noChangeArrowheads="1"/>
          </p:cNvSpPr>
          <p:nvPr/>
        </p:nvSpPr>
        <p:spPr bwMode="gray">
          <a:xfrm>
            <a:off x="4527035" y="4024105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5G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5" name="AutoShape 38" descr="밝은 상향 대각선"/>
          <p:cNvSpPr>
            <a:spLocks noChangeArrowheads="1"/>
          </p:cNvSpPr>
          <p:nvPr/>
        </p:nvSpPr>
        <p:spPr bwMode="gray">
          <a:xfrm>
            <a:off x="3467327" y="4566876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대화형</a:t>
            </a:r>
            <a: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플랫폼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6" name="AutoShape 38" descr="밝은 상향 대각선"/>
          <p:cNvSpPr>
            <a:spLocks noChangeArrowheads="1"/>
          </p:cNvSpPr>
          <p:nvPr/>
        </p:nvSpPr>
        <p:spPr bwMode="gray">
          <a:xfrm>
            <a:off x="4527035" y="4561063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ko-KR" altLang="en-US" sz="1000" b="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핀테크</a:t>
            </a:r>
            <a:endParaRPr lang="en-US" altLang="ko-KR" sz="1000" b="0" kern="0" dirty="0" err="1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AutoShape 38" descr="밝은 상향 대각선"/>
          <p:cNvSpPr>
            <a:spLocks noChangeArrowheads="1"/>
          </p:cNvSpPr>
          <p:nvPr/>
        </p:nvSpPr>
        <p:spPr bwMode="gray">
          <a:xfrm>
            <a:off x="1347902" y="4566876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자율주행</a:t>
            </a:r>
            <a:endParaRPr lang="en-US" altLang="ko-KR" sz="1000" b="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8" name="AutoShape 38" descr="밝은 상향 대각선"/>
          <p:cNvSpPr>
            <a:spLocks noChangeArrowheads="1"/>
          </p:cNvSpPr>
          <p:nvPr/>
        </p:nvSpPr>
        <p:spPr bwMode="gray">
          <a:xfrm>
            <a:off x="2407616" y="4566876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ko-KR" altLang="en-US" sz="10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로봇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4" name="Rectangle 3"/>
          <p:cNvSpPr>
            <a:spLocks noChangeArrowheads="1"/>
          </p:cNvSpPr>
          <p:nvPr/>
        </p:nvSpPr>
        <p:spPr bwMode="gray">
          <a:xfrm>
            <a:off x="331041" y="5133207"/>
            <a:ext cx="940582" cy="1143918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36000" rIns="36000"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fontAlgn="auto" latinLnBrk="0">
              <a:lnSpc>
                <a:spcPct val="100000"/>
              </a:lnSpc>
              <a:spcAft>
                <a:spcPts val="0"/>
              </a:spcAft>
              <a:defRPr/>
            </a:pPr>
            <a:r>
              <a:rPr lang="ko-KR" altLang="en-US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본 사업</a:t>
            </a:r>
            <a: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관련 기술</a:t>
            </a:r>
            <a:endParaRPr lang="en-US" altLang="ko-KR" sz="120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5" name="Rectangle 11"/>
          <p:cNvSpPr>
            <a:spLocks noChangeArrowheads="1"/>
          </p:cNvSpPr>
          <p:nvPr/>
        </p:nvSpPr>
        <p:spPr bwMode="auto">
          <a:xfrm>
            <a:off x="1271619" y="5133207"/>
            <a:ext cx="4325373" cy="114391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  <a:defRPr/>
            </a:pPr>
            <a:endParaRPr lang="en-US" altLang="ko-KR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AutoShape 38" descr="밝은 상향 대각선"/>
          <p:cNvSpPr>
            <a:spLocks noChangeArrowheads="1"/>
          </p:cNvSpPr>
          <p:nvPr/>
        </p:nvSpPr>
        <p:spPr bwMode="gray">
          <a:xfrm>
            <a:off x="1355177" y="5276032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lvl="0" algn="ctr">
              <a:lnSpc>
                <a:spcPct val="90000"/>
              </a:lnSpc>
              <a:defRPr/>
            </a:pPr>
            <a:r>
              <a:rPr lang="ko-KR" altLang="en-US" sz="10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빅데이터</a:t>
            </a:r>
            <a:endParaRPr lang="en-US" altLang="ko-KR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7" name="AutoShape 38" descr="밝은 상향 대각선"/>
          <p:cNvSpPr>
            <a:spLocks noChangeArrowheads="1"/>
          </p:cNvSpPr>
          <p:nvPr/>
        </p:nvSpPr>
        <p:spPr bwMode="gray">
          <a:xfrm>
            <a:off x="2414891" y="5276032"/>
            <a:ext cx="981106" cy="338109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algn="ctr">
              <a:lnSpc>
                <a:spcPct val="90000"/>
              </a:lnSpc>
              <a:defRPr/>
            </a:pPr>
            <a:r>
              <a:rPr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UI/UX</a:t>
            </a:r>
          </a:p>
        </p:txBody>
      </p:sp>
      <p:sp>
        <p:nvSpPr>
          <p:cNvPr id="218" name="AutoShape 38" descr="밝은 상향 대각선"/>
          <p:cNvSpPr>
            <a:spLocks noChangeArrowheads="1"/>
          </p:cNvSpPr>
          <p:nvPr/>
        </p:nvSpPr>
        <p:spPr bwMode="gray">
          <a:xfrm>
            <a:off x="3474602" y="5276032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lvl="0" algn="ctr">
              <a:lnSpc>
                <a:spcPct val="90000"/>
              </a:lnSpc>
              <a:defRPr/>
            </a:pPr>
            <a:r>
              <a:rPr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HTML5</a:t>
            </a:r>
            <a:endParaRPr lang="en-US" altLang="ko-KR" sz="1000" kern="0" baseline="3000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9" name="AutoShape 38" descr="밝은 상향 대각선"/>
          <p:cNvSpPr>
            <a:spLocks noChangeArrowheads="1"/>
          </p:cNvSpPr>
          <p:nvPr/>
        </p:nvSpPr>
        <p:spPr bwMode="gray">
          <a:xfrm>
            <a:off x="4534310" y="5276032"/>
            <a:ext cx="981106" cy="338109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lvl="0" algn="ctr">
              <a:lnSpc>
                <a:spcPct val="90000"/>
              </a:lnSpc>
              <a:defRPr/>
            </a:pPr>
            <a:r>
              <a:rPr lang="ko-KR" altLang="en-US" sz="10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모바일</a:t>
            </a:r>
            <a:endParaRPr lang="en-US" altLang="ko-KR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0" name="AutoShape 38" descr="밝은 상향 대각선"/>
          <p:cNvSpPr>
            <a:spLocks noChangeArrowheads="1"/>
          </p:cNvSpPr>
          <p:nvPr/>
        </p:nvSpPr>
        <p:spPr bwMode="gray">
          <a:xfrm>
            <a:off x="1355177" y="5812987"/>
            <a:ext cx="981106" cy="338109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algn="ctr">
              <a:lnSpc>
                <a:spcPct val="90000"/>
              </a:lnSpc>
              <a:defRPr/>
            </a:pPr>
            <a:r>
              <a:rPr lang="ko-KR" altLang="en-US" sz="10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전자증빙</a:t>
            </a:r>
            <a:endParaRPr lang="en-US" altLang="ko-KR" sz="10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1" name="AutoShape 38" descr="밝은 상향 대각선"/>
          <p:cNvSpPr>
            <a:spLocks noChangeArrowheads="1"/>
          </p:cNvSpPr>
          <p:nvPr/>
        </p:nvSpPr>
        <p:spPr bwMode="gray">
          <a:xfrm>
            <a:off x="2414891" y="5812987"/>
            <a:ext cx="981106" cy="338109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lvl="0" algn="ctr">
              <a:lnSpc>
                <a:spcPct val="90000"/>
              </a:lnSpc>
              <a:defRPr/>
            </a:pPr>
            <a:r>
              <a:rPr lang="ko-KR" altLang="en-US" sz="1000" kern="0">
                <a:solidFill>
                  <a:sysClr val="windowText" lastClr="000000"/>
                </a:solidFill>
                <a:latin typeface="맑은 고딕" pitchFamily="50" charset="-127"/>
              </a:rPr>
              <a:t>생성형</a:t>
            </a:r>
            <a:r>
              <a:rPr lang="en-US" altLang="ko-KR" sz="1000" kern="0">
                <a:solidFill>
                  <a:sysClr val="windowText" lastClr="000000"/>
                </a:solidFill>
                <a:latin typeface="맑은 고딕" pitchFamily="50" charset="-127"/>
              </a:rPr>
              <a:t> AI </a:t>
            </a:r>
            <a:r>
              <a:rPr lang="ko-KR" altLang="en-US" sz="1000" kern="0">
                <a:solidFill>
                  <a:sysClr val="windowText" lastClr="000000"/>
                </a:solidFill>
                <a:latin typeface="맑은 고딕" pitchFamily="50" charset="-127"/>
              </a:rPr>
              <a:t>코딩</a:t>
            </a:r>
            <a:endParaRPr lang="en-US" altLang="ko-KR" sz="1000" kern="0" dirty="0">
              <a:solidFill>
                <a:sysClr val="windowText" lastClr="000000"/>
              </a:solidFill>
              <a:latin typeface="맑은 고딕" pitchFamily="50" charset="-127"/>
            </a:endParaRPr>
          </a:p>
        </p:txBody>
      </p:sp>
      <p:grpSp>
        <p:nvGrpSpPr>
          <p:cNvPr id="5" name="그룹 57"/>
          <p:cNvGrpSpPr/>
          <p:nvPr/>
        </p:nvGrpSpPr>
        <p:grpSpPr>
          <a:xfrm>
            <a:off x="7077488" y="1556791"/>
            <a:ext cx="2268000" cy="309106"/>
            <a:chOff x="7077488" y="1700977"/>
            <a:chExt cx="2268000" cy="309106"/>
          </a:xfrm>
        </p:grpSpPr>
        <p:sp>
          <p:nvSpPr>
            <p:cNvPr id="118" name="Rectangle 3"/>
            <p:cNvSpPr>
              <a:spLocks noChangeArrowheads="1"/>
            </p:cNvSpPr>
            <p:nvPr/>
          </p:nvSpPr>
          <p:spPr bwMode="gray">
            <a:xfrm>
              <a:off x="7338493" y="1700977"/>
              <a:ext cx="1745992" cy="307777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 latinLnBrk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1pPr>
              <a:lvl2pPr marL="455582" indent="1588" algn="ctr" rtl="0" fontAlgn="base" latinLnBrk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2pPr>
              <a:lvl3pPr marL="912750" indent="1588" algn="ctr" rtl="0" fontAlgn="base" latinLnBrk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3pPr>
              <a:lvl4pPr marL="1369918" indent="1588" algn="ctr" rtl="0" fontAlgn="base" latinLnBrk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4pPr>
              <a:lvl5pPr marL="1827086" indent="1588" algn="ctr" rtl="0" fontAlgn="base" latinLnBrk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5pPr>
              <a:lvl6pPr marL="2285841" algn="l" defTabSz="914336" rtl="0" eaLnBrk="1" latinLnBrk="1" hangingPunct="1"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6pPr>
              <a:lvl7pPr marL="2743010" algn="l" defTabSz="914336" rtl="0" eaLnBrk="1" latinLnBrk="1" hangingPunct="1"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7pPr>
              <a:lvl8pPr marL="3200179" algn="l" defTabSz="914336" rtl="0" eaLnBrk="1" latinLnBrk="1" hangingPunct="1"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8pPr>
              <a:lvl9pPr marL="3657346" algn="l" defTabSz="914336" rtl="0" eaLnBrk="1" latinLnBrk="1" hangingPunct="1">
                <a:defRPr kumimoji="1" sz="1400" b="1" kern="1200">
                  <a:solidFill>
                    <a:srgbClr val="000000"/>
                  </a:solidFill>
                  <a:latin typeface="뫼비우스 Regular" pitchFamily="2" charset="-127"/>
                  <a:ea typeface="뫼비우스 Regular" pitchFamily="2" charset="-127"/>
                  <a:cs typeface="+mn-cs"/>
                </a:defRPr>
              </a:lvl9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buFontTx/>
                <a:buNone/>
                <a:defRPr/>
              </a:pPr>
              <a:r>
                <a:rPr lang="ko-KR" altLang="en-US" kern="0">
                  <a:latin typeface="맑은 고딕" pitchFamily="50" charset="-127"/>
                  <a:ea typeface="맑은 고딕" pitchFamily="50" charset="-127"/>
                </a:rPr>
                <a:t>사업연관 정보기술 </a:t>
              </a:r>
              <a:endParaRPr lang="ko-KR" altLang="en-US" kern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0" name="직선 연결선 119"/>
            <p:cNvCxnSpPr/>
            <p:nvPr/>
          </p:nvCxnSpPr>
          <p:spPr bwMode="auto">
            <a:xfrm>
              <a:off x="7077488" y="2010083"/>
              <a:ext cx="2268000" cy="0"/>
            </a:xfrm>
            <a:prstGeom prst="line">
              <a:avLst/>
            </a:prstGeom>
            <a:solidFill>
              <a:srgbClr val="B1CFFC"/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</p:cxnSp>
      </p:grpSp>
      <p:grpSp>
        <p:nvGrpSpPr>
          <p:cNvPr id="6" name="그룹 234"/>
          <p:cNvGrpSpPr/>
          <p:nvPr/>
        </p:nvGrpSpPr>
        <p:grpSpPr>
          <a:xfrm>
            <a:off x="3474596" y="5813731"/>
            <a:ext cx="2040820" cy="338109"/>
            <a:chOff x="1507577" y="5965387"/>
            <a:chExt cx="2040820" cy="338109"/>
          </a:xfrm>
        </p:grpSpPr>
        <p:sp>
          <p:nvSpPr>
            <p:cNvPr id="233" name="AutoShape 38" descr="밝은 상향 대각선"/>
            <p:cNvSpPr>
              <a:spLocks noChangeArrowheads="1"/>
            </p:cNvSpPr>
            <p:nvPr/>
          </p:nvSpPr>
          <p:spPr bwMode="gray">
            <a:xfrm>
              <a:off x="1507577" y="5965387"/>
              <a:ext cx="981106" cy="338109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 algn="ctr">
              <a:solidFill>
                <a:srgbClr val="000000"/>
              </a:solidFill>
              <a:prstDash val="sysDash"/>
              <a:round/>
              <a:headEnd/>
              <a:tailEnd/>
            </a:ln>
          </p:spPr>
          <p:txBody>
            <a:bodyPr lIns="36000" tIns="0" rIns="36000" bIns="0" anchor="ctr"/>
            <a:lstStyle/>
            <a:p>
              <a:pPr lvl="0" algn="ctr">
                <a:lnSpc>
                  <a:spcPct val="90000"/>
                </a:lnSpc>
                <a:defRPr/>
              </a:pPr>
              <a:r>
                <a:rPr lang="ko-KR" altLang="en-US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전자정부</a:t>
              </a:r>
              <a:r>
                <a:rPr lang="en-US" altLang="ko-KR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프레임워크</a:t>
              </a:r>
              <a:endParaRPr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4" name="AutoShape 38" descr="밝은 상향 대각선"/>
            <p:cNvSpPr>
              <a:spLocks noChangeArrowheads="1"/>
            </p:cNvSpPr>
            <p:nvPr/>
          </p:nvSpPr>
          <p:spPr bwMode="gray">
            <a:xfrm>
              <a:off x="2567291" y="5965387"/>
              <a:ext cx="981106" cy="338109"/>
            </a:xfrm>
            <a:prstGeom prst="roundRect">
              <a:avLst>
                <a:gd name="adj" fmla="val 16667"/>
              </a:avLst>
            </a:prstGeom>
            <a:solidFill>
              <a:srgbClr val="FFFFFF">
                <a:lumMod val="95000"/>
              </a:srgbClr>
            </a:solidFill>
            <a:ln w="6350" algn="ctr">
              <a:solidFill>
                <a:srgbClr val="000000"/>
              </a:solidFill>
              <a:prstDash val="sysDash"/>
              <a:round/>
              <a:headEnd/>
              <a:tailEnd/>
            </a:ln>
          </p:spPr>
          <p:txBody>
            <a:bodyPr lIns="36000" tIns="0" rIns="36000" bIns="0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보안</a:t>
              </a:r>
              <a:endParaRPr lang="en-US" altLang="ko-KR" sz="10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56"/>
          <p:cNvGrpSpPr/>
          <p:nvPr/>
        </p:nvGrpSpPr>
        <p:grpSpPr>
          <a:xfrm>
            <a:off x="7130644" y="1988840"/>
            <a:ext cx="2161688" cy="4140000"/>
            <a:chOff x="7118432" y="1903586"/>
            <a:chExt cx="2161688" cy="4189710"/>
          </a:xfrm>
        </p:grpSpPr>
        <p:sp>
          <p:nvSpPr>
            <p:cNvPr id="121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3069953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인공지능</a:t>
              </a:r>
            </a:p>
          </p:txBody>
        </p:sp>
        <p:sp>
          <p:nvSpPr>
            <p:cNvPr id="122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1903586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클라우드</a:t>
              </a:r>
              <a:endParaRPr lang="en-US" altLang="ko-KR" sz="12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2292375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모바일</a:t>
              </a:r>
              <a:endParaRPr lang="ko-KR" altLang="en-US" sz="12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2681164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빅데이터</a:t>
              </a:r>
              <a:endParaRPr lang="ko-KR" altLang="en-US" sz="12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3458742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en-US" altLang="ko-KR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UI/UX</a:t>
              </a:r>
              <a:endParaRPr lang="ko-KR" altLang="en-US" sz="12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6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3847531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en-US" altLang="ko-KR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HTML5</a:t>
              </a:r>
            </a:p>
          </p:txBody>
        </p:sp>
        <p:sp>
          <p:nvSpPr>
            <p:cNvPr id="227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5402687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전자정부 프레임워크</a:t>
              </a:r>
            </a:p>
          </p:txBody>
        </p:sp>
        <p:sp>
          <p:nvSpPr>
            <p:cNvPr id="230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5791472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정보보호</a:t>
              </a:r>
              <a:r>
                <a:rPr lang="en-US" altLang="ko-KR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보안</a:t>
              </a:r>
            </a:p>
          </p:txBody>
        </p:sp>
        <p:sp>
          <p:nvSpPr>
            <p:cNvPr id="237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4625109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ko-KR" altLang="en-US" sz="1200" b="1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전자증빙</a:t>
              </a:r>
              <a:endParaRPr lang="ko-KR" altLang="en-US" sz="12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9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5013898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lvl="0" algn="ctr">
                <a:lnSpc>
                  <a:spcPct val="90000"/>
                </a:lnSpc>
                <a:defRPr/>
              </a:pPr>
              <a:r>
                <a:rPr lang="ko-KR" altLang="en-US" sz="1200" b="1" kern="0">
                  <a:solidFill>
                    <a:sysClr val="windowText" lastClr="000000"/>
                  </a:solidFill>
                  <a:latin typeface="맑은 고딕" pitchFamily="50" charset="-127"/>
                </a:rPr>
                <a:t>생성형</a:t>
              </a:r>
              <a:r>
                <a:rPr lang="en-US" altLang="ko-KR" sz="1200" b="1" kern="0">
                  <a:solidFill>
                    <a:sysClr val="windowText" lastClr="000000"/>
                  </a:solidFill>
                  <a:latin typeface="맑은 고딕" pitchFamily="50" charset="-127"/>
                </a:rPr>
                <a:t> AI </a:t>
              </a:r>
              <a:r>
                <a:rPr lang="ko-KR" altLang="en-US" sz="1200" b="1" kern="0">
                  <a:solidFill>
                    <a:sysClr val="windowText" lastClr="000000"/>
                  </a:solidFill>
                  <a:latin typeface="맑은 고딕" pitchFamily="50" charset="-127"/>
                </a:rPr>
                <a:t>코딩</a:t>
              </a:r>
              <a:endParaRPr lang="en-US" altLang="ko-KR" sz="1200" b="1" kern="0" dirty="0">
                <a:solidFill>
                  <a:sysClr val="windowText" lastClr="000000"/>
                </a:solidFill>
                <a:latin typeface="맑은 고딕" pitchFamily="50" charset="-127"/>
              </a:endParaRPr>
            </a:p>
          </p:txBody>
        </p:sp>
        <p:sp>
          <p:nvSpPr>
            <p:cNvPr id="56" name="AutoShape 38" descr="밝은 상향 대각선"/>
            <p:cNvSpPr>
              <a:spLocks noChangeArrowheads="1"/>
            </p:cNvSpPr>
            <p:nvPr/>
          </p:nvSpPr>
          <p:spPr bwMode="gray">
            <a:xfrm>
              <a:off x="7118432" y="4236320"/>
              <a:ext cx="2161688" cy="301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lang="en-US" altLang="ko-KR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QR </a:t>
              </a:r>
              <a:r>
                <a:rPr lang="ko-KR" altLang="en-US" sz="1200" b="1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</a:p>
          </p:txBody>
        </p:sp>
      </p:grpSp>
      <p:sp>
        <p:nvSpPr>
          <p:cNvPr id="61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056784" cy="781320"/>
          </a:xfrm>
        </p:spPr>
        <p:txBody>
          <a:bodyPr>
            <a:normAutofit/>
          </a:bodyPr>
          <a:lstStyle/>
          <a:p>
            <a:r>
              <a:rPr lang="en-US" altLang="ko-KR" sz="1800"/>
              <a:t>2.4.2 </a:t>
            </a:r>
            <a:r>
              <a:rPr lang="ko-KR" altLang="en-US" sz="1800"/>
              <a:t>최신 정보기술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600"/>
              <a:t>2.4.2.2 </a:t>
            </a:r>
            <a:r>
              <a:rPr lang="ko-KR" altLang="en-US" sz="1600"/>
              <a:t>사업 연관 정보기술 </a:t>
            </a:r>
            <a:endParaRPr lang="ko-KR" altLang="en-US" sz="1800" dirty="0"/>
          </a:p>
        </p:txBody>
      </p:sp>
      <p:sp>
        <p:nvSpPr>
          <p:cNvPr id="58" name="AutoShape 38" descr="밝은 상향 대각선"/>
          <p:cNvSpPr>
            <a:spLocks noChangeArrowheads="1"/>
          </p:cNvSpPr>
          <p:nvPr/>
        </p:nvSpPr>
        <p:spPr bwMode="gray">
          <a:xfrm>
            <a:off x="3488248" y="2765127"/>
            <a:ext cx="981106" cy="373248"/>
          </a:xfrm>
          <a:prstGeom prst="roundRect">
            <a:avLst>
              <a:gd name="adj" fmla="val 16667"/>
            </a:avLst>
          </a:prstGeom>
          <a:solidFill>
            <a:srgbClr val="FFFFFF">
              <a:lumMod val="95000"/>
            </a:srgbClr>
          </a:solidFill>
          <a:ln w="6350" algn="ctr">
            <a:solidFill>
              <a:srgbClr val="000000"/>
            </a:solidFill>
            <a:prstDash val="sysDash"/>
            <a:round/>
            <a:headEnd/>
            <a:tailEnd/>
          </a:ln>
        </p:spPr>
        <p:txBody>
          <a:bodyPr lIns="36000" tIns="0" rIns="36000" bIns="0" anchor="ctr"/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생성형</a:t>
            </a:r>
            <a:r>
              <a:rPr lang="en-US" altLang="ko-KR" sz="10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AI </a:t>
            </a:r>
            <a:r>
              <a:rPr lang="ko-KR" altLang="en-US" sz="10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코딩</a:t>
            </a:r>
            <a:endParaRPr lang="en-US" altLang="ko-KR" sz="1000" b="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34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최신기술 동향과 도입 가능한 기술을 검토함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2.4.3 </a:t>
            </a:r>
            <a:r>
              <a:rPr lang="ko-KR" altLang="en-US" sz="1800"/>
              <a:t>기술적용 가능성 분석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211773"/>
              </p:ext>
            </p:extLst>
          </p:nvPr>
        </p:nvGraphicFramePr>
        <p:xfrm>
          <a:off x="360153" y="1173087"/>
          <a:ext cx="9143999" cy="5135637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930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733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619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기대효과</a:t>
                      </a:r>
                      <a:endParaRPr lang="ko-KR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789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전자증빙 시스템 도입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eaLnBrk="1" latinLnBrk="0" hangingPunct="1">
                        <a:lnSpc>
                          <a:spcPct val="110000"/>
                        </a:lnSpc>
                        <a:spcAft>
                          <a:spcPct val="3000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>
                          <a:latin typeface="+mn-ea"/>
                          <a:ea typeface="+mn-ea"/>
                        </a:rPr>
                        <a:t>업무에서 발생되는 각종 종이문서와 전자문서를 모두 전자화하여 정형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비정형 데이터로 생성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유통 및 보존 등과 관련된 통합 관리기능을 제공하고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각 업무프로세스와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I/F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를 통하여 비즈니스 프로세스 구축을 수행하기 위한 솔루션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증빙을 전자화하여 관리함으로서 증빙 스캔의 수작업을 절감하고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증빙을 전자화하여 보관함으로써 보관공간 절약 및 온라인 검색이 용이하게 함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연관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솔루션도입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73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매출세금계산서 발행 연계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입력한 매출정보로 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(BILL36524,</a:t>
                      </a:r>
                      <a:r>
                        <a:rPr lang="en-US" altLang="ko-KR" sz="1200" kern="0" baseline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TAXBILL365 </a:t>
                      </a:r>
                      <a:r>
                        <a:rPr lang="ko-KR" altLang="en-US" sz="1200" kern="0" baseline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등</a:t>
                      </a:r>
                      <a:r>
                        <a:rPr lang="en-US" altLang="ko-KR" sz="1200" kern="0" baseline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세금계산서 발행 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SITE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를 연계하여 매출전자세금계산서를 자동으로 발행하는 기능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ERP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매출 입력화면에서 세금계산서 발행 기능을 연계하여 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ERP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입력 자료에 의해 세금계산서를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발행함으로써 이중입력 및 오류 배제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SITE 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연계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39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pc="-30">
                          <a:latin typeface="+mn-ea"/>
                        </a:rPr>
                        <a:t>UI_UX TOOL </a:t>
                      </a:r>
                      <a:r>
                        <a:rPr lang="ko-KR" altLang="en-US" sz="1200" spc="-30">
                          <a:latin typeface="+mn-ea"/>
                        </a:rPr>
                        <a:t>대체 고려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30">
                          <a:latin typeface="+mn-ea"/>
                        </a:rPr>
                        <a:t>개발 및 운영이 용이한 </a:t>
                      </a:r>
                      <a:r>
                        <a:rPr lang="en-US" altLang="ko-KR" sz="1200" b="0" spc="-30">
                          <a:latin typeface="+mn-ea"/>
                        </a:rPr>
                        <a:t>UI_UX TOOL</a:t>
                      </a:r>
                      <a:r>
                        <a:rPr lang="ko-KR" altLang="en-US" sz="1200" b="0" spc="-30">
                          <a:latin typeface="+mn-ea"/>
                        </a:rPr>
                        <a:t>을</a:t>
                      </a:r>
                      <a:r>
                        <a:rPr lang="en-US" altLang="ko-KR" sz="1200" b="0" spc="-30">
                          <a:latin typeface="+mn-ea"/>
                        </a:rPr>
                        <a:t> </a:t>
                      </a:r>
                      <a:r>
                        <a:rPr lang="ko-KR" altLang="en-US" sz="1200" b="0" spc="-30">
                          <a:latin typeface="+mn-ea"/>
                        </a:rPr>
                        <a:t>적용하여 외부환경 변경과 사용자 요구사항에 탄력적으로 대응할 수 있는 기반 마련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업무 화면 표준화</a:t>
                      </a:r>
                      <a:r>
                        <a:rPr lang="en-US" altLang="ko-KR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작성 단순화에 기반한 개발 및 사용자 편의성 제고 및 사용자 중심의 </a:t>
                      </a:r>
                      <a:r>
                        <a:rPr lang="en-US" altLang="ko-KR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UI/UX </a:t>
                      </a:r>
                      <a:r>
                        <a:rPr lang="ko-KR" altLang="en-US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개선</a:t>
                      </a:r>
                      <a:endParaRPr lang="ko-KR" altLang="en-US" sz="12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현행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UI TOOL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대체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334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spc="-3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자동화 개발 방법론 도입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eaLnBrk="1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</a:pPr>
                      <a:r>
                        <a:rPr lang="ko-KR" altLang="en-US" sz="1200">
                          <a:latin typeface="+mn-ea"/>
                          <a:ea typeface="+mn-ea"/>
                        </a:rPr>
                        <a:t>화면구성 객체의 표준화 설정 작업 및 화면 형상 설계 작업에 의해 프로그램을 자동으로 생성하는 기능이며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구현 환경 분석과 요구사항 정의를 통하여 목표시스템의 표준을 설정하여 반영하고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구현 단계에서 프로세스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단위 프로그램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코드 등의 기준 자료와 화면 단위의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UI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표준을 설계하면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설정된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표준에 의해 프로그램이 자동 생성되는 개발방법론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설정된 표준과 제공자료를 반영하여 프로그램 자동 생성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설계자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참여하에 테스트를 수행하면서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현장에서 추가 요구사항을 수렴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반영하여 사용자 만족도와 완성도 제고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각종 산출물 추출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업무의 일관성과 표준화 준수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표준화에 의한 품질 보증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산출물 현행화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산출물 작성에 요구되는 시간 절감</a:t>
                      </a:r>
                      <a:endParaRPr lang="ko-KR" alt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연관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솔루션도입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36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en-US" altLang="ko-KR" sz="1600" smtClean="0"/>
              <a:t>1. </a:t>
            </a:r>
            <a:r>
              <a:rPr lang="ko-KR" altLang="en-US" sz="1600" smtClean="0"/>
              <a:t>전자증빙</a:t>
            </a:r>
            <a:r>
              <a:rPr lang="en-US" altLang="ko-KR" sz="1600" smtClean="0"/>
              <a:t> </a:t>
            </a:r>
            <a:r>
              <a:rPr lang="ko-KR" altLang="en-US" sz="1600" smtClean="0"/>
              <a:t>시스템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2.4.4 </a:t>
            </a:r>
            <a:r>
              <a:rPr lang="ko-KR" altLang="en-US" sz="1800" smtClean="0"/>
              <a:t>적용가능 기술</a:t>
            </a:r>
            <a:r>
              <a:rPr lang="en-US" altLang="ko-KR" sz="1800" smtClean="0"/>
              <a:t>(1/6)</a:t>
            </a:r>
            <a:r>
              <a:rPr lang="ko-KR" altLang="en-US" sz="1800" smtClean="0"/>
              <a:t>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pSp>
        <p:nvGrpSpPr>
          <p:cNvPr id="6" name="그룹 1"/>
          <p:cNvGrpSpPr>
            <a:grpSpLocks/>
          </p:cNvGrpSpPr>
          <p:nvPr/>
        </p:nvGrpSpPr>
        <p:grpSpPr bwMode="auto">
          <a:xfrm>
            <a:off x="344488" y="1340768"/>
            <a:ext cx="5894387" cy="4879975"/>
            <a:chOff x="333375" y="3035300"/>
            <a:chExt cx="5894388" cy="4879975"/>
          </a:xfrm>
        </p:grpSpPr>
        <p:sp>
          <p:nvSpPr>
            <p:cNvPr id="7" name="AutoShape 179"/>
            <p:cNvSpPr>
              <a:spLocks noChangeArrowheads="1"/>
            </p:cNvSpPr>
            <p:nvPr/>
          </p:nvSpPr>
          <p:spPr bwMode="auto">
            <a:xfrm>
              <a:off x="1547813" y="4324350"/>
              <a:ext cx="3459162" cy="2578100"/>
            </a:xfrm>
            <a:prstGeom prst="roundRect">
              <a:avLst>
                <a:gd name="adj" fmla="val 4602"/>
              </a:avLst>
            </a:prstGeom>
            <a:solidFill>
              <a:srgbClr val="FFE4C9"/>
            </a:solidFill>
            <a:ln w="317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58007" tIns="29004" rIns="58007" bIns="29004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8" name="그룹 96"/>
            <p:cNvGrpSpPr>
              <a:grpSpLocks/>
            </p:cNvGrpSpPr>
            <p:nvPr/>
          </p:nvGrpSpPr>
          <p:grpSpPr bwMode="auto">
            <a:xfrm>
              <a:off x="2851150" y="5030788"/>
              <a:ext cx="985838" cy="1663700"/>
              <a:chOff x="3150461" y="3615845"/>
              <a:chExt cx="1898868" cy="1957238"/>
            </a:xfrm>
          </p:grpSpPr>
          <p:sp>
            <p:nvSpPr>
              <p:cNvPr id="65" name="모서리가 둥근 직사각형 64"/>
              <p:cNvSpPr/>
              <p:nvPr/>
            </p:nvSpPr>
            <p:spPr>
              <a:xfrm>
                <a:off x="3150461" y="3615845"/>
                <a:ext cx="1898866" cy="1768610"/>
              </a:xfrm>
              <a:prstGeom prst="roundRect">
                <a:avLst>
                  <a:gd name="adj" fmla="val 6311"/>
                </a:avLst>
              </a:prstGeom>
              <a:solidFill>
                <a:schemeClr val="bg1"/>
              </a:solidFill>
              <a:ln>
                <a:solidFill>
                  <a:srgbClr val="519FCF"/>
                </a:solidFill>
              </a:ln>
              <a:effectLst>
                <a:outerShdw blurRad="38100" dist="381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80000" rIns="0" bIns="0"/>
              <a:lstStyle/>
              <a:p>
                <a:pPr algn="ctr" eaLnBrk="1" hangingPunct="1">
                  <a:spcAft>
                    <a:spcPts val="200"/>
                  </a:spcAft>
                  <a:defRPr/>
                </a:pPr>
                <a:endParaRPr lang="ko-KR" altLang="en-US" sz="900" dirty="0">
                  <a:solidFill>
                    <a:prstClr val="black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66" name="모서리가 둥근 직사각형 65"/>
              <p:cNvSpPr/>
              <p:nvPr/>
            </p:nvSpPr>
            <p:spPr>
              <a:xfrm>
                <a:off x="3223847" y="5261194"/>
                <a:ext cx="1752094" cy="31188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69B2E0"/>
                  </a:gs>
                  <a:gs pos="100000">
                    <a:srgbClr val="006AA9"/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2700000" algn="tl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latinLnBrk="1" hangingPunct="1">
                  <a:defRPr/>
                </a:pPr>
                <a:r>
                  <a:rPr lang="ko-KR" altLang="en-US" sz="1000" b="1" dirty="0">
                    <a:latin typeface="맑은 고딕" pitchFamily="50" charset="-127"/>
                    <a:ea typeface="맑은 고딕" pitchFamily="50" charset="-127"/>
                  </a:rPr>
                  <a:t>증빙서버</a:t>
                </a:r>
              </a:p>
            </p:txBody>
          </p:sp>
        </p:grpSp>
        <p:sp>
          <p:nvSpPr>
            <p:cNvPr id="9" name="AutoShape 179"/>
            <p:cNvSpPr>
              <a:spLocks noChangeArrowheads="1"/>
            </p:cNvSpPr>
            <p:nvPr/>
          </p:nvSpPr>
          <p:spPr bwMode="auto">
            <a:xfrm>
              <a:off x="1547813" y="6994525"/>
              <a:ext cx="3459162" cy="920750"/>
            </a:xfrm>
            <a:prstGeom prst="roundRect">
              <a:avLst>
                <a:gd name="adj" fmla="val 9889"/>
              </a:avLst>
            </a:prstGeom>
            <a:solidFill>
              <a:srgbClr val="FBFCD4"/>
            </a:solidFill>
            <a:ln w="317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58007" tIns="29004" rIns="58007" bIns="29004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AutoShape 179"/>
            <p:cNvSpPr>
              <a:spLocks noChangeArrowheads="1"/>
            </p:cNvSpPr>
            <p:nvPr/>
          </p:nvSpPr>
          <p:spPr bwMode="auto">
            <a:xfrm>
              <a:off x="5057775" y="3035300"/>
              <a:ext cx="1169988" cy="4879975"/>
            </a:xfrm>
            <a:prstGeom prst="roundRect">
              <a:avLst>
                <a:gd name="adj" fmla="val 7190"/>
              </a:avLst>
            </a:prstGeom>
            <a:solidFill>
              <a:srgbClr val="FBFCD4"/>
            </a:solidFill>
            <a:ln w="317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58007" tIns="29004" rIns="58007" bIns="29004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AutoShape 179"/>
            <p:cNvSpPr>
              <a:spLocks noChangeArrowheads="1"/>
            </p:cNvSpPr>
            <p:nvPr/>
          </p:nvSpPr>
          <p:spPr bwMode="auto">
            <a:xfrm>
              <a:off x="1547813" y="3035300"/>
              <a:ext cx="3459162" cy="1196975"/>
            </a:xfrm>
            <a:prstGeom prst="roundRect">
              <a:avLst>
                <a:gd name="adj" fmla="val 8458"/>
              </a:avLst>
            </a:prstGeom>
            <a:solidFill>
              <a:srgbClr val="FBFCD4"/>
            </a:solidFill>
            <a:ln w="317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58007" tIns="29004" rIns="58007" bIns="29004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en-US" altLang="ko-KR"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AutoShape 247" descr="밝은 상향 대각선"/>
            <p:cNvSpPr>
              <a:spLocks noChangeArrowheads="1"/>
            </p:cNvSpPr>
            <p:nvPr/>
          </p:nvSpPr>
          <p:spPr bwMode="auto">
            <a:xfrm>
              <a:off x="2209800" y="3403600"/>
              <a:ext cx="660400" cy="644525"/>
            </a:xfrm>
            <a:prstGeom prst="flowChartDisplay">
              <a:avLst/>
            </a:prstGeom>
            <a:pattFill prst="ltUpDiag">
              <a:fgClr>
                <a:srgbClr val="C0C0C0"/>
              </a:fgClr>
              <a:bgClr>
                <a:srgbClr val="EAEAEA"/>
              </a:bgClr>
            </a:pattFill>
            <a:ln w="9525" algn="ctr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전표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입력화면</a:t>
              </a:r>
            </a:p>
          </p:txBody>
        </p:sp>
        <p:cxnSp>
          <p:nvCxnSpPr>
            <p:cNvPr id="14" name="직선 화살표 연결선 13"/>
            <p:cNvCxnSpPr/>
            <p:nvPr/>
          </p:nvCxnSpPr>
          <p:spPr bwMode="auto">
            <a:xfrm>
              <a:off x="1412875" y="5753100"/>
              <a:ext cx="338137" cy="317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>
              <a:stCxn id="13" idx="3"/>
            </p:cNvCxnSpPr>
            <p:nvPr/>
          </p:nvCxnSpPr>
          <p:spPr bwMode="auto">
            <a:xfrm>
              <a:off x="2871787" y="3724275"/>
              <a:ext cx="412750" cy="92392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utoShape 247" descr="밝은 상향 대각선"/>
            <p:cNvSpPr>
              <a:spLocks noChangeArrowheads="1"/>
            </p:cNvSpPr>
            <p:nvPr/>
          </p:nvSpPr>
          <p:spPr bwMode="auto">
            <a:xfrm>
              <a:off x="4141788" y="3403600"/>
              <a:ext cx="661987" cy="644525"/>
            </a:xfrm>
            <a:prstGeom prst="flowChartDisplay">
              <a:avLst/>
            </a:prstGeom>
            <a:pattFill prst="ltUpDiag">
              <a:fgClr>
                <a:srgbClr val="C0C0C0"/>
              </a:fgClr>
              <a:bgClr>
                <a:srgbClr val="EAEAEA"/>
              </a:bgClr>
            </a:pattFill>
            <a:ln w="9525" algn="ctr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상신</a:t>
              </a:r>
            </a:p>
          </p:txBody>
        </p:sp>
        <p:cxnSp>
          <p:nvCxnSpPr>
            <p:cNvPr id="17" name="직선 화살표 연결선 16"/>
            <p:cNvCxnSpPr>
              <a:endCxn id="16" idx="1"/>
            </p:cNvCxnSpPr>
            <p:nvPr/>
          </p:nvCxnSpPr>
          <p:spPr bwMode="auto">
            <a:xfrm flipV="1">
              <a:off x="3836988" y="3724275"/>
              <a:ext cx="304800" cy="92392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>
              <a:stCxn id="13" idx="3"/>
            </p:cNvCxnSpPr>
            <p:nvPr/>
          </p:nvCxnSpPr>
          <p:spPr bwMode="auto">
            <a:xfrm flipV="1">
              <a:off x="2871787" y="3719513"/>
              <a:ext cx="412750" cy="4762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>
              <a:endCxn id="16" idx="1"/>
            </p:cNvCxnSpPr>
            <p:nvPr/>
          </p:nvCxnSpPr>
          <p:spPr bwMode="auto">
            <a:xfrm>
              <a:off x="3836988" y="3719513"/>
              <a:ext cx="304800" cy="4762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utoShape 247" descr="밝은 상향 대각선"/>
            <p:cNvSpPr>
              <a:spLocks noChangeArrowheads="1"/>
            </p:cNvSpPr>
            <p:nvPr/>
          </p:nvSpPr>
          <p:spPr bwMode="auto">
            <a:xfrm>
              <a:off x="5210175" y="4876800"/>
              <a:ext cx="661988" cy="644525"/>
            </a:xfrm>
            <a:prstGeom prst="flowChartDisplay">
              <a:avLst/>
            </a:prstGeom>
            <a:pattFill prst="ltUpDiag">
              <a:fgClr>
                <a:srgbClr val="C0C0C0"/>
              </a:fgClr>
              <a:bgClr>
                <a:srgbClr val="EAEAEA"/>
              </a:bgClr>
            </a:pattFill>
            <a:ln w="9525" algn="ctr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 진행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1" name="꺾인 연결선 208"/>
            <p:cNvCxnSpPr>
              <a:stCxn id="16" idx="3"/>
              <a:endCxn id="20" idx="0"/>
            </p:cNvCxnSpPr>
            <p:nvPr/>
          </p:nvCxnSpPr>
          <p:spPr bwMode="auto">
            <a:xfrm>
              <a:off x="4803776" y="3724275"/>
              <a:ext cx="738187" cy="1150938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꺾인 연결선 208"/>
            <p:cNvCxnSpPr>
              <a:endCxn id="13" idx="2"/>
            </p:cNvCxnSpPr>
            <p:nvPr/>
          </p:nvCxnSpPr>
          <p:spPr bwMode="auto">
            <a:xfrm flipV="1">
              <a:off x="2309812" y="4049713"/>
              <a:ext cx="230188" cy="1706562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꺾인 연결선 208"/>
            <p:cNvCxnSpPr>
              <a:endCxn id="13" idx="2"/>
            </p:cNvCxnSpPr>
            <p:nvPr/>
          </p:nvCxnSpPr>
          <p:spPr bwMode="auto">
            <a:xfrm flipV="1">
              <a:off x="2309812" y="4049713"/>
              <a:ext cx="230188" cy="1062037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직선 화살표 연결선 23"/>
            <p:cNvCxnSpPr>
              <a:stCxn id="20" idx="1"/>
            </p:cNvCxnSpPr>
            <p:nvPr/>
          </p:nvCxnSpPr>
          <p:spPr bwMode="auto">
            <a:xfrm rot="10800000" flipV="1">
              <a:off x="4752976" y="5200650"/>
              <a:ext cx="457200" cy="119697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순서도: 판단 24"/>
            <p:cNvSpPr/>
            <p:nvPr/>
          </p:nvSpPr>
          <p:spPr bwMode="auto">
            <a:xfrm>
              <a:off x="5260976" y="6534150"/>
              <a:ext cx="560387" cy="642938"/>
            </a:xfrm>
            <a:prstGeom prst="flowChartDecision">
              <a:avLst/>
            </a:prstGeom>
            <a:solidFill>
              <a:schemeClr val="accent3"/>
            </a:solidFill>
            <a:ln w="9525">
              <a:solidFill>
                <a:srgbClr val="44A4CA"/>
              </a:solidFill>
              <a:round/>
              <a:headEnd/>
              <a:tailEnd/>
            </a:ln>
            <a:effectLst/>
          </p:spPr>
          <p:txBody>
            <a:bodyPr wrap="none" lIns="54000" tIns="46800" rIns="54000" bIns="46800" anchor="ctr"/>
            <a:lstStyle/>
            <a:p>
              <a:pPr algn="ctr" eaLnBrk="1" hangingPunct="1">
                <a:lnSpc>
                  <a:spcPct val="90000"/>
                </a:lnSpc>
                <a:tabLst>
                  <a:tab pos="95250" algn="l"/>
                </a:tabLst>
                <a:defRPr/>
              </a:pPr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결재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 eaLnBrk="1" hangingPunct="1">
                <a:lnSpc>
                  <a:spcPct val="90000"/>
                </a:lnSpc>
                <a:tabLst>
                  <a:tab pos="95250" algn="l"/>
                </a:tabLst>
                <a:defRPr/>
              </a:pPr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완료</a:t>
              </a:r>
            </a:p>
          </p:txBody>
        </p:sp>
        <p:cxnSp>
          <p:nvCxnSpPr>
            <p:cNvPr id="26" name="직선 화살표 연결선 25"/>
            <p:cNvCxnSpPr>
              <a:stCxn id="20" idx="2"/>
              <a:endCxn id="25" idx="0"/>
            </p:cNvCxnSpPr>
            <p:nvPr/>
          </p:nvCxnSpPr>
          <p:spPr bwMode="auto">
            <a:xfrm rot="5400000">
              <a:off x="5035551" y="6029325"/>
              <a:ext cx="1011238" cy="1587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꺾인 연결선 208"/>
            <p:cNvCxnSpPr>
              <a:stCxn id="25" idx="3"/>
              <a:endCxn id="20" idx="3"/>
            </p:cNvCxnSpPr>
            <p:nvPr/>
          </p:nvCxnSpPr>
          <p:spPr bwMode="auto">
            <a:xfrm flipV="1">
              <a:off x="5821363" y="5200650"/>
              <a:ext cx="49213" cy="1655763"/>
            </a:xfrm>
            <a:prstGeom prst="bentConnector3">
              <a:avLst>
                <a:gd name="adj1" fmla="val 419998"/>
              </a:avLst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AutoShape 247" descr="밝은 상향 대각선"/>
            <p:cNvSpPr>
              <a:spLocks noChangeArrowheads="1"/>
            </p:cNvSpPr>
            <p:nvPr/>
          </p:nvSpPr>
          <p:spPr bwMode="auto">
            <a:xfrm>
              <a:off x="4141788" y="7178675"/>
              <a:ext cx="661987" cy="644525"/>
            </a:xfrm>
            <a:prstGeom prst="flowChartDisplay">
              <a:avLst/>
            </a:prstGeom>
            <a:pattFill prst="ltUpDiag">
              <a:fgClr>
                <a:srgbClr val="C0C0C0"/>
              </a:fgClr>
              <a:bgClr>
                <a:srgbClr val="EAEAEA"/>
              </a:bgClr>
            </a:pattFill>
            <a:ln w="9525" algn="ctr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승인처리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9" name="꺾인 연결선 208"/>
            <p:cNvCxnSpPr>
              <a:stCxn id="25" idx="2"/>
              <a:endCxn id="28" idx="3"/>
            </p:cNvCxnSpPr>
            <p:nvPr/>
          </p:nvCxnSpPr>
          <p:spPr bwMode="auto">
            <a:xfrm rot="5400000">
              <a:off x="5010151" y="6970713"/>
              <a:ext cx="325437" cy="738187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직선 화살표 연결선 29"/>
            <p:cNvCxnSpPr>
              <a:stCxn id="28" idx="0"/>
            </p:cNvCxnSpPr>
            <p:nvPr/>
          </p:nvCxnSpPr>
          <p:spPr bwMode="auto">
            <a:xfrm rot="5400000" flipH="1" flipV="1">
              <a:off x="4200526" y="6900863"/>
              <a:ext cx="549275" cy="317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AutoShape 160"/>
            <p:cNvCxnSpPr>
              <a:cxnSpLocks noChangeShapeType="1"/>
              <a:stCxn id="28" idx="1"/>
              <a:endCxn id="32" idx="3"/>
            </p:cNvCxnSpPr>
            <p:nvPr/>
          </p:nvCxnSpPr>
          <p:spPr bwMode="auto">
            <a:xfrm rot="10800000">
              <a:off x="3735388" y="7502525"/>
              <a:ext cx="406400" cy="1588"/>
            </a:xfrm>
            <a:prstGeom prst="straightConnector1">
              <a:avLst/>
            </a:prstGeom>
            <a:noFill/>
            <a:ln w="3175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  <a:headEnd/>
              <a:tailEnd type="triangle" w="med" len="med"/>
            </a:ln>
          </p:spPr>
        </p:cxnSp>
        <p:sp>
          <p:nvSpPr>
            <p:cNvPr id="32" name="AutoShape 247" descr="밝은 상향 대각선"/>
            <p:cNvSpPr>
              <a:spLocks noChangeArrowheads="1"/>
            </p:cNvSpPr>
            <p:nvPr/>
          </p:nvSpPr>
          <p:spPr bwMode="auto">
            <a:xfrm>
              <a:off x="3073400" y="7178675"/>
              <a:ext cx="661988" cy="644525"/>
            </a:xfrm>
            <a:prstGeom prst="flowChartDisplay">
              <a:avLst/>
            </a:prstGeom>
            <a:pattFill prst="ltUpDiag">
              <a:fgClr>
                <a:srgbClr val="C0C0C0"/>
              </a:fgClr>
              <a:bgClr>
                <a:srgbClr val="EAEAEA"/>
              </a:bgClr>
            </a:pattFill>
            <a:ln w="9525" algn="ctr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spcBef>
                  <a:spcPts val="100"/>
                </a:spcBef>
                <a:spcAft>
                  <a:spcPts val="100"/>
                </a:spcAft>
              </a:pPr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endParaRPr lang="en-US" altLang="ko-KR" sz="10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3" name="직선 화살표 연결선 32"/>
            <p:cNvCxnSpPr>
              <a:stCxn id="32" idx="0"/>
            </p:cNvCxnSpPr>
            <p:nvPr/>
          </p:nvCxnSpPr>
          <p:spPr bwMode="auto">
            <a:xfrm rot="5400000" flipH="1" flipV="1">
              <a:off x="3412332" y="6388894"/>
              <a:ext cx="779463" cy="79692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3000375" y="5264150"/>
              <a:ext cx="715963" cy="1031875"/>
              <a:chOff x="1175" y="452"/>
              <a:chExt cx="332" cy="311"/>
            </a:xfrm>
          </p:grpSpPr>
          <p:pic>
            <p:nvPicPr>
              <p:cNvPr id="54" name="Picture 29" descr="s1000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5" y="452"/>
                <a:ext cx="332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5" name="Group 30"/>
              <p:cNvGrpSpPr>
                <a:grpSpLocks/>
              </p:cNvGrpSpPr>
              <p:nvPr/>
            </p:nvGrpSpPr>
            <p:grpSpPr bwMode="auto">
              <a:xfrm>
                <a:off x="1303" y="616"/>
                <a:ext cx="57" cy="126"/>
                <a:chOff x="912" y="3360"/>
                <a:chExt cx="144" cy="144"/>
              </a:xfrm>
            </p:grpSpPr>
            <p:sp>
              <p:nvSpPr>
                <p:cNvPr id="56" name="Rectangle 31"/>
                <p:cNvSpPr>
                  <a:spLocks noChangeArrowheads="1"/>
                </p:cNvSpPr>
                <p:nvPr/>
              </p:nvSpPr>
              <p:spPr bwMode="auto">
                <a:xfrm>
                  <a:off x="912" y="3360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7" name="Rectangle 32"/>
                <p:cNvSpPr>
                  <a:spLocks noChangeArrowheads="1"/>
                </p:cNvSpPr>
                <p:nvPr/>
              </p:nvSpPr>
              <p:spPr bwMode="auto">
                <a:xfrm>
                  <a:off x="960" y="3360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8" name="Rectangle 33"/>
                <p:cNvSpPr>
                  <a:spLocks noChangeArrowheads="1"/>
                </p:cNvSpPr>
                <p:nvPr/>
              </p:nvSpPr>
              <p:spPr bwMode="auto">
                <a:xfrm>
                  <a:off x="1008" y="3360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9" name="Rectangle 34"/>
                <p:cNvSpPr>
                  <a:spLocks noChangeArrowheads="1"/>
                </p:cNvSpPr>
                <p:nvPr/>
              </p:nvSpPr>
              <p:spPr bwMode="auto">
                <a:xfrm>
                  <a:off x="912" y="3408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0" name="Rectangle 35"/>
                <p:cNvSpPr>
                  <a:spLocks noChangeArrowheads="1"/>
                </p:cNvSpPr>
                <p:nvPr/>
              </p:nvSpPr>
              <p:spPr bwMode="auto">
                <a:xfrm>
                  <a:off x="960" y="3408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1" name="Rectangle 36"/>
                <p:cNvSpPr>
                  <a:spLocks noChangeArrowheads="1"/>
                </p:cNvSpPr>
                <p:nvPr/>
              </p:nvSpPr>
              <p:spPr bwMode="auto">
                <a:xfrm>
                  <a:off x="1008" y="3408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2" name="Rectangle 37"/>
                <p:cNvSpPr>
                  <a:spLocks noChangeArrowheads="1"/>
                </p:cNvSpPr>
                <p:nvPr/>
              </p:nvSpPr>
              <p:spPr bwMode="auto">
                <a:xfrm>
                  <a:off x="912" y="3456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3" name="Rectangle 38"/>
                <p:cNvSpPr>
                  <a:spLocks noChangeArrowheads="1"/>
                </p:cNvSpPr>
                <p:nvPr/>
              </p:nvSpPr>
              <p:spPr bwMode="auto">
                <a:xfrm>
                  <a:off x="960" y="3456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4" name="Rectangle 39"/>
                <p:cNvSpPr>
                  <a:spLocks noChangeArrowheads="1"/>
                </p:cNvSpPr>
                <p:nvPr/>
              </p:nvSpPr>
              <p:spPr bwMode="auto">
                <a:xfrm>
                  <a:off x="1008" y="3456"/>
                  <a:ext cx="48" cy="4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chemeClr val="bg1"/>
                    </a:gs>
                  </a:gsLst>
                  <a:path path="rect">
                    <a:fillToRect t="100000" r="100000"/>
                  </a:path>
                </a:gra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100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35" name="AutoShape 247" descr="밝은 상향 대각선"/>
            <p:cNvSpPr>
              <a:spLocks noChangeArrowheads="1"/>
            </p:cNvSpPr>
            <p:nvPr/>
          </p:nvSpPr>
          <p:spPr bwMode="auto">
            <a:xfrm flipH="1">
              <a:off x="1649413" y="6534150"/>
              <a:ext cx="1068387" cy="276225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전자증빙 시스템</a:t>
              </a:r>
              <a:endPara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AutoShape 247" descr="밝은 상향 대각선"/>
            <p:cNvSpPr>
              <a:spLocks noChangeArrowheads="1"/>
            </p:cNvSpPr>
            <p:nvPr/>
          </p:nvSpPr>
          <p:spPr bwMode="auto">
            <a:xfrm flipH="1">
              <a:off x="2401888" y="3035300"/>
              <a:ext cx="1831975" cy="276225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회계</a:t>
              </a:r>
              <a:r>
                <a:rPr lang="en-US" altLang="ko-KR" sz="100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구매 </a:t>
              </a:r>
              <a:r>
                <a: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AutoShape 247" descr="밝은 상향 대각선"/>
            <p:cNvSpPr>
              <a:spLocks noChangeArrowheads="1"/>
            </p:cNvSpPr>
            <p:nvPr/>
          </p:nvSpPr>
          <p:spPr bwMode="auto">
            <a:xfrm flipH="1">
              <a:off x="5159375" y="3035300"/>
              <a:ext cx="915988" cy="276225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결재시스템</a:t>
              </a:r>
              <a:endPara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AutoShape 247" descr="밝은 상향 대각선"/>
            <p:cNvSpPr>
              <a:spLocks noChangeArrowheads="1"/>
            </p:cNvSpPr>
            <p:nvPr/>
          </p:nvSpPr>
          <p:spPr bwMode="auto">
            <a:xfrm flipH="1">
              <a:off x="1598613" y="7546975"/>
              <a:ext cx="1423987" cy="276225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7" tIns="45714" rIns="91427" bIns="45714" anchor="ctr"/>
            <a:lstStyle>
              <a:lvl1pPr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12813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128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회계</a:t>
              </a:r>
              <a:r>
                <a:rPr lang="en-US" altLang="ko-KR" sz="100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구매 </a:t>
              </a:r>
              <a:r>
                <a: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endPara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 bwMode="auto">
            <a:xfrm>
              <a:off x="623887" y="4876800"/>
              <a:ext cx="825500" cy="455613"/>
            </a:xfrm>
            <a:prstGeom prst="roundRect">
              <a:avLst/>
            </a:prstGeom>
            <a:gradFill>
              <a:gsLst>
                <a:gs pos="0">
                  <a:srgbClr val="69B2E0"/>
                </a:gs>
                <a:gs pos="100000">
                  <a:srgbClr val="006AA9"/>
                </a:gs>
              </a:gsLst>
              <a:lin ang="5400000" scaled="0"/>
            </a:gradFill>
            <a:ln w="6350" cap="flat" cmpd="sng" algn="ctr">
              <a:solidFill>
                <a:srgbClr val="FFFF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ko-KR" altLang="en-US" sz="1000" b="1" kern="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 종이증빙</a:t>
              </a:r>
            </a:p>
          </p:txBody>
        </p:sp>
        <p:pic>
          <p:nvPicPr>
            <p:cNvPr id="40" name="Picture 23" descr="icon_종이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225" y="4870450"/>
              <a:ext cx="2841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모서리가 둥근 직사각형 40"/>
            <p:cNvSpPr/>
            <p:nvPr/>
          </p:nvSpPr>
          <p:spPr bwMode="auto">
            <a:xfrm>
              <a:off x="623887" y="5524500"/>
              <a:ext cx="825500" cy="455613"/>
            </a:xfrm>
            <a:prstGeom prst="roundRect">
              <a:avLst/>
            </a:prstGeom>
            <a:gradFill>
              <a:gsLst>
                <a:gs pos="0">
                  <a:srgbClr val="69B2E0"/>
                </a:gs>
                <a:gs pos="100000">
                  <a:srgbClr val="006AA9"/>
                </a:gs>
              </a:gsLst>
              <a:lin ang="5400000" scaled="0"/>
            </a:gradFill>
            <a:ln w="6350" cap="flat" cmpd="sng" algn="ctr">
              <a:solidFill>
                <a:srgbClr val="FFFF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ko-KR" altLang="en-US" sz="1000" b="1" kern="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 인쇄증빙</a:t>
              </a:r>
            </a:p>
          </p:txBody>
        </p:sp>
        <p:grpSp>
          <p:nvGrpSpPr>
            <p:cNvPr id="42" name="Group 190"/>
            <p:cNvGrpSpPr>
              <a:grpSpLocks/>
            </p:cNvGrpSpPr>
            <p:nvPr/>
          </p:nvGrpSpPr>
          <p:grpSpPr bwMode="auto">
            <a:xfrm>
              <a:off x="333375" y="5345113"/>
              <a:ext cx="619125" cy="868362"/>
              <a:chOff x="483" y="2809"/>
              <a:chExt cx="913" cy="619"/>
            </a:xfrm>
          </p:grpSpPr>
          <p:pic>
            <p:nvPicPr>
              <p:cNvPr id="51" name="Picture 191" descr="word 이미지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5" y="3019"/>
                <a:ext cx="74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" name="Picture 192" descr="excel 이미지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6" y="2809"/>
                <a:ext cx="660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Picture 193" descr="ppt이미지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" y="3149"/>
                <a:ext cx="913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3" name="직선 화살표 연결선 42"/>
            <p:cNvCxnSpPr/>
            <p:nvPr/>
          </p:nvCxnSpPr>
          <p:spPr bwMode="auto">
            <a:xfrm>
              <a:off x="1412875" y="5124450"/>
              <a:ext cx="338137" cy="3175"/>
            </a:xfrm>
            <a:prstGeom prst="straightConnector1">
              <a:avLst/>
            </a:prstGeom>
            <a:ln w="3175" cmpd="sng">
              <a:solidFill>
                <a:srgbClr val="0066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모서리가 둥근 직사각형 43"/>
            <p:cNvSpPr/>
            <p:nvPr/>
          </p:nvSpPr>
          <p:spPr>
            <a:xfrm>
              <a:off x="1763712" y="4879975"/>
              <a:ext cx="558800" cy="465138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E99C5D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algn="ctr" eaLnBrk="1" hangingPunct="1">
                <a:defRPr/>
              </a:pPr>
              <a:r>
                <a:rPr kumimoji="0" lang="ko-KR" altLang="en-US" sz="10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증빙스캔</a:t>
              </a:r>
              <a:endParaRPr kumimoji="0"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45" name="Picture 180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2425" y="4600575"/>
              <a:ext cx="280988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모서리가 둥근 직사각형 45"/>
            <p:cNvSpPr/>
            <p:nvPr/>
          </p:nvSpPr>
          <p:spPr>
            <a:xfrm>
              <a:off x="1763712" y="5518150"/>
              <a:ext cx="558800" cy="465138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E99C5D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algn="ctr" eaLnBrk="1" hangingPunct="1">
                <a:defRPr/>
              </a:pPr>
              <a:r>
                <a:rPr kumimoji="0" lang="en-US" altLang="ko-KR" sz="10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PTI</a:t>
              </a: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3278187" y="4414838"/>
              <a:ext cx="558800" cy="466725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E99C5D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algn="ctr" eaLnBrk="1" hangingPunct="1">
                <a:defRPr/>
              </a:pPr>
              <a:r>
                <a:rPr kumimoji="0" lang="ko-KR" altLang="en-US" sz="10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증빙연결</a:t>
              </a:r>
              <a:endParaRPr kumimoji="0"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모서리가 둥근 직사각형 47"/>
            <p:cNvSpPr/>
            <p:nvPr/>
          </p:nvSpPr>
          <p:spPr>
            <a:xfrm>
              <a:off x="3278187" y="3490913"/>
              <a:ext cx="558800" cy="466725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E99C5D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algn="ctr" eaLnBrk="1" hangingPunct="1">
                <a:defRPr/>
              </a:pPr>
              <a:r>
                <a:rPr kumimoji="0" lang="ko-KR" altLang="en-US" sz="1000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항목입력</a:t>
              </a:r>
              <a:endParaRPr kumimoji="0"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5259388" y="3944938"/>
              <a:ext cx="558800" cy="465137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E99C5D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algn="ctr" eaLnBrk="1" hangingPunct="1">
                <a:defRPr/>
              </a:pPr>
              <a:r>
                <a:rPr kumimoji="0" lang="ko-KR" altLang="en-US" sz="10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결재문서 작성</a:t>
              </a:r>
              <a:endParaRPr kumimoji="0"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4191001" y="6159500"/>
              <a:ext cx="558800" cy="466725"/>
            </a:xfrm>
            <a:prstGeom prst="roundRect">
              <a:avLst/>
            </a:prstGeom>
            <a:solidFill>
              <a:srgbClr val="FFFFFF"/>
            </a:solidFill>
            <a:ln w="9525" cap="flat" cmpd="sng" algn="ctr">
              <a:solidFill>
                <a:srgbClr val="E99C5D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algn="ctr" eaLnBrk="1" hangingPunct="1">
                <a:defRPr/>
              </a:pPr>
              <a:r>
                <a:rPr kumimoji="0" lang="ko-KR" altLang="en-US" sz="10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증빙보기</a:t>
              </a:r>
              <a:endParaRPr kumimoji="0"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325355" y="1427038"/>
            <a:ext cx="333617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회계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구매 업무의 전표 및 구매신청 입력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화면에서 종이증빙을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스캔하여 증빙서버로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전송하고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결재 상신을 올린 문서는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결재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시스템을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통해서 결재 진행과정에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증빙서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뷰어를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통해서 전표 자료와 증빙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이미지를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하나의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화면에서 확인하면서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결재 가능함</a:t>
            </a:r>
            <a:endParaRPr lang="en-US" altLang="ko-KR" sz="120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200">
                <a:solidFill>
                  <a:srgbClr val="000000"/>
                </a:solidFill>
                <a:latin typeface="맑은 고딕" pitchFamily="50" charset="-127"/>
              </a:rPr>
              <a:t> 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결재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완료된 경우에는 회계팀에서 결재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승인처리를 하고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증빙을 확인하여 오류를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점검 후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확정처리하여 회계에 반영하는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과정에서도 전자증빙의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증빙서 뷰어를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통해서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증빙을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확인할 </a:t>
            </a:r>
            <a:r>
              <a:rPr lang="ko-KR" altLang="en-US" sz="1200">
                <a:solidFill>
                  <a:srgbClr val="000000"/>
                </a:solidFill>
                <a:latin typeface="맑은 고딕" pitchFamily="50" charset="-127"/>
              </a:rPr>
              <a:t>수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있음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endParaRPr lang="en-US" altLang="ko-KR" sz="1200">
              <a:solidFill>
                <a:srgbClr val="000000"/>
              </a:solidFill>
              <a:latin typeface="맑은 고딕" pitchFamily="50" charset="-127"/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향후 증빙이 필요할 경우 키워드로 해당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증빙을 검색하여 확인할 수 있음</a:t>
            </a:r>
            <a:endParaRPr lang="ko-KR" altLang="en-US" sz="1200" dirty="0" err="1" smtClean="0"/>
          </a:p>
        </p:txBody>
      </p:sp>
    </p:spTree>
    <p:extLst>
      <p:ext uri="{BB962C8B-B14F-4D97-AF65-F5344CB8AC3E}">
        <p14:creationId xmlns:p14="http://schemas.microsoft.com/office/powerpoint/2010/main" val="416291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en-US" altLang="ko-KR" sz="1600" smtClean="0"/>
              <a:t>2. RPA(Robotic Process Automation)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2.4.4 </a:t>
            </a:r>
            <a:r>
              <a:rPr lang="ko-KR" altLang="en-US" sz="1800" smtClean="0"/>
              <a:t>적용가능 기술</a:t>
            </a:r>
            <a:r>
              <a:rPr lang="en-US" altLang="ko-KR" sz="1800" smtClean="0"/>
              <a:t>(2/6)</a:t>
            </a:r>
            <a:r>
              <a:rPr lang="ko-KR" altLang="en-US" sz="1800" smtClean="0"/>
              <a:t>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6440658" y="1605384"/>
            <a:ext cx="3240952" cy="4856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70"/>
              <a:t>사용자가 수행하는 규칙 기반의 반복적인 </a:t>
            </a:r>
            <a:endParaRPr lang="en-US" altLang="ko-KR" sz="1200" spc="-70" smtClean="0"/>
          </a:p>
          <a:p>
            <a:pPr>
              <a:lnSpc>
                <a:spcPct val="120000"/>
              </a:lnSpc>
            </a:pPr>
            <a:r>
              <a:rPr lang="en-US" altLang="ko-KR" sz="1200" spc="-70"/>
              <a:t> </a:t>
            </a:r>
            <a:r>
              <a:rPr lang="en-US" altLang="ko-KR" sz="1200" spc="-70" smtClean="0"/>
              <a:t>   </a:t>
            </a:r>
            <a:r>
              <a:rPr lang="ko-KR" altLang="en-US" sz="1200" spc="-70" smtClean="0"/>
              <a:t>업무를 소프트웨어 </a:t>
            </a:r>
            <a:r>
              <a:rPr lang="ko-KR" altLang="en-US" sz="1200" spc="-70"/>
              <a:t>로봇이 수행하도록 </a:t>
            </a:r>
            <a:endParaRPr lang="en-US" altLang="ko-KR" sz="1200" spc="-70" smtClean="0"/>
          </a:p>
          <a:p>
            <a:pPr>
              <a:lnSpc>
                <a:spcPct val="120000"/>
              </a:lnSpc>
            </a:pPr>
            <a:r>
              <a:rPr lang="en-US" altLang="ko-KR" sz="1200" spc="-70"/>
              <a:t> </a:t>
            </a:r>
            <a:r>
              <a:rPr lang="en-US" altLang="ko-KR" sz="1200" spc="-70" smtClean="0"/>
              <a:t>   </a:t>
            </a:r>
            <a:r>
              <a:rPr lang="ko-KR" altLang="en-US" sz="1200" spc="-70" smtClean="0"/>
              <a:t>자동화하는 기술임</a:t>
            </a:r>
            <a:endParaRPr lang="en-US" altLang="ko-KR" sz="1200" spc="-70" smtClean="0"/>
          </a:p>
          <a:p>
            <a:pPr>
              <a:lnSpc>
                <a:spcPct val="120000"/>
              </a:lnSpc>
            </a:pPr>
            <a:endParaRPr lang="ko-KR" altLang="en-US" sz="1200" spc="-70"/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spc="-70"/>
              <a:t>한글인식</a:t>
            </a:r>
            <a:r>
              <a:rPr lang="en-US" altLang="ko-KR" sz="1200" spc="-70"/>
              <a:t>, </a:t>
            </a:r>
            <a:r>
              <a:rPr lang="ko-KR" altLang="en-US" sz="1200" spc="-70"/>
              <a:t>캡차인식</a:t>
            </a:r>
            <a:r>
              <a:rPr lang="en-US" altLang="ko-KR" sz="1200" spc="-70"/>
              <a:t>, </a:t>
            </a:r>
            <a:r>
              <a:rPr lang="ko-KR" altLang="en-US" sz="1200" spc="-70"/>
              <a:t>영상매칭 등의 </a:t>
            </a:r>
            <a:r>
              <a:rPr lang="ko-KR" altLang="en-US" sz="1200" spc="-70" smtClean="0"/>
              <a:t> </a:t>
            </a:r>
            <a:r>
              <a:rPr lang="ko-KR" altLang="en-US" sz="1200" spc="-70"/>
              <a:t>기능을 </a:t>
            </a:r>
            <a:endParaRPr lang="en-US" altLang="ko-KR" sz="1200" spc="-70" smtClean="0"/>
          </a:p>
          <a:p>
            <a:pPr>
              <a:spcBef>
                <a:spcPct val="50000"/>
              </a:spcBef>
              <a:defRPr/>
            </a:pPr>
            <a:r>
              <a:rPr lang="en-US" altLang="ko-KR" sz="1200" spc="-70"/>
              <a:t> </a:t>
            </a:r>
            <a:r>
              <a:rPr lang="en-US" altLang="ko-KR" sz="1200" spc="-70" smtClean="0"/>
              <a:t>   </a:t>
            </a:r>
            <a:r>
              <a:rPr lang="ko-KR" altLang="en-US" sz="1200" spc="-70" smtClean="0"/>
              <a:t>제공하여 </a:t>
            </a:r>
            <a:r>
              <a:rPr lang="ko-KR" altLang="en-US" sz="1200" spc="-70"/>
              <a:t>반복적인 업무를 </a:t>
            </a:r>
            <a:r>
              <a:rPr lang="ko-KR" altLang="en-US" sz="1200" spc="-70" smtClean="0"/>
              <a:t>자동화함</a:t>
            </a:r>
            <a:endParaRPr lang="en-US" altLang="ko-KR" sz="1200" spc="-70" smtClean="0"/>
          </a:p>
          <a:p>
            <a:pPr>
              <a:spcBef>
                <a:spcPct val="50000"/>
              </a:spcBef>
              <a:defRPr/>
            </a:pPr>
            <a:endParaRPr lang="ko-KR" altLang="en-US" sz="1200" spc="-70"/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작업자가 규칙적으로 반복하는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업무를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  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컴퓨터가 마우스와 키보드를 조작하도록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프로그램하여 상태 사이트를 접속하고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 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해당 페이지를 찾아서 원하는 정보를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  COPY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하거나 스캔하여 원하는 정보형태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  (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문자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,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숫자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,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이미지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)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로 인식하여 입력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가공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,</a:t>
            </a:r>
          </a:p>
          <a:p>
            <a:pPr>
              <a:spcBef>
                <a:spcPct val="50000"/>
              </a:spcBef>
              <a:defRPr/>
            </a:pP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   연산까지 처리하여 메일로 전송하거나 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   </a:t>
            </a:r>
            <a:r>
              <a:rPr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시스템에 입력해주는 기능임</a:t>
            </a:r>
            <a:endParaRPr lang="en-US" altLang="ko-KR" sz="1200" smtClean="0">
              <a:solidFill>
                <a:srgbClr val="000000"/>
              </a:solidFill>
              <a:latin typeface="맑은 고딕" pitchFamily="50" charset="-127"/>
            </a:endParaRPr>
          </a:p>
          <a:p>
            <a:pPr>
              <a:spcBef>
                <a:spcPct val="50000"/>
              </a:spcBef>
              <a:defRPr/>
            </a:pPr>
            <a:endParaRPr lang="en-US" altLang="ko-KR" sz="1200">
              <a:solidFill>
                <a:srgbClr val="000000"/>
              </a:solidFill>
              <a:latin typeface="맑은 고딕" pitchFamily="50" charset="-127"/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spc="-70" smtClean="0"/>
              <a:t>상대 사이트의 페이지에 변화가 있을 경우 </a:t>
            </a:r>
            <a:endParaRPr lang="en-US" altLang="ko-KR" sz="1200" spc="-70" smtClean="0"/>
          </a:p>
          <a:p>
            <a:pPr>
              <a:spcBef>
                <a:spcPct val="50000"/>
              </a:spcBef>
              <a:defRPr/>
            </a:pPr>
            <a:r>
              <a:rPr lang="en-US" altLang="ko-KR" sz="1200" spc="-70"/>
              <a:t> </a:t>
            </a:r>
            <a:r>
              <a:rPr lang="en-US" altLang="ko-KR" sz="1200" spc="-70" smtClean="0"/>
              <a:t>   </a:t>
            </a:r>
            <a:r>
              <a:rPr lang="ko-KR" altLang="en-US" sz="1200" spc="-70" smtClean="0"/>
              <a:t>변화에 대한 재 구축</a:t>
            </a:r>
            <a:r>
              <a:rPr lang="en-US" altLang="ko-KR" sz="1200" spc="-70" smtClean="0"/>
              <a:t>(</a:t>
            </a:r>
            <a:r>
              <a:rPr lang="ko-KR" altLang="en-US" sz="1200" spc="-70" smtClean="0"/>
              <a:t>변화 반영</a:t>
            </a:r>
            <a:r>
              <a:rPr lang="en-US" altLang="ko-KR" sz="1200" spc="-70" smtClean="0"/>
              <a:t>)</a:t>
            </a:r>
            <a:r>
              <a:rPr lang="ko-KR" altLang="en-US" sz="1200" spc="-70" smtClean="0"/>
              <a:t>이 필요함</a:t>
            </a:r>
            <a:endParaRPr lang="ko-KR" altLang="en-US" sz="1200" dirty="0" err="1" smtClean="0"/>
          </a:p>
        </p:txBody>
      </p:sp>
      <p:grpSp>
        <p:nvGrpSpPr>
          <p:cNvPr id="11" name="그룹 10"/>
          <p:cNvGrpSpPr/>
          <p:nvPr/>
        </p:nvGrpSpPr>
        <p:grpSpPr>
          <a:xfrm>
            <a:off x="414078" y="1131499"/>
            <a:ext cx="5628040" cy="5190169"/>
            <a:chOff x="-583" y="3446911"/>
            <a:chExt cx="7560258" cy="7244902"/>
          </a:xfrm>
        </p:grpSpPr>
        <p:sp>
          <p:nvSpPr>
            <p:cNvPr id="751" name="직사각형 750"/>
            <p:cNvSpPr/>
            <p:nvPr/>
          </p:nvSpPr>
          <p:spPr>
            <a:xfrm>
              <a:off x="-583" y="3446911"/>
              <a:ext cx="7560258" cy="7244902"/>
            </a:xfrm>
            <a:prstGeom prst="rect">
              <a:avLst/>
            </a:prstGeom>
            <a:solidFill>
              <a:srgbClr val="E3EB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cxnSp>
          <p:nvCxnSpPr>
            <p:cNvPr id="752" name="직선 연결선 751"/>
            <p:cNvCxnSpPr/>
            <p:nvPr/>
          </p:nvCxnSpPr>
          <p:spPr>
            <a:xfrm>
              <a:off x="0" y="4424316"/>
              <a:ext cx="1013598" cy="0"/>
            </a:xfrm>
            <a:prstGeom prst="line">
              <a:avLst/>
            </a:prstGeom>
            <a:ln w="38100">
              <a:solidFill>
                <a:srgbClr val="18AA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직선 연결선 752"/>
            <p:cNvCxnSpPr/>
            <p:nvPr/>
          </p:nvCxnSpPr>
          <p:spPr>
            <a:xfrm>
              <a:off x="6647453" y="4424316"/>
              <a:ext cx="912222" cy="0"/>
            </a:xfrm>
            <a:prstGeom prst="line">
              <a:avLst/>
            </a:prstGeom>
            <a:ln w="38100">
              <a:solidFill>
                <a:srgbClr val="18AA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4" name="그룹 753"/>
            <p:cNvGrpSpPr/>
            <p:nvPr/>
          </p:nvGrpSpPr>
          <p:grpSpPr>
            <a:xfrm>
              <a:off x="996821" y="4002060"/>
              <a:ext cx="5566032" cy="1204568"/>
              <a:chOff x="996821" y="4002060"/>
              <a:chExt cx="5566032" cy="1204568"/>
            </a:xfrm>
          </p:grpSpPr>
          <p:grpSp>
            <p:nvGrpSpPr>
              <p:cNvPr id="755" name="그룹 754"/>
              <p:cNvGrpSpPr/>
              <p:nvPr/>
            </p:nvGrpSpPr>
            <p:grpSpPr>
              <a:xfrm>
                <a:off x="996821" y="4002060"/>
                <a:ext cx="838800" cy="1204566"/>
                <a:chOff x="713199" y="4002060"/>
                <a:chExt cx="838800" cy="1204566"/>
              </a:xfrm>
            </p:grpSpPr>
            <p:sp>
              <p:nvSpPr>
                <p:cNvPr id="772" name="모서리가 둥근 직사각형 771"/>
                <p:cNvSpPr/>
                <p:nvPr/>
              </p:nvSpPr>
              <p:spPr>
                <a:xfrm rot="18900000">
                  <a:off x="713199" y="4002060"/>
                  <a:ext cx="838800" cy="838800"/>
                </a:xfrm>
                <a:prstGeom prst="roundRect">
                  <a:avLst>
                    <a:gd name="adj" fmla="val 22666"/>
                  </a:avLst>
                </a:prstGeom>
                <a:solidFill>
                  <a:srgbClr val="18AA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sp>
              <p:nvSpPr>
                <p:cNvPr id="773" name="TextBox 772"/>
                <p:cNvSpPr txBox="1"/>
                <p:nvPr/>
              </p:nvSpPr>
              <p:spPr>
                <a:xfrm>
                  <a:off x="802404" y="4991815"/>
                  <a:ext cx="660390" cy="21481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>
                    <a:defRPr sz="9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다음_Regular" panose="02000603060000000000" pitchFamily="2" charset="-127"/>
                      <a:ea typeface="다음_Regular" panose="02000603060000000000" pitchFamily="2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ko-KR" altLang="en-US" sz="1000" b="1" spc="-70" dirty="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인사업무</a:t>
                  </a:r>
                  <a:endParaRPr lang="ko-KR" altLang="en-US" sz="1000" b="1" spc="-7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774" name="그림 77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42099" y="4175330"/>
                  <a:ext cx="381001" cy="429769"/>
                </a:xfrm>
                <a:prstGeom prst="rect">
                  <a:avLst/>
                </a:prstGeom>
              </p:spPr>
            </p:pic>
          </p:grpSp>
          <p:grpSp>
            <p:nvGrpSpPr>
              <p:cNvPr id="756" name="그룹 755"/>
              <p:cNvGrpSpPr/>
              <p:nvPr/>
            </p:nvGrpSpPr>
            <p:grpSpPr>
              <a:xfrm>
                <a:off x="2131080" y="4002060"/>
                <a:ext cx="838800" cy="1204566"/>
                <a:chOff x="2052368" y="4002060"/>
                <a:chExt cx="838800" cy="1204566"/>
              </a:xfrm>
            </p:grpSpPr>
            <p:sp>
              <p:nvSpPr>
                <p:cNvPr id="769" name="모서리가 둥근 직사각형 768"/>
                <p:cNvSpPr/>
                <p:nvPr/>
              </p:nvSpPr>
              <p:spPr>
                <a:xfrm rot="18900000">
                  <a:off x="2052368" y="4002060"/>
                  <a:ext cx="838800" cy="838800"/>
                </a:xfrm>
                <a:prstGeom prst="roundRect">
                  <a:avLst>
                    <a:gd name="adj" fmla="val 22666"/>
                  </a:avLst>
                </a:prstGeom>
                <a:solidFill>
                  <a:srgbClr val="F377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sp>
              <p:nvSpPr>
                <p:cNvPr id="770" name="TextBox 769"/>
                <p:cNvSpPr txBox="1"/>
                <p:nvPr/>
              </p:nvSpPr>
              <p:spPr>
                <a:xfrm>
                  <a:off x="2141573" y="4991815"/>
                  <a:ext cx="660390" cy="21481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>
                    <a:defRPr sz="9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다음_Regular" panose="02000603060000000000" pitchFamily="2" charset="-127"/>
                      <a:ea typeface="다음_Regular" panose="02000603060000000000" pitchFamily="2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ko-KR" altLang="en-US" sz="1000" b="1" spc="-70" dirty="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회계업무</a:t>
                  </a:r>
                  <a:endParaRPr lang="ko-KR" altLang="en-US" sz="1000" b="1" spc="-7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771" name="그림 770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8888" y="4199992"/>
                  <a:ext cx="365761" cy="365761"/>
                </a:xfrm>
                <a:prstGeom prst="rect">
                  <a:avLst/>
                </a:prstGeom>
              </p:spPr>
            </p:pic>
          </p:grpSp>
          <p:grpSp>
            <p:nvGrpSpPr>
              <p:cNvPr id="757" name="그룹 756"/>
              <p:cNvGrpSpPr/>
              <p:nvPr/>
            </p:nvGrpSpPr>
            <p:grpSpPr>
              <a:xfrm>
                <a:off x="3265338" y="4002060"/>
                <a:ext cx="1028998" cy="1204566"/>
                <a:chOff x="3278069" y="4002060"/>
                <a:chExt cx="1028998" cy="1204566"/>
              </a:xfrm>
            </p:grpSpPr>
            <p:sp>
              <p:nvSpPr>
                <p:cNvPr id="766" name="모서리가 둥근 직사각형 765"/>
                <p:cNvSpPr/>
                <p:nvPr/>
              </p:nvSpPr>
              <p:spPr>
                <a:xfrm rot="18900000">
                  <a:off x="3373168" y="4002060"/>
                  <a:ext cx="838800" cy="838800"/>
                </a:xfrm>
                <a:prstGeom prst="roundRect">
                  <a:avLst>
                    <a:gd name="adj" fmla="val 22666"/>
                  </a:avLst>
                </a:prstGeom>
                <a:solidFill>
                  <a:srgbClr val="18AA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sp>
              <p:nvSpPr>
                <p:cNvPr id="767" name="TextBox 766"/>
                <p:cNvSpPr txBox="1"/>
                <p:nvPr/>
              </p:nvSpPr>
              <p:spPr>
                <a:xfrm>
                  <a:off x="3278069" y="4991815"/>
                  <a:ext cx="1028998" cy="21481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>
                    <a:defRPr sz="9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다음_Regular" panose="02000603060000000000" pitchFamily="2" charset="-127"/>
                      <a:ea typeface="다음_Regular" panose="02000603060000000000" pitchFamily="2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ko-KR" altLang="en-US" sz="1000" b="1" spc="-7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구매</a:t>
                  </a:r>
                  <a:r>
                    <a:rPr lang="en-US" altLang="ko-KR" sz="1000" b="1" spc="-70" dirty="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/</a:t>
                  </a:r>
                  <a:r>
                    <a:rPr lang="ko-KR" altLang="en-US" sz="1000" b="1" spc="-70" dirty="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자산업무</a:t>
                  </a:r>
                  <a:endParaRPr lang="ko-KR" altLang="en-US" sz="1000" b="1" spc="-7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768" name="그림 767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60920" y="4170000"/>
                  <a:ext cx="463297" cy="502921"/>
                </a:xfrm>
                <a:prstGeom prst="rect">
                  <a:avLst/>
                </a:prstGeom>
              </p:spPr>
            </p:pic>
          </p:grpSp>
          <p:grpSp>
            <p:nvGrpSpPr>
              <p:cNvPr id="758" name="그룹 757"/>
              <p:cNvGrpSpPr/>
              <p:nvPr/>
            </p:nvGrpSpPr>
            <p:grpSpPr>
              <a:xfrm>
                <a:off x="4589794" y="4002060"/>
                <a:ext cx="838800" cy="1204566"/>
                <a:chOff x="4693968" y="4002060"/>
                <a:chExt cx="838800" cy="1204566"/>
              </a:xfrm>
            </p:grpSpPr>
            <p:sp>
              <p:nvSpPr>
                <p:cNvPr id="763" name="모서리가 둥근 직사각형 762"/>
                <p:cNvSpPr/>
                <p:nvPr/>
              </p:nvSpPr>
              <p:spPr>
                <a:xfrm rot="18900000">
                  <a:off x="4693968" y="4002060"/>
                  <a:ext cx="838800" cy="838800"/>
                </a:xfrm>
                <a:prstGeom prst="roundRect">
                  <a:avLst>
                    <a:gd name="adj" fmla="val 22666"/>
                  </a:avLst>
                </a:prstGeom>
                <a:solidFill>
                  <a:srgbClr val="F377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sp>
              <p:nvSpPr>
                <p:cNvPr id="764" name="TextBox 763"/>
                <p:cNvSpPr txBox="1"/>
                <p:nvPr/>
              </p:nvSpPr>
              <p:spPr>
                <a:xfrm>
                  <a:off x="4783173" y="4991815"/>
                  <a:ext cx="660390" cy="21481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>
                    <a:defRPr sz="9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다음_Regular" panose="02000603060000000000" pitchFamily="2" charset="-127"/>
                      <a:ea typeface="다음_Regular" panose="02000603060000000000" pitchFamily="2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ko-KR" sz="1000" b="1" spc="-7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IT</a:t>
                  </a:r>
                  <a:r>
                    <a:rPr lang="ko-KR" altLang="en-US" sz="1000" b="1" spc="-7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업무</a:t>
                  </a:r>
                  <a:endParaRPr lang="ko-KR" altLang="en-US" sz="1000" b="1" spc="-7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765" name="그림 764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4956" y="4237634"/>
                  <a:ext cx="496825" cy="438913"/>
                </a:xfrm>
                <a:prstGeom prst="rect">
                  <a:avLst/>
                </a:prstGeom>
              </p:spPr>
            </p:pic>
          </p:grpSp>
          <p:grpSp>
            <p:nvGrpSpPr>
              <p:cNvPr id="759" name="그룹 758"/>
              <p:cNvGrpSpPr/>
              <p:nvPr/>
            </p:nvGrpSpPr>
            <p:grpSpPr>
              <a:xfrm>
                <a:off x="5724053" y="4002060"/>
                <a:ext cx="838800" cy="1204568"/>
                <a:chOff x="6014768" y="4002060"/>
                <a:chExt cx="838800" cy="1204568"/>
              </a:xfrm>
            </p:grpSpPr>
            <p:sp>
              <p:nvSpPr>
                <p:cNvPr id="760" name="모서리가 둥근 직사각형 759"/>
                <p:cNvSpPr/>
                <p:nvPr/>
              </p:nvSpPr>
              <p:spPr>
                <a:xfrm rot="18900000">
                  <a:off x="6014768" y="4002060"/>
                  <a:ext cx="838800" cy="838800"/>
                </a:xfrm>
                <a:prstGeom prst="roundRect">
                  <a:avLst>
                    <a:gd name="adj" fmla="val 22666"/>
                  </a:avLst>
                </a:prstGeom>
                <a:solidFill>
                  <a:srgbClr val="18AA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sp>
              <p:nvSpPr>
                <p:cNvPr id="761" name="TextBox 760"/>
                <p:cNvSpPr txBox="1"/>
                <p:nvPr/>
              </p:nvSpPr>
              <p:spPr>
                <a:xfrm>
                  <a:off x="6103973" y="4991817"/>
                  <a:ext cx="660390" cy="21481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>
                    <a:defRPr sz="9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다음_Regular" panose="02000603060000000000" pitchFamily="2" charset="-127"/>
                      <a:ea typeface="다음_Regular" panose="02000603060000000000" pitchFamily="2" charset="-127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ko-KR" altLang="en-US" sz="1000" b="1" spc="-70" smtClean="0">
                      <a:solidFill>
                        <a:schemeClr val="tx1"/>
                      </a:solidFill>
                      <a:latin typeface="+mn-ea"/>
                      <a:ea typeface="+mn-ea"/>
                    </a:rPr>
                    <a:t>사업관리</a:t>
                  </a:r>
                  <a:endParaRPr lang="ko-KR" altLang="en-US" sz="1000" b="1" spc="-7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762" name="그림 76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73564" y="4163682"/>
                  <a:ext cx="521209" cy="524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75" name="그룹 774"/>
            <p:cNvGrpSpPr/>
            <p:nvPr/>
          </p:nvGrpSpPr>
          <p:grpSpPr>
            <a:xfrm>
              <a:off x="799521" y="9071358"/>
              <a:ext cx="5960633" cy="1125839"/>
              <a:chOff x="823099" y="9071358"/>
              <a:chExt cx="5960633" cy="1125839"/>
            </a:xfrm>
          </p:grpSpPr>
          <p:grpSp>
            <p:nvGrpSpPr>
              <p:cNvPr id="776" name="그룹 775"/>
              <p:cNvGrpSpPr/>
              <p:nvPr/>
            </p:nvGrpSpPr>
            <p:grpSpPr>
              <a:xfrm>
                <a:off x="823099" y="9071358"/>
                <a:ext cx="1404000" cy="1125838"/>
                <a:chOff x="538711" y="9071358"/>
                <a:chExt cx="1404000" cy="1125838"/>
              </a:xfrm>
            </p:grpSpPr>
            <p:sp>
              <p:nvSpPr>
                <p:cNvPr id="786" name="모서리가 둥근 직사각형 785"/>
                <p:cNvSpPr/>
                <p:nvPr/>
              </p:nvSpPr>
              <p:spPr>
                <a:xfrm>
                  <a:off x="538711" y="9151459"/>
                  <a:ext cx="1404000" cy="1045737"/>
                </a:xfrm>
                <a:prstGeom prst="roundRect">
                  <a:avLst>
                    <a:gd name="adj" fmla="val 1484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비용절감</a:t>
                  </a:r>
                  <a:endParaRPr lang="en-US" altLang="ko-KR" sz="1300" dirty="0" smtClean="0">
                    <a:solidFill>
                      <a:schemeClr val="bg2">
                        <a:lumMod val="25000"/>
                      </a:schemeClr>
                    </a:solidFill>
                    <a:latin typeface="+mn-ea"/>
                  </a:endParaRPr>
                </a:p>
                <a:p>
                  <a:pPr algn="ctr"/>
                  <a:r>
                    <a:rPr lang="en-US" altLang="ko-KR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(30~50%)</a:t>
                  </a:r>
                  <a:endParaRPr lang="ko-KR" altLang="en-US" sz="1300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787" name="타원 786"/>
                <p:cNvSpPr/>
                <p:nvPr/>
              </p:nvSpPr>
              <p:spPr>
                <a:xfrm>
                  <a:off x="1165464" y="9071358"/>
                  <a:ext cx="150494" cy="150494"/>
                </a:xfrm>
                <a:prstGeom prst="ellipse">
                  <a:avLst/>
                </a:prstGeom>
                <a:solidFill>
                  <a:srgbClr val="F377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</p:grpSp>
          <p:grpSp>
            <p:nvGrpSpPr>
              <p:cNvPr id="777" name="그룹 776"/>
              <p:cNvGrpSpPr/>
              <p:nvPr/>
            </p:nvGrpSpPr>
            <p:grpSpPr>
              <a:xfrm>
                <a:off x="3824855" y="9071358"/>
                <a:ext cx="1440000" cy="1125839"/>
                <a:chOff x="3817971" y="9071358"/>
                <a:chExt cx="1440000" cy="1125839"/>
              </a:xfrm>
            </p:grpSpPr>
            <p:sp>
              <p:nvSpPr>
                <p:cNvPr id="784" name="모서리가 둥근 직사각형 783"/>
                <p:cNvSpPr/>
                <p:nvPr/>
              </p:nvSpPr>
              <p:spPr>
                <a:xfrm>
                  <a:off x="3817971" y="9151460"/>
                  <a:ext cx="1440000" cy="1045737"/>
                </a:xfrm>
                <a:prstGeom prst="roundRect">
                  <a:avLst>
                    <a:gd name="adj" fmla="val 1484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130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생산성 </a:t>
                  </a:r>
                  <a:r>
                    <a:rPr lang="ko-KR" altLang="en-US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향상</a:t>
                  </a:r>
                </a:p>
                <a:p>
                  <a:pPr algn="ctr"/>
                  <a:r>
                    <a:rPr lang="en-US" altLang="ko-KR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(</a:t>
                  </a:r>
                  <a:r>
                    <a:rPr lang="ko-KR" altLang="en-US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수작업 대비 </a:t>
                  </a:r>
                  <a:r>
                    <a:rPr lang="en-US" altLang="ko-KR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/>
                  </a:r>
                  <a:br>
                    <a:rPr lang="en-US" altLang="ko-KR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</a:br>
                  <a:r>
                    <a:rPr lang="en-US" altLang="ko-KR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2~5</a:t>
                  </a:r>
                  <a:r>
                    <a:rPr lang="ko-KR" altLang="en-US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배</a:t>
                  </a:r>
                  <a:r>
                    <a:rPr lang="en-US" altLang="ko-KR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)</a:t>
                  </a:r>
                  <a:endParaRPr lang="ko-KR" altLang="en-US" sz="1300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785" name="타원 784"/>
                <p:cNvSpPr/>
                <p:nvPr/>
              </p:nvSpPr>
              <p:spPr>
                <a:xfrm>
                  <a:off x="4462724" y="9071358"/>
                  <a:ext cx="150494" cy="150494"/>
                </a:xfrm>
                <a:prstGeom prst="ellipse">
                  <a:avLst/>
                </a:prstGeom>
                <a:solidFill>
                  <a:srgbClr val="F377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</p:grpSp>
          <p:grpSp>
            <p:nvGrpSpPr>
              <p:cNvPr id="778" name="그룹 777"/>
              <p:cNvGrpSpPr/>
              <p:nvPr/>
            </p:nvGrpSpPr>
            <p:grpSpPr>
              <a:xfrm>
                <a:off x="2305977" y="9071358"/>
                <a:ext cx="1440000" cy="1125839"/>
                <a:chOff x="2178341" y="9071358"/>
                <a:chExt cx="1440000" cy="1125839"/>
              </a:xfrm>
            </p:grpSpPr>
            <p:sp>
              <p:nvSpPr>
                <p:cNvPr id="782" name="모서리가 둥근 직사각형 781"/>
                <p:cNvSpPr/>
                <p:nvPr/>
              </p:nvSpPr>
              <p:spPr>
                <a:xfrm>
                  <a:off x="2178341" y="9151460"/>
                  <a:ext cx="1440000" cy="1045737"/>
                </a:xfrm>
                <a:prstGeom prst="roundRect">
                  <a:avLst>
                    <a:gd name="adj" fmla="val 1484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효율적</a:t>
                  </a:r>
                  <a:endParaRPr lang="en-US" altLang="ko-KR" sz="1300" dirty="0" smtClean="0">
                    <a:solidFill>
                      <a:schemeClr val="bg2">
                        <a:lumMod val="25000"/>
                      </a:schemeClr>
                    </a:solidFill>
                    <a:latin typeface="+mn-ea"/>
                  </a:endParaRPr>
                </a:p>
                <a:p>
                  <a:pPr algn="ctr"/>
                  <a:r>
                    <a:rPr lang="ko-KR" altLang="en-US" sz="1300" dirty="0" smtClean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자원활용</a:t>
                  </a:r>
                  <a:endParaRPr lang="ko-KR" altLang="en-US" sz="1300" dirty="0">
                    <a:solidFill>
                      <a:schemeClr val="bg2">
                        <a:lumMod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783" name="타원 782"/>
                <p:cNvSpPr/>
                <p:nvPr/>
              </p:nvSpPr>
              <p:spPr>
                <a:xfrm>
                  <a:off x="2823094" y="9071358"/>
                  <a:ext cx="150494" cy="150494"/>
                </a:xfrm>
                <a:prstGeom prst="ellipse">
                  <a:avLst/>
                </a:prstGeom>
                <a:solidFill>
                  <a:srgbClr val="18AA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</p:grpSp>
          <p:grpSp>
            <p:nvGrpSpPr>
              <p:cNvPr id="779" name="그룹 778"/>
              <p:cNvGrpSpPr/>
              <p:nvPr/>
            </p:nvGrpSpPr>
            <p:grpSpPr>
              <a:xfrm>
                <a:off x="5343732" y="9071358"/>
                <a:ext cx="1440000" cy="1125839"/>
                <a:chOff x="5457602" y="9071358"/>
                <a:chExt cx="1440000" cy="1125839"/>
              </a:xfrm>
            </p:grpSpPr>
            <p:sp>
              <p:nvSpPr>
                <p:cNvPr id="780" name="모서리가 둥근 직사각형 779"/>
                <p:cNvSpPr/>
                <p:nvPr/>
              </p:nvSpPr>
              <p:spPr>
                <a:xfrm>
                  <a:off x="5457602" y="9151460"/>
                  <a:ext cx="1440000" cy="1045737"/>
                </a:xfrm>
                <a:prstGeom prst="roundRect">
                  <a:avLst>
                    <a:gd name="adj" fmla="val 1484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데이터</a:t>
                  </a:r>
                </a:p>
                <a:p>
                  <a:pPr algn="ctr"/>
                  <a:r>
                    <a:rPr lang="ko-KR" altLang="en-US" sz="1300" dirty="0">
                      <a:solidFill>
                        <a:schemeClr val="bg2">
                          <a:lumMod val="25000"/>
                        </a:schemeClr>
                      </a:solidFill>
                      <a:latin typeface="+mn-ea"/>
                    </a:rPr>
                    <a:t>보안 강화</a:t>
                  </a:r>
                </a:p>
              </p:txBody>
            </p:sp>
            <p:sp>
              <p:nvSpPr>
                <p:cNvPr id="781" name="타원 780"/>
                <p:cNvSpPr/>
                <p:nvPr/>
              </p:nvSpPr>
              <p:spPr>
                <a:xfrm>
                  <a:off x="6102355" y="9071358"/>
                  <a:ext cx="150494" cy="150494"/>
                </a:xfrm>
                <a:prstGeom prst="ellipse">
                  <a:avLst/>
                </a:prstGeom>
                <a:solidFill>
                  <a:srgbClr val="18AA8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</p:grpSp>
        </p:grpSp>
        <p:grpSp>
          <p:nvGrpSpPr>
            <p:cNvPr id="789" name="그룹 788"/>
            <p:cNvGrpSpPr/>
            <p:nvPr/>
          </p:nvGrpSpPr>
          <p:grpSpPr>
            <a:xfrm>
              <a:off x="799521" y="7110102"/>
              <a:ext cx="5960633" cy="1980934"/>
              <a:chOff x="823099" y="7110102"/>
              <a:chExt cx="5960633" cy="1980934"/>
            </a:xfrm>
          </p:grpSpPr>
          <p:sp>
            <p:nvSpPr>
              <p:cNvPr id="790" name="모서리가 둥근 직사각형 789"/>
              <p:cNvSpPr/>
              <p:nvPr/>
            </p:nvSpPr>
            <p:spPr>
              <a:xfrm>
                <a:off x="823099" y="7475630"/>
                <a:ext cx="5921559" cy="121864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pic>
            <p:nvPicPr>
              <p:cNvPr id="791" name="그림 79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20932" y="7232100"/>
                <a:ext cx="2962800" cy="1858936"/>
              </a:xfrm>
              <a:prstGeom prst="rect">
                <a:avLst/>
              </a:prstGeom>
            </p:spPr>
          </p:pic>
          <p:pic>
            <p:nvPicPr>
              <p:cNvPr id="792" name="그림 79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3099" y="7238522"/>
                <a:ext cx="2961962" cy="1852514"/>
              </a:xfrm>
              <a:prstGeom prst="rect">
                <a:avLst/>
              </a:prstGeom>
            </p:spPr>
          </p:pic>
          <p:pic>
            <p:nvPicPr>
              <p:cNvPr id="793" name="그림 79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49228" y="7692452"/>
                <a:ext cx="1160188" cy="682715"/>
              </a:xfrm>
              <a:prstGeom prst="rect">
                <a:avLst/>
              </a:prstGeom>
            </p:spPr>
          </p:pic>
          <p:pic>
            <p:nvPicPr>
              <p:cNvPr id="794" name="그림 793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00093" y="7772400"/>
                <a:ext cx="423968" cy="259680"/>
              </a:xfrm>
              <a:prstGeom prst="rect">
                <a:avLst/>
              </a:prstGeom>
            </p:spPr>
          </p:pic>
          <p:pic>
            <p:nvPicPr>
              <p:cNvPr id="795" name="그림 79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00093" y="8115300"/>
                <a:ext cx="423968" cy="259680"/>
              </a:xfrm>
              <a:prstGeom prst="rect">
                <a:avLst/>
              </a:prstGeom>
            </p:spPr>
          </p:pic>
          <p:sp>
            <p:nvSpPr>
              <p:cNvPr id="796" name="직사각형 795"/>
              <p:cNvSpPr/>
              <p:nvPr/>
            </p:nvSpPr>
            <p:spPr>
              <a:xfrm>
                <a:off x="2895138" y="7110102"/>
                <a:ext cx="1805989" cy="3960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799" name="TextBox 798"/>
              <p:cNvSpPr txBox="1"/>
              <p:nvPr/>
            </p:nvSpPr>
            <p:spPr>
              <a:xfrm>
                <a:off x="2628960" y="7833096"/>
                <a:ext cx="660389" cy="2148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ko-KR" altLang="en-US" sz="1000" spc="-7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반복업무</a:t>
                </a:r>
                <a:endParaRPr lang="ko-KR" altLang="en-US" sz="1000" spc="-7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00" name="TextBox 799"/>
              <p:cNvSpPr txBox="1"/>
              <p:nvPr/>
            </p:nvSpPr>
            <p:spPr>
              <a:xfrm>
                <a:off x="2108465" y="8086373"/>
                <a:ext cx="1565689" cy="2148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en-US" altLang="ko-KR" sz="1000" b="1" spc="-70" dirty="0">
                    <a:solidFill>
                      <a:srgbClr val="F26032"/>
                    </a:solidFill>
                    <a:latin typeface="+mn-ea"/>
                    <a:ea typeface="+mn-ea"/>
                  </a:rPr>
                  <a:t>Digital Workforce</a:t>
                </a:r>
                <a:endParaRPr lang="ko-KR" altLang="en-US" sz="1000" b="1" spc="-70" dirty="0">
                  <a:solidFill>
                    <a:srgbClr val="F26032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01" name="TextBox 800"/>
              <p:cNvSpPr txBox="1"/>
              <p:nvPr/>
            </p:nvSpPr>
            <p:spPr>
              <a:xfrm>
                <a:off x="3780693" y="7858272"/>
                <a:ext cx="1195354" cy="2148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algn="r">
                  <a:defRPr sz="1300" b="1" spc="-70">
                    <a:solidFill>
                      <a:srgbClr val="F26032"/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</a:lstStyle>
              <a:p>
                <a:pPr algn="l"/>
                <a:r>
                  <a:rPr lang="ko-KR" altLang="en-US" sz="1000" dirty="0">
                    <a:latin typeface="+mn-ea"/>
                    <a:ea typeface="+mn-ea"/>
                  </a:rPr>
                  <a:t>고부가가치 업무</a:t>
                </a:r>
              </a:p>
            </p:txBody>
          </p:sp>
          <p:sp>
            <p:nvSpPr>
              <p:cNvPr id="802" name="TextBox 801"/>
              <p:cNvSpPr txBox="1"/>
              <p:nvPr/>
            </p:nvSpPr>
            <p:spPr>
              <a:xfrm>
                <a:off x="3780693" y="8054152"/>
                <a:ext cx="1565689" cy="2792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>
                  <a:defRPr sz="1300" spc="-70">
                    <a:solidFill>
                      <a:srgbClr val="18AA86"/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</a:lstStyle>
              <a:p>
                <a:pPr algn="l"/>
                <a:r>
                  <a:rPr lang="en-US" altLang="ko-KR" dirty="0">
                    <a:latin typeface="+mn-ea"/>
                    <a:ea typeface="+mn-ea"/>
                  </a:rPr>
                  <a:t>Human Resource</a:t>
                </a:r>
              </a:p>
            </p:txBody>
          </p:sp>
          <p:pic>
            <p:nvPicPr>
              <p:cNvPr id="803" name="그림 80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9457" y="7659422"/>
                <a:ext cx="817200" cy="800263"/>
              </a:xfrm>
              <a:prstGeom prst="rect">
                <a:avLst/>
              </a:prstGeom>
            </p:spPr>
          </p:pic>
          <p:pic>
            <p:nvPicPr>
              <p:cNvPr id="804" name="그림 803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5929" y="7874618"/>
                <a:ext cx="431767" cy="471470"/>
              </a:xfrm>
              <a:prstGeom prst="rect">
                <a:avLst/>
              </a:prstGeom>
            </p:spPr>
          </p:pic>
        </p:grpSp>
        <p:grpSp>
          <p:nvGrpSpPr>
            <p:cNvPr id="805" name="그룹 804"/>
            <p:cNvGrpSpPr/>
            <p:nvPr/>
          </p:nvGrpSpPr>
          <p:grpSpPr>
            <a:xfrm>
              <a:off x="2339837" y="6497251"/>
              <a:ext cx="2880000" cy="1071920"/>
              <a:chOff x="2385507" y="6497251"/>
              <a:chExt cx="2880000" cy="1071920"/>
            </a:xfrm>
          </p:grpSpPr>
          <p:sp>
            <p:nvSpPr>
              <p:cNvPr id="806" name="아래쪽 화살표 805"/>
              <p:cNvSpPr/>
              <p:nvPr/>
            </p:nvSpPr>
            <p:spPr>
              <a:xfrm>
                <a:off x="2385507" y="6497251"/>
                <a:ext cx="2880000" cy="1071920"/>
              </a:xfrm>
              <a:prstGeom prst="downArrow">
                <a:avLst>
                  <a:gd name="adj1" fmla="val 64487"/>
                  <a:gd name="adj2" fmla="val 43914"/>
                </a:avLst>
              </a:prstGeom>
              <a:gradFill>
                <a:gsLst>
                  <a:gs pos="0">
                    <a:srgbClr val="5F6867"/>
                  </a:gs>
                  <a:gs pos="54000">
                    <a:srgbClr val="3A4546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807" name="TextBox 806"/>
              <p:cNvSpPr txBox="1"/>
              <p:nvPr/>
            </p:nvSpPr>
            <p:spPr>
              <a:xfrm>
                <a:off x="3013764" y="6718331"/>
                <a:ext cx="1623485" cy="4382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ko-KR" sz="1700" spc="-7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RPA </a:t>
                </a:r>
                <a:r>
                  <a:rPr lang="ko-KR" altLang="en-US" sz="1700" spc="-7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적용</a:t>
                </a:r>
                <a:endParaRPr lang="ko-KR" altLang="en-US" sz="1700" spc="-7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811" name="그룹 810"/>
            <p:cNvGrpSpPr/>
            <p:nvPr/>
          </p:nvGrpSpPr>
          <p:grpSpPr>
            <a:xfrm>
              <a:off x="819058" y="5446806"/>
              <a:ext cx="6315972" cy="1062232"/>
              <a:chOff x="823099" y="5446806"/>
              <a:chExt cx="6315972" cy="1062232"/>
            </a:xfrm>
          </p:grpSpPr>
          <p:sp>
            <p:nvSpPr>
              <p:cNvPr id="812" name="모서리가 둥근 직사각형 811"/>
              <p:cNvSpPr/>
              <p:nvPr/>
            </p:nvSpPr>
            <p:spPr>
              <a:xfrm>
                <a:off x="823099" y="5446806"/>
                <a:ext cx="5921559" cy="1062232"/>
              </a:xfrm>
              <a:prstGeom prst="roundRect">
                <a:avLst>
                  <a:gd name="adj" fmla="val 50000"/>
                </a:avLst>
              </a:prstGeom>
              <a:solidFill>
                <a:srgbClr val="F6F6F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pic>
            <p:nvPicPr>
              <p:cNvPr id="813" name="그림 812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98035" y="5580083"/>
                <a:ext cx="647943" cy="774552"/>
              </a:xfrm>
              <a:prstGeom prst="rect">
                <a:avLst/>
              </a:prstGeom>
            </p:spPr>
          </p:pic>
          <p:sp>
            <p:nvSpPr>
              <p:cNvPr id="814" name="TextBox 813"/>
              <p:cNvSpPr txBox="1"/>
              <p:nvPr/>
            </p:nvSpPr>
            <p:spPr>
              <a:xfrm>
                <a:off x="2234749" y="5773740"/>
                <a:ext cx="660389" cy="2148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ko-KR" altLang="en-US" sz="1000" b="1" spc="-7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반복업무</a:t>
                </a:r>
                <a:endParaRPr lang="ko-KR" altLang="en-US" sz="1000" b="1" spc="-7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15" name="TextBox 814"/>
              <p:cNvSpPr txBox="1"/>
              <p:nvPr/>
            </p:nvSpPr>
            <p:spPr>
              <a:xfrm>
                <a:off x="3764341" y="6045478"/>
                <a:ext cx="3374730" cy="193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ko-KR" altLang="en-US" spc="-7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절차적 업무</a:t>
                </a:r>
                <a:r>
                  <a:rPr lang="en-US" altLang="ko-KR" spc="-7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/ </a:t>
                </a:r>
                <a:r>
                  <a:rPr lang="ko-KR" altLang="en-US" spc="-7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복합적 업무</a:t>
                </a:r>
                <a:r>
                  <a:rPr lang="en-US" altLang="ko-KR" spc="-7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/</a:t>
                </a:r>
                <a:r>
                  <a:rPr lang="ko-KR" altLang="en-US" spc="-7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고난이도 </a:t>
                </a:r>
                <a:r>
                  <a:rPr lang="ko-KR" altLang="en-US" spc="-7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</a:rPr>
                  <a:t>업무 </a:t>
                </a:r>
                <a:endParaRPr lang="ko-KR" altLang="en-US" spc="-7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816" name="그림 815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52045" y="5653558"/>
                <a:ext cx="654419" cy="300389"/>
              </a:xfrm>
              <a:prstGeom prst="rect">
                <a:avLst/>
              </a:prstGeom>
            </p:spPr>
          </p:pic>
          <p:pic>
            <p:nvPicPr>
              <p:cNvPr id="817" name="그림 816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67969" y="5653558"/>
                <a:ext cx="654419" cy="300389"/>
              </a:xfrm>
              <a:prstGeom prst="rect">
                <a:avLst/>
              </a:prstGeom>
            </p:spPr>
          </p:pic>
          <p:pic>
            <p:nvPicPr>
              <p:cNvPr id="818" name="그림 817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83893" y="5653558"/>
                <a:ext cx="654419" cy="300389"/>
              </a:xfrm>
              <a:prstGeom prst="rect">
                <a:avLst/>
              </a:prstGeom>
            </p:spPr>
          </p:pic>
          <p:sp>
            <p:nvSpPr>
              <p:cNvPr id="819" name="TextBox 818"/>
              <p:cNvSpPr txBox="1"/>
              <p:nvPr/>
            </p:nvSpPr>
            <p:spPr>
              <a:xfrm>
                <a:off x="1782100" y="5959553"/>
                <a:ext cx="1565689" cy="2792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>
                  <a:defRPr sz="9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다음_Regular" panose="02000603060000000000" pitchFamily="2" charset="-127"/>
                    <a:ea typeface="다음_Regular" panose="02000603060000000000" pitchFamily="2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altLang="ko-KR" sz="1300" spc="-70" dirty="0">
                    <a:solidFill>
                      <a:srgbClr val="18AA86"/>
                    </a:solidFill>
                    <a:latin typeface="+mn-ea"/>
                    <a:ea typeface="+mn-ea"/>
                  </a:rPr>
                  <a:t>Human Resource</a:t>
                </a:r>
                <a:endParaRPr lang="ko-KR" altLang="en-US" sz="1300" spc="-70" dirty="0">
                  <a:solidFill>
                    <a:srgbClr val="18AA86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820" name="그림 819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05020" y="5599064"/>
                <a:ext cx="757717" cy="75771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8335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en-US" altLang="ko-KR" sz="1600" smtClean="0"/>
              <a:t>3.1 RCA(Robotic Coding Automation)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2.4.4 </a:t>
            </a:r>
            <a:r>
              <a:rPr lang="ko-KR" altLang="en-US" sz="1800" smtClean="0"/>
              <a:t>적용가능 기술</a:t>
            </a:r>
            <a:r>
              <a:rPr lang="en-US" altLang="ko-KR" sz="1800" smtClean="0"/>
              <a:t>(3/6)</a:t>
            </a:r>
            <a:r>
              <a:rPr lang="ko-KR" altLang="en-US" sz="1800" smtClean="0"/>
              <a:t>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sp>
        <p:nvSpPr>
          <p:cNvPr id="72" name="직사각형 71"/>
          <p:cNvSpPr/>
          <p:nvPr/>
        </p:nvSpPr>
        <p:spPr>
          <a:xfrm>
            <a:off x="801141" y="1318070"/>
            <a:ext cx="1508391" cy="1333074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</a:schemeClr>
              </a:gs>
              <a:gs pos="47000">
                <a:schemeClr val="bg1"/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3600000" scaled="0"/>
            <a:tileRect/>
          </a:gradFill>
          <a:ln/>
          <a:effectLst>
            <a:glow rad="622300">
              <a:schemeClr val="bg1">
                <a:alpha val="23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endParaRPr lang="ko-KR" altLang="en-US" sz="1050" b="1" spc="-10" smtClean="0">
              <a:solidFill>
                <a:schemeClr val="bg1"/>
              </a:solidFill>
              <a:cs typeface="맑은 고딕"/>
            </a:endParaRPr>
          </a:p>
        </p:txBody>
      </p:sp>
      <p:pic>
        <p:nvPicPr>
          <p:cNvPr id="73" name="Picture 203" descr="comp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4858" y="1272552"/>
            <a:ext cx="170309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73"/>
          <p:cNvSpPr txBox="1"/>
          <p:nvPr/>
        </p:nvSpPr>
        <p:spPr>
          <a:xfrm>
            <a:off x="2623701" y="1196752"/>
            <a:ext cx="6742615" cy="1643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u="sng" smtClean="0"/>
              <a:t>RCA</a:t>
            </a:r>
            <a:r>
              <a:rPr lang="ko-KR" altLang="en-US" sz="1400" b="1" u="sng" smtClean="0"/>
              <a:t>는 </a:t>
            </a:r>
            <a:r>
              <a:rPr lang="ko-KR" altLang="en-US" sz="1400" b="1" u="sng" smtClean="0">
                <a:solidFill>
                  <a:srgbClr val="0000FF"/>
                </a:solidFill>
              </a:rPr>
              <a:t>로봇에 </a:t>
            </a:r>
            <a:r>
              <a:rPr lang="ko-KR" altLang="en-US" sz="1400" b="1" u="sng">
                <a:solidFill>
                  <a:srgbClr val="0000FF"/>
                </a:solidFill>
              </a:rPr>
              <a:t>의한 코딩 </a:t>
            </a:r>
            <a:r>
              <a:rPr lang="ko-KR" altLang="en-US" sz="1400" b="1" u="sng" smtClean="0">
                <a:solidFill>
                  <a:srgbClr val="0000FF"/>
                </a:solidFill>
              </a:rPr>
              <a:t>자동화</a:t>
            </a:r>
            <a:r>
              <a:rPr lang="ko-KR" altLang="en-US" sz="1400" b="1" u="sng" smtClean="0"/>
              <a:t>를 </a:t>
            </a:r>
            <a:r>
              <a:rPr lang="ko-KR" altLang="en-US" sz="1400" b="1" u="sng"/>
              <a:t>의미하며</a:t>
            </a:r>
            <a:r>
              <a:rPr lang="en-US" altLang="ko-KR" sz="1400" b="1" u="sng"/>
              <a:t>, </a:t>
            </a:r>
          </a:p>
          <a:p>
            <a:pPr>
              <a:lnSpc>
                <a:spcPct val="120000"/>
              </a:lnSpc>
            </a:pPr>
            <a:r>
              <a:rPr lang="ko-KR" altLang="en-US" sz="1400" b="1" u="sng">
                <a:solidFill>
                  <a:srgbClr val="000066"/>
                </a:solidFill>
              </a:rPr>
              <a:t>협의</a:t>
            </a:r>
            <a:r>
              <a:rPr lang="ko-KR" altLang="en-US" sz="1400" b="1" u="sng"/>
              <a:t>로는 화면을 구성하는 객체의 표준화 설정 작업 및 화면 설계 작업에 의해 </a:t>
            </a:r>
            <a:endParaRPr lang="en-US" altLang="ko-KR" sz="1400" b="1" u="sng" smtClean="0"/>
          </a:p>
          <a:p>
            <a:pPr>
              <a:lnSpc>
                <a:spcPct val="120000"/>
              </a:lnSpc>
            </a:pPr>
            <a:r>
              <a:rPr lang="ko-KR" altLang="en-US" sz="1400" b="1" u="sng" smtClean="0">
                <a:solidFill>
                  <a:srgbClr val="0000FF"/>
                </a:solidFill>
              </a:rPr>
              <a:t>프로그램을 </a:t>
            </a:r>
            <a:r>
              <a:rPr lang="ko-KR" altLang="en-US" sz="1400" b="1" u="sng">
                <a:solidFill>
                  <a:srgbClr val="0000FF"/>
                </a:solidFill>
              </a:rPr>
              <a:t>자동으로 생성하는 </a:t>
            </a:r>
            <a:r>
              <a:rPr lang="ko-KR" altLang="en-US" sz="1400" b="1" u="sng" smtClean="0">
                <a:solidFill>
                  <a:srgbClr val="0000FF"/>
                </a:solidFill>
              </a:rPr>
              <a:t>기능</a:t>
            </a:r>
            <a:r>
              <a:rPr lang="ko-KR" altLang="en-US" sz="1400" b="1" u="sng" smtClean="0"/>
              <a:t>이다</a:t>
            </a:r>
            <a:r>
              <a:rPr lang="en-US" altLang="ko-KR" sz="1400" b="1" u="sng" smtClean="0"/>
              <a:t>.</a:t>
            </a:r>
            <a:endParaRPr lang="en-US" altLang="ko-KR" sz="1400" b="1" u="sng"/>
          </a:p>
          <a:p>
            <a:pPr>
              <a:lnSpc>
                <a:spcPct val="120000"/>
              </a:lnSpc>
            </a:pPr>
            <a:r>
              <a:rPr lang="ko-KR" altLang="en-US" sz="1400" b="1" u="sng">
                <a:solidFill>
                  <a:srgbClr val="000066"/>
                </a:solidFill>
              </a:rPr>
              <a:t>광의</a:t>
            </a:r>
            <a:r>
              <a:rPr lang="ko-KR" altLang="en-US" sz="1400" b="1" u="sng"/>
              <a:t>로는 코딩 자동화를 위한 </a:t>
            </a:r>
            <a:r>
              <a:rPr lang="en-US" altLang="ko-KR" sz="1400" b="1" u="sng"/>
              <a:t>RCA </a:t>
            </a:r>
            <a:r>
              <a:rPr lang="ko-KR" altLang="en-US" sz="1400" b="1" u="sng"/>
              <a:t>표준 설정</a:t>
            </a:r>
            <a:r>
              <a:rPr lang="en-US" altLang="ko-KR" sz="1400" b="1" u="sng"/>
              <a:t>, RCA </a:t>
            </a:r>
            <a:r>
              <a:rPr lang="ko-KR" altLang="en-US" sz="1400" b="1" u="sng"/>
              <a:t>설계</a:t>
            </a:r>
            <a:r>
              <a:rPr lang="en-US" altLang="ko-KR" sz="1400" b="1" u="sng"/>
              <a:t>, RCA </a:t>
            </a:r>
            <a:r>
              <a:rPr lang="ko-KR" altLang="en-US" sz="1400" b="1" u="sng"/>
              <a:t>구현</a:t>
            </a:r>
            <a:r>
              <a:rPr lang="en-US" altLang="ko-KR" sz="1400" b="1" u="sng"/>
              <a:t>, </a:t>
            </a:r>
            <a:r>
              <a:rPr lang="ko-KR" altLang="en-US" sz="1400" b="1" u="sng"/>
              <a:t>테스트</a:t>
            </a:r>
            <a:r>
              <a:rPr lang="en-US" altLang="ko-KR" sz="1400" b="1" u="sng"/>
              <a:t>, </a:t>
            </a:r>
            <a:r>
              <a:rPr lang="ko-KR" altLang="en-US" sz="1400" b="1" u="sng"/>
              <a:t>운영 </a:t>
            </a:r>
            <a:endParaRPr lang="en-US" altLang="ko-KR" sz="1400" b="1" u="sng" smtClean="0"/>
          </a:p>
          <a:p>
            <a:pPr>
              <a:lnSpc>
                <a:spcPct val="120000"/>
              </a:lnSpc>
            </a:pPr>
            <a:r>
              <a:rPr lang="ko-KR" altLang="en-US" sz="1400" b="1" u="sng" smtClean="0"/>
              <a:t>등의 </a:t>
            </a:r>
            <a:r>
              <a:rPr lang="ko-KR" altLang="en-US" sz="1400" b="1" u="sng"/>
              <a:t>각 단계에서 수행하는 개발 절차에 의해 프로그램 코딩은 물론 산출물까지 </a:t>
            </a:r>
            <a:endParaRPr lang="en-US" altLang="ko-KR" sz="1400" b="1" u="sng" smtClean="0"/>
          </a:p>
          <a:p>
            <a:pPr>
              <a:lnSpc>
                <a:spcPct val="120000"/>
              </a:lnSpc>
            </a:pPr>
            <a:r>
              <a:rPr lang="ko-KR" altLang="en-US" sz="1400" b="1" u="sng" smtClean="0"/>
              <a:t>자동으로 </a:t>
            </a:r>
            <a:r>
              <a:rPr lang="ko-KR" altLang="en-US" sz="1400" b="1" u="sng"/>
              <a:t>생성하는 일련의 작업을 포함하는 </a:t>
            </a:r>
            <a:r>
              <a:rPr lang="ko-KR" altLang="en-US" sz="1400" b="1" u="sng" smtClean="0">
                <a:solidFill>
                  <a:srgbClr val="0000FF"/>
                </a:solidFill>
              </a:rPr>
              <a:t>개발방법론</a:t>
            </a:r>
            <a:r>
              <a:rPr lang="ko-KR" altLang="en-US" sz="1400" b="1" u="sng" smtClean="0"/>
              <a:t>이다</a:t>
            </a:r>
            <a:r>
              <a:rPr lang="en-US" altLang="ko-KR" sz="1400" b="1" u="sng"/>
              <a:t>.</a:t>
            </a:r>
            <a:endParaRPr lang="en-US" altLang="ko-KR" sz="1200" b="1" smtClean="0">
              <a:latin typeface="+mn-ea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55576" y="3302987"/>
            <a:ext cx="4499992" cy="3078341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8000" tIns="36000" rIns="108000" bIns="36000" rtlCol="0" anchor="ctr"/>
          <a:lstStyle/>
          <a:p>
            <a:pPr>
              <a:lnSpc>
                <a:spcPct val="110000"/>
              </a:lnSpc>
            </a:pPr>
            <a:r>
              <a:rPr lang="ko-KR" altLang="en-US" sz="1400" smtClean="0"/>
              <a:t>각 </a:t>
            </a:r>
            <a:r>
              <a:rPr lang="ko-KR" altLang="en-US" sz="1400"/>
              <a:t>개발 </a:t>
            </a:r>
            <a:r>
              <a:rPr lang="ko-KR" altLang="en-US" sz="1400" b="1"/>
              <a:t>단계별로 </a:t>
            </a:r>
            <a:r>
              <a:rPr lang="ko-KR" altLang="en-US" sz="1400" b="1" smtClean="0"/>
              <a:t>필요한 </a:t>
            </a:r>
            <a:r>
              <a:rPr lang="en-US" altLang="ko-KR" sz="1400" b="1" smtClean="0"/>
              <a:t>TOOL</a:t>
            </a:r>
            <a:r>
              <a:rPr lang="ko-KR" altLang="en-US" sz="1400"/>
              <a:t>을 도입하여 단계별 작업을 수행하고</a:t>
            </a:r>
            <a:r>
              <a:rPr lang="en-US" altLang="ko-KR" sz="1400"/>
              <a:t>, </a:t>
            </a:r>
            <a:r>
              <a:rPr lang="ko-KR" altLang="en-US" sz="1400" b="1"/>
              <a:t>산출물을 작성</a:t>
            </a:r>
            <a:r>
              <a:rPr lang="ko-KR" altLang="en-US" sz="1400"/>
              <a:t>하여</a:t>
            </a:r>
            <a:r>
              <a:rPr lang="en-US" altLang="ko-KR" sz="1400"/>
              <a:t>, </a:t>
            </a:r>
            <a:r>
              <a:rPr lang="ko-KR" altLang="en-US" sz="1400"/>
              <a:t>각 개발 시점별로 최적의 시스템을 구축하는 방법으로 진행되고 </a:t>
            </a:r>
            <a:r>
              <a:rPr lang="ko-KR" altLang="en-US" sz="1400" smtClean="0"/>
              <a:t>있으나</a:t>
            </a:r>
            <a:r>
              <a:rPr lang="en-US" altLang="ko-KR" sz="1400" smtClean="0"/>
              <a:t>, </a:t>
            </a:r>
            <a:r>
              <a:rPr lang="ko-KR" altLang="en-US" sz="1400"/>
              <a:t>분석</a:t>
            </a:r>
            <a:r>
              <a:rPr lang="en-US" altLang="ko-KR" sz="1400"/>
              <a:t>, </a:t>
            </a:r>
            <a:r>
              <a:rPr lang="ko-KR" altLang="en-US" sz="1400"/>
              <a:t>설계</a:t>
            </a:r>
            <a:r>
              <a:rPr lang="en-US" altLang="ko-KR" sz="1400"/>
              <a:t>, </a:t>
            </a:r>
            <a:r>
              <a:rPr lang="ko-KR" altLang="en-US" sz="1400"/>
              <a:t>구현</a:t>
            </a:r>
            <a:r>
              <a:rPr lang="en-US" altLang="ko-KR" sz="1400"/>
              <a:t>, </a:t>
            </a:r>
            <a:r>
              <a:rPr lang="ko-KR" altLang="en-US" sz="1400"/>
              <a:t>테스트 작업의 </a:t>
            </a:r>
            <a:r>
              <a:rPr lang="ko-KR" altLang="en-US" sz="1400" b="1"/>
              <a:t>단계별 수행자가 다르고</a:t>
            </a:r>
            <a:r>
              <a:rPr lang="en-US" altLang="ko-KR" sz="1400"/>
              <a:t>, </a:t>
            </a:r>
            <a:r>
              <a:rPr lang="ko-KR" altLang="en-US" sz="1400"/>
              <a:t>수행자의 </a:t>
            </a:r>
            <a:r>
              <a:rPr lang="ko-KR" altLang="en-US" sz="1400" b="1"/>
              <a:t>개인 역량 및 개성에 따라 </a:t>
            </a:r>
            <a:r>
              <a:rPr lang="ko-KR" altLang="en-US" sz="1400"/>
              <a:t>관리</a:t>
            </a:r>
            <a:r>
              <a:rPr lang="en-US" altLang="ko-KR" sz="1400"/>
              <a:t>POINT, </a:t>
            </a:r>
            <a:r>
              <a:rPr lang="ko-KR" altLang="en-US" sz="1400"/>
              <a:t>구성 객체의 형태</a:t>
            </a:r>
            <a:r>
              <a:rPr lang="en-US" altLang="ko-KR" sz="1400"/>
              <a:t>,  </a:t>
            </a:r>
            <a:r>
              <a:rPr lang="ko-KR" altLang="en-US" sz="1400"/>
              <a:t>구성 순서</a:t>
            </a:r>
            <a:r>
              <a:rPr lang="en-US" altLang="ko-KR" sz="1400"/>
              <a:t>, </a:t>
            </a:r>
            <a:r>
              <a:rPr lang="ko-KR" altLang="en-US" sz="1400"/>
              <a:t>표준 준수 상태 등의 </a:t>
            </a:r>
            <a:r>
              <a:rPr lang="ko-KR" altLang="en-US" sz="1400" b="1"/>
              <a:t>차이가 발생</a:t>
            </a:r>
            <a:r>
              <a:rPr lang="ko-KR" altLang="en-US" sz="1400"/>
              <a:t>할 우려가 많으며</a:t>
            </a:r>
            <a:r>
              <a:rPr lang="en-US" altLang="ko-KR" sz="1400"/>
              <a:t>, </a:t>
            </a:r>
            <a:r>
              <a:rPr lang="ko-KR" altLang="en-US" sz="1400"/>
              <a:t>수작업 위주로 관리됨으로써</a:t>
            </a:r>
            <a:r>
              <a:rPr lang="en-US" altLang="ko-KR" sz="1400"/>
              <a:t>, </a:t>
            </a:r>
            <a:r>
              <a:rPr lang="ko-KR" altLang="en-US" sz="1400"/>
              <a:t>개발 후 운영과정에서 발생하는 </a:t>
            </a:r>
            <a:r>
              <a:rPr lang="ko-KR" altLang="en-US" sz="1400" b="1"/>
              <a:t>각종 변경 요구에  즉시 대응</a:t>
            </a:r>
            <a:r>
              <a:rPr lang="ko-KR" altLang="en-US" sz="1400"/>
              <a:t>하기가 어렵다</a:t>
            </a:r>
            <a:r>
              <a:rPr lang="en-US" altLang="ko-KR" sz="1400"/>
              <a:t>. </a:t>
            </a:r>
            <a:r>
              <a:rPr lang="ko-KR" altLang="en-US" sz="1400"/>
              <a:t>또한</a:t>
            </a:r>
            <a:r>
              <a:rPr lang="en-US" altLang="ko-KR" sz="1400"/>
              <a:t>, </a:t>
            </a:r>
            <a:r>
              <a:rPr lang="ko-KR" altLang="en-US" sz="1400"/>
              <a:t>단계별 수행자가 달라질 경우 단계별 수행 결과가 후속 단계에 전달되는 과정에서 소요되는 </a:t>
            </a:r>
            <a:r>
              <a:rPr lang="ko-KR" altLang="en-US" sz="1400" b="1"/>
              <a:t>시간과 업무 </a:t>
            </a:r>
            <a:r>
              <a:rPr lang="en-US" altLang="ko-KR" sz="1400" b="1"/>
              <a:t>LOSS</a:t>
            </a:r>
            <a:r>
              <a:rPr lang="ko-KR" altLang="en-US" sz="1400"/>
              <a:t>로 인한 비용의 증가</a:t>
            </a:r>
            <a:r>
              <a:rPr lang="en-US" altLang="ko-KR" sz="1400"/>
              <a:t>, </a:t>
            </a:r>
            <a:r>
              <a:rPr lang="ko-KR" altLang="en-US" sz="1400" b="1"/>
              <a:t>품질의 저하</a:t>
            </a:r>
            <a:r>
              <a:rPr lang="ko-KR" altLang="en-US" sz="1400"/>
              <a:t>를 초래할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sp>
        <p:nvSpPr>
          <p:cNvPr id="77" name="직사각형 76"/>
          <p:cNvSpPr/>
          <p:nvPr/>
        </p:nvSpPr>
        <p:spPr>
          <a:xfrm>
            <a:off x="4917504" y="3302987"/>
            <a:ext cx="4499992" cy="307834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</a:schemeClr>
              </a:gs>
              <a:gs pos="98750">
                <a:srgbClr val="E8F0FF"/>
              </a:gs>
              <a:gs pos="97500">
                <a:srgbClr val="EBF2FF"/>
              </a:gs>
              <a:gs pos="95000">
                <a:srgbClr val="F0F5FF"/>
              </a:gs>
              <a:gs pos="0">
                <a:srgbClr val="EDF4FF">
                  <a:lumMod val="30000"/>
                  <a:lumOff val="70000"/>
                </a:srgbClr>
              </a:gs>
              <a:gs pos="100000">
                <a:schemeClr val="accent1">
                  <a:tint val="15000"/>
                  <a:satMod val="350000"/>
                </a:schemeClr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2000" tIns="36000" rIns="36000" bIns="36000" rtlCol="0" anchor="ctr"/>
          <a:lstStyle/>
          <a:p>
            <a:pPr>
              <a:lnSpc>
                <a:spcPct val="110000"/>
              </a:lnSpc>
            </a:pPr>
            <a:r>
              <a:rPr lang="ko-KR" altLang="en-US" sz="1400" smtClean="0"/>
              <a:t>요구사항을 충족하는 목표시스템을 구축하기 위한 분석 </a:t>
            </a:r>
            <a:r>
              <a:rPr lang="ko-KR" altLang="en-US" sz="1400"/>
              <a:t>과정에서 </a:t>
            </a:r>
            <a:r>
              <a:rPr lang="ko-KR" altLang="en-US" sz="1400" b="1" smtClean="0"/>
              <a:t>화면 유형</a:t>
            </a:r>
            <a:r>
              <a:rPr lang="en-US" altLang="ko-KR" sz="1400" b="1" smtClean="0"/>
              <a:t>, </a:t>
            </a:r>
            <a:r>
              <a:rPr lang="ko-KR" altLang="en-US" sz="1400" b="1" smtClean="0"/>
              <a:t>구성 객체</a:t>
            </a:r>
            <a:r>
              <a:rPr lang="en-US" altLang="ko-KR" sz="1400" b="1" smtClean="0"/>
              <a:t>, Object, </a:t>
            </a:r>
            <a:r>
              <a:rPr lang="ko-KR" altLang="en-US" sz="1400" b="1" smtClean="0"/>
              <a:t>기능 모듈의</a:t>
            </a:r>
            <a:r>
              <a:rPr lang="en-US" altLang="ko-KR" sz="1400" b="1" smtClean="0"/>
              <a:t> </a:t>
            </a:r>
            <a:r>
              <a:rPr lang="ko-KR" altLang="en-US" sz="1400" b="1" smtClean="0"/>
              <a:t>표준을 설정</a:t>
            </a:r>
            <a:r>
              <a:rPr lang="ko-KR" altLang="en-US" sz="1400" smtClean="0"/>
              <a:t>하고</a:t>
            </a:r>
            <a:r>
              <a:rPr lang="en-US" altLang="ko-KR" sz="1400" smtClean="0"/>
              <a:t>, </a:t>
            </a:r>
            <a:r>
              <a:rPr lang="ko-KR" altLang="en-US" sz="1400" smtClean="0"/>
              <a:t>업무분석 </a:t>
            </a:r>
            <a:r>
              <a:rPr lang="ko-KR" altLang="en-US" sz="1400"/>
              <a:t>결과를 </a:t>
            </a:r>
            <a:r>
              <a:rPr lang="en-US" altLang="ko-KR" sz="1400" b="1" smtClean="0">
                <a:solidFill>
                  <a:srgbClr val="BE4B48"/>
                </a:solidFill>
              </a:rPr>
              <a:t>RCA</a:t>
            </a:r>
            <a:r>
              <a:rPr lang="ko-KR" altLang="en-US" sz="1400" b="1" smtClean="0">
                <a:solidFill>
                  <a:srgbClr val="BE4B48"/>
                </a:solidFill>
              </a:rPr>
              <a:t>에 작업 정보</a:t>
            </a:r>
            <a:r>
              <a:rPr lang="ko-KR" altLang="en-US" sz="1400" smtClean="0"/>
              <a:t>로 제공하면</a:t>
            </a:r>
            <a:r>
              <a:rPr lang="en-US" altLang="ko-KR" sz="1400" smtClean="0"/>
              <a:t>, RCA</a:t>
            </a:r>
            <a:r>
              <a:rPr lang="ko-KR" altLang="en-US" sz="1400" smtClean="0"/>
              <a:t>는 설정된 </a:t>
            </a:r>
            <a:r>
              <a:rPr lang="ko-KR" altLang="en-US" sz="1400"/>
              <a:t>표준과 제</a:t>
            </a:r>
            <a:r>
              <a:rPr lang="ko-KR" altLang="en-US" sz="1400" smtClean="0"/>
              <a:t>공자료를 반영하여 </a:t>
            </a:r>
            <a:r>
              <a:rPr lang="ko-KR" altLang="en-US" sz="1400" b="1" smtClean="0"/>
              <a:t> </a:t>
            </a:r>
            <a:r>
              <a:rPr lang="ko-KR" altLang="en-US" sz="1400" b="1" smtClean="0">
                <a:solidFill>
                  <a:srgbClr val="0000FF"/>
                </a:solidFill>
              </a:rPr>
              <a:t>자동으로 코딩</a:t>
            </a:r>
            <a:r>
              <a:rPr lang="ko-KR" altLang="en-US" sz="1400" smtClean="0"/>
              <a:t>하고</a:t>
            </a:r>
            <a:r>
              <a:rPr lang="en-US" altLang="ko-KR" sz="1400" smtClean="0"/>
              <a:t>,</a:t>
            </a:r>
            <a:r>
              <a:rPr lang="ko-KR" altLang="en-US" sz="1400" b="1" smtClean="0"/>
              <a:t> </a:t>
            </a:r>
            <a:r>
              <a:rPr lang="ko-KR" altLang="en-US" sz="1400" smtClean="0"/>
              <a:t>설계자</a:t>
            </a:r>
            <a:r>
              <a:rPr lang="en-US" altLang="ko-KR" sz="1400" smtClean="0"/>
              <a:t>/</a:t>
            </a:r>
            <a:r>
              <a:rPr lang="ko-KR" altLang="en-US" sz="1400" smtClean="0"/>
              <a:t>사용자의 참여하에</a:t>
            </a:r>
            <a:r>
              <a:rPr lang="ko-KR" altLang="en-US" sz="1400" b="1" smtClean="0"/>
              <a:t> </a:t>
            </a:r>
            <a:r>
              <a:rPr lang="ko-KR" altLang="en-US" sz="1400" b="1" smtClean="0">
                <a:solidFill>
                  <a:srgbClr val="0000FF"/>
                </a:solidFill>
              </a:rPr>
              <a:t>테스트</a:t>
            </a:r>
            <a:r>
              <a:rPr lang="ko-KR" altLang="en-US" sz="1400" smtClean="0"/>
              <a:t>를 수행하면서</a:t>
            </a:r>
            <a:r>
              <a:rPr lang="en-US" altLang="ko-KR" sz="1400" smtClean="0"/>
              <a:t> </a:t>
            </a:r>
            <a:r>
              <a:rPr lang="ko-KR" altLang="en-US" sz="1400" smtClean="0"/>
              <a:t>추가 요구사항을 수렴하여 </a:t>
            </a:r>
            <a:r>
              <a:rPr lang="ko-KR" altLang="en-US" sz="1400" b="1" smtClean="0"/>
              <a:t>사용자 만족도와 완성도</a:t>
            </a:r>
            <a:r>
              <a:rPr lang="ko-KR" altLang="en-US" sz="1400" smtClean="0"/>
              <a:t>를 높이</a:t>
            </a:r>
            <a:r>
              <a:rPr lang="ko-KR" altLang="en-US" sz="1400"/>
              <a:t>며</a:t>
            </a:r>
            <a:r>
              <a:rPr lang="ko-KR" altLang="en-US" sz="1400" smtClean="0"/>
              <a:t> 부수적으로 </a:t>
            </a:r>
            <a:r>
              <a:rPr lang="ko-KR" altLang="en-US" sz="1400" b="1" smtClean="0">
                <a:solidFill>
                  <a:srgbClr val="0000FF"/>
                </a:solidFill>
              </a:rPr>
              <a:t>각종 </a:t>
            </a:r>
            <a:r>
              <a:rPr lang="ko-KR" altLang="en-US" sz="1400" b="1">
                <a:solidFill>
                  <a:srgbClr val="0000FF"/>
                </a:solidFill>
              </a:rPr>
              <a:t>산출물을 추출</a:t>
            </a:r>
            <a:r>
              <a:rPr lang="ko-KR" altLang="en-US" sz="1400"/>
              <a:t>함으로써 개발 업무의 </a:t>
            </a:r>
            <a:r>
              <a:rPr lang="ko-KR" altLang="en-US" sz="1400" b="1"/>
              <a:t>일관성과 표준화 준수</a:t>
            </a:r>
            <a:r>
              <a:rPr lang="en-US" altLang="ko-KR" sz="1400" b="1"/>
              <a:t>, </a:t>
            </a:r>
            <a:r>
              <a:rPr lang="ko-KR" altLang="en-US" sz="1400" b="1"/>
              <a:t>표준화에 의한 </a:t>
            </a:r>
            <a:r>
              <a:rPr lang="ko-KR" altLang="en-US" sz="1400" b="1" smtClean="0"/>
              <a:t>품질 보증</a:t>
            </a:r>
            <a:r>
              <a:rPr lang="en-US" altLang="ko-KR" sz="1400" b="1" smtClean="0"/>
              <a:t>, </a:t>
            </a:r>
            <a:r>
              <a:rPr lang="ko-KR" altLang="en-US" sz="1400" b="1" smtClean="0"/>
              <a:t>산출물 현행화 </a:t>
            </a:r>
            <a:r>
              <a:rPr lang="ko-KR" altLang="en-US" sz="1400" smtClean="0"/>
              <a:t>등의 </a:t>
            </a:r>
            <a:r>
              <a:rPr lang="ko-KR" altLang="en-US" sz="1400" smtClean="0">
                <a:solidFill>
                  <a:srgbClr val="C00000"/>
                </a:solidFill>
              </a:rPr>
              <a:t>정성적 효과</a:t>
            </a:r>
            <a:r>
              <a:rPr lang="ko-KR" altLang="en-US" sz="1400" smtClean="0"/>
              <a:t>와</a:t>
            </a:r>
            <a:r>
              <a:rPr lang="en-US" altLang="ko-KR" sz="1400" smtClean="0"/>
              <a:t>, </a:t>
            </a:r>
            <a:r>
              <a:rPr lang="ko-KR" altLang="en-US" sz="1400" smtClean="0"/>
              <a:t>프로젝트의 관리</a:t>
            </a:r>
            <a:r>
              <a:rPr lang="en-US" altLang="ko-KR" sz="1400" smtClean="0"/>
              <a:t>POINT </a:t>
            </a:r>
            <a:r>
              <a:rPr lang="ko-KR" altLang="en-US" sz="1400" smtClean="0"/>
              <a:t>단순화와 실시간 설계정보 관리로</a:t>
            </a:r>
            <a:r>
              <a:rPr lang="en-US" altLang="ko-KR" sz="1400" smtClean="0"/>
              <a:t> </a:t>
            </a:r>
            <a:r>
              <a:rPr lang="ko-KR" altLang="en-US" sz="1400" smtClean="0"/>
              <a:t>코딩</a:t>
            </a:r>
            <a:r>
              <a:rPr lang="en-US" altLang="ko-KR" sz="1400" smtClean="0"/>
              <a:t>/</a:t>
            </a:r>
            <a:r>
              <a:rPr lang="ko-KR" altLang="en-US" sz="1400" smtClean="0"/>
              <a:t>산출물 </a:t>
            </a:r>
            <a:r>
              <a:rPr lang="ko-KR" altLang="en-US" sz="1400"/>
              <a:t>작성에 요구되는 </a:t>
            </a:r>
            <a:r>
              <a:rPr lang="ko-KR" altLang="en-US" sz="1400" b="1"/>
              <a:t>시간과 </a:t>
            </a:r>
            <a:r>
              <a:rPr lang="en-US" altLang="ko-KR" sz="1400" b="1"/>
              <a:t>M/H</a:t>
            </a:r>
            <a:r>
              <a:rPr lang="ko-KR" altLang="en-US" sz="1400" b="1"/>
              <a:t>의 절감</a:t>
            </a:r>
            <a:r>
              <a:rPr lang="ko-KR" altLang="en-US" sz="1400"/>
              <a:t>으로 </a:t>
            </a:r>
            <a:r>
              <a:rPr lang="ko-KR" altLang="en-US" sz="1400" b="1"/>
              <a:t>납기 단축</a:t>
            </a:r>
            <a:r>
              <a:rPr lang="en-US" altLang="ko-KR" sz="1400" b="1"/>
              <a:t>, </a:t>
            </a:r>
            <a:r>
              <a:rPr lang="ko-KR" altLang="en-US" sz="1400" b="1"/>
              <a:t>비용절감</a:t>
            </a:r>
            <a:r>
              <a:rPr lang="ko-KR" altLang="en-US" sz="1400"/>
              <a:t>의 </a:t>
            </a:r>
            <a:r>
              <a:rPr lang="ko-KR" altLang="en-US" sz="1400" smtClean="0">
                <a:solidFill>
                  <a:srgbClr val="C00000"/>
                </a:solidFill>
              </a:rPr>
              <a:t>정량적 효과</a:t>
            </a:r>
            <a:r>
              <a:rPr lang="ko-KR" altLang="en-US" sz="1400" smtClean="0"/>
              <a:t>를 </a:t>
            </a:r>
            <a:r>
              <a:rPr lang="ko-KR" altLang="en-US" sz="1400"/>
              <a:t>기대할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78" name="Picture 193" descr="glod_l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530" y="3086601"/>
            <a:ext cx="5648325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TextBox 78"/>
          <p:cNvSpPr txBox="1"/>
          <p:nvPr/>
        </p:nvSpPr>
        <p:spPr>
          <a:xfrm>
            <a:off x="653348" y="2987660"/>
            <a:ext cx="1272656" cy="30777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smtClean="0"/>
              <a:t>Before RCAM</a:t>
            </a:r>
            <a:endParaRPr lang="ko-KR" altLang="en-US" sz="1400"/>
          </a:p>
        </p:txBody>
      </p:sp>
      <p:sp>
        <p:nvSpPr>
          <p:cNvPr id="80" name="TextBox 79"/>
          <p:cNvSpPr txBox="1"/>
          <p:nvPr/>
        </p:nvSpPr>
        <p:spPr>
          <a:xfrm>
            <a:off x="7782140" y="2987660"/>
            <a:ext cx="1213089" cy="307777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</a:schemeClr>
              </a:gs>
              <a:gs pos="7000">
                <a:srgbClr val="66FFFF"/>
              </a:gs>
              <a:gs pos="100000">
                <a:schemeClr val="accent5">
                  <a:tint val="15000"/>
                  <a:satMod val="3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b="1" smtClean="0"/>
              <a:t>After RCAM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136376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sz="1600" smtClean="0"/>
              <a:t>3.2 </a:t>
            </a:r>
            <a:r>
              <a:rPr lang="en-US" altLang="ko-KR" sz="1600"/>
              <a:t>RCA</a:t>
            </a:r>
            <a:r>
              <a:rPr lang="ko-KR" altLang="en-US" sz="1600"/>
              <a:t>는 사용자 요구사항을 분석</a:t>
            </a:r>
            <a:r>
              <a:rPr lang="en-US" altLang="ko-KR" sz="1600"/>
              <a:t>, </a:t>
            </a:r>
            <a:r>
              <a:rPr lang="ko-KR" altLang="en-US" sz="1600"/>
              <a:t>설계하는 단계에서 설정된 개발 표준과 설계자료를 기준으로 </a:t>
            </a:r>
            <a:endParaRPr lang="en-US" altLang="ko-KR" sz="1600" smtClean="0"/>
          </a:p>
          <a:p>
            <a:r>
              <a:rPr lang="en-US" altLang="ko-KR" sz="1600"/>
              <a:t> </a:t>
            </a:r>
            <a:r>
              <a:rPr lang="en-US" altLang="ko-KR" sz="1600" smtClean="0"/>
              <a:t>   </a:t>
            </a:r>
            <a:r>
              <a:rPr lang="ko-KR" altLang="en-US" sz="1600" smtClean="0"/>
              <a:t>로봇 </a:t>
            </a:r>
            <a:r>
              <a:rPr lang="en-US" altLang="ko-KR" sz="1600"/>
              <a:t>S/W</a:t>
            </a:r>
            <a:r>
              <a:rPr lang="ko-KR" altLang="en-US" sz="1600"/>
              <a:t>를 통해 프로그램</a:t>
            </a:r>
            <a:r>
              <a:rPr lang="en-US" altLang="ko-KR" sz="1600"/>
              <a:t> </a:t>
            </a:r>
            <a:r>
              <a:rPr lang="ko-KR" altLang="en-US" sz="1600"/>
              <a:t>소스 생성을 자동화하는 솔루션 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2.4.4 </a:t>
            </a:r>
            <a:r>
              <a:rPr lang="ko-KR" altLang="en-US" sz="1800" smtClean="0"/>
              <a:t>적용가능 기술</a:t>
            </a:r>
            <a:r>
              <a:rPr lang="en-US" altLang="ko-KR" sz="1800" smtClean="0"/>
              <a:t>(4/6)</a:t>
            </a:r>
            <a:r>
              <a:rPr lang="ko-KR" altLang="en-US" sz="1800" smtClean="0"/>
              <a:t>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sp>
        <p:nvSpPr>
          <p:cNvPr id="24" name="TextBox 23"/>
          <p:cNvSpPr txBox="1"/>
          <p:nvPr/>
        </p:nvSpPr>
        <p:spPr bwMode="auto">
          <a:xfrm>
            <a:off x="647512" y="1447976"/>
            <a:ext cx="2088000" cy="288000"/>
          </a:xfrm>
          <a:prstGeom prst="roundRect">
            <a:avLst/>
          </a:prstGeom>
          <a:ln>
            <a:noFill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85" eaLnBrk="0" fontAlgn="base" hangingPunct="0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lang="ko-KR" altLang="en-US" sz="1200" b="1" kern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시스템 구축 방법</a:t>
            </a:r>
            <a:endParaRPr lang="ko-KR" altLang="en-US" sz="1200" b="1" kern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6788852" y="1905736"/>
            <a:ext cx="2088000" cy="165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s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3B642C49-94F2-45FE-ADEC-350AC6BEC90C}"/>
              </a:ext>
            </a:extLst>
          </p:cNvPr>
          <p:cNvGrpSpPr/>
          <p:nvPr/>
        </p:nvGrpSpPr>
        <p:grpSpPr>
          <a:xfrm>
            <a:off x="6961041" y="1977672"/>
            <a:ext cx="1743622" cy="1512128"/>
            <a:chOff x="7406188" y="2096988"/>
            <a:chExt cx="1743622" cy="1512128"/>
          </a:xfrm>
        </p:grpSpPr>
        <p:grpSp>
          <p:nvGrpSpPr>
            <p:cNvPr id="27" name="그룹 26"/>
            <p:cNvGrpSpPr>
              <a:grpSpLocks noChangeAspect="1"/>
            </p:cNvGrpSpPr>
            <p:nvPr/>
          </p:nvGrpSpPr>
          <p:grpSpPr>
            <a:xfrm>
              <a:off x="7593999" y="2238341"/>
              <a:ext cx="1368000" cy="1368000"/>
              <a:chOff x="6969320" y="4434489"/>
              <a:chExt cx="1728000" cy="1728000"/>
            </a:xfrm>
          </p:grpSpPr>
          <p:sp>
            <p:nvSpPr>
              <p:cNvPr id="36" name="막힌 원호 35"/>
              <p:cNvSpPr/>
              <p:nvPr/>
            </p:nvSpPr>
            <p:spPr>
              <a:xfrm>
                <a:off x="6969320" y="4434489"/>
                <a:ext cx="1728000" cy="1728000"/>
              </a:xfrm>
              <a:prstGeom prst="blockArc">
                <a:avLst>
                  <a:gd name="adj1" fmla="val 10800000"/>
                  <a:gd name="adj2" fmla="val 16200000"/>
                  <a:gd name="adj3" fmla="val 46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7" name="막힌 원호 36"/>
              <p:cNvSpPr/>
              <p:nvPr/>
            </p:nvSpPr>
            <p:spPr>
              <a:xfrm>
                <a:off x="6969320" y="4434489"/>
                <a:ext cx="1728000" cy="1728000"/>
              </a:xfrm>
              <a:prstGeom prst="blockArc">
                <a:avLst>
                  <a:gd name="adj1" fmla="val 5400000"/>
                  <a:gd name="adj2" fmla="val 10800000"/>
                  <a:gd name="adj3" fmla="val 46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막힌 원호 37"/>
              <p:cNvSpPr/>
              <p:nvPr/>
            </p:nvSpPr>
            <p:spPr>
              <a:xfrm>
                <a:off x="6969320" y="4434489"/>
                <a:ext cx="1728000" cy="1728000"/>
              </a:xfrm>
              <a:prstGeom prst="blockArc">
                <a:avLst>
                  <a:gd name="adj1" fmla="val 0"/>
                  <a:gd name="adj2" fmla="val 5400000"/>
                  <a:gd name="adj3" fmla="val 46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9" name="막힌 원호 38"/>
              <p:cNvSpPr/>
              <p:nvPr/>
            </p:nvSpPr>
            <p:spPr>
              <a:xfrm>
                <a:off x="6969320" y="4434489"/>
                <a:ext cx="1728000" cy="1728000"/>
              </a:xfrm>
              <a:prstGeom prst="blockArc">
                <a:avLst>
                  <a:gd name="adj1" fmla="val 16200000"/>
                  <a:gd name="adj2" fmla="val 0"/>
                  <a:gd name="adj3" fmla="val 46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28" name="자유형 27"/>
            <p:cNvSpPr/>
            <p:nvPr/>
          </p:nvSpPr>
          <p:spPr>
            <a:xfrm>
              <a:off x="7917999" y="2562341"/>
              <a:ext cx="720000" cy="720000"/>
            </a:xfrm>
            <a:custGeom>
              <a:avLst/>
              <a:gdLst>
                <a:gd name="connsiteX0" fmla="*/ 0 w 764540"/>
                <a:gd name="connsiteY0" fmla="*/ 382270 h 764540"/>
                <a:gd name="connsiteX1" fmla="*/ 382270 w 764540"/>
                <a:gd name="connsiteY1" fmla="*/ 0 h 764540"/>
                <a:gd name="connsiteX2" fmla="*/ 764540 w 764540"/>
                <a:gd name="connsiteY2" fmla="*/ 382270 h 764540"/>
                <a:gd name="connsiteX3" fmla="*/ 382270 w 764540"/>
                <a:gd name="connsiteY3" fmla="*/ 764540 h 764540"/>
                <a:gd name="connsiteX4" fmla="*/ 0 w 764540"/>
                <a:gd name="connsiteY4" fmla="*/ 382270 h 764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4540" h="764540">
                  <a:moveTo>
                    <a:pt x="0" y="382270"/>
                  </a:moveTo>
                  <a:cubicBezTo>
                    <a:pt x="0" y="171148"/>
                    <a:pt x="171148" y="0"/>
                    <a:pt x="382270" y="0"/>
                  </a:cubicBezTo>
                  <a:cubicBezTo>
                    <a:pt x="593392" y="0"/>
                    <a:pt x="764540" y="171148"/>
                    <a:pt x="764540" y="382270"/>
                  </a:cubicBezTo>
                  <a:cubicBezTo>
                    <a:pt x="764540" y="593392"/>
                    <a:pt x="593392" y="764540"/>
                    <a:pt x="382270" y="764540"/>
                  </a:cubicBezTo>
                  <a:cubicBezTo>
                    <a:pt x="171148" y="764540"/>
                    <a:pt x="0" y="593392"/>
                    <a:pt x="0" y="382270"/>
                  </a:cubicBezTo>
                  <a:close/>
                </a:path>
              </a:pathLst>
            </a:cu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355633">
                <a:spcBef>
                  <a:spcPct val="0"/>
                </a:spcBef>
              </a:pPr>
              <a:r>
                <a:rPr lang="ko-KR" altLang="en-US" sz="900" b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유지보수 용이</a:t>
              </a:r>
              <a:endParaRPr lang="en-US" altLang="ko-KR" sz="900" b="1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 defTabSz="355633">
                <a:spcBef>
                  <a:spcPct val="0"/>
                </a:spcBef>
              </a:pPr>
              <a:r>
                <a:rPr lang="ko-KR" altLang="en-US" sz="900" b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환경변화 대응 </a:t>
              </a:r>
              <a:endParaRPr lang="en-US" altLang="ko-KR" sz="900" b="1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 defTabSz="355633">
                <a:spcBef>
                  <a:spcPct val="0"/>
                </a:spcBef>
              </a:pPr>
              <a:r>
                <a:rPr lang="ko-KR" altLang="en-US" sz="900" b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효율성 증대</a:t>
              </a:r>
              <a:endParaRPr lang="en-US" altLang="ko-KR" sz="900" b="1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29" name="그림 28" descr="소년, 사업, 만화, 만화 캐릭터, &lt;strong&gt;컴퓨터&lt;/strong&gt;, 노트북, 남성 ...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2499" y="2096988"/>
              <a:ext cx="431000" cy="360000"/>
            </a:xfrm>
            <a:prstGeom prst="rect">
              <a:avLst/>
            </a:prstGeom>
          </p:spPr>
        </p:pic>
        <p:grpSp>
          <p:nvGrpSpPr>
            <p:cNvPr id="30" name="그룹 29"/>
            <p:cNvGrpSpPr/>
            <p:nvPr/>
          </p:nvGrpSpPr>
          <p:grpSpPr>
            <a:xfrm>
              <a:off x="7406188" y="2673012"/>
              <a:ext cx="1743622" cy="360000"/>
              <a:chOff x="7205822" y="2672876"/>
              <a:chExt cx="1743622" cy="360000"/>
            </a:xfrm>
          </p:grpSpPr>
          <p:pic>
            <p:nvPicPr>
              <p:cNvPr id="34" name="그림 33" descr="소년, 사업, 만화, 만화 캐릭터, &lt;strong&gt;컴퓨터&lt;/strong&gt;, 노트북, 남성 ...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5822" y="2672876"/>
                <a:ext cx="431000" cy="360000"/>
              </a:xfrm>
              <a:prstGeom prst="rect">
                <a:avLst/>
              </a:prstGeom>
            </p:spPr>
          </p:pic>
          <p:pic>
            <p:nvPicPr>
              <p:cNvPr id="35" name="그림 34" descr="소년, 사업, 만화, 만화 캐릭터, &lt;strong&gt;컴퓨터&lt;/strong&gt;, 노트북, 남성 ...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518444" y="2672876"/>
                <a:ext cx="431000" cy="360000"/>
              </a:xfrm>
              <a:prstGeom prst="rect">
                <a:avLst/>
              </a:prstGeom>
            </p:spPr>
          </p:pic>
        </p:grpSp>
        <p:grpSp>
          <p:nvGrpSpPr>
            <p:cNvPr id="31" name="그룹 30"/>
            <p:cNvGrpSpPr/>
            <p:nvPr/>
          </p:nvGrpSpPr>
          <p:grpSpPr>
            <a:xfrm>
              <a:off x="7712579" y="3249116"/>
              <a:ext cx="1130840" cy="360000"/>
              <a:chOff x="7493520" y="3248980"/>
              <a:chExt cx="1130840" cy="360000"/>
            </a:xfrm>
          </p:grpSpPr>
          <p:pic>
            <p:nvPicPr>
              <p:cNvPr id="32" name="그림 31" descr="소년, 사업, 만화, 만화 캐릭터, &lt;strong&gt;컴퓨터&lt;/strong&gt;, 노트북, 남성 ...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93520" y="3248980"/>
                <a:ext cx="431000" cy="360000"/>
              </a:xfrm>
              <a:prstGeom prst="rect">
                <a:avLst/>
              </a:prstGeom>
            </p:spPr>
          </p:pic>
          <p:pic>
            <p:nvPicPr>
              <p:cNvPr id="33" name="그림 32" descr="소년, 사업, 만화, 만화 캐릭터, &lt;strong&gt;컴퓨터&lt;/strong&gt;, 노트북, 남성 ...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8193360" y="3248980"/>
                <a:ext cx="431000" cy="360000"/>
              </a:xfrm>
              <a:prstGeom prst="rect">
                <a:avLst/>
              </a:prstGeom>
            </p:spPr>
          </p:pic>
        </p:grpSp>
      </p:grpSp>
      <p:sp>
        <p:nvSpPr>
          <p:cNvPr id="40" name="TextBox 39"/>
          <p:cNvSpPr txBox="1"/>
          <p:nvPr/>
        </p:nvSpPr>
        <p:spPr bwMode="auto">
          <a:xfrm>
            <a:off x="6788852" y="1447976"/>
            <a:ext cx="2088000" cy="288000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85" eaLnBrk="0" fontAlgn="base" hangingPunct="0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lang="ko-KR" altLang="en-US" sz="1200" b="1" kern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미래지향적 시스템 운영</a:t>
            </a:r>
            <a:endParaRPr lang="ko-KR" altLang="en-US" sz="1200" b="1" kern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4183817" y="1447976"/>
            <a:ext cx="2088000" cy="288000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85" eaLnBrk="0" fontAlgn="base" hangingPunct="0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lang="en-US" altLang="ko-KR" sz="1200" b="1" kern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RCA</a:t>
            </a:r>
            <a:r>
              <a:rPr lang="ko-KR" altLang="en-US" sz="1200" b="1" kern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의한 시스템 구축</a:t>
            </a:r>
            <a:endParaRPr lang="ko-KR" altLang="en-US" sz="1200" b="1" kern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이등변 삼각형 41"/>
          <p:cNvSpPr/>
          <p:nvPr/>
        </p:nvSpPr>
        <p:spPr bwMode="auto">
          <a:xfrm rot="16200000" flipV="1">
            <a:off x="2627849" y="2204801"/>
            <a:ext cx="1656000" cy="504000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85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  <a:cs typeface="Arials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3991331" y="2340425"/>
            <a:ext cx="79669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914485" eaLnBrk="0" fontAlgn="base" hangingPunct="0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kumimoji="1" lang="en-US" altLang="ko-KR" sz="1200" b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s"/>
              </a:rPr>
              <a:t>“ </a:t>
            </a:r>
            <a:r>
              <a:rPr kumimoji="1" lang="en-US" altLang="ko-KR" sz="1200" b="1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s"/>
              </a:rPr>
              <a:t>RCA </a:t>
            </a:r>
            <a:r>
              <a:rPr kumimoji="1" lang="ko-KR" altLang="en-US" sz="1200" b="1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s"/>
              </a:rPr>
              <a:t>구현</a:t>
            </a:r>
            <a:r>
              <a:rPr kumimoji="1" lang="en-US" altLang="ko-KR" sz="1200" b="1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s"/>
              </a:rPr>
              <a:t>”</a:t>
            </a:r>
            <a:endParaRPr lang="ko-KR" altLang="en-US" sz="1200" b="1" kern="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="" xmlns:a16="http://schemas.microsoft.com/office/drawing/2014/main" id="{5A0E0DBD-295E-47D8-B2B8-A42D7641C5A3}"/>
              </a:ext>
            </a:extLst>
          </p:cNvPr>
          <p:cNvGrpSpPr/>
          <p:nvPr/>
        </p:nvGrpSpPr>
        <p:grpSpPr>
          <a:xfrm>
            <a:off x="433923" y="1995712"/>
            <a:ext cx="2718877" cy="1387454"/>
            <a:chOff x="533562" y="2005758"/>
            <a:chExt cx="2718877" cy="1387454"/>
          </a:xfrm>
        </p:grpSpPr>
        <p:grpSp>
          <p:nvGrpSpPr>
            <p:cNvPr id="45" name="그룹 44"/>
            <p:cNvGrpSpPr/>
            <p:nvPr/>
          </p:nvGrpSpPr>
          <p:grpSpPr>
            <a:xfrm>
              <a:off x="533562" y="3105212"/>
              <a:ext cx="2718877" cy="288000"/>
              <a:chOff x="1317618" y="2951560"/>
              <a:chExt cx="2718877" cy="288000"/>
            </a:xfrm>
          </p:grpSpPr>
          <p:pic>
            <p:nvPicPr>
              <p:cNvPr id="62" name="그림 61" descr="&lt;strong&gt;엑셀&lt;/strong&gt;, 어렵지 않다 Ⅰ] 생활 속 &lt;strong&gt;엑셀&lt;/strong&gt; 찾아보기 본문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618" y="2951560"/>
                <a:ext cx="441876" cy="288000"/>
              </a:xfrm>
              <a:prstGeom prst="rect">
                <a:avLst/>
              </a:prstGeom>
            </p:spPr>
          </p:pic>
          <p:pic>
            <p:nvPicPr>
              <p:cNvPr id="63" name="그림 62" descr="&lt;strong&gt;데이터 시트&lt;/strong&gt; 보기 형식의 폼은 엑셀 시트와 비슷한 ...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74798" y="2951560"/>
                <a:ext cx="869000" cy="288000"/>
              </a:xfrm>
              <a:prstGeom prst="rect">
                <a:avLst/>
              </a:prstGeom>
            </p:spPr>
          </p:pic>
          <p:pic>
            <p:nvPicPr>
              <p:cNvPr id="64" name="그림 63" descr="무료서식] &lt;strong&gt;엑셀&lt;/strong&gt; 지출결의서 자동화 작성 양식 (첨부 ...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2960" y="2951560"/>
                <a:ext cx="408372" cy="288000"/>
              </a:xfrm>
              <a:prstGeom prst="rect">
                <a:avLst/>
              </a:prstGeom>
            </p:spPr>
          </p:pic>
          <p:pic>
            <p:nvPicPr>
              <p:cNvPr id="65" name="그림 64" descr="밍모의 워드프로세싱 :: itq&lt;strong&gt;엑셀&lt;/strong&gt; 파워포인트 기출문제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7264" y="2951560"/>
                <a:ext cx="380972" cy="288000"/>
              </a:xfrm>
              <a:prstGeom prst="rect">
                <a:avLst/>
              </a:prstGeom>
            </p:spPr>
          </p:pic>
          <p:pic>
            <p:nvPicPr>
              <p:cNvPr id="66" name="그림 65" descr="&lt;strong&gt;엑셀&lt;/strong&gt; 전화번호 - 넣기 빼기, &lt;strong&gt;엑셀&lt;/strong&gt; 전화번호 0 입력 ...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31702" y="2951560"/>
                <a:ext cx="404793" cy="288000"/>
              </a:xfrm>
              <a:prstGeom prst="rect">
                <a:avLst/>
              </a:prstGeom>
            </p:spPr>
          </p:pic>
        </p:grpSp>
        <p:cxnSp>
          <p:nvCxnSpPr>
            <p:cNvPr id="46" name="직선 화살표 연결선 45"/>
            <p:cNvCxnSpPr>
              <a:stCxn id="62" idx="0"/>
            </p:cNvCxnSpPr>
            <p:nvPr/>
          </p:nvCxnSpPr>
          <p:spPr bwMode="auto">
            <a:xfrm flipV="1">
              <a:off x="754500" y="2709088"/>
              <a:ext cx="58000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47" name="직선 화살표 연결선 46"/>
            <p:cNvCxnSpPr>
              <a:stCxn id="64" idx="0"/>
            </p:cNvCxnSpPr>
            <p:nvPr/>
          </p:nvCxnSpPr>
          <p:spPr bwMode="auto">
            <a:xfrm flipH="1" flipV="1">
              <a:off x="812501" y="2709088"/>
              <a:ext cx="420589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48" name="직선 화살표 연결선 47"/>
            <p:cNvCxnSpPr>
              <a:stCxn id="64" idx="0"/>
            </p:cNvCxnSpPr>
            <p:nvPr/>
          </p:nvCxnSpPr>
          <p:spPr bwMode="auto">
            <a:xfrm flipV="1">
              <a:off x="1233090" y="2709088"/>
              <a:ext cx="120534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49" name="직선 화살표 연결선 48"/>
            <p:cNvCxnSpPr>
              <a:stCxn id="62" idx="0"/>
            </p:cNvCxnSpPr>
            <p:nvPr/>
          </p:nvCxnSpPr>
          <p:spPr bwMode="auto">
            <a:xfrm flipV="1">
              <a:off x="754500" y="2709088"/>
              <a:ext cx="599124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0" name="직선 화살표 연결선 49"/>
            <p:cNvCxnSpPr>
              <a:stCxn id="63" idx="0"/>
            </p:cNvCxnSpPr>
            <p:nvPr/>
          </p:nvCxnSpPr>
          <p:spPr bwMode="auto">
            <a:xfrm flipH="1" flipV="1">
              <a:off x="1893684" y="2709088"/>
              <a:ext cx="31558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1" name="직선 화살표 연결선 50"/>
            <p:cNvCxnSpPr>
              <a:stCxn id="65" idx="0"/>
            </p:cNvCxnSpPr>
            <p:nvPr/>
          </p:nvCxnSpPr>
          <p:spPr bwMode="auto">
            <a:xfrm flipH="1" flipV="1">
              <a:off x="2413209" y="2709088"/>
              <a:ext cx="190485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2" name="직선 화살표 연결선 51"/>
            <p:cNvCxnSpPr>
              <a:stCxn id="66" idx="0"/>
            </p:cNvCxnSpPr>
            <p:nvPr/>
          </p:nvCxnSpPr>
          <p:spPr bwMode="auto">
            <a:xfrm flipH="1" flipV="1">
              <a:off x="2433744" y="2709088"/>
              <a:ext cx="616299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3" name="직선 화살표 연결선 52"/>
            <p:cNvCxnSpPr>
              <a:stCxn id="66" idx="0"/>
            </p:cNvCxnSpPr>
            <p:nvPr/>
          </p:nvCxnSpPr>
          <p:spPr bwMode="auto">
            <a:xfrm flipH="1" flipV="1">
              <a:off x="2973804" y="2709088"/>
              <a:ext cx="76239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4" name="직선 화살표 연결선 53"/>
            <p:cNvCxnSpPr>
              <a:stCxn id="65" idx="0"/>
            </p:cNvCxnSpPr>
            <p:nvPr/>
          </p:nvCxnSpPr>
          <p:spPr bwMode="auto">
            <a:xfrm flipV="1">
              <a:off x="2603694" y="2709088"/>
              <a:ext cx="370110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5" name="직선 화살표 연결선 54"/>
            <p:cNvCxnSpPr>
              <a:stCxn id="64" idx="0"/>
            </p:cNvCxnSpPr>
            <p:nvPr/>
          </p:nvCxnSpPr>
          <p:spPr bwMode="auto">
            <a:xfrm flipV="1">
              <a:off x="1233090" y="2709088"/>
              <a:ext cx="660594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6" name="직선 화살표 연결선 55"/>
            <p:cNvCxnSpPr>
              <a:stCxn id="65" idx="0"/>
            </p:cNvCxnSpPr>
            <p:nvPr/>
          </p:nvCxnSpPr>
          <p:spPr bwMode="auto">
            <a:xfrm flipH="1" flipV="1">
              <a:off x="1893684" y="2709088"/>
              <a:ext cx="710010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7" name="직선 화살표 연결선 56"/>
            <p:cNvCxnSpPr/>
            <p:nvPr/>
          </p:nvCxnSpPr>
          <p:spPr bwMode="auto">
            <a:xfrm flipV="1">
              <a:off x="1049087" y="2008562"/>
              <a:ext cx="599124" cy="39612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8" name="직선 화살표 연결선 57"/>
            <p:cNvCxnSpPr/>
            <p:nvPr/>
          </p:nvCxnSpPr>
          <p:spPr bwMode="auto">
            <a:xfrm flipV="1">
              <a:off x="1472644" y="2027878"/>
              <a:ext cx="291793" cy="29842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9" name="직선 화살표 연결선 58"/>
            <p:cNvCxnSpPr/>
            <p:nvPr/>
          </p:nvCxnSpPr>
          <p:spPr bwMode="auto">
            <a:xfrm flipH="1" flipV="1">
              <a:off x="1821161" y="2148686"/>
              <a:ext cx="98453" cy="26643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0" name="직선 화살표 연결선 59"/>
            <p:cNvCxnSpPr/>
            <p:nvPr/>
          </p:nvCxnSpPr>
          <p:spPr bwMode="auto">
            <a:xfrm flipH="1" flipV="1">
              <a:off x="2065140" y="2084898"/>
              <a:ext cx="247432" cy="208339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1" name="직선 화살표 연결선 60"/>
            <p:cNvCxnSpPr>
              <a:stCxn id="114" idx="1"/>
              <a:endCxn id="102" idx="3"/>
            </p:cNvCxnSpPr>
            <p:nvPr/>
          </p:nvCxnSpPr>
          <p:spPr bwMode="auto">
            <a:xfrm flipH="1" flipV="1">
              <a:off x="2147490" y="2005758"/>
              <a:ext cx="689216" cy="454211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grpSp>
        <p:nvGrpSpPr>
          <p:cNvPr id="67" name="그룹 66">
            <a:extLst>
              <a:ext uri="{FF2B5EF4-FFF2-40B4-BE49-F238E27FC236}">
                <a16:creationId xmlns="" xmlns:a16="http://schemas.microsoft.com/office/drawing/2014/main" id="{16B85E24-53C4-42C1-A7FC-97F993D328A4}"/>
              </a:ext>
            </a:extLst>
          </p:cNvPr>
          <p:cNvGrpSpPr/>
          <p:nvPr/>
        </p:nvGrpSpPr>
        <p:grpSpPr>
          <a:xfrm>
            <a:off x="4402347" y="2354704"/>
            <a:ext cx="1650940" cy="1200345"/>
            <a:chOff x="4878596" y="2336875"/>
            <a:chExt cx="1650940" cy="1200345"/>
          </a:xfrm>
        </p:grpSpPr>
        <p:cxnSp>
          <p:nvCxnSpPr>
            <p:cNvPr id="68" name="직선 화살표 연결선 67"/>
            <p:cNvCxnSpPr>
              <a:stCxn id="74" idx="0"/>
            </p:cNvCxnSpPr>
            <p:nvPr/>
          </p:nvCxnSpPr>
          <p:spPr bwMode="auto">
            <a:xfrm flipV="1">
              <a:off x="5099534" y="2688907"/>
              <a:ext cx="331402" cy="23627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9" name="직선 화살표 연결선 68"/>
            <p:cNvCxnSpPr>
              <a:stCxn id="75" idx="0"/>
              <a:endCxn id="73" idx="2"/>
            </p:cNvCxnSpPr>
            <p:nvPr/>
          </p:nvCxnSpPr>
          <p:spPr bwMode="auto">
            <a:xfrm flipV="1">
              <a:off x="5430936" y="2696875"/>
              <a:ext cx="193353" cy="55234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70" name="직선 화살표 연결선 69"/>
            <p:cNvCxnSpPr>
              <a:stCxn id="76" idx="0"/>
              <a:endCxn id="73" idx="2"/>
            </p:cNvCxnSpPr>
            <p:nvPr/>
          </p:nvCxnSpPr>
          <p:spPr bwMode="auto">
            <a:xfrm flipH="1" flipV="1">
              <a:off x="5624289" y="2696875"/>
              <a:ext cx="113336" cy="228309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71" name="직선 화살표 연결선 70"/>
            <p:cNvCxnSpPr>
              <a:stCxn id="77" idx="0"/>
            </p:cNvCxnSpPr>
            <p:nvPr/>
          </p:nvCxnSpPr>
          <p:spPr bwMode="auto">
            <a:xfrm flipH="1" flipV="1">
              <a:off x="5840289" y="2650436"/>
              <a:ext cx="498761" cy="27474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72" name="직선 화살표 연결선 71"/>
            <p:cNvCxnSpPr>
              <a:stCxn id="78" idx="0"/>
              <a:endCxn id="73" idx="2"/>
            </p:cNvCxnSpPr>
            <p:nvPr/>
          </p:nvCxnSpPr>
          <p:spPr bwMode="auto">
            <a:xfrm flipH="1" flipV="1">
              <a:off x="5624289" y="2696875"/>
              <a:ext cx="573907" cy="55234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pic>
          <p:nvPicPr>
            <p:cNvPr id="73" name="그림 72"/>
            <p:cNvPicPr preferRelativeResize="0">
              <a:picLocks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08289" y="2336875"/>
              <a:ext cx="432000" cy="360000"/>
            </a:xfrm>
            <a:prstGeom prst="rect">
              <a:avLst/>
            </a:prstGeom>
          </p:spPr>
        </p:pic>
        <p:pic>
          <p:nvPicPr>
            <p:cNvPr id="74" name="그림 73" descr="&lt;strong&gt;엑셀&lt;/strong&gt;, 어렵지 않다 Ⅰ] 생활 속 &lt;strong&gt;엑셀&lt;/strong&gt; 찾아보기 본문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8596" y="2925184"/>
              <a:ext cx="441876" cy="288000"/>
            </a:xfrm>
            <a:prstGeom prst="rect">
              <a:avLst/>
            </a:prstGeom>
          </p:spPr>
        </p:pic>
        <p:pic>
          <p:nvPicPr>
            <p:cNvPr id="75" name="그림 74" descr="&lt;strong&gt;데이터 시트&lt;/strong&gt; 보기 형식의 폼은 엑셀 시트와 비슷한 ...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6436" y="3249220"/>
              <a:ext cx="869000" cy="288000"/>
            </a:xfrm>
            <a:prstGeom prst="rect">
              <a:avLst/>
            </a:prstGeom>
          </p:spPr>
        </p:pic>
        <p:pic>
          <p:nvPicPr>
            <p:cNvPr id="76" name="그림 75" descr="무료서식] &lt;strong&gt;엑셀&lt;/strong&gt; 지출결의서 자동화 작성 양식 (첨부 ...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3439" y="2925184"/>
              <a:ext cx="408372" cy="288000"/>
            </a:xfrm>
            <a:prstGeom prst="rect">
              <a:avLst/>
            </a:prstGeom>
          </p:spPr>
        </p:pic>
        <p:pic>
          <p:nvPicPr>
            <p:cNvPr id="77" name="그림 76" descr="밍모의 워드프로세싱 :: itq&lt;strong&gt;엑셀&lt;/strong&gt; 파워포인트 기출문제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8564" y="2925184"/>
              <a:ext cx="380972" cy="288000"/>
            </a:xfrm>
            <a:prstGeom prst="rect">
              <a:avLst/>
            </a:prstGeom>
          </p:spPr>
        </p:pic>
        <p:pic>
          <p:nvPicPr>
            <p:cNvPr id="78" name="그림 77" descr="&lt;strong&gt;엑셀&lt;/strong&gt; 전화번호 - 넣기 빼기, &lt;strong&gt;엑셀&lt;/strong&gt; 전화번호 0 입력 ...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5799" y="3249220"/>
              <a:ext cx="404793" cy="288000"/>
            </a:xfrm>
            <a:prstGeom prst="rect">
              <a:avLst/>
            </a:prstGeom>
          </p:spPr>
        </p:pic>
      </p:grpSp>
      <p:grpSp>
        <p:nvGrpSpPr>
          <p:cNvPr id="79" name="그룹 78"/>
          <p:cNvGrpSpPr/>
          <p:nvPr/>
        </p:nvGrpSpPr>
        <p:grpSpPr>
          <a:xfrm>
            <a:off x="6431403" y="2302628"/>
            <a:ext cx="216000" cy="216000"/>
            <a:chOff x="6644956" y="5682750"/>
            <a:chExt cx="288000" cy="288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0" name="직사각형 79"/>
            <p:cNvSpPr/>
            <p:nvPr/>
          </p:nvSpPr>
          <p:spPr bwMode="auto">
            <a:xfrm>
              <a:off x="6644956" y="5790750"/>
              <a:ext cx="288000" cy="72000"/>
            </a:xfrm>
            <a:prstGeom prst="rect">
              <a:avLst/>
            </a:prstGeom>
            <a:grpFill/>
            <a:ln w="9525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s"/>
              </a:endParaRPr>
            </a:p>
          </p:txBody>
        </p:sp>
        <p:sp>
          <p:nvSpPr>
            <p:cNvPr id="83" name="직사각형 82"/>
            <p:cNvSpPr/>
            <p:nvPr/>
          </p:nvSpPr>
          <p:spPr bwMode="auto">
            <a:xfrm rot="5400000">
              <a:off x="6644956" y="5790750"/>
              <a:ext cx="288000" cy="72000"/>
            </a:xfrm>
            <a:prstGeom prst="rect">
              <a:avLst/>
            </a:prstGeom>
            <a:grpFill/>
            <a:ln w="9525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s"/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0" y="3376756"/>
            <a:ext cx="8964488" cy="523220"/>
          </a:xfrm>
          <a:prstGeom prst="rect">
            <a:avLst/>
          </a:prstGeom>
          <a:noFill/>
        </p:spPr>
        <p:txBody>
          <a:bodyPr wrap="square" lIns="0" rIns="36000" rtlCol="0">
            <a:spAutoFit/>
          </a:bodyPr>
          <a:lstStyle/>
          <a:p>
            <a:pPr lvl="1"/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설계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-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개발 의사소통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,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개발 인력 격차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,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 </a:t>
            </a:r>
            <a:endParaRPr lang="en-US" altLang="ko-KR" sz="1400" b="1" smtClean="0">
              <a:solidFill>
                <a:srgbClr val="0000CC"/>
              </a:solidFill>
              <a:latin typeface="+mj-ea"/>
            </a:endParaRPr>
          </a:p>
          <a:p>
            <a:pPr lvl="1"/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표준 준수율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,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복잡한 관리 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POINT       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표준 준수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,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일관성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,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디지털 노동력    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  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운영비용 절감</a:t>
            </a:r>
            <a:r>
              <a:rPr lang="en-US" altLang="ko-KR" sz="1400" b="1" smtClean="0">
                <a:solidFill>
                  <a:srgbClr val="0000CC"/>
                </a:solidFill>
                <a:latin typeface="+mj-ea"/>
              </a:rPr>
              <a:t>, </a:t>
            </a:r>
            <a:r>
              <a:rPr lang="ko-KR" altLang="en-US" sz="1400" b="1" smtClean="0">
                <a:solidFill>
                  <a:srgbClr val="0000CC"/>
                </a:solidFill>
                <a:latin typeface="+mj-ea"/>
              </a:rPr>
              <a:t>미래지향성 </a:t>
            </a:r>
            <a:endParaRPr lang="ko-KR" altLang="en-US" sz="2000" dirty="0">
              <a:solidFill>
                <a:srgbClr val="0000CC"/>
              </a:solidFill>
            </a:endParaRPr>
          </a:p>
        </p:txBody>
      </p:sp>
      <p:graphicFrame>
        <p:nvGraphicFramePr>
          <p:cNvPr id="101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519642"/>
              </p:ext>
            </p:extLst>
          </p:nvPr>
        </p:nvGraphicFramePr>
        <p:xfrm>
          <a:off x="4944964" y="1842520"/>
          <a:ext cx="635148" cy="48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클립" r:id="rId10" imgW="5640388" imgH="6415088" progId="MS_ClipArt_Gallery.2">
                  <p:embed/>
                </p:oleObj>
              </mc:Choice>
              <mc:Fallback>
                <p:oleObj name="클립" r:id="rId10" imgW="5640388" imgH="641508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964" y="1842520"/>
                        <a:ext cx="635148" cy="487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24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1453750"/>
              </p:ext>
            </p:extLst>
          </p:nvPr>
        </p:nvGraphicFramePr>
        <p:xfrm>
          <a:off x="1520313" y="1808812"/>
          <a:ext cx="527538" cy="373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클립" r:id="rId12" imgW="863600" imgH="787400" progId="">
                  <p:embed/>
                </p:oleObj>
              </mc:Choice>
              <mc:Fallback>
                <p:oleObj name="클립" r:id="rId12" imgW="863600" imgH="78740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313" y="1808812"/>
                        <a:ext cx="527538" cy="373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" name="그룹 23"/>
          <p:cNvGrpSpPr>
            <a:grpSpLocks/>
          </p:cNvGrpSpPr>
          <p:nvPr/>
        </p:nvGrpSpPr>
        <p:grpSpPr bwMode="auto">
          <a:xfrm>
            <a:off x="534694" y="2283213"/>
            <a:ext cx="449262" cy="388937"/>
            <a:chOff x="5543550" y="4381496"/>
            <a:chExt cx="558800" cy="530225"/>
          </a:xfrm>
        </p:grpSpPr>
        <p:pic>
          <p:nvPicPr>
            <p:cNvPr id="104" name="Picture 96" descr="3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4624383"/>
              <a:ext cx="5588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00" descr="3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7" t="1872" r="71417" b="75826"/>
            <a:stretch>
              <a:fillRect/>
            </a:stretch>
          </p:blipFill>
          <p:spPr bwMode="auto">
            <a:xfrm>
              <a:off x="5661025" y="4381496"/>
              <a:ext cx="333375" cy="40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" name="그룹 26"/>
          <p:cNvGrpSpPr>
            <a:grpSpLocks/>
          </p:cNvGrpSpPr>
          <p:nvPr/>
        </p:nvGrpSpPr>
        <p:grpSpPr bwMode="auto">
          <a:xfrm>
            <a:off x="1056111" y="2245457"/>
            <a:ext cx="449262" cy="420688"/>
            <a:chOff x="5543550" y="5095876"/>
            <a:chExt cx="558800" cy="573090"/>
          </a:xfrm>
        </p:grpSpPr>
        <p:pic>
          <p:nvPicPr>
            <p:cNvPr id="107" name="Picture 98" descr="3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5381628"/>
              <a:ext cx="5588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101" descr="관리"/>
            <p:cNvPicPr preferRelativeResize="0"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7838" y="5095876"/>
              <a:ext cx="488950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9" name="그룹 29"/>
          <p:cNvGrpSpPr>
            <a:grpSpLocks/>
          </p:cNvGrpSpPr>
          <p:nvPr/>
        </p:nvGrpSpPr>
        <p:grpSpPr bwMode="auto">
          <a:xfrm>
            <a:off x="1594283" y="2341289"/>
            <a:ext cx="449263" cy="341313"/>
            <a:chOff x="5543550" y="3667116"/>
            <a:chExt cx="558800" cy="465137"/>
          </a:xfrm>
        </p:grpSpPr>
        <p:pic>
          <p:nvPicPr>
            <p:cNvPr id="110" name="Picture 94" descr="3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3844916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2" descr="3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50" t="42731" r="38626" b="42841"/>
            <a:stretch>
              <a:fillRect/>
            </a:stretch>
          </p:blipFill>
          <p:spPr bwMode="auto">
            <a:xfrm>
              <a:off x="5618163" y="3667116"/>
              <a:ext cx="411162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2" name="Group 51"/>
          <p:cNvGrpSpPr>
            <a:grpSpLocks/>
          </p:cNvGrpSpPr>
          <p:nvPr/>
        </p:nvGrpSpPr>
        <p:grpSpPr bwMode="auto">
          <a:xfrm>
            <a:off x="2652689" y="2320069"/>
            <a:ext cx="477430" cy="351786"/>
            <a:chOff x="319" y="1621"/>
            <a:chExt cx="447" cy="298"/>
          </a:xfrm>
        </p:grpSpPr>
        <p:pic>
          <p:nvPicPr>
            <p:cNvPr id="113" name="Picture 52" descr="인천공항 받침"/>
            <p:cNvPicPr>
              <a:picLocks noChangeAspect="1" noChangeArrowheads="1"/>
            </p:cNvPicPr>
            <p:nvPr/>
          </p:nvPicPr>
          <p:blipFill>
            <a:blip r:embed="rId1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48" t="31787" r="26111" b="32924"/>
            <a:stretch>
              <a:fillRect/>
            </a:stretch>
          </p:blipFill>
          <p:spPr bwMode="auto">
            <a:xfrm>
              <a:off x="319" y="1728"/>
              <a:ext cx="44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53" descr="감사원_07"/>
            <p:cNvPicPr>
              <a:picLocks noChangeAspect="1" noChangeArrowheads="1"/>
            </p:cNvPicPr>
            <p:nvPr/>
          </p:nvPicPr>
          <p:blipFill>
            <a:blip r:embed="rId20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" y="1621"/>
              <a:ext cx="29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5" name="Group 8"/>
          <p:cNvGrpSpPr>
            <a:grpSpLocks/>
          </p:cNvGrpSpPr>
          <p:nvPr/>
        </p:nvGrpSpPr>
        <p:grpSpPr bwMode="auto">
          <a:xfrm>
            <a:off x="1975494" y="2337699"/>
            <a:ext cx="710703" cy="495300"/>
            <a:chOff x="364" y="2044"/>
            <a:chExt cx="476" cy="451"/>
          </a:xfrm>
        </p:grpSpPr>
        <p:sp>
          <p:nvSpPr>
            <p:cNvPr id="116" name="Rectangle 9"/>
            <p:cNvSpPr>
              <a:spLocks noChangeArrowheads="1"/>
            </p:cNvSpPr>
            <p:nvPr/>
          </p:nvSpPr>
          <p:spPr bwMode="auto">
            <a:xfrm>
              <a:off x="364" y="2338"/>
              <a:ext cx="476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defTabSz="657225"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657225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657225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657225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657225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6572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6572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6572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65722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endParaRPr kumimoji="0" lang="ko-KR" altLang="en-US" sz="1000">
                <a:latin typeface="Arial Black" pitchFamily="34" charset="0"/>
                <a:ea typeface="HY헤드라인M" pitchFamily="18" charset="-127"/>
              </a:endParaRPr>
            </a:p>
          </p:txBody>
        </p:sp>
        <p:grpSp>
          <p:nvGrpSpPr>
            <p:cNvPr id="117" name="Group 10"/>
            <p:cNvGrpSpPr>
              <a:grpSpLocks/>
            </p:cNvGrpSpPr>
            <p:nvPr/>
          </p:nvGrpSpPr>
          <p:grpSpPr bwMode="auto">
            <a:xfrm>
              <a:off x="399" y="2044"/>
              <a:ext cx="426" cy="301"/>
              <a:chOff x="295" y="663"/>
              <a:chExt cx="498" cy="352"/>
            </a:xfrm>
          </p:grpSpPr>
          <p:pic>
            <p:nvPicPr>
              <p:cNvPr id="118" name="Picture 11" descr="원2 copy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" y="849"/>
                <a:ext cx="498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9" name="Picture 12" descr="man4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" y="663"/>
                <a:ext cx="241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20" name="TextBox 119"/>
          <p:cNvSpPr txBox="1"/>
          <p:nvPr/>
        </p:nvSpPr>
        <p:spPr>
          <a:xfrm>
            <a:off x="324209" y="1777342"/>
            <a:ext cx="12843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mtClean="0"/>
              <a:t>분석</a:t>
            </a:r>
            <a:r>
              <a:rPr lang="en-US" altLang="ko-KR" sz="900" smtClean="0"/>
              <a:t> </a:t>
            </a:r>
            <a:r>
              <a:rPr lang="en-US" altLang="ko-KR" sz="900" smtClean="0">
                <a:sym typeface="Wingdings" panose="05000000000000000000" pitchFamily="2" charset="2"/>
              </a:rPr>
              <a:t> </a:t>
            </a:r>
            <a:r>
              <a:rPr lang="ko-KR" altLang="en-US" sz="900" smtClean="0"/>
              <a:t>설계 </a:t>
            </a:r>
            <a:r>
              <a:rPr lang="en-US" altLang="ko-KR" sz="900" smtClean="0">
                <a:sym typeface="Wingdings" panose="05000000000000000000" pitchFamily="2" charset="2"/>
              </a:rPr>
              <a:t> </a:t>
            </a:r>
            <a:r>
              <a:rPr lang="ko-KR" altLang="en-US" sz="900" smtClean="0">
                <a:sym typeface="Wingdings" panose="05000000000000000000" pitchFamily="2" charset="2"/>
              </a:rPr>
              <a:t>개발</a:t>
            </a:r>
            <a:endParaRPr lang="ko-KR" altLang="en-US" sz="900"/>
          </a:p>
        </p:txBody>
      </p:sp>
      <p:sp>
        <p:nvSpPr>
          <p:cNvPr id="121" name="TextBox 120"/>
          <p:cNvSpPr txBox="1"/>
          <p:nvPr/>
        </p:nvSpPr>
        <p:spPr>
          <a:xfrm>
            <a:off x="3991331" y="1768572"/>
            <a:ext cx="12731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mtClean="0"/>
              <a:t>분석 </a:t>
            </a:r>
            <a:r>
              <a:rPr lang="en-US" altLang="ko-KR" sz="900" smtClean="0">
                <a:sym typeface="Wingdings" panose="05000000000000000000" pitchFamily="2" charset="2"/>
              </a:rPr>
              <a:t> </a:t>
            </a:r>
            <a:r>
              <a:rPr lang="ko-KR" altLang="en-US" sz="900" smtClean="0"/>
              <a:t>설계 </a:t>
            </a:r>
            <a:r>
              <a:rPr lang="en-US" altLang="ko-KR" sz="900" smtClean="0">
                <a:sym typeface="Wingdings" panose="05000000000000000000" pitchFamily="2" charset="2"/>
              </a:rPr>
              <a:t> </a:t>
            </a:r>
            <a:r>
              <a:rPr lang="en-US" altLang="ko-KR" sz="900" smtClean="0"/>
              <a:t>RCA</a:t>
            </a:r>
            <a:endParaRPr lang="ko-KR" altLang="en-US" sz="900"/>
          </a:p>
        </p:txBody>
      </p:sp>
      <p:sp>
        <p:nvSpPr>
          <p:cNvPr id="122" name="TextBox 121"/>
          <p:cNvSpPr txBox="1"/>
          <p:nvPr/>
        </p:nvSpPr>
        <p:spPr>
          <a:xfrm>
            <a:off x="6729255" y="1761346"/>
            <a:ext cx="947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mtClean="0">
                <a:solidFill>
                  <a:srgbClr val="0000FF"/>
                </a:solidFill>
              </a:rPr>
              <a:t>설계 </a:t>
            </a:r>
            <a:r>
              <a:rPr lang="en-US" altLang="ko-KR" sz="1100" b="1" smtClean="0">
                <a:solidFill>
                  <a:srgbClr val="0000FF"/>
                </a:solidFill>
              </a:rPr>
              <a:t>= </a:t>
            </a:r>
            <a:r>
              <a:rPr lang="ko-KR" altLang="en-US" sz="1100" b="1" smtClean="0">
                <a:solidFill>
                  <a:srgbClr val="0000FF"/>
                </a:solidFill>
              </a:rPr>
              <a:t>구현</a:t>
            </a:r>
            <a:endParaRPr lang="ko-KR" altLang="en-US" sz="1100" b="1">
              <a:solidFill>
                <a:srgbClr val="0000FF"/>
              </a:solidFill>
            </a:endParaRPr>
          </a:p>
        </p:txBody>
      </p:sp>
      <p:graphicFrame>
        <p:nvGraphicFramePr>
          <p:cNvPr id="123" name="표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551298"/>
              </p:ext>
            </p:extLst>
          </p:nvPr>
        </p:nvGraphicFramePr>
        <p:xfrm>
          <a:off x="476170" y="3904552"/>
          <a:ext cx="8415509" cy="2462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879519"/>
              </a:tblGrid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평가 항목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정성적 효과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정량적 효과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(2,000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본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30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억 규모 프로젝트 기준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일관성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ISP,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설계 사상 구현 정도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구현 오류 최소화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구축 목표 달성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코딩자동화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: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 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2,000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본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* 4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= 8,000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 절감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 </a:t>
                      </a:r>
                      <a:endParaRPr lang="ko-KR" altLang="en-US" sz="1000" dirty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정확성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기능 구현의 정확도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목표 기능의 정확한 구현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 개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발 지침 준수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산출물작성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: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 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2,000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본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* 2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= 4,000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 절감</a:t>
                      </a:r>
                      <a:endParaRPr lang="ko-KR" altLang="en-US" sz="1000" dirty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표준화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표준 준수율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유형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Component,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객체의 표준 준수율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100%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 테스트 단축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: 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2,000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본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* 2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 = 4,000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 절감</a:t>
                      </a: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품질 보증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프로그램 품질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최고급 기술 보유자와 동일한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LEVEL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의 품질 유지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                            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합 계   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= 16,000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시간 절감</a:t>
                      </a: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납기 단축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코딩 기간 단축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신속한 코딩 자동화로 요구사항 반영 즉시 확인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1M/M </a:t>
                      </a:r>
                      <a:r>
                        <a:rPr lang="en-US" altLang="ko-KR" sz="1000" baseline="0" smtClean="0">
                          <a:solidFill>
                            <a:srgbClr val="000099"/>
                          </a:solidFill>
                        </a:rPr>
                        <a:t>= 8</a:t>
                      </a:r>
                      <a:r>
                        <a:rPr lang="ko-KR" altLang="en-US" sz="1000" baseline="0" smtClean="0">
                          <a:solidFill>
                            <a:srgbClr val="000099"/>
                          </a:solidFill>
                        </a:rPr>
                        <a:t>시간 </a:t>
                      </a:r>
                      <a:r>
                        <a:rPr lang="en-US" altLang="ko-KR" sz="1000" baseline="0" smtClean="0">
                          <a:solidFill>
                            <a:srgbClr val="000099"/>
                          </a:solidFill>
                        </a:rPr>
                        <a:t>* 22</a:t>
                      </a:r>
                      <a:r>
                        <a:rPr lang="ko-KR" altLang="en-US" sz="1000" baseline="0" smtClean="0">
                          <a:solidFill>
                            <a:srgbClr val="000099"/>
                          </a:solidFill>
                        </a:rPr>
                        <a:t>일 </a:t>
                      </a:r>
                      <a:r>
                        <a:rPr lang="en-US" altLang="ko-KR" sz="1000" baseline="0" smtClean="0">
                          <a:solidFill>
                            <a:srgbClr val="000099"/>
                          </a:solidFill>
                        </a:rPr>
                        <a:t>=&gt;176</a:t>
                      </a:r>
                      <a:r>
                        <a:rPr lang="ko-KR" altLang="en-US" sz="1000" baseline="0" smtClean="0">
                          <a:solidFill>
                            <a:srgbClr val="000099"/>
                          </a:solidFill>
                        </a:rPr>
                        <a:t>시간</a:t>
                      </a:r>
                      <a:r>
                        <a:rPr lang="en-US" altLang="ko-KR" sz="1000" baseline="0" smtClean="0">
                          <a:solidFill>
                            <a:srgbClr val="000099"/>
                          </a:solidFill>
                        </a:rPr>
                        <a:t> </a:t>
                      </a:r>
                      <a:endParaRPr lang="ko-KR" altLang="en-US" sz="1000" dirty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산출물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산출물 자동화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산출물 정형화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표준화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산출물 현행화 유지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rgbClr val="000099"/>
                          </a:solidFill>
                        </a:rPr>
                        <a:t>절감 인력 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</a:rPr>
                        <a:t>: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  <a:sym typeface="Wingdings" panose="05000000000000000000" pitchFamily="2" charset="2"/>
                        </a:rPr>
                        <a:t> 16,000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  <a:sym typeface="Wingdings" panose="05000000000000000000" pitchFamily="2" charset="2"/>
                        </a:rPr>
                        <a:t>시간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  <a:sym typeface="Wingdings" panose="05000000000000000000" pitchFamily="2" charset="2"/>
                        </a:rPr>
                        <a:t>/176</a:t>
                      </a:r>
                      <a:r>
                        <a:rPr lang="ko-KR" altLang="en-US" sz="1000" smtClean="0">
                          <a:solidFill>
                            <a:srgbClr val="000099"/>
                          </a:solidFill>
                          <a:sym typeface="Wingdings" panose="05000000000000000000" pitchFamily="2" charset="2"/>
                        </a:rPr>
                        <a:t>시간</a:t>
                      </a:r>
                      <a:r>
                        <a:rPr lang="en-US" altLang="ko-KR" sz="1000" smtClean="0">
                          <a:solidFill>
                            <a:srgbClr val="000099"/>
                          </a:solidFill>
                          <a:sym typeface="Wingdings" panose="05000000000000000000" pitchFamily="2" charset="2"/>
                        </a:rPr>
                        <a:t> = 91 M/M</a:t>
                      </a:r>
                      <a:endParaRPr lang="ko-KR" altLang="en-US" sz="1000" dirty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운영성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유지보수 용이성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비용절감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표준화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단순성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동일성에 따른 용이한 유지보수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000000"/>
                          </a:solidFill>
                        </a:rPr>
                        <a:t>(※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</a:rPr>
                        <a:t>유지보수 연간 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</a:rPr>
                        <a:t>명 이상 절감 예상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리스크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미수행에 대한 리스크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설계 시점에 구현되므로 리스크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zero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화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smtClean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050" b="1" smtClean="0">
                          <a:solidFill>
                            <a:schemeClr val="tx1"/>
                          </a:solidFill>
                        </a:rPr>
                        <a:t>억 </a:t>
                      </a:r>
                      <a:r>
                        <a:rPr lang="en-US" altLang="ko-KR" sz="1050" b="1" smtClean="0">
                          <a:solidFill>
                            <a:schemeClr val="tx1"/>
                          </a:solidFill>
                        </a:rPr>
                        <a:t>2,000</a:t>
                      </a:r>
                      <a:r>
                        <a:rPr lang="ko-KR" altLang="en-US" sz="1050" b="1" smtClean="0">
                          <a:solidFill>
                            <a:schemeClr val="tx1"/>
                          </a:solidFill>
                        </a:rPr>
                        <a:t>본 규모의 시스템 구축 정량적 효과</a:t>
                      </a:r>
                      <a:endParaRPr lang="en-US" altLang="ko-KR" sz="1050" b="1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●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1M/M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평균인건비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\7,000,000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경우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인건비 절감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= 700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만원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* 91M/M = \637,000,000</a:t>
                      </a:r>
                    </a:p>
                    <a:p>
                      <a:pPr algn="l" latinLnBrk="1"/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200" baseline="0" smtClean="0">
                          <a:solidFill>
                            <a:srgbClr val="000099"/>
                          </a:solidFill>
                        </a:rPr>
                        <a:t>  </a:t>
                      </a:r>
                      <a:r>
                        <a:rPr lang="en-US" altLang="ko-KR" sz="1200" baseline="0" smtClean="0">
                          <a:solidFill>
                            <a:srgbClr val="000099"/>
                          </a:solidFill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smtClean="0">
                          <a:solidFill>
                            <a:srgbClr val="0000FF"/>
                          </a:solidFill>
                        </a:rPr>
                        <a:t>(S/W </a:t>
                      </a:r>
                      <a:r>
                        <a:rPr lang="ko-KR" altLang="en-US" sz="1200" b="1" smtClean="0">
                          <a:solidFill>
                            <a:srgbClr val="0000FF"/>
                          </a:solidFill>
                        </a:rPr>
                        <a:t>개발비용의 </a:t>
                      </a:r>
                      <a:r>
                        <a:rPr lang="en-US" altLang="ko-KR" sz="1200" b="1" smtClean="0">
                          <a:solidFill>
                            <a:srgbClr val="0000FF"/>
                          </a:solidFill>
                        </a:rPr>
                        <a:t>20%</a:t>
                      </a:r>
                      <a:r>
                        <a:rPr lang="ko-KR" altLang="en-US" sz="1200" b="1" smtClean="0">
                          <a:solidFill>
                            <a:srgbClr val="0000FF"/>
                          </a:solidFill>
                        </a:rPr>
                        <a:t>이상 절감</a:t>
                      </a:r>
                      <a:r>
                        <a:rPr lang="en-US" altLang="ko-KR" sz="1200" b="1" smtClean="0">
                          <a:solidFill>
                            <a:srgbClr val="0000FF"/>
                          </a:solidFill>
                        </a:rPr>
                        <a:t>)</a:t>
                      </a:r>
                    </a:p>
                  </a:txBody>
                  <a:tcPr marL="36000" marR="36000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만족도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사용자 업무 만족도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구현시점부터 사용자 참여로 만족도 향상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en-US" altLang="ko-KR" sz="1000" smtClean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탄력성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대내외 환경변화 대응력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미래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TOOL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교체 용이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표준 변경 적용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00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미래지향성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신기술 채택 구축 방법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코딩 로봇화 추이 반영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00099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02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en-US" altLang="ko-KR" sz="1600" smtClean="0"/>
              <a:t>3.3 RCAM(Robotic Coding Automation Method)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2.4.4 </a:t>
            </a:r>
            <a:r>
              <a:rPr lang="ko-KR" altLang="en-US" sz="1800" smtClean="0"/>
              <a:t>적용가능 기술</a:t>
            </a:r>
            <a:r>
              <a:rPr lang="en-US" altLang="ko-KR" sz="1800" smtClean="0"/>
              <a:t>(5/6)</a:t>
            </a:r>
            <a:r>
              <a:rPr lang="ko-KR" altLang="en-US" sz="1800" smtClean="0"/>
              <a:t>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sp>
        <p:nvSpPr>
          <p:cNvPr id="81" name="TextBox 80"/>
          <p:cNvSpPr txBox="1"/>
          <p:nvPr/>
        </p:nvSpPr>
        <p:spPr>
          <a:xfrm>
            <a:off x="2138128" y="1198259"/>
            <a:ext cx="6949338" cy="2086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smtClean="0">
                <a:latin typeface="+mn-ea"/>
              </a:rPr>
              <a:t>RCA</a:t>
            </a:r>
            <a:r>
              <a:rPr lang="ko-KR" altLang="en-US" sz="1200" smtClean="0">
                <a:latin typeface="+mn-ea"/>
              </a:rPr>
              <a:t>의</a:t>
            </a:r>
            <a:r>
              <a:rPr lang="en-US" altLang="ko-KR" sz="1200" smtClean="0">
                <a:latin typeface="+mn-ea"/>
              </a:rPr>
              <a:t> </a:t>
            </a:r>
            <a:r>
              <a:rPr lang="ko-KR" altLang="en-US" sz="1200" smtClean="0">
                <a:latin typeface="+mn-ea"/>
              </a:rPr>
              <a:t>신속한 구축은 기존의 정보공학 방법론</a:t>
            </a:r>
            <a:r>
              <a:rPr lang="en-US" altLang="ko-KR" sz="1200" smtClean="0">
                <a:latin typeface="+mn-ea"/>
              </a:rPr>
              <a:t>,</a:t>
            </a:r>
            <a:r>
              <a:rPr lang="ko-KR" altLang="en-US" sz="1200" smtClean="0">
                <a:latin typeface="+mn-ea"/>
              </a:rPr>
              <a:t> 객체지향 방법론</a:t>
            </a:r>
            <a:r>
              <a:rPr lang="en-US" altLang="ko-KR" sz="1200" smtClean="0">
                <a:latin typeface="+mn-ea"/>
              </a:rPr>
              <a:t>, CBD</a:t>
            </a:r>
            <a:r>
              <a:rPr lang="ko-KR" altLang="en-US" sz="1200" smtClean="0">
                <a:latin typeface="+mn-ea"/>
              </a:rPr>
              <a:t>방법론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애자일 방법론 등 </a:t>
            </a:r>
            <a:endParaRPr lang="en-US" altLang="ko-KR" sz="120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smtClean="0">
                <a:latin typeface="+mn-ea"/>
              </a:rPr>
              <a:t>에서 주장하는 각 개발방법론의 </a:t>
            </a:r>
            <a:r>
              <a:rPr lang="ko-KR" altLang="en-US" sz="1200" b="1" smtClean="0">
                <a:latin typeface="+mn-ea"/>
              </a:rPr>
              <a:t>특화된 장점을 모두 충족</a:t>
            </a:r>
            <a:r>
              <a:rPr lang="ko-KR" altLang="en-US" sz="1200" smtClean="0">
                <a:latin typeface="+mn-ea"/>
              </a:rPr>
              <a:t>할 수 있는 개발 방법론이다</a:t>
            </a:r>
            <a:r>
              <a:rPr lang="en-US" altLang="ko-KR" sz="1200" smtClean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smtClean="0">
                <a:latin typeface="+mn-ea"/>
              </a:rPr>
              <a:t>RCAM </a:t>
            </a:r>
            <a:r>
              <a:rPr lang="ko-KR" altLang="en-US" sz="1200" smtClean="0">
                <a:latin typeface="+mn-ea"/>
              </a:rPr>
              <a:t>분석 단계에서 요구사항 정의</a:t>
            </a:r>
            <a:r>
              <a:rPr lang="en-US" altLang="ko-KR" sz="1200" smtClean="0">
                <a:latin typeface="+mn-ea"/>
              </a:rPr>
              <a:t>, DATA , </a:t>
            </a:r>
            <a:r>
              <a:rPr lang="ko-KR" altLang="en-US" sz="1200" smtClean="0">
                <a:latin typeface="+mn-ea"/>
              </a:rPr>
              <a:t>구현 환경 분석을 통하여 </a:t>
            </a:r>
            <a:r>
              <a:rPr lang="en-US" altLang="ko-KR" sz="1200" b="1" smtClean="0">
                <a:solidFill>
                  <a:srgbClr val="0000CC"/>
                </a:solidFill>
                <a:latin typeface="+mn-ea"/>
              </a:rPr>
              <a:t>RCA </a:t>
            </a: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개발을 위한 표준을 </a:t>
            </a:r>
            <a:endParaRPr lang="en-US" altLang="ko-KR" sz="1200" b="1" smtClean="0">
              <a:solidFill>
                <a:srgbClr val="0000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설정</a:t>
            </a:r>
            <a:r>
              <a:rPr lang="ko-KR" altLang="en-US" sz="1200" smtClean="0">
                <a:latin typeface="+mn-ea"/>
              </a:rPr>
              <a:t>하고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설계 단계에서 프로세스와</a:t>
            </a:r>
            <a:r>
              <a:rPr lang="en-US" altLang="ko-KR" sz="1200" smtClean="0">
                <a:latin typeface="+mn-ea"/>
              </a:rPr>
              <a:t> </a:t>
            </a:r>
            <a:r>
              <a:rPr lang="ko-KR" altLang="en-US" sz="1200" smtClean="0">
                <a:latin typeface="+mn-ea"/>
              </a:rPr>
              <a:t>단위 프로그램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테이블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코드 등의 자료와 </a:t>
            </a: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화면 단위의 </a:t>
            </a:r>
            <a:r>
              <a:rPr lang="en-US" altLang="ko-KR" sz="1200" b="1" smtClean="0">
                <a:solidFill>
                  <a:srgbClr val="0000CC"/>
                </a:solidFill>
                <a:latin typeface="+mn-ea"/>
              </a:rPr>
              <a:t>UI</a:t>
            </a: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를</a:t>
            </a:r>
            <a:endParaRPr lang="en-US" altLang="ko-KR" sz="1200" b="1" smtClean="0">
              <a:solidFill>
                <a:srgbClr val="0000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설계</a:t>
            </a:r>
            <a:r>
              <a:rPr lang="ko-KR" altLang="en-US" sz="1200" smtClean="0">
                <a:latin typeface="+mn-ea"/>
              </a:rPr>
              <a:t>하면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설정된 </a:t>
            </a:r>
            <a:r>
              <a:rPr lang="en-US" altLang="ko-KR" sz="1200" smtClean="0">
                <a:latin typeface="+mn-ea"/>
              </a:rPr>
              <a:t>RCA </a:t>
            </a:r>
            <a:r>
              <a:rPr lang="ko-KR" altLang="en-US" sz="1200" smtClean="0">
                <a:latin typeface="+mn-ea"/>
              </a:rPr>
              <a:t>표준을 통하여 해당 </a:t>
            </a:r>
            <a:r>
              <a:rPr lang="en-US" altLang="ko-KR" sz="1200" smtClean="0">
                <a:latin typeface="+mn-ea"/>
              </a:rPr>
              <a:t>UI TOOL</a:t>
            </a:r>
            <a:r>
              <a:rPr lang="ko-KR" altLang="en-US" sz="1200" smtClean="0">
                <a:latin typeface="+mn-ea"/>
              </a:rPr>
              <a:t>에 의한 프로그램이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자동 생성</a:t>
            </a:r>
            <a:r>
              <a:rPr lang="ko-KR" altLang="en-US" sz="1200" smtClean="0">
                <a:latin typeface="+mn-ea"/>
              </a:rPr>
              <a:t>되며</a:t>
            </a:r>
            <a:r>
              <a:rPr lang="en-US" altLang="ko-KR" sz="1200" smtClean="0">
                <a:latin typeface="+mn-ea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ko-KR" altLang="en-US" sz="1200" smtClean="0">
                <a:latin typeface="+mn-ea"/>
              </a:rPr>
              <a:t>이를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즉시 테스트</a:t>
            </a:r>
            <a:r>
              <a:rPr lang="ko-KR" altLang="en-US" sz="1200" smtClean="0">
                <a:latin typeface="+mn-ea"/>
              </a:rPr>
              <a:t>하고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추가 요구사항을 반영</a:t>
            </a:r>
            <a:r>
              <a:rPr lang="ko-KR" altLang="en-US" sz="1200" smtClean="0">
                <a:latin typeface="+mn-ea"/>
              </a:rPr>
              <a:t>하여 프로그램을 </a:t>
            </a:r>
            <a:r>
              <a:rPr lang="ko-KR" altLang="en-US" sz="1200" b="1" smtClean="0">
                <a:solidFill>
                  <a:srgbClr val="FF0000"/>
                </a:solidFill>
                <a:latin typeface="+mn-ea"/>
              </a:rPr>
              <a:t>완성</a:t>
            </a:r>
            <a:r>
              <a:rPr lang="ko-KR" altLang="en-US" sz="1200" smtClean="0">
                <a:latin typeface="+mn-ea"/>
              </a:rPr>
              <a:t>하는 단계로 진행한다</a:t>
            </a:r>
            <a:r>
              <a:rPr lang="en-US" altLang="ko-KR" sz="1200" smtClean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200" smtClean="0">
                <a:latin typeface="+mn-ea"/>
              </a:rPr>
              <a:t>RCA</a:t>
            </a:r>
            <a:r>
              <a:rPr lang="ko-KR" altLang="en-US" sz="1200" smtClean="0">
                <a:latin typeface="+mn-ea"/>
              </a:rPr>
              <a:t>에 의한 </a:t>
            </a: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개발 기간의 단축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표준 준수에 의한 </a:t>
            </a: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품질 향상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개발 과정에서의 각종 </a:t>
            </a:r>
            <a:r>
              <a:rPr lang="ko-KR" altLang="en-US" sz="1200" b="1" smtClean="0">
                <a:solidFill>
                  <a:srgbClr val="0000CC"/>
                </a:solidFill>
                <a:latin typeface="+mn-ea"/>
              </a:rPr>
              <a:t>산출물 추출</a:t>
            </a:r>
            <a:endParaRPr lang="en-US" altLang="ko-KR" sz="1200" b="1" smtClean="0">
              <a:solidFill>
                <a:srgbClr val="0000CC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smtClean="0">
                <a:latin typeface="+mn-ea"/>
              </a:rPr>
              <a:t>등의 직접적인 효과와 프로그램 소스의 표준화와 산출물 현행 유지는 향후 유지보수를 용이하게</a:t>
            </a:r>
            <a:endParaRPr lang="en-US" altLang="ko-KR" sz="120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smtClean="0">
                <a:latin typeface="+mn-ea"/>
              </a:rPr>
              <a:t>하고</a:t>
            </a:r>
            <a:r>
              <a:rPr lang="en-US" altLang="ko-KR" sz="1200" smtClean="0">
                <a:latin typeface="+mn-ea"/>
              </a:rPr>
              <a:t>, </a:t>
            </a:r>
            <a:r>
              <a:rPr lang="ko-KR" altLang="en-US" sz="1200" smtClean="0">
                <a:latin typeface="+mn-ea"/>
              </a:rPr>
              <a:t>장기적으로 도입기관의 시스템을 안정화하여 </a:t>
            </a:r>
            <a:r>
              <a:rPr lang="ko-KR" altLang="en-US" sz="1200" b="1" smtClean="0">
                <a:latin typeface="+mn-ea"/>
              </a:rPr>
              <a:t>비용 감소 및 업무의 효율화</a:t>
            </a:r>
            <a:r>
              <a:rPr lang="ko-KR" altLang="en-US" sz="1200" smtClean="0">
                <a:latin typeface="+mn-ea"/>
              </a:rPr>
              <a:t>를 기한다</a:t>
            </a:r>
            <a:r>
              <a:rPr lang="en-US" altLang="ko-KR" sz="1200" smtClean="0">
                <a:latin typeface="+mn-ea"/>
              </a:rPr>
              <a:t>. </a:t>
            </a:r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2" y="1327657"/>
            <a:ext cx="1819275" cy="1714500"/>
          </a:xfrm>
          <a:prstGeom prst="rect">
            <a:avLst/>
          </a:prstGeom>
          <a:effectLst>
            <a:outerShdw blurRad="50800" dist="50800" dir="5400000" sx="107000" sy="107000" algn="ctr" rotWithShape="0">
              <a:srgbClr val="66FFFF">
                <a:alpha val="44000"/>
              </a:srgbClr>
            </a:outerShdw>
          </a:effectLst>
          <a:scene3d>
            <a:camera prst="perspectiveFront"/>
            <a:lightRig rig="threePt" dir="t"/>
          </a:scene3d>
        </p:spPr>
      </p:pic>
      <p:sp>
        <p:nvSpPr>
          <p:cNvPr id="84" name="타원 83"/>
          <p:cNvSpPr/>
          <p:nvPr/>
        </p:nvSpPr>
        <p:spPr>
          <a:xfrm>
            <a:off x="368902" y="4914417"/>
            <a:ext cx="863327" cy="8067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smtClean="0"/>
              <a:t>RCAM</a:t>
            </a:r>
            <a:endParaRPr lang="ko-KR" altLang="en-US" sz="1600" dirty="0"/>
          </a:p>
        </p:txBody>
      </p:sp>
      <p:sp>
        <p:nvSpPr>
          <p:cNvPr id="85" name="직사각형 84"/>
          <p:cNvSpPr/>
          <p:nvPr/>
        </p:nvSpPr>
        <p:spPr>
          <a:xfrm>
            <a:off x="2223515" y="4426703"/>
            <a:ext cx="1817028" cy="4235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RCA </a:t>
            </a:r>
            <a:r>
              <a:rPr lang="ko-KR" altLang="en-US" sz="1400" smtClean="0"/>
              <a:t>분석</a:t>
            </a:r>
            <a:endParaRPr lang="en-US" altLang="ko-KR" sz="1400" dirty="0" smtClean="0"/>
          </a:p>
        </p:txBody>
      </p:sp>
      <p:sp>
        <p:nvSpPr>
          <p:cNvPr id="86" name="직사각형 85"/>
          <p:cNvSpPr/>
          <p:nvPr/>
        </p:nvSpPr>
        <p:spPr>
          <a:xfrm>
            <a:off x="2223514" y="5121930"/>
            <a:ext cx="1817028" cy="42359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RCA </a:t>
            </a:r>
            <a:r>
              <a:rPr lang="ko-KR" altLang="en-US" sz="1600" smtClean="0"/>
              <a:t>구현</a:t>
            </a:r>
            <a:endParaRPr lang="en-US" altLang="ko-KR" sz="1600" dirty="0"/>
          </a:p>
        </p:txBody>
      </p:sp>
      <p:sp>
        <p:nvSpPr>
          <p:cNvPr id="87" name="직사각형 86"/>
          <p:cNvSpPr/>
          <p:nvPr/>
        </p:nvSpPr>
        <p:spPr>
          <a:xfrm>
            <a:off x="2223513" y="5797033"/>
            <a:ext cx="1817028" cy="42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mtClean="0"/>
              <a:t>RCA </a:t>
            </a:r>
            <a:r>
              <a:rPr lang="ko-KR" altLang="en-US" sz="1600" smtClean="0"/>
              <a:t>운영</a:t>
            </a:r>
            <a:endParaRPr lang="ko-KR" altLang="en-US" sz="1600" dirty="0"/>
          </a:p>
        </p:txBody>
      </p:sp>
      <p:sp>
        <p:nvSpPr>
          <p:cNvPr id="88" name="TextBox 87"/>
          <p:cNvSpPr txBox="1"/>
          <p:nvPr/>
        </p:nvSpPr>
        <p:spPr>
          <a:xfrm>
            <a:off x="4797117" y="5018305"/>
            <a:ext cx="3852186" cy="6262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tIns="0" bIns="36000" rtlCol="0">
            <a:spAutoFit/>
          </a:bodyPr>
          <a:lstStyle/>
          <a:p>
            <a:pPr>
              <a:lnSpc>
                <a:spcPts val="2300"/>
              </a:lnSpc>
              <a:tabLst>
                <a:tab pos="1854200" algn="l"/>
              </a:tabLst>
            </a:pP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표준과 설계자료에 의한 신속한 프로그램 구현과</a:t>
            </a:r>
            <a:endParaRPr lang="en-US" altLang="ko-KR" sz="1200" b="1" smtClea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18" charset="0"/>
            </a:endParaRPr>
          </a:p>
          <a:p>
            <a:pPr>
              <a:lnSpc>
                <a:spcPts val="2300"/>
              </a:lnSpc>
              <a:tabLst>
                <a:tab pos="1854200" algn="l"/>
              </a:tabLst>
            </a:pP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다양한 요구사항에 대한 실시간 반영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,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테스트 대응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797117" y="4365104"/>
            <a:ext cx="3852186" cy="549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tIns="0" bIns="3600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전사적 관점의 정보화 전략에 의거한 업무 영역별 요구사항 분석 및 구현 표준 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(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유형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,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객체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)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도출</a:t>
            </a:r>
            <a:endParaRPr lang="en-US" altLang="zh-CN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797117" y="5736668"/>
            <a:ext cx="3852186" cy="549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tIns="0" bIns="3600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분석시점부터의 일원화된 설계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/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18" charset="0"/>
              </a:rPr>
              <a:t>분석 자료 표준유지로 유지보수 비용절감 및 외부환경 변화 대응 용이</a:t>
            </a:r>
            <a:endParaRPr lang="en-US" altLang="zh-CN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18" charset="0"/>
            </a:endParaRPr>
          </a:p>
        </p:txBody>
      </p:sp>
      <p:cxnSp>
        <p:nvCxnSpPr>
          <p:cNvPr id="91" name="직선 연결선 90"/>
          <p:cNvCxnSpPr>
            <a:stCxn id="84" idx="6"/>
            <a:endCxn id="85" idx="1"/>
          </p:cNvCxnSpPr>
          <p:nvPr/>
        </p:nvCxnSpPr>
        <p:spPr>
          <a:xfrm flipV="1">
            <a:off x="1232229" y="4638499"/>
            <a:ext cx="991286" cy="679286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stCxn id="84" idx="6"/>
            <a:endCxn id="86" idx="1"/>
          </p:cNvCxnSpPr>
          <p:nvPr/>
        </p:nvCxnSpPr>
        <p:spPr>
          <a:xfrm>
            <a:off x="1232229" y="5317785"/>
            <a:ext cx="991285" cy="15941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stCxn id="84" idx="6"/>
            <a:endCxn id="87" idx="1"/>
          </p:cNvCxnSpPr>
          <p:nvPr/>
        </p:nvCxnSpPr>
        <p:spPr>
          <a:xfrm>
            <a:off x="1232229" y="5317785"/>
            <a:ext cx="991284" cy="691044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>
            <a:stCxn id="85" idx="3"/>
            <a:endCxn id="89" idx="1"/>
          </p:cNvCxnSpPr>
          <p:nvPr/>
        </p:nvCxnSpPr>
        <p:spPr>
          <a:xfrm>
            <a:off x="4040543" y="4638499"/>
            <a:ext cx="756574" cy="126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>
            <a:stCxn id="86" idx="3"/>
            <a:endCxn id="88" idx="1"/>
          </p:cNvCxnSpPr>
          <p:nvPr/>
        </p:nvCxnSpPr>
        <p:spPr>
          <a:xfrm flipV="1">
            <a:off x="4040542" y="5331434"/>
            <a:ext cx="756575" cy="229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87" idx="3"/>
            <a:endCxn id="90" idx="1"/>
          </p:cNvCxnSpPr>
          <p:nvPr/>
        </p:nvCxnSpPr>
        <p:spPr>
          <a:xfrm>
            <a:off x="4040541" y="6008829"/>
            <a:ext cx="756576" cy="2496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96"/>
          <p:cNvSpPr/>
          <p:nvPr/>
        </p:nvSpPr>
        <p:spPr>
          <a:xfrm>
            <a:off x="2223513" y="3313990"/>
            <a:ext cx="1817027" cy="8436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b="1" smtClean="0"/>
              <a:t>요구사항 분석</a:t>
            </a:r>
            <a:r>
              <a:rPr lang="en-US" altLang="ko-KR" sz="1200" b="1" smtClean="0"/>
              <a:t>/</a:t>
            </a:r>
            <a:r>
              <a:rPr lang="ko-KR" altLang="en-US" sz="1200" b="1" smtClean="0"/>
              <a:t>정의</a:t>
            </a:r>
            <a:endParaRPr lang="en-US" altLang="ko-KR" sz="1200" b="1" smtClean="0"/>
          </a:p>
          <a:p>
            <a:pPr algn="ctr"/>
            <a:r>
              <a:rPr lang="ko-KR" altLang="en-US" sz="1200" b="1" smtClean="0"/>
              <a:t>데이터 분석</a:t>
            </a:r>
            <a:r>
              <a:rPr lang="en-US" altLang="ko-KR" sz="1200" b="1" smtClean="0"/>
              <a:t>/</a:t>
            </a:r>
            <a:r>
              <a:rPr lang="ko-KR" altLang="en-US" sz="1200" b="1" smtClean="0"/>
              <a:t>모델링</a:t>
            </a:r>
            <a:endParaRPr lang="en-US" altLang="ko-KR" sz="1200" b="1" smtClean="0"/>
          </a:p>
          <a:p>
            <a:pPr algn="ctr"/>
            <a:r>
              <a:rPr lang="ko-KR" altLang="en-US" sz="1200" b="1" smtClean="0"/>
              <a:t>구현 단위 표준설정</a:t>
            </a:r>
            <a:endParaRPr lang="en-US" altLang="ko-KR" sz="1200" b="1" smtClean="0"/>
          </a:p>
          <a:p>
            <a:pPr algn="ctr"/>
            <a:r>
              <a:rPr lang="en-US" altLang="ko-KR" sz="1050" b="1" smtClean="0"/>
              <a:t>(</a:t>
            </a:r>
            <a:r>
              <a:rPr lang="ko-KR" altLang="en-US" sz="1050" b="1" smtClean="0"/>
              <a:t>객체</a:t>
            </a:r>
            <a:r>
              <a:rPr lang="en-US" altLang="ko-KR" sz="1050" b="1" smtClean="0"/>
              <a:t>, Object, Module)</a:t>
            </a:r>
            <a:endParaRPr lang="ko-KR" altLang="en-US" sz="1050" b="1"/>
          </a:p>
        </p:txBody>
      </p:sp>
      <p:sp>
        <p:nvSpPr>
          <p:cNvPr id="98" name="모서리가 둥근 직사각형 97"/>
          <p:cNvSpPr/>
          <p:nvPr/>
        </p:nvSpPr>
        <p:spPr>
          <a:xfrm>
            <a:off x="4544598" y="3299487"/>
            <a:ext cx="1817027" cy="843633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테이블     설계</a:t>
            </a:r>
            <a:endParaRPr lang="en-US" altLang="ko-KR" sz="1200" b="1" smtClean="0"/>
          </a:p>
          <a:p>
            <a:pPr algn="ctr"/>
            <a:r>
              <a:rPr lang="ko-KR" altLang="en-US" sz="1200" b="1" smtClean="0"/>
              <a:t>코드        설계</a:t>
            </a:r>
            <a:endParaRPr lang="en-US" altLang="ko-KR" sz="1200" b="1" smtClean="0"/>
          </a:p>
          <a:p>
            <a:pPr algn="ctr"/>
            <a:r>
              <a:rPr lang="ko-KR" altLang="en-US" sz="1200" b="1" smtClean="0"/>
              <a:t>프로그램  설계</a:t>
            </a:r>
            <a:endParaRPr lang="en-US" altLang="ko-KR" sz="1200" b="1" smtClean="0"/>
          </a:p>
          <a:p>
            <a:pPr algn="ctr"/>
            <a:r>
              <a:rPr lang="ko-KR" altLang="en-US" sz="1200" b="1" smtClean="0"/>
              <a:t>화면설계</a:t>
            </a:r>
            <a:r>
              <a:rPr lang="en-US" altLang="ko-KR" sz="1200" b="1" smtClean="0">
                <a:sym typeface="Wingdings" panose="05000000000000000000" pitchFamily="2" charset="2"/>
              </a:rPr>
              <a:t></a:t>
            </a:r>
            <a:r>
              <a:rPr lang="ko-KR" altLang="en-US" sz="1200" b="1" smtClean="0">
                <a:sym typeface="Wingdings" panose="05000000000000000000" pitchFamily="2" charset="2"/>
              </a:rPr>
              <a:t>구현</a:t>
            </a:r>
            <a:endParaRPr lang="ko-KR" altLang="en-US" sz="1200" b="1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6848854" y="3284984"/>
            <a:ext cx="1817027" cy="84363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b="1"/>
              <a:t>프로그램 표준 </a:t>
            </a:r>
            <a:r>
              <a:rPr lang="ko-KR" altLang="en-US" sz="1200" b="1" smtClean="0"/>
              <a:t>유지</a:t>
            </a:r>
            <a:endParaRPr lang="en-US" altLang="ko-KR" sz="1200" b="1" smtClean="0"/>
          </a:p>
          <a:p>
            <a:pPr algn="ctr"/>
            <a:r>
              <a:rPr lang="ko-KR" altLang="en-US" sz="1200" b="1" smtClean="0"/>
              <a:t>분석</a:t>
            </a:r>
            <a:r>
              <a:rPr lang="en-US" altLang="ko-KR" sz="1200" b="1" smtClean="0"/>
              <a:t>/</a:t>
            </a:r>
            <a:r>
              <a:rPr lang="ko-KR" altLang="en-US" sz="1200" b="1" smtClean="0"/>
              <a:t>설계자료 유지</a:t>
            </a:r>
            <a:endParaRPr lang="en-US" altLang="ko-KR" sz="1200" b="1"/>
          </a:p>
          <a:p>
            <a:pPr algn="ctr"/>
            <a:r>
              <a:rPr lang="ko-KR" altLang="en-US" sz="1200" b="1" smtClean="0"/>
              <a:t>산출물    표준 유지</a:t>
            </a:r>
            <a:endParaRPr lang="en-US" altLang="ko-KR" sz="1200" b="1"/>
          </a:p>
          <a:p>
            <a:pPr algn="ctr"/>
            <a:r>
              <a:rPr lang="ko-KR" altLang="en-US" sz="1200" b="1" smtClean="0"/>
              <a:t>시스템    변경 관리 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315396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sz="1600" smtClean="0"/>
              <a:t>3.4 RCAM </a:t>
            </a:r>
            <a:r>
              <a:rPr lang="ko-KR" altLang="en-US" sz="1600" smtClean="0"/>
              <a:t>프로세스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2.4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2.4.4 </a:t>
            </a:r>
            <a:r>
              <a:rPr lang="ko-KR" altLang="en-US" sz="1800" smtClean="0"/>
              <a:t>적용가능 기술</a:t>
            </a:r>
            <a:r>
              <a:rPr lang="en-US" altLang="ko-KR" sz="1800" smtClean="0"/>
              <a:t>(6/6)</a:t>
            </a:r>
            <a:r>
              <a:rPr lang="ko-KR" altLang="en-US" sz="1800" smtClean="0"/>
              <a:t>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484644" y="1197347"/>
            <a:ext cx="8551851" cy="5039965"/>
            <a:chOff x="484644" y="579123"/>
            <a:chExt cx="8551851" cy="5951017"/>
          </a:xfrm>
        </p:grpSpPr>
        <p:grpSp>
          <p:nvGrpSpPr>
            <p:cNvPr id="87" name="그룹 86"/>
            <p:cNvGrpSpPr/>
            <p:nvPr/>
          </p:nvGrpSpPr>
          <p:grpSpPr>
            <a:xfrm>
              <a:off x="604744" y="3310863"/>
              <a:ext cx="873831" cy="522607"/>
              <a:chOff x="368300" y="3189288"/>
              <a:chExt cx="2000250" cy="1563687"/>
            </a:xfrm>
          </p:grpSpPr>
          <p:pic>
            <p:nvPicPr>
              <p:cNvPr id="88" name="Picture 9" descr="http://www.virtuallead.co.kr/images/portfolio/2006_yetak_EIS.jp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68300" y="3189288"/>
                <a:ext cx="2000250" cy="1524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9" name="직사각형 88"/>
              <p:cNvSpPr/>
              <p:nvPr/>
            </p:nvSpPr>
            <p:spPr>
              <a:xfrm>
                <a:off x="800100" y="3476625"/>
                <a:ext cx="1008063" cy="57626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latinLnBrk="1" hangingPunct="1">
                  <a:defRPr/>
                </a:pPr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90" name="Picture 112" descr="서버_1-[Converted]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8300" y="4341813"/>
                <a:ext cx="519113" cy="411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1" name="Rectangle 2"/>
            <p:cNvSpPr>
              <a:spLocks noChangeArrowheads="1"/>
            </p:cNvSpPr>
            <p:nvPr/>
          </p:nvSpPr>
          <p:spPr bwMode="auto">
            <a:xfrm>
              <a:off x="486520" y="752598"/>
              <a:ext cx="3611591" cy="1812925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2" name="오른쪽 화살표 91"/>
            <p:cNvSpPr/>
            <p:nvPr/>
          </p:nvSpPr>
          <p:spPr>
            <a:xfrm rot="5400000">
              <a:off x="7085980" y="2440962"/>
              <a:ext cx="554036" cy="482256"/>
            </a:xfrm>
            <a:prstGeom prst="rightArrow">
              <a:avLst/>
            </a:prstGeom>
            <a:gradFill flip="none" rotWithShape="1">
              <a:gsLst>
                <a:gs pos="0">
                  <a:srgbClr val="6699FF"/>
                </a:gs>
                <a:gs pos="98000">
                  <a:srgbClr val="FFFFFF"/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3" name="Rectangle 2"/>
            <p:cNvSpPr>
              <a:spLocks noChangeArrowheads="1"/>
            </p:cNvSpPr>
            <p:nvPr/>
          </p:nvSpPr>
          <p:spPr bwMode="auto">
            <a:xfrm>
              <a:off x="486520" y="2554212"/>
              <a:ext cx="1805796" cy="276086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654136" y="1075137"/>
              <a:ext cx="1003141" cy="249237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kern="0" smtClean="0">
                  <a:solidFill>
                    <a:schemeClr val="bg1"/>
                  </a:solidFill>
                  <a:latin typeface="맑은 고딕" pitchFamily="50" charset="-127"/>
                  <a:ea typeface="나눔고딕"/>
                </a:rPr>
                <a:t>업무 요구사항</a:t>
              </a:r>
              <a:endParaRPr kumimoji="0" lang="ko-KR" altLang="en-US" sz="1000" b="1" kern="0" dirty="0">
                <a:solidFill>
                  <a:schemeClr val="bg1"/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654136" y="1641449"/>
              <a:ext cx="1003141" cy="249237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kern="0" smtClean="0">
                  <a:solidFill>
                    <a:schemeClr val="bg1"/>
                  </a:solidFill>
                  <a:latin typeface="맑은 고딕" pitchFamily="50" charset="-127"/>
                  <a:ea typeface="나눔고딕"/>
                </a:rPr>
                <a:t>개발 환경 분석</a:t>
              </a:r>
              <a:endParaRPr kumimoji="0" lang="ko-KR" altLang="en-US" sz="1000" b="1" kern="0" dirty="0">
                <a:solidFill>
                  <a:schemeClr val="bg1"/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810495" y="1062694"/>
              <a:ext cx="2134399" cy="464603"/>
            </a:xfrm>
            <a:prstGeom prst="rect">
              <a:avLst/>
            </a:prstGeom>
            <a:solidFill>
              <a:srgbClr val="BBE0E3"/>
            </a:solidFill>
            <a:ln w="3175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RFP,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요구사항 정의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업무 절차 정의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인터뷰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목표 모델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 프로세스 정의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 </a:t>
              </a:r>
              <a:endParaRPr kumimoji="0" lang="ko-KR" altLang="en-US" sz="1000" kern="0" dirty="0">
                <a:solidFill>
                  <a:srgbClr val="808080">
                    <a:lumMod val="50000"/>
                  </a:srgbClr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654137" y="2183120"/>
              <a:ext cx="1004744" cy="249237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chemeClr val="bg1"/>
                  </a:solidFill>
                  <a:latin typeface="맑은 고딕" pitchFamily="50" charset="-127"/>
                  <a:ea typeface="나눔고딕"/>
                </a:rPr>
                <a:t>UI/UX </a:t>
              </a:r>
              <a:r>
                <a:rPr kumimoji="0" lang="ko-KR" altLang="en-US" sz="1000" b="1" kern="0" smtClean="0">
                  <a:solidFill>
                    <a:schemeClr val="bg1"/>
                  </a:solidFill>
                  <a:latin typeface="맑은 고딕" pitchFamily="50" charset="-127"/>
                  <a:ea typeface="나눔고딕"/>
                </a:rPr>
                <a:t>요구</a:t>
              </a:r>
              <a:endParaRPr kumimoji="0" lang="ko-KR" altLang="en-US" sz="1000" b="1" kern="0" dirty="0">
                <a:solidFill>
                  <a:schemeClr val="bg1"/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98" name="AutoShape 47"/>
            <p:cNvSpPr>
              <a:spLocks noChangeArrowheads="1"/>
            </p:cNvSpPr>
            <p:nvPr/>
          </p:nvSpPr>
          <p:spPr bwMode="auto">
            <a:xfrm>
              <a:off x="1259632" y="598611"/>
              <a:ext cx="2129835" cy="307975"/>
            </a:xfrm>
            <a:prstGeom prst="roundRect">
              <a:avLst>
                <a:gd name="adj" fmla="val 16667"/>
              </a:avLst>
            </a:prstGeom>
            <a:solidFill>
              <a:srgbClr val="77D9DB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>
              <a:prstShdw prst="shdw17" dist="17961" dir="13500000">
                <a:srgbClr val="005C7A"/>
              </a:prstShdw>
            </a:effec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lang="ko-KR" altLang="en-US" sz="1200" b="1" smtClean="0">
                  <a:latin typeface="HY울릉도M" panose="02030600000101010101" pitchFamily="18" charset="-127"/>
                  <a:ea typeface="HY울릉도M" panose="02030600000101010101" pitchFamily="18" charset="-127"/>
                </a:rPr>
                <a:t>요구 기능</a:t>
              </a:r>
              <a:r>
                <a:rPr lang="en-US" altLang="ko-KR" sz="1200" b="1" smtClean="0">
                  <a:latin typeface="HY울릉도M" panose="02030600000101010101" pitchFamily="18" charset="-127"/>
                  <a:ea typeface="HY울릉도M" panose="02030600000101010101" pitchFamily="18" charset="-127"/>
                </a:rPr>
                <a:t>, </a:t>
              </a:r>
              <a:r>
                <a:rPr lang="ko-KR" altLang="en-US" sz="1200" b="1" smtClean="0">
                  <a:latin typeface="HY울릉도M" panose="02030600000101010101" pitchFamily="18" charset="-127"/>
                  <a:ea typeface="HY울릉도M" panose="02030600000101010101" pitchFamily="18" charset="-127"/>
                </a:rPr>
                <a:t>환경 분석 </a:t>
              </a:r>
              <a:endParaRPr lang="ko-KR" altLang="en-US" sz="900" b="1">
                <a:latin typeface="HY울릉도M" panose="02030600000101010101" pitchFamily="18" charset="-127"/>
                <a:ea typeface="HY울릉도M" panose="02030600000101010101" pitchFamily="18" charset="-127"/>
              </a:endParaRPr>
            </a:p>
          </p:txBody>
        </p:sp>
        <p:pic>
          <p:nvPicPr>
            <p:cNvPr id="99" name="Picture 199" descr="ServerProcess01"/>
            <p:cNvPicPr>
              <a:picLocks noChangeAspect="1" noChangeArrowheads="1"/>
            </p:cNvPicPr>
            <p:nvPr/>
          </p:nvPicPr>
          <p:blipFill>
            <a:blip r:embed="rId5">
              <a:lum bright="-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5686922" y="1236786"/>
              <a:ext cx="698282" cy="608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4" name="오른쪽 화살표 123"/>
            <p:cNvSpPr/>
            <p:nvPr/>
          </p:nvSpPr>
          <p:spPr>
            <a:xfrm>
              <a:off x="4270449" y="1354261"/>
              <a:ext cx="917074" cy="503237"/>
            </a:xfrm>
            <a:prstGeom prst="rightArrow">
              <a:avLst/>
            </a:prstGeom>
            <a:gradFill flip="none" rotWithShape="1">
              <a:gsLst>
                <a:gs pos="0">
                  <a:srgbClr val="6699FF"/>
                </a:gs>
                <a:gs pos="98000">
                  <a:srgbClr val="FFFFFF"/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Rectangle 137"/>
            <p:cNvSpPr>
              <a:spLocks noChangeArrowheads="1"/>
            </p:cNvSpPr>
            <p:nvPr/>
          </p:nvSpPr>
          <p:spPr bwMode="auto">
            <a:xfrm>
              <a:off x="4353046" y="1527298"/>
              <a:ext cx="698281" cy="153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표준화 대상</a:t>
              </a:r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6" name="Rectangle 2"/>
            <p:cNvSpPr>
              <a:spLocks noChangeArrowheads="1"/>
            </p:cNvSpPr>
            <p:nvPr/>
          </p:nvSpPr>
          <p:spPr bwMode="auto">
            <a:xfrm>
              <a:off x="5359442" y="755773"/>
              <a:ext cx="3677053" cy="1812925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7" name="AutoShape 47"/>
            <p:cNvSpPr>
              <a:spLocks noChangeArrowheads="1"/>
            </p:cNvSpPr>
            <p:nvPr/>
          </p:nvSpPr>
          <p:spPr bwMode="auto">
            <a:xfrm>
              <a:off x="5622996" y="579123"/>
              <a:ext cx="1066438" cy="307975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1" hangingPunct="1">
                <a:defRPr/>
              </a:pPr>
              <a:r>
                <a:rPr lang="ko-KR" altLang="en-US" sz="1200" b="1" smtClean="0">
                  <a:latin typeface="HY울릉도M" pitchFamily="18" charset="-127"/>
                  <a:ea typeface="HY울릉도M" pitchFamily="18" charset="-127"/>
                </a:rPr>
                <a:t>표준</a:t>
              </a:r>
              <a:r>
                <a:rPr lang="en-US" altLang="ko-KR" sz="1200" b="1" smtClean="0">
                  <a:latin typeface="HY울릉도M" pitchFamily="18" charset="-127"/>
                  <a:ea typeface="HY울릉도M" pitchFamily="18" charset="-127"/>
                </a:rPr>
                <a:t> </a:t>
              </a:r>
              <a:r>
                <a:rPr lang="ko-KR" altLang="en-US" sz="1200" b="1" smtClean="0">
                  <a:latin typeface="HY울릉도M" pitchFamily="18" charset="-127"/>
                  <a:ea typeface="HY울릉도M" pitchFamily="18" charset="-127"/>
                </a:rPr>
                <a:t>정의 </a:t>
              </a:r>
              <a:endParaRPr lang="ko-KR" altLang="en-US" sz="1200" b="1" dirty="0"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128" name="Rectangle 137"/>
            <p:cNvSpPr>
              <a:spLocks noChangeArrowheads="1"/>
            </p:cNvSpPr>
            <p:nvPr/>
          </p:nvSpPr>
          <p:spPr bwMode="auto">
            <a:xfrm>
              <a:off x="5436096" y="1924173"/>
              <a:ext cx="1217048" cy="477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업무처리 표준</a:t>
              </a:r>
              <a:endParaRPr lang="en-US" altLang="ko-KR" sz="1000" b="1" smtClean="0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데이터   표준</a:t>
              </a:r>
              <a:endParaRPr lang="en-US" altLang="ko-KR" sz="1000" b="1" smtClean="0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  <a:p>
              <a:pPr eaLnBrk="1" hangingPunct="1"/>
              <a:r>
                <a:rPr lang="en-US" altLang="ko-KR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UI/UX   </a:t>
              </a:r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표준</a:t>
              </a:r>
              <a:endParaRPr lang="en-US" altLang="ko-KR" sz="1000" b="1" smtClean="0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  <a:p>
              <a:pPr eaLnBrk="1" hangingPunct="1"/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9" name="직사각형 6"/>
            <p:cNvSpPr>
              <a:spLocks noChangeArrowheads="1"/>
            </p:cNvSpPr>
            <p:nvPr/>
          </p:nvSpPr>
          <p:spPr bwMode="auto">
            <a:xfrm>
              <a:off x="511920" y="2506786"/>
              <a:ext cx="1752550" cy="144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6762" tIns="48381" rIns="96762" bIns="48381" anchor="ctr"/>
            <a:lstStyle>
              <a:lvl1pPr algn="ctr" defTabSz="968375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defTabSz="968375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defTabSz="968375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defTabSz="968375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defTabSz="968375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defTabSz="968375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defTabSz="968375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defTabSz="968375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defTabSz="968375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l" eaLnBrk="1" hangingPunct="1">
                <a:spcBef>
                  <a:spcPct val="20000"/>
                </a:spcBef>
              </a:pPr>
              <a:endParaRPr lang="ko-KR" altLang="en-US" sz="1200">
                <a:solidFill>
                  <a:schemeClr val="bg1"/>
                </a:solidFill>
                <a:latin typeface="HY견고딕" panose="02030600000101010101" pitchFamily="18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30" name="그룹 46"/>
            <p:cNvGrpSpPr>
              <a:grpSpLocks/>
            </p:cNvGrpSpPr>
            <p:nvPr/>
          </p:nvGrpSpPr>
          <p:grpSpPr bwMode="auto">
            <a:xfrm>
              <a:off x="2044455" y="5822261"/>
              <a:ext cx="727421" cy="520546"/>
              <a:chOff x="929464" y="5654900"/>
              <a:chExt cx="1109848" cy="797504"/>
            </a:xfrm>
          </p:grpSpPr>
          <p:pic>
            <p:nvPicPr>
              <p:cNvPr id="131" name="Picture 46" descr="3"/>
              <p:cNvPicPr preferRelativeResize="0"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9464" y="5880900"/>
                <a:ext cx="1109848" cy="571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2" name="Picture 48" descr="6"/>
              <p:cNvPicPr preferRelativeResize="0"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2340" y="5654900"/>
                <a:ext cx="500066" cy="654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" name="Picture 50" descr="3"/>
              <p:cNvPicPr preferRelativeResize="0"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9530" y="5809462"/>
                <a:ext cx="522790" cy="49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4" name="Rectangle 2"/>
            <p:cNvSpPr>
              <a:spLocks noChangeArrowheads="1"/>
            </p:cNvSpPr>
            <p:nvPr/>
          </p:nvSpPr>
          <p:spPr bwMode="auto">
            <a:xfrm>
              <a:off x="499662" y="3079021"/>
              <a:ext cx="3964134" cy="2061464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5" name="AutoShape 47"/>
            <p:cNvSpPr>
              <a:spLocks noChangeArrowheads="1"/>
            </p:cNvSpPr>
            <p:nvPr/>
          </p:nvSpPr>
          <p:spPr bwMode="auto">
            <a:xfrm>
              <a:off x="1315847" y="2902867"/>
              <a:ext cx="1203356" cy="307975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ko-KR" sz="1200" b="1" smtClean="0">
                  <a:latin typeface="HY울릉도M" pitchFamily="18" charset="-127"/>
                  <a:ea typeface="HY울릉도M" pitchFamily="18" charset="-127"/>
                </a:rPr>
                <a:t>RCA </a:t>
              </a:r>
              <a:r>
                <a:rPr lang="ko-KR" altLang="en-US" sz="1200" b="1" smtClean="0">
                  <a:latin typeface="HY울릉도M" pitchFamily="18" charset="-127"/>
                  <a:ea typeface="HY울릉도M" pitchFamily="18" charset="-127"/>
                </a:rPr>
                <a:t>구현 </a:t>
              </a:r>
              <a:endParaRPr lang="ko-KR" altLang="en-US" sz="1200" b="1" dirty="0"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1810495" y="1643039"/>
              <a:ext cx="2134399" cy="464603"/>
            </a:xfrm>
            <a:prstGeom prst="rect">
              <a:avLst/>
            </a:prstGeom>
            <a:solidFill>
              <a:srgbClr val="BBE0E3"/>
            </a:solidFill>
            <a:ln w="3175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응용 아키텍쳐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데이터 아키텍쳐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인프라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/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보안 아키텍쳐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,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정보기술 요건</a:t>
              </a:r>
              <a:endParaRPr kumimoji="0" lang="ko-KR" altLang="en-US" sz="1000" kern="0" dirty="0">
                <a:solidFill>
                  <a:srgbClr val="808080">
                    <a:lumMod val="50000"/>
                  </a:srgbClr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1810495" y="2173671"/>
              <a:ext cx="2134399" cy="276871"/>
            </a:xfrm>
            <a:prstGeom prst="rect">
              <a:avLst/>
            </a:prstGeom>
            <a:solidFill>
              <a:srgbClr val="BBE0E3"/>
            </a:solidFill>
            <a:ln w="3175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RCA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도입 </a:t>
              </a:r>
              <a:r>
                <a:rPr lang="en-US" altLang="ko-KR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UI/UX </a:t>
              </a:r>
              <a:r>
                <a:rPr lang="ko-KR" altLang="en-US" sz="1000" kern="0" smtClean="0">
                  <a:solidFill>
                    <a:srgbClr val="808080">
                      <a:lumMod val="50000"/>
                    </a:srgbClr>
                  </a:solidFill>
                  <a:latin typeface="맑은 고딕" pitchFamily="50" charset="-127"/>
                  <a:ea typeface="나눔고딕"/>
                </a:rPr>
                <a:t>요구사항 분석</a:t>
              </a:r>
              <a:endParaRPr kumimoji="0" lang="ko-KR" altLang="en-US" sz="1000" kern="0" dirty="0">
                <a:solidFill>
                  <a:srgbClr val="808080">
                    <a:lumMod val="50000"/>
                  </a:srgbClr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138" name="Rectangle 2"/>
            <p:cNvSpPr>
              <a:spLocks noChangeArrowheads="1"/>
            </p:cNvSpPr>
            <p:nvPr/>
          </p:nvSpPr>
          <p:spPr bwMode="auto">
            <a:xfrm>
              <a:off x="4932039" y="3087610"/>
              <a:ext cx="4104455" cy="3442530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9" name="Rectangle 137"/>
            <p:cNvSpPr>
              <a:spLocks noChangeArrowheads="1"/>
            </p:cNvSpPr>
            <p:nvPr/>
          </p:nvSpPr>
          <p:spPr bwMode="auto">
            <a:xfrm>
              <a:off x="7020272" y="2628610"/>
              <a:ext cx="698282" cy="15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표준 제시</a:t>
              </a:r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0" name="Rectangle 137"/>
            <p:cNvSpPr>
              <a:spLocks noChangeArrowheads="1"/>
            </p:cNvSpPr>
            <p:nvPr/>
          </p:nvSpPr>
          <p:spPr bwMode="auto">
            <a:xfrm>
              <a:off x="7766623" y="4370360"/>
              <a:ext cx="1135407" cy="240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화면 구성요소 표준</a:t>
              </a:r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>
              <a:off x="7169320" y="3612925"/>
              <a:ext cx="736403" cy="503237"/>
              <a:chOff x="4457621" y="7001484"/>
              <a:chExt cx="768442" cy="503237"/>
            </a:xfrm>
          </p:grpSpPr>
          <p:sp>
            <p:nvSpPr>
              <p:cNvPr id="142" name="오른쪽 화살표 141"/>
              <p:cNvSpPr/>
              <p:nvPr/>
            </p:nvSpPr>
            <p:spPr>
              <a:xfrm rot="10800000">
                <a:off x="4492638" y="7001484"/>
                <a:ext cx="733425" cy="503237"/>
              </a:xfrm>
              <a:prstGeom prst="rightArrow">
                <a:avLst/>
              </a:prstGeom>
              <a:gradFill flip="none" rotWithShape="1">
                <a:gsLst>
                  <a:gs pos="0">
                    <a:srgbClr val="6699FF"/>
                  </a:gs>
                  <a:gs pos="98000">
                    <a:srgbClr val="FFFFFF"/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43" name="Rectangle 137"/>
              <p:cNvSpPr>
                <a:spLocks noChangeArrowheads="1"/>
              </p:cNvSpPr>
              <p:nvPr/>
            </p:nvSpPr>
            <p:spPr bwMode="auto">
              <a:xfrm>
                <a:off x="4457621" y="7166293"/>
                <a:ext cx="728662" cy="153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 sz="1000" b="1" smtClean="0">
                    <a:solidFill>
                      <a:srgbClr val="000000"/>
                    </a:solidFill>
                    <a:latin typeface="맑은 고딕" panose="020B0503020000020004" pitchFamily="50" charset="-127"/>
                    <a:ea typeface="나눔고딕" panose="020D0604000000000000" pitchFamily="50" charset="-127"/>
                  </a:rPr>
                  <a:t>구성요소</a:t>
                </a:r>
                <a:endParaRPr lang="en-US" altLang="ko-KR" sz="1000" b="1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44" name="Rectangle 137"/>
            <p:cNvSpPr>
              <a:spLocks noChangeArrowheads="1"/>
            </p:cNvSpPr>
            <p:nvPr/>
          </p:nvSpPr>
          <p:spPr bwMode="auto">
            <a:xfrm>
              <a:off x="6071078" y="4427240"/>
              <a:ext cx="1525258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화면 구성유형 표준</a:t>
              </a:r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45" name="그룹 17"/>
            <p:cNvGrpSpPr>
              <a:grpSpLocks/>
            </p:cNvGrpSpPr>
            <p:nvPr/>
          </p:nvGrpSpPr>
          <p:grpSpPr bwMode="auto">
            <a:xfrm>
              <a:off x="831269" y="5853073"/>
              <a:ext cx="578098" cy="649287"/>
              <a:chOff x="-2070932" y="4509290"/>
              <a:chExt cx="728025" cy="711690"/>
            </a:xfrm>
          </p:grpSpPr>
          <p:sp>
            <p:nvSpPr>
              <p:cNvPr id="146" name="Oval 230"/>
              <p:cNvSpPr>
                <a:spLocks noChangeArrowheads="1"/>
              </p:cNvSpPr>
              <p:nvPr/>
            </p:nvSpPr>
            <p:spPr bwMode="auto">
              <a:xfrm>
                <a:off x="-2070932" y="4953008"/>
                <a:ext cx="701203" cy="267972"/>
              </a:xfrm>
              <a:prstGeom prst="ellipse">
                <a:avLst/>
              </a:prstGeom>
              <a:gradFill rotWithShape="1">
                <a:gsLst>
                  <a:gs pos="0">
                    <a:schemeClr val="bg2"/>
                  </a:gs>
                  <a:gs pos="100000">
                    <a:schemeClr val="bg2">
                      <a:gamma/>
                      <a:tint val="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1pPr>
                <a:lvl2pPr marL="457200" algn="l" rtl="0" fontAlgn="base" latinLnBrk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2pPr>
                <a:lvl3pPr marL="914400" algn="l" rtl="0" fontAlgn="base" latinLnBrk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3pPr>
                <a:lvl4pPr marL="1371600" algn="l" rtl="0" fontAlgn="base" latinLnBrk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4pPr>
                <a:lvl5pPr marL="1828800" algn="l" rtl="0" fontAlgn="base" latinLnBrk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000" kern="1200">
                    <a:solidFill>
                      <a:schemeClr val="tx1"/>
                    </a:solidFill>
                    <a:latin typeface="산돌고딕 L" pitchFamily="50" charset="-127"/>
                    <a:ea typeface="산돌고딕 L" pitchFamily="50" charset="-127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ko-KR" altLang="en-US" sz="900">
                  <a:solidFill>
                    <a:srgbClr val="333333"/>
                  </a:solidFill>
                  <a:latin typeface="-윤고딕140" pitchFamily="18" charset="-127"/>
                  <a:ea typeface="-윤고딕140" pitchFamily="18" charset="-127"/>
                </a:endParaRPr>
              </a:p>
            </p:txBody>
          </p:sp>
          <p:pic>
            <p:nvPicPr>
              <p:cNvPr id="147" name="Picture 231" descr="원통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70932" y="4696760"/>
                <a:ext cx="701589" cy="420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8" name="Picture 302" descr="사람아이콘-02"/>
              <p:cNvPicPr preferRelativeResize="0">
                <a:picLocks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23307" y="4509290"/>
                <a:ext cx="680400" cy="51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49" name="오른쪽 화살표 148"/>
            <p:cNvSpPr/>
            <p:nvPr/>
          </p:nvSpPr>
          <p:spPr>
            <a:xfrm rot="5400000">
              <a:off x="868826" y="3877654"/>
              <a:ext cx="407632" cy="481413"/>
            </a:xfrm>
            <a:prstGeom prst="rightArrow">
              <a:avLst/>
            </a:prstGeom>
            <a:gradFill flip="none" rotWithShape="1">
              <a:gsLst>
                <a:gs pos="0">
                  <a:srgbClr val="6699FF"/>
                </a:gs>
                <a:gs pos="98000">
                  <a:srgbClr val="FFFFFF"/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AutoShape 47"/>
            <p:cNvSpPr>
              <a:spLocks noChangeArrowheads="1"/>
            </p:cNvSpPr>
            <p:nvPr/>
          </p:nvSpPr>
          <p:spPr bwMode="auto">
            <a:xfrm>
              <a:off x="6740644" y="2923737"/>
              <a:ext cx="1203357" cy="306387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ko-KR" sz="1200" b="1" smtClean="0">
                  <a:latin typeface="HY울릉도M" pitchFamily="18" charset="-127"/>
                  <a:ea typeface="HY울릉도M" pitchFamily="18" charset="-127"/>
                </a:rPr>
                <a:t>RCA</a:t>
              </a:r>
              <a:r>
                <a:rPr lang="ko-KR" altLang="en-US" sz="1200" b="1" smtClean="0">
                  <a:latin typeface="HY울릉도M" pitchFamily="18" charset="-127"/>
                  <a:ea typeface="HY울릉도M" pitchFamily="18" charset="-127"/>
                </a:rPr>
                <a:t> 설계</a:t>
              </a:r>
              <a:endParaRPr lang="ko-KR" altLang="en-US" sz="1200" b="1" dirty="0"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151" name="오른쪽 화살표 150"/>
            <p:cNvSpPr/>
            <p:nvPr/>
          </p:nvSpPr>
          <p:spPr>
            <a:xfrm rot="5400000">
              <a:off x="7971050" y="4800219"/>
              <a:ext cx="596899" cy="482255"/>
            </a:xfrm>
            <a:prstGeom prst="rightArrow">
              <a:avLst/>
            </a:prstGeom>
            <a:gradFill flip="none" rotWithShape="1">
              <a:gsLst>
                <a:gs pos="0">
                  <a:srgbClr val="6699FF"/>
                </a:gs>
                <a:gs pos="98000">
                  <a:srgbClr val="FFFFFF"/>
                </a:gs>
              </a:gsLst>
              <a:lin ang="108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2" name="Rectangle 137"/>
            <p:cNvSpPr>
              <a:spLocks noChangeArrowheads="1"/>
            </p:cNvSpPr>
            <p:nvPr/>
          </p:nvSpPr>
          <p:spPr bwMode="auto">
            <a:xfrm>
              <a:off x="7928095" y="4797598"/>
              <a:ext cx="698281" cy="153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구성</a:t>
              </a:r>
              <a:r>
                <a:rPr lang="en-US" altLang="ko-KR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데이터</a:t>
              </a:r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53" name="그룹 61"/>
            <p:cNvGrpSpPr>
              <a:grpSpLocks/>
            </p:cNvGrpSpPr>
            <p:nvPr/>
          </p:nvGrpSpPr>
          <p:grpSpPr bwMode="auto">
            <a:xfrm>
              <a:off x="7906134" y="5260274"/>
              <a:ext cx="759135" cy="536575"/>
              <a:chOff x="3144042" y="7728763"/>
              <a:chExt cx="1357322" cy="1000132"/>
            </a:xfrm>
          </p:grpSpPr>
          <p:pic>
            <p:nvPicPr>
              <p:cNvPr id="154" name="Picture 185" descr="3"/>
              <p:cNvPicPr preferRelativeResize="0">
                <a:picLocks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55" t="63850" r="62900" b="17926"/>
              <a:stretch>
                <a:fillRect/>
              </a:stretch>
            </p:blipFill>
            <p:spPr bwMode="auto">
              <a:xfrm>
                <a:off x="3770564" y="7728763"/>
                <a:ext cx="730800" cy="72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5" name="Picture 185" descr="3"/>
              <p:cNvPicPr preferRelativeResize="0">
                <a:picLocks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55" t="63850" r="62900" b="17926"/>
              <a:stretch>
                <a:fillRect/>
              </a:stretch>
            </p:blipFill>
            <p:spPr bwMode="auto">
              <a:xfrm>
                <a:off x="3144042" y="7738288"/>
                <a:ext cx="730800" cy="72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6" name="Picture 185" descr="3"/>
              <p:cNvPicPr preferRelativeResize="0">
                <a:picLocks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55" t="63850" r="62900" b="17926"/>
              <a:stretch>
                <a:fillRect/>
              </a:stretch>
            </p:blipFill>
            <p:spPr bwMode="auto">
              <a:xfrm>
                <a:off x="3460999" y="8001695"/>
                <a:ext cx="730800" cy="72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7" name="모서리가 둥근 직사각형 156"/>
            <p:cNvSpPr/>
            <p:nvPr/>
          </p:nvSpPr>
          <p:spPr>
            <a:xfrm>
              <a:off x="7721577" y="5869874"/>
              <a:ext cx="1242911" cy="196850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DATABASE </a:t>
              </a:r>
              <a:r>
                <a:rPr lang="ko-KR" altLang="en-US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표준</a:t>
              </a: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나눔고딕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>
              <a:off x="6460392" y="3502435"/>
              <a:ext cx="723429" cy="816553"/>
              <a:chOff x="5985197" y="3338732"/>
              <a:chExt cx="1119829" cy="966459"/>
            </a:xfrm>
          </p:grpSpPr>
          <p:pic>
            <p:nvPicPr>
              <p:cNvPr id="159" name="그림 158" descr="&lt;strong&gt;엑셀&lt;/strong&gt; 전화번호 - 넣기 빼기, &lt;strong&gt;엑셀&lt;/strong&gt; 전화번호 0 입력 ...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12576" y="3338732"/>
                <a:ext cx="1092450" cy="9664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60" name="직사각형 159"/>
              <p:cNvSpPr/>
              <p:nvPr/>
            </p:nvSpPr>
            <p:spPr>
              <a:xfrm>
                <a:off x="5985197" y="3415271"/>
                <a:ext cx="187122" cy="14741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" name="직사각형 160"/>
              <p:cNvSpPr/>
              <p:nvPr/>
            </p:nvSpPr>
            <p:spPr>
              <a:xfrm>
                <a:off x="6676561" y="3365035"/>
                <a:ext cx="349409" cy="15834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직사각형 161"/>
              <p:cNvSpPr/>
              <p:nvPr/>
            </p:nvSpPr>
            <p:spPr>
              <a:xfrm>
                <a:off x="5990993" y="3713463"/>
                <a:ext cx="988898" cy="1219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3" name="모서리가 둥근 직사각형 162"/>
            <p:cNvSpPr/>
            <p:nvPr/>
          </p:nvSpPr>
          <p:spPr>
            <a:xfrm>
              <a:off x="5085714" y="5896900"/>
              <a:ext cx="1388346" cy="173326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Business Logic</a:t>
              </a:r>
              <a:r>
                <a:rPr lang="ko-KR" altLang="en-US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표준</a:t>
              </a: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나눔고딕"/>
              </a:endParaRPr>
            </a:p>
          </p:txBody>
        </p:sp>
        <p:grpSp>
          <p:nvGrpSpPr>
            <p:cNvPr id="164" name="그룹 163"/>
            <p:cNvGrpSpPr/>
            <p:nvPr/>
          </p:nvGrpSpPr>
          <p:grpSpPr>
            <a:xfrm>
              <a:off x="4475303" y="3423579"/>
              <a:ext cx="698281" cy="1518309"/>
              <a:chOff x="1412383" y="6516914"/>
              <a:chExt cx="728662" cy="1518309"/>
            </a:xfrm>
          </p:grpSpPr>
          <p:sp>
            <p:nvSpPr>
              <p:cNvPr id="165" name="Freeform 47"/>
              <p:cNvSpPr>
                <a:spLocks/>
              </p:cNvSpPr>
              <p:nvPr/>
            </p:nvSpPr>
            <p:spPr bwMode="auto">
              <a:xfrm rot="16200000">
                <a:off x="1000395" y="6946380"/>
                <a:ext cx="1518309" cy="659378"/>
              </a:xfrm>
              <a:custGeom>
                <a:avLst/>
                <a:gdLst>
                  <a:gd name="T0" fmla="*/ 2147483646 w 2785"/>
                  <a:gd name="T1" fmla="*/ 0 h 2009"/>
                  <a:gd name="T2" fmla="*/ 2147483646 w 2785"/>
                  <a:gd name="T3" fmla="*/ 2147483646 h 2009"/>
                  <a:gd name="T4" fmla="*/ 2147483646 w 2785"/>
                  <a:gd name="T5" fmla="*/ 2147483646 h 2009"/>
                  <a:gd name="T6" fmla="*/ 2147483646 w 2785"/>
                  <a:gd name="T7" fmla="*/ 2147483646 h 2009"/>
                  <a:gd name="T8" fmla="*/ 2147483646 w 2785"/>
                  <a:gd name="T9" fmla="*/ 2147483646 h 2009"/>
                  <a:gd name="T10" fmla="*/ 2147483646 w 2785"/>
                  <a:gd name="T11" fmla="*/ 2147483646 h 2009"/>
                  <a:gd name="T12" fmla="*/ 2147483646 w 2785"/>
                  <a:gd name="T13" fmla="*/ 2147483646 h 2009"/>
                  <a:gd name="T14" fmla="*/ 2147483646 w 2785"/>
                  <a:gd name="T15" fmla="*/ 2147483646 h 2009"/>
                  <a:gd name="T16" fmla="*/ 2147483646 w 2785"/>
                  <a:gd name="T17" fmla="*/ 2147483646 h 2009"/>
                  <a:gd name="T18" fmla="*/ 2147483646 w 2785"/>
                  <a:gd name="T19" fmla="*/ 2147483646 h 2009"/>
                  <a:gd name="T20" fmla="*/ 2147483646 w 2785"/>
                  <a:gd name="T21" fmla="*/ 2147483646 h 2009"/>
                  <a:gd name="T22" fmla="*/ 0 w 2785"/>
                  <a:gd name="T23" fmla="*/ 2147483646 h 2009"/>
                  <a:gd name="T24" fmla="*/ 2147483646 w 2785"/>
                  <a:gd name="T25" fmla="*/ 2147483646 h 2009"/>
                  <a:gd name="T26" fmla="*/ 2147483646 w 2785"/>
                  <a:gd name="T27" fmla="*/ 2147483646 h 2009"/>
                  <a:gd name="T28" fmla="*/ 2147483646 w 2785"/>
                  <a:gd name="T29" fmla="*/ 2147483646 h 2009"/>
                  <a:gd name="T30" fmla="*/ 2147483646 w 2785"/>
                  <a:gd name="T31" fmla="*/ 2147483646 h 2009"/>
                  <a:gd name="T32" fmla="*/ 2147483646 w 2785"/>
                  <a:gd name="T33" fmla="*/ 2147483646 h 2009"/>
                  <a:gd name="T34" fmla="*/ 2147483646 w 2785"/>
                  <a:gd name="T35" fmla="*/ 2147483646 h 2009"/>
                  <a:gd name="T36" fmla="*/ 2147483646 w 2785"/>
                  <a:gd name="T37" fmla="*/ 2147483646 h 2009"/>
                  <a:gd name="T38" fmla="*/ 2147483646 w 2785"/>
                  <a:gd name="T39" fmla="*/ 2147483646 h 2009"/>
                  <a:gd name="T40" fmla="*/ 2147483646 w 2785"/>
                  <a:gd name="T41" fmla="*/ 2147483646 h 2009"/>
                  <a:gd name="T42" fmla="*/ 2147483646 w 2785"/>
                  <a:gd name="T43" fmla="*/ 2147483646 h 2009"/>
                  <a:gd name="T44" fmla="*/ 2147483646 w 2785"/>
                  <a:gd name="T45" fmla="*/ 2147483646 h 2009"/>
                  <a:gd name="T46" fmla="*/ 2147483646 w 2785"/>
                  <a:gd name="T47" fmla="*/ 0 h 200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785"/>
                  <a:gd name="T73" fmla="*/ 0 h 2009"/>
                  <a:gd name="T74" fmla="*/ 2785 w 2785"/>
                  <a:gd name="T75" fmla="*/ 2009 h 200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785" h="2009">
                    <a:moveTo>
                      <a:pt x="1400" y="0"/>
                    </a:moveTo>
                    <a:lnTo>
                      <a:pt x="184" y="712"/>
                    </a:lnTo>
                    <a:lnTo>
                      <a:pt x="760" y="712"/>
                    </a:lnTo>
                    <a:lnTo>
                      <a:pt x="760" y="920"/>
                    </a:lnTo>
                    <a:lnTo>
                      <a:pt x="720" y="1152"/>
                    </a:lnTo>
                    <a:lnTo>
                      <a:pt x="640" y="1352"/>
                    </a:lnTo>
                    <a:lnTo>
                      <a:pt x="560" y="1536"/>
                    </a:lnTo>
                    <a:lnTo>
                      <a:pt x="464" y="1672"/>
                    </a:lnTo>
                    <a:lnTo>
                      <a:pt x="328" y="1824"/>
                    </a:lnTo>
                    <a:lnTo>
                      <a:pt x="208" y="1912"/>
                    </a:lnTo>
                    <a:lnTo>
                      <a:pt x="96" y="1976"/>
                    </a:lnTo>
                    <a:lnTo>
                      <a:pt x="0" y="2008"/>
                    </a:lnTo>
                    <a:lnTo>
                      <a:pt x="2784" y="2008"/>
                    </a:lnTo>
                    <a:lnTo>
                      <a:pt x="2664" y="1952"/>
                    </a:lnTo>
                    <a:lnTo>
                      <a:pt x="2568" y="1904"/>
                    </a:lnTo>
                    <a:lnTo>
                      <a:pt x="2456" y="1808"/>
                    </a:lnTo>
                    <a:lnTo>
                      <a:pt x="2288" y="1616"/>
                    </a:lnTo>
                    <a:lnTo>
                      <a:pt x="2200" y="1448"/>
                    </a:lnTo>
                    <a:lnTo>
                      <a:pt x="2128" y="1272"/>
                    </a:lnTo>
                    <a:lnTo>
                      <a:pt x="2080" y="1080"/>
                    </a:lnTo>
                    <a:lnTo>
                      <a:pt x="2048" y="848"/>
                    </a:lnTo>
                    <a:lnTo>
                      <a:pt x="2032" y="712"/>
                    </a:lnTo>
                    <a:lnTo>
                      <a:pt x="2584" y="712"/>
                    </a:lnTo>
                    <a:lnTo>
                      <a:pt x="1400" y="0"/>
                    </a:lnTo>
                  </a:path>
                </a:pathLst>
              </a:custGeom>
              <a:gradFill rotWithShape="0">
                <a:gsLst>
                  <a:gs pos="0">
                    <a:srgbClr val="82B8EA">
                      <a:alpha val="75000"/>
                    </a:srgbClr>
                  </a:gs>
                  <a:gs pos="100000">
                    <a:srgbClr val="E5F0FB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  <p:sp>
            <p:nvSpPr>
              <p:cNvPr id="166" name="Rectangle 137"/>
              <p:cNvSpPr>
                <a:spLocks noChangeArrowheads="1"/>
              </p:cNvSpPr>
              <p:nvPr/>
            </p:nvSpPr>
            <p:spPr bwMode="auto">
              <a:xfrm>
                <a:off x="1412383" y="7192735"/>
                <a:ext cx="728662" cy="23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 algn="ctr" latinLnBrk="1"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 b="1" smtClean="0">
                    <a:solidFill>
                      <a:srgbClr val="000000"/>
                    </a:solidFill>
                    <a:latin typeface="맑은 고딕" panose="020B0503020000020004" pitchFamily="50" charset="-127"/>
                    <a:ea typeface="나눔고딕" panose="020D0604000000000000" pitchFamily="50" charset="-127"/>
                  </a:rPr>
                  <a:t>RCA </a:t>
                </a:r>
                <a:r>
                  <a:rPr lang="ko-KR" altLang="en-US" sz="1000" b="1" smtClean="0">
                    <a:solidFill>
                      <a:srgbClr val="000000"/>
                    </a:solidFill>
                    <a:latin typeface="맑은 고딕" panose="020B0503020000020004" pitchFamily="50" charset="-127"/>
                    <a:ea typeface="나눔고딕" panose="020D0604000000000000" pitchFamily="50" charset="-127"/>
                  </a:rPr>
                  <a:t>적용</a:t>
                </a:r>
                <a:endParaRPr lang="en-US" altLang="ko-KR" sz="1000" b="1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67" name="그룹 166"/>
            <p:cNvGrpSpPr/>
            <p:nvPr/>
          </p:nvGrpSpPr>
          <p:grpSpPr>
            <a:xfrm>
              <a:off x="7834737" y="3470692"/>
              <a:ext cx="1012719" cy="875102"/>
              <a:chOff x="8182117" y="4376745"/>
              <a:chExt cx="2410197" cy="2353357"/>
            </a:xfrm>
          </p:grpSpPr>
          <p:pic>
            <p:nvPicPr>
              <p:cNvPr id="168" name="Picture 5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/>
              </a:blip>
              <a:srcRect/>
              <a:stretch>
                <a:fillRect/>
              </a:stretch>
            </p:blipFill>
            <p:spPr bwMode="auto">
              <a:xfrm>
                <a:off x="8182117" y="4376745"/>
                <a:ext cx="1755775" cy="1583800"/>
              </a:xfrm>
              <a:prstGeom prst="rect">
                <a:avLst/>
              </a:prstGeom>
              <a:ln w="22225" cap="rnd">
                <a:solidFill>
                  <a:srgbClr val="0E8DF6"/>
                </a:solidFill>
              </a:ln>
              <a:effectLst>
                <a:outerShdw blurRad="76200" dist="95250" dir="10500000" sx="97000" sy="23000" kx="900000" algn="br" rotWithShape="0">
                  <a:srgbClr val="000000">
                    <a:alpha val="20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  <p:pic>
            <p:nvPicPr>
              <p:cNvPr id="169" name="Picture 3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/>
              </a:blip>
              <a:srcRect/>
              <a:stretch>
                <a:fillRect/>
              </a:stretch>
            </p:blipFill>
            <p:spPr bwMode="auto">
              <a:xfrm>
                <a:off x="8506351" y="4700781"/>
                <a:ext cx="1743032" cy="1583361"/>
              </a:xfrm>
              <a:prstGeom prst="rect">
                <a:avLst/>
              </a:prstGeom>
              <a:ln w="22225" cap="rnd">
                <a:solidFill>
                  <a:srgbClr val="0E8DF6"/>
                </a:solidFill>
              </a:ln>
              <a:effectLst>
                <a:outerShdw blurRad="76200" dist="95250" dir="10500000" sx="97000" sy="23000" kx="900000" algn="br" rotWithShape="0">
                  <a:srgbClr val="000000">
                    <a:alpha val="20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  <p:pic>
            <p:nvPicPr>
              <p:cNvPr id="170" name="Picture 6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/>
              </a:blip>
              <a:srcRect/>
              <a:stretch>
                <a:fillRect/>
              </a:stretch>
            </p:blipFill>
            <p:spPr bwMode="auto">
              <a:xfrm>
                <a:off x="8830189" y="5060821"/>
                <a:ext cx="1762125" cy="1669281"/>
              </a:xfrm>
              <a:prstGeom prst="rect">
                <a:avLst/>
              </a:prstGeom>
              <a:ln w="22225" cap="rnd">
                <a:solidFill>
                  <a:srgbClr val="0E8DF6"/>
                </a:solidFill>
              </a:ln>
              <a:effectLst>
                <a:outerShdw blurRad="76200" dist="95250" dir="10500000" sx="97000" sy="23000" kx="900000" algn="br" rotWithShape="0">
                  <a:srgbClr val="000000">
                    <a:alpha val="20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  <p:sp>
            <p:nvSpPr>
              <p:cNvPr id="171" name="모서리가 둥근 직사각형 170"/>
              <p:cNvSpPr/>
              <p:nvPr/>
            </p:nvSpPr>
            <p:spPr>
              <a:xfrm>
                <a:off x="9814452" y="5103361"/>
                <a:ext cx="755650" cy="179388"/>
              </a:xfrm>
              <a:prstGeom prst="roundRect">
                <a:avLst>
                  <a:gd name="adj" fmla="val 50000"/>
                </a:avLst>
              </a:prstGeom>
              <a:solidFill>
                <a:sysClr val="window" lastClr="FFFFFF"/>
              </a:solidFill>
              <a:ln w="19050" cap="flat" cmpd="sng" algn="ctr">
                <a:solidFill>
                  <a:srgbClr val="4078D2"/>
                </a:solidFill>
                <a:prstDash val="solid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400" kern="0" dirty="0">
                    <a:solidFill>
                      <a:prstClr val="black"/>
                    </a:solidFill>
                    <a:latin typeface="나눔고딕" pitchFamily="50" charset="-127"/>
                    <a:ea typeface="나눔고딕" pitchFamily="50" charset="-127"/>
                  </a:rPr>
                  <a:t>지식정보</a:t>
                </a:r>
              </a:p>
            </p:txBody>
          </p:sp>
          <p:sp>
            <p:nvSpPr>
              <p:cNvPr id="172" name="모서리가 둥근 직사각형 171"/>
              <p:cNvSpPr/>
              <p:nvPr/>
            </p:nvSpPr>
            <p:spPr>
              <a:xfrm>
                <a:off x="9442977" y="4738236"/>
                <a:ext cx="755650" cy="179388"/>
              </a:xfrm>
              <a:prstGeom prst="roundRect">
                <a:avLst>
                  <a:gd name="adj" fmla="val 50000"/>
                </a:avLst>
              </a:prstGeom>
              <a:solidFill>
                <a:sysClr val="window" lastClr="FFFFFF"/>
              </a:solidFill>
              <a:ln w="19050" cap="flat" cmpd="sng" algn="ctr">
                <a:solidFill>
                  <a:srgbClr val="4078D2"/>
                </a:solidFill>
                <a:prstDash val="solid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400" kern="0" dirty="0">
                    <a:solidFill>
                      <a:prstClr val="black"/>
                    </a:solidFill>
                    <a:latin typeface="나눔고딕" pitchFamily="50" charset="-127"/>
                    <a:ea typeface="나눔고딕" pitchFamily="50" charset="-127"/>
                  </a:rPr>
                  <a:t>고객만족</a:t>
                </a:r>
              </a:p>
            </p:txBody>
          </p:sp>
          <p:sp>
            <p:nvSpPr>
              <p:cNvPr id="173" name="모서리가 둥근 직사각형 172"/>
              <p:cNvSpPr/>
              <p:nvPr/>
            </p:nvSpPr>
            <p:spPr>
              <a:xfrm>
                <a:off x="9169927" y="4400099"/>
                <a:ext cx="755650" cy="179387"/>
              </a:xfrm>
              <a:prstGeom prst="roundRect">
                <a:avLst>
                  <a:gd name="adj" fmla="val 50000"/>
                </a:avLst>
              </a:prstGeom>
              <a:solidFill>
                <a:sysClr val="window" lastClr="FFFFFF"/>
              </a:solidFill>
              <a:ln w="19050" cap="flat" cmpd="sng" algn="ctr">
                <a:solidFill>
                  <a:srgbClr val="4078D2"/>
                </a:solidFill>
                <a:prstDash val="solid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400" kern="0" dirty="0">
                    <a:solidFill>
                      <a:prstClr val="black"/>
                    </a:solidFill>
                    <a:latin typeface="나눔고딕" pitchFamily="50" charset="-127"/>
                    <a:ea typeface="나눔고딕" pitchFamily="50" charset="-127"/>
                  </a:rPr>
                  <a:t>사업안내</a:t>
                </a:r>
              </a:p>
            </p:txBody>
          </p:sp>
        </p:grpSp>
        <p:sp>
          <p:nvSpPr>
            <p:cNvPr id="174" name="Rectangle 2"/>
            <p:cNvSpPr>
              <a:spLocks noChangeArrowheads="1"/>
            </p:cNvSpPr>
            <p:nvPr/>
          </p:nvSpPr>
          <p:spPr bwMode="auto">
            <a:xfrm flipH="1">
              <a:off x="1707933" y="3423579"/>
              <a:ext cx="1315317" cy="1194198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75" name="Picture 75" descr="database green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668271" y="4299457"/>
              <a:ext cx="470943" cy="267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6" name="Rectangle 137"/>
            <p:cNvSpPr>
              <a:spLocks noChangeArrowheads="1"/>
            </p:cNvSpPr>
            <p:nvPr/>
          </p:nvSpPr>
          <p:spPr bwMode="auto">
            <a:xfrm flipH="1">
              <a:off x="2766245" y="4366255"/>
              <a:ext cx="293587" cy="156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9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</a:p>
          </p:txBody>
        </p:sp>
        <p:cxnSp>
          <p:nvCxnSpPr>
            <p:cNvPr id="177" name="Shape 61"/>
            <p:cNvCxnSpPr>
              <a:stCxn id="175" idx="3"/>
              <a:endCxn id="223" idx="2"/>
            </p:cNvCxnSpPr>
            <p:nvPr/>
          </p:nvCxnSpPr>
          <p:spPr>
            <a:xfrm rot="10800000">
              <a:off x="2250735" y="4309864"/>
              <a:ext cx="417537" cy="123128"/>
            </a:xfrm>
            <a:prstGeom prst="curvedConnector2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직사각형 106"/>
            <p:cNvSpPr>
              <a:spLocks noChangeArrowheads="1"/>
            </p:cNvSpPr>
            <p:nvPr/>
          </p:nvSpPr>
          <p:spPr bwMode="auto">
            <a:xfrm flipH="1">
              <a:off x="2308854" y="3923107"/>
              <a:ext cx="766925" cy="347059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80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 객체와</a:t>
              </a:r>
              <a:endParaRPr lang="en-US" altLang="ko-KR" sz="80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/>
              <a:r>
                <a:rPr lang="ko-KR" altLang="en-US" sz="80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매핑</a:t>
              </a:r>
              <a:endPara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9" name="직사각형 112"/>
            <p:cNvSpPr>
              <a:spLocks noChangeArrowheads="1"/>
            </p:cNvSpPr>
            <p:nvPr/>
          </p:nvSpPr>
          <p:spPr bwMode="auto">
            <a:xfrm flipH="1">
              <a:off x="2572286" y="3722549"/>
              <a:ext cx="577444" cy="138499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78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  <a:lin ang="15000000" scaled="0"/>
            </a:gradFill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>
              <a:spAutoFit/>
            </a:bodyPr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900" b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UI/UX</a:t>
              </a:r>
              <a:endParaRPr lang="ko-KR" altLang="en-US" sz="9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80" name="그룹 179"/>
            <p:cNvGrpSpPr/>
            <p:nvPr/>
          </p:nvGrpSpPr>
          <p:grpSpPr>
            <a:xfrm>
              <a:off x="716835" y="4275712"/>
              <a:ext cx="725202" cy="583507"/>
              <a:chOff x="1235767" y="7782271"/>
              <a:chExt cx="756754" cy="583507"/>
            </a:xfrm>
          </p:grpSpPr>
          <p:grpSp>
            <p:nvGrpSpPr>
              <p:cNvPr id="181" name="그룹 29"/>
              <p:cNvGrpSpPr>
                <a:grpSpLocks/>
              </p:cNvGrpSpPr>
              <p:nvPr/>
            </p:nvGrpSpPr>
            <p:grpSpPr bwMode="auto">
              <a:xfrm>
                <a:off x="1235767" y="7782271"/>
                <a:ext cx="756754" cy="583507"/>
                <a:chOff x="5543550" y="3667116"/>
                <a:chExt cx="558800" cy="465137"/>
              </a:xfrm>
            </p:grpSpPr>
            <p:pic>
              <p:nvPicPr>
                <p:cNvPr id="183" name="Picture 94" descr="3"/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78" t="28798" r="65112" b="60794"/>
                <a:stretch>
                  <a:fillRect/>
                </a:stretch>
              </p:blipFill>
              <p:spPr bwMode="auto">
                <a:xfrm>
                  <a:off x="5543550" y="3844916"/>
                  <a:ext cx="558800" cy="287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4" name="Picture 102" descr="3"/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550" t="42731" r="38626" b="42841"/>
                <a:stretch>
                  <a:fillRect/>
                </a:stretch>
              </p:blipFill>
              <p:spPr bwMode="auto">
                <a:xfrm>
                  <a:off x="5618163" y="3667116"/>
                  <a:ext cx="411162" cy="3651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82" name="TextBox 181"/>
              <p:cNvSpPr txBox="1"/>
              <p:nvPr/>
            </p:nvSpPr>
            <p:spPr>
              <a:xfrm>
                <a:off x="1314989" y="813076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mtClean="0"/>
                  <a:t>검증</a:t>
                </a:r>
                <a:endParaRPr lang="ko-KR" altLang="en-US" sz="800"/>
              </a:p>
            </p:txBody>
          </p:sp>
        </p:grpSp>
        <p:sp>
          <p:nvSpPr>
            <p:cNvPr id="185" name="Rectangle 2"/>
            <p:cNvSpPr>
              <a:spLocks noChangeArrowheads="1"/>
            </p:cNvSpPr>
            <p:nvPr/>
          </p:nvSpPr>
          <p:spPr bwMode="auto">
            <a:xfrm>
              <a:off x="484644" y="5553459"/>
              <a:ext cx="3979152" cy="976681"/>
            </a:xfrm>
            <a:prstGeom prst="rect">
              <a:avLst/>
            </a:prstGeom>
            <a:noFill/>
            <a:ln w="28575">
              <a:solidFill>
                <a:srgbClr val="B2CCE6"/>
              </a:solidFill>
              <a:miter lim="800000"/>
              <a:headEnd/>
              <a:tailEnd/>
            </a:ln>
            <a:effectLst>
              <a:prstShdw prst="shdw17" dist="17961" dir="13500000">
                <a:srgbClr val="6B7A8A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86" name="그룹 185"/>
            <p:cNvGrpSpPr/>
            <p:nvPr/>
          </p:nvGrpSpPr>
          <p:grpSpPr>
            <a:xfrm>
              <a:off x="6546068" y="4974635"/>
              <a:ext cx="1122276" cy="830629"/>
              <a:chOff x="4095147" y="8144410"/>
              <a:chExt cx="1468751" cy="1213193"/>
            </a:xfrm>
          </p:grpSpPr>
          <p:grpSp>
            <p:nvGrpSpPr>
              <p:cNvPr id="187" name="그룹 186"/>
              <p:cNvGrpSpPr/>
              <p:nvPr/>
            </p:nvGrpSpPr>
            <p:grpSpPr>
              <a:xfrm>
                <a:off x="4095147" y="8144410"/>
                <a:ext cx="1468751" cy="1213193"/>
                <a:chOff x="-5564587" y="3811245"/>
                <a:chExt cx="4413250" cy="2843212"/>
              </a:xfrm>
            </p:grpSpPr>
            <p:grpSp>
              <p:nvGrpSpPr>
                <p:cNvPr id="189" name="Group 45"/>
                <p:cNvGrpSpPr>
                  <a:grpSpLocks/>
                </p:cNvGrpSpPr>
                <p:nvPr/>
              </p:nvGrpSpPr>
              <p:grpSpPr bwMode="auto">
                <a:xfrm rot="-6628487">
                  <a:off x="-4635259" y="3298378"/>
                  <a:ext cx="2268538" cy="4022725"/>
                  <a:chOff x="1732" y="2352"/>
                  <a:chExt cx="2252" cy="2970"/>
                </a:xfrm>
              </p:grpSpPr>
              <p:sp>
                <p:nvSpPr>
                  <p:cNvPr id="198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1732" y="2352"/>
                    <a:ext cx="2252" cy="2970"/>
                  </a:xfrm>
                  <a:prstGeom prst="ellipse">
                    <a:avLst/>
                  </a:prstGeom>
                  <a:solidFill>
                    <a:srgbClr val="99CCFF">
                      <a:alpha val="50195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1pPr>
                    <a:lvl2pPr marL="742950" indent="-28575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2pPr>
                    <a:lvl3pPr marL="1143000" indent="-22860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3pPr>
                    <a:lvl4pPr marL="1600200" indent="-22860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4pPr>
                    <a:lvl5pPr marL="2057400" indent="-22860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9pPr>
                  </a:lstStyle>
                  <a:p>
                    <a:pPr eaLnBrk="1" hangingPunct="1"/>
                    <a:endParaRPr lang="ko-KR" altLang="en-US"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99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2220" y="2685"/>
                    <a:ext cx="1654" cy="2358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1pPr>
                    <a:lvl2pPr marL="742950" indent="-28575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2pPr>
                    <a:lvl3pPr marL="1143000" indent="-22860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3pPr>
                    <a:lvl4pPr marL="1600200" indent="-22860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4pPr>
                    <a:lvl5pPr marL="2057400" indent="-228600" algn="ctr" latinLnBrk="1"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굴림" panose="020B0600000101010101" pitchFamily="50" charset="-127"/>
                      </a:defRPr>
                    </a:lvl9pPr>
                  </a:lstStyle>
                  <a:p>
                    <a:pPr eaLnBrk="1" hangingPunct="1"/>
                    <a:endParaRPr lang="ko-KR" altLang="en-US"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190" name="Oval 44"/>
                <p:cNvSpPr>
                  <a:spLocks noChangeArrowheads="1"/>
                </p:cNvSpPr>
                <p:nvPr/>
              </p:nvSpPr>
              <p:spPr bwMode="auto">
                <a:xfrm>
                  <a:off x="-4050112" y="4352582"/>
                  <a:ext cx="577850" cy="142875"/>
                </a:xfrm>
                <a:prstGeom prst="ellipse">
                  <a:avLst/>
                </a:pr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>
                    <a:ea typeface="맑은 고딕" panose="020B0503020000020004" pitchFamily="50" charset="-127"/>
                  </a:endParaRPr>
                </a:p>
              </p:txBody>
            </p:sp>
            <p:graphicFrame>
              <p:nvGraphicFramePr>
                <p:cNvPr id="191" name="Object 48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298113802"/>
                    </p:ext>
                  </p:extLst>
                </p:nvPr>
              </p:nvGraphicFramePr>
              <p:xfrm>
                <a:off x="-3943749" y="3811245"/>
                <a:ext cx="614362" cy="5905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74" name="Image" r:id="rId19" imgW="1207201" imgH="1207201" progId="Photoshop.Image.6">
                        <p:embed/>
                      </p:oleObj>
                    </mc:Choice>
                    <mc:Fallback>
                      <p:oleObj name="Image" r:id="rId19" imgW="1207201" imgH="1207201" progId="Photoshop.Image.6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3943749" y="3811245"/>
                              <a:ext cx="614362" cy="5905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92" name="Oval 49"/>
                <p:cNvSpPr>
                  <a:spLocks noChangeArrowheads="1"/>
                </p:cNvSpPr>
                <p:nvPr/>
              </p:nvSpPr>
              <p:spPr bwMode="auto">
                <a:xfrm>
                  <a:off x="-5059762" y="5628932"/>
                  <a:ext cx="601663" cy="188913"/>
                </a:xfrm>
                <a:prstGeom prst="ellipse">
                  <a:avLst/>
                </a:pr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>
                    <a:ea typeface="맑은 고딕" panose="020B0503020000020004" pitchFamily="50" charset="-127"/>
                  </a:endParaRPr>
                </a:p>
              </p:txBody>
            </p:sp>
            <p:graphicFrame>
              <p:nvGraphicFramePr>
                <p:cNvPr id="193" name="Object 50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480678518"/>
                    </p:ext>
                  </p:extLst>
                </p:nvPr>
              </p:nvGraphicFramePr>
              <p:xfrm>
                <a:off x="-5564587" y="5062195"/>
                <a:ext cx="746125" cy="7080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75" name="Image" r:id="rId21" imgW="1207201" imgH="1207201" progId="Photoshop.Image.6">
                        <p:embed/>
                      </p:oleObj>
                    </mc:Choice>
                    <mc:Fallback>
                      <p:oleObj name="Image" r:id="rId21" imgW="1207201" imgH="1207201" progId="Photoshop.Image.6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5564587" y="5062195"/>
                              <a:ext cx="746125" cy="7080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94" name="Oval 51"/>
                <p:cNvSpPr>
                  <a:spLocks noChangeArrowheads="1"/>
                </p:cNvSpPr>
                <p:nvPr/>
              </p:nvSpPr>
              <p:spPr bwMode="auto">
                <a:xfrm>
                  <a:off x="-1837137" y="5203482"/>
                  <a:ext cx="685800" cy="236538"/>
                </a:xfrm>
                <a:prstGeom prst="ellipse">
                  <a:avLst/>
                </a:pr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>
                    <a:ea typeface="맑은 고딕" panose="020B0503020000020004" pitchFamily="50" charset="-127"/>
                  </a:endParaRPr>
                </a:p>
              </p:txBody>
            </p:sp>
            <p:graphicFrame>
              <p:nvGraphicFramePr>
                <p:cNvPr id="195" name="Object 52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361100139"/>
                    </p:ext>
                  </p:extLst>
                </p:nvPr>
              </p:nvGraphicFramePr>
              <p:xfrm>
                <a:off x="-2245124" y="4541495"/>
                <a:ext cx="854075" cy="803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76" name="Image" r:id="rId22" imgW="1207201" imgH="1207201" progId="Photoshop.Image.6">
                        <p:embed/>
                      </p:oleObj>
                    </mc:Choice>
                    <mc:Fallback>
                      <p:oleObj name="Image" r:id="rId22" imgW="1207201" imgH="1207201" progId="Photoshop.Image.6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2245124" y="4541495"/>
                              <a:ext cx="854075" cy="8032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96" name="Oval 53"/>
                <p:cNvSpPr>
                  <a:spLocks noChangeArrowheads="1"/>
                </p:cNvSpPr>
                <p:nvPr/>
              </p:nvSpPr>
              <p:spPr bwMode="auto">
                <a:xfrm>
                  <a:off x="-3508774" y="6300445"/>
                  <a:ext cx="962025" cy="354012"/>
                </a:xfrm>
                <a:prstGeom prst="ellipse">
                  <a:avLst/>
                </a:prstGeom>
                <a:solidFill>
                  <a:srgbClr val="C0C0C0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1pPr>
                  <a:lvl2pPr marL="742950" indent="-28575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2pPr>
                  <a:lvl3pPr marL="11430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3pPr>
                  <a:lvl4pPr marL="16002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4pPr>
                  <a:lvl5pPr marL="2057400" indent="-228600" algn="ctr" latinLnBrk="1"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>
                      <a:solidFill>
                        <a:schemeClr val="tx1"/>
                      </a:solidFill>
                      <a:latin typeface="Arial" panose="020B0604020202020204" pitchFamily="34" charset="0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>
                    <a:ea typeface="맑은 고딕" panose="020B0503020000020004" pitchFamily="50" charset="-127"/>
                  </a:endParaRPr>
                </a:p>
              </p:txBody>
            </p:sp>
            <p:graphicFrame>
              <p:nvGraphicFramePr>
                <p:cNvPr id="197" name="Object 71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371492205"/>
                    </p:ext>
                  </p:extLst>
                </p:nvPr>
              </p:nvGraphicFramePr>
              <p:xfrm>
                <a:off x="-3921524" y="5641632"/>
                <a:ext cx="1060450" cy="9921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77" name="Image" r:id="rId23" imgW="1207201" imgH="1207201" progId="Photoshop.Image.6">
                        <p:embed/>
                      </p:oleObj>
                    </mc:Choice>
                    <mc:Fallback>
                      <p:oleObj name="Image" r:id="rId23" imgW="1207201" imgH="1207201" progId="Photoshop.Image.6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3921524" y="5641632"/>
                              <a:ext cx="1060450" cy="9921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pic>
            <p:nvPicPr>
              <p:cNvPr id="188" name="Picture 55" descr="arrow_triangle_RGB"/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21438" y="8420579"/>
                <a:ext cx="891990" cy="5518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0" name="Picture 168" descr="arrow1a_ico_Bmp1"/>
            <p:cNvPicPr>
              <a:picLocks noChangeAspect="1" noChangeArrowheads="1"/>
            </p:cNvPicPr>
            <p:nvPr/>
          </p:nvPicPr>
          <p:blipFill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2198386">
              <a:off x="877344" y="5054644"/>
              <a:ext cx="292091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2" name="AutoShape 47"/>
            <p:cNvSpPr>
              <a:spLocks noChangeArrowheads="1"/>
            </p:cNvSpPr>
            <p:nvPr/>
          </p:nvSpPr>
          <p:spPr bwMode="auto">
            <a:xfrm>
              <a:off x="1223659" y="5403643"/>
              <a:ext cx="1203356" cy="307975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1" hangingPunct="1">
                <a:defRPr/>
              </a:pPr>
              <a:r>
                <a:rPr lang="ko-KR" altLang="en-US" sz="1200" b="1" smtClean="0">
                  <a:latin typeface="HY울릉도M" pitchFamily="18" charset="-127"/>
                  <a:ea typeface="HY울릉도M" pitchFamily="18" charset="-127"/>
                </a:rPr>
                <a:t>운영 이관</a:t>
              </a:r>
              <a:endParaRPr lang="ko-KR" altLang="en-US" sz="1200" b="1" dirty="0">
                <a:latin typeface="HY울릉도M" pitchFamily="18" charset="-127"/>
                <a:ea typeface="HY울릉도M" pitchFamily="18" charset="-127"/>
              </a:endParaRPr>
            </a:p>
          </p:txBody>
        </p:sp>
        <p:sp>
          <p:nvSpPr>
            <p:cNvPr id="203" name="모서리가 둥근 직사각형 202"/>
            <p:cNvSpPr/>
            <p:nvPr/>
          </p:nvSpPr>
          <p:spPr>
            <a:xfrm>
              <a:off x="518084" y="6317166"/>
              <a:ext cx="1388346" cy="173326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RCA </a:t>
              </a:r>
              <a:r>
                <a:rPr lang="ko-KR" altLang="en-US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기술 이전</a:t>
              </a: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204" name="모서리가 둥근 직사각형 203"/>
            <p:cNvSpPr/>
            <p:nvPr/>
          </p:nvSpPr>
          <p:spPr>
            <a:xfrm>
              <a:off x="1678541" y="6342807"/>
              <a:ext cx="1388346" cy="173326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ko-KR" altLang="en-US" sz="1000" b="1" smtClean="0">
                  <a:solidFill>
                    <a:schemeClr val="tx1"/>
                  </a:solidFill>
                  <a:latin typeface="맑은 고딕" pitchFamily="50" charset="-127"/>
                  <a:ea typeface="나눔고딕"/>
                </a:rPr>
                <a:t>안정적 운영 유지</a:t>
              </a: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나눔고딕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681335" y="2524971"/>
              <a:ext cx="12861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solidFill>
                    <a:srgbClr val="0000CC"/>
                  </a:solidFill>
                </a:rPr>
                <a:t>RCA </a:t>
              </a:r>
              <a:r>
                <a:rPr lang="ko-KR" altLang="en-US" sz="1400" b="1" smtClean="0">
                  <a:solidFill>
                    <a:srgbClr val="0000CC"/>
                  </a:solidFill>
                </a:rPr>
                <a:t>구축 요건</a:t>
              </a:r>
              <a:endParaRPr lang="ko-KR" altLang="en-US" sz="1400" b="1">
                <a:solidFill>
                  <a:srgbClr val="0000CC"/>
                </a:solidFill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065941" y="870637"/>
              <a:ext cx="1680371" cy="31798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36000" rIns="36000" rtlCol="0">
              <a:spAutoFit/>
            </a:bodyPr>
            <a:lstStyle/>
            <a:p>
              <a:pPr algn="ctr"/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업무처리 표준 정의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065941" y="2098354"/>
              <a:ext cx="1674843" cy="31798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36000" rIns="36000" rtlCol="0">
              <a:spAutoFit/>
            </a:bodyPr>
            <a:lstStyle/>
            <a:p>
              <a:pPr algn="ctr"/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프로젝트 </a:t>
              </a:r>
              <a:r>
                <a:rPr lang="en-US" altLang="ko-KR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UI </a:t>
              </a:r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표준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08" name="아래쪽 화살표 207"/>
            <p:cNvSpPr/>
            <p:nvPr/>
          </p:nvSpPr>
          <p:spPr>
            <a:xfrm>
              <a:off x="7603783" y="1227048"/>
              <a:ext cx="527638" cy="227265"/>
            </a:xfrm>
            <a:prstGeom prst="downArrow">
              <a:avLst/>
            </a:prstGeom>
            <a:solidFill>
              <a:srgbClr val="003399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endParaRPr lang="ko-KR" altLang="en-US" sz="1200" b="1" spc="-10" smtClean="0">
                <a:solidFill>
                  <a:schemeClr val="bg1"/>
                </a:solidFill>
                <a:cs typeface="맑은 고딕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7065942" y="1479348"/>
              <a:ext cx="1682522" cy="31798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36000" rIns="36000" rtlCol="0">
              <a:spAutoFit/>
            </a:bodyPr>
            <a:lstStyle/>
            <a:p>
              <a:pPr algn="ctr"/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적용 </a:t>
              </a:r>
              <a:r>
                <a:rPr lang="en-US" altLang="ko-KR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TOOL</a:t>
              </a:r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 </a:t>
              </a:r>
              <a:r>
                <a:rPr lang="en-US" altLang="ko-KR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UI </a:t>
              </a:r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분석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10" name="아래쪽 화살표 209"/>
            <p:cNvSpPr/>
            <p:nvPr/>
          </p:nvSpPr>
          <p:spPr>
            <a:xfrm>
              <a:off x="7603783" y="1875613"/>
              <a:ext cx="527638" cy="227265"/>
            </a:xfrm>
            <a:prstGeom prst="downArrow">
              <a:avLst/>
            </a:prstGeom>
            <a:solidFill>
              <a:srgbClr val="003399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endParaRPr lang="ko-KR" altLang="en-US" sz="1200" b="1" spc="-10" smtClean="0">
                <a:solidFill>
                  <a:schemeClr val="bg1"/>
                </a:solidFill>
                <a:cs typeface="맑은 고딕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5245522" y="3284984"/>
              <a:ext cx="851515" cy="31798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객체 표준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5245522" y="3717032"/>
              <a:ext cx="851515" cy="31798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화면 표준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5245523" y="4149080"/>
              <a:ext cx="851286" cy="327071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DB   </a:t>
              </a:r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표준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5245522" y="4581128"/>
              <a:ext cx="851515" cy="327071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smtClean="0">
                  <a:latin typeface="HY강B" panose="02030600000101010101" pitchFamily="18" charset="-127"/>
                  <a:ea typeface="HY강B" panose="02030600000101010101" pitchFamily="18" charset="-127"/>
                </a:rPr>
                <a:t>업무 표준</a:t>
              </a:r>
              <a:endParaRPr lang="ko-KR" altLang="en-US" sz="1200">
                <a:latin typeface="HY강B" panose="02030600000101010101" pitchFamily="18" charset="-127"/>
                <a:ea typeface="HY강B" panose="02030600000101010101" pitchFamily="18" charset="-127"/>
              </a:endParaRPr>
            </a:p>
          </p:txBody>
        </p:sp>
        <p:sp>
          <p:nvSpPr>
            <p:cNvPr id="215" name="순서도: 카드 214"/>
            <p:cNvSpPr/>
            <p:nvPr/>
          </p:nvSpPr>
          <p:spPr>
            <a:xfrm>
              <a:off x="3275856" y="3573016"/>
              <a:ext cx="1000634" cy="476149"/>
            </a:xfrm>
            <a:prstGeom prst="flowChartPunchedCard">
              <a:avLst/>
            </a:prstGeom>
            <a:solidFill>
              <a:srgbClr val="FFC000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endParaRPr lang="ko-KR" altLang="en-US" sz="1200" b="1" spc="-10" smtClean="0">
                <a:solidFill>
                  <a:schemeClr val="bg1"/>
                </a:solidFill>
                <a:cs typeface="맑은 고딕"/>
              </a:endParaRPr>
            </a:p>
          </p:txBody>
        </p:sp>
        <p:sp>
          <p:nvSpPr>
            <p:cNvPr id="216" name="순서도: 카드 215"/>
            <p:cNvSpPr/>
            <p:nvPr/>
          </p:nvSpPr>
          <p:spPr>
            <a:xfrm>
              <a:off x="3335027" y="3626158"/>
              <a:ext cx="1000634" cy="476149"/>
            </a:xfrm>
            <a:prstGeom prst="flowChartPunchedCard">
              <a:avLst/>
            </a:prstGeom>
            <a:solidFill>
              <a:srgbClr val="FFC000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endParaRPr lang="ko-KR" altLang="en-US" sz="1200" b="1" spc="-10" smtClean="0">
                <a:solidFill>
                  <a:schemeClr val="bg1"/>
                </a:solidFill>
                <a:cs typeface="맑은 고딕"/>
              </a:endParaRPr>
            </a:p>
          </p:txBody>
        </p:sp>
        <p:sp>
          <p:nvSpPr>
            <p:cNvPr id="217" name="순서도: 카드 216"/>
            <p:cNvSpPr/>
            <p:nvPr/>
          </p:nvSpPr>
          <p:spPr>
            <a:xfrm>
              <a:off x="3394198" y="3679300"/>
              <a:ext cx="1000634" cy="476149"/>
            </a:xfrm>
            <a:prstGeom prst="flowChartPunchedCard">
              <a:avLst/>
            </a:prstGeom>
            <a:solidFill>
              <a:srgbClr val="FFC000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en-US" altLang="ko-KR" sz="1100" b="1" spc="-10" smtClean="0">
                  <a:solidFill>
                    <a:srgbClr val="0000FF"/>
                  </a:solidFill>
                  <a:cs typeface="맑은 고딕"/>
                </a:rPr>
                <a:t>RCA </a:t>
              </a:r>
            </a:p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ko-KR" altLang="en-US" sz="1100" b="1" spc="-10" smtClean="0">
                  <a:solidFill>
                    <a:srgbClr val="0000FF"/>
                  </a:solidFill>
                  <a:cs typeface="맑은 고딕"/>
                </a:rPr>
                <a:t>작업지시서</a:t>
              </a:r>
            </a:p>
          </p:txBody>
        </p:sp>
        <p:sp>
          <p:nvSpPr>
            <p:cNvPr id="218" name="순서도: 다중 문서 217"/>
            <p:cNvSpPr/>
            <p:nvPr/>
          </p:nvSpPr>
          <p:spPr>
            <a:xfrm>
              <a:off x="3231456" y="5862877"/>
              <a:ext cx="1037952" cy="558285"/>
            </a:xfrm>
            <a:prstGeom prst="flowChartMultidocument">
              <a:avLst/>
            </a:prstGeom>
            <a:blipFill>
              <a:blip r:embed="rId26"/>
              <a:tile tx="0" ty="0" sx="100000" sy="100000" flip="none" algn="tl"/>
            </a:blip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ko-KR" altLang="en-US" sz="1100" b="1" spc="-10" smtClean="0">
                  <a:solidFill>
                    <a:srgbClr val="0000FF"/>
                  </a:solidFill>
                  <a:cs typeface="맑은 고딕"/>
                </a:rPr>
                <a:t>각종산출물</a:t>
              </a:r>
            </a:p>
          </p:txBody>
        </p:sp>
        <p:sp>
          <p:nvSpPr>
            <p:cNvPr id="219" name="순서도: 내부 저장소 218"/>
            <p:cNvSpPr/>
            <p:nvPr/>
          </p:nvSpPr>
          <p:spPr>
            <a:xfrm>
              <a:off x="5187523" y="5169747"/>
              <a:ext cx="1164483" cy="677153"/>
            </a:xfrm>
            <a:prstGeom prst="flowChartInternalStorage">
              <a:avLst/>
            </a:prstGeom>
            <a:solidFill>
              <a:srgbClr val="66FFCC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ko-KR" altLang="en-US" sz="1100" b="1" spc="-10" smtClean="0">
                  <a:solidFill>
                    <a:srgbClr val="0000FF"/>
                  </a:solidFill>
                  <a:cs typeface="맑은 고딕"/>
                </a:rPr>
                <a:t>업무 처리</a:t>
              </a:r>
              <a:endParaRPr lang="en-US" altLang="ko-KR" sz="1100" b="1" spc="-10" smtClean="0">
                <a:solidFill>
                  <a:srgbClr val="0000FF"/>
                </a:solidFill>
                <a:cs typeface="맑은 고딕"/>
              </a:endParaRPr>
            </a:p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en-US" altLang="ko-KR" sz="1100" b="1" spc="-10" smtClean="0">
                  <a:solidFill>
                    <a:srgbClr val="0000FF"/>
                  </a:solidFill>
                  <a:cs typeface="맑은 고딕"/>
                </a:rPr>
                <a:t>PROCEDURE</a:t>
              </a:r>
              <a:endParaRPr lang="ko-KR" altLang="en-US" sz="1100" b="1" spc="-10" smtClean="0">
                <a:solidFill>
                  <a:srgbClr val="0000FF"/>
                </a:solidFill>
                <a:cs typeface="맑은 고딕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2678682" y="2582470"/>
              <a:ext cx="3714478" cy="30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ko-KR" altLang="en-US" sz="1100" smtClean="0"/>
                <a:t>요구기능을 주어진 환경에서 </a:t>
              </a:r>
              <a:r>
                <a:rPr lang="en-US" altLang="ko-KR" sz="1100" smtClean="0"/>
                <a:t>RCA</a:t>
              </a:r>
              <a:r>
                <a:rPr lang="ko-KR" altLang="en-US" sz="1100" smtClean="0"/>
                <a:t>로 구축하기 위한 표준</a:t>
              </a:r>
              <a:endParaRPr lang="ko-KR" altLang="en-US" sz="1100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5010209" y="6166504"/>
              <a:ext cx="3934951" cy="30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smtClean="0"/>
                <a:t>요구 프로세스를 처리하기 위한 프로그램 단위의 설계</a:t>
              </a:r>
              <a:endParaRPr lang="ko-KR" altLang="en-US" sz="1100"/>
            </a:p>
          </p:txBody>
        </p:sp>
        <p:sp>
          <p:nvSpPr>
            <p:cNvPr id="222" name="Rectangle 137"/>
            <p:cNvSpPr>
              <a:spLocks noChangeArrowheads="1"/>
            </p:cNvSpPr>
            <p:nvPr/>
          </p:nvSpPr>
          <p:spPr bwMode="auto">
            <a:xfrm>
              <a:off x="6300192" y="5885436"/>
              <a:ext cx="1525258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algn="ctr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나눔고딕" panose="020D0604000000000000" pitchFamily="50" charset="-127"/>
                </a:rPr>
                <a:t>화면 기능 표준 </a:t>
              </a:r>
              <a:endParaRPr lang="en-US" altLang="ko-KR" sz="1000" b="1">
                <a:solidFill>
                  <a:srgbClr val="000000"/>
                </a:solidFill>
                <a:latin typeface="맑은 고딕" panose="020B0503020000020004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223" name="Picture 253" descr="메뉴_ico_Bmp1"/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8334" y="4050742"/>
              <a:ext cx="304800" cy="259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TextBox 223"/>
            <p:cNvSpPr txBox="1"/>
            <p:nvPr/>
          </p:nvSpPr>
          <p:spPr>
            <a:xfrm>
              <a:off x="3080084" y="4203836"/>
              <a:ext cx="138371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smtClean="0"/>
                <a:t>º </a:t>
              </a:r>
              <a:r>
                <a:rPr lang="ko-KR" altLang="en-US" sz="1100" smtClean="0"/>
                <a:t>프로그램 정보</a:t>
              </a:r>
              <a:endParaRPr lang="en-US" altLang="ko-KR" sz="1100" smtClean="0"/>
            </a:p>
            <a:p>
              <a:r>
                <a:rPr lang="en-US" altLang="ko-KR" sz="1100"/>
                <a:t>º </a:t>
              </a:r>
              <a:r>
                <a:rPr lang="ko-KR" altLang="en-US" sz="1100" smtClean="0"/>
                <a:t>화면 구성 영역</a:t>
              </a:r>
              <a:endParaRPr lang="en-US" altLang="ko-KR" sz="1100" smtClean="0"/>
            </a:p>
            <a:p>
              <a:r>
                <a:rPr lang="en-US" altLang="ko-KR" sz="1100"/>
                <a:t>º </a:t>
              </a:r>
              <a:r>
                <a:rPr lang="ko-KR" altLang="en-US" sz="1100" smtClean="0"/>
                <a:t>영역별 구성 객체</a:t>
              </a:r>
              <a:endParaRPr lang="en-US" altLang="ko-KR" sz="1100" smtClean="0"/>
            </a:p>
            <a:p>
              <a:r>
                <a:rPr lang="en-US" altLang="ko-KR" sz="1100"/>
                <a:t>º </a:t>
              </a:r>
              <a:r>
                <a:rPr lang="ko-KR" altLang="en-US" sz="1100" smtClean="0"/>
                <a:t>영영별 요구 기능</a:t>
              </a:r>
              <a:endParaRPr lang="ko-KR" altLang="en-US" sz="1100"/>
            </a:p>
          </p:txBody>
        </p:sp>
        <p:sp>
          <p:nvSpPr>
            <p:cNvPr id="225" name="순서도: 순차적 액세스 저장소 224"/>
            <p:cNvSpPr/>
            <p:nvPr/>
          </p:nvSpPr>
          <p:spPr>
            <a:xfrm>
              <a:off x="1205574" y="3891263"/>
              <a:ext cx="899447" cy="234170"/>
            </a:xfrm>
            <a:prstGeom prst="flowChartMagneticTape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>
                <a:lnSpc>
                  <a:spcPct val="100000"/>
                </a:lnSpc>
                <a:spcBef>
                  <a:spcPts val="615"/>
                </a:spcBef>
              </a:pPr>
              <a:r>
                <a:rPr lang="en-US" altLang="ko-KR" sz="1200" b="1" spc="-10" smtClean="0">
                  <a:solidFill>
                    <a:srgbClr val="3333FF"/>
                  </a:solidFill>
                  <a:cs typeface="맑은 고딕"/>
                </a:rPr>
                <a:t>snippet</a:t>
              </a:r>
              <a:endParaRPr lang="ko-KR" altLang="en-US" sz="1200" b="1" spc="-10" smtClean="0">
                <a:solidFill>
                  <a:srgbClr val="3333FF"/>
                </a:solidFill>
                <a:cs typeface="맑은 고딕"/>
              </a:endParaRPr>
            </a:p>
          </p:txBody>
        </p:sp>
        <p:cxnSp>
          <p:nvCxnSpPr>
            <p:cNvPr id="226" name="Shape 62"/>
            <p:cNvCxnSpPr>
              <a:stCxn id="223" idx="0"/>
            </p:cNvCxnSpPr>
            <p:nvPr/>
          </p:nvCxnSpPr>
          <p:spPr>
            <a:xfrm rot="16200000" flipV="1">
              <a:off x="1968970" y="3768978"/>
              <a:ext cx="374152" cy="18937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" name="Group 15"/>
            <p:cNvGrpSpPr>
              <a:grpSpLocks/>
            </p:cNvGrpSpPr>
            <p:nvPr/>
          </p:nvGrpSpPr>
          <p:grpSpPr bwMode="auto">
            <a:xfrm flipH="1">
              <a:off x="1771187" y="3503097"/>
              <a:ext cx="568565" cy="409485"/>
              <a:chOff x="1808" y="529"/>
              <a:chExt cx="2453" cy="2286"/>
            </a:xfrm>
          </p:grpSpPr>
          <p:sp>
            <p:nvSpPr>
              <p:cNvPr id="228" name="Gear"/>
              <p:cNvSpPr>
                <a:spLocks noEditPoints="1" noChangeArrowheads="1"/>
              </p:cNvSpPr>
              <p:nvPr/>
            </p:nvSpPr>
            <p:spPr bwMode="auto">
              <a:xfrm>
                <a:off x="3066" y="529"/>
                <a:ext cx="1195" cy="10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4 w 21600"/>
                  <a:gd name="T13" fmla="*/ 3957 h 21600"/>
                  <a:gd name="T14" fmla="*/ 17840 w 21600"/>
                  <a:gd name="T15" fmla="*/ 1764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9689" y="1725"/>
                    </a:moveTo>
                    <a:lnTo>
                      <a:pt x="10304" y="85"/>
                    </a:lnTo>
                    <a:lnTo>
                      <a:pt x="11637" y="85"/>
                    </a:lnTo>
                    <a:lnTo>
                      <a:pt x="12303" y="1777"/>
                    </a:lnTo>
                    <a:lnTo>
                      <a:pt x="13072" y="1931"/>
                    </a:lnTo>
                    <a:lnTo>
                      <a:pt x="14303" y="598"/>
                    </a:lnTo>
                    <a:lnTo>
                      <a:pt x="15533" y="1110"/>
                    </a:lnTo>
                    <a:lnTo>
                      <a:pt x="15584" y="2905"/>
                    </a:lnTo>
                    <a:lnTo>
                      <a:pt x="16405" y="3520"/>
                    </a:lnTo>
                    <a:lnTo>
                      <a:pt x="17891" y="2751"/>
                    </a:lnTo>
                    <a:lnTo>
                      <a:pt x="18917" y="3674"/>
                    </a:lnTo>
                    <a:lnTo>
                      <a:pt x="18199" y="5314"/>
                    </a:lnTo>
                    <a:lnTo>
                      <a:pt x="18763" y="6083"/>
                    </a:lnTo>
                    <a:lnTo>
                      <a:pt x="20403" y="6032"/>
                    </a:lnTo>
                    <a:lnTo>
                      <a:pt x="20865" y="7211"/>
                    </a:lnTo>
                    <a:lnTo>
                      <a:pt x="19737" y="8185"/>
                    </a:lnTo>
                    <a:lnTo>
                      <a:pt x="20096" y="9723"/>
                    </a:lnTo>
                    <a:lnTo>
                      <a:pt x="21634" y="10287"/>
                    </a:lnTo>
                    <a:lnTo>
                      <a:pt x="21582" y="11620"/>
                    </a:lnTo>
                    <a:lnTo>
                      <a:pt x="20147" y="12184"/>
                    </a:lnTo>
                    <a:lnTo>
                      <a:pt x="19942" y="13158"/>
                    </a:lnTo>
                    <a:lnTo>
                      <a:pt x="21070" y="14234"/>
                    </a:lnTo>
                    <a:lnTo>
                      <a:pt x="20608" y="15362"/>
                    </a:lnTo>
                    <a:lnTo>
                      <a:pt x="19019" y="15465"/>
                    </a:lnTo>
                    <a:lnTo>
                      <a:pt x="18404" y="16439"/>
                    </a:lnTo>
                    <a:lnTo>
                      <a:pt x="19122" y="17925"/>
                    </a:lnTo>
                    <a:lnTo>
                      <a:pt x="18096" y="18797"/>
                    </a:lnTo>
                    <a:lnTo>
                      <a:pt x="16763" y="18284"/>
                    </a:lnTo>
                    <a:lnTo>
                      <a:pt x="15431" y="19002"/>
                    </a:lnTo>
                    <a:lnTo>
                      <a:pt x="15277" y="20848"/>
                    </a:lnTo>
                    <a:lnTo>
                      <a:pt x="14149" y="21155"/>
                    </a:lnTo>
                    <a:lnTo>
                      <a:pt x="13021" y="19925"/>
                    </a:lnTo>
                    <a:lnTo>
                      <a:pt x="12252" y="20181"/>
                    </a:lnTo>
                    <a:lnTo>
                      <a:pt x="11739" y="21668"/>
                    </a:lnTo>
                    <a:lnTo>
                      <a:pt x="10201" y="21668"/>
                    </a:lnTo>
                    <a:lnTo>
                      <a:pt x="9740" y="20130"/>
                    </a:lnTo>
                    <a:lnTo>
                      <a:pt x="8253" y="19771"/>
                    </a:lnTo>
                    <a:lnTo>
                      <a:pt x="7125" y="21001"/>
                    </a:lnTo>
                    <a:lnTo>
                      <a:pt x="5895" y="20489"/>
                    </a:lnTo>
                    <a:lnTo>
                      <a:pt x="5946" y="18592"/>
                    </a:lnTo>
                    <a:lnTo>
                      <a:pt x="5177" y="18131"/>
                    </a:lnTo>
                    <a:lnTo>
                      <a:pt x="3383" y="18848"/>
                    </a:lnTo>
                    <a:lnTo>
                      <a:pt x="2614" y="17874"/>
                    </a:lnTo>
                    <a:lnTo>
                      <a:pt x="3383" y="16182"/>
                    </a:lnTo>
                    <a:lnTo>
                      <a:pt x="2922" y="15465"/>
                    </a:lnTo>
                    <a:lnTo>
                      <a:pt x="922" y="15516"/>
                    </a:lnTo>
                    <a:lnTo>
                      <a:pt x="512" y="14234"/>
                    </a:lnTo>
                    <a:lnTo>
                      <a:pt x="1948" y="12901"/>
                    </a:lnTo>
                    <a:lnTo>
                      <a:pt x="1896" y="12184"/>
                    </a:lnTo>
                    <a:lnTo>
                      <a:pt x="0" y="11415"/>
                    </a:lnTo>
                    <a:lnTo>
                      <a:pt x="51" y="10031"/>
                    </a:lnTo>
                    <a:lnTo>
                      <a:pt x="1948" y="9313"/>
                    </a:lnTo>
                    <a:lnTo>
                      <a:pt x="2101" y="8595"/>
                    </a:lnTo>
                    <a:lnTo>
                      <a:pt x="615" y="7160"/>
                    </a:lnTo>
                    <a:lnTo>
                      <a:pt x="1127" y="5878"/>
                    </a:lnTo>
                    <a:lnTo>
                      <a:pt x="3178" y="5981"/>
                    </a:lnTo>
                    <a:lnTo>
                      <a:pt x="3588" y="5417"/>
                    </a:lnTo>
                    <a:lnTo>
                      <a:pt x="2819" y="3520"/>
                    </a:lnTo>
                    <a:lnTo>
                      <a:pt x="3742" y="2597"/>
                    </a:lnTo>
                    <a:lnTo>
                      <a:pt x="5536" y="3417"/>
                    </a:lnTo>
                    <a:lnTo>
                      <a:pt x="6049" y="3058"/>
                    </a:lnTo>
                    <a:lnTo>
                      <a:pt x="6100" y="1264"/>
                    </a:lnTo>
                    <a:lnTo>
                      <a:pt x="7228" y="700"/>
                    </a:lnTo>
                    <a:lnTo>
                      <a:pt x="8510" y="2033"/>
                    </a:lnTo>
                    <a:lnTo>
                      <a:pt x="9689" y="1725"/>
                    </a:lnTo>
                    <a:close/>
                    <a:moveTo>
                      <a:pt x="10817" y="14422"/>
                    </a:moveTo>
                    <a:lnTo>
                      <a:pt x="11175" y="14388"/>
                    </a:lnTo>
                    <a:lnTo>
                      <a:pt x="11534" y="14354"/>
                    </a:lnTo>
                    <a:lnTo>
                      <a:pt x="11893" y="14268"/>
                    </a:lnTo>
                    <a:lnTo>
                      <a:pt x="12218" y="14166"/>
                    </a:lnTo>
                    <a:lnTo>
                      <a:pt x="12508" y="13995"/>
                    </a:lnTo>
                    <a:lnTo>
                      <a:pt x="12816" y="13807"/>
                    </a:lnTo>
                    <a:lnTo>
                      <a:pt x="13106" y="13602"/>
                    </a:lnTo>
                    <a:lnTo>
                      <a:pt x="13329" y="13380"/>
                    </a:lnTo>
                    <a:lnTo>
                      <a:pt x="13568" y="13106"/>
                    </a:lnTo>
                    <a:lnTo>
                      <a:pt x="13790" y="12850"/>
                    </a:lnTo>
                    <a:lnTo>
                      <a:pt x="13961" y="12560"/>
                    </a:lnTo>
                    <a:lnTo>
                      <a:pt x="14115" y="12269"/>
                    </a:lnTo>
                    <a:lnTo>
                      <a:pt x="14217" y="11927"/>
                    </a:lnTo>
                    <a:lnTo>
                      <a:pt x="14320" y="11568"/>
                    </a:lnTo>
                    <a:lnTo>
                      <a:pt x="14388" y="11210"/>
                    </a:lnTo>
                    <a:lnTo>
                      <a:pt x="14388" y="10851"/>
                    </a:lnTo>
                    <a:lnTo>
                      <a:pt x="14388" y="10492"/>
                    </a:lnTo>
                    <a:lnTo>
                      <a:pt x="14320" y="10133"/>
                    </a:lnTo>
                    <a:lnTo>
                      <a:pt x="14217" y="9808"/>
                    </a:lnTo>
                    <a:lnTo>
                      <a:pt x="14115" y="9467"/>
                    </a:lnTo>
                    <a:lnTo>
                      <a:pt x="13961" y="9142"/>
                    </a:lnTo>
                    <a:lnTo>
                      <a:pt x="13790" y="8851"/>
                    </a:lnTo>
                    <a:lnTo>
                      <a:pt x="13568" y="8595"/>
                    </a:lnTo>
                    <a:lnTo>
                      <a:pt x="13329" y="8322"/>
                    </a:lnTo>
                    <a:lnTo>
                      <a:pt x="13106" y="8100"/>
                    </a:lnTo>
                    <a:lnTo>
                      <a:pt x="12816" y="7894"/>
                    </a:lnTo>
                    <a:lnTo>
                      <a:pt x="12508" y="7741"/>
                    </a:lnTo>
                    <a:lnTo>
                      <a:pt x="12218" y="7570"/>
                    </a:lnTo>
                    <a:lnTo>
                      <a:pt x="11893" y="7433"/>
                    </a:lnTo>
                    <a:lnTo>
                      <a:pt x="11534" y="7382"/>
                    </a:lnTo>
                    <a:lnTo>
                      <a:pt x="11175" y="7313"/>
                    </a:lnTo>
                    <a:lnTo>
                      <a:pt x="10817" y="7313"/>
                    </a:lnTo>
                    <a:lnTo>
                      <a:pt x="10441" y="7313"/>
                    </a:lnTo>
                    <a:lnTo>
                      <a:pt x="10082" y="7382"/>
                    </a:lnTo>
                    <a:lnTo>
                      <a:pt x="9757" y="7433"/>
                    </a:lnTo>
                    <a:lnTo>
                      <a:pt x="9432" y="7570"/>
                    </a:lnTo>
                    <a:lnTo>
                      <a:pt x="9142" y="7741"/>
                    </a:lnTo>
                    <a:lnTo>
                      <a:pt x="8834" y="7894"/>
                    </a:lnTo>
                    <a:lnTo>
                      <a:pt x="8544" y="8100"/>
                    </a:lnTo>
                    <a:lnTo>
                      <a:pt x="8287" y="8322"/>
                    </a:lnTo>
                    <a:lnTo>
                      <a:pt x="8048" y="8595"/>
                    </a:lnTo>
                    <a:lnTo>
                      <a:pt x="7860" y="8851"/>
                    </a:lnTo>
                    <a:lnTo>
                      <a:pt x="7689" y="9142"/>
                    </a:lnTo>
                    <a:lnTo>
                      <a:pt x="7536" y="9467"/>
                    </a:lnTo>
                    <a:lnTo>
                      <a:pt x="7399" y="9808"/>
                    </a:lnTo>
                    <a:lnTo>
                      <a:pt x="7331" y="10133"/>
                    </a:lnTo>
                    <a:lnTo>
                      <a:pt x="7262" y="10492"/>
                    </a:lnTo>
                    <a:lnTo>
                      <a:pt x="7262" y="10851"/>
                    </a:lnTo>
                    <a:lnTo>
                      <a:pt x="7262" y="11210"/>
                    </a:lnTo>
                    <a:lnTo>
                      <a:pt x="7331" y="11568"/>
                    </a:lnTo>
                    <a:lnTo>
                      <a:pt x="7399" y="11927"/>
                    </a:lnTo>
                    <a:lnTo>
                      <a:pt x="7536" y="12269"/>
                    </a:lnTo>
                    <a:lnTo>
                      <a:pt x="7689" y="12560"/>
                    </a:lnTo>
                    <a:lnTo>
                      <a:pt x="7860" y="12850"/>
                    </a:lnTo>
                    <a:lnTo>
                      <a:pt x="8048" y="13106"/>
                    </a:lnTo>
                    <a:lnTo>
                      <a:pt x="8287" y="13380"/>
                    </a:lnTo>
                    <a:lnTo>
                      <a:pt x="8544" y="13602"/>
                    </a:lnTo>
                    <a:lnTo>
                      <a:pt x="8834" y="13807"/>
                    </a:lnTo>
                    <a:lnTo>
                      <a:pt x="9142" y="13995"/>
                    </a:lnTo>
                    <a:lnTo>
                      <a:pt x="9432" y="14166"/>
                    </a:lnTo>
                    <a:lnTo>
                      <a:pt x="9757" y="14268"/>
                    </a:lnTo>
                    <a:lnTo>
                      <a:pt x="10082" y="14354"/>
                    </a:lnTo>
                    <a:lnTo>
                      <a:pt x="10441" y="14388"/>
                    </a:lnTo>
                    <a:lnTo>
                      <a:pt x="10817" y="14422"/>
                    </a:lnTo>
                    <a:close/>
                  </a:path>
                </a:pathLst>
              </a:custGeom>
              <a:solidFill>
                <a:srgbClr val="99CCFF"/>
              </a:solidFill>
              <a:ln w="9525">
                <a:solidFill>
                  <a:srgbClr val="66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9" name="AutoShape 17"/>
              <p:cNvSpPr>
                <a:spLocks noEditPoints="1" noChangeArrowheads="1"/>
              </p:cNvSpPr>
              <p:nvPr/>
            </p:nvSpPr>
            <p:spPr bwMode="auto">
              <a:xfrm>
                <a:off x="1808" y="729"/>
                <a:ext cx="1429" cy="125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68 w 21600"/>
                  <a:gd name="T13" fmla="*/ 3965 h 21600"/>
                  <a:gd name="T14" fmla="*/ 17836 w 21600"/>
                  <a:gd name="T15" fmla="*/ 17635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9689" y="1725"/>
                    </a:moveTo>
                    <a:lnTo>
                      <a:pt x="10304" y="85"/>
                    </a:lnTo>
                    <a:lnTo>
                      <a:pt x="11637" y="85"/>
                    </a:lnTo>
                    <a:lnTo>
                      <a:pt x="12303" y="1777"/>
                    </a:lnTo>
                    <a:lnTo>
                      <a:pt x="13072" y="1931"/>
                    </a:lnTo>
                    <a:lnTo>
                      <a:pt x="14303" y="598"/>
                    </a:lnTo>
                    <a:lnTo>
                      <a:pt x="15533" y="1110"/>
                    </a:lnTo>
                    <a:lnTo>
                      <a:pt x="15584" y="2905"/>
                    </a:lnTo>
                    <a:lnTo>
                      <a:pt x="16405" y="3520"/>
                    </a:lnTo>
                    <a:lnTo>
                      <a:pt x="17891" y="2751"/>
                    </a:lnTo>
                    <a:lnTo>
                      <a:pt x="18917" y="3674"/>
                    </a:lnTo>
                    <a:lnTo>
                      <a:pt x="18199" y="5314"/>
                    </a:lnTo>
                    <a:lnTo>
                      <a:pt x="18763" y="6083"/>
                    </a:lnTo>
                    <a:lnTo>
                      <a:pt x="20403" y="6032"/>
                    </a:lnTo>
                    <a:lnTo>
                      <a:pt x="20865" y="7211"/>
                    </a:lnTo>
                    <a:lnTo>
                      <a:pt x="19737" y="8185"/>
                    </a:lnTo>
                    <a:lnTo>
                      <a:pt x="20096" y="9723"/>
                    </a:lnTo>
                    <a:lnTo>
                      <a:pt x="21634" y="10287"/>
                    </a:lnTo>
                    <a:lnTo>
                      <a:pt x="21582" y="11620"/>
                    </a:lnTo>
                    <a:lnTo>
                      <a:pt x="20147" y="12184"/>
                    </a:lnTo>
                    <a:lnTo>
                      <a:pt x="19942" y="13158"/>
                    </a:lnTo>
                    <a:lnTo>
                      <a:pt x="21070" y="14234"/>
                    </a:lnTo>
                    <a:lnTo>
                      <a:pt x="20608" y="15362"/>
                    </a:lnTo>
                    <a:lnTo>
                      <a:pt x="19019" y="15465"/>
                    </a:lnTo>
                    <a:lnTo>
                      <a:pt x="18404" y="16439"/>
                    </a:lnTo>
                    <a:lnTo>
                      <a:pt x="19122" y="17925"/>
                    </a:lnTo>
                    <a:lnTo>
                      <a:pt x="18096" y="18797"/>
                    </a:lnTo>
                    <a:lnTo>
                      <a:pt x="16763" y="18284"/>
                    </a:lnTo>
                    <a:lnTo>
                      <a:pt x="15431" y="19002"/>
                    </a:lnTo>
                    <a:lnTo>
                      <a:pt x="15277" y="20848"/>
                    </a:lnTo>
                    <a:lnTo>
                      <a:pt x="14149" y="21155"/>
                    </a:lnTo>
                    <a:lnTo>
                      <a:pt x="13021" y="19925"/>
                    </a:lnTo>
                    <a:lnTo>
                      <a:pt x="12252" y="20181"/>
                    </a:lnTo>
                    <a:lnTo>
                      <a:pt x="11739" y="21668"/>
                    </a:lnTo>
                    <a:lnTo>
                      <a:pt x="10201" y="21668"/>
                    </a:lnTo>
                    <a:lnTo>
                      <a:pt x="9740" y="20130"/>
                    </a:lnTo>
                    <a:lnTo>
                      <a:pt x="8253" y="19771"/>
                    </a:lnTo>
                    <a:lnTo>
                      <a:pt x="7125" y="21001"/>
                    </a:lnTo>
                    <a:lnTo>
                      <a:pt x="5895" y="20489"/>
                    </a:lnTo>
                    <a:lnTo>
                      <a:pt x="5946" y="18592"/>
                    </a:lnTo>
                    <a:lnTo>
                      <a:pt x="5177" y="18131"/>
                    </a:lnTo>
                    <a:lnTo>
                      <a:pt x="3383" y="18848"/>
                    </a:lnTo>
                    <a:lnTo>
                      <a:pt x="2614" y="17874"/>
                    </a:lnTo>
                    <a:lnTo>
                      <a:pt x="3383" y="16182"/>
                    </a:lnTo>
                    <a:lnTo>
                      <a:pt x="2922" y="15465"/>
                    </a:lnTo>
                    <a:lnTo>
                      <a:pt x="922" y="15516"/>
                    </a:lnTo>
                    <a:lnTo>
                      <a:pt x="512" y="14234"/>
                    </a:lnTo>
                    <a:lnTo>
                      <a:pt x="1948" y="12901"/>
                    </a:lnTo>
                    <a:lnTo>
                      <a:pt x="1896" y="12184"/>
                    </a:lnTo>
                    <a:lnTo>
                      <a:pt x="0" y="11415"/>
                    </a:lnTo>
                    <a:lnTo>
                      <a:pt x="51" y="10031"/>
                    </a:lnTo>
                    <a:lnTo>
                      <a:pt x="1948" y="9313"/>
                    </a:lnTo>
                    <a:lnTo>
                      <a:pt x="2101" y="8595"/>
                    </a:lnTo>
                    <a:lnTo>
                      <a:pt x="615" y="7160"/>
                    </a:lnTo>
                    <a:lnTo>
                      <a:pt x="1127" y="5878"/>
                    </a:lnTo>
                    <a:lnTo>
                      <a:pt x="3178" y="5981"/>
                    </a:lnTo>
                    <a:lnTo>
                      <a:pt x="3588" y="5417"/>
                    </a:lnTo>
                    <a:lnTo>
                      <a:pt x="2819" y="3520"/>
                    </a:lnTo>
                    <a:lnTo>
                      <a:pt x="3742" y="2597"/>
                    </a:lnTo>
                    <a:lnTo>
                      <a:pt x="5536" y="3417"/>
                    </a:lnTo>
                    <a:lnTo>
                      <a:pt x="6049" y="3058"/>
                    </a:lnTo>
                    <a:lnTo>
                      <a:pt x="6100" y="1264"/>
                    </a:lnTo>
                    <a:lnTo>
                      <a:pt x="7228" y="700"/>
                    </a:lnTo>
                    <a:lnTo>
                      <a:pt x="8510" y="2033"/>
                    </a:lnTo>
                    <a:lnTo>
                      <a:pt x="9689" y="1725"/>
                    </a:lnTo>
                    <a:close/>
                    <a:moveTo>
                      <a:pt x="10817" y="14422"/>
                    </a:moveTo>
                    <a:lnTo>
                      <a:pt x="11175" y="14388"/>
                    </a:lnTo>
                    <a:lnTo>
                      <a:pt x="11534" y="14354"/>
                    </a:lnTo>
                    <a:lnTo>
                      <a:pt x="11893" y="14268"/>
                    </a:lnTo>
                    <a:lnTo>
                      <a:pt x="12218" y="14166"/>
                    </a:lnTo>
                    <a:lnTo>
                      <a:pt x="12508" y="13995"/>
                    </a:lnTo>
                    <a:lnTo>
                      <a:pt x="12816" y="13807"/>
                    </a:lnTo>
                    <a:lnTo>
                      <a:pt x="13106" y="13602"/>
                    </a:lnTo>
                    <a:lnTo>
                      <a:pt x="13329" y="13380"/>
                    </a:lnTo>
                    <a:lnTo>
                      <a:pt x="13568" y="13106"/>
                    </a:lnTo>
                    <a:lnTo>
                      <a:pt x="13790" y="12850"/>
                    </a:lnTo>
                    <a:lnTo>
                      <a:pt x="13961" y="12560"/>
                    </a:lnTo>
                    <a:lnTo>
                      <a:pt x="14115" y="12269"/>
                    </a:lnTo>
                    <a:lnTo>
                      <a:pt x="14217" y="11927"/>
                    </a:lnTo>
                    <a:lnTo>
                      <a:pt x="14320" y="11568"/>
                    </a:lnTo>
                    <a:lnTo>
                      <a:pt x="14388" y="11210"/>
                    </a:lnTo>
                    <a:lnTo>
                      <a:pt x="14388" y="10851"/>
                    </a:lnTo>
                    <a:lnTo>
                      <a:pt x="14388" y="10492"/>
                    </a:lnTo>
                    <a:lnTo>
                      <a:pt x="14320" y="10133"/>
                    </a:lnTo>
                    <a:lnTo>
                      <a:pt x="14217" y="9808"/>
                    </a:lnTo>
                    <a:lnTo>
                      <a:pt x="14115" y="9467"/>
                    </a:lnTo>
                    <a:lnTo>
                      <a:pt x="13961" y="9142"/>
                    </a:lnTo>
                    <a:lnTo>
                      <a:pt x="13790" y="8851"/>
                    </a:lnTo>
                    <a:lnTo>
                      <a:pt x="13568" y="8595"/>
                    </a:lnTo>
                    <a:lnTo>
                      <a:pt x="13329" y="8322"/>
                    </a:lnTo>
                    <a:lnTo>
                      <a:pt x="13106" y="8100"/>
                    </a:lnTo>
                    <a:lnTo>
                      <a:pt x="12816" y="7894"/>
                    </a:lnTo>
                    <a:lnTo>
                      <a:pt x="12508" y="7741"/>
                    </a:lnTo>
                    <a:lnTo>
                      <a:pt x="12218" y="7570"/>
                    </a:lnTo>
                    <a:lnTo>
                      <a:pt x="11893" y="7433"/>
                    </a:lnTo>
                    <a:lnTo>
                      <a:pt x="11534" y="7382"/>
                    </a:lnTo>
                    <a:lnTo>
                      <a:pt x="11175" y="7313"/>
                    </a:lnTo>
                    <a:lnTo>
                      <a:pt x="10817" y="7313"/>
                    </a:lnTo>
                    <a:lnTo>
                      <a:pt x="10441" y="7313"/>
                    </a:lnTo>
                    <a:lnTo>
                      <a:pt x="10082" y="7382"/>
                    </a:lnTo>
                    <a:lnTo>
                      <a:pt x="9757" y="7433"/>
                    </a:lnTo>
                    <a:lnTo>
                      <a:pt x="9432" y="7570"/>
                    </a:lnTo>
                    <a:lnTo>
                      <a:pt x="9142" y="7741"/>
                    </a:lnTo>
                    <a:lnTo>
                      <a:pt x="8834" y="7894"/>
                    </a:lnTo>
                    <a:lnTo>
                      <a:pt x="8544" y="8100"/>
                    </a:lnTo>
                    <a:lnTo>
                      <a:pt x="8287" y="8322"/>
                    </a:lnTo>
                    <a:lnTo>
                      <a:pt x="8048" y="8595"/>
                    </a:lnTo>
                    <a:lnTo>
                      <a:pt x="7860" y="8851"/>
                    </a:lnTo>
                    <a:lnTo>
                      <a:pt x="7689" y="9142"/>
                    </a:lnTo>
                    <a:lnTo>
                      <a:pt x="7536" y="9467"/>
                    </a:lnTo>
                    <a:lnTo>
                      <a:pt x="7399" y="9808"/>
                    </a:lnTo>
                    <a:lnTo>
                      <a:pt x="7331" y="10133"/>
                    </a:lnTo>
                    <a:lnTo>
                      <a:pt x="7262" y="10492"/>
                    </a:lnTo>
                    <a:lnTo>
                      <a:pt x="7262" y="10851"/>
                    </a:lnTo>
                    <a:lnTo>
                      <a:pt x="7262" y="11210"/>
                    </a:lnTo>
                    <a:lnTo>
                      <a:pt x="7331" y="11568"/>
                    </a:lnTo>
                    <a:lnTo>
                      <a:pt x="7399" y="11927"/>
                    </a:lnTo>
                    <a:lnTo>
                      <a:pt x="7536" y="12269"/>
                    </a:lnTo>
                    <a:lnTo>
                      <a:pt x="7689" y="12560"/>
                    </a:lnTo>
                    <a:lnTo>
                      <a:pt x="7860" y="12850"/>
                    </a:lnTo>
                    <a:lnTo>
                      <a:pt x="8048" y="13106"/>
                    </a:lnTo>
                    <a:lnTo>
                      <a:pt x="8287" y="13380"/>
                    </a:lnTo>
                    <a:lnTo>
                      <a:pt x="8544" y="13602"/>
                    </a:lnTo>
                    <a:lnTo>
                      <a:pt x="8834" y="13807"/>
                    </a:lnTo>
                    <a:lnTo>
                      <a:pt x="9142" y="13995"/>
                    </a:lnTo>
                    <a:lnTo>
                      <a:pt x="9432" y="14166"/>
                    </a:lnTo>
                    <a:lnTo>
                      <a:pt x="9757" y="14268"/>
                    </a:lnTo>
                    <a:lnTo>
                      <a:pt x="10082" y="14354"/>
                    </a:lnTo>
                    <a:lnTo>
                      <a:pt x="10441" y="14388"/>
                    </a:lnTo>
                    <a:lnTo>
                      <a:pt x="10817" y="14422"/>
                    </a:lnTo>
                    <a:close/>
                  </a:path>
                </a:pathLst>
              </a:custGeom>
              <a:solidFill>
                <a:srgbClr val="99CCFF"/>
              </a:solidFill>
              <a:ln w="9525">
                <a:solidFill>
                  <a:srgbClr val="66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0" name="AutoShape 18"/>
              <p:cNvSpPr>
                <a:spLocks noEditPoints="1" noChangeArrowheads="1"/>
              </p:cNvSpPr>
              <p:nvPr/>
            </p:nvSpPr>
            <p:spPr bwMode="auto">
              <a:xfrm>
                <a:off x="2506" y="1423"/>
                <a:ext cx="1588" cy="13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80 w 21600"/>
                  <a:gd name="T13" fmla="*/ 3957 h 21600"/>
                  <a:gd name="T14" fmla="*/ 17846 w 21600"/>
                  <a:gd name="T15" fmla="*/ 17628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9689" y="1725"/>
                    </a:moveTo>
                    <a:lnTo>
                      <a:pt x="10304" y="85"/>
                    </a:lnTo>
                    <a:lnTo>
                      <a:pt x="11637" y="85"/>
                    </a:lnTo>
                    <a:lnTo>
                      <a:pt x="12303" y="1777"/>
                    </a:lnTo>
                    <a:lnTo>
                      <a:pt x="13072" y="1931"/>
                    </a:lnTo>
                    <a:lnTo>
                      <a:pt x="14303" y="598"/>
                    </a:lnTo>
                    <a:lnTo>
                      <a:pt x="15533" y="1110"/>
                    </a:lnTo>
                    <a:lnTo>
                      <a:pt x="15584" y="2905"/>
                    </a:lnTo>
                    <a:lnTo>
                      <a:pt x="16405" y="3520"/>
                    </a:lnTo>
                    <a:lnTo>
                      <a:pt x="17891" y="2751"/>
                    </a:lnTo>
                    <a:lnTo>
                      <a:pt x="18917" y="3674"/>
                    </a:lnTo>
                    <a:lnTo>
                      <a:pt x="18199" y="5314"/>
                    </a:lnTo>
                    <a:lnTo>
                      <a:pt x="18763" y="6083"/>
                    </a:lnTo>
                    <a:lnTo>
                      <a:pt x="20403" y="6032"/>
                    </a:lnTo>
                    <a:lnTo>
                      <a:pt x="20865" y="7211"/>
                    </a:lnTo>
                    <a:lnTo>
                      <a:pt x="19737" y="8185"/>
                    </a:lnTo>
                    <a:lnTo>
                      <a:pt x="20096" y="9723"/>
                    </a:lnTo>
                    <a:lnTo>
                      <a:pt x="21634" y="10287"/>
                    </a:lnTo>
                    <a:lnTo>
                      <a:pt x="21582" y="11620"/>
                    </a:lnTo>
                    <a:lnTo>
                      <a:pt x="20147" y="12184"/>
                    </a:lnTo>
                    <a:lnTo>
                      <a:pt x="19942" y="13158"/>
                    </a:lnTo>
                    <a:lnTo>
                      <a:pt x="21070" y="14234"/>
                    </a:lnTo>
                    <a:lnTo>
                      <a:pt x="20608" y="15362"/>
                    </a:lnTo>
                    <a:lnTo>
                      <a:pt x="19019" y="15465"/>
                    </a:lnTo>
                    <a:lnTo>
                      <a:pt x="18404" y="16439"/>
                    </a:lnTo>
                    <a:lnTo>
                      <a:pt x="19122" y="17925"/>
                    </a:lnTo>
                    <a:lnTo>
                      <a:pt x="18096" y="18797"/>
                    </a:lnTo>
                    <a:lnTo>
                      <a:pt x="16763" y="18284"/>
                    </a:lnTo>
                    <a:lnTo>
                      <a:pt x="15431" y="19002"/>
                    </a:lnTo>
                    <a:lnTo>
                      <a:pt x="15277" y="20848"/>
                    </a:lnTo>
                    <a:lnTo>
                      <a:pt x="14149" y="21155"/>
                    </a:lnTo>
                    <a:lnTo>
                      <a:pt x="13021" y="19925"/>
                    </a:lnTo>
                    <a:lnTo>
                      <a:pt x="12252" y="20181"/>
                    </a:lnTo>
                    <a:lnTo>
                      <a:pt x="11739" y="21668"/>
                    </a:lnTo>
                    <a:lnTo>
                      <a:pt x="10201" y="21668"/>
                    </a:lnTo>
                    <a:lnTo>
                      <a:pt x="9740" y="20130"/>
                    </a:lnTo>
                    <a:lnTo>
                      <a:pt x="8253" y="19771"/>
                    </a:lnTo>
                    <a:lnTo>
                      <a:pt x="7125" y="21001"/>
                    </a:lnTo>
                    <a:lnTo>
                      <a:pt x="5895" y="20489"/>
                    </a:lnTo>
                    <a:lnTo>
                      <a:pt x="5946" y="18592"/>
                    </a:lnTo>
                    <a:lnTo>
                      <a:pt x="5177" y="18131"/>
                    </a:lnTo>
                    <a:lnTo>
                      <a:pt x="3383" y="18848"/>
                    </a:lnTo>
                    <a:lnTo>
                      <a:pt x="2614" y="17874"/>
                    </a:lnTo>
                    <a:lnTo>
                      <a:pt x="3383" y="16182"/>
                    </a:lnTo>
                    <a:lnTo>
                      <a:pt x="2922" y="15465"/>
                    </a:lnTo>
                    <a:lnTo>
                      <a:pt x="922" y="15516"/>
                    </a:lnTo>
                    <a:lnTo>
                      <a:pt x="512" y="14234"/>
                    </a:lnTo>
                    <a:lnTo>
                      <a:pt x="1948" y="12901"/>
                    </a:lnTo>
                    <a:lnTo>
                      <a:pt x="1896" y="12184"/>
                    </a:lnTo>
                    <a:lnTo>
                      <a:pt x="0" y="11415"/>
                    </a:lnTo>
                    <a:lnTo>
                      <a:pt x="51" y="10031"/>
                    </a:lnTo>
                    <a:lnTo>
                      <a:pt x="1948" y="9313"/>
                    </a:lnTo>
                    <a:lnTo>
                      <a:pt x="2101" y="8595"/>
                    </a:lnTo>
                    <a:lnTo>
                      <a:pt x="615" y="7160"/>
                    </a:lnTo>
                    <a:lnTo>
                      <a:pt x="1127" y="5878"/>
                    </a:lnTo>
                    <a:lnTo>
                      <a:pt x="3178" y="5981"/>
                    </a:lnTo>
                    <a:lnTo>
                      <a:pt x="3588" y="5417"/>
                    </a:lnTo>
                    <a:lnTo>
                      <a:pt x="2819" y="3520"/>
                    </a:lnTo>
                    <a:lnTo>
                      <a:pt x="3742" y="2597"/>
                    </a:lnTo>
                    <a:lnTo>
                      <a:pt x="5536" y="3417"/>
                    </a:lnTo>
                    <a:lnTo>
                      <a:pt x="6049" y="3058"/>
                    </a:lnTo>
                    <a:lnTo>
                      <a:pt x="6100" y="1264"/>
                    </a:lnTo>
                    <a:lnTo>
                      <a:pt x="7228" y="700"/>
                    </a:lnTo>
                    <a:lnTo>
                      <a:pt x="8510" y="2033"/>
                    </a:lnTo>
                    <a:lnTo>
                      <a:pt x="9689" y="1725"/>
                    </a:lnTo>
                    <a:close/>
                    <a:moveTo>
                      <a:pt x="10817" y="14422"/>
                    </a:moveTo>
                    <a:lnTo>
                      <a:pt x="11175" y="14388"/>
                    </a:lnTo>
                    <a:lnTo>
                      <a:pt x="11534" y="14354"/>
                    </a:lnTo>
                    <a:lnTo>
                      <a:pt x="11893" y="14268"/>
                    </a:lnTo>
                    <a:lnTo>
                      <a:pt x="12218" y="14166"/>
                    </a:lnTo>
                    <a:lnTo>
                      <a:pt x="12508" y="13995"/>
                    </a:lnTo>
                    <a:lnTo>
                      <a:pt x="12816" y="13807"/>
                    </a:lnTo>
                    <a:lnTo>
                      <a:pt x="13106" y="13602"/>
                    </a:lnTo>
                    <a:lnTo>
                      <a:pt x="13329" y="13380"/>
                    </a:lnTo>
                    <a:lnTo>
                      <a:pt x="13568" y="13106"/>
                    </a:lnTo>
                    <a:lnTo>
                      <a:pt x="13790" y="12850"/>
                    </a:lnTo>
                    <a:lnTo>
                      <a:pt x="13961" y="12560"/>
                    </a:lnTo>
                    <a:lnTo>
                      <a:pt x="14115" y="12269"/>
                    </a:lnTo>
                    <a:lnTo>
                      <a:pt x="14217" y="11927"/>
                    </a:lnTo>
                    <a:lnTo>
                      <a:pt x="14320" y="11568"/>
                    </a:lnTo>
                    <a:lnTo>
                      <a:pt x="14388" y="11210"/>
                    </a:lnTo>
                    <a:lnTo>
                      <a:pt x="14388" y="10851"/>
                    </a:lnTo>
                    <a:lnTo>
                      <a:pt x="14388" y="10492"/>
                    </a:lnTo>
                    <a:lnTo>
                      <a:pt x="14320" y="10133"/>
                    </a:lnTo>
                    <a:lnTo>
                      <a:pt x="14217" y="9808"/>
                    </a:lnTo>
                    <a:lnTo>
                      <a:pt x="14115" y="9467"/>
                    </a:lnTo>
                    <a:lnTo>
                      <a:pt x="13961" y="9142"/>
                    </a:lnTo>
                    <a:lnTo>
                      <a:pt x="13790" y="8851"/>
                    </a:lnTo>
                    <a:lnTo>
                      <a:pt x="13568" y="8595"/>
                    </a:lnTo>
                    <a:lnTo>
                      <a:pt x="13329" y="8322"/>
                    </a:lnTo>
                    <a:lnTo>
                      <a:pt x="13106" y="8100"/>
                    </a:lnTo>
                    <a:lnTo>
                      <a:pt x="12816" y="7894"/>
                    </a:lnTo>
                    <a:lnTo>
                      <a:pt x="12508" y="7741"/>
                    </a:lnTo>
                    <a:lnTo>
                      <a:pt x="12218" y="7570"/>
                    </a:lnTo>
                    <a:lnTo>
                      <a:pt x="11893" y="7433"/>
                    </a:lnTo>
                    <a:lnTo>
                      <a:pt x="11534" y="7382"/>
                    </a:lnTo>
                    <a:lnTo>
                      <a:pt x="11175" y="7313"/>
                    </a:lnTo>
                    <a:lnTo>
                      <a:pt x="10817" y="7313"/>
                    </a:lnTo>
                    <a:lnTo>
                      <a:pt x="10441" y="7313"/>
                    </a:lnTo>
                    <a:lnTo>
                      <a:pt x="10082" y="7382"/>
                    </a:lnTo>
                    <a:lnTo>
                      <a:pt x="9757" y="7433"/>
                    </a:lnTo>
                    <a:lnTo>
                      <a:pt x="9432" y="7570"/>
                    </a:lnTo>
                    <a:lnTo>
                      <a:pt x="9142" y="7741"/>
                    </a:lnTo>
                    <a:lnTo>
                      <a:pt x="8834" y="7894"/>
                    </a:lnTo>
                    <a:lnTo>
                      <a:pt x="8544" y="8100"/>
                    </a:lnTo>
                    <a:lnTo>
                      <a:pt x="8287" y="8322"/>
                    </a:lnTo>
                    <a:lnTo>
                      <a:pt x="8048" y="8595"/>
                    </a:lnTo>
                    <a:lnTo>
                      <a:pt x="7860" y="8851"/>
                    </a:lnTo>
                    <a:lnTo>
                      <a:pt x="7689" y="9142"/>
                    </a:lnTo>
                    <a:lnTo>
                      <a:pt x="7536" y="9467"/>
                    </a:lnTo>
                    <a:lnTo>
                      <a:pt x="7399" y="9808"/>
                    </a:lnTo>
                    <a:lnTo>
                      <a:pt x="7331" y="10133"/>
                    </a:lnTo>
                    <a:lnTo>
                      <a:pt x="7262" y="10492"/>
                    </a:lnTo>
                    <a:lnTo>
                      <a:pt x="7262" y="10851"/>
                    </a:lnTo>
                    <a:lnTo>
                      <a:pt x="7262" y="11210"/>
                    </a:lnTo>
                    <a:lnTo>
                      <a:pt x="7331" y="11568"/>
                    </a:lnTo>
                    <a:lnTo>
                      <a:pt x="7399" y="11927"/>
                    </a:lnTo>
                    <a:lnTo>
                      <a:pt x="7536" y="12269"/>
                    </a:lnTo>
                    <a:lnTo>
                      <a:pt x="7689" y="12560"/>
                    </a:lnTo>
                    <a:lnTo>
                      <a:pt x="7860" y="12850"/>
                    </a:lnTo>
                    <a:lnTo>
                      <a:pt x="8048" y="13106"/>
                    </a:lnTo>
                    <a:lnTo>
                      <a:pt x="8287" y="13380"/>
                    </a:lnTo>
                    <a:lnTo>
                      <a:pt x="8544" y="13602"/>
                    </a:lnTo>
                    <a:lnTo>
                      <a:pt x="8834" y="13807"/>
                    </a:lnTo>
                    <a:lnTo>
                      <a:pt x="9142" y="13995"/>
                    </a:lnTo>
                    <a:lnTo>
                      <a:pt x="9432" y="14166"/>
                    </a:lnTo>
                    <a:lnTo>
                      <a:pt x="9757" y="14268"/>
                    </a:lnTo>
                    <a:lnTo>
                      <a:pt x="10082" y="14354"/>
                    </a:lnTo>
                    <a:lnTo>
                      <a:pt x="10441" y="14388"/>
                    </a:lnTo>
                    <a:lnTo>
                      <a:pt x="10817" y="14422"/>
                    </a:lnTo>
                    <a:close/>
                  </a:path>
                </a:pathLst>
              </a:custGeom>
              <a:solidFill>
                <a:srgbClr val="99CCFF"/>
              </a:solidFill>
              <a:ln w="9525">
                <a:solidFill>
                  <a:srgbClr val="66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31" name="TextBox 230"/>
            <p:cNvSpPr txBox="1"/>
            <p:nvPr/>
          </p:nvSpPr>
          <p:spPr>
            <a:xfrm>
              <a:off x="1718170" y="4613990"/>
              <a:ext cx="1265468" cy="49464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smtClean="0"/>
                <a:t>RCA </a:t>
              </a:r>
              <a:r>
                <a:rPr lang="ko-KR" altLang="en-US" sz="1100" smtClean="0"/>
                <a:t>엔진에서 </a:t>
              </a:r>
              <a:endParaRPr lang="en-US" altLang="ko-KR" sz="1100" smtClean="0"/>
            </a:p>
            <a:p>
              <a:pPr algn="ctr"/>
              <a:r>
                <a:rPr lang="en-US" altLang="ko-KR" sz="1100" smtClean="0"/>
                <a:t>Sinppet</a:t>
              </a:r>
              <a:r>
                <a:rPr lang="ko-KR" altLang="en-US" sz="1100" smtClean="0"/>
                <a:t>으로 구현</a:t>
              </a:r>
              <a:endParaRPr lang="ko-KR" altLang="en-US" sz="1100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124075" y="3278765"/>
              <a:ext cx="545342" cy="276999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RCA</a:t>
              </a:r>
              <a:endParaRPr lang="ko-KR" altLang="en-US" sz="12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1" name="Picture 169" descr="arrow1b_ico_Bmp1"/>
            <p:cNvPicPr>
              <a:picLocks noChangeAspect="1" noChangeArrowheads="1"/>
            </p:cNvPicPr>
            <p:nvPr/>
          </p:nvPicPr>
          <p:blipFill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402697">
              <a:off x="2535598" y="5046968"/>
              <a:ext cx="292091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905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479375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시스템 환경 분석을 </a:t>
            </a:r>
            <a:r>
              <a:rPr lang="ko-KR" altLang="en-US" sz="1600" dirty="0"/>
              <a:t>통해 식별된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시사점을 </a:t>
            </a:r>
            <a:r>
              <a:rPr lang="ko-KR" altLang="en-US" sz="1600"/>
              <a:t>종합적으로 유형화함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2.5 </a:t>
            </a:r>
            <a:r>
              <a:rPr lang="ko-KR" altLang="en-US"/>
              <a:t>환경분석 결과 종합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2.5.1 </a:t>
            </a:r>
            <a:r>
              <a:rPr lang="ko-KR" altLang="en-US" sz="1800"/>
              <a:t>시스템 환경 분석 결과</a:t>
            </a:r>
            <a:endParaRPr lang="ko-KR" altLang="en-US" sz="14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37703"/>
              </p:ext>
            </p:extLst>
          </p:nvPr>
        </p:nvGraphicFramePr>
        <p:xfrm>
          <a:off x="381000" y="1557339"/>
          <a:ext cx="9143999" cy="4751387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400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422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0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91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315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291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1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711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DATABASE(Tibero)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는 최신 트랜드의 국산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DATABASE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이나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설계가 비표준이며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구축이 미흡한 상태이므로 설계 부분의 대폭적인 개선이 필요함</a:t>
                      </a:r>
                      <a:endParaRPr lang="en-US" altLang="ko-KR" sz="1200" spc="-30">
                        <a:solidFill>
                          <a:schemeClr val="tx1"/>
                        </a:solidFill>
                        <a:latin typeface="맑은 고딕" pitchFamily="50" charset="-127"/>
                      </a:endParaRPr>
                    </a:p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DATABASE(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내부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UI_UX(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외부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를 전면적으로 개선하여 정보시스템 관리자 및 시스템 사용자의 편의 및 효율성 제고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전면적 개선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609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UI_TOOL(Websquare)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는 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HTML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기반의 최신기술 적용 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UI-UX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 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TOOL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이지만 대상업무 구축시 표준화 미흡으로 유지보수 어려움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1200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609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2022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구축된 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시스템의 불완전성으로 인하여 기존의 더존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시스템을 동시에 사용하고 있으며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데이터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이중관리 및 업무 단절로 통합시스템의 구현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운영이 가장 우선적으로 요구됨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09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479375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업무 기능 분석을 </a:t>
            </a:r>
            <a:r>
              <a:rPr lang="ko-KR" altLang="en-US" sz="1600" dirty="0"/>
              <a:t>통해 식별된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시사점을 </a:t>
            </a:r>
            <a:r>
              <a:rPr lang="ko-KR" altLang="en-US" sz="1600"/>
              <a:t>종합적으로 유형화함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2.5 </a:t>
            </a:r>
            <a:r>
              <a:rPr lang="ko-KR" altLang="en-US"/>
              <a:t>환경분석 결과 종합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2.5.2 </a:t>
            </a:r>
            <a:r>
              <a:rPr lang="ko-KR" altLang="en-US" sz="1800"/>
              <a:t>시스템 업무기능 분석 결과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247437"/>
              </p:ext>
            </p:extLst>
          </p:nvPr>
        </p:nvGraphicFramePr>
        <p:xfrm>
          <a:off x="381000" y="1557339"/>
          <a:ext cx="9143999" cy="4751386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540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0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91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315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478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7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22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업무별 기능 분석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2022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구축된 예산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회계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자산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구매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사업관리 업무의 기능 미비 및 필수 기능 결여 등의 사유로 전반적인 업무 프로세스를 시스템으로 완결 처리하기가 어려움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  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전면적인 개선이나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시스템의 재구축이 필요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전면적 개선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재구축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DATABASE/DATA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분석</a:t>
                      </a:r>
                      <a:endParaRPr lang="ko-KR" altLang="en-US" sz="1200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□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DATABASE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설계 및 구축의 표준화 미비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DATA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 체계의 비 표준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 정형화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Naming Rule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 적용 등으로  시스템 개선을 위한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DB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 설계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 구축이 필요한 상태임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97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업무별 운용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사용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분석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□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250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 구축 프로그램 중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본 미사용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(00%)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미사용 프로그램에 대한 원인 분석 및 문제점 개선으로 시스템의 운용성 제고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76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이해관계자 인터뷰 분석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□ 현행시스템의 이해관계자 인터뷰 및 현황 분석에 의한 개선점 도출 결과 시스템의 전면적인 개선 혹은 재구축에 의한 시스템 정상화 필요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08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479375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최신기술동향 분석을 </a:t>
            </a:r>
            <a:r>
              <a:rPr lang="ko-KR" altLang="en-US" sz="1600" dirty="0"/>
              <a:t>통해 식별된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시사점을 </a:t>
            </a:r>
            <a:r>
              <a:rPr lang="ko-KR" altLang="en-US" sz="1600"/>
              <a:t>종합적으로 유형화함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2.5 </a:t>
            </a:r>
            <a:r>
              <a:rPr lang="ko-KR" altLang="en-US"/>
              <a:t>환경분석 결과 종합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2.5.3 </a:t>
            </a:r>
            <a:r>
              <a:rPr lang="ko-KR" altLang="en-US" sz="1800"/>
              <a:t>최신 기술동향 분석 결과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dirty="0"/>
              <a:t>2.5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22207"/>
              </p:ext>
            </p:extLst>
          </p:nvPr>
        </p:nvGraphicFramePr>
        <p:xfrm>
          <a:off x="381000" y="1557340"/>
          <a:ext cx="9143999" cy="4751386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540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0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91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315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101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전자증빙 시스템 도입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증빙을 전자화하여 관리함으로서 증빙 스캔에 소요되는 수작업을 절감하고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증빙을 전자화하여 보관함으로써 보관공간 절약 및 온라인 검색이 용이하게 지원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솔루션 도입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매출세금계산서 발행 </a:t>
                      </a:r>
                      <a:endParaRPr lang="en-US" altLang="ko-KR" sz="1200" kern="0" smtClea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연계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시스템 매출 입력화면에서 세금계산서 발행 기능을 연계하여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ERP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입력 자료에 의해 세금계산서를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발행함으로써 이중입력 및 오류 배제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pc="-30">
                          <a:latin typeface="+mn-ea"/>
                        </a:rPr>
                        <a:t>UI_UX TOOL </a:t>
                      </a:r>
                      <a:r>
                        <a:rPr lang="ko-KR" altLang="en-US" sz="1200" spc="-30">
                          <a:latin typeface="+mn-ea"/>
                        </a:rPr>
                        <a:t>대체 고려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개발 및 운영이 용이한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UI_UX TOOL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적용하여 외부환경 변경과 사용자 요구사항에 탄력적으로 대응할 수 있는 기반 마련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84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spc="-3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자동화 개발 방법론 도입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화면구성 객체의 표준화 설정 작업 및 화면 형상 설계 작업에 의해 프로그램을 자동으로 생성하는 기능 도입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992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나라장터로부터 조달 관련 정보의 자동 수집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수주예상 사업에 대한 나라장터의 정보를 실시간으로 검색하여 내부 시스템으로 제공받을 수 있는 기능을 구현할 수 있는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RPA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솔루션  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※ RPA(Robotic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Process Automation)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34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개요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환경 분석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/>
              <a:t>방향성 </a:t>
            </a:r>
            <a:r>
              <a:rPr lang="ko-KR" altLang="en-US" dirty="0"/>
              <a:t>정의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3.1 </a:t>
            </a:r>
            <a:r>
              <a:rPr lang="ko-KR" altLang="en-US" dirty="0">
                <a:solidFill>
                  <a:srgbClr val="00437A"/>
                </a:solidFill>
              </a:rPr>
              <a:t>수행절차 및 방안 정의</a:t>
            </a:r>
            <a:endParaRPr lang="en-US" altLang="ko-KR" dirty="0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3.2 </a:t>
            </a:r>
            <a:r>
              <a:rPr lang="ko-KR" altLang="en-US">
                <a:solidFill>
                  <a:srgbClr val="00437A"/>
                </a:solidFill>
              </a:rPr>
              <a:t>분석결과 종합</a:t>
            </a:r>
            <a:endParaRPr lang="en-US" altLang="ko-KR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3.3 </a:t>
            </a:r>
            <a:r>
              <a:rPr lang="ko-KR" altLang="en-US">
                <a:solidFill>
                  <a:srgbClr val="00437A"/>
                </a:solidFill>
              </a:rPr>
              <a:t>추진방향 도출</a:t>
            </a:r>
            <a:endParaRPr lang="en-US" altLang="ko-KR">
              <a:solidFill>
                <a:srgbClr val="00437A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437A"/>
                </a:solidFill>
              </a:rPr>
              <a:t>3.4 </a:t>
            </a:r>
            <a:r>
              <a:rPr lang="ko-KR" altLang="en-US">
                <a:solidFill>
                  <a:srgbClr val="00437A"/>
                </a:solidFill>
              </a:rPr>
              <a:t>추진범위 정의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>
              <a:solidFill>
                <a:srgbClr val="00437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>
                <a:solidFill>
                  <a:srgbClr val="00437A"/>
                </a:solidFill>
              </a:rPr>
              <a:t>Ⅱ. </a:t>
            </a:r>
            <a:r>
              <a:rPr lang="ko-KR" altLang="en-US" sz="2400" b="1" spc="-300" dirty="0">
                <a:solidFill>
                  <a:srgbClr val="00437A"/>
                </a:solidFill>
              </a:rPr>
              <a:t>방향성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2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방향성 정의 </a:t>
            </a:r>
            <a:r>
              <a:rPr lang="ko-KR" altLang="en-US" sz="1600"/>
              <a:t>단계에서는 환경분석 결과로 </a:t>
            </a:r>
            <a:r>
              <a:rPr lang="ko-KR" altLang="en-US" sz="1600" dirty="0"/>
              <a:t>도출된 시사점을 종합하여 본 사업의 추진범위와 방향을 설정함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/>
              <a:t>3.1 </a:t>
            </a:r>
            <a:r>
              <a:rPr lang="ko-KR" altLang="en-US" dirty="0"/>
              <a:t>수행절차 및 방안 정의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/>
              <a:t>3.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/>
              <a:t>3.1 </a:t>
            </a:r>
            <a:r>
              <a:rPr lang="ko-KR" altLang="en-US" dirty="0"/>
              <a:t>수행절차 및 방안 정의</a:t>
            </a:r>
            <a:endParaRPr lang="en-US" altLang="ko-KR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xmlns="" id="{4971C708-4330-43A6-BB03-2783B6E1B783}"/>
              </a:ext>
            </a:extLst>
          </p:cNvPr>
          <p:cNvSpPr/>
          <p:nvPr/>
        </p:nvSpPr>
        <p:spPr bwMode="auto">
          <a:xfrm>
            <a:off x="344488" y="1528881"/>
            <a:ext cx="1236293" cy="636031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schemeClr val="bg1"/>
                </a:solidFill>
              </a:rPr>
              <a:t>분석목적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xmlns="" id="{03D717DA-DAB2-4F11-822E-C9036E77810B}"/>
              </a:ext>
            </a:extLst>
          </p:cNvPr>
          <p:cNvSpPr/>
          <p:nvPr/>
        </p:nvSpPr>
        <p:spPr bwMode="auto">
          <a:xfrm>
            <a:off x="1674348" y="1528880"/>
            <a:ext cx="7848164" cy="634919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108000" tIns="72000" rIns="36000" bIns="72000" rtlCol="0" anchor="ctr"/>
          <a:lstStyle/>
          <a:p>
            <a:pPr marL="93663" lvl="0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kern="0">
                <a:solidFill>
                  <a:prstClr val="black"/>
                </a:solidFill>
              </a:rPr>
              <a:t>환경분석 </a:t>
            </a:r>
            <a:r>
              <a:rPr lang="ko-KR" altLang="en-US" sz="1200" b="1" kern="0" dirty="0">
                <a:solidFill>
                  <a:prstClr val="black"/>
                </a:solidFill>
              </a:rPr>
              <a:t>결과를 활용하여 정보시스템 구축을 위한 범위를 정의하고</a:t>
            </a:r>
            <a:r>
              <a:rPr lang="en-US" altLang="ko-KR" sz="1200" b="1" kern="0" dirty="0">
                <a:solidFill>
                  <a:prstClr val="black"/>
                </a:solidFill>
              </a:rPr>
              <a:t>, </a:t>
            </a:r>
            <a:r>
              <a:rPr lang="ko-KR" altLang="en-US" sz="1200" b="1" kern="0" dirty="0">
                <a:solidFill>
                  <a:prstClr val="black"/>
                </a:solidFill>
              </a:rPr>
              <a:t>추진 방향을 </a:t>
            </a:r>
            <a:r>
              <a:rPr lang="ko-KR" altLang="en-US" sz="1200" b="1" kern="0">
                <a:solidFill>
                  <a:prstClr val="black"/>
                </a:solidFill>
              </a:rPr>
              <a:t>확정하여 </a:t>
            </a:r>
            <a:r>
              <a:rPr lang="ko-KR" altLang="en-US" sz="1200" b="1" kern="0"/>
              <a:t>경영정보시스템 개선을 </a:t>
            </a:r>
            <a:r>
              <a:rPr lang="ko-KR" altLang="en-US" sz="1200" b="1" kern="0" dirty="0"/>
              <a:t>위한 기반을 마련함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xmlns="" id="{25DA8CDC-D248-4210-99F3-77CF4E091E0D}"/>
              </a:ext>
            </a:extLst>
          </p:cNvPr>
          <p:cNvSpPr/>
          <p:nvPr/>
        </p:nvSpPr>
        <p:spPr bwMode="auto">
          <a:xfrm>
            <a:off x="344488" y="2247683"/>
            <a:ext cx="1236293" cy="972000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>
                <a:solidFill>
                  <a:schemeClr val="bg1"/>
                </a:solidFill>
              </a:rPr>
              <a:t>수행 업무</a:t>
            </a:r>
            <a:endParaRPr lang="en-US" altLang="ko-KR" sz="1200" b="1" kern="0" dirty="0">
              <a:solidFill>
                <a:schemeClr val="bg1"/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xmlns="" id="{DDBD85BD-0319-4CDD-81B5-C3CEFA468A52}"/>
              </a:ext>
            </a:extLst>
          </p:cNvPr>
          <p:cNvSpPr/>
          <p:nvPr/>
        </p:nvSpPr>
        <p:spPr bwMode="auto">
          <a:xfrm>
            <a:off x="1674348" y="2247682"/>
            <a:ext cx="7848164" cy="972000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108000" tIns="72000" rIns="36000" bIns="72000" rtlCol="0" anchor="ctr"/>
          <a:lstStyle/>
          <a:p>
            <a:pPr marL="93663" lvl="0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kern="0" spc="-100">
                <a:solidFill>
                  <a:prstClr val="black"/>
                </a:solidFill>
              </a:rPr>
              <a:t>환경분석 </a:t>
            </a:r>
            <a:r>
              <a:rPr lang="ko-KR" altLang="en-US" sz="1200" b="1" kern="0" spc="-100" dirty="0">
                <a:solidFill>
                  <a:prstClr val="black"/>
                </a:solidFill>
              </a:rPr>
              <a:t>결과를 </a:t>
            </a:r>
            <a:r>
              <a:rPr lang="ko-KR" altLang="en-US" sz="1200" b="1" kern="0" spc="-100">
                <a:solidFill>
                  <a:prstClr val="black"/>
                </a:solidFill>
              </a:rPr>
              <a:t>기반으로 경영정보시스템  개선 </a:t>
            </a:r>
            <a:r>
              <a:rPr lang="ko-KR" altLang="en-US" sz="1200" b="1" kern="0" spc="-100" dirty="0">
                <a:solidFill>
                  <a:prstClr val="black"/>
                </a:solidFill>
              </a:rPr>
              <a:t>목표 및  추진 방향 </a:t>
            </a:r>
            <a:r>
              <a:rPr lang="ko-KR" altLang="en-US" sz="1200" b="1" kern="0" spc="-100">
                <a:solidFill>
                  <a:prstClr val="black"/>
                </a:solidFill>
              </a:rPr>
              <a:t>도출 근거 마련</a:t>
            </a:r>
            <a:endParaRPr lang="en-US" altLang="ko-KR" sz="1200" b="1" kern="0" spc="-100" dirty="0">
              <a:solidFill>
                <a:prstClr val="black"/>
              </a:solidFill>
            </a:endParaRPr>
          </a:p>
          <a:p>
            <a:pPr marL="93663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spc="-100">
                <a:solidFill>
                  <a:prstClr val="black"/>
                </a:solidFill>
              </a:rPr>
              <a:t>경영정보 </a:t>
            </a:r>
            <a:r>
              <a:rPr lang="ko-KR" altLang="en-US" sz="1200" b="1" spc="-100" dirty="0">
                <a:solidFill>
                  <a:prstClr val="black"/>
                </a:solidFill>
              </a:rPr>
              <a:t>업무 서비스</a:t>
            </a:r>
            <a:r>
              <a:rPr lang="en-US" altLang="ko-KR" sz="1200" b="1" spc="-100" dirty="0">
                <a:solidFill>
                  <a:prstClr val="black"/>
                </a:solidFill>
              </a:rPr>
              <a:t>, </a:t>
            </a:r>
            <a:r>
              <a:rPr lang="ko-KR" altLang="en-US" sz="1200" b="1" spc="-100" dirty="0">
                <a:solidFill>
                  <a:prstClr val="black"/>
                </a:solidFill>
              </a:rPr>
              <a:t>정보시스템</a:t>
            </a:r>
            <a:r>
              <a:rPr lang="en-US" altLang="ko-KR" sz="1200" b="1" spc="-100" dirty="0">
                <a:solidFill>
                  <a:prstClr val="black"/>
                </a:solidFill>
              </a:rPr>
              <a:t>, </a:t>
            </a:r>
            <a:r>
              <a:rPr lang="ko-KR" altLang="en-US" sz="1200" b="1" spc="-100" dirty="0">
                <a:solidFill>
                  <a:prstClr val="black"/>
                </a:solidFill>
              </a:rPr>
              <a:t>사용자 그룹을 정의하고 이를 바탕으로 시스템 구축의 범위를 도출함</a:t>
            </a:r>
            <a:endParaRPr lang="en-US" altLang="ko-KR" sz="1200" b="1" spc="-100" dirty="0">
              <a:solidFill>
                <a:prstClr val="black"/>
              </a:solidFill>
            </a:endParaRPr>
          </a:p>
          <a:p>
            <a:pPr marL="93663" indent="-93663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b="1" spc="-100">
                <a:solidFill>
                  <a:prstClr val="black"/>
                </a:solidFill>
              </a:rPr>
              <a:t>경영정보시스템 개선을 </a:t>
            </a:r>
            <a:r>
              <a:rPr lang="ko-KR" altLang="en-US" sz="1200" b="1" spc="-100"/>
              <a:t>위한 </a:t>
            </a:r>
            <a:r>
              <a:rPr lang="ko-KR" altLang="en-US" sz="1200" b="1" spc="-100" dirty="0"/>
              <a:t>추진 방향 및 목표</a:t>
            </a:r>
            <a:r>
              <a:rPr lang="en-US" altLang="ko-KR" sz="1200" b="1" spc="-100" dirty="0"/>
              <a:t>, </a:t>
            </a:r>
            <a:r>
              <a:rPr lang="ko-KR" altLang="en-US" sz="1200" b="1" spc="-100" dirty="0"/>
              <a:t>추진 전략을 도출함</a:t>
            </a:r>
            <a:endParaRPr kumimoji="0" lang="en-US" altLang="ko-KR" sz="1200" b="1" i="0" u="none" strike="noStrike" kern="0" cap="none" spc="-10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2" name="이등변 삼각형 61">
            <a:extLst>
              <a:ext uri="{FF2B5EF4-FFF2-40B4-BE49-F238E27FC236}">
                <a16:creationId xmlns:a16="http://schemas.microsoft.com/office/drawing/2014/main" xmlns="" id="{E89078BA-88D5-423F-A8FF-C4FFBC6F2FB8}"/>
              </a:ext>
            </a:extLst>
          </p:cNvPr>
          <p:cNvSpPr/>
          <p:nvPr/>
        </p:nvSpPr>
        <p:spPr bwMode="auto">
          <a:xfrm rot="16200000" flipV="1">
            <a:off x="2324760" y="4185032"/>
            <a:ext cx="1224000" cy="288000"/>
          </a:xfrm>
          <a:prstGeom prst="triangle">
            <a:avLst/>
          </a:prstGeom>
          <a:solidFill>
            <a:srgbClr val="4678B4">
              <a:lumMod val="60000"/>
              <a:lumOff val="4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marR="0" lvl="0" indent="-85725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FBF839FF-3329-4AF2-9EFA-955151901F75}"/>
              </a:ext>
            </a:extLst>
          </p:cNvPr>
          <p:cNvSpPr/>
          <p:nvPr/>
        </p:nvSpPr>
        <p:spPr bwMode="auto">
          <a:xfrm>
            <a:off x="6249144" y="3687133"/>
            <a:ext cx="3208462" cy="2547408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36000" tIns="72000" rIns="36000" bIns="72000" rtlCol="0" anchor="ctr"/>
          <a:lstStyle/>
          <a:p>
            <a:pPr marL="93663" marR="0" lvl="0" indent="-93663" defTabSz="91440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508CD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맑은 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C453419D-360B-4BE7-A481-A4B124C0B7FD}"/>
              </a:ext>
            </a:extLst>
          </p:cNvPr>
          <p:cNvSpPr/>
          <p:nvPr/>
        </p:nvSpPr>
        <p:spPr bwMode="auto">
          <a:xfrm>
            <a:off x="6249144" y="3354220"/>
            <a:ext cx="3208463" cy="332911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algn="ctr" latinLnBrk="0">
              <a:defRPr/>
            </a:pPr>
            <a:r>
              <a:rPr lang="ko-KR" altLang="en-US" sz="1200" b="1" kern="0" dirty="0">
                <a:solidFill>
                  <a:srgbClr val="FFFFFF"/>
                </a:solidFill>
              </a:rPr>
              <a:t>추진범위 정의</a:t>
            </a:r>
            <a:endParaRPr lang="en-US" altLang="ko-KR" sz="1200" b="1" kern="0" dirty="0">
              <a:solidFill>
                <a:srgbClr val="FFFFFF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5515B9B4-4EF7-4903-9977-8F804C16F98F}"/>
              </a:ext>
            </a:extLst>
          </p:cNvPr>
          <p:cNvSpPr/>
          <p:nvPr/>
        </p:nvSpPr>
        <p:spPr>
          <a:xfrm>
            <a:off x="6361263" y="3782175"/>
            <a:ext cx="2988000" cy="71541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171450" marR="0" lvl="0" indent="-17145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경영정보시스템의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업무서비스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 요소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사용자 그룹을 정의하고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이를 반영한 추진범위를 확정함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EE5D8F20-BAB3-42E1-B41D-6C1C611FF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9360" y="4722436"/>
            <a:ext cx="900000" cy="576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정보시스템</a:t>
            </a:r>
            <a:endParaRPr kumimoji="0" lang="en-US" altLang="ko-KR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lang="ko-KR" altLang="en-US" sz="1100" kern="0" spc="-150" noProof="0" dirty="0">
                <a:solidFill>
                  <a:srgbClr val="000000"/>
                </a:solidFill>
              </a:rPr>
              <a:t>범위 </a:t>
            </a: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정의</a:t>
            </a:r>
          </a:p>
        </p:txBody>
      </p:sp>
      <p:sp>
        <p:nvSpPr>
          <p:cNvPr id="55" name="Rectangle 53">
            <a:extLst>
              <a:ext uri="{FF2B5EF4-FFF2-40B4-BE49-F238E27FC236}">
                <a16:creationId xmlns:a16="http://schemas.microsoft.com/office/drawing/2014/main" xmlns="" id="{4835BF29-047F-4666-B69B-0163D694B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176" y="4722436"/>
            <a:ext cx="900000" cy="576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 defTabSz="457200" eaLnBrk="0" latinLnBrk="0" hangingPunct="0">
              <a:lnSpc>
                <a:spcPct val="105000"/>
              </a:lnSpc>
              <a:buClr>
                <a:srgbClr val="328030"/>
              </a:buClr>
              <a:defRPr/>
            </a:pPr>
            <a:r>
              <a:rPr lang="ko-KR" altLang="en-US" sz="1100" kern="0" spc="-150" dirty="0">
                <a:solidFill>
                  <a:srgbClr val="000000"/>
                </a:solidFill>
              </a:rPr>
              <a:t>업무 재설계</a:t>
            </a:r>
            <a:endParaRPr lang="en-US" altLang="ko-KR" sz="1100" kern="0" spc="-150" dirty="0">
              <a:solidFill>
                <a:srgbClr val="000000"/>
              </a:solidFill>
            </a:endParaRPr>
          </a:p>
          <a:p>
            <a:pPr lvl="0" algn="ctr" defTabSz="457200" eaLnBrk="0" latinLnBrk="0" hangingPunct="0">
              <a:lnSpc>
                <a:spcPct val="105000"/>
              </a:lnSpc>
              <a:buClr>
                <a:srgbClr val="328030"/>
              </a:buClr>
              <a:defRPr/>
            </a:pPr>
            <a:r>
              <a:rPr lang="ko-KR" altLang="en-US" sz="1100" kern="0" spc="-150" dirty="0">
                <a:solidFill>
                  <a:srgbClr val="000000"/>
                </a:solidFill>
              </a:rPr>
              <a:t>범위 정의</a:t>
            </a:r>
          </a:p>
        </p:txBody>
      </p:sp>
      <p:sp>
        <p:nvSpPr>
          <p:cNvPr id="56" name="Rectangle 53">
            <a:extLst>
              <a:ext uri="{FF2B5EF4-FFF2-40B4-BE49-F238E27FC236}">
                <a16:creationId xmlns:a16="http://schemas.microsoft.com/office/drawing/2014/main" xmlns="" id="{08384653-A2CF-498F-BC8A-00239F635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8993" y="4722436"/>
            <a:ext cx="900000" cy="576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사용자</a:t>
            </a:r>
            <a:endParaRPr kumimoji="0" lang="en-US" altLang="ko-KR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범위 정의</a:t>
            </a:r>
          </a:p>
        </p:txBody>
      </p: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xmlns="" id="{202E9256-DC3E-4891-9442-54870160346F}"/>
              </a:ext>
            </a:extLst>
          </p:cNvPr>
          <p:cNvSpPr/>
          <p:nvPr/>
        </p:nvSpPr>
        <p:spPr bwMode="auto">
          <a:xfrm flipV="1">
            <a:off x="6721303" y="5370468"/>
            <a:ext cx="2268084" cy="216000"/>
          </a:xfrm>
          <a:prstGeom prst="triangle">
            <a:avLst/>
          </a:prstGeom>
          <a:solidFill>
            <a:srgbClr val="4678B4">
              <a:lumMod val="60000"/>
              <a:lumOff val="4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marR="0" lvl="0" indent="-85725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xmlns="" id="{A50BE480-5561-43B7-930D-894C109B9297}"/>
              </a:ext>
            </a:extLst>
          </p:cNvPr>
          <p:cNvSpPr/>
          <p:nvPr/>
        </p:nvSpPr>
        <p:spPr>
          <a:xfrm>
            <a:off x="7139391" y="5617767"/>
            <a:ext cx="1447832" cy="544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150" normalizeH="0" baseline="0" noProof="0">
                <a:ln>
                  <a:noFill/>
                </a:ln>
                <a:solidFill>
                  <a:srgbClr val="508CD2">
                    <a:lumMod val="75000"/>
                  </a:srgbClr>
                </a:solidFill>
                <a:effectLst/>
                <a:uLnTx/>
                <a:uFillTx/>
              </a:rPr>
              <a:t>경영정보시스템 개선</a:t>
            </a:r>
            <a:endParaRPr kumimoji="0" lang="en-US" altLang="ko-KR" sz="1200" b="1" i="0" u="none" strike="noStrike" kern="0" cap="none" spc="-150" normalizeH="0" baseline="0" noProof="0" dirty="0">
              <a:ln>
                <a:noFill/>
              </a:ln>
              <a:solidFill>
                <a:srgbClr val="508CD2">
                  <a:lumMod val="75000"/>
                </a:srgbClr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150" normalizeH="0" baseline="0" noProof="0">
                <a:ln>
                  <a:noFill/>
                </a:ln>
                <a:solidFill>
                  <a:srgbClr val="508CD2">
                    <a:lumMod val="75000"/>
                  </a:srgbClr>
                </a:solidFill>
                <a:effectLst/>
                <a:uLnTx/>
                <a:uFillTx/>
              </a:rPr>
              <a:t>ISP </a:t>
            </a:r>
            <a:r>
              <a:rPr kumimoji="0" lang="ko-KR" altLang="en-US" sz="1200" b="1" i="0" u="none" strike="noStrike" kern="0" cap="none" spc="-150" normalizeH="0" baseline="0" noProof="0" dirty="0">
                <a:ln>
                  <a:noFill/>
                </a:ln>
                <a:solidFill>
                  <a:srgbClr val="508CD2">
                    <a:lumMod val="75000"/>
                  </a:srgbClr>
                </a:solidFill>
                <a:effectLst/>
                <a:uLnTx/>
                <a:uFillTx/>
              </a:rPr>
              <a:t>추진 범위 정의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508CD2">
                  <a:lumMod val="75000"/>
                </a:srgbClr>
              </a:solidFill>
              <a:effectLst/>
              <a:uLnTx/>
              <a:uFillTx/>
              <a:latin typeface="Franklin Gothic Medium" pitchFamily="34" charset="0"/>
              <a:ea typeface="맑은 고딕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AE0A6255-611D-428E-9EF7-3BC975A8AA51}"/>
              </a:ext>
            </a:extLst>
          </p:cNvPr>
          <p:cNvSpPr/>
          <p:nvPr/>
        </p:nvSpPr>
        <p:spPr bwMode="auto">
          <a:xfrm>
            <a:off x="3080762" y="3645024"/>
            <a:ext cx="2840992" cy="2592288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36000" tIns="72000" rIns="36000" bIns="72000" rtlCol="0" anchor="ctr"/>
          <a:lstStyle/>
          <a:p>
            <a:pPr marL="93663" marR="0" lvl="0" indent="-93663" defTabSz="91440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508CD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5E596E19-0CFB-4045-9560-C53ED1A4681E}"/>
              </a:ext>
            </a:extLst>
          </p:cNvPr>
          <p:cNvSpPr/>
          <p:nvPr/>
        </p:nvSpPr>
        <p:spPr bwMode="auto">
          <a:xfrm>
            <a:off x="3080761" y="3354220"/>
            <a:ext cx="2840993" cy="334800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</a:rPr>
              <a:t>추진방향 정의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xmlns="" id="{B23DCE83-89FC-4AD1-B65A-A2BE893CA5F1}"/>
              </a:ext>
            </a:extLst>
          </p:cNvPr>
          <p:cNvSpPr/>
          <p:nvPr/>
        </p:nvSpPr>
        <p:spPr>
          <a:xfrm>
            <a:off x="3090366" y="3782175"/>
            <a:ext cx="2831387" cy="48920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171450" marR="0" lvl="0" indent="-17145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분석 결과를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바탕으로 </a:t>
            </a:r>
            <a:r>
              <a:rPr lang="ko-KR" altLang="en-US" sz="1200" kern="0" smtClean="0">
                <a:solidFill>
                  <a:prstClr val="black"/>
                </a:solidFill>
                <a:latin typeface="맑은 고딕"/>
                <a:ea typeface="맑은 고딕"/>
              </a:rPr>
              <a:t>경영</a:t>
            </a: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정보시스템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개선을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위한 추진방향을 </a:t>
            </a:r>
            <a:r>
              <a:rPr lang="ko-KR" altLang="en-US" sz="1200" kern="0" dirty="0">
                <a:solidFill>
                  <a:prstClr val="black"/>
                </a:solidFill>
                <a:latin typeface="맑은 고딕"/>
                <a:ea typeface="맑은 고딕"/>
              </a:rPr>
              <a:t>정의함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8" name="Rectangle 53">
            <a:extLst>
              <a:ext uri="{FF2B5EF4-FFF2-40B4-BE49-F238E27FC236}">
                <a16:creationId xmlns:a16="http://schemas.microsoft.com/office/drawing/2014/main" xmlns="" id="{2F45C7C2-2E87-477F-8B2E-C7A8C6B10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3454" y="4574200"/>
            <a:ext cx="1128467" cy="576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</a:rPr>
              <a:t>추진 방향 </a:t>
            </a:r>
            <a:r>
              <a:rPr lang="ko-KR" altLang="en-US" sz="1100" kern="0" spc="-150" dirty="0"/>
              <a:t>정의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9" name="Rectangle 53">
            <a:extLst>
              <a:ext uri="{FF2B5EF4-FFF2-40B4-BE49-F238E27FC236}">
                <a16:creationId xmlns:a16="http://schemas.microsoft.com/office/drawing/2014/main" xmlns="" id="{290EF34C-FC2E-409A-8E3F-750F4A9FA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254" y="4574200"/>
            <a:ext cx="1128467" cy="576000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1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추진전략 </a:t>
            </a:r>
            <a:r>
              <a:rPr kumimoji="0" lang="ko-KR" altLang="en-US" sz="11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정의</a:t>
            </a:r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xmlns="" id="{D4546B25-795F-4178-BC12-1DF3CBF21E22}"/>
              </a:ext>
            </a:extLst>
          </p:cNvPr>
          <p:cNvSpPr/>
          <p:nvPr/>
        </p:nvSpPr>
        <p:spPr bwMode="auto">
          <a:xfrm flipV="1">
            <a:off x="3484987" y="5373239"/>
            <a:ext cx="2268084" cy="216000"/>
          </a:xfrm>
          <a:prstGeom prst="triangle">
            <a:avLst/>
          </a:prstGeom>
          <a:solidFill>
            <a:srgbClr val="4678B4">
              <a:lumMod val="60000"/>
              <a:lumOff val="4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marR="0" lvl="0" indent="-85725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xmlns="" id="{75C8E153-5C81-4499-9905-01F025D4B00C}"/>
              </a:ext>
            </a:extLst>
          </p:cNvPr>
          <p:cNvSpPr/>
          <p:nvPr/>
        </p:nvSpPr>
        <p:spPr>
          <a:xfrm>
            <a:off x="3885494" y="5620538"/>
            <a:ext cx="1467068" cy="544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defRPr/>
            </a:pPr>
            <a:r>
              <a:rPr lang="ko-KR" altLang="en-US" sz="1200" b="1" kern="0" spc="-150" smtClean="0">
                <a:solidFill>
                  <a:srgbClr val="508CD2">
                    <a:lumMod val="75000"/>
                  </a:srgbClr>
                </a:solidFill>
              </a:rPr>
              <a:t>경영정보시스템 </a:t>
            </a:r>
            <a:r>
              <a:rPr lang="ko-KR" altLang="en-US" sz="1200" b="1" kern="0" spc="-150">
                <a:solidFill>
                  <a:srgbClr val="508CD2">
                    <a:lumMod val="75000"/>
                  </a:srgbClr>
                </a:solidFill>
              </a:rPr>
              <a:t>개선</a:t>
            </a:r>
            <a:endParaRPr lang="en-US" altLang="ko-KR" sz="1200" b="1" kern="0" spc="-150" dirty="0">
              <a:solidFill>
                <a:srgbClr val="508CD2">
                  <a:lumMod val="75000"/>
                </a:srgbClr>
              </a:solidFill>
            </a:endParaRPr>
          </a:p>
          <a:p>
            <a:pPr lvl="0" algn="ctr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defRPr/>
            </a:pPr>
            <a:r>
              <a:rPr kumimoji="0" lang="en-US" altLang="ko-KR" sz="1200" b="1" i="0" u="none" strike="noStrike" kern="0" cap="none" spc="-150" normalizeH="0" baseline="0" noProof="0">
                <a:ln>
                  <a:noFill/>
                </a:ln>
                <a:solidFill>
                  <a:srgbClr val="508CD2">
                    <a:lumMod val="75000"/>
                  </a:srgbClr>
                </a:solidFill>
                <a:effectLst/>
                <a:uLnTx/>
                <a:uFillTx/>
              </a:rPr>
              <a:t>ISP </a:t>
            </a:r>
            <a:r>
              <a:rPr kumimoji="0" lang="ko-KR" altLang="en-US" sz="1200" b="1" i="0" u="none" strike="noStrike" kern="0" cap="none" spc="-150" normalizeH="0" baseline="0" noProof="0" smtClean="0">
                <a:ln>
                  <a:noFill/>
                </a:ln>
                <a:solidFill>
                  <a:srgbClr val="508CD2">
                    <a:lumMod val="75000"/>
                  </a:srgbClr>
                </a:solidFill>
                <a:effectLst/>
                <a:uLnTx/>
                <a:uFillTx/>
              </a:rPr>
              <a:t>전략 </a:t>
            </a:r>
            <a:r>
              <a:rPr kumimoji="0" lang="ko-KR" altLang="en-US" sz="1200" b="1" i="0" u="none" strike="noStrike" kern="0" cap="none" spc="-150" normalizeH="0" baseline="0" noProof="0" dirty="0">
                <a:ln>
                  <a:noFill/>
                </a:ln>
                <a:solidFill>
                  <a:srgbClr val="508CD2">
                    <a:lumMod val="75000"/>
                  </a:srgbClr>
                </a:solidFill>
                <a:effectLst/>
                <a:uLnTx/>
                <a:uFillTx/>
              </a:rPr>
              <a:t>정의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508CD2">
                  <a:lumMod val="75000"/>
                </a:srgbClr>
              </a:solidFill>
              <a:effectLst/>
              <a:uLnTx/>
              <a:uFillTx/>
              <a:latin typeface="Franklin Gothic Medium" pitchFamily="34" charset="0"/>
              <a:ea typeface="맑은 고딕" pitchFamily="50" charset="-127"/>
            </a:endParaRPr>
          </a:p>
        </p:txBody>
      </p:sp>
      <p:sp>
        <p:nvSpPr>
          <p:cNvPr id="83" name="이등변 삼각형 82">
            <a:extLst>
              <a:ext uri="{FF2B5EF4-FFF2-40B4-BE49-F238E27FC236}">
                <a16:creationId xmlns:a16="http://schemas.microsoft.com/office/drawing/2014/main" xmlns="" id="{E89078BA-88D5-423F-A8FF-C4FFBC6F2FB8}"/>
              </a:ext>
            </a:extLst>
          </p:cNvPr>
          <p:cNvSpPr/>
          <p:nvPr/>
        </p:nvSpPr>
        <p:spPr bwMode="auto">
          <a:xfrm rot="16200000" flipV="1">
            <a:off x="5493112" y="4226805"/>
            <a:ext cx="1224000" cy="288000"/>
          </a:xfrm>
          <a:prstGeom prst="triangle">
            <a:avLst/>
          </a:prstGeom>
          <a:solidFill>
            <a:srgbClr val="4678B4">
              <a:lumMod val="60000"/>
              <a:lumOff val="4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marR="0" lvl="0" indent="-85725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FBF839FF-3329-4AF2-9EFA-955151901F75}"/>
              </a:ext>
            </a:extLst>
          </p:cNvPr>
          <p:cNvSpPr/>
          <p:nvPr/>
        </p:nvSpPr>
        <p:spPr bwMode="auto">
          <a:xfrm>
            <a:off x="344489" y="3687132"/>
            <a:ext cx="2376264" cy="2543316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  <a:headEnd/>
            <a:tailEnd/>
          </a:ln>
        </p:spPr>
        <p:txBody>
          <a:bodyPr lIns="36000" tIns="72000" rIns="36000" bIns="72000" rtlCol="0" anchor="ctr"/>
          <a:lstStyle/>
          <a:p>
            <a:pPr marL="93663" marR="0" lvl="0" indent="-93663" defTabSz="91440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508CD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맑은 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C453419D-360B-4BE7-A481-A4B124C0B7FD}"/>
              </a:ext>
            </a:extLst>
          </p:cNvPr>
          <p:cNvSpPr/>
          <p:nvPr/>
        </p:nvSpPr>
        <p:spPr bwMode="auto">
          <a:xfrm>
            <a:off x="344488" y="3354220"/>
            <a:ext cx="2376265" cy="332911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algn="ctr" latinLnBrk="0">
              <a:defRPr/>
            </a:pPr>
            <a:r>
              <a:rPr lang="ko-KR" altLang="en-US" sz="1200" b="1" kern="0" dirty="0">
                <a:solidFill>
                  <a:srgbClr val="FFFFFF"/>
                </a:solidFill>
              </a:rPr>
              <a:t>분석결과 종합</a:t>
            </a:r>
            <a:endParaRPr lang="en-US" altLang="ko-KR" sz="1200" b="1" kern="0" dirty="0">
              <a:solidFill>
                <a:srgbClr val="FFFFFF"/>
              </a:solidFill>
            </a:endParaRPr>
          </a:p>
        </p:txBody>
      </p:sp>
      <p:sp>
        <p:nvSpPr>
          <p:cNvPr id="43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27" y="4574199"/>
            <a:ext cx="2088000" cy="576001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 defTabSz="457200" eaLnBrk="0" latinLnBrk="0" hangingPunct="0">
              <a:lnSpc>
                <a:spcPct val="105000"/>
              </a:lnSpc>
              <a:buClr>
                <a:srgbClr val="328030"/>
              </a:buClr>
              <a:defRPr/>
            </a:pPr>
            <a:r>
              <a:rPr lang="ko-KR" altLang="en-US" sz="1100" kern="0" spc="-150" dirty="0">
                <a:solidFill>
                  <a:srgbClr val="000000"/>
                </a:solidFill>
              </a:rPr>
              <a:t>환경분석 결과 시사점</a:t>
            </a:r>
            <a:endParaRPr kumimoji="0" lang="ko-KR" altLang="en-US" sz="11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5515B9B4-4EF7-4903-9977-8F804C16F98F}"/>
              </a:ext>
            </a:extLst>
          </p:cNvPr>
          <p:cNvSpPr/>
          <p:nvPr/>
        </p:nvSpPr>
        <p:spPr>
          <a:xfrm>
            <a:off x="371159" y="3782175"/>
            <a:ext cx="2339928" cy="71541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171450" marR="0" lvl="0" indent="-17145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200" kern="0">
                <a:solidFill>
                  <a:prstClr val="black"/>
                </a:solidFill>
                <a:latin typeface="맑은 고딕"/>
                <a:ea typeface="맑은 고딕"/>
              </a:rPr>
              <a:t>환경분석의 </a:t>
            </a:r>
            <a:r>
              <a:rPr lang="ko-KR" altLang="en-US" sz="1200" kern="0" dirty="0">
                <a:solidFill>
                  <a:prstClr val="black"/>
                </a:solidFill>
                <a:latin typeface="맑은 고딕"/>
                <a:ea typeface="맑은 고딕"/>
              </a:rPr>
              <a:t>시사점 종합을 통해 범위 및 방향성 근거를 마련함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96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6866733" cy="789378"/>
          </a:xfrm>
        </p:spPr>
        <p:txBody>
          <a:bodyPr/>
          <a:lstStyle/>
          <a:p>
            <a:r>
              <a:rPr lang="en-US" altLang="ko-KR"/>
              <a:t>3.2 </a:t>
            </a:r>
            <a:r>
              <a:rPr lang="ko-KR" altLang="en-US" dirty="0"/>
              <a:t>분석결과 </a:t>
            </a:r>
            <a:r>
              <a:rPr lang="ko-KR" altLang="en-US"/>
              <a:t>종합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/>
              <a:t>3.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/>
              <a:t>3.2 </a:t>
            </a:r>
            <a:r>
              <a:rPr lang="ko-KR" altLang="en-US" dirty="0"/>
              <a:t>분석결과 종합</a:t>
            </a:r>
            <a:endParaRPr lang="en-US" altLang="ko-KR" dirty="0"/>
          </a:p>
        </p:txBody>
      </p:sp>
      <p:sp>
        <p:nvSpPr>
          <p:cNvPr id="29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차세대 경영정보시스템 구축을 위한 방향성 정립을 위해 환경분석에서 도출된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시사점은 아래와 같음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334214"/>
              </p:ext>
            </p:extLst>
          </p:nvPr>
        </p:nvGraphicFramePr>
        <p:xfrm>
          <a:off x="381000" y="1415112"/>
          <a:ext cx="9143999" cy="5046600"/>
        </p:xfrm>
        <a:graphic>
          <a:graphicData uri="http://schemas.openxmlformats.org/drawingml/2006/table">
            <a:tbl>
              <a:tblPr/>
              <a:tblGrid>
                <a:gridCol w="3612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6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3400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1798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84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DATABASE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Tibero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최신 트랜드의 국산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DATABASE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pc="-3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설계가 </a:t>
                      </a:r>
                      <a:r>
                        <a:rPr lang="ko-KR" altLang="en-US" sz="1000" spc="-3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비표준이며</a:t>
                      </a:r>
                      <a:r>
                        <a:rPr lang="en-US" altLang="ko-KR" sz="1000" spc="-3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pc="-3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구축이 미흡한 상태이므로 설계 부분의 대폭적인 개선이 필요함</a:t>
                      </a:r>
                      <a:endParaRPr lang="en-US" altLang="ko-KR" sz="1000" spc="-3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DATABASE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UI_UX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표준화하고 부족한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기능을 전면적으로 개선하여  사용자의 편의 및 효율성을 제고하는 통합시스템 구축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전면적 </a:t>
                      </a:r>
                      <a:endParaRPr lang="en-US" altLang="ko-KR" sz="8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개선</a:t>
                      </a:r>
                      <a:r>
                        <a:rPr lang="en-US" altLang="ko-KR" sz="8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UI_TOOL(</a:t>
                      </a:r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Websquare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HTML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기반의 최신기술 적용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UI-UX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TOOL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이지만 대상업무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구축시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표준화 미흡으로 유지보수 어려움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ERP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시스템의 불완전성으로 인하여 기존의 더존</a:t>
                      </a: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ERP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 시스템을 동시에 사용하고 있으며</a:t>
                      </a: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통합시스템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의 구현</a:t>
                      </a: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운영이 가장 우선적으로 요구됨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 미비 및 필수기능 결여로 인한 예산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자산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구매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사업관리 업무의 사용성 저하를 해소할 수 있는 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전면적인 개선 혹은 재구축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전면적인 개선 혹은 재구축에 의한 시스템 정상화 필요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◎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전면적 </a:t>
                      </a:r>
                      <a:endParaRPr lang="en-US" altLang="ko-KR" sz="8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개선</a:t>
                      </a:r>
                      <a:r>
                        <a:rPr lang="en-US" altLang="ko-KR" sz="8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lang="ko-KR" altLang="en-US" sz="8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DATABASE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 및 구축의 표준화 미비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DATA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체계의 비 표준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 정형화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Naming Rule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 적용 등으로  시스템 개선을 위한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 설계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 구축 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446</a:t>
                      </a:r>
                      <a:r>
                        <a:rPr lang="ko-KR" altLang="en-US" sz="10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 프로그램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 </a:t>
                      </a:r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</a:t>
                      </a:r>
                      <a:r>
                        <a:rPr lang="ko-KR" altLang="en-US" sz="10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미사용</a:t>
                      </a:r>
                      <a:r>
                        <a:rPr lang="en-US" altLang="ko-KR" sz="10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45.1%)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미사용 프로그램에 대한 원인 분석 과 문제점 개선 및 부족한 기능의 추가 개발로 시스템의 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사용성 제고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현행시스템의 이해관계자 인터뷰 및 현황 분석에 의한 개선점 도출 결과 시스템의 전면적인 개선 혹은 재구축에 의한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정상화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증빙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전자화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관리함으로서 증빙 스캔에 소요되는 수작업을 절감하고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증빙을 전자화하여 보관함으로써 보관공간 절약 및 온라인 검색이 용이하게 지원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전자증빙 도입과 관련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SITE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현행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 TOOL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대체와 효율적인 개발 솔루션 도입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솔루션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도입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매출 입력화면에서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세금계산서 발행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기능을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ERP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입력 자료에 의해 세금계산서를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발행함으로써 이중입력 및 오류 배제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 및 운영이 용이한 </a:t>
                      </a:r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UI_UX TOOL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적용하여 외부환경 변경과 사용자 요구사항에 탄력적으로 대응할 수 있는 기반 마련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56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화면구성 객체의 표준화 설정 작업 및 화면 형상 설계 작업에 의해 프로그램을 자동으로 생성하는 </a:t>
                      </a:r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 도입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신속한 목표 달성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211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나라장터로부터 조달 관련 정보를 실시감으로 자동 수집할 수 있는 로봇 기능 활용 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0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6866733" cy="789378"/>
          </a:xfrm>
        </p:spPr>
        <p:txBody>
          <a:bodyPr/>
          <a:lstStyle/>
          <a:p>
            <a:r>
              <a:rPr lang="en-US" altLang="ko-KR"/>
              <a:t>3.3 </a:t>
            </a:r>
            <a:r>
              <a:rPr lang="ko-KR" altLang="en-US"/>
              <a:t>추진방향 도출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/>
              <a:t>3.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/>
              <a:t>3.3 </a:t>
            </a:r>
            <a:r>
              <a:rPr lang="ko-KR" altLang="en-US" dirty="0"/>
              <a:t>추진전략 도출</a:t>
            </a:r>
            <a:endParaRPr lang="en-US" altLang="ko-KR" dirty="0"/>
          </a:p>
        </p:txBody>
      </p:sp>
      <p:sp>
        <p:nvSpPr>
          <p:cNvPr id="29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분석결과 종합을 근거로 추진방향성 정의를 위한 핵심키워드를 도출하여 </a:t>
            </a:r>
            <a:r>
              <a:rPr lang="en-US" altLang="ko-KR" sz="1600" dirty="0"/>
              <a:t>4</a:t>
            </a:r>
            <a:r>
              <a:rPr lang="ko-KR" altLang="en-US" sz="1600"/>
              <a:t>개의 경영정보시스템 개선 </a:t>
            </a:r>
            <a:r>
              <a:rPr lang="ko-KR" altLang="en-US" sz="1600" dirty="0"/>
              <a:t>사업추진 방향을 도출함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7009544" y="1659428"/>
            <a:ext cx="1887824" cy="288147"/>
          </a:xfrm>
          <a:prstGeom prst="rect">
            <a:avLst/>
          </a:prstGeom>
          <a:noFill/>
          <a:ln w="6350" algn="ctr">
            <a:noFill/>
            <a:miter lim="800000"/>
            <a:headEnd/>
            <a:tailEnd type="none" w="sm" len="sm"/>
          </a:ln>
          <a:effectLst/>
        </p:spPr>
        <p:txBody>
          <a:bodyPr wrap="square" lIns="36000" tIns="36000" rIns="36000" bIns="36000">
            <a:spAutoFit/>
          </a:bodyPr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추진방향 정의</a:t>
            </a:r>
          </a:p>
        </p:txBody>
      </p:sp>
      <p:grpSp>
        <p:nvGrpSpPr>
          <p:cNvPr id="22" name="Group 198"/>
          <p:cNvGrpSpPr>
            <a:grpSpLocks/>
          </p:cNvGrpSpPr>
          <p:nvPr/>
        </p:nvGrpSpPr>
        <p:grpSpPr bwMode="auto">
          <a:xfrm rot="5400000">
            <a:off x="3257059" y="3499443"/>
            <a:ext cx="4572508" cy="1180625"/>
            <a:chOff x="1120" y="2094"/>
            <a:chExt cx="3038" cy="426"/>
          </a:xfrm>
        </p:grpSpPr>
        <p:sp>
          <p:nvSpPr>
            <p:cNvPr id="23" name="Freeform 69"/>
            <p:cNvSpPr>
              <a:spLocks/>
            </p:cNvSpPr>
            <p:nvPr/>
          </p:nvSpPr>
          <p:spPr bwMode="auto">
            <a:xfrm rot="10800000" flipV="1">
              <a:off x="1120" y="2141"/>
              <a:ext cx="3038" cy="379"/>
            </a:xfrm>
            <a:custGeom>
              <a:avLst/>
              <a:gdLst>
                <a:gd name="T0" fmla="*/ 0 w 3840"/>
                <a:gd name="T1" fmla="*/ 1 h 672"/>
                <a:gd name="T2" fmla="*/ 2 w 3840"/>
                <a:gd name="T3" fmla="*/ 1 h 672"/>
                <a:gd name="T4" fmla="*/ 2 w 3840"/>
                <a:gd name="T5" fmla="*/ 1 h 672"/>
                <a:gd name="T6" fmla="*/ 2 w 3840"/>
                <a:gd name="T7" fmla="*/ 1 h 672"/>
                <a:gd name="T8" fmla="*/ 2 w 3840"/>
                <a:gd name="T9" fmla="*/ 0 h 672"/>
                <a:gd name="T10" fmla="*/ 2 w 3840"/>
                <a:gd name="T11" fmla="*/ 1 h 672"/>
                <a:gd name="T12" fmla="*/ 2 w 3840"/>
                <a:gd name="T13" fmla="*/ 1 h 672"/>
                <a:gd name="T14" fmla="*/ 2 w 3840"/>
                <a:gd name="T15" fmla="*/ 1 h 672"/>
                <a:gd name="T16" fmla="*/ 2 w 3840"/>
                <a:gd name="T17" fmla="*/ 1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0"/>
                <a:gd name="T28" fmla="*/ 0 h 672"/>
                <a:gd name="T29" fmla="*/ 3840 w 3840"/>
                <a:gd name="T30" fmla="*/ 672 h 6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0" h="672">
                  <a:moveTo>
                    <a:pt x="0" y="672"/>
                  </a:moveTo>
                  <a:cubicBezTo>
                    <a:pt x="158" y="634"/>
                    <a:pt x="700" y="524"/>
                    <a:pt x="948" y="444"/>
                  </a:cubicBezTo>
                  <a:cubicBezTo>
                    <a:pt x="1196" y="364"/>
                    <a:pt x="1470" y="234"/>
                    <a:pt x="1488" y="192"/>
                  </a:cubicBezTo>
                  <a:lnTo>
                    <a:pt x="1056" y="192"/>
                  </a:lnTo>
                  <a:lnTo>
                    <a:pt x="1920" y="0"/>
                  </a:lnTo>
                  <a:lnTo>
                    <a:pt x="2736" y="192"/>
                  </a:lnTo>
                  <a:lnTo>
                    <a:pt x="2352" y="192"/>
                  </a:lnTo>
                  <a:cubicBezTo>
                    <a:pt x="2361" y="230"/>
                    <a:pt x="2542" y="340"/>
                    <a:pt x="2790" y="420"/>
                  </a:cubicBezTo>
                  <a:cubicBezTo>
                    <a:pt x="3038" y="500"/>
                    <a:pt x="3621" y="619"/>
                    <a:pt x="3840" y="672"/>
                  </a:cubicBezTo>
                </a:path>
              </a:pathLst>
            </a:custGeom>
            <a:gradFill rotWithShape="1">
              <a:gsLst>
                <a:gs pos="0">
                  <a:srgbClr val="4A87C4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Freeform 70"/>
            <p:cNvSpPr>
              <a:spLocks/>
            </p:cNvSpPr>
            <p:nvPr/>
          </p:nvSpPr>
          <p:spPr bwMode="auto">
            <a:xfrm rot="10800000" flipV="1">
              <a:off x="1622" y="2094"/>
              <a:ext cx="2036" cy="425"/>
            </a:xfrm>
            <a:custGeom>
              <a:avLst/>
              <a:gdLst>
                <a:gd name="T0" fmla="*/ 0 w 3840"/>
                <a:gd name="T1" fmla="*/ 1 h 672"/>
                <a:gd name="T2" fmla="*/ 1 w 3840"/>
                <a:gd name="T3" fmla="*/ 1 h 672"/>
                <a:gd name="T4" fmla="*/ 1 w 3840"/>
                <a:gd name="T5" fmla="*/ 1 h 672"/>
                <a:gd name="T6" fmla="*/ 1 w 3840"/>
                <a:gd name="T7" fmla="*/ 1 h 672"/>
                <a:gd name="T8" fmla="*/ 1 w 3840"/>
                <a:gd name="T9" fmla="*/ 0 h 672"/>
                <a:gd name="T10" fmla="*/ 1 w 3840"/>
                <a:gd name="T11" fmla="*/ 1 h 672"/>
                <a:gd name="T12" fmla="*/ 1 w 3840"/>
                <a:gd name="T13" fmla="*/ 1 h 672"/>
                <a:gd name="T14" fmla="*/ 1 w 3840"/>
                <a:gd name="T15" fmla="*/ 1 h 672"/>
                <a:gd name="T16" fmla="*/ 1 w 3840"/>
                <a:gd name="T17" fmla="*/ 1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0"/>
                <a:gd name="T28" fmla="*/ 0 h 672"/>
                <a:gd name="T29" fmla="*/ 3840 w 3840"/>
                <a:gd name="T30" fmla="*/ 672 h 6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0" h="672">
                  <a:moveTo>
                    <a:pt x="0" y="672"/>
                  </a:moveTo>
                  <a:cubicBezTo>
                    <a:pt x="158" y="634"/>
                    <a:pt x="700" y="524"/>
                    <a:pt x="948" y="444"/>
                  </a:cubicBezTo>
                  <a:cubicBezTo>
                    <a:pt x="1196" y="364"/>
                    <a:pt x="1470" y="234"/>
                    <a:pt x="1488" y="192"/>
                  </a:cubicBezTo>
                  <a:lnTo>
                    <a:pt x="1056" y="192"/>
                  </a:lnTo>
                  <a:lnTo>
                    <a:pt x="1920" y="0"/>
                  </a:lnTo>
                  <a:lnTo>
                    <a:pt x="2736" y="192"/>
                  </a:lnTo>
                  <a:lnTo>
                    <a:pt x="2352" y="192"/>
                  </a:lnTo>
                  <a:cubicBezTo>
                    <a:pt x="2361" y="230"/>
                    <a:pt x="2542" y="340"/>
                    <a:pt x="2790" y="420"/>
                  </a:cubicBezTo>
                  <a:cubicBezTo>
                    <a:pt x="3038" y="500"/>
                    <a:pt x="3621" y="619"/>
                    <a:pt x="3840" y="672"/>
                  </a:cubicBezTo>
                </a:path>
              </a:pathLst>
            </a:custGeom>
            <a:gradFill rotWithShape="1">
              <a:gsLst>
                <a:gs pos="0">
                  <a:srgbClr val="88B0D8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82" name="AutoShape 95"/>
          <p:cNvSpPr>
            <a:spLocks noChangeArrowheads="1"/>
          </p:cNvSpPr>
          <p:nvPr/>
        </p:nvSpPr>
        <p:spPr bwMode="auto">
          <a:xfrm>
            <a:off x="920552" y="1597218"/>
            <a:ext cx="4176464" cy="2254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A497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600" b="1" u="sng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추진방향 정의 키워드 도출</a:t>
            </a:r>
          </a:p>
        </p:txBody>
      </p:sp>
      <p:grpSp>
        <p:nvGrpSpPr>
          <p:cNvPr id="287" name="그룹 286"/>
          <p:cNvGrpSpPr/>
          <p:nvPr/>
        </p:nvGrpSpPr>
        <p:grpSpPr>
          <a:xfrm>
            <a:off x="375552" y="2290520"/>
            <a:ext cx="4742877" cy="3946792"/>
            <a:chOff x="375552" y="2290520"/>
            <a:chExt cx="4742877" cy="3946792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386393" y="3501674"/>
              <a:ext cx="465722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>
              <a:off x="386393" y="4807982"/>
              <a:ext cx="465722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그룹 229"/>
            <p:cNvGrpSpPr/>
            <p:nvPr/>
          </p:nvGrpSpPr>
          <p:grpSpPr>
            <a:xfrm>
              <a:off x="386393" y="5665843"/>
              <a:ext cx="4732036" cy="571469"/>
              <a:chOff x="386393" y="5665843"/>
              <a:chExt cx="4732036" cy="571469"/>
            </a:xfrm>
          </p:grpSpPr>
          <p:sp>
            <p:nvSpPr>
              <p:cNvPr id="185" name="모서리가 둥근 직사각형 184"/>
              <p:cNvSpPr/>
              <p:nvPr/>
            </p:nvSpPr>
            <p:spPr>
              <a:xfrm>
                <a:off x="386393" y="5665843"/>
                <a:ext cx="432049" cy="571469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문서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03" name="모서리가 둥근 직사각형 102"/>
              <p:cNvSpPr/>
              <p:nvPr/>
            </p:nvSpPr>
            <p:spPr bwMode="auto">
              <a:xfrm>
                <a:off x="969579" y="56859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문서 양식 표준화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4" name="모서리가 둥근 직사각형 103"/>
              <p:cNvSpPr/>
              <p:nvPr/>
            </p:nvSpPr>
            <p:spPr bwMode="auto">
              <a:xfrm>
                <a:off x="969579" y="59651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단계별 산출물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 bwMode="auto">
              <a:xfrm>
                <a:off x="2386440" y="56859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사용자 지원 매뉴얼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8" name="모서리가 둥근 직사각형 107"/>
              <p:cNvSpPr/>
              <p:nvPr/>
            </p:nvSpPr>
            <p:spPr bwMode="auto">
              <a:xfrm>
                <a:off x="2386440" y="59651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kumimoji="0" lang="ko-KR" altLang="en-US" sz="1000" b="0" kern="0">
                    <a:latin typeface="+mn-ea"/>
                  </a:rPr>
                  <a:t>산출물 현행화 지원</a:t>
                </a:r>
                <a:endParaRPr kumimoji="0" lang="ko-KR" altLang="en-US" sz="1000" b="0" kern="0" dirty="0">
                  <a:latin typeface="+mn-ea"/>
                </a:endParaRPr>
              </a:p>
            </p:txBody>
          </p:sp>
          <p:sp>
            <p:nvSpPr>
              <p:cNvPr id="111" name="모서리가 둥근 직사각형 110"/>
              <p:cNvSpPr/>
              <p:nvPr/>
            </p:nvSpPr>
            <p:spPr bwMode="auto">
              <a:xfrm>
                <a:off x="3803301" y="56859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산출물 자동화 제고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2" name="모서리가 둥근 직사각형 111"/>
              <p:cNvSpPr/>
              <p:nvPr/>
            </p:nvSpPr>
            <p:spPr bwMode="auto">
              <a:xfrm>
                <a:off x="3803301" y="59651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온라인 매뉴얼 지원</a:t>
                </a:r>
                <a:endParaRPr kumimoji="0" lang="ko-KR" altLang="en-US" sz="1000" b="0" kern="0" dirty="0">
                  <a:latin typeface="+mn-ea"/>
                </a:endParaRPr>
              </a:p>
            </p:txBody>
          </p:sp>
        </p:grpSp>
        <p:grpSp>
          <p:nvGrpSpPr>
            <p:cNvPr id="232" name="그룹 231"/>
            <p:cNvGrpSpPr/>
            <p:nvPr/>
          </p:nvGrpSpPr>
          <p:grpSpPr>
            <a:xfrm>
              <a:off x="386393" y="4903136"/>
              <a:ext cx="4732036" cy="572400"/>
              <a:chOff x="386393" y="4981441"/>
              <a:chExt cx="4732036" cy="572400"/>
            </a:xfrm>
          </p:grpSpPr>
          <p:sp>
            <p:nvSpPr>
              <p:cNvPr id="186" name="모서리가 둥근 직사각형 185"/>
              <p:cNvSpPr/>
              <p:nvPr/>
            </p:nvSpPr>
            <p:spPr>
              <a:xfrm>
                <a:off x="386393" y="4981441"/>
                <a:ext cx="432049" cy="572400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en-US" altLang="ko-KR" sz="1200" b="1" kern="0" spc="-150">
                    <a:solidFill>
                      <a:srgbClr val="000000"/>
                    </a:solidFill>
                    <a:latin typeface="+mn-ea"/>
                  </a:rPr>
                  <a:t>UI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94" name="모서리가 둥근 직사각형 93"/>
              <p:cNvSpPr/>
              <p:nvPr/>
            </p:nvSpPr>
            <p:spPr bwMode="auto">
              <a:xfrm>
                <a:off x="969579" y="530593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표준 모듈 적용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97" name="모서리가 둥근 직사각형 96"/>
              <p:cNvSpPr/>
              <p:nvPr/>
            </p:nvSpPr>
            <p:spPr bwMode="auto">
              <a:xfrm>
                <a:off x="2386440" y="530593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효율적인 신기술 도입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0" name="모서리가 둥근 직사각형 99"/>
              <p:cNvSpPr/>
              <p:nvPr/>
            </p:nvSpPr>
            <p:spPr bwMode="auto">
              <a:xfrm>
                <a:off x="3803301" y="530593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업무처리 기능성 강화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5" name="모서리가 둥근 직사각형 114"/>
              <p:cNvSpPr/>
              <p:nvPr/>
            </p:nvSpPr>
            <p:spPr bwMode="auto">
              <a:xfrm>
                <a:off x="965264" y="5028027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표준 프레임워크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6" name="모서리가 둥근 직사각형 115"/>
              <p:cNvSpPr/>
              <p:nvPr/>
            </p:nvSpPr>
            <p:spPr bwMode="auto">
              <a:xfrm>
                <a:off x="2382125" y="5028027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사용자중심의 </a:t>
                </a:r>
                <a:r>
                  <a:rPr lang="en-US" altLang="ko-KR" sz="1000" kern="0">
                    <a:latin typeface="+mn-ea"/>
                  </a:rPr>
                  <a:t>UI/UX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7" name="모서리가 둥근 직사각형 116"/>
              <p:cNvSpPr/>
              <p:nvPr/>
            </p:nvSpPr>
            <p:spPr bwMode="auto">
              <a:xfrm>
                <a:off x="3798986" y="5028027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표준화된 구축 방법론</a:t>
                </a:r>
                <a:endParaRPr lang="ko-KR" altLang="en-US" sz="1000" kern="0" dirty="0">
                  <a:latin typeface="+mn-ea"/>
                </a:endParaRPr>
              </a:p>
            </p:txBody>
          </p:sp>
        </p:grpSp>
        <p:cxnSp>
          <p:nvCxnSpPr>
            <p:cNvPr id="231" name="직선 연결선 230"/>
            <p:cNvCxnSpPr/>
            <p:nvPr/>
          </p:nvCxnSpPr>
          <p:spPr>
            <a:xfrm>
              <a:off x="386393" y="5570690"/>
              <a:ext cx="465722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2" name="그룹 241"/>
            <p:cNvGrpSpPr/>
            <p:nvPr/>
          </p:nvGrpSpPr>
          <p:grpSpPr>
            <a:xfrm>
              <a:off x="386393" y="3596828"/>
              <a:ext cx="4732036" cy="1116000"/>
              <a:chOff x="386393" y="3454714"/>
              <a:chExt cx="4732036" cy="1116000"/>
            </a:xfrm>
          </p:grpSpPr>
          <p:sp>
            <p:nvSpPr>
              <p:cNvPr id="184" name="모서리가 둥근 직사각형 183"/>
              <p:cNvSpPr/>
              <p:nvPr/>
            </p:nvSpPr>
            <p:spPr>
              <a:xfrm>
                <a:off x="386393" y="3454714"/>
                <a:ext cx="432049" cy="1116000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프</a:t>
                </a:r>
                <a:endParaRPr lang="en-US" altLang="ko-KR" sz="1200" b="1" kern="0" spc="-150">
                  <a:solidFill>
                    <a:srgbClr val="000000"/>
                  </a:solidFill>
                  <a:latin typeface="+mn-ea"/>
                </a:endParaRPr>
              </a:p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로</a:t>
                </a:r>
                <a:endParaRPr lang="en-US" altLang="ko-KR" sz="1200" b="1" kern="0" spc="-150">
                  <a:solidFill>
                    <a:srgbClr val="000000"/>
                  </a:solidFill>
                  <a:latin typeface="+mn-ea"/>
                </a:endParaRPr>
              </a:p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세</a:t>
                </a:r>
                <a:endParaRPr lang="en-US" altLang="ko-KR" sz="1200" b="1" kern="0" spc="-150">
                  <a:solidFill>
                    <a:srgbClr val="000000"/>
                  </a:solidFill>
                  <a:latin typeface="+mn-ea"/>
                </a:endParaRPr>
              </a:p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스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grpSp>
            <p:nvGrpSpPr>
              <p:cNvPr id="241" name="그룹 240"/>
              <p:cNvGrpSpPr/>
              <p:nvPr/>
            </p:nvGrpSpPr>
            <p:grpSpPr>
              <a:xfrm>
                <a:off x="965273" y="3467527"/>
                <a:ext cx="4153156" cy="1101237"/>
                <a:chOff x="965273" y="3467527"/>
                <a:chExt cx="4153156" cy="1101237"/>
              </a:xfrm>
            </p:grpSpPr>
            <p:grpSp>
              <p:nvGrpSpPr>
                <p:cNvPr id="240" name="그룹 239"/>
                <p:cNvGrpSpPr/>
                <p:nvPr/>
              </p:nvGrpSpPr>
              <p:grpSpPr>
                <a:xfrm>
                  <a:off x="969579" y="3467527"/>
                  <a:ext cx="4148850" cy="231390"/>
                  <a:chOff x="969579" y="3467527"/>
                  <a:chExt cx="4148850" cy="231390"/>
                </a:xfrm>
              </p:grpSpPr>
              <p:sp>
                <p:nvSpPr>
                  <p:cNvPr id="85" name="모서리가 둥근 직사각형 84"/>
                  <p:cNvSpPr/>
                  <p:nvPr/>
                </p:nvSpPr>
                <p:spPr bwMode="auto">
                  <a:xfrm>
                    <a:off x="969579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 dirty="0">
                        <a:latin typeface="+mn-ea"/>
                      </a:rPr>
                      <a:t>사용자 중심 서비스</a:t>
                    </a:r>
                  </a:p>
                </p:txBody>
              </p:sp>
              <p:sp>
                <p:nvSpPr>
                  <p:cNvPr id="88" name="모서리가 둥근 직사각형 87"/>
                  <p:cNvSpPr/>
                  <p:nvPr/>
                </p:nvSpPr>
                <p:spPr bwMode="auto">
                  <a:xfrm>
                    <a:off x="2386440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업무 프로세스 표준화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91" name="모서리가 둥근 직사각형 90"/>
                  <p:cNvSpPr/>
                  <p:nvPr/>
                </p:nvSpPr>
                <p:spPr bwMode="auto">
                  <a:xfrm>
                    <a:off x="3803301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연계 프로세스 확대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9" name="그룹 238"/>
                <p:cNvGrpSpPr/>
                <p:nvPr/>
              </p:nvGrpSpPr>
              <p:grpSpPr>
                <a:xfrm>
                  <a:off x="969579" y="3757476"/>
                  <a:ext cx="4148850" cy="231390"/>
                  <a:chOff x="969579" y="3746727"/>
                  <a:chExt cx="4148850" cy="231390"/>
                </a:xfrm>
              </p:grpSpPr>
              <p:sp>
                <p:nvSpPr>
                  <p:cNvPr id="86" name="모서리가 둥근 직사각형 85"/>
                  <p:cNvSpPr/>
                  <p:nvPr/>
                </p:nvSpPr>
                <p:spPr bwMode="auto">
                  <a:xfrm>
                    <a:off x="969579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업무 절차 간소화 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89" name="모서리가 둥근 직사각형 88"/>
                  <p:cNvSpPr/>
                  <p:nvPr/>
                </p:nvSpPr>
                <p:spPr bwMode="auto">
                  <a:xfrm>
                    <a:off x="2386440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 dirty="0">
                        <a:latin typeface="+mn-ea"/>
                      </a:rPr>
                      <a:t>수작업 시스템화</a:t>
                    </a:r>
                  </a:p>
                </p:txBody>
              </p:sp>
              <p:sp>
                <p:nvSpPr>
                  <p:cNvPr id="92" name="모서리가 둥근 직사각형 91"/>
                  <p:cNvSpPr/>
                  <p:nvPr/>
                </p:nvSpPr>
                <p:spPr bwMode="auto">
                  <a:xfrm>
                    <a:off x="3803301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내외부 긴밀한 연계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8" name="그룹 237"/>
                <p:cNvGrpSpPr/>
                <p:nvPr/>
              </p:nvGrpSpPr>
              <p:grpSpPr>
                <a:xfrm>
                  <a:off x="969579" y="4047425"/>
                  <a:ext cx="4148850" cy="231390"/>
                  <a:chOff x="969579" y="4025920"/>
                  <a:chExt cx="4148850" cy="231390"/>
                </a:xfrm>
              </p:grpSpPr>
              <p:sp>
                <p:nvSpPr>
                  <p:cNvPr id="87" name="모서리가 둥근 직사각형 86"/>
                  <p:cNvSpPr/>
                  <p:nvPr/>
                </p:nvSpPr>
                <p:spPr bwMode="auto">
                  <a:xfrm>
                    <a:off x="969579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업무 처리 효율화 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90" name="모서리가 둥근 직사각형 89"/>
                  <p:cNvSpPr/>
                  <p:nvPr/>
                </p:nvSpPr>
                <p:spPr bwMode="auto">
                  <a:xfrm>
                    <a:off x="2386440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모니터링체계 강화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93" name="모서리가 둥근 직사각형 92"/>
                  <p:cNvSpPr/>
                  <p:nvPr/>
                </p:nvSpPr>
                <p:spPr bwMode="auto">
                  <a:xfrm>
                    <a:off x="3803301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집계 처리 자동화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7" name="그룹 236"/>
                <p:cNvGrpSpPr/>
                <p:nvPr/>
              </p:nvGrpSpPr>
              <p:grpSpPr>
                <a:xfrm>
                  <a:off x="965273" y="4337374"/>
                  <a:ext cx="4148850" cy="231390"/>
                  <a:chOff x="965273" y="4277730"/>
                  <a:chExt cx="4148850" cy="231390"/>
                </a:xfrm>
              </p:grpSpPr>
              <p:sp>
                <p:nvSpPr>
                  <p:cNvPr id="118" name="모서리가 둥근 직사각형 117"/>
                  <p:cNvSpPr/>
                  <p:nvPr/>
                </p:nvSpPr>
                <p:spPr bwMode="auto">
                  <a:xfrm>
                    <a:off x="965273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kumimoji="0" lang="ko-KR" altLang="en-US" sz="1000" b="0" kern="0">
                        <a:latin typeface="+mn-ea"/>
                        <a:ea typeface="+mn-ea"/>
                      </a:rPr>
                      <a:t>후속 업무 연결  </a:t>
                    </a:r>
                    <a:r>
                      <a:rPr kumimoji="0" lang="en-US" altLang="ko-KR" sz="1000" b="0" kern="0">
                        <a:latin typeface="+mn-ea"/>
                        <a:ea typeface="+mn-ea"/>
                      </a:rPr>
                      <a:t> </a:t>
                    </a:r>
                    <a:r>
                      <a:rPr kumimoji="0" lang="ko-KR" altLang="en-US" sz="1000" b="0" kern="0">
                        <a:latin typeface="+mn-ea"/>
                        <a:ea typeface="+mn-ea"/>
                      </a:rPr>
                      <a:t> </a:t>
                    </a:r>
                    <a:endParaRPr kumimoji="0" lang="ko-KR" altLang="en-US" sz="1000" b="0" kern="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9" name="모서리가 둥근 직사각형 118"/>
                  <p:cNvSpPr/>
                  <p:nvPr/>
                </p:nvSpPr>
                <p:spPr bwMode="auto">
                  <a:xfrm>
                    <a:off x="2382134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kumimoji="0" lang="ko-KR" altLang="en-US" sz="1000" b="0" kern="0">
                        <a:latin typeface="+mn-ea"/>
                      </a:rPr>
                      <a:t>선행 정보 재 사용</a:t>
                    </a:r>
                    <a:endParaRPr kumimoji="0" lang="ko-KR" altLang="en-US" sz="1000" b="0" kern="0" dirty="0">
                      <a:latin typeface="+mn-ea"/>
                    </a:endParaRPr>
                  </a:p>
                </p:txBody>
              </p:sp>
              <p:sp>
                <p:nvSpPr>
                  <p:cNvPr id="120" name="모서리가 둥근 직사각형 119"/>
                  <p:cNvSpPr/>
                  <p:nvPr/>
                </p:nvSpPr>
                <p:spPr bwMode="auto">
                  <a:xfrm>
                    <a:off x="3798995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관리업무 체계 강화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</p:grpSp>
        </p:grpSp>
        <p:grpSp>
          <p:nvGrpSpPr>
            <p:cNvPr id="268" name="그룹 267"/>
            <p:cNvGrpSpPr/>
            <p:nvPr/>
          </p:nvGrpSpPr>
          <p:grpSpPr>
            <a:xfrm>
              <a:off x="375552" y="2290520"/>
              <a:ext cx="4732036" cy="1116000"/>
              <a:chOff x="386393" y="3454714"/>
              <a:chExt cx="4732036" cy="1116000"/>
            </a:xfrm>
          </p:grpSpPr>
          <p:sp>
            <p:nvSpPr>
              <p:cNvPr id="269" name="모서리가 둥근 직사각형 268"/>
              <p:cNvSpPr/>
              <p:nvPr/>
            </p:nvSpPr>
            <p:spPr>
              <a:xfrm>
                <a:off x="386393" y="3454714"/>
                <a:ext cx="432049" cy="1116000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en-US" altLang="ko-KR" sz="1200" b="1" kern="0" spc="-150">
                    <a:solidFill>
                      <a:srgbClr val="000000"/>
                    </a:solidFill>
                    <a:latin typeface="+mn-ea"/>
                  </a:rPr>
                  <a:t>DB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grpSp>
            <p:nvGrpSpPr>
              <p:cNvPr id="270" name="그룹 240"/>
              <p:cNvGrpSpPr/>
              <p:nvPr/>
            </p:nvGrpSpPr>
            <p:grpSpPr>
              <a:xfrm>
                <a:off x="965273" y="3467527"/>
                <a:ext cx="4153156" cy="1101237"/>
                <a:chOff x="965273" y="3467527"/>
                <a:chExt cx="4153156" cy="1101237"/>
              </a:xfrm>
            </p:grpSpPr>
            <p:grpSp>
              <p:nvGrpSpPr>
                <p:cNvPr id="271" name="그룹 239"/>
                <p:cNvGrpSpPr/>
                <p:nvPr/>
              </p:nvGrpSpPr>
              <p:grpSpPr>
                <a:xfrm>
                  <a:off x="969579" y="3467527"/>
                  <a:ext cx="4148850" cy="231390"/>
                  <a:chOff x="969579" y="3467527"/>
                  <a:chExt cx="4148850" cy="231390"/>
                </a:xfrm>
              </p:grpSpPr>
              <p:sp>
                <p:nvSpPr>
                  <p:cNvPr id="284" name="모서리가 둥근 직사각형 283"/>
                  <p:cNvSpPr/>
                  <p:nvPr/>
                </p:nvSpPr>
                <p:spPr bwMode="auto">
                  <a:xfrm>
                    <a:off x="969579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표준관리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5" name="모서리가 둥근 직사각형 284"/>
                  <p:cNvSpPr/>
                  <p:nvPr/>
                </p:nvSpPr>
                <p:spPr bwMode="auto">
                  <a:xfrm>
                    <a:off x="2386440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모델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6" name="모서리가 둥근 직사각형 285"/>
                  <p:cNvSpPr/>
                  <p:nvPr/>
                </p:nvSpPr>
                <p:spPr bwMode="auto">
                  <a:xfrm>
                    <a:off x="3803301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보안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72" name="그룹 238"/>
                <p:cNvGrpSpPr/>
                <p:nvPr/>
              </p:nvGrpSpPr>
              <p:grpSpPr>
                <a:xfrm>
                  <a:off x="969579" y="3757476"/>
                  <a:ext cx="4148850" cy="231390"/>
                  <a:chOff x="969579" y="3746727"/>
                  <a:chExt cx="4148850" cy="231390"/>
                </a:xfrm>
              </p:grpSpPr>
              <p:sp>
                <p:nvSpPr>
                  <p:cNvPr id="281" name="모서리가 둥근 직사각형 280"/>
                  <p:cNvSpPr/>
                  <p:nvPr/>
                </p:nvSpPr>
                <p:spPr bwMode="auto">
                  <a:xfrm>
                    <a:off x="969579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단어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2" name="모서리가 둥근 직사각형 281"/>
                  <p:cNvSpPr/>
                  <p:nvPr/>
                </p:nvSpPr>
                <p:spPr bwMode="auto">
                  <a:xfrm>
                    <a:off x="2386440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도메인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3" name="모서리가 둥근 직사각형 282"/>
                  <p:cNvSpPr/>
                  <p:nvPr/>
                </p:nvSpPr>
                <p:spPr bwMode="auto">
                  <a:xfrm>
                    <a:off x="3803301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명명 규칙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73" name="그룹 237"/>
                <p:cNvGrpSpPr/>
                <p:nvPr/>
              </p:nvGrpSpPr>
              <p:grpSpPr>
                <a:xfrm>
                  <a:off x="969579" y="4047425"/>
                  <a:ext cx="4148850" cy="231390"/>
                  <a:chOff x="969579" y="4025920"/>
                  <a:chExt cx="4148850" cy="231390"/>
                </a:xfrm>
              </p:grpSpPr>
              <p:sp>
                <p:nvSpPr>
                  <p:cNvPr id="278" name="모서리가 둥근 직사각형 277"/>
                  <p:cNvSpPr/>
                  <p:nvPr/>
                </p:nvSpPr>
                <p:spPr bwMode="auto">
                  <a:xfrm>
                    <a:off x="969579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용어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79" name="모서리가 둥근 직사각형 278"/>
                  <p:cNvSpPr/>
                  <p:nvPr/>
                </p:nvSpPr>
                <p:spPr bwMode="auto">
                  <a:xfrm>
                    <a:off x="2386440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데이터 도구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0" name="모서리가 둥근 직사각형 279"/>
                  <p:cNvSpPr/>
                  <p:nvPr/>
                </p:nvSpPr>
                <p:spPr bwMode="auto">
                  <a:xfrm>
                    <a:off x="3803301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코드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74" name="그룹 236"/>
                <p:cNvGrpSpPr/>
                <p:nvPr/>
              </p:nvGrpSpPr>
              <p:grpSpPr>
                <a:xfrm>
                  <a:off x="965273" y="4337374"/>
                  <a:ext cx="4148850" cy="231390"/>
                  <a:chOff x="965273" y="4277730"/>
                  <a:chExt cx="4148850" cy="231390"/>
                </a:xfrm>
              </p:grpSpPr>
              <p:sp>
                <p:nvSpPr>
                  <p:cNvPr id="275" name="모서리가 둥근 직사각형 274"/>
                  <p:cNvSpPr/>
                  <p:nvPr/>
                </p:nvSpPr>
                <p:spPr bwMode="auto">
                  <a:xfrm>
                    <a:off x="965273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자료 사전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76" name="모서리가 둥근 직사각형 275"/>
                  <p:cNvSpPr/>
                  <p:nvPr/>
                </p:nvSpPr>
                <p:spPr bwMode="auto">
                  <a:xfrm>
                    <a:off x="2382134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kumimoji="0" lang="ko-KR" altLang="en-US" sz="1000" b="0" kern="0">
                        <a:latin typeface="+mn-ea"/>
                      </a:rPr>
                      <a:t>개념</a:t>
                    </a:r>
                    <a:r>
                      <a:rPr kumimoji="0" lang="en-US" altLang="ko-KR" sz="1000" b="0" kern="0">
                        <a:latin typeface="+mn-ea"/>
                      </a:rPr>
                      <a:t>/</a:t>
                    </a:r>
                    <a:r>
                      <a:rPr kumimoji="0" lang="ko-KR" altLang="en-US" sz="1000" b="0" kern="0">
                        <a:latin typeface="+mn-ea"/>
                      </a:rPr>
                      <a:t>논리</a:t>
                    </a:r>
                    <a:r>
                      <a:rPr kumimoji="0" lang="en-US" altLang="ko-KR" sz="1000" b="0" kern="0">
                        <a:latin typeface="+mn-ea"/>
                      </a:rPr>
                      <a:t>/</a:t>
                    </a:r>
                    <a:r>
                      <a:rPr kumimoji="0" lang="ko-KR" altLang="en-US" sz="1000" b="0" kern="0">
                        <a:latin typeface="+mn-ea"/>
                      </a:rPr>
                      <a:t>물리 모델</a:t>
                    </a:r>
                    <a:endParaRPr kumimoji="0" lang="ko-KR" altLang="en-US" sz="1000" b="0" kern="0" dirty="0">
                      <a:latin typeface="+mn-ea"/>
                    </a:endParaRPr>
                  </a:p>
                </p:txBody>
              </p:sp>
              <p:sp>
                <p:nvSpPr>
                  <p:cNvPr id="277" name="모서리가 둥근 직사각형 276"/>
                  <p:cNvSpPr/>
                  <p:nvPr/>
                </p:nvSpPr>
                <p:spPr bwMode="auto">
                  <a:xfrm>
                    <a:off x="3798995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품질관리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</p:grpSp>
        </p:grp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A38BA6DF-3ACC-4AB8-89D1-F302BACBA936}"/>
              </a:ext>
            </a:extLst>
          </p:cNvPr>
          <p:cNvSpPr/>
          <p:nvPr/>
        </p:nvSpPr>
        <p:spPr bwMode="auto">
          <a:xfrm>
            <a:off x="6229379" y="2314231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데이터 표준화 기반의 </a:t>
            </a:r>
            <a:r>
              <a:rPr lang="en-US" altLang="ko-KR" sz="1200" b="1" kern="0">
                <a:solidFill>
                  <a:prstClr val="white"/>
                </a:solidFill>
              </a:rPr>
              <a:t>DATABASE </a:t>
            </a:r>
            <a:r>
              <a:rPr lang="ko-KR" altLang="en-US" sz="1200" b="1" kern="0">
                <a:solidFill>
                  <a:prstClr val="white"/>
                </a:solidFill>
              </a:rPr>
              <a:t>구축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60D8057E-3C52-47D7-8165-F89D15C0428B}"/>
              </a:ext>
            </a:extLst>
          </p:cNvPr>
          <p:cNvSpPr/>
          <p:nvPr/>
        </p:nvSpPr>
        <p:spPr bwMode="auto">
          <a:xfrm>
            <a:off x="6229379" y="3326222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효율적인 </a:t>
            </a:r>
            <a:r>
              <a:rPr lang="ko-KR" altLang="en-US" sz="1200" b="1" kern="0">
                <a:solidFill>
                  <a:schemeClr val="bg1"/>
                </a:solidFill>
              </a:rPr>
              <a:t>업무 처리를 위한 표준 </a:t>
            </a:r>
            <a:r>
              <a:rPr lang="ko-KR" altLang="en-US" sz="1200" b="1" kern="0">
                <a:solidFill>
                  <a:prstClr val="white"/>
                </a:solidFill>
              </a:rPr>
              <a:t>프로세스    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B68A4673-78AD-4871-A5DD-A178F9557D5E}"/>
              </a:ext>
            </a:extLst>
          </p:cNvPr>
          <p:cNvSpPr/>
          <p:nvPr/>
        </p:nvSpPr>
        <p:spPr bwMode="auto">
          <a:xfrm>
            <a:off x="6229379" y="4338213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신기술</a:t>
            </a:r>
            <a:r>
              <a:rPr lang="en-US" altLang="ko-KR" sz="1200" b="1" kern="0">
                <a:solidFill>
                  <a:prstClr val="white"/>
                </a:solidFill>
              </a:rPr>
              <a:t> </a:t>
            </a:r>
            <a:r>
              <a:rPr lang="ko-KR" altLang="en-US" sz="1200" b="1" kern="0">
                <a:solidFill>
                  <a:prstClr val="white"/>
                </a:solidFill>
              </a:rPr>
              <a:t>활용과 표준 기법으로 사용자 중심의 기능 구축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AC02841D-18A3-47A9-A0FA-D0D67B09681E}"/>
              </a:ext>
            </a:extLst>
          </p:cNvPr>
          <p:cNvSpPr/>
          <p:nvPr/>
        </p:nvSpPr>
        <p:spPr bwMode="auto">
          <a:xfrm>
            <a:off x="6229379" y="5350205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산출물의 표준화</a:t>
            </a:r>
            <a:r>
              <a:rPr lang="en-US" altLang="ko-KR" sz="1200" b="1" kern="0">
                <a:solidFill>
                  <a:prstClr val="white"/>
                </a:solidFill>
              </a:rPr>
              <a:t>, </a:t>
            </a:r>
            <a:r>
              <a:rPr lang="ko-KR" altLang="en-US" sz="1200" b="1" kern="0">
                <a:solidFill>
                  <a:prstClr val="white"/>
                </a:solidFill>
              </a:rPr>
              <a:t>자동화로 온라인 사용지원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16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직사각형 279">
            <a:extLst>
              <a:ext uri="{FF2B5EF4-FFF2-40B4-BE49-F238E27FC236}">
                <a16:creationId xmlns:a16="http://schemas.microsoft.com/office/drawing/2014/main" xmlns="" id="{61498CA1-6DC0-A388-7115-BCDCC07BA3EC}"/>
              </a:ext>
            </a:extLst>
          </p:cNvPr>
          <p:cNvSpPr/>
          <p:nvPr/>
        </p:nvSpPr>
        <p:spPr>
          <a:xfrm>
            <a:off x="344488" y="1520826"/>
            <a:ext cx="7443414" cy="47967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6866733" cy="789378"/>
          </a:xfrm>
        </p:spPr>
        <p:txBody>
          <a:bodyPr/>
          <a:lstStyle/>
          <a:p>
            <a:r>
              <a:rPr lang="en-US" altLang="ko-KR">
                <a:latin typeface="+mn-ea"/>
                <a:ea typeface="+mn-ea"/>
              </a:rPr>
              <a:t>3.4 </a:t>
            </a:r>
            <a:r>
              <a:rPr lang="ko-KR" altLang="en-US">
                <a:latin typeface="+mn-ea"/>
                <a:ea typeface="+mn-ea"/>
              </a:rPr>
              <a:t>추진범위 정의</a:t>
            </a:r>
            <a:r>
              <a:rPr lang="en-US" altLang="ko-KR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/>
              <a:t>3.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/>
              <a:t>3.3 </a:t>
            </a:r>
            <a:r>
              <a:rPr lang="ko-KR" altLang="en-US" dirty="0"/>
              <a:t>추진범위 정의</a:t>
            </a:r>
            <a:endParaRPr lang="en-US" altLang="ko-KR" dirty="0"/>
          </a:p>
        </p:txBody>
      </p:sp>
      <p:sp>
        <p:nvSpPr>
          <p:cNvPr id="216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사업추진을 위한 정보시스템의 </a:t>
            </a:r>
            <a:r>
              <a:rPr lang="ko-KR" altLang="en-US" sz="1600"/>
              <a:t>추진범위를 </a:t>
            </a:r>
            <a:r>
              <a:rPr lang="en-US" altLang="ko-KR" sz="1600"/>
              <a:t>5</a:t>
            </a:r>
            <a:r>
              <a:rPr lang="ko-KR" altLang="en-US" sz="1600"/>
              <a:t>개의 </a:t>
            </a:r>
            <a:r>
              <a:rPr lang="ko-KR" altLang="en-US" sz="1600" dirty="0"/>
              <a:t>경영정보 시스템과 그와 관련된 내</a:t>
            </a:r>
            <a:r>
              <a:rPr lang="en-US" altLang="ko-KR" sz="1600" dirty="0"/>
              <a:t>/</a:t>
            </a:r>
            <a:r>
              <a:rPr lang="ko-KR" altLang="en-US" sz="1600" dirty="0"/>
              <a:t>외부 유관시스템의 연계를 추진범위로 정의함</a:t>
            </a:r>
          </a:p>
        </p:txBody>
      </p:sp>
      <p:sp>
        <p:nvSpPr>
          <p:cNvPr id="217" name="직사각형 35"/>
          <p:cNvSpPr>
            <a:spLocks noChangeArrowheads="1"/>
          </p:cNvSpPr>
          <p:nvPr/>
        </p:nvSpPr>
        <p:spPr bwMode="auto">
          <a:xfrm>
            <a:off x="7905328" y="1795047"/>
            <a:ext cx="1619672" cy="451367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28600" indent="-22860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+mj-ea"/>
              <a:buAutoNum type="circleNumDbPlain"/>
            </a:pPr>
            <a:r>
              <a:rPr lang="ko-KR" altLang="en-US" sz="1200" kern="0" dirty="0">
                <a:solidFill>
                  <a:srgbClr val="000000"/>
                </a:solidFill>
              </a:rPr>
              <a:t>경영정보 시스템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예산관리</a:t>
            </a:r>
            <a:r>
              <a:rPr lang="en-US" altLang="ko-KR" sz="1200" kern="0" dirty="0">
                <a:solidFill>
                  <a:srgbClr val="000000"/>
                </a:solidFill>
              </a:rPr>
              <a:t> </a:t>
            </a: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회계관리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자산관리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구매관리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사업관리</a:t>
            </a:r>
            <a:r>
              <a:rPr lang="en-US" altLang="ko-KR" sz="1200" kern="0" dirty="0">
                <a:solidFill>
                  <a:srgbClr val="000000"/>
                </a:solidFill>
              </a:rPr>
              <a:t> </a:t>
            </a: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endParaRPr lang="en-US" altLang="ko-KR" sz="1200" kern="0" dirty="0">
              <a:solidFill>
                <a:srgbClr val="000000"/>
              </a:solidFill>
            </a:endParaRPr>
          </a:p>
          <a:p>
            <a:pPr marL="228600" indent="-22860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+mj-ea"/>
              <a:buAutoNum type="circleNumDbPlain" startAt="2"/>
            </a:pPr>
            <a:r>
              <a:rPr lang="ko-KR" altLang="en-US" sz="1200" kern="0" dirty="0">
                <a:solidFill>
                  <a:srgbClr val="000000"/>
                </a:solidFill>
              </a:rPr>
              <a:t>유관시스템 연계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금융기관 연계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세금계산서 발행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1200" kern="0" dirty="0">
                <a:solidFill>
                  <a:srgbClr val="000000"/>
                </a:solidFill>
              </a:rPr>
              <a:t>  </a:t>
            </a:r>
            <a:r>
              <a:rPr lang="en-US" altLang="ko-KR" sz="1200" kern="0" dirty="0">
                <a:solidFill>
                  <a:srgbClr val="000000"/>
                </a:solidFill>
              </a:rPr>
              <a:t>- </a:t>
            </a:r>
            <a:r>
              <a:rPr lang="ko-KR" altLang="en-US" sz="1200" kern="0" dirty="0">
                <a:solidFill>
                  <a:srgbClr val="000000"/>
                </a:solidFill>
              </a:rPr>
              <a:t>경영정보 시스템</a:t>
            </a:r>
            <a:r>
              <a:rPr lang="en-US" altLang="ko-KR" sz="1200" kern="0" dirty="0">
                <a:solidFill>
                  <a:srgbClr val="000000"/>
                </a:solidFill>
              </a:rPr>
              <a:t/>
            </a:r>
            <a:br>
              <a:rPr lang="en-US" altLang="ko-KR" sz="1200" kern="0" dirty="0">
                <a:solidFill>
                  <a:srgbClr val="000000"/>
                </a:solidFill>
              </a:rPr>
            </a:br>
            <a:r>
              <a:rPr lang="en-US" altLang="ko-KR" sz="1200" kern="0" dirty="0">
                <a:solidFill>
                  <a:srgbClr val="000000"/>
                </a:solidFill>
              </a:rPr>
              <a:t>    </a:t>
            </a:r>
            <a:r>
              <a:rPr lang="ko-KR" altLang="en-US" sz="1200" kern="0" dirty="0">
                <a:solidFill>
                  <a:srgbClr val="000000"/>
                </a:solidFill>
              </a:rPr>
              <a:t>유관 내</a:t>
            </a:r>
            <a:r>
              <a:rPr lang="en-US" altLang="ko-KR" sz="1200" kern="0" dirty="0">
                <a:solidFill>
                  <a:srgbClr val="000000"/>
                </a:solidFill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</a:rPr>
              <a:t>외부</a:t>
            </a:r>
            <a:r>
              <a:rPr lang="en-US" altLang="ko-KR" sz="1200" kern="0" dirty="0">
                <a:solidFill>
                  <a:srgbClr val="000000"/>
                </a:solidFill>
              </a:rPr>
              <a:t/>
            </a:r>
            <a:br>
              <a:rPr lang="en-US" altLang="ko-KR" sz="1200" kern="0" dirty="0">
                <a:solidFill>
                  <a:srgbClr val="000000"/>
                </a:solidFill>
              </a:rPr>
            </a:br>
            <a:r>
              <a:rPr lang="en-US" altLang="ko-KR" sz="1200" kern="0" dirty="0">
                <a:solidFill>
                  <a:srgbClr val="000000"/>
                </a:solidFill>
              </a:rPr>
              <a:t>    </a:t>
            </a:r>
            <a:r>
              <a:rPr lang="ko-KR" altLang="en-US" sz="1200" kern="0" dirty="0">
                <a:solidFill>
                  <a:srgbClr val="000000"/>
                </a:solidFill>
              </a:rPr>
              <a:t>시스템 연계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218" name="직사각형 217"/>
          <p:cNvSpPr>
            <a:spLocks noChangeArrowheads="1"/>
          </p:cNvSpPr>
          <p:nvPr/>
        </p:nvSpPr>
        <p:spPr bwMode="gray">
          <a:xfrm>
            <a:off x="7905328" y="1520826"/>
            <a:ext cx="1633339" cy="309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추진 범위</a:t>
            </a:r>
            <a:endParaRPr lang="en-US" altLang="ko-KR" kern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B6282273-808C-E3EB-7DFC-0EB12136E19E}"/>
              </a:ext>
            </a:extLst>
          </p:cNvPr>
          <p:cNvSpPr/>
          <p:nvPr/>
        </p:nvSpPr>
        <p:spPr>
          <a:xfrm>
            <a:off x="2208285" y="2056796"/>
            <a:ext cx="5474873" cy="2318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xmlns="" id="{AAD2E8BE-97E4-5D0C-2800-2A28378CAC5F}"/>
              </a:ext>
            </a:extLst>
          </p:cNvPr>
          <p:cNvSpPr/>
          <p:nvPr/>
        </p:nvSpPr>
        <p:spPr bwMode="auto">
          <a:xfrm>
            <a:off x="2143944" y="3911864"/>
            <a:ext cx="5539213" cy="324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ERP </a:t>
            </a: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시스템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xmlns="" id="{E50ED6EC-881C-8305-CDC5-29A43242F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011" y="4862589"/>
            <a:ext cx="610539" cy="253113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0" tIns="36000" rIns="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xmlns="" id="{74D9AE04-55EB-74FA-F278-7E40E2B1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39" y="4271072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예산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회계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구매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자산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xmlns="" id="{99C4F93C-711B-5D4C-B080-010FF356D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40" y="4471820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모서리가 둥근 직사각형 33">
            <a:extLst>
              <a:ext uri="{FF2B5EF4-FFF2-40B4-BE49-F238E27FC236}">
                <a16:creationId xmlns:a16="http://schemas.microsoft.com/office/drawing/2014/main" xmlns="" id="{D1D5769C-722D-FE7A-F862-787072FA903F}"/>
              </a:ext>
            </a:extLst>
          </p:cNvPr>
          <p:cNvSpPr/>
          <p:nvPr/>
        </p:nvSpPr>
        <p:spPr>
          <a:xfrm>
            <a:off x="2225794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예산관리</a:t>
            </a:r>
          </a:p>
        </p:txBody>
      </p:sp>
      <p:sp>
        <p:nvSpPr>
          <p:cNvPr id="10" name="모서리가 둥근 직사각형 34">
            <a:extLst>
              <a:ext uri="{FF2B5EF4-FFF2-40B4-BE49-F238E27FC236}">
                <a16:creationId xmlns:a16="http://schemas.microsoft.com/office/drawing/2014/main" xmlns="" id="{5AFF53A6-AA3B-DAA6-538D-A185258BE310}"/>
              </a:ext>
            </a:extLst>
          </p:cNvPr>
          <p:cNvSpPr/>
          <p:nvPr/>
        </p:nvSpPr>
        <p:spPr>
          <a:xfrm>
            <a:off x="2886392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회계관리</a:t>
            </a:r>
          </a:p>
        </p:txBody>
      </p:sp>
      <p:sp>
        <p:nvSpPr>
          <p:cNvPr id="11" name="모서리가 둥근 직사각형 37">
            <a:extLst>
              <a:ext uri="{FF2B5EF4-FFF2-40B4-BE49-F238E27FC236}">
                <a16:creationId xmlns:a16="http://schemas.microsoft.com/office/drawing/2014/main" xmlns="" id="{9F26213D-2262-4F9B-C7EE-0225132AA561}"/>
              </a:ext>
            </a:extLst>
          </p:cNvPr>
          <p:cNvSpPr/>
          <p:nvPr/>
        </p:nvSpPr>
        <p:spPr>
          <a:xfrm>
            <a:off x="3546990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자산관리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C892794B-32F5-F5D1-EF59-26BCB732C378}"/>
              </a:ext>
            </a:extLst>
          </p:cNvPr>
          <p:cNvSpPr/>
          <p:nvPr/>
        </p:nvSpPr>
        <p:spPr bwMode="auto">
          <a:xfrm>
            <a:off x="416496" y="1558842"/>
            <a:ext cx="7266661" cy="2844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코레일테크 목표 모델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A922050-609D-AEAF-864C-B8DC57E8DABC}"/>
              </a:ext>
            </a:extLst>
          </p:cNvPr>
          <p:cNvSpPr/>
          <p:nvPr/>
        </p:nvSpPr>
        <p:spPr>
          <a:xfrm>
            <a:off x="1923915" y="1843289"/>
            <a:ext cx="194182" cy="165976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사용자인증</a:t>
            </a:r>
            <a:endParaRPr lang="en-US" altLang="ko-KR" sz="105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b="1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사용권한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22" name="그룹 29">
            <a:extLst>
              <a:ext uri="{FF2B5EF4-FFF2-40B4-BE49-F238E27FC236}">
                <a16:creationId xmlns:a16="http://schemas.microsoft.com/office/drawing/2014/main" xmlns="" id="{580FD49B-EF94-E007-256D-5B220AB31B1C}"/>
              </a:ext>
            </a:extLst>
          </p:cNvPr>
          <p:cNvGrpSpPr>
            <a:grpSpLocks/>
          </p:cNvGrpSpPr>
          <p:nvPr/>
        </p:nvGrpSpPr>
        <p:grpSpPr bwMode="auto">
          <a:xfrm>
            <a:off x="526046" y="2916714"/>
            <a:ext cx="449263" cy="341313"/>
            <a:chOff x="5543550" y="3667116"/>
            <a:chExt cx="558800" cy="465137"/>
          </a:xfrm>
        </p:grpSpPr>
        <p:pic>
          <p:nvPicPr>
            <p:cNvPr id="123" name="Picture 94" descr="3">
              <a:extLst>
                <a:ext uri="{FF2B5EF4-FFF2-40B4-BE49-F238E27FC236}">
                  <a16:creationId xmlns:a16="http://schemas.microsoft.com/office/drawing/2014/main" xmlns="" id="{C5563BF3-7859-09C9-91BD-F424A6250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3844916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" name="Picture 102" descr="3">
              <a:extLst>
                <a:ext uri="{FF2B5EF4-FFF2-40B4-BE49-F238E27FC236}">
                  <a16:creationId xmlns:a16="http://schemas.microsoft.com/office/drawing/2014/main" xmlns="" id="{216BFB31-970E-EEAD-490F-B6B8804A9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50" t="42731" r="38626" b="42841"/>
            <a:stretch>
              <a:fillRect/>
            </a:stretch>
          </p:blipFill>
          <p:spPr bwMode="auto">
            <a:xfrm>
              <a:off x="5618163" y="3667116"/>
              <a:ext cx="411162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5" name="Group 76">
            <a:extLst>
              <a:ext uri="{FF2B5EF4-FFF2-40B4-BE49-F238E27FC236}">
                <a16:creationId xmlns:a16="http://schemas.microsoft.com/office/drawing/2014/main" xmlns="" id="{3F3ABD48-D593-921D-E934-5E917485E8C9}"/>
              </a:ext>
            </a:extLst>
          </p:cNvPr>
          <p:cNvGrpSpPr>
            <a:grpSpLocks/>
          </p:cNvGrpSpPr>
          <p:nvPr/>
        </p:nvGrpSpPr>
        <p:grpSpPr bwMode="auto">
          <a:xfrm>
            <a:off x="526046" y="1884620"/>
            <a:ext cx="450850" cy="384175"/>
            <a:chOff x="346" y="3835"/>
            <a:chExt cx="352" cy="328"/>
          </a:xfrm>
        </p:grpSpPr>
        <p:pic>
          <p:nvPicPr>
            <p:cNvPr id="126" name="Picture 77" descr="3">
              <a:extLst>
                <a:ext uri="{FF2B5EF4-FFF2-40B4-BE49-F238E27FC236}">
                  <a16:creationId xmlns:a16="http://schemas.microsoft.com/office/drawing/2014/main" xmlns="" id="{8525C745-2B45-D7E4-1D30-555D65FC59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346" y="3982"/>
              <a:ext cx="35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Picture 78" descr="3">
              <a:extLst>
                <a:ext uri="{FF2B5EF4-FFF2-40B4-BE49-F238E27FC236}">
                  <a16:creationId xmlns:a16="http://schemas.microsoft.com/office/drawing/2014/main" xmlns="" id="{D645C1C7-2CAF-4BAE-1A5A-0C104AA348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86" t="26706" r="41901" b="58647"/>
            <a:stretch>
              <a:fillRect/>
            </a:stretch>
          </p:blipFill>
          <p:spPr bwMode="auto">
            <a:xfrm>
              <a:off x="419" y="3835"/>
              <a:ext cx="2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그룹 106">
            <a:extLst>
              <a:ext uri="{FF2B5EF4-FFF2-40B4-BE49-F238E27FC236}">
                <a16:creationId xmlns:a16="http://schemas.microsoft.com/office/drawing/2014/main" xmlns="" id="{8C9A820A-F426-4E99-F801-E06BF30C9765}"/>
              </a:ext>
            </a:extLst>
          </p:cNvPr>
          <p:cNvGrpSpPr>
            <a:grpSpLocks/>
          </p:cNvGrpSpPr>
          <p:nvPr/>
        </p:nvGrpSpPr>
        <p:grpSpPr bwMode="auto">
          <a:xfrm>
            <a:off x="515728" y="2421546"/>
            <a:ext cx="471487" cy="355741"/>
            <a:chOff x="5562619" y="6852791"/>
            <a:chExt cx="558800" cy="398910"/>
          </a:xfrm>
        </p:grpSpPr>
        <p:pic>
          <p:nvPicPr>
            <p:cNvPr id="193" name="Picture 98" descr="3">
              <a:extLst>
                <a:ext uri="{FF2B5EF4-FFF2-40B4-BE49-F238E27FC236}">
                  <a16:creationId xmlns:a16="http://schemas.microsoft.com/office/drawing/2014/main" xmlns="" id="{B218110A-3327-C6F9-57DF-09B7D0507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62619" y="6964363"/>
              <a:ext cx="5588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205" descr="건물">
              <a:extLst>
                <a:ext uri="{FF2B5EF4-FFF2-40B4-BE49-F238E27FC236}">
                  <a16:creationId xmlns:a16="http://schemas.microsoft.com/office/drawing/2014/main" xmlns="" id="{A632CF54-9899-B1A5-1FCA-F110CCD606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8854" y="6852791"/>
              <a:ext cx="426424" cy="38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xmlns="" id="{7F01C717-AD0A-A202-ED26-D7CC3948C293}"/>
              </a:ext>
            </a:extLst>
          </p:cNvPr>
          <p:cNvSpPr txBox="1"/>
          <p:nvPr/>
        </p:nvSpPr>
        <p:spPr>
          <a:xfrm>
            <a:off x="530898" y="222084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본사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xmlns="" id="{C859D33F-AE0D-1C74-0D8B-B2F05BD52FC4}"/>
              </a:ext>
            </a:extLst>
          </p:cNvPr>
          <p:cNvSpPr txBox="1"/>
          <p:nvPr/>
        </p:nvSpPr>
        <p:spPr>
          <a:xfrm>
            <a:off x="466778" y="272605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사업소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07E438DB-9EA5-33E6-150B-EC3B06041BDE}"/>
              </a:ext>
            </a:extLst>
          </p:cNvPr>
          <p:cNvSpPr txBox="1"/>
          <p:nvPr/>
        </p:nvSpPr>
        <p:spPr>
          <a:xfrm>
            <a:off x="530898" y="325191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현장</a:t>
            </a:r>
            <a:endParaRPr lang="ko-KR" altLang="en-US" sz="1000" dirty="0" err="1">
              <a:latin typeface="+mn-ea"/>
            </a:endParaRPr>
          </a:p>
        </p:txBody>
      </p:sp>
      <p:grpSp>
        <p:nvGrpSpPr>
          <p:cNvPr id="198" name="그룹 91">
            <a:extLst>
              <a:ext uri="{FF2B5EF4-FFF2-40B4-BE49-F238E27FC236}">
                <a16:creationId xmlns:a16="http://schemas.microsoft.com/office/drawing/2014/main" xmlns="" id="{4A609D0C-50F0-A164-304D-56C9F0B5971E}"/>
              </a:ext>
            </a:extLst>
          </p:cNvPr>
          <p:cNvGrpSpPr>
            <a:grpSpLocks/>
          </p:cNvGrpSpPr>
          <p:nvPr/>
        </p:nvGrpSpPr>
        <p:grpSpPr bwMode="auto">
          <a:xfrm>
            <a:off x="500097" y="3431050"/>
            <a:ext cx="450850" cy="411162"/>
            <a:chOff x="5513406" y="8037808"/>
            <a:chExt cx="558800" cy="558530"/>
          </a:xfrm>
        </p:grpSpPr>
        <p:pic>
          <p:nvPicPr>
            <p:cNvPr id="199" name="Picture 80" descr="3">
              <a:extLst>
                <a:ext uri="{FF2B5EF4-FFF2-40B4-BE49-F238E27FC236}">
                  <a16:creationId xmlns:a16="http://schemas.microsoft.com/office/drawing/2014/main" xmlns="" id="{74856995-BB17-D2E7-00A4-DC6361751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13406" y="8309001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0" name="Group 85">
              <a:extLst>
                <a:ext uri="{FF2B5EF4-FFF2-40B4-BE49-F238E27FC236}">
                  <a16:creationId xmlns:a16="http://schemas.microsoft.com/office/drawing/2014/main" xmlns="" id="{5712FA4C-F093-E11E-DDEF-401D8B8448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6906" y="8037808"/>
              <a:ext cx="423863" cy="482321"/>
              <a:chOff x="134" y="3430"/>
              <a:chExt cx="355" cy="411"/>
            </a:xfrm>
          </p:grpSpPr>
          <p:pic>
            <p:nvPicPr>
              <p:cNvPr id="201" name="Picture 86" descr="Untitled-1">
                <a:extLst>
                  <a:ext uri="{FF2B5EF4-FFF2-40B4-BE49-F238E27FC236}">
                    <a16:creationId xmlns:a16="http://schemas.microsoft.com/office/drawing/2014/main" xmlns="" id="{A777EC61-1061-8AB9-D73C-C620D35BFF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76" y="347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2" name="Picture 87" descr="Untitled-1">
                <a:extLst>
                  <a:ext uri="{FF2B5EF4-FFF2-40B4-BE49-F238E27FC236}">
                    <a16:creationId xmlns:a16="http://schemas.microsoft.com/office/drawing/2014/main" xmlns="" id="{D6E270DF-EAEC-8ECD-4962-C681F587D9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62" y="3430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" name="Picture 88" descr="Untitled-1">
                <a:extLst>
                  <a:ext uri="{FF2B5EF4-FFF2-40B4-BE49-F238E27FC236}">
                    <a16:creationId xmlns:a16="http://schemas.microsoft.com/office/drawing/2014/main" xmlns="" id="{EE251CF4-815C-5B87-E1C7-6F7D7827C2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34" y="356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4" name="Picture 89" descr="Untitled-1">
                <a:extLst>
                  <a:ext uri="{FF2B5EF4-FFF2-40B4-BE49-F238E27FC236}">
                    <a16:creationId xmlns:a16="http://schemas.microsoft.com/office/drawing/2014/main" xmlns="" id="{096A67EC-DB03-8030-80CE-910C99E346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14" y="3526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" name="Picture 90" descr="Untitled-1">
                <a:extLst>
                  <a:ext uri="{FF2B5EF4-FFF2-40B4-BE49-F238E27FC236}">
                    <a16:creationId xmlns:a16="http://schemas.microsoft.com/office/drawing/2014/main" xmlns="" id="{6E855269-C331-38E1-259B-A249B6FEDA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326" y="3512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aphicFrame>
        <p:nvGraphicFramePr>
          <p:cNvPr id="206" name="표 205">
            <a:extLst>
              <a:ext uri="{FF2B5EF4-FFF2-40B4-BE49-F238E27FC236}">
                <a16:creationId xmlns:a16="http://schemas.microsoft.com/office/drawing/2014/main" xmlns="" id="{32EBF8AD-431B-1F5D-1B62-9AB00334C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54190"/>
              </p:ext>
            </p:extLst>
          </p:nvPr>
        </p:nvGraphicFramePr>
        <p:xfrm>
          <a:off x="538786" y="4077072"/>
          <a:ext cx="557157" cy="2122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3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외부기관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대보험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국세청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금융기관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카드사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조달청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207" name="TextBox 206">
            <a:extLst>
              <a:ext uri="{FF2B5EF4-FFF2-40B4-BE49-F238E27FC236}">
                <a16:creationId xmlns:a16="http://schemas.microsoft.com/office/drawing/2014/main" xmlns="" id="{48167E18-6DD4-F894-482D-76CBC5792BED}"/>
              </a:ext>
            </a:extLst>
          </p:cNvPr>
          <p:cNvSpPr txBox="1"/>
          <p:nvPr/>
        </p:nvSpPr>
        <p:spPr>
          <a:xfrm>
            <a:off x="488592" y="379171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대국민</a:t>
            </a:r>
            <a:endParaRPr lang="ko-KR" altLang="en-US" sz="1000" dirty="0" err="1">
              <a:latin typeface="+mn-ea"/>
            </a:endParaRPr>
          </a:p>
        </p:txBody>
      </p:sp>
      <p:graphicFrame>
        <p:nvGraphicFramePr>
          <p:cNvPr id="208" name="Object 200">
            <a:extLst>
              <a:ext uri="{FF2B5EF4-FFF2-40B4-BE49-F238E27FC236}">
                <a16:creationId xmlns:a16="http://schemas.microsoft.com/office/drawing/2014/main" xmlns="" id="{CD7D7726-C18D-8E82-D82A-292DD96E3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906404"/>
              </p:ext>
            </p:extLst>
          </p:nvPr>
        </p:nvGraphicFramePr>
        <p:xfrm>
          <a:off x="648876" y="4336226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" name="클립" r:id="rId11" imgW="5600700" imgH="3589338" progId="MS_ClipArt_Gallery.2">
                  <p:embed/>
                </p:oleObj>
              </mc:Choice>
              <mc:Fallback>
                <p:oleObj name="클립" r:id="rId11" imgW="5600700" imgH="3589338" progId="MS_ClipArt_Gallery.2">
                  <p:embed/>
                  <p:pic>
                    <p:nvPicPr>
                      <p:cNvPr id="203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4336226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200">
            <a:extLst>
              <a:ext uri="{FF2B5EF4-FFF2-40B4-BE49-F238E27FC236}">
                <a16:creationId xmlns:a16="http://schemas.microsoft.com/office/drawing/2014/main" xmlns="" id="{6CCB9520-B35E-BFEA-AD90-9FAC1FB03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250465"/>
              </p:ext>
            </p:extLst>
          </p:nvPr>
        </p:nvGraphicFramePr>
        <p:xfrm>
          <a:off x="648876" y="4696963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name="클립" r:id="rId13" imgW="5600700" imgH="3589338" progId="MS_ClipArt_Gallery.2">
                  <p:embed/>
                </p:oleObj>
              </mc:Choice>
              <mc:Fallback>
                <p:oleObj name="클립" r:id="rId13" imgW="5600700" imgH="3589338" progId="MS_ClipArt_Gallery.2">
                  <p:embed/>
                  <p:pic>
                    <p:nvPicPr>
                      <p:cNvPr id="292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4696963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Object 200">
            <a:extLst>
              <a:ext uri="{FF2B5EF4-FFF2-40B4-BE49-F238E27FC236}">
                <a16:creationId xmlns:a16="http://schemas.microsoft.com/office/drawing/2014/main" xmlns="" id="{2563FFCE-38CD-10CF-19F7-CCD322183F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145718"/>
              </p:ext>
            </p:extLst>
          </p:nvPr>
        </p:nvGraphicFramePr>
        <p:xfrm>
          <a:off x="648876" y="5057326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" name="클립" r:id="rId14" imgW="5600700" imgH="3589338" progId="MS_ClipArt_Gallery.2">
                  <p:embed/>
                </p:oleObj>
              </mc:Choice>
              <mc:Fallback>
                <p:oleObj name="클립" r:id="rId14" imgW="5600700" imgH="3589338" progId="MS_ClipArt_Gallery.2">
                  <p:embed/>
                  <p:pic>
                    <p:nvPicPr>
                      <p:cNvPr id="293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5057326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" name="Object 200">
            <a:extLst>
              <a:ext uri="{FF2B5EF4-FFF2-40B4-BE49-F238E27FC236}">
                <a16:creationId xmlns:a16="http://schemas.microsoft.com/office/drawing/2014/main" xmlns="" id="{42E66646-ADA2-1BF7-DC3B-DEC03ADA2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711675"/>
              </p:ext>
            </p:extLst>
          </p:nvPr>
        </p:nvGraphicFramePr>
        <p:xfrm>
          <a:off x="648876" y="5442854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클립" r:id="rId15" imgW="5600700" imgH="3589338" progId="MS_ClipArt_Gallery.2">
                  <p:embed/>
                </p:oleObj>
              </mc:Choice>
              <mc:Fallback>
                <p:oleObj name="클립" r:id="rId15" imgW="5600700" imgH="3589338" progId="MS_ClipArt_Gallery.2">
                  <p:embed/>
                  <p:pic>
                    <p:nvPicPr>
                      <p:cNvPr id="294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5442854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" name="AutoShape 116">
            <a:extLst>
              <a:ext uri="{FF2B5EF4-FFF2-40B4-BE49-F238E27FC236}">
                <a16:creationId xmlns:a16="http://schemas.microsoft.com/office/drawing/2014/main" xmlns="" id="{363127BD-AB85-0B2F-48EA-EA4646754E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314132" y="3365181"/>
            <a:ext cx="213787" cy="900385"/>
          </a:xfrm>
          <a:prstGeom prst="upDownArrow">
            <a:avLst>
              <a:gd name="adj1" fmla="val 50000"/>
              <a:gd name="adj2" fmla="val 28648"/>
            </a:avLst>
          </a:prstGeom>
          <a:solidFill>
            <a:srgbClr val="6E9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+mn-ea"/>
              <a:ea typeface="+mn-ea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xmlns="" id="{4ADEC42B-FF9F-B438-496F-F040B3E048F6}"/>
              </a:ext>
            </a:extLst>
          </p:cNvPr>
          <p:cNvSpPr txBox="1"/>
          <p:nvPr/>
        </p:nvSpPr>
        <p:spPr>
          <a:xfrm>
            <a:off x="967449" y="3550012"/>
            <a:ext cx="9501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</a:rPr>
              <a:t>입사지원</a:t>
            </a:r>
            <a:endParaRPr lang="en-US" altLang="ko-KR" sz="900" dirty="0">
              <a:latin typeface="+mn-ea"/>
            </a:endParaRPr>
          </a:p>
          <a:p>
            <a:pPr algn="ctr"/>
            <a:endParaRPr lang="en-US" altLang="ko-KR" sz="900" dirty="0">
              <a:latin typeface="+mn-ea"/>
            </a:endParaRPr>
          </a:p>
          <a:p>
            <a:pPr algn="ctr"/>
            <a:r>
              <a:rPr lang="en-US" altLang="ko-KR" sz="900" dirty="0">
                <a:latin typeface="+mn-ea"/>
              </a:rPr>
              <a:t>VOC</a:t>
            </a:r>
            <a:endParaRPr lang="ko-KR" altLang="en-US" sz="900" dirty="0" err="1">
              <a:latin typeface="+mn-ea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xmlns="" id="{20367614-523D-EE3F-F290-D5E0205E40C1}"/>
              </a:ext>
            </a:extLst>
          </p:cNvPr>
          <p:cNvSpPr/>
          <p:nvPr/>
        </p:nvSpPr>
        <p:spPr bwMode="auto">
          <a:xfrm>
            <a:off x="2118098" y="1823351"/>
            <a:ext cx="5565060" cy="1867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내부</a:t>
            </a:r>
            <a:r>
              <a:rPr lang="en-US" altLang="ko-KR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포털 서비스</a:t>
            </a:r>
            <a:endParaRPr lang="ko-KR" altLang="en-US" sz="1200" b="1" kern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xmlns="" id="{4C80FC02-2490-4BB3-C2AD-7C34230B5B93}"/>
              </a:ext>
            </a:extLst>
          </p:cNvPr>
          <p:cNvSpPr/>
          <p:nvPr/>
        </p:nvSpPr>
        <p:spPr>
          <a:xfrm>
            <a:off x="2208285" y="2288617"/>
            <a:ext cx="5474873" cy="42235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그룹웨어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9" name="모서리가 둥근 직사각형 296">
            <a:extLst>
              <a:ext uri="{FF2B5EF4-FFF2-40B4-BE49-F238E27FC236}">
                <a16:creationId xmlns:a16="http://schemas.microsoft.com/office/drawing/2014/main" xmlns="" id="{CB54BA9F-9987-8C95-CB42-FA92F804CC73}"/>
              </a:ext>
            </a:extLst>
          </p:cNvPr>
          <p:cNvSpPr/>
          <p:nvPr/>
        </p:nvSpPr>
        <p:spPr>
          <a:xfrm>
            <a:off x="2263407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웹메일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1" name="모서리가 둥근 직사각형 297">
            <a:extLst>
              <a:ext uri="{FF2B5EF4-FFF2-40B4-BE49-F238E27FC236}">
                <a16:creationId xmlns:a16="http://schemas.microsoft.com/office/drawing/2014/main" xmlns="" id="{0F8F0B8A-E779-FF19-2453-DCCFA40CAA18}"/>
              </a:ext>
            </a:extLst>
          </p:cNvPr>
          <p:cNvSpPr/>
          <p:nvPr/>
        </p:nvSpPr>
        <p:spPr>
          <a:xfrm>
            <a:off x="4159797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게시판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2" name="모서리가 둥근 직사각형 298">
            <a:extLst>
              <a:ext uri="{FF2B5EF4-FFF2-40B4-BE49-F238E27FC236}">
                <a16:creationId xmlns:a16="http://schemas.microsoft.com/office/drawing/2014/main" xmlns="" id="{2793CAE0-5E33-D55B-A06B-3030F61C18A1}"/>
              </a:ext>
            </a:extLst>
          </p:cNvPr>
          <p:cNvSpPr/>
          <p:nvPr/>
        </p:nvSpPr>
        <p:spPr>
          <a:xfrm>
            <a:off x="6056187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기록물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3" name="모서리가 둥근 직사각형 299">
            <a:extLst>
              <a:ext uri="{FF2B5EF4-FFF2-40B4-BE49-F238E27FC236}">
                <a16:creationId xmlns:a16="http://schemas.microsoft.com/office/drawing/2014/main" xmlns="" id="{47FC0233-CB1A-C404-664F-37E833B63AAC}"/>
              </a:ext>
            </a:extLst>
          </p:cNvPr>
          <p:cNvSpPr/>
          <p:nvPr/>
        </p:nvSpPr>
        <p:spPr>
          <a:xfrm>
            <a:off x="5107992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문서수발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4" name="모서리가 둥근 직사각형 300">
            <a:extLst>
              <a:ext uri="{FF2B5EF4-FFF2-40B4-BE49-F238E27FC236}">
                <a16:creationId xmlns:a16="http://schemas.microsoft.com/office/drawing/2014/main" xmlns="" id="{B2475CD8-FFDA-7881-DFAE-AEC1342477B8}"/>
              </a:ext>
            </a:extLst>
          </p:cNvPr>
          <p:cNvSpPr/>
          <p:nvPr/>
        </p:nvSpPr>
        <p:spPr>
          <a:xfrm>
            <a:off x="3211602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전저결재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5" name="모서리가 둥근 직사각형 301">
            <a:extLst>
              <a:ext uri="{FF2B5EF4-FFF2-40B4-BE49-F238E27FC236}">
                <a16:creationId xmlns:a16="http://schemas.microsoft.com/office/drawing/2014/main" xmlns="" id="{3B6AAF4E-058C-C08F-BF39-32B316ECECCA}"/>
              </a:ext>
            </a:extLst>
          </p:cNvPr>
          <p:cNvSpPr/>
          <p:nvPr/>
        </p:nvSpPr>
        <p:spPr>
          <a:xfrm>
            <a:off x="7004382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채팅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6" name="모서리가 둥근 직사각형 302">
            <a:extLst>
              <a:ext uri="{FF2B5EF4-FFF2-40B4-BE49-F238E27FC236}">
                <a16:creationId xmlns:a16="http://schemas.microsoft.com/office/drawing/2014/main" xmlns="" id="{171A37E0-C041-C46E-2588-8955AFD94AAA}"/>
              </a:ext>
            </a:extLst>
          </p:cNvPr>
          <p:cNvSpPr/>
          <p:nvPr/>
        </p:nvSpPr>
        <p:spPr>
          <a:xfrm>
            <a:off x="2259222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대사우서비스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모서리가 둥근 직사각형 303">
            <a:extLst>
              <a:ext uri="{FF2B5EF4-FFF2-40B4-BE49-F238E27FC236}">
                <a16:creationId xmlns:a16="http://schemas.microsoft.com/office/drawing/2014/main" xmlns="" id="{F30099A6-CD98-1AED-B1D4-3444E013B040}"/>
              </a:ext>
            </a:extLst>
          </p:cNvPr>
          <p:cNvSpPr/>
          <p:nvPr/>
        </p:nvSpPr>
        <p:spPr>
          <a:xfrm>
            <a:off x="5175136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일정공유</a:t>
            </a:r>
            <a:r>
              <a:rPr lang="en-US" altLang="ko-KR" sz="800" kern="0" spc="-100">
                <a:latin typeface="+mn-ea"/>
              </a:rPr>
              <a:t>.</a:t>
            </a:r>
            <a:r>
              <a:rPr lang="ko-KR" altLang="en-US" sz="800" kern="0" spc="-100">
                <a:latin typeface="+mn-ea"/>
              </a:rPr>
              <a:t>시설예약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8" name="모서리가 둥근 직사각형 304">
            <a:extLst>
              <a:ext uri="{FF2B5EF4-FFF2-40B4-BE49-F238E27FC236}">
                <a16:creationId xmlns:a16="http://schemas.microsoft.com/office/drawing/2014/main" xmlns="" id="{12AA792A-B1D9-6757-55A1-6F6368E606CF}"/>
              </a:ext>
            </a:extLst>
          </p:cNvPr>
          <p:cNvSpPr/>
          <p:nvPr/>
        </p:nvSpPr>
        <p:spPr>
          <a:xfrm>
            <a:off x="6633092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규정관리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9" name="모서리가 둥근 직사각형 305">
            <a:extLst>
              <a:ext uri="{FF2B5EF4-FFF2-40B4-BE49-F238E27FC236}">
                <a16:creationId xmlns:a16="http://schemas.microsoft.com/office/drawing/2014/main" xmlns="" id="{4A20E526-67C5-F232-9EA9-EE085BD3FEE3}"/>
              </a:ext>
            </a:extLst>
          </p:cNvPr>
          <p:cNvSpPr/>
          <p:nvPr/>
        </p:nvSpPr>
        <p:spPr>
          <a:xfrm>
            <a:off x="3717179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설문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>
                <a:latin typeface="+mn-ea"/>
              </a:rPr>
              <a:t>의견조회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>
                <a:latin typeface="+mn-ea"/>
              </a:rPr>
              <a:t>소식지</a:t>
            </a:r>
            <a:r>
              <a:rPr lang="en-US" altLang="ko-KR" sz="800" kern="0" spc="-100">
                <a:latin typeface="+mn-ea"/>
              </a:rPr>
              <a:t>;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0" name="모서리가 둥근 직사각형 309">
            <a:extLst>
              <a:ext uri="{FF2B5EF4-FFF2-40B4-BE49-F238E27FC236}">
                <a16:creationId xmlns:a16="http://schemas.microsoft.com/office/drawing/2014/main" xmlns="" id="{636C28ED-E0FA-B266-741A-93F7C8F9B11E}"/>
              </a:ext>
            </a:extLst>
          </p:cNvPr>
          <p:cNvSpPr/>
          <p:nvPr/>
        </p:nvSpPr>
        <p:spPr>
          <a:xfrm>
            <a:off x="2183885" y="2954079"/>
            <a:ext cx="4343080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사업소</a:t>
            </a:r>
            <a:r>
              <a:rPr lang="en-US" altLang="ko-KR" sz="11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업무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1" name="모서리가 둥근 직사각형 310">
            <a:extLst>
              <a:ext uri="{FF2B5EF4-FFF2-40B4-BE49-F238E27FC236}">
                <a16:creationId xmlns:a16="http://schemas.microsoft.com/office/drawing/2014/main" xmlns="" id="{4B2E61D7-C603-CE96-1277-5A859ECCEE30}"/>
              </a:ext>
            </a:extLst>
          </p:cNvPr>
          <p:cNvSpPr/>
          <p:nvPr/>
        </p:nvSpPr>
        <p:spPr>
          <a:xfrm>
            <a:off x="2270248" y="3155467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2" name="모서리가 둥근 직사각형 311">
            <a:extLst>
              <a:ext uri="{FF2B5EF4-FFF2-40B4-BE49-F238E27FC236}">
                <a16:creationId xmlns:a16="http://schemas.microsoft.com/office/drawing/2014/main" xmlns="" id="{2EF2A400-E89F-2CD9-B7EA-00D18E02843A}"/>
              </a:ext>
            </a:extLst>
          </p:cNvPr>
          <p:cNvSpPr/>
          <p:nvPr/>
        </p:nvSpPr>
        <p:spPr>
          <a:xfrm>
            <a:off x="3216163" y="3387898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전도금관리</a:t>
            </a:r>
          </a:p>
        </p:txBody>
      </p:sp>
      <p:sp>
        <p:nvSpPr>
          <p:cNvPr id="233" name="모서리가 둥근 직사각형 312">
            <a:extLst>
              <a:ext uri="{FF2B5EF4-FFF2-40B4-BE49-F238E27FC236}">
                <a16:creationId xmlns:a16="http://schemas.microsoft.com/office/drawing/2014/main" xmlns="" id="{7E445112-4502-4E59-425E-460FFD23DBCB}"/>
              </a:ext>
            </a:extLst>
          </p:cNvPr>
          <p:cNvSpPr/>
          <p:nvPr/>
        </p:nvSpPr>
        <p:spPr>
          <a:xfrm>
            <a:off x="4162078" y="3155467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작업계획서</a:t>
            </a:r>
          </a:p>
        </p:txBody>
      </p:sp>
      <p:sp>
        <p:nvSpPr>
          <p:cNvPr id="234" name="모서리가 둥근 직사각형 314">
            <a:extLst>
              <a:ext uri="{FF2B5EF4-FFF2-40B4-BE49-F238E27FC236}">
                <a16:creationId xmlns:a16="http://schemas.microsoft.com/office/drawing/2014/main" xmlns="" id="{B74316B1-4B1B-5033-653C-64B5676EC364}"/>
              </a:ext>
            </a:extLst>
          </p:cNvPr>
          <p:cNvSpPr/>
          <p:nvPr/>
        </p:nvSpPr>
        <p:spPr>
          <a:xfrm>
            <a:off x="6563029" y="2952281"/>
            <a:ext cx="1120129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en-US" altLang="ko-KR" sz="1100" b="1">
                <a:solidFill>
                  <a:schemeClr val="tx1"/>
                </a:solidFill>
                <a:latin typeface="+mn-ea"/>
              </a:rPr>
              <a:t>EHS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5" name="모서리가 둥근 직사각형 315">
            <a:extLst>
              <a:ext uri="{FF2B5EF4-FFF2-40B4-BE49-F238E27FC236}">
                <a16:creationId xmlns:a16="http://schemas.microsoft.com/office/drawing/2014/main" xmlns="" id="{87685720-D4F9-82A1-5BFC-58DFED3A2383}"/>
              </a:ext>
            </a:extLst>
          </p:cNvPr>
          <p:cNvSpPr/>
          <p:nvPr/>
        </p:nvSpPr>
        <p:spPr>
          <a:xfrm>
            <a:off x="6828906" y="3148628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환경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6" name="모서리가 둥근 직사각형 316">
            <a:extLst>
              <a:ext uri="{FF2B5EF4-FFF2-40B4-BE49-F238E27FC236}">
                <a16:creationId xmlns:a16="http://schemas.microsoft.com/office/drawing/2014/main" xmlns="" id="{775A54A2-CEE5-9E41-96C7-4E0CA77E3E9F}"/>
              </a:ext>
            </a:extLst>
          </p:cNvPr>
          <p:cNvSpPr/>
          <p:nvPr/>
        </p:nvSpPr>
        <p:spPr>
          <a:xfrm>
            <a:off x="6828906" y="3309591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보건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7" name="모서리가 둥근 직사각형 317">
            <a:extLst>
              <a:ext uri="{FF2B5EF4-FFF2-40B4-BE49-F238E27FC236}">
                <a16:creationId xmlns:a16="http://schemas.microsoft.com/office/drawing/2014/main" xmlns="" id="{E84A44FE-C9BF-A408-8682-FFBB022EDC5C}"/>
              </a:ext>
            </a:extLst>
          </p:cNvPr>
          <p:cNvSpPr/>
          <p:nvPr/>
        </p:nvSpPr>
        <p:spPr>
          <a:xfrm>
            <a:off x="6828906" y="3460281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안전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8" name="모서리가 둥근 직사각형 318">
            <a:extLst>
              <a:ext uri="{FF2B5EF4-FFF2-40B4-BE49-F238E27FC236}">
                <a16:creationId xmlns:a16="http://schemas.microsoft.com/office/drawing/2014/main" xmlns="" id="{D905EA21-893C-14AD-D4D4-E61A27E634AA}"/>
              </a:ext>
            </a:extLst>
          </p:cNvPr>
          <p:cNvSpPr/>
          <p:nvPr/>
        </p:nvSpPr>
        <p:spPr>
          <a:xfrm>
            <a:off x="2273882" y="3387898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물품관리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39" name="모서리가 둥근 직사각형 319">
            <a:extLst>
              <a:ext uri="{FF2B5EF4-FFF2-40B4-BE49-F238E27FC236}">
                <a16:creationId xmlns:a16="http://schemas.microsoft.com/office/drawing/2014/main" xmlns="" id="{2F1E3706-634A-1B4E-A8FD-0F0B33DBAF54}"/>
              </a:ext>
            </a:extLst>
          </p:cNvPr>
          <p:cNvSpPr/>
          <p:nvPr/>
        </p:nvSpPr>
        <p:spPr>
          <a:xfrm>
            <a:off x="3219797" y="3155467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교육관리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모서리가 둥근 직사각형 320">
            <a:extLst>
              <a:ext uri="{FF2B5EF4-FFF2-40B4-BE49-F238E27FC236}">
                <a16:creationId xmlns:a16="http://schemas.microsoft.com/office/drawing/2014/main" xmlns="" id="{2B3488A0-A1DC-E9F7-5C79-7E3FCF93F1A0}"/>
              </a:ext>
            </a:extLst>
          </p:cNvPr>
          <p:cNvSpPr/>
          <p:nvPr/>
        </p:nvSpPr>
        <p:spPr>
          <a:xfrm>
            <a:off x="4165712" y="3387898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업무일지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41" name="모서리가 둥근 직사각형 321">
            <a:extLst>
              <a:ext uri="{FF2B5EF4-FFF2-40B4-BE49-F238E27FC236}">
                <a16:creationId xmlns:a16="http://schemas.microsoft.com/office/drawing/2014/main" xmlns="" id="{4499B41C-D1AD-A4D7-A9DC-E3F5B65F16C2}"/>
              </a:ext>
            </a:extLst>
          </p:cNvPr>
          <p:cNvSpPr/>
          <p:nvPr/>
        </p:nvSpPr>
        <p:spPr>
          <a:xfrm>
            <a:off x="5111626" y="3150311"/>
            <a:ext cx="826383" cy="419945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업무실적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xmlns="" id="{DC1945D6-7EF4-FD85-F09E-2355BAEA1F14}"/>
              </a:ext>
            </a:extLst>
          </p:cNvPr>
          <p:cNvSpPr txBox="1"/>
          <p:nvPr/>
        </p:nvSpPr>
        <p:spPr>
          <a:xfrm>
            <a:off x="2284316" y="368440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물품수불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xmlns="" id="{E7FD60C0-12C1-F502-8790-0992CAFDFF01}"/>
              </a:ext>
            </a:extLst>
          </p:cNvPr>
          <p:cNvSpPr txBox="1"/>
          <p:nvPr/>
        </p:nvSpPr>
        <p:spPr>
          <a:xfrm>
            <a:off x="3104157" y="3684128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수입금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xmlns="" id="{3066DE54-4035-F05B-0C65-9BD3B4A54945}"/>
              </a:ext>
            </a:extLst>
          </p:cNvPr>
          <p:cNvSpPr txBox="1"/>
          <p:nvPr/>
        </p:nvSpPr>
        <p:spPr>
          <a:xfrm>
            <a:off x="3821406" y="368287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근태관리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xmlns="" id="{4DD8E862-CDA8-5091-327D-9BB4D9B45438}"/>
              </a:ext>
            </a:extLst>
          </p:cNvPr>
          <p:cNvSpPr txBox="1"/>
          <p:nvPr/>
        </p:nvSpPr>
        <p:spPr>
          <a:xfrm>
            <a:off x="4641248" y="368287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지출결의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xmlns="" id="{3A0FB53B-7798-14F4-831C-5EE6F2425A67}"/>
              </a:ext>
            </a:extLst>
          </p:cNvPr>
          <p:cNvSpPr txBox="1"/>
          <p:nvPr/>
        </p:nvSpPr>
        <p:spPr>
          <a:xfrm>
            <a:off x="2304503" y="271250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휴가신청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xmlns="" id="{AC7D032C-E4A6-5C47-3749-13155E8A9833}"/>
              </a:ext>
            </a:extLst>
          </p:cNvPr>
          <p:cNvSpPr txBox="1"/>
          <p:nvPr/>
        </p:nvSpPr>
        <p:spPr>
          <a:xfrm>
            <a:off x="3556392" y="271222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제증명신청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xmlns="" id="{65A0E031-8598-019D-FB1C-E69344B5F04E}"/>
              </a:ext>
            </a:extLst>
          </p:cNvPr>
          <p:cNvSpPr txBox="1"/>
          <p:nvPr/>
        </p:nvSpPr>
        <p:spPr>
          <a:xfrm>
            <a:off x="4608759" y="2710970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출퇴근정보</a:t>
            </a:r>
            <a:endParaRPr lang="ko-KR" altLang="en-US" sz="800" dirty="0" err="1">
              <a:latin typeface="+mn-ea"/>
            </a:endParaRPr>
          </a:p>
        </p:txBody>
      </p:sp>
      <p:pic>
        <p:nvPicPr>
          <p:cNvPr id="249" name="Picture 186" descr="arw02dn_ico_Bmp1">
            <a:extLst>
              <a:ext uri="{FF2B5EF4-FFF2-40B4-BE49-F238E27FC236}">
                <a16:creationId xmlns:a16="http://schemas.microsoft.com/office/drawing/2014/main" xmlns="" id="{C2FE4D12-2BE6-1943-B559-E1C78D5DE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743" y="2714378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0" name="Picture 186" descr="arw02dn_ico_Bmp1">
            <a:extLst>
              <a:ext uri="{FF2B5EF4-FFF2-40B4-BE49-F238E27FC236}">
                <a16:creationId xmlns:a16="http://schemas.microsoft.com/office/drawing/2014/main" xmlns="" id="{D0976CBA-6B58-C70A-9349-EFDFEEF76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913" y="2714378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" name="Picture 186" descr="arw02dn_ico_Bmp1">
            <a:extLst>
              <a:ext uri="{FF2B5EF4-FFF2-40B4-BE49-F238E27FC236}">
                <a16:creationId xmlns:a16="http://schemas.microsoft.com/office/drawing/2014/main" xmlns="" id="{B9555E66-1431-76FF-E19E-49054B3B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025" y="2714378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2" name="Picture 186" descr="arw02dn_ico_Bmp1">
            <a:extLst>
              <a:ext uri="{FF2B5EF4-FFF2-40B4-BE49-F238E27FC236}">
                <a16:creationId xmlns:a16="http://schemas.microsoft.com/office/drawing/2014/main" xmlns="" id="{084A50F3-BE17-925D-181E-2F8E9E0D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088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3" name="Picture 186" descr="arw02dn_ico_Bmp1">
            <a:extLst>
              <a:ext uri="{FF2B5EF4-FFF2-40B4-BE49-F238E27FC236}">
                <a16:creationId xmlns:a16="http://schemas.microsoft.com/office/drawing/2014/main" xmlns="" id="{AFD83BB3-8A7D-8E0F-1132-6CBCB89EE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450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4" name="Picture 186" descr="arw02dn_ico_Bmp1">
            <a:extLst>
              <a:ext uri="{FF2B5EF4-FFF2-40B4-BE49-F238E27FC236}">
                <a16:creationId xmlns:a16="http://schemas.microsoft.com/office/drawing/2014/main" xmlns="" id="{B7EA1BEA-32E3-8EC3-DE55-249B8BB0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530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5" name="Picture 186" descr="arw02dn_ico_Bmp1">
            <a:extLst>
              <a:ext uri="{FF2B5EF4-FFF2-40B4-BE49-F238E27FC236}">
                <a16:creationId xmlns:a16="http://schemas.microsoft.com/office/drawing/2014/main" xmlns="" id="{7398B847-6959-0F1E-0E02-14F2E5E82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66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모서리가 둥근 직사각형 336">
            <a:extLst>
              <a:ext uri="{FF2B5EF4-FFF2-40B4-BE49-F238E27FC236}">
                <a16:creationId xmlns:a16="http://schemas.microsoft.com/office/drawing/2014/main" xmlns="" id="{7DAEE9AD-54F7-0635-51DE-03AFEC67A367}"/>
              </a:ext>
            </a:extLst>
          </p:cNvPr>
          <p:cNvSpPr/>
          <p:nvPr/>
        </p:nvSpPr>
        <p:spPr>
          <a:xfrm>
            <a:off x="4207589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구매관리</a:t>
            </a:r>
          </a:p>
        </p:txBody>
      </p:sp>
      <p:sp>
        <p:nvSpPr>
          <p:cNvPr id="257" name="Rectangle 43">
            <a:extLst>
              <a:ext uri="{FF2B5EF4-FFF2-40B4-BE49-F238E27FC236}">
                <a16:creationId xmlns:a16="http://schemas.microsoft.com/office/drawing/2014/main" xmlns="" id="{5BFB19AD-F661-5981-7BFA-39EAB5090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39" y="557001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인사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급여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Rectangle 43">
            <a:extLst>
              <a:ext uri="{FF2B5EF4-FFF2-40B4-BE49-F238E27FC236}">
                <a16:creationId xmlns:a16="http://schemas.microsoft.com/office/drawing/2014/main" xmlns="" id="{5CD431AF-EBC6-F7A7-02D4-581C58946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40" y="5788869"/>
            <a:ext cx="2663650" cy="4749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모서리가 둥근 직사각형 342">
            <a:extLst>
              <a:ext uri="{FF2B5EF4-FFF2-40B4-BE49-F238E27FC236}">
                <a16:creationId xmlns:a16="http://schemas.microsoft.com/office/drawing/2014/main" xmlns="" id="{65AA52ED-3DA3-7680-5F77-2F912F41392D}"/>
              </a:ext>
            </a:extLst>
          </p:cNvPr>
          <p:cNvSpPr/>
          <p:nvPr/>
        </p:nvSpPr>
        <p:spPr>
          <a:xfrm>
            <a:off x="2234234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인사관리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0" name="모서리가 둥근 직사각형 343">
            <a:extLst>
              <a:ext uri="{FF2B5EF4-FFF2-40B4-BE49-F238E27FC236}">
                <a16:creationId xmlns:a16="http://schemas.microsoft.com/office/drawing/2014/main" xmlns="" id="{C6ADDD8B-D936-30B5-B8FD-959DF3576ED0}"/>
              </a:ext>
            </a:extLst>
          </p:cNvPr>
          <p:cNvSpPr/>
          <p:nvPr/>
        </p:nvSpPr>
        <p:spPr>
          <a:xfrm>
            <a:off x="2894832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</a:t>
            </a: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관리</a:t>
            </a:r>
          </a:p>
        </p:txBody>
      </p:sp>
      <p:sp>
        <p:nvSpPr>
          <p:cNvPr id="261" name="모서리가 둥근 직사각형 347">
            <a:extLst>
              <a:ext uri="{FF2B5EF4-FFF2-40B4-BE49-F238E27FC236}">
                <a16:creationId xmlns:a16="http://schemas.microsoft.com/office/drawing/2014/main" xmlns="" id="{F47CC438-BFBE-EB50-2E61-D5F26EA493C9}"/>
              </a:ext>
            </a:extLst>
          </p:cNvPr>
          <p:cNvSpPr/>
          <p:nvPr/>
        </p:nvSpPr>
        <p:spPr>
          <a:xfrm>
            <a:off x="3555431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급상여관리</a:t>
            </a:r>
          </a:p>
        </p:txBody>
      </p:sp>
      <p:sp>
        <p:nvSpPr>
          <p:cNvPr id="262" name="모서리가 둥근 직사각형 349">
            <a:extLst>
              <a:ext uri="{FF2B5EF4-FFF2-40B4-BE49-F238E27FC236}">
                <a16:creationId xmlns:a16="http://schemas.microsoft.com/office/drawing/2014/main" xmlns="" id="{D75B0C0A-9C59-1458-E4D1-9CF21575643D}"/>
              </a:ext>
            </a:extLst>
          </p:cNvPr>
          <p:cNvSpPr/>
          <p:nvPr/>
        </p:nvSpPr>
        <p:spPr>
          <a:xfrm>
            <a:off x="2211947" y="5211911"/>
            <a:ext cx="2499642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일반업무 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행정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차량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보안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동호회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3" name="Rectangle 43">
            <a:extLst>
              <a:ext uri="{FF2B5EF4-FFF2-40B4-BE49-F238E27FC236}">
                <a16:creationId xmlns:a16="http://schemas.microsoft.com/office/drawing/2014/main" xmlns="" id="{D210C592-728E-844D-76DF-F16F20D07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653" y="557001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지속가능경영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64" name="Rectangle 43">
            <a:extLst>
              <a:ext uri="{FF2B5EF4-FFF2-40B4-BE49-F238E27FC236}">
                <a16:creationId xmlns:a16="http://schemas.microsoft.com/office/drawing/2014/main" xmlns="" id="{01B24B2E-8B40-F482-524D-3F77986DB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654" y="5788870"/>
            <a:ext cx="2663650" cy="4792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65" name="모서리가 둥근 직사각형 357">
            <a:extLst>
              <a:ext uri="{FF2B5EF4-FFF2-40B4-BE49-F238E27FC236}">
                <a16:creationId xmlns:a16="http://schemas.microsoft.com/office/drawing/2014/main" xmlns="" id="{BF23A7F8-E548-B7DD-CFFF-F132ED123802}"/>
              </a:ext>
            </a:extLst>
          </p:cNvPr>
          <p:cNvSpPr/>
          <p:nvPr/>
        </p:nvSpPr>
        <p:spPr>
          <a:xfrm>
            <a:off x="5160863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규정관리</a:t>
            </a:r>
          </a:p>
        </p:txBody>
      </p:sp>
      <p:sp>
        <p:nvSpPr>
          <p:cNvPr id="266" name="모서리가 둥근 직사각형 358">
            <a:extLst>
              <a:ext uri="{FF2B5EF4-FFF2-40B4-BE49-F238E27FC236}">
                <a16:creationId xmlns:a16="http://schemas.microsoft.com/office/drawing/2014/main" xmlns="" id="{0F1F2606-C8EF-CDCD-12D2-39EA75C57E88}"/>
              </a:ext>
            </a:extLst>
          </p:cNvPr>
          <p:cNvSpPr/>
          <p:nvPr/>
        </p:nvSpPr>
        <p:spPr>
          <a:xfrm>
            <a:off x="4202566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총무관리</a:t>
            </a:r>
          </a:p>
        </p:txBody>
      </p:sp>
      <p:sp>
        <p:nvSpPr>
          <p:cNvPr id="267" name="모서리가 둥근 직사각형 359">
            <a:extLst>
              <a:ext uri="{FF2B5EF4-FFF2-40B4-BE49-F238E27FC236}">
                <a16:creationId xmlns:a16="http://schemas.microsoft.com/office/drawing/2014/main" xmlns="" id="{384D3C1B-FA5E-3332-518E-7491AFECA76E}"/>
              </a:ext>
            </a:extLst>
          </p:cNvPr>
          <p:cNvSpPr/>
          <p:nvPr/>
        </p:nvSpPr>
        <p:spPr>
          <a:xfrm>
            <a:off x="7146460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사회가치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8" name="모서리가 둥근 직사각형 361">
            <a:extLst>
              <a:ext uri="{FF2B5EF4-FFF2-40B4-BE49-F238E27FC236}">
                <a16:creationId xmlns:a16="http://schemas.microsoft.com/office/drawing/2014/main" xmlns="" id="{3DCBE3B5-04CF-624C-C62B-C3A143DDFE28}"/>
              </a:ext>
            </a:extLst>
          </p:cNvPr>
          <p:cNvSpPr/>
          <p:nvPr/>
        </p:nvSpPr>
        <p:spPr>
          <a:xfrm>
            <a:off x="6484595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국감관리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9" name="모서리가 둥근 직사각형 362">
            <a:extLst>
              <a:ext uri="{FF2B5EF4-FFF2-40B4-BE49-F238E27FC236}">
                <a16:creationId xmlns:a16="http://schemas.microsoft.com/office/drawing/2014/main" xmlns="" id="{DC5ECFF8-A187-2C99-EB20-876B6823C630}"/>
              </a:ext>
            </a:extLst>
          </p:cNvPr>
          <p:cNvSpPr/>
          <p:nvPr/>
        </p:nvSpPr>
        <p:spPr>
          <a:xfrm>
            <a:off x="5822729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공시관리</a:t>
            </a:r>
          </a:p>
        </p:txBody>
      </p:sp>
      <p:sp>
        <p:nvSpPr>
          <p:cNvPr id="270" name="Rectangle 43">
            <a:extLst>
              <a:ext uri="{FF2B5EF4-FFF2-40B4-BE49-F238E27FC236}">
                <a16:creationId xmlns:a16="http://schemas.microsoft.com/office/drawing/2014/main" xmlns="" id="{4B2FB3BC-CE83-64F4-5E62-539158963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904" y="4271072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71" name="Rectangle 43">
            <a:extLst>
              <a:ext uri="{FF2B5EF4-FFF2-40B4-BE49-F238E27FC236}">
                <a16:creationId xmlns:a16="http://schemas.microsoft.com/office/drawing/2014/main" xmlns="" id="{E31C7AAB-268F-62BD-9712-E4EC3AA5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507" y="4469559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72" name="모서리가 둥근 직사각형 366">
            <a:extLst>
              <a:ext uri="{FF2B5EF4-FFF2-40B4-BE49-F238E27FC236}">
                <a16:creationId xmlns:a16="http://schemas.microsoft.com/office/drawing/2014/main" xmlns="" id="{CE9F335A-0B69-677D-5350-5505AEA4D89A}"/>
              </a:ext>
            </a:extLst>
          </p:cNvPr>
          <p:cNvSpPr/>
          <p:nvPr/>
        </p:nvSpPr>
        <p:spPr>
          <a:xfrm>
            <a:off x="5432060" y="467899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기준관리</a:t>
            </a:r>
          </a:p>
        </p:txBody>
      </p:sp>
      <p:sp>
        <p:nvSpPr>
          <p:cNvPr id="273" name="모서리가 둥근 직사각형 367">
            <a:extLst>
              <a:ext uri="{FF2B5EF4-FFF2-40B4-BE49-F238E27FC236}">
                <a16:creationId xmlns:a16="http://schemas.microsoft.com/office/drawing/2014/main" xmlns="" id="{6DB33A85-9F2B-247E-0C32-7E8A6984AAF0}"/>
              </a:ext>
            </a:extLst>
          </p:cNvPr>
          <p:cNvSpPr/>
          <p:nvPr/>
        </p:nvSpPr>
        <p:spPr>
          <a:xfrm>
            <a:off x="6092658" y="467899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사업실적</a:t>
            </a:r>
          </a:p>
        </p:txBody>
      </p:sp>
      <p:sp>
        <p:nvSpPr>
          <p:cNvPr id="274" name="모서리가 둥근 직사각형 368">
            <a:extLst>
              <a:ext uri="{FF2B5EF4-FFF2-40B4-BE49-F238E27FC236}">
                <a16:creationId xmlns:a16="http://schemas.microsoft.com/office/drawing/2014/main" xmlns="" id="{544C6308-35F5-0814-F6DC-A9FFB9A3D5C2}"/>
              </a:ext>
            </a:extLst>
          </p:cNvPr>
          <p:cNvSpPr/>
          <p:nvPr/>
        </p:nvSpPr>
        <p:spPr>
          <a:xfrm>
            <a:off x="6753256" y="467899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사업이력</a:t>
            </a:r>
          </a:p>
        </p:txBody>
      </p:sp>
      <p:sp>
        <p:nvSpPr>
          <p:cNvPr id="275" name="모서리가 둥근 직사각형 369">
            <a:extLst>
              <a:ext uri="{FF2B5EF4-FFF2-40B4-BE49-F238E27FC236}">
                <a16:creationId xmlns:a16="http://schemas.microsoft.com/office/drawing/2014/main" xmlns="" id="{BFDDE91A-9C1E-0019-29F6-D6EAC9A5218E}"/>
              </a:ext>
            </a:extLst>
          </p:cNvPr>
          <p:cNvSpPr/>
          <p:nvPr/>
        </p:nvSpPr>
        <p:spPr>
          <a:xfrm>
            <a:off x="6750160" y="502410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업면허관리</a:t>
            </a:r>
          </a:p>
        </p:txBody>
      </p:sp>
      <p:sp>
        <p:nvSpPr>
          <p:cNvPr id="276" name="모서리가 둥근 직사각형 370">
            <a:extLst>
              <a:ext uri="{FF2B5EF4-FFF2-40B4-BE49-F238E27FC236}">
                <a16:creationId xmlns:a16="http://schemas.microsoft.com/office/drawing/2014/main" xmlns="" id="{F967A586-71B9-B452-2269-E25EC5182589}"/>
              </a:ext>
            </a:extLst>
          </p:cNvPr>
          <p:cNvSpPr/>
          <p:nvPr/>
        </p:nvSpPr>
        <p:spPr>
          <a:xfrm>
            <a:off x="5441113" y="503903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차량청소</a:t>
            </a:r>
          </a:p>
        </p:txBody>
      </p:sp>
      <p:sp>
        <p:nvSpPr>
          <p:cNvPr id="277" name="모서리가 둥근 직사각형 371">
            <a:extLst>
              <a:ext uri="{FF2B5EF4-FFF2-40B4-BE49-F238E27FC236}">
                <a16:creationId xmlns:a16="http://schemas.microsoft.com/office/drawing/2014/main" xmlns="" id="{D03A0859-7C03-9ED7-B015-BEDE4D0E4BFE}"/>
              </a:ext>
            </a:extLst>
          </p:cNvPr>
          <p:cNvSpPr/>
          <p:nvPr/>
        </p:nvSpPr>
        <p:spPr>
          <a:xfrm>
            <a:off x="6101711" y="503903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비품작업</a:t>
            </a:r>
          </a:p>
        </p:txBody>
      </p:sp>
      <p:pic>
        <p:nvPicPr>
          <p:cNvPr id="278" name="Picture 143" descr="arrow_4area">
            <a:extLst>
              <a:ext uri="{FF2B5EF4-FFF2-40B4-BE49-F238E27FC236}">
                <a16:creationId xmlns:a16="http://schemas.microsoft.com/office/drawing/2014/main" xmlns="" id="{5FF737DC-A313-E786-0787-B6FAA7BC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>
            <a:off x="1316336" y="4223138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9" name="Picture 143" descr="arrow_4area">
            <a:extLst>
              <a:ext uri="{FF2B5EF4-FFF2-40B4-BE49-F238E27FC236}">
                <a16:creationId xmlns:a16="http://schemas.microsoft.com/office/drawing/2014/main" xmlns="" id="{EF11B298-0E40-0894-8A6A-2092E79EA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 rot="10800000">
            <a:off x="1316336" y="4511517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8" name="Object 200">
            <a:extLst>
              <a:ext uri="{FF2B5EF4-FFF2-40B4-BE49-F238E27FC236}">
                <a16:creationId xmlns:a16="http://schemas.microsoft.com/office/drawing/2014/main" xmlns="" id="{42E66646-ADA2-1BF7-DC3B-DEC03ADA2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229660"/>
              </p:ext>
            </p:extLst>
          </p:nvPr>
        </p:nvGraphicFramePr>
        <p:xfrm>
          <a:off x="649772" y="5802894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" name="클립" r:id="rId18" imgW="5600700" imgH="3589338" progId="MS_ClipArt_Gallery.2">
                  <p:embed/>
                </p:oleObj>
              </mc:Choice>
              <mc:Fallback>
                <p:oleObj name="클립" r:id="rId18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72" y="5802894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꺾인 연결선 14"/>
          <p:cNvCxnSpPr>
            <a:endCxn id="8" idx="1"/>
          </p:cNvCxnSpPr>
          <p:nvPr/>
        </p:nvCxnSpPr>
        <p:spPr>
          <a:xfrm flipV="1">
            <a:off x="871857" y="4991406"/>
            <a:ext cx="1268083" cy="967254"/>
          </a:xfrm>
          <a:prstGeom prst="bentConnector3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203" descr="comp10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48" y="4742721"/>
            <a:ext cx="592622" cy="592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446055" y="5219834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mtClean="0"/>
              <a:t>RPA</a:t>
            </a:r>
            <a:endParaRPr lang="ko-KR" altLang="en-US" sz="1050" b="1" dirty="0" err="1" smtClean="0"/>
          </a:p>
        </p:txBody>
      </p:sp>
      <p:pic>
        <p:nvPicPr>
          <p:cNvPr id="112" name="Picture 217" descr="이동_ico_Bmp1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556" y="6053744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77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ank">
  <a:themeElements>
    <a:clrScheme name="사용자 지정 1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0F89B1-6918-4E93-BEE7-D22E1D86D6BD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E596667-FA45-4F74-9119-1A6024EAD1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A00E14-E36D-45A2-BDFD-A782D62A3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52576</TotalTime>
  <Words>13724</Words>
  <Application>Microsoft Office PowerPoint</Application>
  <PresentationFormat>A4 용지(210x297mm)</PresentationFormat>
  <Paragraphs>3001</Paragraphs>
  <Slides>50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50</vt:i4>
      </vt:variant>
    </vt:vector>
  </HeadingPairs>
  <TitlesOfParts>
    <vt:vector size="67" baseType="lpstr">
      <vt:lpstr>Arials</vt:lpstr>
      <vt:lpstr>HY강B</vt:lpstr>
      <vt:lpstr>HY견고딕</vt:lpstr>
      <vt:lpstr>HY울릉도M</vt:lpstr>
      <vt:lpstr>HY헤드라인M</vt:lpstr>
      <vt:lpstr>굴림</vt:lpstr>
      <vt:lpstr>나눔고딕</vt:lpstr>
      <vt:lpstr>맑은 고딕</vt:lpstr>
      <vt:lpstr>-윤고딕140</vt:lpstr>
      <vt:lpstr>Arial</vt:lpstr>
      <vt:lpstr>Arial Black</vt:lpstr>
      <vt:lpstr>Franklin Gothic Medium</vt:lpstr>
      <vt:lpstr>Times New Roman</vt:lpstr>
      <vt:lpstr>Wingdings</vt:lpstr>
      <vt:lpstr>1_blank</vt:lpstr>
      <vt:lpstr>클립</vt:lpstr>
      <vt:lpstr>Image</vt:lpstr>
      <vt:lpstr>PowerPoint 프레젠테이션</vt:lpstr>
      <vt:lpstr>1.1 방향성 수립 개요  </vt:lpstr>
      <vt:lpstr>PowerPoint 프레젠테이션</vt:lpstr>
      <vt:lpstr>2.1 수행절차 및 방안 정의</vt:lpstr>
      <vt:lpstr>2.2 시스템 운영환경 분석 2.2.1 시스템 운영환경 분석 개요</vt:lpstr>
      <vt:lpstr>2.3 시스템 업무기능 분석 2.3.1 시스템 업무기능 분석 개요</vt:lpstr>
      <vt:lpstr>2.3.2 현행 기능 분석 2.3.2.1 현행 업무 구성도</vt:lpstr>
      <vt:lpstr>2.3.2 현행 기능 분석 2.3.2.2 업무별 기능 분석(1/4)</vt:lpstr>
      <vt:lpstr>2.3.2 현행 기능 분석 2.3.2.2 업무별 기능 분석(2/4)</vt:lpstr>
      <vt:lpstr>2.3.2 현행 기능 분석 2.3.2.2 업무별 기능 분석(3/4)</vt:lpstr>
      <vt:lpstr>2.3.2 현행 기능 분석 2.3.2.2 업무별 기능 분석(4/4)</vt:lpstr>
      <vt:lpstr>2.3.2 현행 기능 분석 2.3.2.3 업무별 문제점 분석(1/6)</vt:lpstr>
      <vt:lpstr>2.3.2 현행 기능 분석 2.3.2.3 업무별 문제점 분석(2/6)</vt:lpstr>
      <vt:lpstr>2.3.2 현행 기능 분석 2.3.2.3 업무별 문제점 분석(3/6)</vt:lpstr>
      <vt:lpstr>2.3.2 현행 기능 분석 2.3.2.3 업무별 문제점 분석(4/6)</vt:lpstr>
      <vt:lpstr>2.3.2 현행 기능 분석 2.3.2.3 업무별 문제점 분석(5/6)</vt:lpstr>
      <vt:lpstr>2.3.2 현행 기능 분석 2.3.2.3 업무별 문제점 분석(6/6)</vt:lpstr>
      <vt:lpstr>2.3.3 DATABASE/DATA 분석 2.3.3.1 DATABASE/DATA 분석 개요</vt:lpstr>
      <vt:lpstr>2.3.3 DATABASE/DATA 분석 2.3.3.2 DATABASE/DATA 분석 내역</vt:lpstr>
      <vt:lpstr>2.3.4 업무 운용성 분석 2.3.4.1 업무 운용성 분석 개요</vt:lpstr>
      <vt:lpstr>2.3.5 이해관계자 인터뷰 2.3.5.1 이해관계자 인터뷰 개요</vt:lpstr>
      <vt:lpstr>2.3.5 이해관계자 인터뷰 2.3.5.2 이해관계자 요구 분석</vt:lpstr>
      <vt:lpstr>2.3.5 이해관계자 인터뷰 2.3.5.3 이해관계자 인터뷰 결과분석</vt:lpstr>
      <vt:lpstr>2.3.5 이해관계자 인터뷰 2.3.5.4 이해관계자 인터뷰 결과(1/6)</vt:lpstr>
      <vt:lpstr>2.3.5 이해관계자 인터뷰 2.3.5.4 이해관계자 인터뷰 결과(2/6)</vt:lpstr>
      <vt:lpstr>2.3.5 이해관계자 인터뷰 2.3.5.4 이해관계자 인터뷰 결과(3/6)</vt:lpstr>
      <vt:lpstr>2.3.5 이해관계자 인터뷰 2.3.5.4 이해관계자 인터뷰 결과(4/6)</vt:lpstr>
      <vt:lpstr>2.3.5 이해관계자 인터뷰 2.3.5.4 이해관계자 인터뷰 결과(5/6)</vt:lpstr>
      <vt:lpstr>2.3.5 이해관계자 인터뷰 2.3.5.4 이해관계자 인터뷰 결과(6/6)</vt:lpstr>
      <vt:lpstr>2.3.5 이해관계자 인터뷰 2.3.5.5 이해관계자 인터뷰 결과 통계(1/2)</vt:lpstr>
      <vt:lpstr>2.3.5 이해관계자 인터뷰 2.3.5.5 이해관계자 인터뷰 결과 통계(2/2)</vt:lpstr>
      <vt:lpstr>2.4 최신 정보기술 동향 분석 2.4.1 최신 정보기술 동향 분석 개요</vt:lpstr>
      <vt:lpstr>2.4.2 최신 정보기술  2.4.2.1 기술 트랜드 분석 (1/2)</vt:lpstr>
      <vt:lpstr>2.4.2 최신 정보기술 2.4.2.1 기술 트랜드 분석 (2/2)</vt:lpstr>
      <vt:lpstr>2.4.2 최신 정보기술  2.4.2.2 사업 연관 정보기술 </vt:lpstr>
      <vt:lpstr>2.4 최신 정보기술 동향 분석 2.4.3 기술적용 가능성 분석  </vt:lpstr>
      <vt:lpstr>2.4 최신 정보기술 동향 분석 2.4.4 적용가능 기술(1/6)  </vt:lpstr>
      <vt:lpstr>2.4 최신 정보기술 동향 분석 2.4.4 적용가능 기술(2/6) </vt:lpstr>
      <vt:lpstr>2.4 최신 정보기술 동향 분석 2.4.4 적용가능 기술(3/6)  </vt:lpstr>
      <vt:lpstr>2.4 최신 정보기술 동향 분석 2.4.4 적용가능 기술(4/6) </vt:lpstr>
      <vt:lpstr>2.4 최신 정보기술 동향 분석 2.4.4 적용가능 기술(5/6) </vt:lpstr>
      <vt:lpstr>2.4 최신 정보기술 동향 분석 2.4.4 적용가능 기술(6/6) </vt:lpstr>
      <vt:lpstr>2.5 환경분석 결과 종합 2.5.1 시스템 환경 분석 결과</vt:lpstr>
      <vt:lpstr>2.5 환경분석 결과 종합 2.5.2 시스템 업무기능 분석 결과  </vt:lpstr>
      <vt:lpstr>2.5 환경분석 결과 종합 2.5.3 최신 기술동향 분석 결과  </vt:lpstr>
      <vt:lpstr>PowerPoint 프레젠테이션</vt:lpstr>
      <vt:lpstr>3.1 수행절차 및 방안 정의</vt:lpstr>
      <vt:lpstr>3.2 분석결과 종합 </vt:lpstr>
      <vt:lpstr>3.3 추진방향 도출 </vt:lpstr>
      <vt:lpstr>3.4 추진범위 정의 </vt:lpstr>
    </vt:vector>
  </TitlesOfParts>
  <Company>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R2SOFT</cp:lastModifiedBy>
  <cp:revision>1965</cp:revision>
  <cp:lastPrinted>2018-08-28T02:04:36Z</cp:lastPrinted>
  <dcterms:created xsi:type="dcterms:W3CDTF">2013-11-13T01:08:07Z</dcterms:created>
  <dcterms:modified xsi:type="dcterms:W3CDTF">2024-11-05T02:24:22Z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D5CDD505-2E9C-101B-9397-08002B2CF9AE}" pid="3" name="DeliveryID">
    <vt:lpwstr>244b6fc4-4b4e-4117-b7bb-efd330097824</vt:lpwstr>
  </property>
  <property fmtid="{D5CDD505-2E9C-101B-9397-08002B2CF9AE}" pid="4" name="NSCPROP_SA">
    <vt:lpwstr>D:\블록체인\템플릿예시_PowerPoint.pptx</vt:lpwstr>
  </property>
  <property fmtid="{5C58129F-E5B8-477A-9B38-B3E54BFA04C8}" pid="2">
    <vt:lpwstr>EA5DF722F2DDC2B5142607E7171F90C7D4A6F050E5311B308FB269B1E25EFBC7</vt:lpwstr>
  </property>
</Properties>
</file>