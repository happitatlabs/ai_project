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90" userDrawn="1">
          <p15:clr>
            <a:srgbClr val="A4A3A4"/>
          </p15:clr>
        </p15:guide>
        <p15:guide id="4" pos="5647" userDrawn="1">
          <p15:clr>
            <a:srgbClr val="A4A3A4"/>
          </p15:clr>
        </p15:guide>
        <p15:guide id="5" orient="horz" pos="368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6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90" y="510"/>
      </p:cViewPr>
      <p:guideLst>
        <p:guide orient="horz" pos="2183"/>
        <p:guide pos="2880"/>
        <p:guide pos="90"/>
        <p:guide pos="5647"/>
        <p:guide orient="horz" pos="368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26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77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69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8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8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11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53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12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74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4F964-E37E-4FAC-B75D-DD4EC28C6A85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7C0DE-6184-42B3-8DA6-C4A09796F6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12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305422"/>
              </p:ext>
            </p:extLst>
          </p:nvPr>
        </p:nvGraphicFramePr>
        <p:xfrm>
          <a:off x="155279" y="584981"/>
          <a:ext cx="8816195" cy="5691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3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21772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1544128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80500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68927"/>
                <a:gridCol w="2473036"/>
                <a:gridCol w="2258947"/>
              </a:tblGrid>
              <a:tr h="424947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 분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</a:t>
                      </a:r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 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소요비용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수행기간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장점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단점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6701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전면적인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재구축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프로그램 개발 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 UI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 교체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 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시스템 재구축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    19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억원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13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전체 시스템의 표준화로 향후 시스템 개선 및 유지보수에 용이함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초기 개발비용 부담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17173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일부업무 단계적구축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프로그램 개발 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 UI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 교체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사업관리 시스템 재구축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초기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6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억원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①단계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7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억원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②단계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3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억원 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③단계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5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억원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7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4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5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1)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개발 대상 업무를 우선순위에 따라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단계적으로 구분하여 구축함으로써  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비용 집행을 분산할 수 있음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◆ 단계별 구축 방안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(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예시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①단계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–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회계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자산 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②단계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-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구매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사업관리 등 단계별 구축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 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③단계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–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추가 예산을 편성하여 구축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개발 </a:t>
                      </a:r>
                      <a:r>
                        <a:rPr lang="en-US" altLang="ko-KR" sz="1000" smtClean="0"/>
                        <a:t>TOOL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도입 및 표준화에 소요되는  </a:t>
                      </a:r>
                      <a:r>
                        <a:rPr lang="ko-KR" altLang="en-US" sz="1000" smtClean="0"/>
                        <a:t>초기 비용은 동일하게 투입되나</a:t>
                      </a:r>
                      <a:r>
                        <a:rPr lang="en-US" altLang="ko-KR" sz="1000" smtClean="0"/>
                        <a:t>, DATABASE</a:t>
                      </a:r>
                      <a:r>
                        <a:rPr lang="ko-KR" altLang="en-US" sz="1000" baseline="0" smtClean="0"/>
                        <a:t>의 표준화 및 개발 비용은 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aseline="0" smtClean="0"/>
                        <a:t>약간 증가함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업무간 연동부분은 구축 차수별로 재구축해야 하는 부담이 있음</a:t>
                      </a:r>
                      <a:r>
                        <a:rPr lang="en-US" altLang="ko-KR" sz="1000" smtClean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38199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패키지 도입</a:t>
                      </a:r>
                      <a:endParaRPr lang="ko-KR" altLang="en-US" sz="1000" b="1" kern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공공기관 패키지 도입 후 코레일테크 커스터마이징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패키지별로 상이함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패키지별로 상이함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패키지별로 검토 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코레일테크에 필요한 요구사항 협의 후 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개선범위를 협의 후 도입하는 형태이며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비교적 단기간에 적용할 수 있음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코레일테크 업무에 맞는 유형이 아니고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 패키지에 업무를 맞추어서 운영하는 형태이고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향후 변경이 용이하지 않으므로  장기적으로는 사용이 불편함</a:t>
                      </a:r>
                      <a:r>
                        <a:rPr lang="en-US" altLang="ko-KR" sz="1000" smtClean="0"/>
                        <a:t> 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6256" y="173304"/>
            <a:ext cx="3805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코레일테크 시스템구축 방안 비교표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142875" y="6329507"/>
            <a:ext cx="2680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latin typeface="+mn-ea"/>
              </a:rPr>
              <a:t>※ </a:t>
            </a:r>
            <a:r>
              <a:rPr lang="ko-KR" altLang="en-US" sz="1200" smtClean="0">
                <a:latin typeface="+mn-ea"/>
              </a:rPr>
              <a:t>비용은 개략적으로 산정한 금액임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580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881884"/>
              </p:ext>
            </p:extLst>
          </p:nvPr>
        </p:nvGraphicFramePr>
        <p:xfrm>
          <a:off x="155279" y="584982"/>
          <a:ext cx="8816195" cy="582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3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21772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1544128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21307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91705"/>
                <a:gridCol w="491706"/>
                <a:gridCol w="1397479"/>
                <a:gridCol w="828136"/>
                <a:gridCol w="966161"/>
              </a:tblGrid>
              <a:tr h="0"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 분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</a:t>
                      </a:r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방법 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시기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 금액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산출 내역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금액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rowSpan="9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전면적인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재구축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프로그램 개발 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 UI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 교체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 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시스템 재구축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UI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및 </a:t>
                      </a:r>
                      <a:r>
                        <a:rPr lang="ko-KR" altLang="en-US" sz="1000" smtClean="0"/>
                        <a:t>프로그램 개발 </a:t>
                      </a:r>
                      <a:r>
                        <a:rPr lang="en-US" altLang="ko-KR" sz="1000" smtClean="0"/>
                        <a:t>AI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도입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UI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</a:t>
                      </a:r>
                      <a:r>
                        <a:rPr lang="en-US" altLang="ko-KR" sz="1000" smtClean="0"/>
                        <a:t>NEXA </a:t>
                      </a:r>
                      <a:r>
                        <a:rPr lang="ko-KR" altLang="en-US" sz="1000" smtClean="0"/>
                        <a:t>도입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250,000,000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환경 구축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2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프로그램 개발 </a:t>
                      </a:r>
                      <a:r>
                        <a:rPr lang="en-US" altLang="ko-KR" sz="1000" smtClean="0"/>
                        <a:t>AI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</a:t>
                      </a:r>
                      <a:r>
                        <a:rPr lang="en-US" altLang="ko-KR" sz="1000" baseline="0" smtClean="0"/>
                        <a:t> 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smtClean="0"/>
                        <a:t>   </a:t>
                      </a:r>
                      <a:r>
                        <a:rPr lang="en-US" altLang="ko-KR" sz="1000" baseline="0" smtClean="0"/>
                        <a:t>(</a:t>
                      </a:r>
                      <a:r>
                        <a:rPr lang="ko-KR" altLang="en-US" sz="1000" baseline="0" smtClean="0"/>
                        <a:t>초기 설치비 포함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300,000,000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표준화 작업</a:t>
                      </a:r>
                      <a:r>
                        <a:rPr lang="en-US" altLang="ko-KR" sz="1000" smtClean="0"/>
                        <a:t>(DATABASE, </a:t>
                      </a:r>
                      <a:r>
                        <a:rPr lang="ko-KR" altLang="en-US" sz="1000" baseline="0" smtClean="0"/>
                        <a:t>화면 표준</a:t>
                      </a:r>
                      <a:r>
                        <a:rPr lang="en-US" altLang="ko-KR" sz="1000" baseline="0" smtClean="0"/>
                        <a:t>)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UI,</a:t>
                      </a:r>
                      <a:r>
                        <a:rPr lang="en-US" altLang="ko-KR" sz="1000" baseline="0" smtClean="0"/>
                        <a:t> DB, AI </a:t>
                      </a:r>
                      <a:r>
                        <a:rPr lang="ko-KR" altLang="en-US" sz="1000" baseline="0" smtClean="0"/>
                        <a:t>전문가 </a:t>
                      </a:r>
                      <a:r>
                        <a:rPr lang="en-US" altLang="ko-KR" sz="1000" baseline="0" smtClean="0"/>
                        <a:t>3</a:t>
                      </a:r>
                      <a:r>
                        <a:rPr lang="ko-KR" altLang="en-US" sz="1000" baseline="0" smtClean="0"/>
                        <a:t>명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smtClean="0"/>
                        <a:t>디자이너 </a:t>
                      </a:r>
                      <a:r>
                        <a:rPr lang="en-US" altLang="ko-KR" sz="1000" baseline="0" smtClean="0"/>
                        <a:t>1</a:t>
                      </a:r>
                      <a:r>
                        <a:rPr lang="ko-KR" altLang="en-US" sz="1000" baseline="0" smtClean="0"/>
                        <a:t>명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15,000,000</a:t>
                      </a:r>
                      <a:r>
                        <a:rPr lang="en-US" altLang="ko-KR" sz="1000" baseline="0" smtClean="0"/>
                        <a:t> * 3 M/M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  8,000,000 * 1</a:t>
                      </a:r>
                      <a:r>
                        <a:rPr lang="ko-KR" altLang="en-US" sz="1000" baseline="0" smtClean="0"/>
                        <a:t> </a:t>
                      </a:r>
                      <a:r>
                        <a:rPr lang="en-US" altLang="ko-KR" sz="1000" baseline="0" smtClean="0"/>
                        <a:t>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63,000,000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업무별 설계 </a:t>
                      </a:r>
                      <a:r>
                        <a:rPr lang="en-US" altLang="ko-KR" sz="1000" smtClean="0"/>
                        <a:t>(7</a:t>
                      </a:r>
                      <a:r>
                        <a:rPr lang="ko-KR" altLang="en-US" sz="1000" smtClean="0"/>
                        <a:t>개 업무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급여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M+2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10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PM(</a:t>
                      </a:r>
                      <a:r>
                        <a:rPr lang="ko-KR" altLang="en-US" sz="1000" smtClean="0"/>
                        <a:t>책임자</a:t>
                      </a:r>
                      <a:r>
                        <a:rPr lang="en-US" altLang="ko-KR" sz="1000" smtClean="0"/>
                        <a:t>) 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*10,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   10,000,000 *</a:t>
                      </a:r>
                      <a:r>
                        <a:rPr lang="en-US" altLang="ko-KR" sz="1000" baseline="0" smtClean="0"/>
                        <a:t> 10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100,000,000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업무별 구축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UI</a:t>
                      </a:r>
                      <a:r>
                        <a:rPr lang="ko-KR" altLang="en-US" sz="1000" smtClean="0"/>
                        <a:t>전문가     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*3,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   15,000,000 *</a:t>
                      </a:r>
                      <a:r>
                        <a:rPr lang="en-US" altLang="ko-KR" sz="1000" baseline="0" smtClean="0"/>
                        <a:t> 3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45,000,000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DB</a:t>
                      </a:r>
                      <a:r>
                        <a:rPr lang="ko-KR" altLang="en-US" sz="1000" smtClean="0"/>
                        <a:t>전문가    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*10,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  10,000,000 *</a:t>
                      </a:r>
                      <a:r>
                        <a:rPr lang="en-US" altLang="ko-KR" sz="1000" baseline="0" smtClean="0"/>
                        <a:t> 10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100,000,000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S/W </a:t>
                      </a:r>
                      <a:r>
                        <a:rPr lang="ko-KR" altLang="en-US" sz="1000" baseline="0" smtClean="0"/>
                        <a:t>개발자  </a:t>
                      </a:r>
                      <a:r>
                        <a:rPr lang="en-US" altLang="ko-KR" sz="1000" baseline="0" smtClean="0"/>
                        <a:t>12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*10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  8,000,000 *</a:t>
                      </a:r>
                      <a:r>
                        <a:rPr lang="en-US" altLang="ko-KR" sz="1000" baseline="0" smtClean="0"/>
                        <a:t> 12*10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960,000,000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5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4) </a:t>
                      </a:r>
                      <a:r>
                        <a:rPr lang="ko-KR" altLang="en-US" sz="1000" smtClean="0"/>
                        <a:t>초기 운영지원</a:t>
                      </a:r>
                      <a:r>
                        <a:rPr lang="en-US" altLang="ko-KR" sz="1000" smtClean="0"/>
                        <a:t>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M+11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smtClean="0"/>
                        <a:t>개발자 </a:t>
                      </a:r>
                      <a:r>
                        <a:rPr lang="en-US" altLang="ko-KR" sz="1000" baseline="0" smtClean="0"/>
                        <a:t>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8,000,000 *</a:t>
                      </a:r>
                      <a:r>
                        <a:rPr lang="en-US" altLang="ko-KR" sz="1000" baseline="0" smtClean="0"/>
                        <a:t> 10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80,000,000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운영지원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5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합  계</a:t>
                      </a: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/>
                        <a:t>1,858,000,000</a:t>
                      </a: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rowSpan="4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일부업무 단계적구축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프로그램 개발 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 UI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툴 교체</a:t>
                      </a:r>
                      <a:endParaRPr kumimoji="0" lang="en-US" altLang="ko-KR" sz="1000" b="1" kern="1200" baseline="0" noProof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사업관리 시스템 재구축</a:t>
                      </a:r>
                      <a:r>
                        <a:rPr kumimoji="0" lang="en-US" altLang="ko-KR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UI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</a:t>
                      </a:r>
                      <a:r>
                        <a:rPr lang="ko-KR" altLang="en-US" sz="1000" baseline="0" smtClean="0"/>
                        <a:t>교체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smtClean="0"/>
                        <a:t>표준화 작업</a:t>
                      </a:r>
                      <a:r>
                        <a:rPr lang="en-US" altLang="ko-KR" sz="1000" smtClean="0"/>
                        <a:t>,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AI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툴 도입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UI, AI, </a:t>
                      </a:r>
                      <a:r>
                        <a:rPr lang="ko-KR" altLang="en-US" sz="1000" smtClean="0"/>
                        <a:t>표준화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작업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613,000,000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환경구축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</a:t>
                      </a:r>
                      <a:r>
                        <a:rPr lang="en-US" altLang="ko-KR" sz="1000" smtClean="0"/>
                        <a:t>) </a:t>
                      </a:r>
                      <a:r>
                        <a:rPr lang="ko-KR" altLang="en-US" sz="1000" smtClean="0"/>
                        <a:t>업무별 설계 </a:t>
                      </a:r>
                      <a:r>
                        <a:rPr lang="en-US" altLang="ko-KR" sz="1000" smtClean="0"/>
                        <a:t>(5</a:t>
                      </a:r>
                      <a:r>
                        <a:rPr lang="ko-KR" altLang="en-US" sz="1000" smtClean="0"/>
                        <a:t>개 업무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kumimoji="0" lang="en-US" altLang="ko-KR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kern="1200" baseline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M+0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10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PM(</a:t>
                      </a:r>
                      <a:r>
                        <a:rPr lang="ko-KR" altLang="en-US" sz="1000" smtClean="0"/>
                        <a:t>책임자</a:t>
                      </a:r>
                      <a:r>
                        <a:rPr lang="en-US" altLang="ko-KR" sz="1000" smtClean="0"/>
                        <a:t>) 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*10,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PM(</a:t>
                      </a:r>
                      <a:r>
                        <a:rPr lang="ko-KR" altLang="en-US" sz="1000" smtClean="0"/>
                        <a:t>책임자</a:t>
                      </a:r>
                      <a:r>
                        <a:rPr lang="en-US" altLang="ko-KR" sz="1000" smtClean="0"/>
                        <a:t>) 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*10,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DB</a:t>
                      </a:r>
                      <a:r>
                        <a:rPr lang="ko-KR" altLang="en-US" sz="1000" smtClean="0"/>
                        <a:t>전문가     </a:t>
                      </a:r>
                      <a:r>
                        <a:rPr lang="en-US" altLang="ko-KR" sz="1000" smtClean="0"/>
                        <a:t>1</a:t>
                      </a:r>
                      <a:r>
                        <a:rPr lang="ko-KR" altLang="en-US" sz="1000" smtClean="0"/>
                        <a:t>명</a:t>
                      </a:r>
                      <a:r>
                        <a:rPr lang="en-US" altLang="ko-KR" sz="1000" smtClean="0"/>
                        <a:t>*10,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S/W </a:t>
                      </a:r>
                      <a:r>
                        <a:rPr lang="ko-KR" altLang="en-US" sz="1000" baseline="0" smtClean="0"/>
                        <a:t>개발자  </a:t>
                      </a:r>
                      <a:r>
                        <a:rPr lang="en-US" altLang="ko-KR" sz="1000" baseline="0" smtClean="0"/>
                        <a:t>8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*10 </a:t>
                      </a:r>
                      <a:endParaRPr lang="en-US" altLang="ko-KR" sz="1000" baseline="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885,000,000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업무별 구축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(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업무별로 개발 가능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5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4) </a:t>
                      </a:r>
                      <a:r>
                        <a:rPr lang="ko-KR" altLang="en-US" sz="1000" smtClean="0"/>
                        <a:t>초기 운영지원</a:t>
                      </a:r>
                      <a:r>
                        <a:rPr lang="en-US" altLang="ko-KR" sz="1000" smtClean="0"/>
                        <a:t>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M+11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개월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smtClean="0"/>
                        <a:t>개발자 </a:t>
                      </a:r>
                      <a:r>
                        <a:rPr lang="en-US" altLang="ko-KR" sz="1000" baseline="0" smtClean="0"/>
                        <a:t>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8,000,000 *</a:t>
                      </a:r>
                      <a:r>
                        <a:rPr lang="en-US" altLang="ko-KR" sz="1000" baseline="0" smtClean="0"/>
                        <a:t> 5 M/M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40,000,000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운영지원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5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합  계</a:t>
                      </a: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/>
                        <a:t>1,538,000,000</a:t>
                      </a: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패키지 도입</a:t>
                      </a:r>
                      <a:endParaRPr lang="ko-KR" altLang="en-US" sz="1000" b="1" kern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공공기관 패키지 도입 후 코레일테크 커스터마이징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패키지 도입비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미상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94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커스터마이징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미상</a:t>
                      </a:r>
                      <a:endParaRPr lang="en-US" altLang="ko-KR" sz="1000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합  계</a:t>
                      </a: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1" smtClean="0"/>
                        <a:t>미상</a:t>
                      </a:r>
                      <a:endParaRPr lang="en-US" altLang="ko-KR" sz="1000" b="1" smtClean="0"/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6256" y="173304"/>
            <a:ext cx="414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코레일테크 시스템구축 비용 산출내역</a:t>
            </a:r>
            <a:endParaRPr lang="ko-KR" altLang="en-US" b="1"/>
          </a:p>
        </p:txBody>
      </p:sp>
      <p:sp>
        <p:nvSpPr>
          <p:cNvPr id="6" name="TextBox 5"/>
          <p:cNvSpPr txBox="1"/>
          <p:nvPr/>
        </p:nvSpPr>
        <p:spPr>
          <a:xfrm>
            <a:off x="142875" y="6412635"/>
            <a:ext cx="2680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>
                <a:latin typeface="+mn-ea"/>
              </a:rPr>
              <a:t>※ </a:t>
            </a:r>
            <a:r>
              <a:rPr lang="ko-KR" altLang="en-US" sz="1200" smtClean="0">
                <a:latin typeface="+mn-ea"/>
              </a:rPr>
              <a:t>비용은 개략적으로 산정한 금액임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5717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634</Words>
  <Application>Microsoft Office PowerPoint</Application>
  <PresentationFormat>화면 슬라이드 쇼(4:3)</PresentationFormat>
  <Paragraphs>164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R2SOFT</dc:creator>
  <cp:lastModifiedBy>R2SOFT</cp:lastModifiedBy>
  <cp:revision>3</cp:revision>
  <dcterms:created xsi:type="dcterms:W3CDTF">2025-01-19T13:45:06Z</dcterms:created>
  <dcterms:modified xsi:type="dcterms:W3CDTF">2025-01-19T16:12:23Z</dcterms:modified>
</cp:coreProperties>
</file>