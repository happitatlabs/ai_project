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"/>
  </p:notesMasterIdLst>
  <p:sldIdLst>
    <p:sldId id="256" r:id="rId3"/>
    <p:sldId id="257" r:id="rId4"/>
    <p:sldId id="258" r:id="rId5"/>
  </p:sldIdLst>
  <p:sldSz cx="9906000" cy="6858000" type="A4"/>
  <p:notesSz cx="6811963" cy="99425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8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70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Franklin Gothic Medium"/>
              </a:rPr>
              <a:t>Click to move the slide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바탕"/>
              </a:rPr>
              <a:t>&lt;header&gt;</a:t>
            </a:r>
          </a:p>
        </p:txBody>
      </p:sp>
      <p:sp>
        <p:nvSpPr>
          <p:cNvPr id="9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defRPr lang="en-US" sz="1400" b="0" strike="noStrike" spc="-1">
                <a:latin typeface="바탕"/>
              </a:defRPr>
            </a:lvl1pPr>
          </a:lstStyle>
          <a:p>
            <a:pPr algn="r"/>
            <a:r>
              <a:rPr lang="en-US" sz="1400" b="0" strike="noStrike" spc="-1">
                <a:latin typeface="바탕"/>
              </a:rPr>
              <a:t>&lt;date/time&gt;</a:t>
            </a:r>
          </a:p>
        </p:txBody>
      </p:sp>
      <p:sp>
        <p:nvSpPr>
          <p:cNvPr id="9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바탕"/>
              </a:defRPr>
            </a:lvl1pPr>
          </a:lstStyle>
          <a:p>
            <a:r>
              <a:rPr lang="en-US" sz="1400" b="0" strike="noStrike" spc="-1">
                <a:latin typeface="바탕"/>
              </a:rPr>
              <a:t>&lt;footer&gt;</a:t>
            </a:r>
          </a:p>
        </p:txBody>
      </p:sp>
      <p:sp>
        <p:nvSpPr>
          <p:cNvPr id="9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defRPr lang="en-US" sz="1400" b="0" strike="noStrike" spc="-1">
                <a:latin typeface="바탕"/>
              </a:defRPr>
            </a:lvl1pPr>
          </a:lstStyle>
          <a:p>
            <a:pPr algn="r"/>
            <a:fld id="{086E7D80-481B-41A9-85B1-DE548296C0B0}" type="slidenum">
              <a:rPr lang="en-US" sz="1400" b="0" strike="noStrike" spc="-1">
                <a:latin typeface="바탕"/>
              </a:rPr>
              <a:t>‹#›</a:t>
            </a:fld>
            <a:endParaRPr lang="en-US" sz="1400" b="0" strike="noStrike" spc="-1"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85989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7075" y="752475"/>
            <a:ext cx="5364163" cy="3713163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909360" y="4720680"/>
            <a:ext cx="4992840" cy="4475160"/>
          </a:xfrm>
          <a:prstGeom prst="rect">
            <a:avLst/>
          </a:prstGeom>
          <a:noFill/>
          <a:ln w="9360">
            <a:noFill/>
          </a:ln>
        </p:spPr>
        <p:txBody>
          <a:bodyPr lIns="92880" tIns="46440" rIns="92880" bIns="46440" numCol="1" spcCol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4"/>
          </p:nvPr>
        </p:nvSpPr>
        <p:spPr>
          <a:xfrm>
            <a:off x="3862440" y="9446040"/>
            <a:ext cx="2949480" cy="496080"/>
          </a:xfrm>
          <a:prstGeom prst="rect">
            <a:avLst/>
          </a:prstGeom>
          <a:noFill/>
          <a:ln w="9360">
            <a:noFill/>
          </a:ln>
        </p:spPr>
        <p:txBody>
          <a:bodyPr lIns="19080" tIns="0" rIns="19080" bIns="0" numCol="1" spcCol="0" anchor="b">
            <a:noAutofit/>
          </a:bodyPr>
          <a:lstStyle>
            <a:lvl1pPr algn="r">
              <a:lnSpc>
                <a:spcPct val="100000"/>
              </a:lnSpc>
              <a:defRPr lang="en-US" sz="1000" b="0" i="1" strike="noStrike" spc="-1">
                <a:solidFill>
                  <a:srgbClr val="000000"/>
                </a:solidFill>
                <a:latin typeface="굴림"/>
                <a:ea typeface="가는각진제목체"/>
              </a:defRPr>
            </a:lvl1pPr>
          </a:lstStyle>
          <a:p>
            <a:pPr algn="r">
              <a:lnSpc>
                <a:spcPct val="100000"/>
              </a:lnSpc>
            </a:pPr>
            <a:fld id="{2756C3B7-3715-4410-96C9-5C70CDA88989}" type="slidenum">
              <a:rPr lang="en-US" sz="1000" b="0" i="1" strike="noStrike" spc="-1">
                <a:solidFill>
                  <a:srgbClr val="000000"/>
                </a:solidFill>
                <a:latin typeface="굴림"/>
                <a:ea typeface="가는각진제목체"/>
              </a:rPr>
              <a:t>1</a:t>
            </a:fld>
            <a:endParaRPr lang="en-US" sz="1000" b="0" strike="noStrike" spc="-1"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81874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 Banner Title"/>
          <p:cNvSpPr/>
          <p:nvPr/>
        </p:nvSpPr>
        <p:spPr>
          <a:xfrm>
            <a:off x="272880" y="1413000"/>
            <a:ext cx="9359640" cy="3600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Line 12"/>
          <p:cNvSpPr/>
          <p:nvPr/>
        </p:nvSpPr>
        <p:spPr>
          <a:xfrm>
            <a:off x="200880" y="714240"/>
            <a:ext cx="9504000" cy="360"/>
          </a:xfrm>
          <a:prstGeom prst="line">
            <a:avLst/>
          </a:prstGeom>
          <a:ln w="190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" name="AcnStamp_ID_10" hidden="1"/>
          <p:cNvSpPr/>
          <p:nvPr/>
        </p:nvSpPr>
        <p:spPr>
          <a:xfrm>
            <a:off x="8926200" y="1517760"/>
            <a:ext cx="1414080" cy="264600"/>
          </a:xfrm>
          <a:prstGeom prst="leftRightArrow">
            <a:avLst>
              <a:gd name="adj1" fmla="val 0"/>
              <a:gd name="adj2" fmla="val 0"/>
            </a:avLst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25560" rIns="0" bIns="25560" anchor="t">
            <a:spAutoFit/>
          </a:bodyPr>
          <a:lstStyle/>
          <a:p>
            <a:pPr marL="85680" indent="-85680" algn="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Franklin Gothic Medium"/>
                <a:ea typeface="산돌고딕 M"/>
              </a:rPr>
              <a:t>MASTER STAMP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" name="AcnStpConnector_ID_11" hidden="1"/>
          <p:cNvSpPr/>
          <p:nvPr/>
        </p:nvSpPr>
        <p:spPr>
          <a:xfrm rot="5400000" flipH="1" flipV="1">
            <a:off x="9632880" y="1517040"/>
            <a:ext cx="108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AcnStpConnector_ID_12" hidden="1"/>
          <p:cNvSpPr/>
          <p:nvPr/>
        </p:nvSpPr>
        <p:spPr>
          <a:xfrm rot="5400000">
            <a:off x="9633600" y="1517760"/>
            <a:ext cx="108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Franklin Gothic Medium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맑은 고딕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맑은 고딕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AC Banner Title" hidden="1"/>
          <p:cNvSpPr/>
          <p:nvPr/>
        </p:nvSpPr>
        <p:spPr>
          <a:xfrm>
            <a:off x="272880" y="1413000"/>
            <a:ext cx="9359640" cy="3600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Line 12"/>
          <p:cNvSpPr/>
          <p:nvPr/>
        </p:nvSpPr>
        <p:spPr>
          <a:xfrm>
            <a:off x="200880" y="714240"/>
            <a:ext cx="9504000" cy="360"/>
          </a:xfrm>
          <a:prstGeom prst="line">
            <a:avLst/>
          </a:prstGeom>
          <a:ln w="190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5" name="AcnStamp_ID_10" hidden="1"/>
          <p:cNvSpPr/>
          <p:nvPr/>
        </p:nvSpPr>
        <p:spPr>
          <a:xfrm>
            <a:off x="8926200" y="1517760"/>
            <a:ext cx="1414080" cy="264600"/>
          </a:xfrm>
          <a:prstGeom prst="leftRightArrow">
            <a:avLst>
              <a:gd name="adj1" fmla="val 0"/>
              <a:gd name="adj2" fmla="val 0"/>
            </a:avLst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25560" rIns="0" bIns="25560" anchor="t">
            <a:spAutoFit/>
          </a:bodyPr>
          <a:lstStyle/>
          <a:p>
            <a:pPr marL="85680" indent="-85680" algn="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Franklin Gothic Medium"/>
                <a:ea typeface="산돌고딕 M"/>
              </a:rPr>
              <a:t>MASTER STAMP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6" name="AcnStpConnector_ID_11" hidden="1"/>
          <p:cNvSpPr/>
          <p:nvPr/>
        </p:nvSpPr>
        <p:spPr>
          <a:xfrm rot="5400000" flipH="1" flipV="1">
            <a:off x="9632880" y="1517040"/>
            <a:ext cx="108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AcnStpConnector_ID_12" hidden="1"/>
          <p:cNvSpPr/>
          <p:nvPr/>
        </p:nvSpPr>
        <p:spPr>
          <a:xfrm rot="5400000">
            <a:off x="9633600" y="1517760"/>
            <a:ext cx="108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직사각형 1"/>
          <p:cNvSpPr/>
          <p:nvPr/>
        </p:nvSpPr>
        <p:spPr>
          <a:xfrm>
            <a:off x="0" y="6210000"/>
            <a:ext cx="9905760" cy="64764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Line 29"/>
          <p:cNvSpPr/>
          <p:nvPr/>
        </p:nvSpPr>
        <p:spPr>
          <a:xfrm flipH="1">
            <a:off x="2880" y="620640"/>
            <a:ext cx="9900000" cy="360"/>
          </a:xfrm>
          <a:prstGeom prst="line">
            <a:avLst/>
          </a:prstGeom>
          <a:ln w="190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50" name="Rectangle 66"/>
          <p:cNvSpPr/>
          <p:nvPr/>
        </p:nvSpPr>
        <p:spPr>
          <a:xfrm>
            <a:off x="0" y="6033906"/>
            <a:ext cx="7248240" cy="4568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  <a:spcBef>
                <a:spcPts val="315"/>
              </a:spcBef>
              <a:tabLst>
                <a:tab pos="5648400" algn="l"/>
              </a:tabLst>
            </a:pPr>
            <a:r>
              <a:rPr lang="en-US" sz="900" b="0" strike="noStrike" spc="-1">
                <a:solidFill>
                  <a:srgbClr val="808080"/>
                </a:solidFill>
                <a:latin typeface="Arial"/>
              </a:rPr>
              <a:t>Copyrightⓒ </a:t>
            </a:r>
            <a:r>
              <a:rPr lang="en-US" sz="900" b="0" strike="noStrike" spc="-1" smtClean="0">
                <a:solidFill>
                  <a:srgbClr val="808080"/>
                </a:solidFill>
                <a:latin typeface="Arial"/>
              </a:rPr>
              <a:t>2024 DAEYEON </a:t>
            </a:r>
            <a:r>
              <a:rPr lang="en-US" altLang="ko-KR" sz="900" b="0" strike="noStrike" spc="-1" smtClean="0">
                <a:solidFill>
                  <a:srgbClr val="808080"/>
                </a:solidFill>
                <a:latin typeface="Arial"/>
              </a:rPr>
              <a:t>I&amp;T</a:t>
            </a:r>
            <a:r>
              <a:rPr lang="ko-KR" sz="900" b="0" strike="noStrike" spc="-1" smtClean="0">
                <a:solidFill>
                  <a:srgbClr val="808080"/>
                </a:solidFill>
                <a:latin typeface="Arial"/>
              </a:rPr>
              <a:t> </a:t>
            </a:r>
            <a:r>
              <a:rPr lang="en-US" sz="900" b="0" strike="noStrike" spc="-1">
                <a:solidFill>
                  <a:srgbClr val="808080"/>
                </a:solidFill>
                <a:latin typeface="Arial"/>
              </a:rPr>
              <a:t>All rights reserved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51" name="TextBox 15"/>
          <p:cNvSpPr/>
          <p:nvPr/>
        </p:nvSpPr>
        <p:spPr>
          <a:xfrm>
            <a:off x="4340880" y="116640"/>
            <a:ext cx="5436360" cy="3817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629"/>
              </a:spcBef>
            </a:pPr>
            <a:r>
              <a:rPr lang="ko-KR" altLang="en-US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코레일테크 </a:t>
            </a:r>
            <a:r>
              <a:rPr lang="ko-KR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경영정보시스템 </a:t>
            </a:r>
            <a:r>
              <a:rPr lang="en-US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ISP </a:t>
            </a:r>
            <a:r>
              <a:rPr lang="ko-KR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컨설팅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86188" y="986269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Franklin Gothic Medium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맑은 고딕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맑은 고딕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Seventh Outline Level</a:t>
            </a: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00160" y="162020"/>
            <a:ext cx="1838582" cy="390580"/>
          </a:xfrm>
          <a:prstGeom prst="rect">
            <a:avLst/>
          </a:prstGeom>
        </p:spPr>
      </p:pic>
      <p:pic>
        <p:nvPicPr>
          <p:cNvPr id="18" name="그림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180" y="627605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&#53076;&#47112;&#51068;&#53580;&#53356;ISP&#48372;&#44256;&#49436;_1.&#49324;&#50629;&#51032;%20&#44060;&#50836;.pptx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한쪽 모서리가 둥근 사각형 38"/>
          <p:cNvSpPr/>
          <p:nvPr/>
        </p:nvSpPr>
        <p:spPr>
          <a:xfrm flipH="1">
            <a:off x="-7488" y="1117080"/>
            <a:ext cx="9910800" cy="5740920"/>
          </a:xfrm>
          <a:prstGeom prst="round1Rect">
            <a:avLst>
              <a:gd name="adj" fmla="val 0"/>
            </a:avLst>
          </a:prstGeom>
          <a:solidFill>
            <a:srgbClr val="E1E4EB">
              <a:alpha val="5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TextBox 26"/>
          <p:cNvSpPr/>
          <p:nvPr/>
        </p:nvSpPr>
        <p:spPr>
          <a:xfrm>
            <a:off x="4252538" y="5134882"/>
            <a:ext cx="1389524" cy="468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2400" b="0" strike="noStrike" spc="-1" smtClean="0">
                <a:solidFill>
                  <a:srgbClr val="4D4D4D"/>
                </a:solidFill>
                <a:latin typeface="나눔고딕 ExtraBold"/>
                <a:ea typeface="나눔고딕 ExtraBold"/>
              </a:rPr>
              <a:t>2024.12</a:t>
            </a:r>
            <a:endParaRPr lang="en-US" sz="2400" b="0" strike="noStrike" spc="-1">
              <a:latin typeface="Arial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-15048" y="2194056"/>
            <a:ext cx="9918360" cy="1585800"/>
            <a:chOff x="-7488" y="-1408680"/>
            <a:chExt cx="9918360" cy="1585800"/>
          </a:xfrm>
        </p:grpSpPr>
        <p:sp>
          <p:nvSpPr>
            <p:cNvPr id="103" name="직사각형 28"/>
            <p:cNvSpPr/>
            <p:nvPr/>
          </p:nvSpPr>
          <p:spPr>
            <a:xfrm>
              <a:off x="-7488" y="-1408680"/>
              <a:ext cx="9918360" cy="1585800"/>
            </a:xfrm>
            <a:prstGeom prst="rect">
              <a:avLst/>
            </a:prstGeom>
            <a:solidFill>
              <a:srgbClr val="19377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5" name="TextBox 29"/>
            <p:cNvSpPr/>
            <p:nvPr/>
          </p:nvSpPr>
          <p:spPr>
            <a:xfrm>
              <a:off x="83952" y="-1161792"/>
              <a:ext cx="9415800" cy="90520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8000" tIns="45000" rIns="18000" bIns="45000" anchor="t">
              <a:spAutoFit/>
              <a:scene3d>
                <a:camera prst="orthographicFront"/>
                <a:lightRig rig="threePt" dir="t"/>
              </a:scene3d>
              <a:sp3d>
                <a:bevelT w="0" h="12700" prst="angle"/>
              </a:sp3d>
            </a:bodyPr>
            <a:lstStyle/>
            <a:p>
              <a:pPr algn="r">
                <a:lnSpc>
                  <a:spcPct val="150000"/>
                </a:lnSpc>
                <a:tabLst>
                  <a:tab pos="0" algn="l"/>
                </a:tabLst>
              </a:pPr>
              <a:r>
                <a:rPr lang="ko-KR" altLang="en-US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코레일테크 </a:t>
              </a:r>
              <a:r>
                <a:rPr lang="ko-KR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경영정보시스템 </a:t>
              </a:r>
              <a:r>
                <a:rPr lang="en-US" altLang="ko-KR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 </a:t>
              </a:r>
              <a:r>
                <a:rPr lang="en-US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ISP </a:t>
              </a:r>
              <a:r>
                <a:rPr lang="en-US" altLang="ko-KR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 </a:t>
              </a:r>
              <a:r>
                <a:rPr lang="ko-KR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컨설팅</a:t>
              </a:r>
              <a:endParaRPr lang="en-US" sz="4000" b="0" strike="noStrike" spc="-1">
                <a:latin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t="7500"/>
          <a:stretch/>
        </p:blipFill>
        <p:spPr>
          <a:xfrm>
            <a:off x="-15048" y="-1981"/>
            <a:ext cx="9913488" cy="2150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표 25"/>
          <p:cNvGraphicFramePr/>
          <p:nvPr>
            <p:extLst>
              <p:ext uri="{D42A27DB-BD31-4B8C-83A1-F6EECF244321}">
                <p14:modId xmlns:p14="http://schemas.microsoft.com/office/powerpoint/2010/main" val="540997060"/>
              </p:ext>
            </p:extLst>
          </p:nvPr>
        </p:nvGraphicFramePr>
        <p:xfrm>
          <a:off x="272520" y="803938"/>
          <a:ext cx="4500360" cy="5378400"/>
        </p:xfrm>
        <a:graphic>
          <a:graphicData uri="http://schemas.openxmlformats.org/drawingml/2006/table">
            <a:tbl>
              <a:tblPr/>
              <a:tblGrid>
                <a:gridCol w="3706200"/>
                <a:gridCol w="794160"/>
              </a:tblGrid>
              <a:tr h="322704"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Ⅰ. </a:t>
                      </a:r>
                      <a:r>
                        <a:rPr lang="ko-KR" sz="11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 개요</a:t>
                      </a:r>
                      <a:endParaRPr lang="en-US" sz="11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사업의 소개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– 3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추진추진 배경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– 4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사업추진 범위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– 5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사업추진 절차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– 6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사업추진 일정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– 7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8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808080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704"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Ⅱ. </a:t>
                      </a:r>
                      <a:r>
                        <a:rPr lang="ko-KR" sz="11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방향성 수립</a:t>
                      </a:r>
                      <a:endParaRPr lang="en-US" sz="11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buClr>
                          <a:srgbClr val="404040"/>
                        </a:buClr>
                        <a:buSzPct val="90000"/>
                        <a:buFont typeface="Arial"/>
                        <a:buAutoNum type="arabicPeriod"/>
                      </a:pPr>
                      <a:r>
                        <a:rPr lang="en-US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개요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 – 1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1.1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방향성 수립 개요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 – 2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분석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 – 3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2.1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수행절차 및 방안 정의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 – 4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2.2 </a:t>
                      </a:r>
                      <a:r>
                        <a:rPr lang="ko-KR" alt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 운영</a:t>
                      </a:r>
                      <a:r>
                        <a:rPr lang="ko-KR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 – 5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2.3 </a:t>
                      </a:r>
                      <a:r>
                        <a:rPr lang="ko-KR" altLang="en-US" sz="900" b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업무기능 분석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2.4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최신 정보기술 동향 분석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2.5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환경분석 결과 종합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Ⅱ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방향성 정의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Ⅱ </a:t>
                      </a: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수행절차 및 방안 정의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Ⅱ </a:t>
                      </a: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분석결과 종합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Ⅱ </a:t>
                      </a: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 </a:t>
                      </a:r>
                      <a:r>
                        <a:rPr lang="ko-KR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</a:t>
                      </a:r>
                      <a:r>
                        <a:rPr lang="ko-KR" alt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방향</a:t>
                      </a:r>
                      <a:r>
                        <a:rPr lang="ko-KR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도출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Ⅱ </a:t>
                      </a: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13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3.4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추진범위 정의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Ⅱ </a:t>
                      </a: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2704">
                <a:tc>
                  <a:txBody>
                    <a:bodyPr/>
                    <a:lstStyle/>
                    <a:p>
                      <a:endParaRPr lang="ko-KR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" name="표 26"/>
          <p:cNvGraphicFramePr/>
          <p:nvPr>
            <p:extLst>
              <p:ext uri="{D42A27DB-BD31-4B8C-83A1-F6EECF244321}">
                <p14:modId xmlns:p14="http://schemas.microsoft.com/office/powerpoint/2010/main" val="1441055330"/>
              </p:ext>
            </p:extLst>
          </p:nvPr>
        </p:nvGraphicFramePr>
        <p:xfrm>
          <a:off x="5132880" y="803938"/>
          <a:ext cx="4500360" cy="5346120"/>
        </p:xfrm>
        <a:graphic>
          <a:graphicData uri="http://schemas.openxmlformats.org/drawingml/2006/table">
            <a:tbl>
              <a:tblPr/>
              <a:tblGrid>
                <a:gridCol w="3706200"/>
                <a:gridCol w="794160"/>
              </a:tblGrid>
              <a:tr h="224640"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IV. </a:t>
                      </a:r>
                      <a:r>
                        <a:rPr lang="ko-KR" sz="11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목표모델 설계</a:t>
                      </a:r>
                      <a:endParaRPr lang="en-US" sz="11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28080">
                      <a:solidFill>
                        <a:srgbClr val="508CD2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목표모델 수립 개요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1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1.1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목표모델 수립 개요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2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목표모델 개선과제 정의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3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2.1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개요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4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2.2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기준정보 관리체계 개선 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5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</a:t>
                      </a:r>
                      <a:r>
                        <a:rPr lang="en-US" sz="900" b="0" strike="noStrike" spc="-1" baseline="0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예산관리 개선 및 업무 효율화</a:t>
                      </a:r>
                      <a:endParaRPr lang="en-US" sz="11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15</a:t>
                      </a:r>
                      <a:endParaRPr lang="en-US" altLang="ko-KR" sz="1000" b="0" strike="noStrike" spc="-1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2.4 </a:t>
                      </a:r>
                      <a:r>
                        <a:rPr lang="ko-KR" alt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회계</a:t>
                      </a: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개선 및 업무 효율화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</a:t>
                      </a:r>
                      <a:r>
                        <a:rPr lang="en-US" sz="900" b="0" strike="noStrike" spc="-1" baseline="0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strike="noStrike" spc="-1" baseline="0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</a:t>
                      </a: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개선 및 업무 효율화</a:t>
                      </a:r>
                      <a:endParaRPr lang="en-US" sz="11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38</a:t>
                      </a:r>
                      <a:endParaRPr lang="en-US" altLang="ko-KR" sz="1000" b="0" strike="noStrike" spc="-1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2.6 </a:t>
                      </a:r>
                      <a:r>
                        <a:rPr lang="ko-KR" altLang="en-US" sz="900" b="0" strike="noStrike" spc="-1" baseline="0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</a:t>
                      </a: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개선 및 업무 효율화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</a:t>
                      </a:r>
                      <a:r>
                        <a:rPr lang="en-US" sz="900" b="0" strike="noStrike" spc="-1" baseline="0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strike="noStrike" spc="-1" baseline="0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</a:t>
                      </a: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개선 및 업무 효율화</a:t>
                      </a:r>
                      <a:endParaRPr lang="en-US" sz="11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51</a:t>
                      </a:r>
                      <a:endParaRPr lang="en-US" altLang="ko-KR" sz="1000" b="0" strike="noStrike" spc="-1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76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2.8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응용 아키텍처</a:t>
                      </a:r>
                      <a:r>
                        <a:rPr lang="en-US" altLang="ko-KR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(AA)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 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2.9</a:t>
                      </a:r>
                      <a:r>
                        <a:rPr lang="en-US" sz="900" b="0" strike="noStrike" spc="-1" baseline="0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아키텍처</a:t>
                      </a:r>
                      <a:r>
                        <a:rPr lang="en-US" altLang="ko-KR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(DA)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</a:t>
                      </a:r>
                      <a:endParaRPr lang="en-US" sz="11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61</a:t>
                      </a:r>
                      <a:endParaRPr lang="en-US" altLang="ko-KR" sz="1000" b="0" strike="noStrike" spc="-1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2.10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데이터관리체계 표준화 방안 수립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altLang="ko-KR" sz="1000" b="1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en-US" altLang="ko-KR" sz="900" b="1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900" b="1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업무별 개선안 설계</a:t>
                      </a:r>
                      <a:endParaRPr lang="en-US" altLang="ko-KR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103</a:t>
                      </a:r>
                      <a:endParaRPr lang="en-US" altLang="ko-KR" sz="1000" b="0" strike="noStrike" spc="-1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개요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예산관리 업무프로세스 개선안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회계관리 업무프로세스 개선안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116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3.4 </a:t>
                      </a:r>
                      <a:r>
                        <a:rPr lang="ko-KR" alt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업무프로세스 개선안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126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  <a:r>
                        <a:rPr lang="ko-KR" alt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업무프로세스 개선안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136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 </a:t>
                      </a:r>
                      <a:r>
                        <a:rPr lang="ko-KR" alt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업무프로세스 개선안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146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3.7 DATABASE </a:t>
                      </a:r>
                      <a:r>
                        <a:rPr lang="ko-KR" alt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표준화 방안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155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표 25"/>
          <p:cNvGraphicFramePr/>
          <p:nvPr>
            <p:extLst>
              <p:ext uri="{D42A27DB-BD31-4B8C-83A1-F6EECF244321}">
                <p14:modId xmlns:p14="http://schemas.microsoft.com/office/powerpoint/2010/main" val="3052640725"/>
              </p:ext>
            </p:extLst>
          </p:nvPr>
        </p:nvGraphicFramePr>
        <p:xfrm>
          <a:off x="272520" y="801871"/>
          <a:ext cx="4500360" cy="5306356"/>
        </p:xfrm>
        <a:graphic>
          <a:graphicData uri="http://schemas.openxmlformats.org/drawingml/2006/table">
            <a:tbl>
              <a:tblPr/>
              <a:tblGrid>
                <a:gridCol w="3706200"/>
                <a:gridCol w="794160"/>
              </a:tblGrid>
              <a:tr h="10549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3.8 </a:t>
                      </a:r>
                      <a:r>
                        <a:rPr lang="ko-KR" alt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마이그레이션 방안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28080">
                      <a:solidFill>
                        <a:srgbClr val="508CD2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Ⅲ – 191</a:t>
                      </a:r>
                      <a:endParaRPr lang="en-US" altLang="ko-KR" sz="1000" b="0" strike="noStrike" spc="-1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28080">
                      <a:solidFill>
                        <a:srgbClr val="508CD2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IV. </a:t>
                      </a:r>
                      <a:r>
                        <a:rPr lang="ko-KR" altLang="en-US" sz="1100" b="1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이행계획 수립</a:t>
                      </a:r>
                      <a:endParaRPr lang="en-US" sz="11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00" b="1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이행계획</a:t>
                      </a:r>
                      <a:r>
                        <a:rPr lang="ko-KR" sz="1000" b="1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수립 개요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Ⅳ – 1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1.1 </a:t>
                      </a:r>
                      <a:r>
                        <a:rPr lang="ko-KR" alt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이행계획</a:t>
                      </a:r>
                      <a:r>
                        <a:rPr lang="ko-KR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수립 개요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Ⅳ – 2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00" b="1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추진계획 수립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Ⅳ – 3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2.1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우선 이행과제 정의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Ⅳ – 4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2.2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이행과제의 추진방안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Ⅳ – 5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 </a:t>
                      </a:r>
                      <a:r>
                        <a:rPr lang="ko-KR" altLang="en-US" sz="9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 로드맵 정의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Ⅳ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1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00" b="1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목표시스템 구성도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Ⅳ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 </a:t>
                      </a:r>
                      <a:r>
                        <a:rPr lang="ko-KR" alt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자바기반 표준 프레임워크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Ⅳ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 ERP </a:t>
                      </a:r>
                      <a:r>
                        <a:rPr lang="ko-KR" alt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구성도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Ⅳ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9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 ERP</a:t>
                      </a:r>
                      <a:r>
                        <a:rPr lang="en-US" sz="900" b="0" strike="noStrike" spc="-1" baseline="0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strike="noStrike" spc="-1" baseline="0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구성도</a:t>
                      </a:r>
                      <a:endParaRPr lang="en-US" sz="9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Ⅳ – </a:t>
                      </a:r>
                      <a:r>
                        <a:rPr lang="en-US" sz="1000" b="0" strike="noStrike" spc="-1" smtClean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en-US" sz="1000" b="0" strike="noStrike" spc="-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931"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931"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1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5386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" name="표 26"/>
          <p:cNvGraphicFramePr/>
          <p:nvPr>
            <p:extLst>
              <p:ext uri="{D42A27DB-BD31-4B8C-83A1-F6EECF244321}">
                <p14:modId xmlns:p14="http://schemas.microsoft.com/office/powerpoint/2010/main" val="1530148104"/>
              </p:ext>
            </p:extLst>
          </p:nvPr>
        </p:nvGraphicFramePr>
        <p:xfrm>
          <a:off x="5132880" y="801870"/>
          <a:ext cx="4500360" cy="5351525"/>
        </p:xfrm>
        <a:graphic>
          <a:graphicData uri="http://schemas.openxmlformats.org/drawingml/2006/table">
            <a:tbl>
              <a:tblPr/>
              <a:tblGrid>
                <a:gridCol w="3706200"/>
                <a:gridCol w="794160"/>
              </a:tblGrid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675">
                <a:tc>
                  <a:txBody>
                    <a:bodyPr/>
                    <a:lstStyle/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900" b="0" strike="noStrike" spc="-1">
                        <a:latin typeface="Arial"/>
                      </a:endParaRPr>
                    </a:p>
                  </a:txBody>
                  <a:tcPr marL="36000" marR="0" marT="0" anchor="ctr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0" algn="l"/>
                        </a:tabLst>
                      </a:pPr>
                      <a:endParaRPr lang="en-US" sz="1000" b="0" strike="noStrike" spc="-1">
                        <a:latin typeface="Arial"/>
                      </a:endParaRPr>
                    </a:p>
                  </a:txBody>
                  <a:tcPr marL="108000" marR="0" marT="0" anchor="ctr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217" descr="이동_ico_Bmp1">
            <a:hlinkClick r:id="rId2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9270" y="626029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82789</TotalTime>
  <Words>427</Words>
  <Application>Microsoft Office PowerPoint</Application>
  <PresentationFormat>A4 용지(210x297mm)</PresentationFormat>
  <Paragraphs>107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7" baseType="lpstr">
      <vt:lpstr>DejaVu Sans</vt:lpstr>
      <vt:lpstr>가는각진제목체</vt:lpstr>
      <vt:lpstr>굴림</vt:lpstr>
      <vt:lpstr>나눔고딕</vt:lpstr>
      <vt:lpstr>나눔고딕 ExtraBold</vt:lpstr>
      <vt:lpstr>맑은 고딕</vt:lpstr>
      <vt:lpstr>바탕</vt:lpstr>
      <vt:lpstr>산돌고딕 M</vt:lpstr>
      <vt:lpstr>Arial</vt:lpstr>
      <vt:lpstr>Franklin Gothic Medium</vt:lpstr>
      <vt:lpstr>Symbol</vt:lpstr>
      <vt:lpstr>Wingdings</vt:lpstr>
      <vt:lpstr>Office Theme</vt:lpstr>
      <vt:lpstr>Office Theme</vt:lpstr>
      <vt:lpstr>PowerPoint 프레젠테이션</vt:lpstr>
      <vt:lpstr>PowerPoint 프레젠테이션</vt:lpstr>
      <vt:lpstr>PowerPoint 프레젠테이션</vt:lpstr>
    </vt:vector>
  </TitlesOfParts>
  <Company>VTW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VTW</dc:creator>
  <dc:description/>
  <cp:lastModifiedBy>R2SOFT</cp:lastModifiedBy>
  <cp:revision>1178</cp:revision>
  <cp:lastPrinted>2013-07-11T09:37:39Z</cp:lastPrinted>
  <dcterms:created xsi:type="dcterms:W3CDTF">2002-03-21T10:45:59Z</dcterms:created>
  <dcterms:modified xsi:type="dcterms:W3CDTF">2024-12-09T13:33:19Z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A4 용지(210x297mm)</vt:lpwstr>
  </property>
  <property fmtid="{D5CDD505-2E9C-101B-9397-08002B2CF9AE}" pid="4" name="Slides">
    <vt:i4>4</vt:i4>
  </property>
</Properties>
</file>